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35"/>
  </p:notesMasterIdLst>
  <p:sldIdLst>
    <p:sldId id="313" r:id="rId2"/>
    <p:sldId id="257" r:id="rId3"/>
    <p:sldId id="259" r:id="rId4"/>
    <p:sldId id="260" r:id="rId5"/>
    <p:sldId id="314" r:id="rId6"/>
    <p:sldId id="263" r:id="rId7"/>
    <p:sldId id="264" r:id="rId8"/>
    <p:sldId id="265" r:id="rId9"/>
    <p:sldId id="318" r:id="rId10"/>
    <p:sldId id="266" r:id="rId11"/>
    <p:sldId id="319" r:id="rId12"/>
    <p:sldId id="267" r:id="rId13"/>
    <p:sldId id="320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316" r:id="rId24"/>
    <p:sldId id="317" r:id="rId25"/>
    <p:sldId id="291" r:id="rId26"/>
    <p:sldId id="292" r:id="rId27"/>
    <p:sldId id="294" r:id="rId28"/>
    <p:sldId id="295" r:id="rId29"/>
    <p:sldId id="296" r:id="rId30"/>
    <p:sldId id="300" r:id="rId31"/>
    <p:sldId id="315" r:id="rId32"/>
    <p:sldId id="302" r:id="rId33"/>
    <p:sldId id="303" r:id="rId34"/>
  </p:sldIdLst>
  <p:sldSz cx="9144000" cy="6858000" type="screen4x3"/>
  <p:notesSz cx="9144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AB8A91-06D8-4C0D-BA04-70429FAD4189}" type="datetimeFigureOut">
              <a:rPr lang="fr-FR" smtClean="0"/>
              <a:pPr/>
              <a:t>31/10/2024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516EC7-39D0-4D24-A1F0-76FF2D0EB56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Select all </a:t>
            </a:r>
            <a:r>
              <a:rPr lang="fr-FR" dirty="0" err="1" smtClean="0"/>
              <a:t>from</a:t>
            </a:r>
            <a:r>
              <a:rPr lang="fr-FR" dirty="0" smtClean="0"/>
              <a:t> la jointure de cde et client sur l’attribut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nclient</a:t>
            </a:r>
            <a:r>
              <a:rPr lang="fr-FR" baseline="0" dirty="0" smtClean="0"/>
              <a:t> </a:t>
            </a:r>
            <a:r>
              <a:rPr lang="fr-FR" baseline="0" dirty="0" err="1" smtClean="0"/>
              <a:t>where</a:t>
            </a:r>
            <a:r>
              <a:rPr lang="fr-FR" baseline="0" dirty="0" smtClean="0"/>
              <a:t> </a:t>
            </a:r>
            <a:r>
              <a:rPr lang="fr-FR" baseline="0" dirty="0" err="1" smtClean="0"/>
              <a:t>qte</a:t>
            </a:r>
            <a:r>
              <a:rPr lang="fr-FR" baseline="0" dirty="0" smtClean="0"/>
              <a:t>&gt;10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516EC7-39D0-4D24-A1F0-76FF2D0EB566}" type="slidenum">
              <a:rPr lang="fr-FR" smtClean="0"/>
              <a:pPr/>
              <a:t>4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922D4D5-2DDB-4960-A570-F87B2682DFA9}" type="datetime1">
              <a:rPr lang="en-US" smtClean="0"/>
              <a:pPr/>
              <a:t>10/31/2024</a:t>
            </a:fld>
            <a:endParaRPr lang="en-US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Connecteur droit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Connecteur droit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‹N°›</a:t>
            </a:fld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AA58AA3-A61F-48B3-B5B0-9B1F8F250CEA}" type="datetime1">
              <a:rPr lang="en-US" smtClean="0"/>
              <a:pPr/>
              <a:t>10/31/2024</a:t>
            </a:fld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‹N°›</a:t>
            </a:fld>
            <a:endParaRPr lang="fr-FR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76C46BCE-51E0-41D9-A49A-6710FDDEC2FF}" type="datetime1">
              <a:rPr lang="en-US" smtClean="0"/>
              <a:pPr/>
              <a:t>10/31/2024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Connecteur droit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Connecteur droit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necteur droit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‹N°›</a:t>
            </a:fld>
            <a:endParaRPr lang="fr-FR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C7BD-E4E0-43EC-8447-23AD4EB841B1}" type="datetime1">
              <a:rPr lang="en-US" smtClean="0"/>
              <a:pPr/>
              <a:t>10/31/2024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‹N°›</a:t>
            </a:fld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0A8F-32EF-43FF-9A35-0FCCF9FB31D0}" type="datetime1">
              <a:rPr lang="en-US" smtClean="0"/>
              <a:pPr/>
              <a:t>10/31/2024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‹N°›</a:t>
            </a:fld>
            <a:endParaRPr lang="fr-FR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72E00DA-65F1-4165-A585-F7ECF21C9386}" type="datetime1">
              <a:rPr lang="en-US" smtClean="0"/>
              <a:pPr/>
              <a:t>10/31/2024</a:t>
            </a:fld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‹N°›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59A5-9A45-4289-80D7-9E1FAF16D220}" type="datetime1">
              <a:rPr lang="en-US" smtClean="0"/>
              <a:pPr/>
              <a:t>10/31/2024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ce réservé du conten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1" name="Espace réservé de la date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4C49CF5-1A64-4CE1-93B6-E2D8E0FCCF6B}" type="datetime1">
              <a:rPr lang="en-US" smtClean="0"/>
              <a:pPr/>
              <a:t>10/31/2024</a:t>
            </a:fld>
            <a:endParaRPr lang="en-US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‹N°›</a:t>
            </a:fld>
            <a:endParaRPr lang="fr-FR" dirty="0"/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necteur droit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Connecteur droit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BA1FD1D-6CB4-4308-B998-93C6000E035F}" type="datetime1">
              <a:rPr lang="en-US" smtClean="0"/>
              <a:pPr/>
              <a:t>10/31/2024</a:t>
            </a:fld>
            <a:endParaRPr lang="en-US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‹N°›</a:t>
            </a:fld>
            <a:endParaRPr lang="fr-FR" dirty="0"/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D6A9-ED99-46AF-8001-BC372C203114}" type="datetime1">
              <a:rPr lang="en-US" smtClean="0"/>
              <a:pPr/>
              <a:t>10/31/2024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855EE-ABBA-44D2-BAF7-315E60A1E67C}" type="datetime1">
              <a:rPr lang="en-US" smtClean="0"/>
              <a:pPr/>
              <a:t>10/31/2024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258D9-9819-48C0-80F6-3355C56D1198}" type="datetime1">
              <a:rPr lang="en-US" smtClean="0"/>
              <a:pPr/>
              <a:t>10/31/2024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entury Schoolbook"/>
                <a:cs typeface="Century Schoolbook"/>
              </a:defRPr>
            </a:lvl1pPr>
          </a:lstStyle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pPr marL="25400">
                <a:lnSpc>
                  <a:spcPct val="100000"/>
                </a:lnSpc>
                <a:spcBef>
                  <a:spcPts val="85"/>
                </a:spcBef>
              </a:pPr>
              <a:t>‹N°›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D98FB55-FFFF-4CFC-863B-13935670CAD8}" type="datetime1">
              <a:rPr lang="en-US" smtClean="0"/>
              <a:pPr/>
              <a:t>10/31/2024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286000" y="2296638"/>
            <a:ext cx="6172200" cy="1894362"/>
          </a:xfrm>
        </p:spPr>
        <p:txBody>
          <a:bodyPr>
            <a:normAutofit fontScale="90000"/>
          </a:bodyPr>
          <a:lstStyle/>
          <a:p>
            <a:r>
              <a:rPr lang="fr-FR" sz="2400" u="sng" spc="-5" dirty="0" smtClean="0"/>
              <a:t>Chapitre3</a:t>
            </a:r>
            <a:r>
              <a:rPr lang="fr-FR" sz="2400" spc="-5" dirty="0" smtClean="0"/>
              <a:t>: </a:t>
            </a:r>
            <a:r>
              <a:rPr lang="fr-FR" spc="-5" dirty="0" smtClean="0"/>
              <a:t/>
            </a:r>
            <a:br>
              <a:rPr lang="fr-FR" spc="-5" dirty="0" smtClean="0"/>
            </a:br>
            <a:r>
              <a:rPr lang="fr-FR" spc="-5" dirty="0" smtClean="0"/>
              <a:t/>
            </a:r>
            <a:br>
              <a:rPr lang="fr-FR" spc="-5" dirty="0" smtClean="0"/>
            </a:br>
            <a:r>
              <a:rPr lang="fr-FR" spc="-5" dirty="0" smtClean="0"/>
              <a:t/>
            </a:r>
            <a:br>
              <a:rPr lang="fr-FR" spc="-5" dirty="0" smtClean="0"/>
            </a:br>
            <a:r>
              <a:rPr lang="fr-FR" sz="4000" spc="-5" dirty="0" smtClean="0">
                <a:solidFill>
                  <a:srgbClr val="565F6C"/>
                </a:solidFill>
                <a:cs typeface="Century Schoolbook"/>
              </a:rPr>
              <a:t>E</a:t>
            </a:r>
            <a:r>
              <a:rPr lang="fr-FR" spc="-5" dirty="0" smtClean="0">
                <a:solidFill>
                  <a:srgbClr val="565F6C"/>
                </a:solidFill>
                <a:cs typeface="Century Schoolbook"/>
              </a:rPr>
              <a:t>VALUATION </a:t>
            </a:r>
            <a:r>
              <a:rPr lang="fr-FR" dirty="0" err="1" smtClean="0">
                <a:solidFill>
                  <a:srgbClr val="565F6C"/>
                </a:solidFill>
                <a:cs typeface="Century Schoolbook"/>
              </a:rPr>
              <a:t>DEs</a:t>
            </a:r>
            <a:r>
              <a:rPr lang="fr-FR" dirty="0" smtClean="0">
                <a:solidFill>
                  <a:srgbClr val="565F6C"/>
                </a:solidFill>
                <a:cs typeface="Century Schoolbook"/>
              </a:rPr>
              <a:t> </a:t>
            </a:r>
            <a:r>
              <a:rPr lang="fr-FR" spc="-5" dirty="0" smtClean="0">
                <a:solidFill>
                  <a:srgbClr val="565F6C"/>
                </a:solidFill>
                <a:cs typeface="Century Schoolbook"/>
              </a:rPr>
              <a:t>REQUÊTES  </a:t>
            </a:r>
            <a:r>
              <a:rPr lang="fr-FR" dirty="0" smtClean="0">
                <a:solidFill>
                  <a:srgbClr val="565F6C"/>
                </a:solidFill>
                <a:cs typeface="Century Schoolbook"/>
              </a:rPr>
              <a:t>RÉPARTIES</a:t>
            </a:r>
            <a:r>
              <a:rPr lang="fr-FR" dirty="0" smtClean="0">
                <a:cs typeface="Century Schoolbook"/>
              </a:rPr>
              <a:t/>
            </a:r>
            <a:br>
              <a:rPr lang="fr-FR" dirty="0" smtClean="0">
                <a:cs typeface="Century Schoolbook"/>
              </a:rPr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1</a:t>
            </a:fld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9398712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pc="-5" dirty="0" smtClean="0"/>
              <a:t>TRAITEMENT</a:t>
            </a:r>
            <a:r>
              <a:rPr spc="-5" dirty="0" smtClean="0"/>
              <a:t> </a:t>
            </a:r>
            <a:r>
              <a:rPr dirty="0" smtClean="0"/>
              <a:t>DE</a:t>
            </a:r>
            <a:r>
              <a:rPr lang="fr-FR" dirty="0" smtClean="0"/>
              <a:t>S</a:t>
            </a:r>
            <a:r>
              <a:rPr dirty="0" smtClean="0"/>
              <a:t> </a:t>
            </a:r>
            <a:r>
              <a:rPr spc="-5" dirty="0"/>
              <a:t>REQUÊTES</a:t>
            </a:r>
            <a:r>
              <a:rPr spc="484" dirty="0"/>
              <a:t> </a:t>
            </a:r>
            <a:r>
              <a:rPr spc="-10" dirty="0"/>
              <a:t>RÉPARTIES</a:t>
            </a:r>
            <a:endParaRPr sz="3000" dirty="0"/>
          </a:p>
        </p:txBody>
      </p:sp>
      <p:sp>
        <p:nvSpPr>
          <p:cNvPr id="4" name="object 4"/>
          <p:cNvSpPr txBox="1"/>
          <p:nvPr/>
        </p:nvSpPr>
        <p:spPr>
          <a:xfrm>
            <a:off x="533400" y="1752600"/>
            <a:ext cx="7262495" cy="2453236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7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10" dirty="0">
                <a:latin typeface="Century Schoolbook"/>
                <a:cs typeface="Century Schoolbook"/>
              </a:rPr>
              <a:t>Evaluation </a:t>
            </a:r>
            <a:r>
              <a:rPr sz="2400" dirty="0">
                <a:latin typeface="Century Schoolbook"/>
                <a:cs typeface="Century Schoolbook"/>
              </a:rPr>
              <a:t>de requêtes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réparties</a:t>
            </a: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100" dirty="0">
                <a:latin typeface="Century Schoolbook"/>
                <a:cs typeface="Century Schoolbook"/>
              </a:rPr>
              <a:t>Plan </a:t>
            </a:r>
            <a:r>
              <a:rPr sz="2100" spc="-5" dirty="0">
                <a:latin typeface="Century Schoolbook"/>
                <a:cs typeface="Century Schoolbook"/>
              </a:rPr>
              <a:t>d’exécution</a:t>
            </a:r>
            <a:r>
              <a:rPr sz="2100" spc="-25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réparti</a:t>
            </a:r>
            <a:endParaRPr sz="2100" dirty="0">
              <a:latin typeface="Century Schoolbook"/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100" dirty="0">
                <a:latin typeface="Century Schoolbook"/>
                <a:cs typeface="Century Schoolbook"/>
              </a:rPr>
              <a:t>Modèles </a:t>
            </a:r>
            <a:r>
              <a:rPr sz="2100" spc="-5" dirty="0">
                <a:latin typeface="Century Schoolbook"/>
                <a:cs typeface="Century Schoolbook"/>
              </a:rPr>
              <a:t>de</a:t>
            </a:r>
            <a:r>
              <a:rPr sz="2100" spc="-10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coût</a:t>
            </a: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100" spc="-5" dirty="0">
                <a:latin typeface="Century Schoolbook"/>
                <a:cs typeface="Century Schoolbook"/>
              </a:rPr>
              <a:t>Algorithmes de décomposition de</a:t>
            </a:r>
            <a:r>
              <a:rPr sz="2100" spc="-15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requêtes</a:t>
            </a:r>
            <a:endParaRPr sz="2100" dirty="0">
              <a:latin typeface="Century Schoolbook"/>
              <a:cs typeface="Century Schoolbook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FD8537"/>
              </a:buClr>
              <a:buFont typeface="Wingdings 2"/>
              <a:buChar char=""/>
            </a:pPr>
            <a:endParaRPr sz="3250" dirty="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750"/>
              <a:tabLst>
                <a:tab pos="287020" algn="l"/>
              </a:tabLst>
            </a:pPr>
            <a:endParaRPr sz="2100" dirty="0">
              <a:latin typeface="Century Schoolbook"/>
              <a:cs typeface="Century Schoolbook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2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3226512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5" dirty="0"/>
              <a:t>E</a:t>
            </a:r>
            <a:r>
              <a:rPr spc="-5" dirty="0"/>
              <a:t>XEMP</a:t>
            </a:r>
            <a:r>
              <a:rPr spc="-10" dirty="0"/>
              <a:t>L</a:t>
            </a:r>
            <a:r>
              <a:rPr dirty="0"/>
              <a:t>E</a:t>
            </a:r>
            <a:endParaRPr sz="3000" dirty="0"/>
          </a:p>
        </p:txBody>
      </p:sp>
      <p:sp>
        <p:nvSpPr>
          <p:cNvPr id="4" name="object 4"/>
          <p:cNvSpPr txBox="1"/>
          <p:nvPr/>
        </p:nvSpPr>
        <p:spPr>
          <a:xfrm>
            <a:off x="320141" y="1922500"/>
            <a:ext cx="7250430" cy="7874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dirty="0">
                <a:latin typeface="Century Schoolbook"/>
                <a:cs typeface="Century Schoolbook"/>
              </a:rPr>
              <a:t>Soient les relations : </a:t>
            </a:r>
            <a:r>
              <a:rPr sz="2000" spc="-5" dirty="0">
                <a:latin typeface="Courier New"/>
                <a:cs typeface="Courier New"/>
              </a:rPr>
              <a:t>Client(</a:t>
            </a:r>
            <a:r>
              <a:rPr sz="2000" u="sng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nclient</a:t>
            </a:r>
            <a:r>
              <a:rPr sz="2000" spc="-5" dirty="0">
                <a:latin typeface="Courier New"/>
                <a:cs typeface="Courier New"/>
              </a:rPr>
              <a:t>, nom,</a:t>
            </a:r>
            <a:r>
              <a:rPr sz="2000" spc="-10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ville)</a:t>
            </a:r>
            <a:endParaRPr sz="2000">
              <a:latin typeface="Courier New"/>
              <a:cs typeface="Courier New"/>
            </a:endParaRPr>
          </a:p>
          <a:p>
            <a:pPr marL="191135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Century Schoolbook"/>
                <a:cs typeface="Century Schoolbook"/>
              </a:rPr>
              <a:t>et </a:t>
            </a:r>
            <a:r>
              <a:rPr sz="2000" spc="-5" dirty="0">
                <a:latin typeface="Courier New"/>
                <a:cs typeface="Courier New"/>
              </a:rPr>
              <a:t>Cde(</a:t>
            </a:r>
            <a:r>
              <a:rPr sz="2000" u="sng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ncde</a:t>
            </a:r>
            <a:r>
              <a:rPr sz="2000" spc="-5" dirty="0">
                <a:latin typeface="Courier New"/>
                <a:cs typeface="Courier New"/>
              </a:rPr>
              <a:t>, #nclient, produit,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qte)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741" y="3488695"/>
            <a:ext cx="4838065" cy="148971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12420" indent="-274320">
              <a:lnSpc>
                <a:spcPct val="100000"/>
              </a:lnSpc>
              <a:spcBef>
                <a:spcPts val="52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312420" algn="l"/>
              </a:tabLst>
            </a:pPr>
            <a:r>
              <a:rPr sz="2000" dirty="0">
                <a:latin typeface="Century Schoolbook"/>
                <a:cs typeface="Century Schoolbook"/>
              </a:rPr>
              <a:t>Schéma </a:t>
            </a:r>
            <a:r>
              <a:rPr sz="2000" spc="-5" dirty="0">
                <a:latin typeface="Century Schoolbook"/>
                <a:cs typeface="Century Schoolbook"/>
              </a:rPr>
              <a:t>de</a:t>
            </a:r>
            <a:r>
              <a:rPr sz="2000" spc="-40" dirty="0">
                <a:latin typeface="Century Schoolbook"/>
                <a:cs typeface="Century Schoolbook"/>
              </a:rPr>
              <a:t> </a:t>
            </a:r>
            <a:r>
              <a:rPr sz="2000" spc="-5" dirty="0">
                <a:latin typeface="Century Schoolbook"/>
                <a:cs typeface="Century Schoolbook"/>
              </a:rPr>
              <a:t>fragmentation</a:t>
            </a:r>
            <a:endParaRPr sz="2000">
              <a:latin typeface="Century Schoolbook"/>
              <a:cs typeface="Century Schoolbook"/>
            </a:endParaRPr>
          </a:p>
          <a:p>
            <a:pPr marL="173355" marR="30480">
              <a:lnSpc>
                <a:spcPts val="3620"/>
              </a:lnSpc>
              <a:spcBef>
                <a:spcPts val="1460"/>
              </a:spcBef>
            </a:pP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5" dirty="0">
                <a:latin typeface="Courier New"/>
                <a:cs typeface="Courier New"/>
              </a:rPr>
              <a:t>e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1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: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5" dirty="0">
                <a:latin typeface="Courier New"/>
                <a:cs typeface="Courier New"/>
              </a:rPr>
              <a:t>t1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=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3600" dirty="0">
                <a:latin typeface="Symbol"/>
                <a:cs typeface="Symbol"/>
              </a:rPr>
              <a:t></a:t>
            </a:r>
            <a:r>
              <a:rPr sz="1575" spc="7" baseline="-21164" dirty="0">
                <a:latin typeface="Courier New"/>
                <a:cs typeface="Courier New"/>
              </a:rPr>
              <a:t>vill</a:t>
            </a:r>
            <a:r>
              <a:rPr sz="1575" spc="15" baseline="-21164" dirty="0">
                <a:latin typeface="Courier New"/>
                <a:cs typeface="Courier New"/>
              </a:rPr>
              <a:t>e =</a:t>
            </a:r>
            <a:r>
              <a:rPr sz="1575" baseline="-21164" dirty="0">
                <a:latin typeface="Courier New"/>
                <a:cs typeface="Courier New"/>
              </a:rPr>
              <a:t> </a:t>
            </a:r>
            <a:r>
              <a:rPr sz="1575" spc="7" baseline="-21164" dirty="0">
                <a:latin typeface="Courier New"/>
                <a:cs typeface="Courier New"/>
              </a:rPr>
              <a:t>Lyo</a:t>
            </a:r>
            <a:r>
              <a:rPr sz="1575" baseline="-21164" dirty="0">
                <a:latin typeface="Courier New"/>
                <a:cs typeface="Courier New"/>
              </a:rPr>
              <a:t>n</a:t>
            </a:r>
            <a:r>
              <a:rPr sz="1600" spc="-5" dirty="0">
                <a:latin typeface="Courier New"/>
                <a:cs typeface="Courier New"/>
              </a:rPr>
              <a:t>(Client)  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5" dirty="0">
                <a:latin typeface="Courier New"/>
                <a:cs typeface="Courier New"/>
              </a:rPr>
              <a:t>e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2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: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5" dirty="0">
                <a:latin typeface="Courier New"/>
                <a:cs typeface="Courier New"/>
              </a:rPr>
              <a:t>t2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=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3600" dirty="0">
                <a:latin typeface="Symbol"/>
                <a:cs typeface="Symbol"/>
              </a:rPr>
              <a:t></a:t>
            </a:r>
            <a:r>
              <a:rPr sz="1575" spc="7" baseline="-21164" dirty="0">
                <a:latin typeface="Courier New"/>
                <a:cs typeface="Courier New"/>
              </a:rPr>
              <a:t>vill</a:t>
            </a:r>
            <a:r>
              <a:rPr sz="1575" spc="15" baseline="-21164" dirty="0">
                <a:latin typeface="Courier New"/>
                <a:cs typeface="Courier New"/>
              </a:rPr>
              <a:t>e </a:t>
            </a:r>
            <a:r>
              <a:rPr sz="1575" spc="7" baseline="-21164" dirty="0">
                <a:latin typeface="Courier New"/>
                <a:cs typeface="Courier New"/>
              </a:rPr>
              <a:t>!</a:t>
            </a:r>
            <a:r>
              <a:rPr sz="1575" spc="15" baseline="-21164" dirty="0">
                <a:latin typeface="Courier New"/>
                <a:cs typeface="Courier New"/>
              </a:rPr>
              <a:t>=</a:t>
            </a:r>
            <a:r>
              <a:rPr sz="1575" baseline="-21164" dirty="0">
                <a:latin typeface="Courier New"/>
                <a:cs typeface="Courier New"/>
              </a:rPr>
              <a:t> </a:t>
            </a:r>
            <a:r>
              <a:rPr sz="1575" spc="7" baseline="-21164" dirty="0">
                <a:latin typeface="Courier New"/>
                <a:cs typeface="Courier New"/>
              </a:rPr>
              <a:t>Lyo</a:t>
            </a:r>
            <a:r>
              <a:rPr sz="1575" baseline="-21164" dirty="0">
                <a:latin typeface="Courier New"/>
                <a:cs typeface="Courier New"/>
              </a:rPr>
              <a:t>n</a:t>
            </a:r>
            <a:r>
              <a:rPr sz="1600" spc="-5" dirty="0">
                <a:latin typeface="Courier New"/>
                <a:cs typeface="Courier New"/>
              </a:rPr>
              <a:t>(Client)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777" y="5242052"/>
            <a:ext cx="23431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ourier New"/>
                <a:cs typeface="Courier New"/>
              </a:rPr>
              <a:t>Site 3 : Cde1 =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Cde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5777" y="5768136"/>
            <a:ext cx="23431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ourier New"/>
                <a:cs typeface="Courier New"/>
              </a:rPr>
              <a:t>Site 4 : Cde2 =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Cde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68751" y="5195315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0"/>
                </a:moveTo>
                <a:lnTo>
                  <a:pt x="0" y="313943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62655" y="5198364"/>
            <a:ext cx="826135" cy="334010"/>
          </a:xfrm>
          <a:custGeom>
            <a:avLst/>
            <a:gdLst/>
            <a:ahLst/>
            <a:cxnLst/>
            <a:rect l="l" t="t" r="r" b="b"/>
            <a:pathLst>
              <a:path w="826135" h="334010">
                <a:moveTo>
                  <a:pt x="0" y="0"/>
                </a:moveTo>
                <a:lnTo>
                  <a:pt x="826007" y="3337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70276" y="5195315"/>
            <a:ext cx="828040" cy="334010"/>
          </a:xfrm>
          <a:custGeom>
            <a:avLst/>
            <a:gdLst/>
            <a:ahLst/>
            <a:cxnLst/>
            <a:rect l="l" t="t" r="r" b="b"/>
            <a:pathLst>
              <a:path w="828039" h="334010">
                <a:moveTo>
                  <a:pt x="827532" y="0"/>
                </a:moveTo>
                <a:lnTo>
                  <a:pt x="0" y="33375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94660" y="5780532"/>
            <a:ext cx="0" cy="312420"/>
          </a:xfrm>
          <a:custGeom>
            <a:avLst/>
            <a:gdLst/>
            <a:ahLst/>
            <a:cxnLst/>
            <a:rect l="l" t="t" r="r" b="b"/>
            <a:pathLst>
              <a:path h="312420">
                <a:moveTo>
                  <a:pt x="0" y="0"/>
                </a:moveTo>
                <a:lnTo>
                  <a:pt x="0" y="31242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87039" y="5783579"/>
            <a:ext cx="828040" cy="334010"/>
          </a:xfrm>
          <a:custGeom>
            <a:avLst/>
            <a:gdLst/>
            <a:ahLst/>
            <a:cxnLst/>
            <a:rect l="l" t="t" r="r" b="b"/>
            <a:pathLst>
              <a:path w="828039" h="334010">
                <a:moveTo>
                  <a:pt x="0" y="0"/>
                </a:moveTo>
                <a:lnTo>
                  <a:pt x="827532" y="3337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96183" y="5780532"/>
            <a:ext cx="826135" cy="332740"/>
          </a:xfrm>
          <a:custGeom>
            <a:avLst/>
            <a:gdLst/>
            <a:ahLst/>
            <a:cxnLst/>
            <a:rect l="l" t="t" r="r" b="b"/>
            <a:pathLst>
              <a:path w="826135" h="332739">
                <a:moveTo>
                  <a:pt x="826007" y="0"/>
                </a:moveTo>
                <a:lnTo>
                  <a:pt x="0" y="332232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025520" y="5242052"/>
            <a:ext cx="1604645" cy="9855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7235">
              <a:lnSpc>
                <a:spcPts val="1720"/>
              </a:lnSpc>
              <a:spcBef>
                <a:spcPts val="95"/>
              </a:spcBef>
            </a:pPr>
            <a:r>
              <a:rPr sz="1600" spc="-5" dirty="0">
                <a:latin typeface="Courier New"/>
                <a:cs typeface="Courier New"/>
              </a:rPr>
              <a:t>Client1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240"/>
              </a:lnSpc>
            </a:pPr>
            <a:r>
              <a:rPr sz="1200" dirty="0">
                <a:latin typeface="Courier New"/>
                <a:cs typeface="Courier New"/>
              </a:rPr>
              <a:t>nclient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L="737235">
              <a:lnSpc>
                <a:spcPct val="100000"/>
              </a:lnSpc>
            </a:pPr>
            <a:r>
              <a:rPr sz="1600" spc="-5" dirty="0">
                <a:latin typeface="Courier New"/>
                <a:cs typeface="Courier New"/>
              </a:rPr>
              <a:t>Client2</a:t>
            </a:r>
            <a:endParaRPr sz="16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65"/>
              </a:spcBef>
            </a:pPr>
            <a:r>
              <a:rPr sz="1200" dirty="0">
                <a:latin typeface="Courier New"/>
                <a:cs typeface="Courier New"/>
              </a:rPr>
              <a:t>nclient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3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7288" y="621538"/>
            <a:ext cx="3378912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pc="5" dirty="0" smtClean="0"/>
              <a:t>E</a:t>
            </a:r>
            <a:r>
              <a:rPr lang="fr-FR" spc="-5" dirty="0" smtClean="0"/>
              <a:t>XEMP</a:t>
            </a:r>
            <a:r>
              <a:rPr lang="fr-FR" spc="-10" dirty="0" smtClean="0"/>
              <a:t>L</a:t>
            </a:r>
            <a:r>
              <a:rPr lang="fr-FR" dirty="0" smtClean="0"/>
              <a:t>E</a:t>
            </a:r>
            <a:endParaRPr sz="3000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827733"/>
            <a:ext cx="7976234" cy="315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471805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dirty="0">
                <a:latin typeface="Century Schoolbook"/>
                <a:cs typeface="Century Schoolbook"/>
              </a:rPr>
              <a:t>Quels sont les </a:t>
            </a:r>
            <a:r>
              <a:rPr sz="2400" spc="-5" dirty="0">
                <a:latin typeface="Century Schoolbook"/>
                <a:cs typeface="Century Schoolbook"/>
              </a:rPr>
              <a:t>clients qui </a:t>
            </a:r>
            <a:r>
              <a:rPr sz="2400" dirty="0">
                <a:latin typeface="Century Schoolbook"/>
                <a:cs typeface="Century Schoolbook"/>
              </a:rPr>
              <a:t>ont </a:t>
            </a:r>
            <a:r>
              <a:rPr sz="2400" spc="-5" dirty="0">
                <a:latin typeface="Century Schoolbook"/>
                <a:cs typeface="Century Schoolbook"/>
              </a:rPr>
              <a:t>passé des</a:t>
            </a:r>
            <a:r>
              <a:rPr sz="2400" spc="-10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commandes  </a:t>
            </a:r>
            <a:r>
              <a:rPr sz="2400" spc="-5" dirty="0">
                <a:latin typeface="Century Schoolbook"/>
                <a:cs typeface="Century Schoolbook"/>
              </a:rPr>
              <a:t>comprenant plus de 10 articles? </a:t>
            </a:r>
            <a:r>
              <a:rPr sz="2400" dirty="0">
                <a:latin typeface="Century Schoolbook"/>
                <a:cs typeface="Century Schoolbook"/>
              </a:rPr>
              <a:t>On </a:t>
            </a:r>
            <a:r>
              <a:rPr sz="2400" spc="-5" dirty="0">
                <a:latin typeface="Century Schoolbook"/>
                <a:cs typeface="Century Schoolbook"/>
              </a:rPr>
              <a:t>précisera </a:t>
            </a:r>
            <a:r>
              <a:rPr sz="2400" dirty="0">
                <a:latin typeface="Century Schoolbook"/>
                <a:cs typeface="Century Schoolbook"/>
              </a:rPr>
              <a:t>les  </a:t>
            </a:r>
            <a:r>
              <a:rPr sz="2400" spc="-5" dirty="0">
                <a:latin typeface="Century Schoolbook"/>
                <a:cs typeface="Century Schoolbook"/>
              </a:rPr>
              <a:t>commandes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concernées.</a:t>
            </a:r>
            <a:endParaRPr sz="2400">
              <a:latin typeface="Century Schoolbook"/>
              <a:cs typeface="Century Schoolbook"/>
            </a:endParaRPr>
          </a:p>
          <a:p>
            <a:pPr>
              <a:lnSpc>
                <a:spcPct val="100000"/>
              </a:lnSpc>
              <a:buClr>
                <a:srgbClr val="FD8537"/>
              </a:buClr>
              <a:buFont typeface="Wingdings"/>
              <a:buChar char=""/>
            </a:pPr>
            <a:endParaRPr sz="35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dirty="0">
                <a:latin typeface="Century Schoolbook"/>
                <a:cs typeface="Century Schoolbook"/>
              </a:rPr>
              <a:t>Hypothèses:</a:t>
            </a:r>
            <a:endParaRPr sz="2400">
              <a:latin typeface="Century Schoolbook"/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100" dirty="0">
                <a:latin typeface="Century Schoolbook"/>
                <a:cs typeface="Century Schoolbook"/>
              </a:rPr>
              <a:t>Les </a:t>
            </a:r>
            <a:r>
              <a:rPr sz="2100" spc="-5" dirty="0">
                <a:latin typeface="Century Schoolbook"/>
                <a:cs typeface="Century Schoolbook"/>
              </a:rPr>
              <a:t>données </a:t>
            </a:r>
            <a:r>
              <a:rPr sz="2100" dirty="0">
                <a:latin typeface="Century Schoolbook"/>
                <a:cs typeface="Century Schoolbook"/>
              </a:rPr>
              <a:t>sont </a:t>
            </a:r>
            <a:r>
              <a:rPr sz="2100" spc="-5" dirty="0">
                <a:latin typeface="Century Schoolbook"/>
                <a:cs typeface="Century Schoolbook"/>
              </a:rPr>
              <a:t>réparties dans différentes BD</a:t>
            </a:r>
            <a:endParaRPr sz="2100">
              <a:latin typeface="Century Schoolbook"/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100" dirty="0">
                <a:latin typeface="Century Schoolbook"/>
                <a:cs typeface="Century Schoolbook"/>
              </a:rPr>
              <a:t>Les </a:t>
            </a:r>
            <a:r>
              <a:rPr sz="2100" spc="-5" dirty="0">
                <a:latin typeface="Century Schoolbook"/>
                <a:cs typeface="Century Schoolbook"/>
              </a:rPr>
              <a:t>données </a:t>
            </a:r>
            <a:r>
              <a:rPr sz="2100" dirty="0">
                <a:latin typeface="Century Schoolbook"/>
                <a:cs typeface="Century Schoolbook"/>
              </a:rPr>
              <a:t>sont </a:t>
            </a:r>
            <a:r>
              <a:rPr sz="2100" spc="-5" dirty="0">
                <a:latin typeface="Century Schoolbook"/>
                <a:cs typeface="Century Schoolbook"/>
              </a:rPr>
              <a:t>accessibles via </a:t>
            </a:r>
            <a:r>
              <a:rPr sz="2100" dirty="0">
                <a:latin typeface="Century Schoolbook"/>
                <a:cs typeface="Century Schoolbook"/>
              </a:rPr>
              <a:t>le</a:t>
            </a:r>
            <a:r>
              <a:rPr sz="2100" spc="-5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réseau</a:t>
            </a:r>
            <a:endParaRPr sz="2100">
              <a:latin typeface="Century Schoolbook"/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100" dirty="0">
                <a:latin typeface="Century Schoolbook"/>
                <a:cs typeface="Century Schoolbook"/>
              </a:rPr>
              <a:t>Les </a:t>
            </a:r>
            <a:r>
              <a:rPr sz="2100" spc="-5" dirty="0">
                <a:latin typeface="Century Schoolbook"/>
                <a:cs typeface="Century Schoolbook"/>
              </a:rPr>
              <a:t>requêtes </a:t>
            </a:r>
            <a:r>
              <a:rPr sz="2100" dirty="0">
                <a:latin typeface="Century Schoolbook"/>
                <a:cs typeface="Century Schoolbook"/>
              </a:rPr>
              <a:t>sont </a:t>
            </a:r>
            <a:r>
              <a:rPr sz="2100" spc="-5" dirty="0">
                <a:latin typeface="Century Schoolbook"/>
                <a:cs typeface="Century Schoolbook"/>
              </a:rPr>
              <a:t>formulées </a:t>
            </a:r>
            <a:r>
              <a:rPr sz="2100" dirty="0">
                <a:latin typeface="Century Schoolbook"/>
                <a:cs typeface="Century Schoolbook"/>
              </a:rPr>
              <a:t>en </a:t>
            </a:r>
            <a:r>
              <a:rPr sz="2100" spc="-5" dirty="0">
                <a:latin typeface="Century Schoolbook"/>
                <a:cs typeface="Century Schoolbook"/>
              </a:rPr>
              <a:t>fonction d’un </a:t>
            </a:r>
            <a:r>
              <a:rPr sz="2100" dirty="0">
                <a:latin typeface="Century Schoolbook"/>
                <a:cs typeface="Century Schoolbook"/>
              </a:rPr>
              <a:t>schéma</a:t>
            </a:r>
            <a:r>
              <a:rPr sz="2100" spc="1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global</a:t>
            </a:r>
            <a:endParaRPr sz="2100">
              <a:latin typeface="Century Schoolbook"/>
              <a:cs typeface="Century Schoolboo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4000" y="5410200"/>
            <a:ext cx="5655310" cy="84836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SELECT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*</a:t>
            </a: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tabLst>
                <a:tab pos="1459865" algn="l"/>
              </a:tabLst>
            </a:pPr>
            <a:r>
              <a:rPr sz="1800" dirty="0">
                <a:latin typeface="Arial"/>
                <a:cs typeface="Arial"/>
              </a:rPr>
              <a:t>FROM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Client	</a:t>
            </a:r>
            <a:r>
              <a:rPr sz="1800" dirty="0">
                <a:latin typeface="Arial"/>
                <a:cs typeface="Arial"/>
              </a:rPr>
              <a:t>JOIN </a:t>
            </a:r>
            <a:r>
              <a:rPr sz="1800" spc="-5" dirty="0">
                <a:latin typeface="Arial"/>
                <a:cs typeface="Arial"/>
              </a:rPr>
              <a:t>Cde </a:t>
            </a:r>
            <a:r>
              <a:rPr sz="1800" dirty="0">
                <a:latin typeface="Arial"/>
                <a:cs typeface="Arial"/>
              </a:rPr>
              <a:t>ON </a:t>
            </a:r>
            <a:r>
              <a:rPr sz="1800" spc="-5" dirty="0">
                <a:latin typeface="Arial"/>
                <a:cs typeface="Arial"/>
              </a:rPr>
              <a:t>Client.nclient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Cde.nclient  WHERE Cde.qte </a:t>
            </a:r>
            <a:r>
              <a:rPr sz="1800" dirty="0">
                <a:latin typeface="Arial"/>
                <a:cs typeface="Arial"/>
              </a:rPr>
              <a:t>&gt;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10;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4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706729"/>
            <a:ext cx="7029915" cy="472022"/>
          </a:xfrm>
          <a:prstGeom prst="rect">
            <a:avLst/>
          </a:prstGeom>
        </p:spPr>
        <p:txBody>
          <a:bodyPr vert="horz" wrap="square" lIns="0" tIns="10257" rIns="0" bIns="0" rtlCol="0">
            <a:spAutoFit/>
          </a:bodyPr>
          <a:lstStyle/>
          <a:p>
            <a:pPr marL="11397">
              <a:spcBef>
                <a:spcPts val="81"/>
              </a:spcBef>
            </a:pPr>
            <a:r>
              <a:rPr spc="-4" dirty="0"/>
              <a:t>Evaluation de Requêtes</a:t>
            </a:r>
            <a:r>
              <a:rPr spc="-22" dirty="0"/>
              <a:t> </a:t>
            </a:r>
            <a:r>
              <a:rPr spc="-4" dirty="0"/>
              <a:t>Réparties</a:t>
            </a:r>
          </a:p>
        </p:txBody>
      </p:sp>
      <p:grpSp>
        <p:nvGrpSpPr>
          <p:cNvPr id="19" name="Groupe 18"/>
          <p:cNvGrpSpPr/>
          <p:nvPr/>
        </p:nvGrpSpPr>
        <p:grpSpPr>
          <a:xfrm>
            <a:off x="1600200" y="1756637"/>
            <a:ext cx="5104704" cy="3998701"/>
            <a:chOff x="2452719" y="1756637"/>
            <a:chExt cx="5104704" cy="3998701"/>
          </a:xfrm>
        </p:grpSpPr>
        <p:sp>
          <p:nvSpPr>
            <p:cNvPr id="3" name="object 3"/>
            <p:cNvSpPr/>
            <p:nvPr/>
          </p:nvSpPr>
          <p:spPr>
            <a:xfrm>
              <a:off x="5667433" y="2464397"/>
              <a:ext cx="1889990" cy="739588"/>
            </a:xfrm>
            <a:custGeom>
              <a:avLst/>
              <a:gdLst/>
              <a:ahLst/>
              <a:cxnLst/>
              <a:rect l="l" t="t" r="r" b="b"/>
              <a:pathLst>
                <a:path w="2078990" h="838200">
                  <a:moveTo>
                    <a:pt x="1039368" y="0"/>
                  </a:moveTo>
                  <a:lnTo>
                    <a:pt x="973743" y="830"/>
                  </a:lnTo>
                  <a:lnTo>
                    <a:pt x="909189" y="3288"/>
                  </a:lnTo>
                  <a:lnTo>
                    <a:pt x="845826" y="7323"/>
                  </a:lnTo>
                  <a:lnTo>
                    <a:pt x="783779" y="12885"/>
                  </a:lnTo>
                  <a:lnTo>
                    <a:pt x="723170" y="19925"/>
                  </a:lnTo>
                  <a:lnTo>
                    <a:pt x="664122" y="28393"/>
                  </a:lnTo>
                  <a:lnTo>
                    <a:pt x="606758" y="38238"/>
                  </a:lnTo>
                  <a:lnTo>
                    <a:pt x="551199" y="49411"/>
                  </a:lnTo>
                  <a:lnTo>
                    <a:pt x="497570" y="61862"/>
                  </a:lnTo>
                  <a:lnTo>
                    <a:pt x="445993" y="75541"/>
                  </a:lnTo>
                  <a:lnTo>
                    <a:pt x="396590" y="90397"/>
                  </a:lnTo>
                  <a:lnTo>
                    <a:pt x="349485" y="106381"/>
                  </a:lnTo>
                  <a:lnTo>
                    <a:pt x="304799" y="123443"/>
                  </a:lnTo>
                  <a:lnTo>
                    <a:pt x="262657" y="141534"/>
                  </a:lnTo>
                  <a:lnTo>
                    <a:pt x="223181" y="160602"/>
                  </a:lnTo>
                  <a:lnTo>
                    <a:pt x="186494" y="180599"/>
                  </a:lnTo>
                  <a:lnTo>
                    <a:pt x="152717" y="201473"/>
                  </a:lnTo>
                  <a:lnTo>
                    <a:pt x="94390" y="245658"/>
                  </a:lnTo>
                  <a:lnTo>
                    <a:pt x="49181" y="292755"/>
                  </a:lnTo>
                  <a:lnTo>
                    <a:pt x="18073" y="342367"/>
                  </a:lnTo>
                  <a:lnTo>
                    <a:pt x="2049" y="394093"/>
                  </a:lnTo>
                  <a:lnTo>
                    <a:pt x="0" y="420624"/>
                  </a:lnTo>
                  <a:lnTo>
                    <a:pt x="2049" y="446816"/>
                  </a:lnTo>
                  <a:lnTo>
                    <a:pt x="18073" y="497942"/>
                  </a:lnTo>
                  <a:lnTo>
                    <a:pt x="49181" y="547050"/>
                  </a:lnTo>
                  <a:lnTo>
                    <a:pt x="94390" y="593731"/>
                  </a:lnTo>
                  <a:lnTo>
                    <a:pt x="152717" y="637578"/>
                  </a:lnTo>
                  <a:lnTo>
                    <a:pt x="186494" y="658311"/>
                  </a:lnTo>
                  <a:lnTo>
                    <a:pt x="223181" y="678182"/>
                  </a:lnTo>
                  <a:lnTo>
                    <a:pt x="262657" y="697141"/>
                  </a:lnTo>
                  <a:lnTo>
                    <a:pt x="304800" y="715137"/>
                  </a:lnTo>
                  <a:lnTo>
                    <a:pt x="349485" y="732117"/>
                  </a:lnTo>
                  <a:lnTo>
                    <a:pt x="396590" y="748033"/>
                  </a:lnTo>
                  <a:lnTo>
                    <a:pt x="445993" y="762832"/>
                  </a:lnTo>
                  <a:lnTo>
                    <a:pt x="497570" y="776463"/>
                  </a:lnTo>
                  <a:lnTo>
                    <a:pt x="551199" y="788877"/>
                  </a:lnTo>
                  <a:lnTo>
                    <a:pt x="606758" y="800020"/>
                  </a:lnTo>
                  <a:lnTo>
                    <a:pt x="664122" y="809844"/>
                  </a:lnTo>
                  <a:lnTo>
                    <a:pt x="723170" y="818295"/>
                  </a:lnTo>
                  <a:lnTo>
                    <a:pt x="783779" y="825325"/>
                  </a:lnTo>
                  <a:lnTo>
                    <a:pt x="845826" y="830881"/>
                  </a:lnTo>
                  <a:lnTo>
                    <a:pt x="909189" y="834913"/>
                  </a:lnTo>
                  <a:lnTo>
                    <a:pt x="973743" y="837369"/>
                  </a:lnTo>
                  <a:lnTo>
                    <a:pt x="1039368" y="838200"/>
                  </a:lnTo>
                  <a:lnTo>
                    <a:pt x="1104992" y="837369"/>
                  </a:lnTo>
                  <a:lnTo>
                    <a:pt x="1169546" y="834913"/>
                  </a:lnTo>
                  <a:lnTo>
                    <a:pt x="1232909" y="830881"/>
                  </a:lnTo>
                  <a:lnTo>
                    <a:pt x="1294956" y="825325"/>
                  </a:lnTo>
                  <a:lnTo>
                    <a:pt x="1355565" y="818295"/>
                  </a:lnTo>
                  <a:lnTo>
                    <a:pt x="1414613" y="809844"/>
                  </a:lnTo>
                  <a:lnTo>
                    <a:pt x="1471977" y="800020"/>
                  </a:lnTo>
                  <a:lnTo>
                    <a:pt x="1527536" y="788877"/>
                  </a:lnTo>
                  <a:lnTo>
                    <a:pt x="1581165" y="776463"/>
                  </a:lnTo>
                  <a:lnTo>
                    <a:pt x="1632742" y="762832"/>
                  </a:lnTo>
                  <a:lnTo>
                    <a:pt x="1682145" y="748033"/>
                  </a:lnTo>
                  <a:lnTo>
                    <a:pt x="1729250" y="732117"/>
                  </a:lnTo>
                  <a:lnTo>
                    <a:pt x="1773936" y="715137"/>
                  </a:lnTo>
                  <a:lnTo>
                    <a:pt x="1816078" y="697141"/>
                  </a:lnTo>
                  <a:lnTo>
                    <a:pt x="1855554" y="678182"/>
                  </a:lnTo>
                  <a:lnTo>
                    <a:pt x="1892241" y="658311"/>
                  </a:lnTo>
                  <a:lnTo>
                    <a:pt x="1926018" y="637578"/>
                  </a:lnTo>
                  <a:lnTo>
                    <a:pt x="1984345" y="593731"/>
                  </a:lnTo>
                  <a:lnTo>
                    <a:pt x="2029554" y="547050"/>
                  </a:lnTo>
                  <a:lnTo>
                    <a:pt x="2060662" y="497942"/>
                  </a:lnTo>
                  <a:lnTo>
                    <a:pt x="2076686" y="446816"/>
                  </a:lnTo>
                  <a:lnTo>
                    <a:pt x="2078735" y="420624"/>
                  </a:lnTo>
                  <a:lnTo>
                    <a:pt x="2076686" y="394093"/>
                  </a:lnTo>
                  <a:lnTo>
                    <a:pt x="2060662" y="342367"/>
                  </a:lnTo>
                  <a:lnTo>
                    <a:pt x="2029554" y="292755"/>
                  </a:lnTo>
                  <a:lnTo>
                    <a:pt x="1984345" y="245658"/>
                  </a:lnTo>
                  <a:lnTo>
                    <a:pt x="1926018" y="201473"/>
                  </a:lnTo>
                  <a:lnTo>
                    <a:pt x="1892241" y="180599"/>
                  </a:lnTo>
                  <a:lnTo>
                    <a:pt x="1855554" y="160602"/>
                  </a:lnTo>
                  <a:lnTo>
                    <a:pt x="1816078" y="141534"/>
                  </a:lnTo>
                  <a:lnTo>
                    <a:pt x="1773935" y="123444"/>
                  </a:lnTo>
                  <a:lnTo>
                    <a:pt x="1729250" y="106381"/>
                  </a:lnTo>
                  <a:lnTo>
                    <a:pt x="1682145" y="90397"/>
                  </a:lnTo>
                  <a:lnTo>
                    <a:pt x="1632742" y="75541"/>
                  </a:lnTo>
                  <a:lnTo>
                    <a:pt x="1581165" y="61862"/>
                  </a:lnTo>
                  <a:lnTo>
                    <a:pt x="1527536" y="49411"/>
                  </a:lnTo>
                  <a:lnTo>
                    <a:pt x="1471977" y="38238"/>
                  </a:lnTo>
                  <a:lnTo>
                    <a:pt x="1414613" y="28393"/>
                  </a:lnTo>
                  <a:lnTo>
                    <a:pt x="1355565" y="19925"/>
                  </a:lnTo>
                  <a:lnTo>
                    <a:pt x="1294956" y="12885"/>
                  </a:lnTo>
                  <a:lnTo>
                    <a:pt x="1232909" y="7323"/>
                  </a:lnTo>
                  <a:lnTo>
                    <a:pt x="1169546" y="3288"/>
                  </a:lnTo>
                  <a:lnTo>
                    <a:pt x="1104992" y="830"/>
                  </a:lnTo>
                  <a:lnTo>
                    <a:pt x="103936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2727499" y="2499360"/>
              <a:ext cx="2114550" cy="425751"/>
            </a:xfrm>
            <a:prstGeom prst="rect">
              <a:avLst/>
            </a:prstGeom>
            <a:ln w="12700">
              <a:solidFill>
                <a:srgbClr val="000000"/>
              </a:solidFill>
            </a:ln>
          </p:spPr>
          <p:txBody>
            <a:bodyPr vert="horz" wrap="square" lIns="0" tIns="177793" rIns="0" bIns="0" rtlCol="0">
              <a:spAutoFit/>
            </a:bodyPr>
            <a:lstStyle/>
            <a:p>
              <a:pPr marL="344189">
                <a:spcBef>
                  <a:spcPts val="1400"/>
                </a:spcBef>
              </a:pPr>
              <a:r>
                <a:rPr sz="1600" spc="-4" dirty="0">
                  <a:solidFill>
                    <a:srgbClr val="232021"/>
                  </a:solidFill>
                  <a:latin typeface="Arial"/>
                  <a:cs typeface="Arial"/>
                </a:rPr>
                <a:t>Fragmentation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2691476" y="4424979"/>
              <a:ext cx="2114550" cy="428627"/>
            </a:xfrm>
            <a:prstGeom prst="rect">
              <a:avLst/>
            </a:prstGeom>
            <a:ln w="12700">
              <a:solidFill>
                <a:srgbClr val="000000"/>
              </a:solidFill>
            </a:ln>
          </p:spPr>
          <p:txBody>
            <a:bodyPr vert="horz" wrap="square" lIns="0" tIns="180642" rIns="0" bIns="0" rtlCol="0">
              <a:spAutoFit/>
            </a:bodyPr>
            <a:lstStyle/>
            <a:p>
              <a:pPr marL="459297">
                <a:spcBef>
                  <a:spcPts val="1422"/>
                </a:spcBef>
              </a:pPr>
              <a:r>
                <a:rPr sz="1600" spc="-4" dirty="0">
                  <a:solidFill>
                    <a:srgbClr val="232021"/>
                  </a:solidFill>
                  <a:latin typeface="Arial"/>
                  <a:cs typeface="Arial"/>
                </a:rPr>
                <a:t>Optimisation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5813839" y="2539262"/>
              <a:ext cx="1586922" cy="473173"/>
            </a:xfrm>
            <a:prstGeom prst="rect">
              <a:avLst/>
            </a:prstGeom>
          </p:spPr>
          <p:txBody>
            <a:bodyPr vert="horz" wrap="square" lIns="0" tIns="11397" rIns="0" bIns="0" rtlCol="0">
              <a:spAutoFit/>
            </a:bodyPr>
            <a:lstStyle/>
            <a:p>
              <a:pPr algn="ctr">
                <a:lnSpc>
                  <a:spcPts val="1799"/>
                </a:lnSpc>
                <a:spcBef>
                  <a:spcPts val="90"/>
                </a:spcBef>
              </a:pPr>
              <a:r>
                <a:rPr sz="1600" dirty="0">
                  <a:solidFill>
                    <a:srgbClr val="232021"/>
                  </a:solidFill>
                  <a:latin typeface="Arial"/>
                  <a:cs typeface="Arial"/>
                </a:rPr>
                <a:t>Schéma</a:t>
              </a:r>
              <a:endParaRPr sz="1600" dirty="0">
                <a:latin typeface="Arial"/>
                <a:cs typeface="Arial"/>
              </a:endParaRPr>
            </a:p>
            <a:p>
              <a:pPr algn="ctr">
                <a:lnSpc>
                  <a:spcPts val="1799"/>
                </a:lnSpc>
              </a:pPr>
              <a:r>
                <a:rPr sz="1600" dirty="0">
                  <a:solidFill>
                    <a:srgbClr val="232021"/>
                  </a:solidFill>
                  <a:latin typeface="Arial"/>
                  <a:cs typeface="Arial"/>
                </a:rPr>
                <a:t>de</a:t>
              </a:r>
              <a:r>
                <a:rPr sz="1600" spc="-27" dirty="0">
                  <a:solidFill>
                    <a:srgbClr val="232021"/>
                  </a:solidFill>
                  <a:latin typeface="Arial"/>
                  <a:cs typeface="Arial"/>
                </a:rPr>
                <a:t> </a:t>
              </a:r>
              <a:r>
                <a:rPr sz="1600" spc="-4" dirty="0">
                  <a:solidFill>
                    <a:srgbClr val="232021"/>
                  </a:solidFill>
                  <a:latin typeface="Arial"/>
                  <a:cs typeface="Arial"/>
                </a:rPr>
                <a:t>fragmentation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866639" y="2816711"/>
              <a:ext cx="775855" cy="0"/>
            </a:xfrm>
            <a:custGeom>
              <a:avLst/>
              <a:gdLst/>
              <a:ahLst/>
              <a:cxnLst/>
              <a:rect l="l" t="t" r="r" b="b"/>
              <a:pathLst>
                <a:path w="853439">
                  <a:moveTo>
                    <a:pt x="0" y="0"/>
                  </a:moveTo>
                  <a:lnTo>
                    <a:pt x="85344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31411" y="4392706"/>
              <a:ext cx="1801091" cy="715496"/>
            </a:xfrm>
            <a:custGeom>
              <a:avLst/>
              <a:gdLst/>
              <a:ahLst/>
              <a:cxnLst/>
              <a:rect l="l" t="t" r="r" b="b"/>
              <a:pathLst>
                <a:path w="1981200" h="810895">
                  <a:moveTo>
                    <a:pt x="990600" y="0"/>
                  </a:moveTo>
                  <a:lnTo>
                    <a:pt x="925296" y="854"/>
                  </a:lnTo>
                  <a:lnTo>
                    <a:pt x="861146" y="3384"/>
                  </a:lnTo>
                  <a:lnTo>
                    <a:pt x="798277" y="7536"/>
                  </a:lnTo>
                  <a:lnTo>
                    <a:pt x="736819" y="13261"/>
                  </a:lnTo>
                  <a:lnTo>
                    <a:pt x="676899" y="20506"/>
                  </a:lnTo>
                  <a:lnTo>
                    <a:pt x="618648" y="29221"/>
                  </a:lnTo>
                  <a:lnTo>
                    <a:pt x="562193" y="39352"/>
                  </a:lnTo>
                  <a:lnTo>
                    <a:pt x="507664" y="50849"/>
                  </a:lnTo>
                  <a:lnTo>
                    <a:pt x="455188" y="63661"/>
                  </a:lnTo>
                  <a:lnTo>
                    <a:pt x="404896" y="77736"/>
                  </a:lnTo>
                  <a:lnTo>
                    <a:pt x="356915" y="93022"/>
                  </a:lnTo>
                  <a:lnTo>
                    <a:pt x="311374" y="109468"/>
                  </a:lnTo>
                  <a:lnTo>
                    <a:pt x="268403" y="127022"/>
                  </a:lnTo>
                  <a:lnTo>
                    <a:pt x="228129" y="145633"/>
                  </a:lnTo>
                  <a:lnTo>
                    <a:pt x="190682" y="165250"/>
                  </a:lnTo>
                  <a:lnTo>
                    <a:pt x="156191" y="185820"/>
                  </a:lnTo>
                  <a:lnTo>
                    <a:pt x="96588" y="229617"/>
                  </a:lnTo>
                  <a:lnTo>
                    <a:pt x="50352" y="276612"/>
                  </a:lnTo>
                  <a:lnTo>
                    <a:pt x="18513" y="326392"/>
                  </a:lnTo>
                  <a:lnTo>
                    <a:pt x="2099" y="378545"/>
                  </a:lnTo>
                  <a:lnTo>
                    <a:pt x="0" y="405384"/>
                  </a:lnTo>
                  <a:lnTo>
                    <a:pt x="2099" y="432222"/>
                  </a:lnTo>
                  <a:lnTo>
                    <a:pt x="18513" y="484375"/>
                  </a:lnTo>
                  <a:lnTo>
                    <a:pt x="50352" y="534155"/>
                  </a:lnTo>
                  <a:lnTo>
                    <a:pt x="96588" y="581150"/>
                  </a:lnTo>
                  <a:lnTo>
                    <a:pt x="156191" y="624947"/>
                  </a:lnTo>
                  <a:lnTo>
                    <a:pt x="190682" y="645517"/>
                  </a:lnTo>
                  <a:lnTo>
                    <a:pt x="228129" y="665134"/>
                  </a:lnTo>
                  <a:lnTo>
                    <a:pt x="268403" y="683745"/>
                  </a:lnTo>
                  <a:lnTo>
                    <a:pt x="311374" y="701299"/>
                  </a:lnTo>
                  <a:lnTo>
                    <a:pt x="356915" y="717745"/>
                  </a:lnTo>
                  <a:lnTo>
                    <a:pt x="404896" y="733031"/>
                  </a:lnTo>
                  <a:lnTo>
                    <a:pt x="455188" y="747106"/>
                  </a:lnTo>
                  <a:lnTo>
                    <a:pt x="507664" y="759918"/>
                  </a:lnTo>
                  <a:lnTo>
                    <a:pt x="562193" y="771415"/>
                  </a:lnTo>
                  <a:lnTo>
                    <a:pt x="618648" y="781546"/>
                  </a:lnTo>
                  <a:lnTo>
                    <a:pt x="676899" y="790261"/>
                  </a:lnTo>
                  <a:lnTo>
                    <a:pt x="736819" y="797506"/>
                  </a:lnTo>
                  <a:lnTo>
                    <a:pt x="798277" y="803231"/>
                  </a:lnTo>
                  <a:lnTo>
                    <a:pt x="861146" y="807383"/>
                  </a:lnTo>
                  <a:lnTo>
                    <a:pt x="925296" y="809913"/>
                  </a:lnTo>
                  <a:lnTo>
                    <a:pt x="990600" y="810767"/>
                  </a:lnTo>
                  <a:lnTo>
                    <a:pt x="1055566" y="809913"/>
                  </a:lnTo>
                  <a:lnTo>
                    <a:pt x="1119434" y="807383"/>
                  </a:lnTo>
                  <a:lnTo>
                    <a:pt x="1182072" y="803231"/>
                  </a:lnTo>
                  <a:lnTo>
                    <a:pt x="1243348" y="797506"/>
                  </a:lnTo>
                  <a:lnTo>
                    <a:pt x="1303129" y="790261"/>
                  </a:lnTo>
                  <a:lnTo>
                    <a:pt x="1361284" y="781546"/>
                  </a:lnTo>
                  <a:lnTo>
                    <a:pt x="1417679" y="771415"/>
                  </a:lnTo>
                  <a:lnTo>
                    <a:pt x="1472182" y="759918"/>
                  </a:lnTo>
                  <a:lnTo>
                    <a:pt x="1524662" y="747106"/>
                  </a:lnTo>
                  <a:lnTo>
                    <a:pt x="1574986" y="733031"/>
                  </a:lnTo>
                  <a:lnTo>
                    <a:pt x="1623022" y="717745"/>
                  </a:lnTo>
                  <a:lnTo>
                    <a:pt x="1668638" y="701299"/>
                  </a:lnTo>
                  <a:lnTo>
                    <a:pt x="1711701" y="683745"/>
                  </a:lnTo>
                  <a:lnTo>
                    <a:pt x="1752078" y="665134"/>
                  </a:lnTo>
                  <a:lnTo>
                    <a:pt x="1789639" y="645517"/>
                  </a:lnTo>
                  <a:lnTo>
                    <a:pt x="1824250" y="624947"/>
                  </a:lnTo>
                  <a:lnTo>
                    <a:pt x="1855779" y="603474"/>
                  </a:lnTo>
                  <a:lnTo>
                    <a:pt x="1909063" y="558027"/>
                  </a:lnTo>
                  <a:lnTo>
                    <a:pt x="1948434" y="509588"/>
                  </a:lnTo>
                  <a:lnTo>
                    <a:pt x="1972832" y="458569"/>
                  </a:lnTo>
                  <a:lnTo>
                    <a:pt x="1981200" y="405384"/>
                  </a:lnTo>
                  <a:lnTo>
                    <a:pt x="1979086" y="378545"/>
                  </a:lnTo>
                  <a:lnTo>
                    <a:pt x="1962570" y="326392"/>
                  </a:lnTo>
                  <a:lnTo>
                    <a:pt x="1930554" y="276612"/>
                  </a:lnTo>
                  <a:lnTo>
                    <a:pt x="1884094" y="229617"/>
                  </a:lnTo>
                  <a:lnTo>
                    <a:pt x="1824250" y="185820"/>
                  </a:lnTo>
                  <a:lnTo>
                    <a:pt x="1789639" y="165250"/>
                  </a:lnTo>
                  <a:lnTo>
                    <a:pt x="1752078" y="145633"/>
                  </a:lnTo>
                  <a:lnTo>
                    <a:pt x="1711701" y="127022"/>
                  </a:lnTo>
                  <a:lnTo>
                    <a:pt x="1668638" y="109468"/>
                  </a:lnTo>
                  <a:lnTo>
                    <a:pt x="1623022" y="93022"/>
                  </a:lnTo>
                  <a:lnTo>
                    <a:pt x="1574986" y="77736"/>
                  </a:lnTo>
                  <a:lnTo>
                    <a:pt x="1524662" y="63661"/>
                  </a:lnTo>
                  <a:lnTo>
                    <a:pt x="1472182" y="50849"/>
                  </a:lnTo>
                  <a:lnTo>
                    <a:pt x="1417679" y="39352"/>
                  </a:lnTo>
                  <a:lnTo>
                    <a:pt x="1361284" y="29221"/>
                  </a:lnTo>
                  <a:lnTo>
                    <a:pt x="1303129" y="20506"/>
                  </a:lnTo>
                  <a:lnTo>
                    <a:pt x="1243348" y="13261"/>
                  </a:lnTo>
                  <a:lnTo>
                    <a:pt x="1182072" y="7536"/>
                  </a:lnTo>
                  <a:lnTo>
                    <a:pt x="1119434" y="3384"/>
                  </a:lnTo>
                  <a:lnTo>
                    <a:pt x="1055566" y="854"/>
                  </a:lnTo>
                  <a:lnTo>
                    <a:pt x="99060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005031" y="4467564"/>
              <a:ext cx="1056409" cy="484351"/>
            </a:xfrm>
            <a:prstGeom prst="rect">
              <a:avLst/>
            </a:prstGeom>
          </p:spPr>
          <p:txBody>
            <a:bodyPr vert="horz" wrap="square" lIns="0" tIns="47867" rIns="0" bIns="0" rtlCol="0">
              <a:spAutoFit/>
            </a:bodyPr>
            <a:lstStyle/>
            <a:p>
              <a:pPr marL="11397" marR="4559" indent="133915">
                <a:lnSpc>
                  <a:spcPts val="1660"/>
                </a:lnSpc>
                <a:spcBef>
                  <a:spcPts val="377"/>
                </a:spcBef>
              </a:pPr>
              <a:r>
                <a:rPr sz="1600" dirty="0">
                  <a:solidFill>
                    <a:srgbClr val="232021"/>
                  </a:solidFill>
                  <a:latin typeface="Arial"/>
                  <a:cs typeface="Arial"/>
                </a:rPr>
                <a:t>Schéma  </a:t>
              </a:r>
              <a:r>
                <a:rPr sz="1600" spc="4" dirty="0">
                  <a:solidFill>
                    <a:srgbClr val="232021"/>
                  </a:solidFill>
                  <a:latin typeface="Arial"/>
                  <a:cs typeface="Arial"/>
                </a:rPr>
                <a:t>d</a:t>
              </a:r>
              <a:r>
                <a:rPr sz="1600" spc="-9" dirty="0">
                  <a:solidFill>
                    <a:srgbClr val="232021"/>
                  </a:solidFill>
                  <a:latin typeface="Arial"/>
                  <a:cs typeface="Arial"/>
                </a:rPr>
                <a:t>'</a:t>
              </a:r>
              <a:r>
                <a:rPr sz="1600" spc="4" dirty="0">
                  <a:solidFill>
                    <a:srgbClr val="232021"/>
                  </a:solidFill>
                  <a:latin typeface="Arial"/>
                  <a:cs typeface="Arial"/>
                </a:rPr>
                <a:t>al</a:t>
              </a:r>
              <a:r>
                <a:rPr sz="1600" spc="-18" dirty="0">
                  <a:solidFill>
                    <a:srgbClr val="232021"/>
                  </a:solidFill>
                  <a:latin typeface="Arial"/>
                  <a:cs typeface="Arial"/>
                </a:rPr>
                <a:t>l</a:t>
              </a:r>
              <a:r>
                <a:rPr sz="1600" spc="4" dirty="0">
                  <a:solidFill>
                    <a:srgbClr val="232021"/>
                  </a:solidFill>
                  <a:latin typeface="Arial"/>
                  <a:cs typeface="Arial"/>
                </a:rPr>
                <a:t>oc</a:t>
              </a:r>
              <a:r>
                <a:rPr sz="1600" spc="-18" dirty="0">
                  <a:solidFill>
                    <a:srgbClr val="232021"/>
                  </a:solidFill>
                  <a:latin typeface="Arial"/>
                  <a:cs typeface="Arial"/>
                </a:rPr>
                <a:t>a</a:t>
              </a:r>
              <a:r>
                <a:rPr sz="1600" spc="4" dirty="0">
                  <a:solidFill>
                    <a:srgbClr val="232021"/>
                  </a:solidFill>
                  <a:latin typeface="Arial"/>
                  <a:cs typeface="Arial"/>
                </a:rPr>
                <a:t>ti</a:t>
              </a:r>
              <a:r>
                <a:rPr sz="1600" spc="-18" dirty="0">
                  <a:solidFill>
                    <a:srgbClr val="232021"/>
                  </a:solidFill>
                  <a:latin typeface="Arial"/>
                  <a:cs typeface="Arial"/>
                </a:rPr>
                <a:t>o</a:t>
              </a:r>
              <a:r>
                <a:rPr sz="1600" dirty="0">
                  <a:solidFill>
                    <a:srgbClr val="232021"/>
                  </a:solidFill>
                  <a:latin typeface="Arial"/>
                  <a:cs typeface="Arial"/>
                </a:rPr>
                <a:t>n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830617" y="4745019"/>
              <a:ext cx="775855" cy="0"/>
            </a:xfrm>
            <a:custGeom>
              <a:avLst/>
              <a:gdLst/>
              <a:ahLst/>
              <a:cxnLst/>
              <a:rect l="l" t="t" r="r" b="b"/>
              <a:pathLst>
                <a:path w="853439">
                  <a:moveTo>
                    <a:pt x="0" y="0"/>
                  </a:moveTo>
                  <a:lnTo>
                    <a:pt x="85344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2452719" y="1756637"/>
              <a:ext cx="2831523" cy="257730"/>
            </a:xfrm>
            <a:prstGeom prst="rect">
              <a:avLst/>
            </a:prstGeom>
          </p:spPr>
          <p:txBody>
            <a:bodyPr vert="horz" wrap="square" lIns="0" tIns="11397" rIns="0" bIns="0" rtlCol="0">
              <a:spAutoFit/>
            </a:bodyPr>
            <a:lstStyle/>
            <a:p>
              <a:pPr marL="11397">
                <a:spcBef>
                  <a:spcPts val="90"/>
                </a:spcBef>
              </a:pPr>
              <a:r>
                <a:rPr sz="1600" spc="-4" dirty="0">
                  <a:solidFill>
                    <a:srgbClr val="232021"/>
                  </a:solidFill>
                  <a:latin typeface="Arial"/>
                  <a:cs typeface="Arial"/>
                </a:rPr>
                <a:t>Requête sur relations</a:t>
              </a:r>
              <a:r>
                <a:rPr sz="1600" spc="4" dirty="0">
                  <a:solidFill>
                    <a:srgbClr val="232021"/>
                  </a:solidFill>
                  <a:latin typeface="Arial"/>
                  <a:cs typeface="Arial"/>
                </a:rPr>
                <a:t> </a:t>
              </a:r>
              <a:r>
                <a:rPr sz="1600" spc="-4" dirty="0">
                  <a:solidFill>
                    <a:srgbClr val="232021"/>
                  </a:solidFill>
                  <a:latin typeface="Arial"/>
                  <a:cs typeface="Arial"/>
                </a:rPr>
                <a:t>globales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749963" y="2095948"/>
              <a:ext cx="69273" cy="389964"/>
            </a:xfrm>
            <a:custGeom>
              <a:avLst/>
              <a:gdLst/>
              <a:ahLst/>
              <a:cxnLst/>
              <a:rect l="l" t="t" r="r" b="b"/>
              <a:pathLst>
                <a:path w="76200" h="441960">
                  <a:moveTo>
                    <a:pt x="76200" y="365760"/>
                  </a:moveTo>
                  <a:lnTo>
                    <a:pt x="0" y="365760"/>
                  </a:lnTo>
                  <a:lnTo>
                    <a:pt x="33528" y="430237"/>
                  </a:lnTo>
                  <a:lnTo>
                    <a:pt x="33528" y="381000"/>
                  </a:lnTo>
                  <a:lnTo>
                    <a:pt x="45719" y="381000"/>
                  </a:lnTo>
                  <a:lnTo>
                    <a:pt x="45719" y="429260"/>
                  </a:lnTo>
                  <a:lnTo>
                    <a:pt x="76200" y="365760"/>
                  </a:lnTo>
                  <a:close/>
                </a:path>
                <a:path w="76200" h="441960">
                  <a:moveTo>
                    <a:pt x="45719" y="365760"/>
                  </a:moveTo>
                  <a:lnTo>
                    <a:pt x="45719" y="0"/>
                  </a:lnTo>
                  <a:lnTo>
                    <a:pt x="33528" y="0"/>
                  </a:lnTo>
                  <a:lnTo>
                    <a:pt x="33528" y="365760"/>
                  </a:lnTo>
                  <a:lnTo>
                    <a:pt x="45719" y="365760"/>
                  </a:lnTo>
                  <a:close/>
                </a:path>
                <a:path w="76200" h="441960">
                  <a:moveTo>
                    <a:pt x="45719" y="429260"/>
                  </a:moveTo>
                  <a:lnTo>
                    <a:pt x="45719" y="381000"/>
                  </a:lnTo>
                  <a:lnTo>
                    <a:pt x="33528" y="381000"/>
                  </a:lnTo>
                  <a:lnTo>
                    <a:pt x="33528" y="430237"/>
                  </a:lnTo>
                  <a:lnTo>
                    <a:pt x="39624" y="441960"/>
                  </a:lnTo>
                  <a:lnTo>
                    <a:pt x="45719" y="429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2735352" y="3649983"/>
              <a:ext cx="2139950" cy="257730"/>
            </a:xfrm>
            <a:prstGeom prst="rect">
              <a:avLst/>
            </a:prstGeom>
          </p:spPr>
          <p:txBody>
            <a:bodyPr vert="horz" wrap="square" lIns="0" tIns="11397" rIns="0" bIns="0" rtlCol="0">
              <a:spAutoFit/>
            </a:bodyPr>
            <a:lstStyle/>
            <a:p>
              <a:pPr marL="11397">
                <a:spcBef>
                  <a:spcPts val="90"/>
                </a:spcBef>
              </a:pPr>
              <a:r>
                <a:rPr sz="1600" spc="-4" dirty="0">
                  <a:solidFill>
                    <a:srgbClr val="232021"/>
                  </a:solidFill>
                  <a:latin typeface="Arial"/>
                  <a:cs typeface="Arial"/>
                </a:rPr>
                <a:t>Requête sur</a:t>
              </a:r>
              <a:r>
                <a:rPr sz="1600" spc="-9" dirty="0">
                  <a:solidFill>
                    <a:srgbClr val="232021"/>
                  </a:solidFill>
                  <a:latin typeface="Arial"/>
                  <a:cs typeface="Arial"/>
                </a:rPr>
                <a:t> </a:t>
              </a:r>
              <a:r>
                <a:rPr sz="1600" spc="-4" dirty="0">
                  <a:solidFill>
                    <a:srgbClr val="232021"/>
                  </a:solidFill>
                  <a:latin typeface="Arial"/>
                  <a:cs typeface="Arial"/>
                </a:rPr>
                <a:t>fragments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763818" y="4021567"/>
              <a:ext cx="69273" cy="392765"/>
            </a:xfrm>
            <a:custGeom>
              <a:avLst/>
              <a:gdLst/>
              <a:ahLst/>
              <a:cxnLst/>
              <a:rect l="l" t="t" r="r" b="b"/>
              <a:pathLst>
                <a:path w="76200" h="445135">
                  <a:moveTo>
                    <a:pt x="76200" y="368808"/>
                  </a:moveTo>
                  <a:lnTo>
                    <a:pt x="0" y="368808"/>
                  </a:lnTo>
                  <a:lnTo>
                    <a:pt x="30480" y="432308"/>
                  </a:lnTo>
                  <a:lnTo>
                    <a:pt x="30480" y="381000"/>
                  </a:lnTo>
                  <a:lnTo>
                    <a:pt x="42672" y="381000"/>
                  </a:lnTo>
                  <a:lnTo>
                    <a:pt x="42672" y="433284"/>
                  </a:lnTo>
                  <a:lnTo>
                    <a:pt x="76200" y="368808"/>
                  </a:lnTo>
                  <a:close/>
                </a:path>
                <a:path w="76200" h="445135">
                  <a:moveTo>
                    <a:pt x="42672" y="368808"/>
                  </a:moveTo>
                  <a:lnTo>
                    <a:pt x="42672" y="0"/>
                  </a:lnTo>
                  <a:lnTo>
                    <a:pt x="30480" y="0"/>
                  </a:lnTo>
                  <a:lnTo>
                    <a:pt x="30480" y="368808"/>
                  </a:lnTo>
                  <a:lnTo>
                    <a:pt x="42672" y="368808"/>
                  </a:lnTo>
                  <a:close/>
                </a:path>
                <a:path w="76200" h="445135">
                  <a:moveTo>
                    <a:pt x="42672" y="433284"/>
                  </a:moveTo>
                  <a:lnTo>
                    <a:pt x="42672" y="381000"/>
                  </a:lnTo>
                  <a:lnTo>
                    <a:pt x="30480" y="381000"/>
                  </a:lnTo>
                  <a:lnTo>
                    <a:pt x="30480" y="432308"/>
                  </a:lnTo>
                  <a:lnTo>
                    <a:pt x="36575" y="445008"/>
                  </a:lnTo>
                  <a:lnTo>
                    <a:pt x="42672" y="4332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2685476" y="5497608"/>
              <a:ext cx="2190750" cy="257730"/>
            </a:xfrm>
            <a:prstGeom prst="rect">
              <a:avLst/>
            </a:prstGeom>
          </p:spPr>
          <p:txBody>
            <a:bodyPr vert="horz" wrap="square" lIns="0" tIns="11397" rIns="0" bIns="0" rtlCol="0">
              <a:spAutoFit/>
            </a:bodyPr>
            <a:lstStyle/>
            <a:p>
              <a:pPr marL="11397">
                <a:spcBef>
                  <a:spcPts val="90"/>
                </a:spcBef>
              </a:pPr>
              <a:r>
                <a:rPr sz="1600" dirty="0">
                  <a:solidFill>
                    <a:srgbClr val="232021"/>
                  </a:solidFill>
                  <a:latin typeface="Arial"/>
                  <a:cs typeface="Arial"/>
                </a:rPr>
                <a:t>Plan </a:t>
              </a:r>
              <a:r>
                <a:rPr sz="1600" spc="-9" dirty="0">
                  <a:solidFill>
                    <a:srgbClr val="232021"/>
                  </a:solidFill>
                  <a:latin typeface="Arial"/>
                  <a:cs typeface="Arial"/>
                </a:rPr>
                <a:t>d'exécution </a:t>
              </a:r>
              <a:r>
                <a:rPr sz="1600" dirty="0">
                  <a:solidFill>
                    <a:srgbClr val="232021"/>
                  </a:solidFill>
                  <a:latin typeface="Arial"/>
                  <a:cs typeface="Arial"/>
                </a:rPr>
                <a:t>réparti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763818" y="5065059"/>
              <a:ext cx="69273" cy="392765"/>
            </a:xfrm>
            <a:custGeom>
              <a:avLst/>
              <a:gdLst/>
              <a:ahLst/>
              <a:cxnLst/>
              <a:rect l="l" t="t" r="r" b="b"/>
              <a:pathLst>
                <a:path w="76200" h="445135">
                  <a:moveTo>
                    <a:pt x="76200" y="368808"/>
                  </a:moveTo>
                  <a:lnTo>
                    <a:pt x="0" y="368808"/>
                  </a:lnTo>
                  <a:lnTo>
                    <a:pt x="30480" y="432308"/>
                  </a:lnTo>
                  <a:lnTo>
                    <a:pt x="30480" y="381000"/>
                  </a:lnTo>
                  <a:lnTo>
                    <a:pt x="42672" y="381000"/>
                  </a:lnTo>
                  <a:lnTo>
                    <a:pt x="42672" y="433284"/>
                  </a:lnTo>
                  <a:lnTo>
                    <a:pt x="76200" y="368808"/>
                  </a:lnTo>
                  <a:close/>
                </a:path>
                <a:path w="76200" h="445135">
                  <a:moveTo>
                    <a:pt x="42672" y="368808"/>
                  </a:moveTo>
                  <a:lnTo>
                    <a:pt x="42671" y="0"/>
                  </a:lnTo>
                  <a:lnTo>
                    <a:pt x="30480" y="0"/>
                  </a:lnTo>
                  <a:lnTo>
                    <a:pt x="30480" y="368808"/>
                  </a:lnTo>
                  <a:lnTo>
                    <a:pt x="42672" y="368808"/>
                  </a:lnTo>
                  <a:close/>
                </a:path>
                <a:path w="76200" h="445135">
                  <a:moveTo>
                    <a:pt x="42672" y="433284"/>
                  </a:moveTo>
                  <a:lnTo>
                    <a:pt x="42672" y="381000"/>
                  </a:lnTo>
                  <a:lnTo>
                    <a:pt x="30480" y="381000"/>
                  </a:lnTo>
                  <a:lnTo>
                    <a:pt x="30480" y="432308"/>
                  </a:lnTo>
                  <a:lnTo>
                    <a:pt x="36575" y="445008"/>
                  </a:lnTo>
                  <a:lnTo>
                    <a:pt x="42672" y="4332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49963" y="3147508"/>
              <a:ext cx="69273" cy="392765"/>
            </a:xfrm>
            <a:custGeom>
              <a:avLst/>
              <a:gdLst/>
              <a:ahLst/>
              <a:cxnLst/>
              <a:rect l="l" t="t" r="r" b="b"/>
              <a:pathLst>
                <a:path w="76200" h="445135">
                  <a:moveTo>
                    <a:pt x="76200" y="368808"/>
                  </a:moveTo>
                  <a:lnTo>
                    <a:pt x="0" y="368808"/>
                  </a:lnTo>
                  <a:lnTo>
                    <a:pt x="33528" y="433285"/>
                  </a:lnTo>
                  <a:lnTo>
                    <a:pt x="33528" y="381000"/>
                  </a:lnTo>
                  <a:lnTo>
                    <a:pt x="45719" y="381000"/>
                  </a:lnTo>
                  <a:lnTo>
                    <a:pt x="45719" y="432308"/>
                  </a:lnTo>
                  <a:lnTo>
                    <a:pt x="76200" y="368808"/>
                  </a:lnTo>
                  <a:close/>
                </a:path>
                <a:path w="76200" h="445135">
                  <a:moveTo>
                    <a:pt x="45719" y="368808"/>
                  </a:moveTo>
                  <a:lnTo>
                    <a:pt x="45719" y="0"/>
                  </a:lnTo>
                  <a:lnTo>
                    <a:pt x="33528" y="0"/>
                  </a:lnTo>
                  <a:lnTo>
                    <a:pt x="33528" y="368808"/>
                  </a:lnTo>
                  <a:lnTo>
                    <a:pt x="45719" y="368808"/>
                  </a:lnTo>
                  <a:close/>
                </a:path>
                <a:path w="76200" h="445135">
                  <a:moveTo>
                    <a:pt x="45719" y="432308"/>
                  </a:moveTo>
                  <a:lnTo>
                    <a:pt x="45719" y="381000"/>
                  </a:lnTo>
                  <a:lnTo>
                    <a:pt x="33528" y="381000"/>
                  </a:lnTo>
                  <a:lnTo>
                    <a:pt x="33528" y="433285"/>
                  </a:lnTo>
                  <a:lnTo>
                    <a:pt x="39624" y="445008"/>
                  </a:lnTo>
                  <a:lnTo>
                    <a:pt x="45719" y="4323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Espace réservé du numéro de diapositive 1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5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7569912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F</a:t>
            </a:r>
            <a:r>
              <a:rPr spc="-5" dirty="0"/>
              <a:t>RAGMENTATION </a:t>
            </a:r>
            <a:r>
              <a:rPr dirty="0"/>
              <a:t>DES</a:t>
            </a:r>
            <a:r>
              <a:rPr spc="300" dirty="0"/>
              <a:t> </a:t>
            </a:r>
            <a:r>
              <a:rPr spc="-5" dirty="0"/>
              <a:t>REQUÊTES</a:t>
            </a:r>
            <a:endParaRPr sz="3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9850"/>
            <a:ext cx="8146415" cy="483658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75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-10" dirty="0">
                <a:latin typeface="Century Schoolbook"/>
                <a:cs typeface="Century Schoolbook"/>
              </a:rPr>
              <a:t>Construction </a:t>
            </a:r>
            <a:r>
              <a:rPr sz="2800" spc="-5" dirty="0">
                <a:latin typeface="Century Schoolbook"/>
                <a:cs typeface="Century Schoolbook"/>
              </a:rPr>
              <a:t>du </a:t>
            </a:r>
            <a:r>
              <a:rPr sz="2800" spc="-10" dirty="0">
                <a:latin typeface="Century Schoolbook"/>
                <a:cs typeface="Century Schoolbook"/>
              </a:rPr>
              <a:t>plan </a:t>
            </a:r>
            <a:r>
              <a:rPr sz="2800" spc="-5" dirty="0">
                <a:latin typeface="Century Schoolbook"/>
                <a:cs typeface="Century Schoolbook"/>
              </a:rPr>
              <a:t>d’exécution</a:t>
            </a:r>
            <a:r>
              <a:rPr sz="2800" spc="7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global</a:t>
            </a:r>
            <a:endParaRPr sz="2800" dirty="0">
              <a:latin typeface="Century Schoolbook"/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580"/>
              </a:spcBef>
              <a:buClr>
                <a:srgbClr val="FD8537"/>
              </a:buClr>
              <a:buSzPct val="79166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400" dirty="0">
                <a:latin typeface="Century Schoolbook"/>
                <a:cs typeface="Century Schoolbook"/>
              </a:rPr>
              <a:t>Mettre la </a:t>
            </a:r>
            <a:r>
              <a:rPr sz="2400" spc="-5" dirty="0">
                <a:latin typeface="Century Schoolbook"/>
                <a:cs typeface="Century Schoolbook"/>
              </a:rPr>
              <a:t>requête </a:t>
            </a:r>
            <a:r>
              <a:rPr sz="2400" dirty="0">
                <a:latin typeface="Century Schoolbook"/>
                <a:cs typeface="Century Schoolbook"/>
              </a:rPr>
              <a:t>sous </a:t>
            </a:r>
            <a:r>
              <a:rPr sz="2400" spc="-5" dirty="0">
                <a:latin typeface="Century Schoolbook"/>
                <a:cs typeface="Century Schoolbook"/>
              </a:rPr>
              <a:t>forme d’un arbre</a:t>
            </a:r>
            <a:r>
              <a:rPr sz="2400" spc="-6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algébrique</a:t>
            </a:r>
            <a:endParaRPr sz="2400" dirty="0">
              <a:latin typeface="Century Schoolbook"/>
              <a:cs typeface="Century Schoolbook"/>
            </a:endParaRPr>
          </a:p>
          <a:p>
            <a:pPr marL="927100" lvl="2" indent="-183515">
              <a:lnSpc>
                <a:spcPct val="100000"/>
              </a:lnSpc>
              <a:spcBef>
                <a:spcPts val="484"/>
              </a:spcBef>
              <a:buClr>
                <a:srgbClr val="DF752E"/>
              </a:buClr>
              <a:buSzPct val="60000"/>
              <a:buFont typeface="Wingdings"/>
              <a:buChar char=""/>
              <a:tabLst>
                <a:tab pos="927735" algn="l"/>
              </a:tabLst>
            </a:pPr>
            <a:r>
              <a:rPr sz="2000" dirty="0">
                <a:latin typeface="Century Schoolbook"/>
                <a:cs typeface="Century Schoolbook"/>
              </a:rPr>
              <a:t>feuille =</a:t>
            </a:r>
            <a:r>
              <a:rPr sz="2000" spc="-65" dirty="0">
                <a:latin typeface="Century Schoolbook"/>
                <a:cs typeface="Century Schoolbook"/>
              </a:rPr>
              <a:t> </a:t>
            </a:r>
            <a:r>
              <a:rPr sz="2000" dirty="0">
                <a:latin typeface="Century Schoolbook"/>
                <a:cs typeface="Century Schoolbook"/>
              </a:rPr>
              <a:t>relation</a:t>
            </a:r>
          </a:p>
          <a:p>
            <a:pPr marL="927100" lvl="2" indent="-183515">
              <a:lnSpc>
                <a:spcPct val="100000"/>
              </a:lnSpc>
              <a:spcBef>
                <a:spcPts val="480"/>
              </a:spcBef>
              <a:buClr>
                <a:srgbClr val="DF752E"/>
              </a:buClr>
              <a:buSzPct val="60000"/>
              <a:buFont typeface="Wingdings"/>
              <a:buChar char=""/>
              <a:tabLst>
                <a:tab pos="927735" algn="l"/>
              </a:tabLst>
            </a:pPr>
            <a:r>
              <a:rPr sz="2000" dirty="0">
                <a:latin typeface="Century Schoolbook"/>
                <a:cs typeface="Century Schoolbook"/>
              </a:rPr>
              <a:t>nœud = opération</a:t>
            </a:r>
            <a:r>
              <a:rPr sz="2000" spc="-80" dirty="0">
                <a:latin typeface="Century Schoolbook"/>
                <a:cs typeface="Century Schoolbook"/>
              </a:rPr>
              <a:t> </a:t>
            </a:r>
            <a:r>
              <a:rPr sz="2000" spc="-5" dirty="0">
                <a:latin typeface="Century Schoolbook"/>
                <a:cs typeface="Century Schoolbook"/>
              </a:rPr>
              <a:t>relationnelle</a:t>
            </a:r>
            <a:endParaRPr sz="2000" dirty="0">
              <a:latin typeface="Century Schoolbook"/>
              <a:cs typeface="Century Schoolbook"/>
            </a:endParaRPr>
          </a:p>
          <a:p>
            <a:pPr marL="287020" indent="-27432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-5" dirty="0">
                <a:latin typeface="Century Schoolbook"/>
                <a:cs typeface="Century Schoolbook"/>
              </a:rPr>
              <a:t>Expression du plan en fonction des</a:t>
            </a:r>
            <a:r>
              <a:rPr sz="2800" spc="50" dirty="0">
                <a:latin typeface="Century Schoolbook"/>
                <a:cs typeface="Century Schoolbook"/>
              </a:rPr>
              <a:t> </a:t>
            </a:r>
            <a:r>
              <a:rPr sz="2800" spc="-5" dirty="0">
                <a:latin typeface="Century Schoolbook"/>
                <a:cs typeface="Century Schoolbook"/>
              </a:rPr>
              <a:t>fragments</a:t>
            </a:r>
            <a:endParaRPr sz="2800" dirty="0">
              <a:latin typeface="Century Schoolbook"/>
              <a:cs typeface="Century Schoolbook"/>
            </a:endParaRPr>
          </a:p>
          <a:p>
            <a:pPr marL="652780" marR="795020" lvl="1" indent="-274955">
              <a:lnSpc>
                <a:spcPct val="100000"/>
              </a:lnSpc>
              <a:spcBef>
                <a:spcPts val="585"/>
              </a:spcBef>
              <a:buClr>
                <a:srgbClr val="FD8537"/>
              </a:buClr>
              <a:buSzPct val="79166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Remplacer chaque </a:t>
            </a:r>
            <a:r>
              <a:rPr sz="2400" dirty="0">
                <a:latin typeface="Century Schoolbook"/>
                <a:cs typeface="Century Schoolbook"/>
              </a:rPr>
              <a:t>feuille </a:t>
            </a:r>
            <a:r>
              <a:rPr sz="2400" spc="-5" dirty="0">
                <a:latin typeface="Century Schoolbook"/>
                <a:cs typeface="Century Schoolbook"/>
              </a:rPr>
              <a:t>par un programme de  </a:t>
            </a:r>
            <a:r>
              <a:rPr sz="2400" dirty="0">
                <a:latin typeface="Century Schoolbook"/>
                <a:cs typeface="Century Schoolbook"/>
              </a:rPr>
              <a:t>reconstruction </a:t>
            </a:r>
            <a:r>
              <a:rPr sz="2400" spc="-5" dirty="0">
                <a:latin typeface="Century Schoolbook"/>
                <a:cs typeface="Century Schoolbook"/>
              </a:rPr>
              <a:t>de </a:t>
            </a:r>
            <a:r>
              <a:rPr sz="2400" dirty="0">
                <a:latin typeface="Century Schoolbook"/>
                <a:cs typeface="Century Schoolbook"/>
              </a:rPr>
              <a:t>la relation</a:t>
            </a:r>
            <a:r>
              <a:rPr sz="2400" spc="-80" dirty="0">
                <a:latin typeface="Century Schoolbook"/>
                <a:cs typeface="Century Schoolbook"/>
              </a:rPr>
              <a:t> </a:t>
            </a:r>
            <a:r>
              <a:rPr sz="2400" spc="-10" dirty="0">
                <a:latin typeface="Century Schoolbook"/>
                <a:cs typeface="Century Schoolbook"/>
              </a:rPr>
              <a:t>globale</a:t>
            </a:r>
            <a:endParaRPr sz="2400" dirty="0">
              <a:latin typeface="Century Schoolbook"/>
              <a:cs typeface="Century Schoolbook"/>
            </a:endParaRPr>
          </a:p>
          <a:p>
            <a:pPr marL="287020" indent="-274320">
              <a:lnSpc>
                <a:spcPct val="100000"/>
              </a:lnSpc>
              <a:spcBef>
                <a:spcPts val="595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-5" dirty="0">
                <a:latin typeface="Century Schoolbook"/>
                <a:cs typeface="Century Schoolbook"/>
              </a:rPr>
              <a:t>Transformation du</a:t>
            </a:r>
            <a:r>
              <a:rPr sz="2800" spc="30" dirty="0">
                <a:latin typeface="Century Schoolbook"/>
                <a:cs typeface="Century Schoolbook"/>
              </a:rPr>
              <a:t> </a:t>
            </a:r>
            <a:r>
              <a:rPr sz="2800" spc="-10" dirty="0">
                <a:latin typeface="Century Schoolbook"/>
                <a:cs typeface="Century Schoolbook"/>
              </a:rPr>
              <a:t>plan</a:t>
            </a:r>
            <a:endParaRPr sz="2800" dirty="0">
              <a:latin typeface="Century Schoolbook"/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580"/>
              </a:spcBef>
              <a:buClr>
                <a:srgbClr val="FD8537"/>
              </a:buClr>
              <a:buSzPct val="79166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Appliquer des techniques de </a:t>
            </a:r>
            <a:r>
              <a:rPr sz="2400" dirty="0">
                <a:latin typeface="Century Schoolbook"/>
                <a:cs typeface="Century Schoolbook"/>
              </a:rPr>
              <a:t>réduction </a:t>
            </a:r>
            <a:r>
              <a:rPr sz="2400" spc="-5" dirty="0">
                <a:latin typeface="Century Schoolbook"/>
                <a:cs typeface="Century Schoolbook"/>
              </a:rPr>
              <a:t>pour</a:t>
            </a:r>
            <a:r>
              <a:rPr sz="2400" spc="-8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éliminer</a:t>
            </a:r>
            <a:endParaRPr sz="2400" dirty="0">
              <a:latin typeface="Century Schoolbook"/>
              <a:cs typeface="Century Schoolbook"/>
            </a:endParaRPr>
          </a:p>
          <a:p>
            <a:pPr marL="652780">
              <a:lnSpc>
                <a:spcPct val="100000"/>
              </a:lnSpc>
            </a:pPr>
            <a:r>
              <a:rPr sz="2400" spc="-5" dirty="0">
                <a:latin typeface="Century Schoolbook"/>
                <a:cs typeface="Century Schoolbook"/>
              </a:rPr>
              <a:t>des </a:t>
            </a:r>
            <a:r>
              <a:rPr sz="2400" dirty="0">
                <a:latin typeface="Century Schoolbook"/>
                <a:cs typeface="Century Schoolbook"/>
              </a:rPr>
              <a:t>opérations</a:t>
            </a:r>
            <a:r>
              <a:rPr sz="2400" spc="-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inutiles</a:t>
            </a:r>
            <a:endParaRPr sz="2400" dirty="0">
              <a:latin typeface="Century Schoolbook"/>
              <a:cs typeface="Century Schoolbook"/>
            </a:endParaRPr>
          </a:p>
          <a:p>
            <a:pPr marR="5080" algn="r">
              <a:lnSpc>
                <a:spcPct val="100000"/>
              </a:lnSpc>
              <a:spcBef>
                <a:spcPts val="2355"/>
              </a:spcBef>
            </a:pPr>
            <a:endParaRPr sz="1050" dirty="0">
              <a:latin typeface="Arial Black"/>
              <a:cs typeface="Arial Black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6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7288" y="621538"/>
            <a:ext cx="2845512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5" dirty="0"/>
              <a:t>E</a:t>
            </a:r>
            <a:r>
              <a:rPr spc="-5" dirty="0"/>
              <a:t>XEMP</a:t>
            </a:r>
            <a:r>
              <a:rPr spc="-10" dirty="0"/>
              <a:t>L</a:t>
            </a:r>
            <a:r>
              <a:rPr dirty="0"/>
              <a:t>E</a:t>
            </a:r>
            <a:endParaRPr sz="3000" dirty="0"/>
          </a:p>
        </p:txBody>
      </p:sp>
      <p:sp>
        <p:nvSpPr>
          <p:cNvPr id="4" name="object 4"/>
          <p:cNvSpPr txBox="1"/>
          <p:nvPr/>
        </p:nvSpPr>
        <p:spPr>
          <a:xfrm>
            <a:off x="320141" y="1502165"/>
            <a:ext cx="6971665" cy="6991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70"/>
              </a:spcBef>
              <a:buClr>
                <a:srgbClr val="FD8537"/>
              </a:buClr>
              <a:buSzPct val="68421"/>
              <a:buFont typeface="Wingdings"/>
              <a:buChar char=""/>
              <a:tabLst>
                <a:tab pos="287020" algn="l"/>
              </a:tabLst>
            </a:pPr>
            <a:r>
              <a:rPr sz="1900" spc="-5" dirty="0">
                <a:latin typeface="Century Schoolbook"/>
                <a:cs typeface="Century Schoolbook"/>
              </a:rPr>
              <a:t>Soient les relations : </a:t>
            </a:r>
            <a:r>
              <a:rPr sz="1900" spc="-5" dirty="0">
                <a:latin typeface="Courier New"/>
                <a:cs typeface="Courier New"/>
              </a:rPr>
              <a:t>Client(</a:t>
            </a:r>
            <a:r>
              <a:rPr sz="1900" u="sng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nclient</a:t>
            </a:r>
            <a:r>
              <a:rPr sz="1900" spc="-5" dirty="0">
                <a:latin typeface="Courier New"/>
                <a:cs typeface="Courier New"/>
              </a:rPr>
              <a:t>, nom,</a:t>
            </a:r>
            <a:r>
              <a:rPr sz="1900" spc="-1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ville)</a:t>
            </a:r>
            <a:endParaRPr sz="1900">
              <a:latin typeface="Courier New"/>
              <a:cs typeface="Courier New"/>
            </a:endParaRPr>
          </a:p>
          <a:p>
            <a:pPr marL="1908810">
              <a:lnSpc>
                <a:spcPct val="100000"/>
              </a:lnSpc>
              <a:spcBef>
                <a:spcPts val="370"/>
              </a:spcBef>
            </a:pPr>
            <a:r>
              <a:rPr sz="1900" spc="-5" dirty="0">
                <a:latin typeface="Century Schoolbook"/>
                <a:cs typeface="Century Schoolbook"/>
              </a:rPr>
              <a:t>et </a:t>
            </a:r>
            <a:r>
              <a:rPr sz="1900" spc="-5" dirty="0">
                <a:latin typeface="Courier New"/>
                <a:cs typeface="Courier New"/>
              </a:rPr>
              <a:t>Cde(</a:t>
            </a:r>
            <a:r>
              <a:rPr sz="1900" u="sng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ncde</a:t>
            </a:r>
            <a:r>
              <a:rPr sz="1900" spc="-5" dirty="0">
                <a:latin typeface="Courier New"/>
                <a:cs typeface="Courier New"/>
              </a:rPr>
              <a:t>, #nclient, produit,</a:t>
            </a:r>
            <a:r>
              <a:rPr sz="1900" spc="-65" dirty="0">
                <a:latin typeface="Courier New"/>
                <a:cs typeface="Courier New"/>
              </a:rPr>
              <a:t> </a:t>
            </a:r>
            <a:r>
              <a:rPr sz="1900" spc="-5" dirty="0">
                <a:latin typeface="Courier New"/>
                <a:cs typeface="Courier New"/>
              </a:rPr>
              <a:t>qte)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741" y="3547347"/>
            <a:ext cx="4838065" cy="143065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12420" indent="-274320">
              <a:lnSpc>
                <a:spcPct val="100000"/>
              </a:lnSpc>
              <a:spcBef>
                <a:spcPts val="390"/>
              </a:spcBef>
              <a:buClr>
                <a:srgbClr val="FD8537"/>
              </a:buClr>
              <a:buSzPct val="68421"/>
              <a:buFont typeface="Wingdings"/>
              <a:buChar char=""/>
              <a:tabLst>
                <a:tab pos="312420" algn="l"/>
              </a:tabLst>
            </a:pPr>
            <a:r>
              <a:rPr sz="1900" spc="-5" dirty="0">
                <a:latin typeface="Century Schoolbook"/>
                <a:cs typeface="Century Schoolbook"/>
              </a:rPr>
              <a:t>Schéma de</a:t>
            </a:r>
            <a:r>
              <a:rPr sz="1900" spc="-10" dirty="0">
                <a:latin typeface="Century Schoolbook"/>
                <a:cs typeface="Century Schoolbook"/>
              </a:rPr>
              <a:t> </a:t>
            </a:r>
            <a:r>
              <a:rPr sz="1900" spc="-5" dirty="0">
                <a:latin typeface="Century Schoolbook"/>
                <a:cs typeface="Century Schoolbook"/>
              </a:rPr>
              <a:t>fragmentation</a:t>
            </a:r>
            <a:endParaRPr sz="1900">
              <a:latin typeface="Century Schoolbook"/>
              <a:cs typeface="Century Schoolbook"/>
            </a:endParaRPr>
          </a:p>
          <a:p>
            <a:pPr marL="173355" marR="30480">
              <a:lnSpc>
                <a:spcPts val="3620"/>
              </a:lnSpc>
              <a:spcBef>
                <a:spcPts val="1255"/>
              </a:spcBef>
            </a:pP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5" dirty="0">
                <a:latin typeface="Courier New"/>
                <a:cs typeface="Courier New"/>
              </a:rPr>
              <a:t>e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1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: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5" dirty="0">
                <a:latin typeface="Courier New"/>
                <a:cs typeface="Courier New"/>
              </a:rPr>
              <a:t>t1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=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3600" dirty="0">
                <a:latin typeface="Symbol"/>
                <a:cs typeface="Symbol"/>
              </a:rPr>
              <a:t></a:t>
            </a:r>
            <a:r>
              <a:rPr sz="1575" spc="7" baseline="-21164" dirty="0">
                <a:latin typeface="Courier New"/>
                <a:cs typeface="Courier New"/>
              </a:rPr>
              <a:t>vill</a:t>
            </a:r>
            <a:r>
              <a:rPr sz="1575" spc="15" baseline="-21164" dirty="0">
                <a:latin typeface="Courier New"/>
                <a:cs typeface="Courier New"/>
              </a:rPr>
              <a:t>e =</a:t>
            </a:r>
            <a:r>
              <a:rPr sz="1575" baseline="-21164" dirty="0">
                <a:latin typeface="Courier New"/>
                <a:cs typeface="Courier New"/>
              </a:rPr>
              <a:t> </a:t>
            </a:r>
            <a:r>
              <a:rPr sz="1575" spc="7" baseline="-21164" dirty="0">
                <a:latin typeface="Courier New"/>
                <a:cs typeface="Courier New"/>
              </a:rPr>
              <a:t>Lyo</a:t>
            </a:r>
            <a:r>
              <a:rPr sz="1575" baseline="-21164" dirty="0">
                <a:latin typeface="Courier New"/>
                <a:cs typeface="Courier New"/>
              </a:rPr>
              <a:t>n</a:t>
            </a:r>
            <a:r>
              <a:rPr sz="1600" spc="-5" dirty="0">
                <a:latin typeface="Courier New"/>
                <a:cs typeface="Courier New"/>
              </a:rPr>
              <a:t>(Client)  </a:t>
            </a:r>
            <a:r>
              <a:rPr sz="1600" spc="-10" dirty="0">
                <a:latin typeface="Courier New"/>
                <a:cs typeface="Courier New"/>
              </a:rPr>
              <a:t>S</a:t>
            </a:r>
            <a:r>
              <a:rPr sz="1600" spc="-5" dirty="0">
                <a:latin typeface="Courier New"/>
                <a:cs typeface="Courier New"/>
              </a:rPr>
              <a:t>i</a:t>
            </a:r>
            <a:r>
              <a:rPr sz="1600" spc="-10" dirty="0">
                <a:latin typeface="Courier New"/>
                <a:cs typeface="Courier New"/>
              </a:rPr>
              <a:t>t</a:t>
            </a:r>
            <a:r>
              <a:rPr sz="1600" spc="-5" dirty="0">
                <a:latin typeface="Courier New"/>
                <a:cs typeface="Courier New"/>
              </a:rPr>
              <a:t>e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2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: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5" dirty="0">
                <a:latin typeface="Courier New"/>
                <a:cs typeface="Courier New"/>
              </a:rPr>
              <a:t>t2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=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3600" dirty="0">
                <a:latin typeface="Symbol"/>
                <a:cs typeface="Symbol"/>
              </a:rPr>
              <a:t></a:t>
            </a:r>
            <a:r>
              <a:rPr sz="1575" spc="7" baseline="-21164" dirty="0">
                <a:latin typeface="Courier New"/>
                <a:cs typeface="Courier New"/>
              </a:rPr>
              <a:t>vill</a:t>
            </a:r>
            <a:r>
              <a:rPr sz="1575" spc="15" baseline="-21164" dirty="0">
                <a:latin typeface="Courier New"/>
                <a:cs typeface="Courier New"/>
              </a:rPr>
              <a:t>e </a:t>
            </a:r>
            <a:r>
              <a:rPr sz="1575" spc="7" baseline="-21164" dirty="0">
                <a:latin typeface="Courier New"/>
                <a:cs typeface="Courier New"/>
              </a:rPr>
              <a:t>!</a:t>
            </a:r>
            <a:r>
              <a:rPr sz="1575" spc="15" baseline="-21164" dirty="0">
                <a:latin typeface="Courier New"/>
                <a:cs typeface="Courier New"/>
              </a:rPr>
              <a:t>=</a:t>
            </a:r>
            <a:r>
              <a:rPr sz="1575" baseline="-21164" dirty="0">
                <a:latin typeface="Courier New"/>
                <a:cs typeface="Courier New"/>
              </a:rPr>
              <a:t> </a:t>
            </a:r>
            <a:r>
              <a:rPr sz="1575" spc="7" baseline="-21164" dirty="0">
                <a:latin typeface="Courier New"/>
                <a:cs typeface="Courier New"/>
              </a:rPr>
              <a:t>Lyo</a:t>
            </a:r>
            <a:r>
              <a:rPr sz="1575" baseline="-21164" dirty="0">
                <a:latin typeface="Courier New"/>
                <a:cs typeface="Courier New"/>
              </a:rPr>
              <a:t>n</a:t>
            </a:r>
            <a:r>
              <a:rPr sz="1600" spc="-5" dirty="0">
                <a:latin typeface="Courier New"/>
                <a:cs typeface="Courier New"/>
              </a:rPr>
              <a:t>(Client)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777" y="5242052"/>
            <a:ext cx="23431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ourier New"/>
                <a:cs typeface="Courier New"/>
              </a:rPr>
              <a:t>Site 3 : Cde1 =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Cde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5777" y="5768136"/>
            <a:ext cx="23431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ourier New"/>
                <a:cs typeface="Courier New"/>
              </a:rPr>
              <a:t>Site 4 : Cde2 =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Cde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68751" y="5195315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0"/>
                </a:moveTo>
                <a:lnTo>
                  <a:pt x="0" y="313943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62655" y="5198364"/>
            <a:ext cx="826135" cy="334010"/>
          </a:xfrm>
          <a:custGeom>
            <a:avLst/>
            <a:gdLst/>
            <a:ahLst/>
            <a:cxnLst/>
            <a:rect l="l" t="t" r="r" b="b"/>
            <a:pathLst>
              <a:path w="826135" h="334010">
                <a:moveTo>
                  <a:pt x="0" y="0"/>
                </a:moveTo>
                <a:lnTo>
                  <a:pt x="826007" y="3337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70276" y="5195315"/>
            <a:ext cx="828040" cy="334010"/>
          </a:xfrm>
          <a:custGeom>
            <a:avLst/>
            <a:gdLst/>
            <a:ahLst/>
            <a:cxnLst/>
            <a:rect l="l" t="t" r="r" b="b"/>
            <a:pathLst>
              <a:path w="828039" h="334010">
                <a:moveTo>
                  <a:pt x="827532" y="0"/>
                </a:moveTo>
                <a:lnTo>
                  <a:pt x="0" y="33375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94660" y="5780532"/>
            <a:ext cx="0" cy="312420"/>
          </a:xfrm>
          <a:custGeom>
            <a:avLst/>
            <a:gdLst/>
            <a:ahLst/>
            <a:cxnLst/>
            <a:rect l="l" t="t" r="r" b="b"/>
            <a:pathLst>
              <a:path h="312420">
                <a:moveTo>
                  <a:pt x="0" y="0"/>
                </a:moveTo>
                <a:lnTo>
                  <a:pt x="0" y="31242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87039" y="5783579"/>
            <a:ext cx="828040" cy="334010"/>
          </a:xfrm>
          <a:custGeom>
            <a:avLst/>
            <a:gdLst/>
            <a:ahLst/>
            <a:cxnLst/>
            <a:rect l="l" t="t" r="r" b="b"/>
            <a:pathLst>
              <a:path w="828039" h="334010">
                <a:moveTo>
                  <a:pt x="0" y="0"/>
                </a:moveTo>
                <a:lnTo>
                  <a:pt x="827532" y="3337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96183" y="5780532"/>
            <a:ext cx="826135" cy="332740"/>
          </a:xfrm>
          <a:custGeom>
            <a:avLst/>
            <a:gdLst/>
            <a:ahLst/>
            <a:cxnLst/>
            <a:rect l="l" t="t" r="r" b="b"/>
            <a:pathLst>
              <a:path w="826135" h="332739">
                <a:moveTo>
                  <a:pt x="826007" y="0"/>
                </a:moveTo>
                <a:lnTo>
                  <a:pt x="0" y="332232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025520" y="5242052"/>
            <a:ext cx="1604645" cy="9855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7235">
              <a:lnSpc>
                <a:spcPts val="1720"/>
              </a:lnSpc>
              <a:spcBef>
                <a:spcPts val="95"/>
              </a:spcBef>
            </a:pPr>
            <a:r>
              <a:rPr sz="1600" spc="-5" dirty="0">
                <a:latin typeface="Courier New"/>
                <a:cs typeface="Courier New"/>
              </a:rPr>
              <a:t>Client1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240"/>
              </a:lnSpc>
            </a:pPr>
            <a:r>
              <a:rPr sz="1200" dirty="0">
                <a:latin typeface="Courier New"/>
                <a:cs typeface="Courier New"/>
              </a:rPr>
              <a:t>nclient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L="737235">
              <a:lnSpc>
                <a:spcPct val="100000"/>
              </a:lnSpc>
            </a:pPr>
            <a:r>
              <a:rPr sz="1600" spc="-5" dirty="0">
                <a:latin typeface="Courier New"/>
                <a:cs typeface="Courier New"/>
              </a:rPr>
              <a:t>Client2</a:t>
            </a:r>
            <a:endParaRPr sz="16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65"/>
              </a:spcBef>
            </a:pPr>
            <a:r>
              <a:rPr sz="1200" dirty="0">
                <a:latin typeface="Courier New"/>
                <a:cs typeface="Courier New"/>
              </a:rPr>
              <a:t>nclient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7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7"/>
                </a:lnTo>
              </a:path>
            </a:pathLst>
          </a:custGeom>
          <a:ln w="34748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03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7"/>
                </a:lnTo>
              </a:path>
            </a:pathLst>
          </a:custGeom>
          <a:ln w="11583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7288" y="621538"/>
            <a:ext cx="5760085" cy="1995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565F6C"/>
                </a:solidFill>
                <a:latin typeface="Century Schoolbook"/>
                <a:cs typeface="Century Schoolbook"/>
              </a:rPr>
              <a:t>F</a:t>
            </a:r>
            <a:r>
              <a:rPr sz="2400" spc="-5" dirty="0">
                <a:solidFill>
                  <a:srgbClr val="565F6C"/>
                </a:solidFill>
                <a:latin typeface="Century Schoolbook"/>
                <a:cs typeface="Century Schoolbook"/>
              </a:rPr>
              <a:t>RAGMENTATION </a:t>
            </a:r>
            <a:r>
              <a:rPr sz="2400" dirty="0">
                <a:solidFill>
                  <a:srgbClr val="565F6C"/>
                </a:solidFill>
                <a:latin typeface="Century Schoolbook"/>
                <a:cs typeface="Century Schoolbook"/>
              </a:rPr>
              <a:t>D</a:t>
            </a:r>
            <a:r>
              <a:rPr sz="3000" dirty="0">
                <a:solidFill>
                  <a:srgbClr val="565F6C"/>
                </a:solidFill>
                <a:latin typeface="Century Schoolbook"/>
                <a:cs typeface="Century Schoolbook"/>
              </a:rPr>
              <a:t>’</a:t>
            </a:r>
            <a:r>
              <a:rPr sz="2400" dirty="0">
                <a:solidFill>
                  <a:srgbClr val="565F6C"/>
                </a:solidFill>
                <a:latin typeface="Century Schoolbook"/>
                <a:cs typeface="Century Schoolbook"/>
              </a:rPr>
              <a:t>UNE</a:t>
            </a:r>
            <a:r>
              <a:rPr sz="2400" spc="270" dirty="0">
                <a:solidFill>
                  <a:srgbClr val="565F6C"/>
                </a:solidFill>
                <a:latin typeface="Century Schoolbook"/>
                <a:cs typeface="Century Schoolbook"/>
              </a:rPr>
              <a:t> </a:t>
            </a:r>
            <a:r>
              <a:rPr sz="2400" spc="-5" dirty="0">
                <a:solidFill>
                  <a:srgbClr val="565F6C"/>
                </a:solidFill>
                <a:latin typeface="Century Schoolbook"/>
                <a:cs typeface="Century Schoolbook"/>
              </a:rPr>
              <a:t>REQUÊTE</a:t>
            </a:r>
            <a:endParaRPr sz="2400" dirty="0">
              <a:latin typeface="Century Schoolbook"/>
              <a:cs typeface="Century Schoolbook"/>
            </a:endParaRPr>
          </a:p>
          <a:p>
            <a:pPr marL="315595" indent="-274955">
              <a:lnSpc>
                <a:spcPct val="100000"/>
              </a:lnSpc>
              <a:spcBef>
                <a:spcPts val="194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316230" algn="l"/>
              </a:tabLst>
            </a:pPr>
            <a:r>
              <a:rPr sz="2000" dirty="0">
                <a:latin typeface="Century Schoolbook"/>
                <a:cs typeface="Century Schoolbook"/>
              </a:rPr>
              <a:t>Exemple</a:t>
            </a:r>
          </a:p>
          <a:p>
            <a:pPr marR="335280" algn="ctr">
              <a:lnSpc>
                <a:spcPct val="100000"/>
              </a:lnSpc>
              <a:spcBef>
                <a:spcPts val="70"/>
              </a:spcBef>
            </a:pPr>
            <a:r>
              <a:rPr sz="2000" spc="-5" dirty="0">
                <a:latin typeface="Courier New"/>
                <a:cs typeface="Courier New"/>
              </a:rPr>
              <a:t>SELECT nom FROM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Client;</a:t>
            </a:r>
            <a:endParaRPr sz="2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00" dirty="0">
              <a:latin typeface="Times New Roman"/>
              <a:cs typeface="Times New Roman"/>
            </a:endParaRPr>
          </a:p>
          <a:p>
            <a:pPr marL="315595" indent="-274955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"/>
              <a:tabLst>
                <a:tab pos="316230" algn="l"/>
              </a:tabLst>
            </a:pPr>
            <a:r>
              <a:rPr sz="2000" dirty="0">
                <a:latin typeface="Century Schoolbook"/>
                <a:cs typeface="Century Schoolbook"/>
              </a:rPr>
              <a:t>Schémas </a:t>
            </a:r>
            <a:r>
              <a:rPr sz="2000" spc="-5" dirty="0">
                <a:latin typeface="Century Schoolbook"/>
                <a:cs typeface="Century Schoolbook"/>
              </a:rPr>
              <a:t>de</a:t>
            </a:r>
            <a:r>
              <a:rPr sz="2000" spc="-45" dirty="0">
                <a:latin typeface="Century Schoolbook"/>
                <a:cs typeface="Century Schoolbook"/>
              </a:rPr>
              <a:t> </a:t>
            </a:r>
            <a:r>
              <a:rPr sz="2000" spc="-5" dirty="0">
                <a:latin typeface="Century Schoolbook"/>
                <a:cs typeface="Century Schoolbook"/>
              </a:rPr>
              <a:t>fragmentation</a:t>
            </a:r>
            <a:endParaRPr sz="2000" dirty="0">
              <a:latin typeface="Century Schoolbook"/>
              <a:cs typeface="Century Schoolboo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41345" y="2922523"/>
            <a:ext cx="1774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entury Schoolbook"/>
                <a:cs typeface="Century Schoolbook"/>
              </a:rPr>
              <a:t>ville =</a:t>
            </a:r>
            <a:r>
              <a:rPr sz="1200" spc="-60" dirty="0">
                <a:latin typeface="Century Schoolbook"/>
                <a:cs typeface="Century Schoolbook"/>
              </a:rPr>
              <a:t> </a:t>
            </a:r>
            <a:r>
              <a:rPr sz="1200" spc="-5" dirty="0">
                <a:latin typeface="Century Schoolbook"/>
                <a:cs typeface="Century Schoolbook"/>
              </a:rPr>
              <a:t>‘Lyon’</a:t>
            </a:r>
            <a:r>
              <a:rPr sz="2700" spc="-7" baseline="13888" dirty="0">
                <a:latin typeface="Century Schoolbook"/>
                <a:cs typeface="Century Schoolbook"/>
              </a:rPr>
              <a:t>(Client)</a:t>
            </a:r>
            <a:endParaRPr sz="2700" baseline="13888">
              <a:latin typeface="Century Schoolbook"/>
              <a:cs typeface="Century Schoolboo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700" y="2587243"/>
            <a:ext cx="164909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95"/>
              </a:spcBef>
              <a:buClr>
                <a:srgbClr val="FD8537"/>
              </a:buClr>
              <a:buSzPct val="80555"/>
              <a:buFont typeface="Wingdings 2"/>
              <a:buChar char=""/>
              <a:tabLst>
                <a:tab pos="287020" algn="l"/>
                <a:tab pos="287655" algn="l"/>
              </a:tabLst>
            </a:pPr>
            <a:r>
              <a:rPr sz="1800" spc="-5" dirty="0">
                <a:latin typeface="Century Schoolbook"/>
                <a:cs typeface="Century Schoolbook"/>
              </a:rPr>
              <a:t>Client1 </a:t>
            </a:r>
            <a:r>
              <a:rPr sz="1800" dirty="0">
                <a:latin typeface="Century Schoolbook"/>
                <a:cs typeface="Century Schoolbook"/>
              </a:rPr>
              <a:t>=</a:t>
            </a:r>
            <a:r>
              <a:rPr sz="1800" spc="-90" dirty="0">
                <a:latin typeface="Century Schoolbook"/>
                <a:cs typeface="Century Schoolbook"/>
              </a:rPr>
              <a:t> </a:t>
            </a:r>
            <a:r>
              <a:rPr sz="4000" spc="-5" dirty="0">
                <a:latin typeface="Symbol"/>
                <a:cs typeface="Symbol"/>
              </a:rPr>
              <a:t></a:t>
            </a:r>
            <a:endParaRPr sz="4000">
              <a:latin typeface="Symbol"/>
              <a:cs typeface="Symbol"/>
            </a:endParaRPr>
          </a:p>
          <a:p>
            <a:pPr marL="287020" indent="-274955">
              <a:lnSpc>
                <a:spcPct val="100000"/>
              </a:lnSpc>
              <a:buClr>
                <a:srgbClr val="FD8537"/>
              </a:buClr>
              <a:buSzPct val="80555"/>
              <a:buFont typeface="Wingdings 2"/>
              <a:buChar char=""/>
              <a:tabLst>
                <a:tab pos="287020" algn="l"/>
                <a:tab pos="287655" algn="l"/>
              </a:tabLst>
            </a:pPr>
            <a:r>
              <a:rPr sz="1800" spc="-5" dirty="0">
                <a:latin typeface="Century Schoolbook"/>
                <a:cs typeface="Century Schoolbook"/>
              </a:rPr>
              <a:t>Client2 </a:t>
            </a:r>
            <a:r>
              <a:rPr sz="1800" dirty="0">
                <a:latin typeface="Century Schoolbook"/>
                <a:cs typeface="Century Schoolbook"/>
              </a:rPr>
              <a:t>=</a:t>
            </a:r>
            <a:r>
              <a:rPr sz="1800" spc="-90" dirty="0">
                <a:latin typeface="Century Schoolbook"/>
                <a:cs typeface="Century Schoolbook"/>
              </a:rPr>
              <a:t> </a:t>
            </a:r>
            <a:r>
              <a:rPr sz="4000" spc="-5" dirty="0">
                <a:latin typeface="Symbol"/>
                <a:cs typeface="Symbol"/>
              </a:rPr>
              <a:t></a:t>
            </a:r>
            <a:endParaRPr sz="40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41345" y="3532073"/>
            <a:ext cx="18192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entury Schoolbook"/>
                <a:cs typeface="Century Schoolbook"/>
              </a:rPr>
              <a:t>ville !=</a:t>
            </a:r>
            <a:r>
              <a:rPr sz="1200" spc="-65" dirty="0">
                <a:latin typeface="Century Schoolbook"/>
                <a:cs typeface="Century Schoolbook"/>
              </a:rPr>
              <a:t> </a:t>
            </a:r>
            <a:r>
              <a:rPr sz="1200" spc="-5" dirty="0">
                <a:latin typeface="Century Schoolbook"/>
                <a:cs typeface="Century Schoolbook"/>
              </a:rPr>
              <a:t>‘Lyon’</a:t>
            </a:r>
            <a:r>
              <a:rPr sz="2700" spc="-7" baseline="13888" dirty="0">
                <a:latin typeface="Century Schoolbook"/>
                <a:cs typeface="Century Schoolbook"/>
              </a:rPr>
              <a:t>(Client)</a:t>
            </a:r>
            <a:endParaRPr sz="2700" baseline="13888">
              <a:latin typeface="Century Schoolbook"/>
              <a:cs typeface="Century Schoolbook"/>
            </a:endParaRPr>
          </a:p>
        </p:txBody>
      </p:sp>
      <p:sp>
        <p:nvSpPr>
          <p:cNvPr id="25" name="Espace réservé du numéro de diapositive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8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7"/>
                </a:lnTo>
              </a:path>
            </a:pathLst>
          </a:custGeom>
          <a:ln w="34748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03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7"/>
                </a:lnTo>
              </a:path>
            </a:pathLst>
          </a:custGeom>
          <a:ln w="11583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7288" y="621538"/>
            <a:ext cx="5760085" cy="1995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565F6C"/>
                </a:solidFill>
                <a:latin typeface="Century Schoolbook"/>
                <a:cs typeface="Century Schoolbook"/>
              </a:rPr>
              <a:t>F</a:t>
            </a:r>
            <a:r>
              <a:rPr sz="2400" spc="-5" dirty="0">
                <a:solidFill>
                  <a:srgbClr val="565F6C"/>
                </a:solidFill>
                <a:latin typeface="Century Schoolbook"/>
                <a:cs typeface="Century Schoolbook"/>
              </a:rPr>
              <a:t>RAGMENTATION </a:t>
            </a:r>
            <a:r>
              <a:rPr sz="2400" dirty="0">
                <a:solidFill>
                  <a:srgbClr val="565F6C"/>
                </a:solidFill>
                <a:latin typeface="Century Schoolbook"/>
                <a:cs typeface="Century Schoolbook"/>
              </a:rPr>
              <a:t>D</a:t>
            </a:r>
            <a:r>
              <a:rPr sz="3000" dirty="0">
                <a:solidFill>
                  <a:srgbClr val="565F6C"/>
                </a:solidFill>
                <a:latin typeface="Century Schoolbook"/>
                <a:cs typeface="Century Schoolbook"/>
              </a:rPr>
              <a:t>’</a:t>
            </a:r>
            <a:r>
              <a:rPr sz="2400" dirty="0">
                <a:solidFill>
                  <a:srgbClr val="565F6C"/>
                </a:solidFill>
                <a:latin typeface="Century Schoolbook"/>
                <a:cs typeface="Century Schoolbook"/>
              </a:rPr>
              <a:t>UNE</a:t>
            </a:r>
            <a:r>
              <a:rPr sz="2400" spc="270" dirty="0">
                <a:solidFill>
                  <a:srgbClr val="565F6C"/>
                </a:solidFill>
                <a:latin typeface="Century Schoolbook"/>
                <a:cs typeface="Century Schoolbook"/>
              </a:rPr>
              <a:t> </a:t>
            </a:r>
            <a:r>
              <a:rPr sz="2400" spc="-5" dirty="0">
                <a:solidFill>
                  <a:srgbClr val="565F6C"/>
                </a:solidFill>
                <a:latin typeface="Century Schoolbook"/>
                <a:cs typeface="Century Schoolbook"/>
              </a:rPr>
              <a:t>REQUÊTE</a:t>
            </a:r>
            <a:endParaRPr sz="2400" dirty="0">
              <a:latin typeface="Century Schoolbook"/>
              <a:cs typeface="Century Schoolbook"/>
            </a:endParaRPr>
          </a:p>
          <a:p>
            <a:pPr marL="315595" indent="-274955">
              <a:lnSpc>
                <a:spcPct val="100000"/>
              </a:lnSpc>
              <a:spcBef>
                <a:spcPts val="194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316230" algn="l"/>
              </a:tabLst>
            </a:pPr>
            <a:r>
              <a:rPr sz="2000" dirty="0">
                <a:latin typeface="Century Schoolbook"/>
                <a:cs typeface="Century Schoolbook"/>
              </a:rPr>
              <a:t>Exemple</a:t>
            </a:r>
          </a:p>
          <a:p>
            <a:pPr marR="335280" algn="ctr">
              <a:lnSpc>
                <a:spcPct val="100000"/>
              </a:lnSpc>
              <a:spcBef>
                <a:spcPts val="70"/>
              </a:spcBef>
            </a:pPr>
            <a:r>
              <a:rPr sz="2000" spc="-5" dirty="0">
                <a:latin typeface="Courier New"/>
                <a:cs typeface="Courier New"/>
              </a:rPr>
              <a:t>SELECT nom FROM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Client;</a:t>
            </a:r>
            <a:endParaRPr sz="2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00" dirty="0">
              <a:latin typeface="Times New Roman"/>
              <a:cs typeface="Times New Roman"/>
            </a:endParaRPr>
          </a:p>
          <a:p>
            <a:pPr marL="315595" indent="-274955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"/>
              <a:tabLst>
                <a:tab pos="316230" algn="l"/>
              </a:tabLst>
            </a:pPr>
            <a:r>
              <a:rPr sz="2000" dirty="0">
                <a:latin typeface="Century Schoolbook"/>
                <a:cs typeface="Century Schoolbook"/>
              </a:rPr>
              <a:t>Schémas </a:t>
            </a:r>
            <a:r>
              <a:rPr sz="2000" spc="-5" dirty="0">
                <a:latin typeface="Century Schoolbook"/>
                <a:cs typeface="Century Schoolbook"/>
              </a:rPr>
              <a:t>de</a:t>
            </a:r>
            <a:r>
              <a:rPr sz="2000" spc="-45" dirty="0">
                <a:latin typeface="Century Schoolbook"/>
                <a:cs typeface="Century Schoolbook"/>
              </a:rPr>
              <a:t> </a:t>
            </a:r>
            <a:r>
              <a:rPr sz="2000" spc="-5" dirty="0">
                <a:latin typeface="Century Schoolbook"/>
                <a:cs typeface="Century Schoolbook"/>
              </a:rPr>
              <a:t>fragmentation</a:t>
            </a:r>
            <a:endParaRPr sz="2000" dirty="0">
              <a:latin typeface="Century Schoolbook"/>
              <a:cs typeface="Century Schoolboo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41345" y="2922523"/>
            <a:ext cx="1774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entury Schoolbook"/>
                <a:cs typeface="Century Schoolbook"/>
              </a:rPr>
              <a:t>ville =</a:t>
            </a:r>
            <a:r>
              <a:rPr sz="1200" spc="-60" dirty="0">
                <a:latin typeface="Century Schoolbook"/>
                <a:cs typeface="Century Schoolbook"/>
              </a:rPr>
              <a:t> </a:t>
            </a:r>
            <a:r>
              <a:rPr sz="1200" spc="-5" dirty="0">
                <a:latin typeface="Century Schoolbook"/>
                <a:cs typeface="Century Schoolbook"/>
              </a:rPr>
              <a:t>‘Lyon’</a:t>
            </a:r>
            <a:r>
              <a:rPr sz="2700" spc="-7" baseline="13888" dirty="0">
                <a:latin typeface="Century Schoolbook"/>
                <a:cs typeface="Century Schoolbook"/>
              </a:rPr>
              <a:t>(Client)</a:t>
            </a:r>
            <a:endParaRPr sz="2700" baseline="13888">
              <a:latin typeface="Century Schoolbook"/>
              <a:cs typeface="Century Schoolboo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700" y="2587243"/>
            <a:ext cx="164909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95"/>
              </a:spcBef>
              <a:buClr>
                <a:srgbClr val="FD8537"/>
              </a:buClr>
              <a:buSzPct val="80555"/>
              <a:buFont typeface="Wingdings 2"/>
              <a:buChar char=""/>
              <a:tabLst>
                <a:tab pos="287020" algn="l"/>
                <a:tab pos="287655" algn="l"/>
              </a:tabLst>
            </a:pPr>
            <a:r>
              <a:rPr sz="1800" spc="-5" dirty="0">
                <a:latin typeface="Century Schoolbook"/>
                <a:cs typeface="Century Schoolbook"/>
              </a:rPr>
              <a:t>Client1 </a:t>
            </a:r>
            <a:r>
              <a:rPr sz="1800" dirty="0">
                <a:latin typeface="Century Schoolbook"/>
                <a:cs typeface="Century Schoolbook"/>
              </a:rPr>
              <a:t>=</a:t>
            </a:r>
            <a:r>
              <a:rPr sz="1800" spc="-90" dirty="0">
                <a:latin typeface="Century Schoolbook"/>
                <a:cs typeface="Century Schoolbook"/>
              </a:rPr>
              <a:t> </a:t>
            </a:r>
            <a:r>
              <a:rPr sz="4000" spc="-5" dirty="0">
                <a:latin typeface="Symbol"/>
                <a:cs typeface="Symbol"/>
              </a:rPr>
              <a:t></a:t>
            </a:r>
            <a:endParaRPr sz="4000">
              <a:latin typeface="Symbol"/>
              <a:cs typeface="Symbol"/>
            </a:endParaRPr>
          </a:p>
          <a:p>
            <a:pPr marL="287020" indent="-274955">
              <a:lnSpc>
                <a:spcPct val="100000"/>
              </a:lnSpc>
              <a:buClr>
                <a:srgbClr val="FD8537"/>
              </a:buClr>
              <a:buSzPct val="80555"/>
              <a:buFont typeface="Wingdings 2"/>
              <a:buChar char=""/>
              <a:tabLst>
                <a:tab pos="287020" algn="l"/>
                <a:tab pos="287655" algn="l"/>
              </a:tabLst>
            </a:pPr>
            <a:r>
              <a:rPr sz="1800" spc="-5" dirty="0">
                <a:latin typeface="Century Schoolbook"/>
                <a:cs typeface="Century Schoolbook"/>
              </a:rPr>
              <a:t>Client2 </a:t>
            </a:r>
            <a:r>
              <a:rPr sz="1800" dirty="0">
                <a:latin typeface="Century Schoolbook"/>
                <a:cs typeface="Century Schoolbook"/>
              </a:rPr>
              <a:t>=</a:t>
            </a:r>
            <a:r>
              <a:rPr sz="1800" spc="-90" dirty="0">
                <a:latin typeface="Century Schoolbook"/>
                <a:cs typeface="Century Schoolbook"/>
              </a:rPr>
              <a:t> </a:t>
            </a:r>
            <a:r>
              <a:rPr sz="4000" spc="-5" dirty="0">
                <a:latin typeface="Symbol"/>
                <a:cs typeface="Symbol"/>
              </a:rPr>
              <a:t></a:t>
            </a:r>
            <a:endParaRPr sz="40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41345" y="3532073"/>
            <a:ext cx="18192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entury Schoolbook"/>
                <a:cs typeface="Century Schoolbook"/>
              </a:rPr>
              <a:t>ville !=</a:t>
            </a:r>
            <a:r>
              <a:rPr sz="1200" spc="-65" dirty="0">
                <a:latin typeface="Century Schoolbook"/>
                <a:cs typeface="Century Schoolbook"/>
              </a:rPr>
              <a:t> </a:t>
            </a:r>
            <a:r>
              <a:rPr sz="1200" spc="-5" dirty="0">
                <a:latin typeface="Century Schoolbook"/>
                <a:cs typeface="Century Schoolbook"/>
              </a:rPr>
              <a:t>‘Lyon’</a:t>
            </a:r>
            <a:r>
              <a:rPr sz="2700" spc="-7" baseline="13888" dirty="0">
                <a:latin typeface="Century Schoolbook"/>
                <a:cs typeface="Century Schoolbook"/>
              </a:rPr>
              <a:t>(Client)</a:t>
            </a:r>
            <a:endParaRPr sz="2700" baseline="13888">
              <a:latin typeface="Century Schoolbook"/>
              <a:cs typeface="Century Schoolboo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34945" y="4378909"/>
            <a:ext cx="7353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Symbol"/>
                <a:cs typeface="Symbol"/>
              </a:rPr>
              <a:t></a:t>
            </a:r>
            <a:r>
              <a:rPr sz="1800" dirty="0">
                <a:latin typeface="Century Schoolbook"/>
                <a:cs typeface="Century Schoolbook"/>
              </a:rPr>
              <a:t>nom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69820" y="4960620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0"/>
                </a:moveTo>
                <a:lnTo>
                  <a:pt x="0" y="25755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968245" y="5233542"/>
            <a:ext cx="894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entury Schoolbook"/>
                <a:cs typeface="Century Schoolbook"/>
              </a:rPr>
              <a:t>Clie</a:t>
            </a:r>
            <a:r>
              <a:rPr sz="2400" spc="-10" dirty="0">
                <a:latin typeface="Century Schoolbook"/>
                <a:cs typeface="Century Schoolbook"/>
              </a:rPr>
              <a:t>n</a:t>
            </a:r>
            <a:r>
              <a:rPr sz="2400" dirty="0">
                <a:latin typeface="Century Schoolbook"/>
                <a:cs typeface="Century Schoolbook"/>
              </a:rPr>
              <a:t>t</a:t>
            </a: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35953" y="4315714"/>
            <a:ext cx="734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Symbol"/>
                <a:cs typeface="Symbol"/>
              </a:rPr>
              <a:t></a:t>
            </a:r>
            <a:r>
              <a:rPr sz="1800" dirty="0">
                <a:latin typeface="Century Schoolbook"/>
                <a:cs typeface="Century Schoolbook"/>
              </a:rPr>
              <a:t>nom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384035" y="4872228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0"/>
                </a:moveTo>
                <a:lnTo>
                  <a:pt x="0" y="2575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04254" y="5868416"/>
            <a:ext cx="1064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entury Schoolbook"/>
                <a:cs typeface="Century Schoolbook"/>
              </a:rPr>
              <a:t>Client2</a:t>
            </a: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43627" y="5906516"/>
            <a:ext cx="10629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entury Schoolbook"/>
                <a:cs typeface="Century Schoolbook"/>
              </a:rPr>
              <a:t>Client1</a:t>
            </a: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77102" y="5158866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U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888735" y="5558028"/>
            <a:ext cx="329565" cy="269875"/>
          </a:xfrm>
          <a:custGeom>
            <a:avLst/>
            <a:gdLst/>
            <a:ahLst/>
            <a:cxnLst/>
            <a:rect l="l" t="t" r="r" b="b"/>
            <a:pathLst>
              <a:path w="329564" h="269875">
                <a:moveTo>
                  <a:pt x="329184" y="0"/>
                </a:moveTo>
                <a:lnTo>
                  <a:pt x="0" y="2697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472428" y="5545835"/>
            <a:ext cx="330835" cy="269875"/>
          </a:xfrm>
          <a:custGeom>
            <a:avLst/>
            <a:gdLst/>
            <a:ahLst/>
            <a:cxnLst/>
            <a:rect l="l" t="t" r="r" b="b"/>
            <a:pathLst>
              <a:path w="330834" h="269875">
                <a:moveTo>
                  <a:pt x="0" y="0"/>
                </a:moveTo>
                <a:lnTo>
                  <a:pt x="330707" y="269747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759708" y="4660391"/>
            <a:ext cx="1320165" cy="471170"/>
          </a:xfrm>
          <a:custGeom>
            <a:avLst/>
            <a:gdLst/>
            <a:ahLst/>
            <a:cxnLst/>
            <a:rect l="l" t="t" r="r" b="b"/>
            <a:pathLst>
              <a:path w="1320164" h="471170">
                <a:moveTo>
                  <a:pt x="0" y="117728"/>
                </a:moveTo>
                <a:lnTo>
                  <a:pt x="988821" y="117728"/>
                </a:lnTo>
                <a:lnTo>
                  <a:pt x="988821" y="0"/>
                </a:lnTo>
                <a:lnTo>
                  <a:pt x="1319783" y="235457"/>
                </a:lnTo>
                <a:lnTo>
                  <a:pt x="988821" y="470915"/>
                </a:lnTo>
                <a:lnTo>
                  <a:pt x="988821" y="353186"/>
                </a:lnTo>
                <a:lnTo>
                  <a:pt x="0" y="353186"/>
                </a:lnTo>
                <a:lnTo>
                  <a:pt x="0" y="11772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Espace réservé du numéro de diapositive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9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332943" y="360679"/>
            <a:ext cx="7940675" cy="2289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565F6C"/>
                </a:solidFill>
                <a:latin typeface="Century Schoolbook"/>
                <a:cs typeface="Century Schoolbook"/>
              </a:rPr>
              <a:t>R</a:t>
            </a:r>
            <a:r>
              <a:rPr sz="2150" dirty="0">
                <a:solidFill>
                  <a:srgbClr val="565F6C"/>
                </a:solidFill>
                <a:latin typeface="Century Schoolbook"/>
                <a:cs typeface="Century Schoolbook"/>
              </a:rPr>
              <a:t>ÉDUCTION </a:t>
            </a:r>
            <a:r>
              <a:rPr sz="2150" spc="5" dirty="0">
                <a:solidFill>
                  <a:srgbClr val="565F6C"/>
                </a:solidFill>
                <a:latin typeface="Century Schoolbook"/>
                <a:cs typeface="Century Schoolbook"/>
              </a:rPr>
              <a:t>DE </a:t>
            </a:r>
            <a:r>
              <a:rPr sz="2150" dirty="0">
                <a:solidFill>
                  <a:srgbClr val="565F6C"/>
                </a:solidFill>
                <a:latin typeface="Century Schoolbook"/>
                <a:cs typeface="Century Schoolbook"/>
              </a:rPr>
              <a:t>LA </a:t>
            </a:r>
            <a:r>
              <a:rPr sz="2150" spc="5" dirty="0">
                <a:solidFill>
                  <a:srgbClr val="565F6C"/>
                </a:solidFill>
                <a:latin typeface="Century Schoolbook"/>
                <a:cs typeface="Century Schoolbook"/>
              </a:rPr>
              <a:t>FRAGMENTATION</a:t>
            </a:r>
            <a:r>
              <a:rPr sz="2150" spc="555" dirty="0">
                <a:solidFill>
                  <a:srgbClr val="565F6C"/>
                </a:solidFill>
                <a:latin typeface="Century Schoolbook"/>
                <a:cs typeface="Century Schoolbook"/>
              </a:rPr>
              <a:t> </a:t>
            </a:r>
            <a:r>
              <a:rPr sz="2150" spc="5" dirty="0">
                <a:solidFill>
                  <a:srgbClr val="565F6C"/>
                </a:solidFill>
                <a:latin typeface="Century Schoolbook"/>
                <a:cs typeface="Century Schoolbook"/>
              </a:rPr>
              <a:t>HORIZONTALE</a:t>
            </a:r>
            <a:endParaRPr sz="2150">
              <a:latin typeface="Century Schoolbook"/>
              <a:cs typeface="Century Schoolbook"/>
            </a:endParaRPr>
          </a:p>
          <a:p>
            <a:pPr marL="287020" indent="-274320">
              <a:lnSpc>
                <a:spcPct val="100000"/>
              </a:lnSpc>
              <a:spcBef>
                <a:spcPts val="194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Règle </a:t>
            </a:r>
            <a:r>
              <a:rPr sz="2400" dirty="0">
                <a:latin typeface="Century Schoolbook"/>
                <a:cs typeface="Century Schoolbook"/>
              </a:rPr>
              <a:t>: éliminer l’accès </a:t>
            </a:r>
            <a:r>
              <a:rPr sz="2400" spc="-5" dirty="0">
                <a:latin typeface="Century Schoolbook"/>
                <a:cs typeface="Century Schoolbook"/>
              </a:rPr>
              <a:t>aux </a:t>
            </a:r>
            <a:r>
              <a:rPr sz="2400" dirty="0">
                <a:latin typeface="Century Schoolbook"/>
                <a:cs typeface="Century Schoolbook"/>
              </a:rPr>
              <a:t>fragments</a:t>
            </a:r>
            <a:r>
              <a:rPr sz="2400" spc="-8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inutiles</a:t>
            </a:r>
            <a:endParaRPr sz="2400">
              <a:latin typeface="Century Schoolbook"/>
              <a:cs typeface="Century Schoolbook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D8537"/>
              </a:buClr>
              <a:buFont typeface="Wingdings"/>
              <a:buChar char=""/>
            </a:pPr>
            <a:endParaRPr sz="35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Exemple</a:t>
            </a:r>
            <a:endParaRPr sz="2400">
              <a:latin typeface="Century Schoolbook"/>
              <a:cs typeface="Century Schoolbook"/>
            </a:endParaRPr>
          </a:p>
          <a:p>
            <a:pPr marL="927100">
              <a:lnSpc>
                <a:spcPct val="100000"/>
              </a:lnSpc>
              <a:spcBef>
                <a:spcPts val="405"/>
              </a:spcBef>
            </a:pPr>
            <a:r>
              <a:rPr sz="2000" spc="-5" dirty="0">
                <a:latin typeface="Courier New"/>
                <a:cs typeface="Courier New"/>
              </a:rPr>
              <a:t>SELECT nom FROM Client WHERE ville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‘Paris’;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8703" y="2714371"/>
            <a:ext cx="3596004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286385" algn="l"/>
                <a:tab pos="287020" algn="l"/>
              </a:tabLst>
            </a:pPr>
            <a:r>
              <a:rPr sz="2100" spc="-5" dirty="0">
                <a:latin typeface="Century Schoolbook"/>
                <a:cs typeface="Century Schoolbook"/>
              </a:rPr>
              <a:t>Schémas de</a:t>
            </a:r>
            <a:r>
              <a:rPr sz="2100" spc="-65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fragmentation</a:t>
            </a:r>
            <a:endParaRPr sz="2100">
              <a:latin typeface="Century Schoolbook"/>
              <a:cs typeface="Century Schoolboo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4463" y="2775331"/>
            <a:ext cx="1510665" cy="650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DF752E"/>
              </a:buClr>
              <a:buSzPct val="58823"/>
              <a:buFont typeface="Wingdings"/>
              <a:buChar char=""/>
              <a:tabLst>
                <a:tab pos="195580" algn="l"/>
              </a:tabLst>
            </a:pPr>
            <a:r>
              <a:rPr sz="1700" dirty="0">
                <a:latin typeface="Century Schoolbook"/>
                <a:cs typeface="Century Schoolbook"/>
              </a:rPr>
              <a:t>Client1 =</a:t>
            </a:r>
            <a:r>
              <a:rPr sz="1700" spc="-95" dirty="0">
                <a:latin typeface="Century Schoolbook"/>
                <a:cs typeface="Century Schoolbook"/>
              </a:rPr>
              <a:t> </a:t>
            </a:r>
            <a:r>
              <a:rPr sz="4100" dirty="0">
                <a:latin typeface="Symbol"/>
                <a:cs typeface="Symbol"/>
              </a:rPr>
              <a:t></a:t>
            </a:r>
            <a:endParaRPr sz="41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4463" y="3119450"/>
            <a:ext cx="1510665" cy="651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DF752E"/>
              </a:buClr>
              <a:buSzPct val="58823"/>
              <a:buFont typeface="Wingdings"/>
              <a:buChar char=""/>
              <a:tabLst>
                <a:tab pos="195580" algn="l"/>
              </a:tabLst>
            </a:pPr>
            <a:r>
              <a:rPr sz="1700" dirty="0">
                <a:latin typeface="Century Schoolbook"/>
                <a:cs typeface="Century Schoolbook"/>
              </a:rPr>
              <a:t>Client2 =</a:t>
            </a:r>
            <a:r>
              <a:rPr sz="1700" spc="-100" dirty="0">
                <a:latin typeface="Century Schoolbook"/>
                <a:cs typeface="Century Schoolbook"/>
              </a:rPr>
              <a:t> </a:t>
            </a:r>
            <a:r>
              <a:rPr sz="4100" dirty="0">
                <a:latin typeface="Symbol"/>
                <a:cs typeface="Symbol"/>
              </a:rPr>
              <a:t></a:t>
            </a:r>
            <a:endParaRPr sz="41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68523" y="3047635"/>
            <a:ext cx="1724660" cy="714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32900"/>
              </a:lnSpc>
              <a:spcBef>
                <a:spcPts val="95"/>
              </a:spcBef>
            </a:pPr>
            <a:r>
              <a:rPr sz="1100" spc="5" dirty="0">
                <a:latin typeface="Century Schoolbook"/>
                <a:cs typeface="Century Schoolbook"/>
              </a:rPr>
              <a:t>ville </a:t>
            </a:r>
            <a:r>
              <a:rPr sz="1100" spc="15" dirty="0">
                <a:latin typeface="Century Schoolbook"/>
                <a:cs typeface="Century Schoolbook"/>
              </a:rPr>
              <a:t>= </a:t>
            </a:r>
            <a:r>
              <a:rPr sz="1100" dirty="0">
                <a:latin typeface="Century Schoolbook"/>
                <a:cs typeface="Century Schoolbook"/>
              </a:rPr>
              <a:t>‘Lyon’</a:t>
            </a:r>
            <a:r>
              <a:rPr sz="2550" baseline="13071" dirty="0">
                <a:latin typeface="Century Schoolbook"/>
                <a:cs typeface="Century Schoolbook"/>
              </a:rPr>
              <a:t>(Client)  </a:t>
            </a:r>
            <a:r>
              <a:rPr sz="1100" spc="5" dirty="0">
                <a:latin typeface="Century Schoolbook"/>
                <a:cs typeface="Century Schoolbook"/>
              </a:rPr>
              <a:t>ville </a:t>
            </a:r>
            <a:r>
              <a:rPr sz="1100" spc="10" dirty="0">
                <a:latin typeface="Century Schoolbook"/>
                <a:cs typeface="Century Schoolbook"/>
              </a:rPr>
              <a:t>!=</a:t>
            </a:r>
            <a:r>
              <a:rPr sz="1100" spc="15" dirty="0">
                <a:latin typeface="Century Schoolbook"/>
                <a:cs typeface="Century Schoolbook"/>
              </a:rPr>
              <a:t> </a:t>
            </a:r>
            <a:r>
              <a:rPr sz="1100" dirty="0">
                <a:latin typeface="Century Schoolbook"/>
                <a:cs typeface="Century Schoolbook"/>
              </a:rPr>
              <a:t>‘Lyon’</a:t>
            </a:r>
            <a:r>
              <a:rPr sz="2550" baseline="13071" dirty="0">
                <a:latin typeface="Century Schoolbook"/>
                <a:cs typeface="Century Schoolbook"/>
              </a:rPr>
              <a:t>(Client)</a:t>
            </a:r>
            <a:endParaRPr sz="2550" baseline="13071">
              <a:latin typeface="Century Schoolbook"/>
              <a:cs typeface="Century Schoolboo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332943" y="360679"/>
            <a:ext cx="7940675" cy="2289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565F6C"/>
                </a:solidFill>
                <a:latin typeface="Century Schoolbook"/>
                <a:cs typeface="Century Schoolbook"/>
              </a:rPr>
              <a:t>R</a:t>
            </a:r>
            <a:r>
              <a:rPr sz="2150" dirty="0">
                <a:solidFill>
                  <a:srgbClr val="565F6C"/>
                </a:solidFill>
                <a:latin typeface="Century Schoolbook"/>
                <a:cs typeface="Century Schoolbook"/>
              </a:rPr>
              <a:t>ÉDUCTION </a:t>
            </a:r>
            <a:r>
              <a:rPr sz="2150" spc="5" dirty="0">
                <a:solidFill>
                  <a:srgbClr val="565F6C"/>
                </a:solidFill>
                <a:latin typeface="Century Schoolbook"/>
                <a:cs typeface="Century Schoolbook"/>
              </a:rPr>
              <a:t>DE </a:t>
            </a:r>
            <a:r>
              <a:rPr sz="2150" dirty="0">
                <a:solidFill>
                  <a:srgbClr val="565F6C"/>
                </a:solidFill>
                <a:latin typeface="Century Schoolbook"/>
                <a:cs typeface="Century Schoolbook"/>
              </a:rPr>
              <a:t>LA </a:t>
            </a:r>
            <a:r>
              <a:rPr sz="2150" spc="5" dirty="0">
                <a:solidFill>
                  <a:srgbClr val="565F6C"/>
                </a:solidFill>
                <a:latin typeface="Century Schoolbook"/>
                <a:cs typeface="Century Schoolbook"/>
              </a:rPr>
              <a:t>FRAGMENTATION</a:t>
            </a:r>
            <a:r>
              <a:rPr sz="2150" spc="555" dirty="0">
                <a:solidFill>
                  <a:srgbClr val="565F6C"/>
                </a:solidFill>
                <a:latin typeface="Century Schoolbook"/>
                <a:cs typeface="Century Schoolbook"/>
              </a:rPr>
              <a:t> </a:t>
            </a:r>
            <a:r>
              <a:rPr sz="2150" spc="5" dirty="0">
                <a:solidFill>
                  <a:srgbClr val="565F6C"/>
                </a:solidFill>
                <a:latin typeface="Century Schoolbook"/>
                <a:cs typeface="Century Schoolbook"/>
              </a:rPr>
              <a:t>HORIZONTALE</a:t>
            </a:r>
            <a:endParaRPr sz="2150">
              <a:latin typeface="Century Schoolbook"/>
              <a:cs typeface="Century Schoolbook"/>
            </a:endParaRPr>
          </a:p>
          <a:p>
            <a:pPr marL="287020" indent="-274320">
              <a:lnSpc>
                <a:spcPct val="100000"/>
              </a:lnSpc>
              <a:spcBef>
                <a:spcPts val="194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Règle </a:t>
            </a:r>
            <a:r>
              <a:rPr sz="2400" dirty="0">
                <a:latin typeface="Century Schoolbook"/>
                <a:cs typeface="Century Schoolbook"/>
              </a:rPr>
              <a:t>: éliminer l’accès </a:t>
            </a:r>
            <a:r>
              <a:rPr sz="2400" spc="-5" dirty="0">
                <a:latin typeface="Century Schoolbook"/>
                <a:cs typeface="Century Schoolbook"/>
              </a:rPr>
              <a:t>aux </a:t>
            </a:r>
            <a:r>
              <a:rPr sz="2400" dirty="0">
                <a:latin typeface="Century Schoolbook"/>
                <a:cs typeface="Century Schoolbook"/>
              </a:rPr>
              <a:t>fragments</a:t>
            </a:r>
            <a:r>
              <a:rPr sz="2400" spc="-8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inutiles</a:t>
            </a:r>
            <a:endParaRPr sz="2400">
              <a:latin typeface="Century Schoolbook"/>
              <a:cs typeface="Century Schoolbook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D8537"/>
              </a:buClr>
              <a:buFont typeface="Wingdings"/>
              <a:buChar char=""/>
            </a:pPr>
            <a:endParaRPr sz="35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Exemple</a:t>
            </a:r>
            <a:endParaRPr sz="2400">
              <a:latin typeface="Century Schoolbook"/>
              <a:cs typeface="Century Schoolbook"/>
            </a:endParaRPr>
          </a:p>
          <a:p>
            <a:pPr marL="927100">
              <a:lnSpc>
                <a:spcPct val="100000"/>
              </a:lnSpc>
              <a:spcBef>
                <a:spcPts val="405"/>
              </a:spcBef>
            </a:pPr>
            <a:r>
              <a:rPr sz="2000" spc="-5" dirty="0">
                <a:latin typeface="Courier New"/>
                <a:cs typeface="Courier New"/>
              </a:rPr>
              <a:t>SELECT nom FROM Client WHERE ville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‘Paris’;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8703" y="2714371"/>
            <a:ext cx="3596004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286385" algn="l"/>
                <a:tab pos="287020" algn="l"/>
              </a:tabLst>
            </a:pPr>
            <a:r>
              <a:rPr sz="2100" spc="-5" dirty="0">
                <a:latin typeface="Century Schoolbook"/>
                <a:cs typeface="Century Schoolbook"/>
              </a:rPr>
              <a:t>Schémas de</a:t>
            </a:r>
            <a:r>
              <a:rPr sz="2100" spc="-65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fragmentation</a:t>
            </a:r>
            <a:endParaRPr sz="2100">
              <a:latin typeface="Century Schoolbook"/>
              <a:cs typeface="Century Schoolboo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4463" y="2775331"/>
            <a:ext cx="1510665" cy="650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DF752E"/>
              </a:buClr>
              <a:buSzPct val="58823"/>
              <a:buFont typeface="Wingdings"/>
              <a:buChar char=""/>
              <a:tabLst>
                <a:tab pos="195580" algn="l"/>
              </a:tabLst>
            </a:pPr>
            <a:r>
              <a:rPr sz="1700" dirty="0">
                <a:latin typeface="Century Schoolbook"/>
                <a:cs typeface="Century Schoolbook"/>
              </a:rPr>
              <a:t>Client1 =</a:t>
            </a:r>
            <a:r>
              <a:rPr sz="1700" spc="-95" dirty="0">
                <a:latin typeface="Century Schoolbook"/>
                <a:cs typeface="Century Schoolbook"/>
              </a:rPr>
              <a:t> </a:t>
            </a:r>
            <a:r>
              <a:rPr sz="4100" dirty="0">
                <a:latin typeface="Symbol"/>
                <a:cs typeface="Symbol"/>
              </a:rPr>
              <a:t></a:t>
            </a:r>
            <a:endParaRPr sz="41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4463" y="3119450"/>
            <a:ext cx="1510665" cy="651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DF752E"/>
              </a:buClr>
              <a:buSzPct val="58823"/>
              <a:buFont typeface="Wingdings"/>
              <a:buChar char=""/>
              <a:tabLst>
                <a:tab pos="195580" algn="l"/>
              </a:tabLst>
            </a:pPr>
            <a:r>
              <a:rPr sz="1700" dirty="0">
                <a:latin typeface="Century Schoolbook"/>
                <a:cs typeface="Century Schoolbook"/>
              </a:rPr>
              <a:t>Client2 =</a:t>
            </a:r>
            <a:r>
              <a:rPr sz="1700" spc="-100" dirty="0">
                <a:latin typeface="Century Schoolbook"/>
                <a:cs typeface="Century Schoolbook"/>
              </a:rPr>
              <a:t> </a:t>
            </a:r>
            <a:r>
              <a:rPr sz="4100" dirty="0">
                <a:latin typeface="Symbol"/>
                <a:cs typeface="Symbol"/>
              </a:rPr>
              <a:t></a:t>
            </a:r>
            <a:endParaRPr sz="41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68523" y="3047635"/>
            <a:ext cx="1724660" cy="714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32900"/>
              </a:lnSpc>
              <a:spcBef>
                <a:spcPts val="95"/>
              </a:spcBef>
            </a:pPr>
            <a:r>
              <a:rPr sz="1100" spc="5" dirty="0">
                <a:latin typeface="Century Schoolbook"/>
                <a:cs typeface="Century Schoolbook"/>
              </a:rPr>
              <a:t>ville </a:t>
            </a:r>
            <a:r>
              <a:rPr sz="1100" spc="15" dirty="0">
                <a:latin typeface="Century Schoolbook"/>
                <a:cs typeface="Century Schoolbook"/>
              </a:rPr>
              <a:t>= </a:t>
            </a:r>
            <a:r>
              <a:rPr sz="1100" dirty="0">
                <a:latin typeface="Century Schoolbook"/>
                <a:cs typeface="Century Schoolbook"/>
              </a:rPr>
              <a:t>‘Lyon’</a:t>
            </a:r>
            <a:r>
              <a:rPr sz="2550" baseline="13071" dirty="0">
                <a:latin typeface="Century Schoolbook"/>
                <a:cs typeface="Century Schoolbook"/>
              </a:rPr>
              <a:t>(Client)  </a:t>
            </a:r>
            <a:r>
              <a:rPr sz="1100" spc="5" dirty="0">
                <a:latin typeface="Century Schoolbook"/>
                <a:cs typeface="Century Schoolbook"/>
              </a:rPr>
              <a:t>ville </a:t>
            </a:r>
            <a:r>
              <a:rPr sz="1100" spc="10" dirty="0">
                <a:latin typeface="Century Schoolbook"/>
                <a:cs typeface="Century Schoolbook"/>
              </a:rPr>
              <a:t>!=</a:t>
            </a:r>
            <a:r>
              <a:rPr sz="1100" spc="15" dirty="0">
                <a:latin typeface="Century Schoolbook"/>
                <a:cs typeface="Century Schoolbook"/>
              </a:rPr>
              <a:t> </a:t>
            </a:r>
            <a:r>
              <a:rPr sz="1100" dirty="0">
                <a:latin typeface="Century Schoolbook"/>
                <a:cs typeface="Century Schoolbook"/>
              </a:rPr>
              <a:t>‘Lyon’</a:t>
            </a:r>
            <a:r>
              <a:rPr sz="2550" baseline="13071" dirty="0">
                <a:latin typeface="Century Schoolbook"/>
                <a:cs typeface="Century Schoolbook"/>
              </a:rPr>
              <a:t>(Client)</a:t>
            </a:r>
            <a:endParaRPr sz="2550" baseline="13071">
              <a:latin typeface="Century Schoolbook"/>
              <a:cs typeface="Century Schoolboo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8600" y="3962400"/>
            <a:ext cx="73469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Symbol"/>
                <a:cs typeface="Symbol"/>
              </a:rPr>
              <a:t></a:t>
            </a:r>
            <a:r>
              <a:rPr sz="1800" dirty="0">
                <a:latin typeface="Century Schoolbook"/>
                <a:cs typeface="Century Schoolbook"/>
              </a:rPr>
              <a:t>nom</a:t>
            </a:r>
          </a:p>
        </p:txBody>
      </p:sp>
      <p:sp>
        <p:nvSpPr>
          <p:cNvPr id="15" name="object 15"/>
          <p:cNvSpPr/>
          <p:nvPr/>
        </p:nvSpPr>
        <p:spPr>
          <a:xfrm>
            <a:off x="481583" y="5358384"/>
            <a:ext cx="0" cy="256540"/>
          </a:xfrm>
          <a:custGeom>
            <a:avLst/>
            <a:gdLst/>
            <a:ahLst/>
            <a:cxnLst/>
            <a:rect l="l" t="t" r="r" b="b"/>
            <a:pathLst>
              <a:path h="256539">
                <a:moveTo>
                  <a:pt x="0" y="0"/>
                </a:moveTo>
                <a:lnTo>
                  <a:pt x="0" y="256031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8739" y="5630367"/>
            <a:ext cx="894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entury Schoolbook"/>
                <a:cs typeface="Century Schoolbook"/>
              </a:rPr>
              <a:t>Clie</a:t>
            </a:r>
            <a:r>
              <a:rPr sz="2400" spc="-10" dirty="0">
                <a:latin typeface="Century Schoolbook"/>
                <a:cs typeface="Century Schoolbook"/>
              </a:rPr>
              <a:t>n</a:t>
            </a:r>
            <a:r>
              <a:rPr sz="2400" dirty="0">
                <a:latin typeface="Century Schoolbook"/>
                <a:cs typeface="Century Schoolbook"/>
              </a:rPr>
              <a:t>t</a:t>
            </a: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95727" y="5396484"/>
            <a:ext cx="0" cy="256540"/>
          </a:xfrm>
          <a:custGeom>
            <a:avLst/>
            <a:gdLst/>
            <a:ahLst/>
            <a:cxnLst/>
            <a:rect l="l" t="t" r="r" b="b"/>
            <a:pathLst>
              <a:path h="256539">
                <a:moveTo>
                  <a:pt x="0" y="0"/>
                </a:moveTo>
                <a:lnTo>
                  <a:pt x="0" y="256031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256791" y="6430162"/>
            <a:ext cx="22332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8110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Client1	Client2</a:t>
            </a: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88794" y="5682792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U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900427" y="6082284"/>
            <a:ext cx="330835" cy="269875"/>
          </a:xfrm>
          <a:custGeom>
            <a:avLst/>
            <a:gdLst/>
            <a:ahLst/>
            <a:cxnLst/>
            <a:rect l="l" t="t" r="r" b="b"/>
            <a:pathLst>
              <a:path w="330835" h="269875">
                <a:moveTo>
                  <a:pt x="330708" y="0"/>
                </a:moveTo>
                <a:lnTo>
                  <a:pt x="0" y="269747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484120" y="6068567"/>
            <a:ext cx="330835" cy="269875"/>
          </a:xfrm>
          <a:custGeom>
            <a:avLst/>
            <a:gdLst/>
            <a:ahLst/>
            <a:cxnLst/>
            <a:rect l="l" t="t" r="r" b="b"/>
            <a:pathLst>
              <a:path w="330835" h="269875">
                <a:moveTo>
                  <a:pt x="0" y="0"/>
                </a:moveTo>
                <a:lnTo>
                  <a:pt x="330707" y="26974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64207" y="4774691"/>
            <a:ext cx="481965" cy="471170"/>
          </a:xfrm>
          <a:custGeom>
            <a:avLst/>
            <a:gdLst/>
            <a:ahLst/>
            <a:cxnLst/>
            <a:rect l="l" t="t" r="r" b="b"/>
            <a:pathLst>
              <a:path w="481964" h="471170">
                <a:moveTo>
                  <a:pt x="0" y="117728"/>
                </a:moveTo>
                <a:lnTo>
                  <a:pt x="360680" y="117728"/>
                </a:lnTo>
                <a:lnTo>
                  <a:pt x="360680" y="0"/>
                </a:lnTo>
                <a:lnTo>
                  <a:pt x="481584" y="235457"/>
                </a:lnTo>
                <a:lnTo>
                  <a:pt x="360680" y="470915"/>
                </a:lnTo>
                <a:lnTo>
                  <a:pt x="360680" y="353186"/>
                </a:lnTo>
                <a:lnTo>
                  <a:pt x="0" y="353186"/>
                </a:lnTo>
                <a:lnTo>
                  <a:pt x="0" y="11772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94741" y="4896053"/>
            <a:ext cx="11525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800" spc="-7" baseline="7812" dirty="0">
                <a:latin typeface="Symbol"/>
                <a:cs typeface="Symbol"/>
              </a:rPr>
              <a:t></a:t>
            </a:r>
            <a:r>
              <a:rPr sz="1200" dirty="0">
                <a:latin typeface="Century Schoolbook"/>
                <a:cs typeface="Century Schoolbook"/>
              </a:rPr>
              <a:t>ville=</a:t>
            </a:r>
            <a:r>
              <a:rPr sz="1200" spc="-5" dirty="0">
                <a:latin typeface="Century Schoolbook"/>
                <a:cs typeface="Century Schoolbook"/>
              </a:rPr>
              <a:t>‘</a:t>
            </a:r>
            <a:r>
              <a:rPr sz="1200" dirty="0">
                <a:latin typeface="Century Schoolbook"/>
                <a:cs typeface="Century Schoolbook"/>
              </a:rPr>
              <a:t>P</a:t>
            </a:r>
            <a:r>
              <a:rPr sz="1200" spc="-10" dirty="0">
                <a:latin typeface="Century Schoolbook"/>
                <a:cs typeface="Century Schoolbook"/>
              </a:rPr>
              <a:t>a</a:t>
            </a:r>
            <a:r>
              <a:rPr sz="1200" spc="-5" dirty="0">
                <a:latin typeface="Century Schoolbook"/>
                <a:cs typeface="Century Schoolbook"/>
              </a:rPr>
              <a:t>r</a:t>
            </a:r>
            <a:r>
              <a:rPr sz="1200" dirty="0">
                <a:latin typeface="Century Schoolbook"/>
                <a:cs typeface="Century Schoolbook"/>
              </a:rPr>
              <a:t>is’</a:t>
            </a:r>
            <a:endParaRPr sz="1200">
              <a:latin typeface="Century Schoolbook"/>
              <a:cs typeface="Century Schoolbook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05968" y="4636008"/>
            <a:ext cx="0" cy="256540"/>
          </a:xfrm>
          <a:custGeom>
            <a:avLst/>
            <a:gdLst/>
            <a:ahLst/>
            <a:cxnLst/>
            <a:rect l="l" t="t" r="r" b="b"/>
            <a:pathLst>
              <a:path h="256539">
                <a:moveTo>
                  <a:pt x="0" y="0"/>
                </a:moveTo>
                <a:lnTo>
                  <a:pt x="0" y="256032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263394" y="4857953"/>
            <a:ext cx="11525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800" spc="-7" baseline="7812" dirty="0">
                <a:latin typeface="Symbol"/>
                <a:cs typeface="Symbol"/>
              </a:rPr>
              <a:t></a:t>
            </a:r>
            <a:r>
              <a:rPr sz="1200" dirty="0">
                <a:latin typeface="Century Schoolbook"/>
                <a:cs typeface="Century Schoolbook"/>
              </a:rPr>
              <a:t>ville=</a:t>
            </a:r>
            <a:r>
              <a:rPr sz="1200" spc="-5" dirty="0">
                <a:latin typeface="Century Schoolbook"/>
                <a:cs typeface="Century Schoolbook"/>
              </a:rPr>
              <a:t>‘</a:t>
            </a:r>
            <a:r>
              <a:rPr sz="1200" dirty="0">
                <a:latin typeface="Century Schoolbook"/>
                <a:cs typeface="Century Schoolbook"/>
              </a:rPr>
              <a:t>P</a:t>
            </a:r>
            <a:r>
              <a:rPr sz="1200" spc="-10" dirty="0">
                <a:latin typeface="Century Schoolbook"/>
                <a:cs typeface="Century Schoolbook"/>
              </a:rPr>
              <a:t>a</a:t>
            </a:r>
            <a:r>
              <a:rPr sz="1200" spc="-5" dirty="0">
                <a:latin typeface="Century Schoolbook"/>
                <a:cs typeface="Century Schoolbook"/>
              </a:rPr>
              <a:t>r</a:t>
            </a:r>
            <a:r>
              <a:rPr sz="1200" dirty="0">
                <a:latin typeface="Century Schoolbook"/>
                <a:cs typeface="Century Schoolbook"/>
              </a:rPr>
              <a:t>is’</a:t>
            </a:r>
            <a:endParaRPr sz="1200">
              <a:latin typeface="Century Schoolbook"/>
              <a:cs typeface="Century Schoolbook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474976" y="4597908"/>
            <a:ext cx="0" cy="256540"/>
          </a:xfrm>
          <a:custGeom>
            <a:avLst/>
            <a:gdLst/>
            <a:ahLst/>
            <a:cxnLst/>
            <a:rect l="l" t="t" r="r" b="b"/>
            <a:pathLst>
              <a:path h="256539">
                <a:moveTo>
                  <a:pt x="0" y="0"/>
                </a:moveTo>
                <a:lnTo>
                  <a:pt x="0" y="256032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314194" y="4114800"/>
            <a:ext cx="73469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5" dirty="0">
                <a:latin typeface="Symbol"/>
                <a:cs typeface="Symbol"/>
              </a:rPr>
              <a:t></a:t>
            </a:r>
            <a:r>
              <a:rPr sz="1800" dirty="0">
                <a:latin typeface="Century Schoolbook"/>
                <a:cs typeface="Century Schoolbook"/>
              </a:rPr>
              <a:t>nom</a:t>
            </a:r>
          </a:p>
        </p:txBody>
      </p:sp>
      <p:sp>
        <p:nvSpPr>
          <p:cNvPr id="29" name="object 29"/>
          <p:cNvSpPr/>
          <p:nvPr/>
        </p:nvSpPr>
        <p:spPr>
          <a:xfrm>
            <a:off x="3645408" y="4774691"/>
            <a:ext cx="481965" cy="471170"/>
          </a:xfrm>
          <a:custGeom>
            <a:avLst/>
            <a:gdLst/>
            <a:ahLst/>
            <a:cxnLst/>
            <a:rect l="l" t="t" r="r" b="b"/>
            <a:pathLst>
              <a:path w="481964" h="471170">
                <a:moveTo>
                  <a:pt x="0" y="117728"/>
                </a:moveTo>
                <a:lnTo>
                  <a:pt x="360679" y="117728"/>
                </a:lnTo>
                <a:lnTo>
                  <a:pt x="360679" y="0"/>
                </a:lnTo>
                <a:lnTo>
                  <a:pt x="481583" y="235457"/>
                </a:lnTo>
                <a:lnTo>
                  <a:pt x="360679" y="470915"/>
                </a:lnTo>
                <a:lnTo>
                  <a:pt x="360679" y="353186"/>
                </a:lnTo>
                <a:lnTo>
                  <a:pt x="0" y="353186"/>
                </a:lnTo>
                <a:lnTo>
                  <a:pt x="0" y="11772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245353" y="6392062"/>
            <a:ext cx="10648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entury Schoolbook"/>
                <a:cs typeface="Century Schoolbook"/>
              </a:rPr>
              <a:t>Client2</a:t>
            </a: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84472" y="6430162"/>
            <a:ext cx="10648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entury Schoolbook"/>
                <a:cs typeface="Century Schoolbook"/>
              </a:rPr>
              <a:t>Client1</a:t>
            </a: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67402" y="4933315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U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479035" y="5332476"/>
            <a:ext cx="329565" cy="269875"/>
          </a:xfrm>
          <a:custGeom>
            <a:avLst/>
            <a:gdLst/>
            <a:ahLst/>
            <a:cxnLst/>
            <a:rect l="l" t="t" r="r" b="b"/>
            <a:pathLst>
              <a:path w="329564" h="269875">
                <a:moveTo>
                  <a:pt x="329184" y="0"/>
                </a:moveTo>
                <a:lnTo>
                  <a:pt x="0" y="269748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062728" y="5320284"/>
            <a:ext cx="330835" cy="269875"/>
          </a:xfrm>
          <a:custGeom>
            <a:avLst/>
            <a:gdLst/>
            <a:ahLst/>
            <a:cxnLst/>
            <a:rect l="l" t="t" r="r" b="b"/>
            <a:pathLst>
              <a:path w="330835" h="269875">
                <a:moveTo>
                  <a:pt x="0" y="0"/>
                </a:moveTo>
                <a:lnTo>
                  <a:pt x="330708" y="269747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951476" y="4597908"/>
            <a:ext cx="0" cy="256540"/>
          </a:xfrm>
          <a:custGeom>
            <a:avLst/>
            <a:gdLst/>
            <a:ahLst/>
            <a:cxnLst/>
            <a:rect l="l" t="t" r="r" b="b"/>
            <a:pathLst>
              <a:path h="256539">
                <a:moveTo>
                  <a:pt x="0" y="0"/>
                </a:moveTo>
                <a:lnTo>
                  <a:pt x="0" y="256032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791202" y="4049014"/>
            <a:ext cx="734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Symbol"/>
                <a:cs typeface="Symbol"/>
              </a:rPr>
              <a:t></a:t>
            </a:r>
            <a:r>
              <a:rPr sz="1800" dirty="0">
                <a:latin typeface="Century Schoolbook"/>
                <a:cs typeface="Century Schoolbook"/>
              </a:rPr>
              <a:t>nom</a:t>
            </a:r>
          </a:p>
        </p:txBody>
      </p:sp>
      <p:sp>
        <p:nvSpPr>
          <p:cNvPr id="38" name="object 38"/>
          <p:cNvSpPr/>
          <p:nvPr/>
        </p:nvSpPr>
        <p:spPr>
          <a:xfrm>
            <a:off x="4236720" y="6068567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0"/>
                </a:moveTo>
                <a:lnTo>
                  <a:pt x="0" y="25755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60135" y="6044184"/>
            <a:ext cx="0" cy="256540"/>
          </a:xfrm>
          <a:custGeom>
            <a:avLst/>
            <a:gdLst/>
            <a:ahLst/>
            <a:cxnLst/>
            <a:rect l="l" t="t" r="r" b="b"/>
            <a:pathLst>
              <a:path h="256539">
                <a:moveTo>
                  <a:pt x="0" y="0"/>
                </a:moveTo>
                <a:lnTo>
                  <a:pt x="0" y="256031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105402" y="5556605"/>
            <a:ext cx="11525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800" spc="-7" baseline="7812" dirty="0">
                <a:latin typeface="Symbol"/>
                <a:cs typeface="Symbol"/>
              </a:rPr>
              <a:t></a:t>
            </a:r>
            <a:r>
              <a:rPr sz="1200" spc="-5" dirty="0">
                <a:latin typeface="Century Schoolbook"/>
                <a:cs typeface="Century Schoolbook"/>
              </a:rPr>
              <a:t>v</a:t>
            </a:r>
            <a:r>
              <a:rPr sz="1200" spc="5" dirty="0">
                <a:latin typeface="Century Schoolbook"/>
                <a:cs typeface="Century Schoolbook"/>
              </a:rPr>
              <a:t>i</a:t>
            </a:r>
            <a:r>
              <a:rPr sz="1200" dirty="0">
                <a:latin typeface="Century Schoolbook"/>
                <a:cs typeface="Century Schoolbook"/>
              </a:rPr>
              <a:t>lle=‘P</a:t>
            </a:r>
            <a:r>
              <a:rPr sz="1200" spc="-10" dirty="0">
                <a:latin typeface="Century Schoolbook"/>
                <a:cs typeface="Century Schoolbook"/>
              </a:rPr>
              <a:t>ar</a:t>
            </a:r>
            <a:r>
              <a:rPr sz="1200" dirty="0">
                <a:latin typeface="Century Schoolbook"/>
                <a:cs typeface="Century Schoolbook"/>
              </a:rPr>
              <a:t>i</a:t>
            </a:r>
            <a:r>
              <a:rPr sz="1200" spc="-5" dirty="0">
                <a:latin typeface="Century Schoolbook"/>
                <a:cs typeface="Century Schoolbook"/>
              </a:rPr>
              <a:t>s</a:t>
            </a:r>
            <a:r>
              <a:rPr sz="1200" dirty="0">
                <a:latin typeface="Century Schoolbook"/>
                <a:cs typeface="Century Schoolbook"/>
              </a:rPr>
              <a:t>’</a:t>
            </a:r>
            <a:endParaRPr sz="1200">
              <a:latin typeface="Century Schoolbook"/>
              <a:cs typeface="Century Schoolbook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502528" y="5506313"/>
            <a:ext cx="11525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800" spc="-7" baseline="7812" dirty="0">
                <a:latin typeface="Symbol"/>
                <a:cs typeface="Symbol"/>
              </a:rPr>
              <a:t></a:t>
            </a:r>
            <a:r>
              <a:rPr sz="1200" dirty="0">
                <a:latin typeface="Century Schoolbook"/>
                <a:cs typeface="Century Schoolbook"/>
              </a:rPr>
              <a:t>ville=</a:t>
            </a:r>
            <a:r>
              <a:rPr sz="1200" spc="-5" dirty="0">
                <a:latin typeface="Century Schoolbook"/>
                <a:cs typeface="Century Schoolbook"/>
              </a:rPr>
              <a:t>‘</a:t>
            </a:r>
            <a:r>
              <a:rPr sz="1200" dirty="0">
                <a:latin typeface="Century Schoolbook"/>
                <a:cs typeface="Century Schoolbook"/>
              </a:rPr>
              <a:t>P</a:t>
            </a:r>
            <a:r>
              <a:rPr sz="1200" spc="-10" dirty="0">
                <a:latin typeface="Century Schoolbook"/>
                <a:cs typeface="Century Schoolbook"/>
              </a:rPr>
              <a:t>a</a:t>
            </a:r>
            <a:r>
              <a:rPr sz="1200" spc="-5" dirty="0">
                <a:latin typeface="Century Schoolbook"/>
                <a:cs typeface="Century Schoolbook"/>
              </a:rPr>
              <a:t>r</a:t>
            </a:r>
            <a:r>
              <a:rPr sz="1200" dirty="0">
                <a:latin typeface="Century Schoolbook"/>
                <a:cs typeface="Century Schoolbook"/>
              </a:rPr>
              <a:t>is’</a:t>
            </a:r>
            <a:endParaRPr sz="1200">
              <a:latin typeface="Century Schoolbook"/>
              <a:cs typeface="Century Schoolbook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988308" y="5384291"/>
            <a:ext cx="774700" cy="1473835"/>
          </a:xfrm>
          <a:custGeom>
            <a:avLst/>
            <a:gdLst/>
            <a:ahLst/>
            <a:cxnLst/>
            <a:rect l="l" t="t" r="r" b="b"/>
            <a:pathLst>
              <a:path w="774700" h="1473834">
                <a:moveTo>
                  <a:pt x="0" y="0"/>
                </a:moveTo>
                <a:lnTo>
                  <a:pt x="774191" y="1473707"/>
                </a:lnTo>
              </a:path>
            </a:pathLst>
          </a:custGeom>
          <a:ln w="5791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924300" y="5384291"/>
            <a:ext cx="774700" cy="1473835"/>
          </a:xfrm>
          <a:custGeom>
            <a:avLst/>
            <a:gdLst/>
            <a:ahLst/>
            <a:cxnLst/>
            <a:rect l="l" t="t" r="r" b="b"/>
            <a:pathLst>
              <a:path w="774700" h="1473834">
                <a:moveTo>
                  <a:pt x="774191" y="0"/>
                </a:moveTo>
                <a:lnTo>
                  <a:pt x="0" y="1473707"/>
                </a:lnTo>
              </a:path>
            </a:pathLst>
          </a:custGeom>
          <a:ln w="5791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274308" y="4674108"/>
            <a:ext cx="481965" cy="469900"/>
          </a:xfrm>
          <a:custGeom>
            <a:avLst/>
            <a:gdLst/>
            <a:ahLst/>
            <a:cxnLst/>
            <a:rect l="l" t="t" r="r" b="b"/>
            <a:pathLst>
              <a:path w="481965" h="469900">
                <a:moveTo>
                  <a:pt x="0" y="117348"/>
                </a:moveTo>
                <a:lnTo>
                  <a:pt x="361061" y="117348"/>
                </a:lnTo>
                <a:lnTo>
                  <a:pt x="361061" y="0"/>
                </a:lnTo>
                <a:lnTo>
                  <a:pt x="481584" y="234696"/>
                </a:lnTo>
                <a:lnTo>
                  <a:pt x="361061" y="469392"/>
                </a:lnTo>
                <a:lnTo>
                  <a:pt x="361061" y="352044"/>
                </a:lnTo>
                <a:lnTo>
                  <a:pt x="0" y="352044"/>
                </a:lnTo>
                <a:lnTo>
                  <a:pt x="0" y="11734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980681" y="5681268"/>
            <a:ext cx="10629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entury Schoolbook"/>
                <a:cs typeface="Century Schoolbook"/>
              </a:rPr>
              <a:t>Client2</a:t>
            </a: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359395" y="4597908"/>
            <a:ext cx="0" cy="256540"/>
          </a:xfrm>
          <a:custGeom>
            <a:avLst/>
            <a:gdLst/>
            <a:ahLst/>
            <a:cxnLst/>
            <a:rect l="l" t="t" r="r" b="b"/>
            <a:pathLst>
              <a:path h="256539">
                <a:moveTo>
                  <a:pt x="0" y="0"/>
                </a:moveTo>
                <a:lnTo>
                  <a:pt x="0" y="256032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7199756" y="4049014"/>
            <a:ext cx="734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Symbol"/>
                <a:cs typeface="Symbol"/>
              </a:rPr>
              <a:t></a:t>
            </a:r>
            <a:r>
              <a:rPr sz="1800" dirty="0">
                <a:latin typeface="Century Schoolbook"/>
                <a:cs typeface="Century Schoolbook"/>
              </a:rPr>
              <a:t>nom</a:t>
            </a:r>
          </a:p>
        </p:txBody>
      </p:sp>
      <p:sp>
        <p:nvSpPr>
          <p:cNvPr id="49" name="object 49"/>
          <p:cNvSpPr/>
          <p:nvPr/>
        </p:nvSpPr>
        <p:spPr>
          <a:xfrm>
            <a:off x="7394447" y="5332476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0"/>
                </a:moveTo>
                <a:lnTo>
                  <a:pt x="0" y="2575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7237730" y="4794884"/>
            <a:ext cx="11525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800" spc="-7" baseline="7812" dirty="0">
                <a:latin typeface="Symbol"/>
                <a:cs typeface="Symbol"/>
              </a:rPr>
              <a:t></a:t>
            </a:r>
            <a:r>
              <a:rPr sz="1200" dirty="0">
                <a:latin typeface="Century Schoolbook"/>
                <a:cs typeface="Century Schoolbook"/>
              </a:rPr>
              <a:t>ville=</a:t>
            </a:r>
            <a:r>
              <a:rPr sz="1200" spc="-5" dirty="0">
                <a:latin typeface="Century Schoolbook"/>
                <a:cs typeface="Century Schoolbook"/>
              </a:rPr>
              <a:t>‘</a:t>
            </a:r>
            <a:r>
              <a:rPr sz="1200" dirty="0">
                <a:latin typeface="Century Schoolbook"/>
                <a:cs typeface="Century Schoolbook"/>
              </a:rPr>
              <a:t>P</a:t>
            </a:r>
            <a:r>
              <a:rPr sz="1200" spc="-10" dirty="0">
                <a:latin typeface="Century Schoolbook"/>
                <a:cs typeface="Century Schoolbook"/>
              </a:rPr>
              <a:t>a</a:t>
            </a:r>
            <a:r>
              <a:rPr sz="1200" spc="-5" dirty="0">
                <a:latin typeface="Century Schoolbook"/>
                <a:cs typeface="Century Schoolbook"/>
              </a:rPr>
              <a:t>r</a:t>
            </a:r>
            <a:r>
              <a:rPr sz="1200" dirty="0">
                <a:latin typeface="Century Schoolbook"/>
                <a:cs typeface="Century Schoolbook"/>
              </a:rPr>
              <a:t>is’</a:t>
            </a:r>
            <a:endParaRPr sz="1200">
              <a:latin typeface="Century Schoolbook"/>
              <a:cs typeface="Century Schoolbook"/>
            </a:endParaRPr>
          </a:p>
        </p:txBody>
      </p:sp>
      <p:sp>
        <p:nvSpPr>
          <p:cNvPr id="46" name="Espace réservé du numéro de diapositive 4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11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7288" y="343522"/>
            <a:ext cx="753237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RÉDUCTION </a:t>
            </a:r>
            <a:r>
              <a:rPr sz="2400" dirty="0"/>
              <a:t>DE </a:t>
            </a:r>
            <a:r>
              <a:rPr sz="2400" spc="-5" dirty="0"/>
              <a:t>FRAGMENTATION</a:t>
            </a:r>
            <a:r>
              <a:rPr sz="2400" spc="445" dirty="0"/>
              <a:t> </a:t>
            </a:r>
            <a:r>
              <a:rPr sz="2400" spc="-10" dirty="0"/>
              <a:t>VERTICALE</a:t>
            </a:r>
            <a:endParaRPr sz="2400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368297"/>
            <a:ext cx="7321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Règle: </a:t>
            </a:r>
            <a:r>
              <a:rPr sz="2400" dirty="0">
                <a:latin typeface="Century Schoolbook"/>
                <a:cs typeface="Century Schoolbook"/>
              </a:rPr>
              <a:t>éliminer les </a:t>
            </a:r>
            <a:r>
              <a:rPr sz="2400" spc="-5" dirty="0">
                <a:latin typeface="Century Schoolbook"/>
                <a:cs typeface="Century Schoolbook"/>
              </a:rPr>
              <a:t>accès aux relations de base</a:t>
            </a:r>
            <a:r>
              <a:rPr sz="2400" spc="-1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qui</a:t>
            </a: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0540" y="1624329"/>
            <a:ext cx="7072630" cy="2676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78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entury Schoolbook"/>
                <a:cs typeface="Century Schoolbook"/>
              </a:rPr>
              <a:t>n’ont </a:t>
            </a:r>
            <a:r>
              <a:rPr sz="2400" spc="-5" dirty="0">
                <a:latin typeface="Century Schoolbook"/>
                <a:cs typeface="Century Schoolbook"/>
              </a:rPr>
              <a:t>pas d’attributs </a:t>
            </a:r>
            <a:r>
              <a:rPr sz="2400" dirty="0">
                <a:latin typeface="Century Schoolbook"/>
                <a:cs typeface="Century Schoolbook"/>
              </a:rPr>
              <a:t>utiles </a:t>
            </a:r>
            <a:r>
              <a:rPr sz="2400" spc="-5" dirty="0">
                <a:latin typeface="Century Schoolbook"/>
                <a:cs typeface="Century Schoolbook"/>
              </a:rPr>
              <a:t>pour </a:t>
            </a:r>
            <a:r>
              <a:rPr sz="2400" dirty="0">
                <a:latin typeface="Century Schoolbook"/>
                <a:cs typeface="Century Schoolbook"/>
              </a:rPr>
              <a:t>le résultat</a:t>
            </a:r>
            <a:r>
              <a:rPr sz="2400" spc="-12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final</a:t>
            </a:r>
            <a:endParaRPr sz="2400">
              <a:latin typeface="Century Schoolbook"/>
              <a:cs typeface="Century Schoolbook"/>
            </a:endParaRPr>
          </a:p>
          <a:p>
            <a:pPr marL="312420" indent="-274320">
              <a:lnSpc>
                <a:spcPts val="2745"/>
              </a:lnSpc>
              <a:spcBef>
                <a:spcPts val="235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31242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Exemple</a:t>
            </a:r>
            <a:endParaRPr sz="2400">
              <a:latin typeface="Century Schoolbook"/>
              <a:cs typeface="Century Schoolbook"/>
            </a:endParaRPr>
          </a:p>
          <a:p>
            <a:pPr marL="678180">
              <a:lnSpc>
                <a:spcPts val="2265"/>
              </a:lnSpc>
            </a:pPr>
            <a:r>
              <a:rPr sz="2000" spc="-5" dirty="0">
                <a:latin typeface="Courier New"/>
                <a:cs typeface="Courier New"/>
              </a:rPr>
              <a:t>SELECT nclient FROM Cde;</a:t>
            </a:r>
            <a:endParaRPr sz="2000">
              <a:latin typeface="Courier New"/>
              <a:cs typeface="Courier New"/>
            </a:endParaRPr>
          </a:p>
          <a:p>
            <a:pPr marL="678180" lvl="1" indent="-275590">
              <a:lnSpc>
                <a:spcPts val="2500"/>
              </a:lnSpc>
              <a:spcBef>
                <a:spcPts val="1939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78180" algn="l"/>
                <a:tab pos="678815" algn="l"/>
              </a:tabLst>
            </a:pPr>
            <a:r>
              <a:rPr sz="2100" dirty="0">
                <a:latin typeface="Century Schoolbook"/>
                <a:cs typeface="Century Schoolbook"/>
              </a:rPr>
              <a:t>Schéma </a:t>
            </a:r>
            <a:r>
              <a:rPr sz="2100" spc="-5" dirty="0">
                <a:latin typeface="Century Schoolbook"/>
                <a:cs typeface="Century Schoolbook"/>
              </a:rPr>
              <a:t>de</a:t>
            </a:r>
            <a:r>
              <a:rPr sz="2100" spc="-2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fragmentation</a:t>
            </a:r>
            <a:endParaRPr sz="2100">
              <a:latin typeface="Century Schoolbook"/>
              <a:cs typeface="Century Schoolbook"/>
            </a:endParaRPr>
          </a:p>
          <a:p>
            <a:pPr marL="678180">
              <a:lnSpc>
                <a:spcPts val="2500"/>
              </a:lnSpc>
            </a:pPr>
            <a:r>
              <a:rPr sz="3150" spc="-7" baseline="13227" dirty="0">
                <a:latin typeface="Courier New"/>
                <a:cs typeface="Courier New"/>
              </a:rPr>
              <a:t>Cde1 </a:t>
            </a:r>
            <a:r>
              <a:rPr sz="3150" baseline="13227" dirty="0">
                <a:latin typeface="Courier New"/>
                <a:cs typeface="Courier New"/>
              </a:rPr>
              <a:t>= </a:t>
            </a:r>
            <a:r>
              <a:rPr sz="3150" baseline="13227" dirty="0">
                <a:latin typeface="Symbol"/>
                <a:cs typeface="Symbol"/>
              </a:rPr>
              <a:t></a:t>
            </a:r>
            <a:r>
              <a:rPr sz="1400" dirty="0">
                <a:latin typeface="Courier New"/>
                <a:cs typeface="Courier New"/>
              </a:rPr>
              <a:t>ncde,</a:t>
            </a:r>
            <a:r>
              <a:rPr sz="1400" spc="-4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nclient</a:t>
            </a:r>
            <a:r>
              <a:rPr sz="3150" spc="-7" baseline="13227" dirty="0">
                <a:latin typeface="Courier New"/>
                <a:cs typeface="Courier New"/>
              </a:rPr>
              <a:t>(Cde)</a:t>
            </a:r>
            <a:endParaRPr sz="3150" baseline="13227">
              <a:latin typeface="Courier New"/>
              <a:cs typeface="Courier New"/>
            </a:endParaRPr>
          </a:p>
          <a:p>
            <a:pPr marL="678180">
              <a:lnSpc>
                <a:spcPct val="100000"/>
              </a:lnSpc>
              <a:spcBef>
                <a:spcPts val="1165"/>
              </a:spcBef>
            </a:pPr>
            <a:r>
              <a:rPr sz="3150" spc="-7" baseline="13227" dirty="0">
                <a:latin typeface="Courier New"/>
                <a:cs typeface="Courier New"/>
              </a:rPr>
              <a:t>Cde2 </a:t>
            </a:r>
            <a:r>
              <a:rPr sz="3150" baseline="13227" dirty="0">
                <a:latin typeface="Courier New"/>
                <a:cs typeface="Courier New"/>
              </a:rPr>
              <a:t>= </a:t>
            </a:r>
            <a:r>
              <a:rPr sz="3150" baseline="13227" dirty="0">
                <a:latin typeface="Symbol"/>
                <a:cs typeface="Symbol"/>
              </a:rPr>
              <a:t></a:t>
            </a:r>
            <a:r>
              <a:rPr sz="1400" dirty="0">
                <a:latin typeface="Courier New"/>
                <a:cs typeface="Courier New"/>
              </a:rPr>
              <a:t>ncde, </a:t>
            </a:r>
            <a:r>
              <a:rPr sz="1400" spc="-5" dirty="0">
                <a:latin typeface="Courier New"/>
                <a:cs typeface="Courier New"/>
              </a:rPr>
              <a:t>produit,</a:t>
            </a:r>
            <a:r>
              <a:rPr sz="1400" spc="-7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qté</a:t>
            </a:r>
            <a:r>
              <a:rPr sz="3150" spc="-7" baseline="13227" dirty="0">
                <a:latin typeface="Courier New"/>
                <a:cs typeface="Courier New"/>
              </a:rPr>
              <a:t>(Cde)</a:t>
            </a:r>
            <a:endParaRPr sz="3150" baseline="13227">
              <a:latin typeface="Courier New"/>
              <a:cs typeface="Courier New"/>
            </a:endParaRPr>
          </a:p>
        </p:txBody>
      </p:sp>
      <p:sp>
        <p:nvSpPr>
          <p:cNvPr id="25" name="Espace réservé du numéro de diapositive 2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12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7288" y="343522"/>
            <a:ext cx="753237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RÉDUCTION </a:t>
            </a:r>
            <a:r>
              <a:rPr sz="2400" dirty="0"/>
              <a:t>DE </a:t>
            </a:r>
            <a:r>
              <a:rPr sz="2400" spc="-5" dirty="0"/>
              <a:t>FRAGMENTATION</a:t>
            </a:r>
            <a:r>
              <a:rPr sz="2400" spc="445" dirty="0"/>
              <a:t> </a:t>
            </a:r>
            <a:r>
              <a:rPr sz="2400" spc="-10" dirty="0"/>
              <a:t>VERTICALE</a:t>
            </a:r>
            <a:endParaRPr sz="2400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368297"/>
            <a:ext cx="7321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Règle: </a:t>
            </a:r>
            <a:r>
              <a:rPr sz="2400" dirty="0">
                <a:latin typeface="Century Schoolbook"/>
                <a:cs typeface="Century Schoolbook"/>
              </a:rPr>
              <a:t>éliminer les </a:t>
            </a:r>
            <a:r>
              <a:rPr sz="2400" spc="-5" dirty="0">
                <a:latin typeface="Century Schoolbook"/>
                <a:cs typeface="Century Schoolbook"/>
              </a:rPr>
              <a:t>accès aux relations de base</a:t>
            </a:r>
            <a:r>
              <a:rPr sz="2400" spc="-11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qui</a:t>
            </a: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0540" y="1624329"/>
            <a:ext cx="7072630" cy="2676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78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entury Schoolbook"/>
                <a:cs typeface="Century Schoolbook"/>
              </a:rPr>
              <a:t>n’ont </a:t>
            </a:r>
            <a:r>
              <a:rPr sz="2400" spc="-5" dirty="0">
                <a:latin typeface="Century Schoolbook"/>
                <a:cs typeface="Century Schoolbook"/>
              </a:rPr>
              <a:t>pas d’attributs </a:t>
            </a:r>
            <a:r>
              <a:rPr sz="2400" dirty="0">
                <a:latin typeface="Century Schoolbook"/>
                <a:cs typeface="Century Schoolbook"/>
              </a:rPr>
              <a:t>utiles </a:t>
            </a:r>
            <a:r>
              <a:rPr sz="2400" spc="-5" dirty="0">
                <a:latin typeface="Century Schoolbook"/>
                <a:cs typeface="Century Schoolbook"/>
              </a:rPr>
              <a:t>pour </a:t>
            </a:r>
            <a:r>
              <a:rPr sz="2400" dirty="0">
                <a:latin typeface="Century Schoolbook"/>
                <a:cs typeface="Century Schoolbook"/>
              </a:rPr>
              <a:t>le résultat</a:t>
            </a:r>
            <a:r>
              <a:rPr sz="2400" spc="-12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final</a:t>
            </a:r>
            <a:endParaRPr sz="2400">
              <a:latin typeface="Century Schoolbook"/>
              <a:cs typeface="Century Schoolbook"/>
            </a:endParaRPr>
          </a:p>
          <a:p>
            <a:pPr marL="312420" indent="-274320">
              <a:lnSpc>
                <a:spcPts val="2745"/>
              </a:lnSpc>
              <a:spcBef>
                <a:spcPts val="235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31242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Exemple</a:t>
            </a:r>
            <a:endParaRPr sz="2400">
              <a:latin typeface="Century Schoolbook"/>
              <a:cs typeface="Century Schoolbook"/>
            </a:endParaRPr>
          </a:p>
          <a:p>
            <a:pPr marL="678180">
              <a:lnSpc>
                <a:spcPts val="2265"/>
              </a:lnSpc>
            </a:pPr>
            <a:r>
              <a:rPr sz="2000" spc="-5" dirty="0">
                <a:latin typeface="Courier New"/>
                <a:cs typeface="Courier New"/>
              </a:rPr>
              <a:t>SELECT nclient FROM Cde;</a:t>
            </a:r>
            <a:endParaRPr sz="2000">
              <a:latin typeface="Courier New"/>
              <a:cs typeface="Courier New"/>
            </a:endParaRPr>
          </a:p>
          <a:p>
            <a:pPr marL="678180" lvl="1" indent="-275590">
              <a:lnSpc>
                <a:spcPts val="2500"/>
              </a:lnSpc>
              <a:spcBef>
                <a:spcPts val="1939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78180" algn="l"/>
                <a:tab pos="678815" algn="l"/>
              </a:tabLst>
            </a:pPr>
            <a:r>
              <a:rPr sz="2100" dirty="0">
                <a:latin typeface="Century Schoolbook"/>
                <a:cs typeface="Century Schoolbook"/>
              </a:rPr>
              <a:t>Schéma </a:t>
            </a:r>
            <a:r>
              <a:rPr sz="2100" spc="-5" dirty="0">
                <a:latin typeface="Century Schoolbook"/>
                <a:cs typeface="Century Schoolbook"/>
              </a:rPr>
              <a:t>de</a:t>
            </a:r>
            <a:r>
              <a:rPr sz="2100" spc="-2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fragmentation</a:t>
            </a:r>
            <a:endParaRPr sz="2100">
              <a:latin typeface="Century Schoolbook"/>
              <a:cs typeface="Century Schoolbook"/>
            </a:endParaRPr>
          </a:p>
          <a:p>
            <a:pPr marL="678180">
              <a:lnSpc>
                <a:spcPts val="2500"/>
              </a:lnSpc>
            </a:pPr>
            <a:r>
              <a:rPr sz="3150" spc="-7" baseline="13227" dirty="0">
                <a:latin typeface="Courier New"/>
                <a:cs typeface="Courier New"/>
              </a:rPr>
              <a:t>Cde1 </a:t>
            </a:r>
            <a:r>
              <a:rPr sz="3150" baseline="13227" dirty="0">
                <a:latin typeface="Courier New"/>
                <a:cs typeface="Courier New"/>
              </a:rPr>
              <a:t>= </a:t>
            </a:r>
            <a:r>
              <a:rPr sz="3150" baseline="13227" dirty="0">
                <a:latin typeface="Symbol"/>
                <a:cs typeface="Symbol"/>
              </a:rPr>
              <a:t></a:t>
            </a:r>
            <a:r>
              <a:rPr sz="1400" dirty="0">
                <a:latin typeface="Courier New"/>
                <a:cs typeface="Courier New"/>
              </a:rPr>
              <a:t>ncde,</a:t>
            </a:r>
            <a:r>
              <a:rPr sz="1400" spc="-4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nclient</a:t>
            </a:r>
            <a:r>
              <a:rPr sz="3150" spc="-7" baseline="13227" dirty="0">
                <a:latin typeface="Courier New"/>
                <a:cs typeface="Courier New"/>
              </a:rPr>
              <a:t>(Cde)</a:t>
            </a:r>
            <a:endParaRPr sz="3150" baseline="13227">
              <a:latin typeface="Courier New"/>
              <a:cs typeface="Courier New"/>
            </a:endParaRPr>
          </a:p>
          <a:p>
            <a:pPr marL="678180">
              <a:lnSpc>
                <a:spcPct val="100000"/>
              </a:lnSpc>
              <a:spcBef>
                <a:spcPts val="1165"/>
              </a:spcBef>
            </a:pPr>
            <a:r>
              <a:rPr sz="3150" spc="-7" baseline="13227" dirty="0">
                <a:latin typeface="Courier New"/>
                <a:cs typeface="Courier New"/>
              </a:rPr>
              <a:t>Cde2 </a:t>
            </a:r>
            <a:r>
              <a:rPr sz="3150" baseline="13227" dirty="0">
                <a:latin typeface="Courier New"/>
                <a:cs typeface="Courier New"/>
              </a:rPr>
              <a:t>= </a:t>
            </a:r>
            <a:r>
              <a:rPr sz="3150" baseline="13227" dirty="0">
                <a:latin typeface="Symbol"/>
                <a:cs typeface="Symbol"/>
              </a:rPr>
              <a:t></a:t>
            </a:r>
            <a:r>
              <a:rPr sz="1400" dirty="0">
                <a:latin typeface="Courier New"/>
                <a:cs typeface="Courier New"/>
              </a:rPr>
              <a:t>ncde, </a:t>
            </a:r>
            <a:r>
              <a:rPr sz="1400" spc="-5" dirty="0">
                <a:latin typeface="Courier New"/>
                <a:cs typeface="Courier New"/>
              </a:rPr>
              <a:t>produit,</a:t>
            </a:r>
            <a:r>
              <a:rPr sz="1400" spc="-7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qté</a:t>
            </a:r>
            <a:r>
              <a:rPr sz="3150" spc="-7" baseline="13227" dirty="0">
                <a:latin typeface="Courier New"/>
                <a:cs typeface="Courier New"/>
              </a:rPr>
              <a:t>(Cde)</a:t>
            </a:r>
            <a:endParaRPr sz="3150" baseline="13227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03675" y="6457594"/>
            <a:ext cx="563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entury Schoolbook"/>
                <a:cs typeface="Century Schoolbook"/>
              </a:rPr>
              <a:t>Cde2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73120" y="6444792"/>
            <a:ext cx="563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entury Schoolbook"/>
                <a:cs typeface="Century Schoolbook"/>
              </a:rPr>
              <a:t>Cde1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62884" y="6094476"/>
            <a:ext cx="203200" cy="269875"/>
          </a:xfrm>
          <a:custGeom>
            <a:avLst/>
            <a:gdLst/>
            <a:ahLst/>
            <a:cxnLst/>
            <a:rect l="l" t="t" r="r" b="b"/>
            <a:pathLst>
              <a:path w="203200" h="269875">
                <a:moveTo>
                  <a:pt x="202691" y="0"/>
                </a:moveTo>
                <a:lnTo>
                  <a:pt x="0" y="269748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49267" y="6094476"/>
            <a:ext cx="166370" cy="269875"/>
          </a:xfrm>
          <a:custGeom>
            <a:avLst/>
            <a:gdLst/>
            <a:ahLst/>
            <a:cxnLst/>
            <a:rect l="l" t="t" r="r" b="b"/>
            <a:pathLst>
              <a:path w="166370" h="269875">
                <a:moveTo>
                  <a:pt x="0" y="0"/>
                </a:moveTo>
                <a:lnTo>
                  <a:pt x="166116" y="2697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23132" y="5422391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0"/>
                </a:moveTo>
                <a:lnTo>
                  <a:pt x="0" y="2575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562350" y="4874767"/>
            <a:ext cx="10052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Symbol"/>
                <a:cs typeface="Symbol"/>
              </a:rPr>
              <a:t></a:t>
            </a:r>
            <a:r>
              <a:rPr sz="1800" spc="-5" dirty="0">
                <a:latin typeface="Century Schoolbook"/>
                <a:cs typeface="Century Schoolbook"/>
              </a:rPr>
              <a:t>nclient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76244" y="5698235"/>
            <a:ext cx="0" cy="312420"/>
          </a:xfrm>
          <a:custGeom>
            <a:avLst/>
            <a:gdLst/>
            <a:ahLst/>
            <a:cxnLst/>
            <a:rect l="l" t="t" r="r" b="b"/>
            <a:pathLst>
              <a:path h="312420">
                <a:moveTo>
                  <a:pt x="0" y="0"/>
                </a:moveTo>
                <a:lnTo>
                  <a:pt x="0" y="31241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71671" y="5701284"/>
            <a:ext cx="562610" cy="332740"/>
          </a:xfrm>
          <a:custGeom>
            <a:avLst/>
            <a:gdLst/>
            <a:ahLst/>
            <a:cxnLst/>
            <a:rect l="l" t="t" r="r" b="b"/>
            <a:pathLst>
              <a:path w="562610" h="332739">
                <a:moveTo>
                  <a:pt x="0" y="0"/>
                </a:moveTo>
                <a:lnTo>
                  <a:pt x="562355" y="332231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77767" y="5698235"/>
            <a:ext cx="562610" cy="332740"/>
          </a:xfrm>
          <a:custGeom>
            <a:avLst/>
            <a:gdLst/>
            <a:ahLst/>
            <a:cxnLst/>
            <a:rect l="l" t="t" r="r" b="b"/>
            <a:pathLst>
              <a:path w="562610" h="332739">
                <a:moveTo>
                  <a:pt x="562356" y="0"/>
                </a:moveTo>
                <a:lnTo>
                  <a:pt x="0" y="332231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34028" y="5693664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0"/>
                </a:moveTo>
                <a:lnTo>
                  <a:pt x="0" y="31394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520821" y="5949492"/>
            <a:ext cx="4565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entury Schoolbook"/>
                <a:cs typeface="Century Schoolbook"/>
              </a:rPr>
              <a:t>nc</a:t>
            </a:r>
            <a:r>
              <a:rPr sz="1600" spc="-15" dirty="0">
                <a:latin typeface="Century Schoolbook"/>
                <a:cs typeface="Century Schoolbook"/>
              </a:rPr>
              <a:t>d</a:t>
            </a:r>
            <a:r>
              <a:rPr sz="1600" spc="-5" dirty="0">
                <a:latin typeface="Century Schoolbook"/>
                <a:cs typeface="Century Schoolbook"/>
              </a:rPr>
              <a:t>e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54123" y="5574791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0"/>
                </a:moveTo>
                <a:lnTo>
                  <a:pt x="0" y="2575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502407" y="5626608"/>
            <a:ext cx="622300" cy="355600"/>
          </a:xfrm>
          <a:custGeom>
            <a:avLst/>
            <a:gdLst/>
            <a:ahLst/>
            <a:cxnLst/>
            <a:rect l="l" t="t" r="r" b="b"/>
            <a:pathLst>
              <a:path w="622300" h="355600">
                <a:moveTo>
                  <a:pt x="0" y="88772"/>
                </a:moveTo>
                <a:lnTo>
                  <a:pt x="466471" y="88772"/>
                </a:lnTo>
                <a:lnTo>
                  <a:pt x="466471" y="0"/>
                </a:lnTo>
                <a:lnTo>
                  <a:pt x="621792" y="177545"/>
                </a:lnTo>
                <a:lnTo>
                  <a:pt x="466471" y="355091"/>
                </a:lnTo>
                <a:lnTo>
                  <a:pt x="466471" y="266318"/>
                </a:lnTo>
                <a:lnTo>
                  <a:pt x="0" y="266318"/>
                </a:lnTo>
                <a:lnTo>
                  <a:pt x="0" y="8877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19371" y="6336791"/>
            <a:ext cx="364490" cy="521334"/>
          </a:xfrm>
          <a:custGeom>
            <a:avLst/>
            <a:gdLst/>
            <a:ahLst/>
            <a:cxnLst/>
            <a:rect l="l" t="t" r="r" b="b"/>
            <a:pathLst>
              <a:path w="364489" h="521334">
                <a:moveTo>
                  <a:pt x="0" y="0"/>
                </a:moveTo>
                <a:lnTo>
                  <a:pt x="364236" y="521207"/>
                </a:lnTo>
              </a:path>
            </a:pathLst>
          </a:custGeom>
          <a:ln w="579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88891" y="6336791"/>
            <a:ext cx="364490" cy="521334"/>
          </a:xfrm>
          <a:custGeom>
            <a:avLst/>
            <a:gdLst/>
            <a:ahLst/>
            <a:cxnLst/>
            <a:rect l="l" t="t" r="r" b="b"/>
            <a:pathLst>
              <a:path w="364489" h="521334">
                <a:moveTo>
                  <a:pt x="364236" y="0"/>
                </a:moveTo>
                <a:lnTo>
                  <a:pt x="0" y="521207"/>
                </a:lnTo>
              </a:path>
            </a:pathLst>
          </a:custGeom>
          <a:ln w="579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762500" y="5638800"/>
            <a:ext cx="622300" cy="355600"/>
          </a:xfrm>
          <a:custGeom>
            <a:avLst/>
            <a:gdLst/>
            <a:ahLst/>
            <a:cxnLst/>
            <a:rect l="l" t="t" r="r" b="b"/>
            <a:pathLst>
              <a:path w="622300" h="355600">
                <a:moveTo>
                  <a:pt x="0" y="88772"/>
                </a:moveTo>
                <a:lnTo>
                  <a:pt x="466471" y="88772"/>
                </a:lnTo>
                <a:lnTo>
                  <a:pt x="466471" y="0"/>
                </a:lnTo>
                <a:lnTo>
                  <a:pt x="621791" y="177546"/>
                </a:lnTo>
                <a:lnTo>
                  <a:pt x="466471" y="355091"/>
                </a:lnTo>
                <a:lnTo>
                  <a:pt x="466471" y="266319"/>
                </a:lnTo>
                <a:lnTo>
                  <a:pt x="0" y="266319"/>
                </a:lnTo>
                <a:lnTo>
                  <a:pt x="0" y="8877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539366" y="5898591"/>
            <a:ext cx="4894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44035" algn="l"/>
              </a:tabLst>
            </a:pPr>
            <a:r>
              <a:rPr sz="1800" spc="-5" dirty="0">
                <a:latin typeface="Century Schoolbook"/>
                <a:cs typeface="Century Schoolbook"/>
              </a:rPr>
              <a:t>Cd</a:t>
            </a:r>
            <a:r>
              <a:rPr sz="1800" dirty="0">
                <a:latin typeface="Century Schoolbook"/>
                <a:cs typeface="Century Schoolbook"/>
              </a:rPr>
              <a:t>e	</a:t>
            </a:r>
            <a:r>
              <a:rPr sz="1800" spc="-5" dirty="0">
                <a:latin typeface="Century Schoolbook"/>
                <a:cs typeface="Century Schoolbook"/>
              </a:rPr>
              <a:t>Cde1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085332" y="5574791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0"/>
                </a:moveTo>
                <a:lnTo>
                  <a:pt x="0" y="2575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593596" y="5027167"/>
            <a:ext cx="53365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43400" algn="l"/>
              </a:tabLst>
            </a:pPr>
            <a:r>
              <a:rPr sz="3600" spc="-5" dirty="0">
                <a:latin typeface="Symbol"/>
                <a:cs typeface="Symbol"/>
              </a:rPr>
              <a:t></a:t>
            </a:r>
            <a:r>
              <a:rPr sz="1800" spc="-5" dirty="0">
                <a:latin typeface="Century Schoolbook"/>
                <a:cs typeface="Century Schoolbook"/>
              </a:rPr>
              <a:t>nclient	</a:t>
            </a:r>
            <a:r>
              <a:rPr sz="3600" spc="-5" dirty="0">
                <a:latin typeface="Symbol"/>
                <a:cs typeface="Symbol"/>
              </a:rPr>
              <a:t></a:t>
            </a:r>
            <a:r>
              <a:rPr sz="1800" spc="-5" dirty="0">
                <a:latin typeface="Century Schoolbook"/>
                <a:cs typeface="Century Schoolbook"/>
              </a:rPr>
              <a:t>nclient</a:t>
            </a:r>
            <a:endParaRPr sz="1800" dirty="0">
              <a:latin typeface="Century Schoolbook"/>
              <a:cs typeface="Century Schoolbook"/>
            </a:endParaRPr>
          </a:p>
        </p:txBody>
      </p:sp>
      <p:sp>
        <p:nvSpPr>
          <p:cNvPr id="25" name="Espace réservé du numéro de diapositive 2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13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0141" y="419861"/>
            <a:ext cx="753046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dirty="0"/>
              <a:t>R</a:t>
            </a:r>
            <a:r>
              <a:rPr sz="2000" dirty="0"/>
              <a:t>ÉDUCTION POUR LA FRAGMENTATION HORIZONTALE  DÉRIVÉE</a:t>
            </a:r>
            <a:r>
              <a:rPr sz="2000" spc="114" dirty="0"/>
              <a:t> </a:t>
            </a:r>
            <a:r>
              <a:rPr sz="2500" spc="-5" dirty="0"/>
              <a:t>(1)</a:t>
            </a:r>
            <a:endParaRPr sz="2500"/>
          </a:p>
        </p:txBody>
      </p:sp>
      <p:sp>
        <p:nvSpPr>
          <p:cNvPr id="4" name="object 4"/>
          <p:cNvSpPr txBox="1"/>
          <p:nvPr/>
        </p:nvSpPr>
        <p:spPr>
          <a:xfrm>
            <a:off x="544474" y="5758992"/>
            <a:ext cx="3301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32990" algn="l"/>
              </a:tabLst>
            </a:pPr>
            <a:r>
              <a:rPr sz="1800" spc="-5" dirty="0">
                <a:latin typeface="Courier New"/>
                <a:cs typeface="Courier New"/>
              </a:rPr>
              <a:t>Cd</a:t>
            </a:r>
            <a:r>
              <a:rPr sz="1800" spc="-15" dirty="0">
                <a:latin typeface="Courier New"/>
                <a:cs typeface="Courier New"/>
              </a:rPr>
              <a:t>e</a:t>
            </a:r>
            <a:r>
              <a:rPr sz="1800" dirty="0">
                <a:latin typeface="Courier New"/>
                <a:cs typeface="Courier New"/>
              </a:rPr>
              <a:t>2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15" dirty="0">
                <a:latin typeface="Courier New"/>
                <a:cs typeface="Courier New"/>
              </a:rPr>
              <a:t>C</a:t>
            </a:r>
            <a:r>
              <a:rPr sz="1800" spc="-5" dirty="0">
                <a:latin typeface="Courier New"/>
                <a:cs typeface="Courier New"/>
              </a:rPr>
              <a:t>d</a:t>
            </a:r>
            <a:r>
              <a:rPr sz="1800" dirty="0">
                <a:latin typeface="Courier New"/>
                <a:cs typeface="Courier New"/>
              </a:rPr>
              <a:t>e	</a:t>
            </a:r>
            <a:r>
              <a:rPr sz="1800" spc="-5" dirty="0">
                <a:latin typeface="Courier New"/>
                <a:cs typeface="Courier New"/>
              </a:rPr>
              <a:t>C</a:t>
            </a:r>
            <a:r>
              <a:rPr sz="1800" spc="-15" dirty="0">
                <a:latin typeface="Courier New"/>
                <a:cs typeface="Courier New"/>
              </a:rPr>
              <a:t>l</a:t>
            </a:r>
            <a:r>
              <a:rPr sz="1800" spc="-5" dirty="0">
                <a:latin typeface="Courier New"/>
                <a:cs typeface="Courier New"/>
              </a:rPr>
              <a:t>i</a:t>
            </a:r>
            <a:r>
              <a:rPr sz="1800" spc="-15" dirty="0">
                <a:latin typeface="Courier New"/>
                <a:cs typeface="Courier New"/>
              </a:rPr>
              <a:t>en</a:t>
            </a:r>
            <a:r>
              <a:rPr sz="1800" spc="-5" dirty="0">
                <a:latin typeface="Courier New"/>
                <a:cs typeface="Courier New"/>
              </a:rPr>
              <a:t>t2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04060" y="5212079"/>
            <a:ext cx="0" cy="312420"/>
          </a:xfrm>
          <a:custGeom>
            <a:avLst/>
            <a:gdLst/>
            <a:ahLst/>
            <a:cxnLst/>
            <a:rect l="l" t="t" r="r" b="b"/>
            <a:pathLst>
              <a:path h="312420">
                <a:moveTo>
                  <a:pt x="0" y="0"/>
                </a:moveTo>
                <a:lnTo>
                  <a:pt x="0" y="31242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96439" y="5215128"/>
            <a:ext cx="828040" cy="334010"/>
          </a:xfrm>
          <a:custGeom>
            <a:avLst/>
            <a:gdLst/>
            <a:ahLst/>
            <a:cxnLst/>
            <a:rect l="l" t="t" r="r" b="b"/>
            <a:pathLst>
              <a:path w="828039" h="334010">
                <a:moveTo>
                  <a:pt x="0" y="0"/>
                </a:moveTo>
                <a:lnTo>
                  <a:pt x="827532" y="3337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05583" y="5212079"/>
            <a:ext cx="826135" cy="334010"/>
          </a:xfrm>
          <a:custGeom>
            <a:avLst/>
            <a:gdLst/>
            <a:ahLst/>
            <a:cxnLst/>
            <a:rect l="l" t="t" r="r" b="b"/>
            <a:pathLst>
              <a:path w="826135" h="334010">
                <a:moveTo>
                  <a:pt x="826008" y="0"/>
                </a:moveTo>
                <a:lnTo>
                  <a:pt x="0" y="3337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2440" y="1450594"/>
            <a:ext cx="7797165" cy="426466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49885" marR="30480" indent="-274320">
              <a:lnSpc>
                <a:spcPts val="1939"/>
              </a:lnSpc>
              <a:spcBef>
                <a:spcPts val="345"/>
              </a:spcBef>
              <a:buClr>
                <a:srgbClr val="FD8537"/>
              </a:buClr>
              <a:buSzPct val="69444"/>
              <a:buFont typeface="Wingdings"/>
              <a:buChar char=""/>
              <a:tabLst>
                <a:tab pos="349885" algn="l"/>
                <a:tab pos="350520" algn="l"/>
              </a:tabLst>
            </a:pPr>
            <a:r>
              <a:rPr sz="1800" spc="-5" dirty="0">
                <a:latin typeface="Century Schoolbook"/>
                <a:cs typeface="Century Schoolbook"/>
              </a:rPr>
              <a:t>Règle </a:t>
            </a:r>
            <a:r>
              <a:rPr sz="1800" dirty="0">
                <a:latin typeface="Century Schoolbook"/>
                <a:cs typeface="Century Schoolbook"/>
              </a:rPr>
              <a:t>: </a:t>
            </a:r>
            <a:r>
              <a:rPr sz="1800" spc="-5" dirty="0">
                <a:latin typeface="Century Schoolbook"/>
                <a:cs typeface="Century Schoolbook"/>
              </a:rPr>
              <a:t>distribuer </a:t>
            </a:r>
            <a:r>
              <a:rPr sz="1800" dirty="0">
                <a:latin typeface="Century Schoolbook"/>
                <a:cs typeface="Century Schoolbook"/>
              </a:rPr>
              <a:t>les jointures </a:t>
            </a:r>
            <a:r>
              <a:rPr sz="1800" spc="-5" dirty="0">
                <a:latin typeface="Century Schoolbook"/>
                <a:cs typeface="Century Schoolbook"/>
              </a:rPr>
              <a:t>par </a:t>
            </a:r>
            <a:r>
              <a:rPr sz="1800" dirty="0">
                <a:latin typeface="Century Schoolbook"/>
                <a:cs typeface="Century Schoolbook"/>
              </a:rPr>
              <a:t>rapport </a:t>
            </a:r>
            <a:r>
              <a:rPr sz="1800" spc="-5" dirty="0">
                <a:latin typeface="Century Schoolbook"/>
                <a:cs typeface="Century Schoolbook"/>
              </a:rPr>
              <a:t>aux </a:t>
            </a:r>
            <a:r>
              <a:rPr sz="1800" dirty="0">
                <a:latin typeface="Century Schoolbook"/>
                <a:cs typeface="Century Schoolbook"/>
              </a:rPr>
              <a:t>unions et </a:t>
            </a:r>
            <a:r>
              <a:rPr sz="1800" spc="-5" dirty="0">
                <a:latin typeface="Century Schoolbook"/>
                <a:cs typeface="Century Schoolbook"/>
              </a:rPr>
              <a:t>appliquer </a:t>
            </a:r>
            <a:r>
              <a:rPr sz="1800" dirty="0">
                <a:latin typeface="Century Schoolbook"/>
                <a:cs typeface="Century Schoolbook"/>
              </a:rPr>
              <a:t>les  réductions </a:t>
            </a:r>
            <a:r>
              <a:rPr sz="1800" spc="-5" dirty="0">
                <a:latin typeface="Century Schoolbook"/>
                <a:cs typeface="Century Schoolbook"/>
              </a:rPr>
              <a:t>pour </a:t>
            </a:r>
            <a:r>
              <a:rPr sz="1800" dirty="0">
                <a:latin typeface="Century Schoolbook"/>
                <a:cs typeface="Century Schoolbook"/>
              </a:rPr>
              <a:t>la </a:t>
            </a:r>
            <a:r>
              <a:rPr sz="1800" spc="-5" dirty="0">
                <a:latin typeface="Century Schoolbook"/>
                <a:cs typeface="Century Schoolbook"/>
              </a:rPr>
              <a:t>fragmentation</a:t>
            </a:r>
            <a:r>
              <a:rPr sz="1800" spc="-10" dirty="0">
                <a:latin typeface="Century Schoolbook"/>
                <a:cs typeface="Century Schoolbook"/>
              </a:rPr>
              <a:t> </a:t>
            </a:r>
            <a:r>
              <a:rPr sz="1800" spc="-5" dirty="0">
                <a:latin typeface="Century Schoolbook"/>
                <a:cs typeface="Century Schoolbook"/>
              </a:rPr>
              <a:t>horizontale</a:t>
            </a:r>
            <a:endParaRPr sz="1800">
              <a:latin typeface="Century Schoolbook"/>
              <a:cs typeface="Century Schoolbook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8537"/>
              </a:buClr>
              <a:buFont typeface="Wingdings"/>
              <a:buChar char=""/>
            </a:pPr>
            <a:endParaRPr sz="2150">
              <a:latin typeface="Times New Roman"/>
              <a:cs typeface="Times New Roman"/>
            </a:endParaRPr>
          </a:p>
          <a:p>
            <a:pPr marL="349885" marR="6316980" indent="-274320">
              <a:lnSpc>
                <a:spcPct val="117800"/>
              </a:lnSpc>
              <a:buClr>
                <a:srgbClr val="FD8537"/>
              </a:buClr>
              <a:buSzPct val="69444"/>
              <a:buFont typeface="Wingdings"/>
              <a:buChar char=""/>
              <a:tabLst>
                <a:tab pos="349885" algn="l"/>
                <a:tab pos="350520" algn="l"/>
              </a:tabLst>
            </a:pPr>
            <a:r>
              <a:rPr sz="1800" spc="-5" dirty="0">
                <a:latin typeface="Century Schoolbook"/>
                <a:cs typeface="Century Schoolbook"/>
              </a:rPr>
              <a:t>Exemple  </a:t>
            </a:r>
            <a:r>
              <a:rPr sz="1800" spc="-10" dirty="0">
                <a:latin typeface="Century Schoolbook"/>
                <a:cs typeface="Century Schoolbook"/>
              </a:rPr>
              <a:t>SELECT</a:t>
            </a:r>
            <a:r>
              <a:rPr sz="1800" spc="-65" dirty="0">
                <a:latin typeface="Century Schoolbook"/>
                <a:cs typeface="Century Schoolbook"/>
              </a:rPr>
              <a:t> </a:t>
            </a:r>
            <a:r>
              <a:rPr sz="1800" dirty="0">
                <a:latin typeface="Century Schoolbook"/>
                <a:cs typeface="Century Schoolbook"/>
              </a:rPr>
              <a:t>*</a:t>
            </a:r>
            <a:endParaRPr sz="1800">
              <a:latin typeface="Century Schoolbook"/>
              <a:cs typeface="Century Schoolbook"/>
            </a:endParaRPr>
          </a:p>
          <a:p>
            <a:pPr marL="349885">
              <a:lnSpc>
                <a:spcPct val="100000"/>
              </a:lnSpc>
              <a:spcBef>
                <a:spcPts val="385"/>
              </a:spcBef>
            </a:pPr>
            <a:r>
              <a:rPr sz="1800" dirty="0">
                <a:latin typeface="Century Schoolbook"/>
                <a:cs typeface="Century Schoolbook"/>
              </a:rPr>
              <a:t>FROM </a:t>
            </a:r>
            <a:r>
              <a:rPr sz="1800" spc="-5" dirty="0">
                <a:latin typeface="Century Schoolbook"/>
                <a:cs typeface="Century Schoolbook"/>
              </a:rPr>
              <a:t>Client,</a:t>
            </a:r>
            <a:r>
              <a:rPr sz="1800" dirty="0">
                <a:latin typeface="Century Schoolbook"/>
                <a:cs typeface="Century Schoolbook"/>
              </a:rPr>
              <a:t> </a:t>
            </a:r>
            <a:r>
              <a:rPr sz="1800" spc="-5" dirty="0">
                <a:latin typeface="Century Schoolbook"/>
                <a:cs typeface="Century Schoolbook"/>
              </a:rPr>
              <a:t>Cde</a:t>
            </a:r>
            <a:endParaRPr sz="1800">
              <a:latin typeface="Century Schoolbook"/>
              <a:cs typeface="Century Schoolbook"/>
            </a:endParaRPr>
          </a:p>
          <a:p>
            <a:pPr marL="349885">
              <a:lnSpc>
                <a:spcPct val="100000"/>
              </a:lnSpc>
              <a:spcBef>
                <a:spcPts val="385"/>
              </a:spcBef>
            </a:pPr>
            <a:r>
              <a:rPr sz="1800" spc="-5" dirty="0">
                <a:latin typeface="Century Schoolbook"/>
                <a:cs typeface="Century Schoolbook"/>
              </a:rPr>
              <a:t>WHERE Client.nclient </a:t>
            </a:r>
            <a:r>
              <a:rPr sz="1800" dirty="0">
                <a:latin typeface="Century Schoolbook"/>
                <a:cs typeface="Century Schoolbook"/>
              </a:rPr>
              <a:t>= </a:t>
            </a:r>
            <a:r>
              <a:rPr sz="1800" spc="-5" dirty="0">
                <a:latin typeface="Century Schoolbook"/>
                <a:cs typeface="Century Schoolbook"/>
              </a:rPr>
              <a:t>Cde.nclient AND Ville </a:t>
            </a:r>
            <a:r>
              <a:rPr sz="1800" dirty="0">
                <a:latin typeface="Century Schoolbook"/>
                <a:cs typeface="Century Schoolbook"/>
              </a:rPr>
              <a:t>= </a:t>
            </a:r>
            <a:r>
              <a:rPr sz="1800" spc="-10" dirty="0">
                <a:latin typeface="Century Schoolbook"/>
                <a:cs typeface="Century Schoolbook"/>
              </a:rPr>
              <a:t>‘Paris’;</a:t>
            </a:r>
            <a:endParaRPr sz="1800">
              <a:latin typeface="Century Schoolbook"/>
              <a:cs typeface="Century Schoolbook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00">
              <a:latin typeface="Times New Roman"/>
              <a:cs typeface="Times New Roman"/>
            </a:endParaRPr>
          </a:p>
          <a:p>
            <a:pPr marL="76200" marR="4187190">
              <a:lnSpc>
                <a:spcPct val="84500"/>
              </a:lnSpc>
              <a:buClr>
                <a:srgbClr val="FD8537"/>
              </a:buClr>
              <a:buSzPct val="69444"/>
              <a:buFont typeface="Wingdings"/>
              <a:buChar char=""/>
              <a:tabLst>
                <a:tab pos="349885" algn="l"/>
                <a:tab pos="350520" algn="l"/>
              </a:tabLst>
            </a:pPr>
            <a:r>
              <a:rPr sz="1800" spc="-5" dirty="0">
                <a:latin typeface="Century Schoolbook"/>
                <a:cs typeface="Century Schoolbook"/>
              </a:rPr>
              <a:t>Schémas de fragmentation  </a:t>
            </a:r>
            <a:r>
              <a:rPr sz="1600" spc="-5" dirty="0">
                <a:latin typeface="Courier New"/>
                <a:cs typeface="Courier New"/>
              </a:rPr>
              <a:t>Client1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=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3600" dirty="0">
                <a:latin typeface="Symbol"/>
                <a:cs typeface="Symbol"/>
              </a:rPr>
              <a:t></a:t>
            </a:r>
            <a:r>
              <a:rPr sz="1575" spc="7" baseline="-21164" dirty="0">
                <a:latin typeface="Courier New"/>
                <a:cs typeface="Courier New"/>
              </a:rPr>
              <a:t>vill</a:t>
            </a:r>
            <a:r>
              <a:rPr sz="1575" spc="15" baseline="-21164" dirty="0">
                <a:latin typeface="Courier New"/>
                <a:cs typeface="Courier New"/>
              </a:rPr>
              <a:t>e =</a:t>
            </a:r>
            <a:r>
              <a:rPr sz="1575" baseline="-21164" dirty="0">
                <a:latin typeface="Courier New"/>
                <a:cs typeface="Courier New"/>
              </a:rPr>
              <a:t> </a:t>
            </a:r>
            <a:r>
              <a:rPr sz="1575" spc="7" baseline="-21164" dirty="0">
                <a:latin typeface="Courier New"/>
                <a:cs typeface="Courier New"/>
              </a:rPr>
              <a:t>Lyo</a:t>
            </a:r>
            <a:r>
              <a:rPr sz="1575" baseline="-21164" dirty="0">
                <a:latin typeface="Courier New"/>
                <a:cs typeface="Courier New"/>
              </a:rPr>
              <a:t>n</a:t>
            </a:r>
            <a:r>
              <a:rPr sz="1600" spc="-5" dirty="0">
                <a:latin typeface="Courier New"/>
                <a:cs typeface="Courier New"/>
              </a:rPr>
              <a:t>(Client)  Client2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=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3600" spc="-5" dirty="0">
                <a:latin typeface="Symbol"/>
                <a:cs typeface="Symbol"/>
              </a:rPr>
              <a:t></a:t>
            </a:r>
            <a:r>
              <a:rPr sz="1575" spc="7" baseline="-21164" dirty="0">
                <a:latin typeface="Courier New"/>
                <a:cs typeface="Courier New"/>
              </a:rPr>
              <a:t>vill</a:t>
            </a:r>
            <a:r>
              <a:rPr sz="1575" spc="15" baseline="-21164" dirty="0">
                <a:latin typeface="Courier New"/>
                <a:cs typeface="Courier New"/>
              </a:rPr>
              <a:t>e </a:t>
            </a:r>
            <a:r>
              <a:rPr sz="1575" spc="7" baseline="-21164" dirty="0">
                <a:latin typeface="Courier New"/>
                <a:cs typeface="Courier New"/>
              </a:rPr>
              <a:t>!</a:t>
            </a:r>
            <a:r>
              <a:rPr sz="1575" spc="15" baseline="-21164" dirty="0">
                <a:latin typeface="Courier New"/>
                <a:cs typeface="Courier New"/>
              </a:rPr>
              <a:t>=</a:t>
            </a:r>
            <a:r>
              <a:rPr sz="1575" baseline="-21164" dirty="0">
                <a:latin typeface="Courier New"/>
                <a:cs typeface="Courier New"/>
              </a:rPr>
              <a:t> </a:t>
            </a:r>
            <a:r>
              <a:rPr sz="1575" spc="7" baseline="-21164" dirty="0">
                <a:latin typeface="Courier New"/>
                <a:cs typeface="Courier New"/>
              </a:rPr>
              <a:t>Lyo</a:t>
            </a:r>
            <a:r>
              <a:rPr sz="1575" baseline="-21164" dirty="0">
                <a:latin typeface="Courier New"/>
                <a:cs typeface="Courier New"/>
              </a:rPr>
              <a:t>n</a:t>
            </a:r>
            <a:r>
              <a:rPr sz="1600" spc="-5" dirty="0">
                <a:latin typeface="Courier New"/>
                <a:cs typeface="Courier New"/>
              </a:rPr>
              <a:t>(Client)</a:t>
            </a:r>
            <a:endParaRPr sz="1600">
              <a:latin typeface="Courier New"/>
              <a:cs typeface="Courier New"/>
            </a:endParaRPr>
          </a:p>
          <a:p>
            <a:pPr marL="84455">
              <a:lnSpc>
                <a:spcPts val="2145"/>
              </a:lnSpc>
              <a:tabLst>
                <a:tab pos="2404745" algn="l"/>
              </a:tabLst>
            </a:pPr>
            <a:r>
              <a:rPr sz="1800" spc="-10" dirty="0">
                <a:latin typeface="Courier New"/>
                <a:cs typeface="Courier New"/>
              </a:rPr>
              <a:t>Cde1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Cde	Client1</a:t>
            </a:r>
            <a:endParaRPr sz="1800">
              <a:latin typeface="Courier New"/>
              <a:cs typeface="Courier New"/>
            </a:endParaRPr>
          </a:p>
          <a:p>
            <a:pPr marL="1600200">
              <a:lnSpc>
                <a:spcPct val="100000"/>
              </a:lnSpc>
              <a:spcBef>
                <a:spcPts val="525"/>
              </a:spcBef>
            </a:pPr>
            <a:r>
              <a:rPr sz="1200" dirty="0">
                <a:latin typeface="Courier New"/>
                <a:cs typeface="Courier New"/>
              </a:rPr>
              <a:t>nclient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28444" y="5795771"/>
            <a:ext cx="0" cy="312420"/>
          </a:xfrm>
          <a:custGeom>
            <a:avLst/>
            <a:gdLst/>
            <a:ahLst/>
            <a:cxnLst/>
            <a:rect l="l" t="t" r="r" b="b"/>
            <a:pathLst>
              <a:path h="312420">
                <a:moveTo>
                  <a:pt x="0" y="0"/>
                </a:moveTo>
                <a:lnTo>
                  <a:pt x="0" y="31241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22348" y="5798820"/>
            <a:ext cx="828040" cy="334010"/>
          </a:xfrm>
          <a:custGeom>
            <a:avLst/>
            <a:gdLst/>
            <a:ahLst/>
            <a:cxnLst/>
            <a:rect l="l" t="t" r="r" b="b"/>
            <a:pathLst>
              <a:path w="828039" h="334010">
                <a:moveTo>
                  <a:pt x="0" y="0"/>
                </a:moveTo>
                <a:lnTo>
                  <a:pt x="827532" y="33375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29967" y="5795771"/>
            <a:ext cx="828040" cy="334010"/>
          </a:xfrm>
          <a:custGeom>
            <a:avLst/>
            <a:gdLst/>
            <a:ahLst/>
            <a:cxnLst/>
            <a:rect l="l" t="t" r="r" b="b"/>
            <a:pathLst>
              <a:path w="828039" h="334010">
                <a:moveTo>
                  <a:pt x="827532" y="0"/>
                </a:moveTo>
                <a:lnTo>
                  <a:pt x="0" y="33375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085594" y="6091224"/>
            <a:ext cx="668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ourier New"/>
                <a:cs typeface="Courier New"/>
              </a:rPr>
              <a:t>nc</a:t>
            </a:r>
            <a:r>
              <a:rPr sz="1200" spc="10" dirty="0">
                <a:latin typeface="Courier New"/>
                <a:cs typeface="Courier New"/>
              </a:rPr>
              <a:t>l</a:t>
            </a:r>
            <a:r>
              <a:rPr sz="1200" spc="-5" dirty="0">
                <a:latin typeface="Courier New"/>
                <a:cs typeface="Courier New"/>
              </a:rPr>
              <a:t>ie</a:t>
            </a:r>
            <a:r>
              <a:rPr sz="1200" spc="10" dirty="0">
                <a:latin typeface="Courier New"/>
                <a:cs typeface="Courier New"/>
              </a:rPr>
              <a:t>n</a:t>
            </a:r>
            <a:r>
              <a:rPr sz="1200" dirty="0">
                <a:latin typeface="Courier New"/>
                <a:cs typeface="Courier New"/>
              </a:rPr>
              <a:t>t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14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87783" y="6655307"/>
            <a:ext cx="0" cy="203200"/>
          </a:xfrm>
          <a:custGeom>
            <a:avLst/>
            <a:gdLst/>
            <a:ahLst/>
            <a:cxnLst/>
            <a:rect l="l" t="t" r="r" b="b"/>
            <a:pathLst>
              <a:path h="203200">
                <a:moveTo>
                  <a:pt x="0" y="0"/>
                </a:moveTo>
                <a:lnTo>
                  <a:pt x="0" y="202689"/>
                </a:lnTo>
              </a:path>
            </a:pathLst>
          </a:custGeom>
          <a:ln w="34748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035" y="6655307"/>
            <a:ext cx="0" cy="203200"/>
          </a:xfrm>
          <a:custGeom>
            <a:avLst/>
            <a:gdLst/>
            <a:ahLst/>
            <a:cxnLst/>
            <a:rect l="l" t="t" r="r" b="b"/>
            <a:pathLst>
              <a:path h="203200">
                <a:moveTo>
                  <a:pt x="0" y="0"/>
                </a:moveTo>
                <a:lnTo>
                  <a:pt x="0" y="202689"/>
                </a:lnTo>
              </a:path>
            </a:pathLst>
          </a:custGeom>
          <a:ln w="11583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4000" y="1283208"/>
            <a:ext cx="2565400" cy="5372100"/>
          </a:xfrm>
          <a:custGeom>
            <a:avLst/>
            <a:gdLst/>
            <a:ahLst/>
            <a:cxnLst/>
            <a:rect l="l" t="t" r="r" b="b"/>
            <a:pathLst>
              <a:path w="2565400" h="5372100">
                <a:moveTo>
                  <a:pt x="0" y="5372100"/>
                </a:moveTo>
                <a:lnTo>
                  <a:pt x="2564892" y="5372100"/>
                </a:lnTo>
                <a:lnTo>
                  <a:pt x="2564892" y="0"/>
                </a:lnTo>
                <a:lnTo>
                  <a:pt x="0" y="0"/>
                </a:lnTo>
                <a:lnTo>
                  <a:pt x="0" y="53721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4000" y="1283208"/>
            <a:ext cx="2565400" cy="5372100"/>
          </a:xfrm>
          <a:custGeom>
            <a:avLst/>
            <a:gdLst/>
            <a:ahLst/>
            <a:cxnLst/>
            <a:rect l="l" t="t" r="r" b="b"/>
            <a:pathLst>
              <a:path w="2565400" h="5372100">
                <a:moveTo>
                  <a:pt x="0" y="5372100"/>
                </a:moveTo>
                <a:lnTo>
                  <a:pt x="2564892" y="5372100"/>
                </a:lnTo>
                <a:lnTo>
                  <a:pt x="2564892" y="0"/>
                </a:lnTo>
                <a:lnTo>
                  <a:pt x="0" y="0"/>
                </a:lnTo>
                <a:lnTo>
                  <a:pt x="0" y="53721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04800" y="304800"/>
            <a:ext cx="84683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solidFill>
                  <a:srgbClr val="565F6C"/>
                </a:solidFill>
                <a:latin typeface="Century Schoolbook"/>
                <a:cs typeface="Century Schoolbook"/>
              </a:rPr>
              <a:t>R</a:t>
            </a:r>
            <a:r>
              <a:rPr sz="1900" spc="5" dirty="0">
                <a:solidFill>
                  <a:srgbClr val="565F6C"/>
                </a:solidFill>
                <a:latin typeface="Century Schoolbook"/>
                <a:cs typeface="Century Schoolbook"/>
              </a:rPr>
              <a:t>ÉDUCTION </a:t>
            </a:r>
            <a:r>
              <a:rPr sz="1900" spc="10" dirty="0">
                <a:solidFill>
                  <a:srgbClr val="565F6C"/>
                </a:solidFill>
                <a:latin typeface="Century Schoolbook"/>
                <a:cs typeface="Century Schoolbook"/>
              </a:rPr>
              <a:t>POUR </a:t>
            </a:r>
            <a:r>
              <a:rPr sz="1900" spc="15" dirty="0">
                <a:solidFill>
                  <a:srgbClr val="565F6C"/>
                </a:solidFill>
                <a:latin typeface="Century Schoolbook"/>
                <a:cs typeface="Century Schoolbook"/>
              </a:rPr>
              <a:t>LA </a:t>
            </a:r>
            <a:r>
              <a:rPr sz="1900" spc="10" dirty="0">
                <a:solidFill>
                  <a:srgbClr val="565F6C"/>
                </a:solidFill>
                <a:latin typeface="Century Schoolbook"/>
                <a:cs typeface="Century Schoolbook"/>
              </a:rPr>
              <a:t>FRAGMENTATION HORIZONTALE</a:t>
            </a:r>
            <a:r>
              <a:rPr sz="1900" spc="30" dirty="0">
                <a:solidFill>
                  <a:srgbClr val="565F6C"/>
                </a:solidFill>
                <a:latin typeface="Century Schoolbook"/>
                <a:cs typeface="Century Schoolbook"/>
              </a:rPr>
              <a:t> </a:t>
            </a:r>
            <a:r>
              <a:rPr sz="1900" spc="10" dirty="0">
                <a:solidFill>
                  <a:srgbClr val="565F6C"/>
                </a:solidFill>
                <a:latin typeface="Century Schoolbook"/>
                <a:cs typeface="Century Schoolbook"/>
              </a:rPr>
              <a:t>DÉRIVÉE</a:t>
            </a:r>
            <a:endParaRPr sz="1900" dirty="0">
              <a:latin typeface="Century Schoolbook"/>
              <a:cs typeface="Century Schoolboo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5940" y="752602"/>
            <a:ext cx="398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565F6C"/>
                </a:solidFill>
                <a:latin typeface="Century Schoolbook"/>
                <a:cs typeface="Century Schoolbook"/>
              </a:rPr>
              <a:t>(2)</a:t>
            </a: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477504" y="897382"/>
            <a:ext cx="10795" cy="22860"/>
          </a:xfrm>
          <a:custGeom>
            <a:avLst/>
            <a:gdLst/>
            <a:ahLst/>
            <a:cxnLst/>
            <a:rect l="l" t="t" r="r" b="b"/>
            <a:pathLst>
              <a:path w="10795" h="22859">
                <a:moveTo>
                  <a:pt x="0" y="0"/>
                </a:moveTo>
                <a:lnTo>
                  <a:pt x="4877" y="5568"/>
                </a:lnTo>
                <a:lnTo>
                  <a:pt x="8254" y="11207"/>
                </a:lnTo>
                <a:lnTo>
                  <a:pt x="10108" y="16894"/>
                </a:lnTo>
                <a:lnTo>
                  <a:pt x="10414" y="2260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131690" y="929132"/>
            <a:ext cx="3345179" cy="37338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70"/>
              </a:lnSpc>
              <a:spcBef>
                <a:spcPts val="100"/>
              </a:spcBef>
            </a:pPr>
            <a:r>
              <a:rPr sz="1200" spc="-5" dirty="0">
                <a:latin typeface="Century Schoolbook"/>
                <a:cs typeface="Century Schoolbook"/>
              </a:rPr>
              <a:t>SELECT </a:t>
            </a:r>
            <a:r>
              <a:rPr sz="1200" dirty="0">
                <a:latin typeface="Century Schoolbook"/>
                <a:cs typeface="Century Schoolbook"/>
              </a:rPr>
              <a:t>* </a:t>
            </a:r>
            <a:r>
              <a:rPr sz="1200" spc="-5" dirty="0">
                <a:latin typeface="Century Schoolbook"/>
                <a:cs typeface="Century Schoolbook"/>
              </a:rPr>
              <a:t>FROM Client, Cde</a:t>
            </a:r>
            <a:r>
              <a:rPr sz="1200" spc="-20" dirty="0">
                <a:latin typeface="Century Schoolbook"/>
                <a:cs typeface="Century Schoolbook"/>
              </a:rPr>
              <a:t> </a:t>
            </a:r>
            <a:r>
              <a:rPr sz="1200" spc="-5" dirty="0">
                <a:latin typeface="Century Schoolbook"/>
                <a:cs typeface="Century Schoolbook"/>
              </a:rPr>
              <a:t>WHERE</a:t>
            </a:r>
            <a:endParaRPr sz="1200" dirty="0">
              <a:latin typeface="Century Schoolbook"/>
              <a:cs typeface="Century Schoolbook"/>
            </a:endParaRPr>
          </a:p>
          <a:p>
            <a:pPr marL="12700">
              <a:lnSpc>
                <a:spcPts val="1370"/>
              </a:lnSpc>
            </a:pPr>
            <a:r>
              <a:rPr sz="1200" spc="-5" dirty="0">
                <a:latin typeface="Century Schoolbook"/>
                <a:cs typeface="Century Schoolbook"/>
              </a:rPr>
              <a:t>Client.nclient </a:t>
            </a:r>
            <a:r>
              <a:rPr sz="1200" dirty="0">
                <a:latin typeface="Century Schoolbook"/>
                <a:cs typeface="Century Schoolbook"/>
              </a:rPr>
              <a:t>= </a:t>
            </a:r>
            <a:r>
              <a:rPr sz="1200" spc="-5" dirty="0">
                <a:latin typeface="Century Schoolbook"/>
                <a:cs typeface="Century Schoolbook"/>
              </a:rPr>
              <a:t>Cde.nclient AND Ville </a:t>
            </a:r>
            <a:r>
              <a:rPr sz="1200" dirty="0">
                <a:latin typeface="Century Schoolbook"/>
                <a:cs typeface="Century Schoolbook"/>
              </a:rPr>
              <a:t>=</a:t>
            </a:r>
            <a:r>
              <a:rPr sz="1200" spc="5" dirty="0">
                <a:latin typeface="Century Schoolbook"/>
                <a:cs typeface="Century Schoolbook"/>
              </a:rPr>
              <a:t> </a:t>
            </a:r>
            <a:r>
              <a:rPr sz="1200" spc="-5" dirty="0">
                <a:latin typeface="Century Schoolbook"/>
                <a:cs typeface="Century Schoolbook"/>
              </a:rPr>
              <a:t>‘Paris’</a:t>
            </a:r>
            <a:endParaRPr sz="1200" dirty="0">
              <a:latin typeface="Century Schoolbook"/>
              <a:cs typeface="Century Schoolbook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45643" y="2354706"/>
            <a:ext cx="3771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entury Schoolbook"/>
                <a:cs typeface="Century Schoolbook"/>
              </a:rPr>
              <a:t>Cde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33983" y="2029967"/>
            <a:ext cx="203200" cy="269875"/>
          </a:xfrm>
          <a:custGeom>
            <a:avLst/>
            <a:gdLst/>
            <a:ahLst/>
            <a:cxnLst/>
            <a:rect l="l" t="t" r="r" b="b"/>
            <a:pathLst>
              <a:path w="203200" h="269875">
                <a:moveTo>
                  <a:pt x="202691" y="0"/>
                </a:moveTo>
                <a:lnTo>
                  <a:pt x="0" y="2697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420367" y="2029967"/>
            <a:ext cx="166370" cy="269875"/>
          </a:xfrm>
          <a:custGeom>
            <a:avLst/>
            <a:gdLst/>
            <a:ahLst/>
            <a:cxnLst/>
            <a:rect l="l" t="t" r="r" b="b"/>
            <a:pathLst>
              <a:path w="166369" h="269875">
                <a:moveTo>
                  <a:pt x="0" y="0"/>
                </a:moveTo>
                <a:lnTo>
                  <a:pt x="166115" y="2697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47344" y="1633727"/>
            <a:ext cx="0" cy="312420"/>
          </a:xfrm>
          <a:custGeom>
            <a:avLst/>
            <a:gdLst/>
            <a:ahLst/>
            <a:cxnLst/>
            <a:rect l="l" t="t" r="r" b="b"/>
            <a:pathLst>
              <a:path h="312419">
                <a:moveTo>
                  <a:pt x="0" y="0"/>
                </a:moveTo>
                <a:lnTo>
                  <a:pt x="0" y="31242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42772" y="1636776"/>
            <a:ext cx="562610" cy="334010"/>
          </a:xfrm>
          <a:custGeom>
            <a:avLst/>
            <a:gdLst/>
            <a:ahLst/>
            <a:cxnLst/>
            <a:rect l="l" t="t" r="r" b="b"/>
            <a:pathLst>
              <a:path w="562610" h="334010">
                <a:moveTo>
                  <a:pt x="0" y="0"/>
                </a:moveTo>
                <a:lnTo>
                  <a:pt x="562356" y="3337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48867" y="1633727"/>
            <a:ext cx="562610" cy="334010"/>
          </a:xfrm>
          <a:custGeom>
            <a:avLst/>
            <a:gdLst/>
            <a:ahLst/>
            <a:cxnLst/>
            <a:rect l="l" t="t" r="r" b="b"/>
            <a:pathLst>
              <a:path w="562610" h="334010">
                <a:moveTo>
                  <a:pt x="562356" y="0"/>
                </a:moveTo>
                <a:lnTo>
                  <a:pt x="0" y="3337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405127" y="1630679"/>
            <a:ext cx="0" cy="312420"/>
          </a:xfrm>
          <a:custGeom>
            <a:avLst/>
            <a:gdLst/>
            <a:ahLst/>
            <a:cxnLst/>
            <a:rect l="l" t="t" r="r" b="b"/>
            <a:pathLst>
              <a:path h="312419">
                <a:moveTo>
                  <a:pt x="0" y="0"/>
                </a:moveTo>
                <a:lnTo>
                  <a:pt x="0" y="31242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828141" y="1922780"/>
            <a:ext cx="5803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entury Schoolbook"/>
                <a:cs typeface="Century Schoolbook"/>
              </a:rPr>
              <a:t>nclient</a:t>
            </a:r>
            <a:endParaRPr sz="1400">
              <a:latin typeface="Century Schoolbook"/>
              <a:cs typeface="Century Schoolbook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749802" y="2586354"/>
            <a:ext cx="1911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entury Schoolbook"/>
                <a:cs typeface="Century Schoolbook"/>
              </a:rPr>
              <a:t>U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374266" y="2152904"/>
            <a:ext cx="1126490" cy="9791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95"/>
              </a:spcBef>
            </a:pPr>
            <a:r>
              <a:rPr sz="4200" baseline="7936" dirty="0">
                <a:latin typeface="Symbol"/>
                <a:cs typeface="Symbol"/>
              </a:rPr>
              <a:t></a:t>
            </a:r>
            <a:r>
              <a:rPr sz="1050" dirty="0">
                <a:latin typeface="Century Schoolbook"/>
                <a:cs typeface="Century Schoolbook"/>
              </a:rPr>
              <a:t>vill</a:t>
            </a:r>
            <a:r>
              <a:rPr sz="1050" spc="10" dirty="0">
                <a:latin typeface="Century Schoolbook"/>
                <a:cs typeface="Century Schoolbook"/>
              </a:rPr>
              <a:t>e</a:t>
            </a:r>
            <a:r>
              <a:rPr sz="1050" spc="5" dirty="0">
                <a:latin typeface="Century Schoolbook"/>
                <a:cs typeface="Century Schoolbook"/>
              </a:rPr>
              <a:t>=‘</a:t>
            </a:r>
            <a:r>
              <a:rPr sz="1050" dirty="0">
                <a:latin typeface="Century Schoolbook"/>
                <a:cs typeface="Century Schoolbook"/>
              </a:rPr>
              <a:t>Pa</a:t>
            </a:r>
            <a:r>
              <a:rPr sz="1050" spc="5" dirty="0">
                <a:latin typeface="Century Schoolbook"/>
                <a:cs typeface="Century Schoolbook"/>
              </a:rPr>
              <a:t>ris’</a:t>
            </a:r>
            <a:endParaRPr sz="1050">
              <a:latin typeface="Century Schoolbook"/>
              <a:cs typeface="Century Schoolbook"/>
            </a:endParaRPr>
          </a:p>
          <a:p>
            <a:pPr marL="25400">
              <a:lnSpc>
                <a:spcPct val="100000"/>
              </a:lnSpc>
              <a:spcBef>
                <a:spcPts val="2230"/>
              </a:spcBef>
            </a:pPr>
            <a:r>
              <a:rPr sz="1600" spc="-5" dirty="0">
                <a:latin typeface="Century Schoolbook"/>
                <a:cs typeface="Century Schoolbook"/>
              </a:rPr>
              <a:t>Client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601724" y="2616707"/>
            <a:ext cx="0" cy="256540"/>
          </a:xfrm>
          <a:custGeom>
            <a:avLst/>
            <a:gdLst/>
            <a:ahLst/>
            <a:cxnLst/>
            <a:rect l="l" t="t" r="r" b="b"/>
            <a:pathLst>
              <a:path h="256539">
                <a:moveTo>
                  <a:pt x="0" y="0"/>
                </a:moveTo>
                <a:lnTo>
                  <a:pt x="0" y="256031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4270375" y="3611702"/>
            <a:ext cx="7175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entury Schoolbook"/>
                <a:cs typeface="Century Schoolbook"/>
              </a:rPr>
              <a:t>Client1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025520" y="3231006"/>
            <a:ext cx="5022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entury Schoolbook"/>
                <a:cs typeface="Century Schoolbook"/>
              </a:rPr>
              <a:t>Cde1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948684" y="2322576"/>
            <a:ext cx="203200" cy="269875"/>
          </a:xfrm>
          <a:custGeom>
            <a:avLst/>
            <a:gdLst/>
            <a:ahLst/>
            <a:cxnLst/>
            <a:rect l="l" t="t" r="r" b="b"/>
            <a:pathLst>
              <a:path w="203200" h="269875">
                <a:moveTo>
                  <a:pt x="202691" y="0"/>
                </a:moveTo>
                <a:lnTo>
                  <a:pt x="0" y="2697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735067" y="2322576"/>
            <a:ext cx="166370" cy="269875"/>
          </a:xfrm>
          <a:custGeom>
            <a:avLst/>
            <a:gdLst/>
            <a:ahLst/>
            <a:cxnLst/>
            <a:rect l="l" t="t" r="r" b="b"/>
            <a:pathLst>
              <a:path w="166370" h="269875">
                <a:moveTo>
                  <a:pt x="0" y="0"/>
                </a:moveTo>
                <a:lnTo>
                  <a:pt x="166116" y="2697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162044" y="1926335"/>
            <a:ext cx="0" cy="312420"/>
          </a:xfrm>
          <a:custGeom>
            <a:avLst/>
            <a:gdLst/>
            <a:ahLst/>
            <a:cxnLst/>
            <a:rect l="l" t="t" r="r" b="b"/>
            <a:pathLst>
              <a:path h="312419">
                <a:moveTo>
                  <a:pt x="0" y="0"/>
                </a:moveTo>
                <a:lnTo>
                  <a:pt x="0" y="31241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157471" y="1929383"/>
            <a:ext cx="562610" cy="332740"/>
          </a:xfrm>
          <a:custGeom>
            <a:avLst/>
            <a:gdLst/>
            <a:ahLst/>
            <a:cxnLst/>
            <a:rect l="l" t="t" r="r" b="b"/>
            <a:pathLst>
              <a:path w="562610" h="332739">
                <a:moveTo>
                  <a:pt x="0" y="0"/>
                </a:moveTo>
                <a:lnTo>
                  <a:pt x="562355" y="332231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163567" y="1926335"/>
            <a:ext cx="562610" cy="332740"/>
          </a:xfrm>
          <a:custGeom>
            <a:avLst/>
            <a:gdLst/>
            <a:ahLst/>
            <a:cxnLst/>
            <a:rect l="l" t="t" r="r" b="b"/>
            <a:pathLst>
              <a:path w="562610" h="332739">
                <a:moveTo>
                  <a:pt x="562356" y="0"/>
                </a:moveTo>
                <a:lnTo>
                  <a:pt x="0" y="332231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719828" y="1921764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0"/>
                </a:moveTo>
                <a:lnTo>
                  <a:pt x="0" y="31394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4168902" y="2265680"/>
            <a:ext cx="5930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entury Schoolbook"/>
                <a:cs typeface="Century Schoolbook"/>
              </a:rPr>
              <a:t>nclient</a:t>
            </a:r>
            <a:endParaRPr sz="1400">
              <a:latin typeface="Century Schoolbook"/>
              <a:cs typeface="Century Schoolbook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786248" y="2495804"/>
            <a:ext cx="102996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200" baseline="7936" dirty="0">
                <a:latin typeface="Symbol"/>
                <a:cs typeface="Symbol"/>
              </a:rPr>
              <a:t></a:t>
            </a:r>
            <a:r>
              <a:rPr sz="1050" dirty="0">
                <a:latin typeface="Century Schoolbook"/>
                <a:cs typeface="Century Schoolbook"/>
              </a:rPr>
              <a:t>vill</a:t>
            </a:r>
            <a:r>
              <a:rPr sz="1050" spc="10" dirty="0">
                <a:latin typeface="Century Schoolbook"/>
                <a:cs typeface="Century Schoolbook"/>
              </a:rPr>
              <a:t>e</a:t>
            </a:r>
            <a:r>
              <a:rPr sz="1050" spc="5" dirty="0">
                <a:latin typeface="Century Schoolbook"/>
                <a:cs typeface="Century Schoolbook"/>
              </a:rPr>
              <a:t>=‘</a:t>
            </a:r>
            <a:r>
              <a:rPr sz="1050" dirty="0">
                <a:latin typeface="Century Schoolbook"/>
                <a:cs typeface="Century Schoolbook"/>
              </a:rPr>
              <a:t>Pa</a:t>
            </a:r>
            <a:r>
              <a:rPr sz="1050" spc="5" dirty="0">
                <a:latin typeface="Century Schoolbook"/>
                <a:cs typeface="Century Schoolbook"/>
              </a:rPr>
              <a:t>ris’</a:t>
            </a:r>
            <a:endParaRPr sz="1050">
              <a:latin typeface="Century Schoolbook"/>
              <a:cs typeface="Century Schoolbook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916423" y="2907792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0"/>
                </a:moveTo>
                <a:lnTo>
                  <a:pt x="0" y="2575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3698875" y="3231006"/>
            <a:ext cx="5022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entury Schoolbook"/>
                <a:cs typeface="Century Schoolbook"/>
              </a:rPr>
              <a:t>Cde2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3529584" y="2855976"/>
            <a:ext cx="203200" cy="269875"/>
          </a:xfrm>
          <a:custGeom>
            <a:avLst/>
            <a:gdLst/>
            <a:ahLst/>
            <a:cxnLst/>
            <a:rect l="l" t="t" r="r" b="b"/>
            <a:pathLst>
              <a:path w="203200" h="269875">
                <a:moveTo>
                  <a:pt x="202691" y="0"/>
                </a:moveTo>
                <a:lnTo>
                  <a:pt x="0" y="2697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4829302" y="3158108"/>
            <a:ext cx="1911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entury Schoolbook"/>
                <a:cs typeface="Century Schoolbook"/>
              </a:rPr>
              <a:t>U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4735067" y="2322576"/>
            <a:ext cx="166370" cy="269875"/>
          </a:xfrm>
          <a:custGeom>
            <a:avLst/>
            <a:gdLst/>
            <a:ahLst/>
            <a:cxnLst/>
            <a:rect l="l" t="t" r="r" b="b"/>
            <a:pathLst>
              <a:path w="166370" h="269875">
                <a:moveTo>
                  <a:pt x="0" y="0"/>
                </a:moveTo>
                <a:lnTo>
                  <a:pt x="166116" y="2697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884676" y="2868167"/>
            <a:ext cx="165100" cy="269875"/>
          </a:xfrm>
          <a:custGeom>
            <a:avLst/>
            <a:gdLst/>
            <a:ahLst/>
            <a:cxnLst/>
            <a:rect l="l" t="t" r="r" b="b"/>
            <a:pathLst>
              <a:path w="165100" h="269875">
                <a:moveTo>
                  <a:pt x="0" y="0"/>
                </a:moveTo>
                <a:lnTo>
                  <a:pt x="164591" y="269748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5134102" y="3611702"/>
            <a:ext cx="7175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entury Schoolbook"/>
                <a:cs typeface="Century Schoolbook"/>
              </a:rPr>
              <a:t>Client2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4672584" y="3427476"/>
            <a:ext cx="203200" cy="269875"/>
          </a:xfrm>
          <a:custGeom>
            <a:avLst/>
            <a:gdLst/>
            <a:ahLst/>
            <a:cxnLst/>
            <a:rect l="l" t="t" r="r" b="b"/>
            <a:pathLst>
              <a:path w="203200" h="269875">
                <a:moveTo>
                  <a:pt x="202691" y="0"/>
                </a:moveTo>
                <a:lnTo>
                  <a:pt x="0" y="2697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027676" y="3439667"/>
            <a:ext cx="165100" cy="269875"/>
          </a:xfrm>
          <a:custGeom>
            <a:avLst/>
            <a:gdLst/>
            <a:ahLst/>
            <a:cxnLst/>
            <a:rect l="l" t="t" r="r" b="b"/>
            <a:pathLst>
              <a:path w="165100" h="269875">
                <a:moveTo>
                  <a:pt x="0" y="0"/>
                </a:moveTo>
                <a:lnTo>
                  <a:pt x="164591" y="2697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755392" y="2514600"/>
            <a:ext cx="723900" cy="254635"/>
          </a:xfrm>
          <a:custGeom>
            <a:avLst/>
            <a:gdLst/>
            <a:ahLst/>
            <a:cxnLst/>
            <a:rect l="l" t="t" r="r" b="b"/>
            <a:pathLst>
              <a:path w="723900" h="254635">
                <a:moveTo>
                  <a:pt x="0" y="63626"/>
                </a:moveTo>
                <a:lnTo>
                  <a:pt x="542544" y="63626"/>
                </a:lnTo>
                <a:lnTo>
                  <a:pt x="542544" y="0"/>
                </a:lnTo>
                <a:lnTo>
                  <a:pt x="723899" y="127253"/>
                </a:lnTo>
                <a:lnTo>
                  <a:pt x="542544" y="254508"/>
                </a:lnTo>
                <a:lnTo>
                  <a:pt x="542544" y="190880"/>
                </a:lnTo>
                <a:lnTo>
                  <a:pt x="0" y="190880"/>
                </a:lnTo>
                <a:lnTo>
                  <a:pt x="0" y="63626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702808" y="2412492"/>
            <a:ext cx="723900" cy="254635"/>
          </a:xfrm>
          <a:custGeom>
            <a:avLst/>
            <a:gdLst/>
            <a:ahLst/>
            <a:cxnLst/>
            <a:rect l="l" t="t" r="r" b="b"/>
            <a:pathLst>
              <a:path w="723900" h="254635">
                <a:moveTo>
                  <a:pt x="0" y="63627"/>
                </a:moveTo>
                <a:lnTo>
                  <a:pt x="542543" y="63627"/>
                </a:lnTo>
                <a:lnTo>
                  <a:pt x="542543" y="0"/>
                </a:lnTo>
                <a:lnTo>
                  <a:pt x="723900" y="127254"/>
                </a:lnTo>
                <a:lnTo>
                  <a:pt x="542543" y="254508"/>
                </a:lnTo>
                <a:lnTo>
                  <a:pt x="542543" y="190881"/>
                </a:lnTo>
                <a:lnTo>
                  <a:pt x="0" y="190881"/>
                </a:lnTo>
                <a:lnTo>
                  <a:pt x="0" y="6362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512564" y="3531108"/>
            <a:ext cx="364490" cy="520065"/>
          </a:xfrm>
          <a:custGeom>
            <a:avLst/>
            <a:gdLst/>
            <a:ahLst/>
            <a:cxnLst/>
            <a:rect l="l" t="t" r="r" b="b"/>
            <a:pathLst>
              <a:path w="364489" h="520064">
                <a:moveTo>
                  <a:pt x="0" y="0"/>
                </a:moveTo>
                <a:lnTo>
                  <a:pt x="364236" y="519683"/>
                </a:lnTo>
              </a:path>
            </a:pathLst>
          </a:custGeom>
          <a:ln w="579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483608" y="3531108"/>
            <a:ext cx="363220" cy="520065"/>
          </a:xfrm>
          <a:custGeom>
            <a:avLst/>
            <a:gdLst/>
            <a:ahLst/>
            <a:cxnLst/>
            <a:rect l="l" t="t" r="r" b="b"/>
            <a:pathLst>
              <a:path w="363220" h="520064">
                <a:moveTo>
                  <a:pt x="362712" y="0"/>
                </a:moveTo>
                <a:lnTo>
                  <a:pt x="0" y="519683"/>
                </a:lnTo>
              </a:path>
            </a:pathLst>
          </a:custGeom>
          <a:ln w="579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6874256" y="2649981"/>
            <a:ext cx="1911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entury Schoolbook"/>
                <a:cs typeface="Century Schoolbook"/>
              </a:rPr>
              <a:t>U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150355" y="3294634"/>
            <a:ext cx="5022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entury Schoolbook"/>
                <a:cs typeface="Century Schoolbook"/>
              </a:rPr>
              <a:t>Cde1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072883" y="2386583"/>
            <a:ext cx="203200" cy="269875"/>
          </a:xfrm>
          <a:custGeom>
            <a:avLst/>
            <a:gdLst/>
            <a:ahLst/>
            <a:cxnLst/>
            <a:rect l="l" t="t" r="r" b="b"/>
            <a:pathLst>
              <a:path w="203200" h="269875">
                <a:moveTo>
                  <a:pt x="202692" y="0"/>
                </a:moveTo>
                <a:lnTo>
                  <a:pt x="0" y="2697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859268" y="2386583"/>
            <a:ext cx="166370" cy="269875"/>
          </a:xfrm>
          <a:custGeom>
            <a:avLst/>
            <a:gdLst/>
            <a:ahLst/>
            <a:cxnLst/>
            <a:rect l="l" t="t" r="r" b="b"/>
            <a:pathLst>
              <a:path w="166370" h="269875">
                <a:moveTo>
                  <a:pt x="0" y="0"/>
                </a:moveTo>
                <a:lnTo>
                  <a:pt x="166115" y="2697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286243" y="1988820"/>
            <a:ext cx="0" cy="312420"/>
          </a:xfrm>
          <a:custGeom>
            <a:avLst/>
            <a:gdLst/>
            <a:ahLst/>
            <a:cxnLst/>
            <a:rect l="l" t="t" r="r" b="b"/>
            <a:pathLst>
              <a:path h="312419">
                <a:moveTo>
                  <a:pt x="0" y="0"/>
                </a:moveTo>
                <a:lnTo>
                  <a:pt x="0" y="31241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281671" y="1991867"/>
            <a:ext cx="562610" cy="334010"/>
          </a:xfrm>
          <a:custGeom>
            <a:avLst/>
            <a:gdLst/>
            <a:ahLst/>
            <a:cxnLst/>
            <a:rect l="l" t="t" r="r" b="b"/>
            <a:pathLst>
              <a:path w="562609" h="334010">
                <a:moveTo>
                  <a:pt x="0" y="0"/>
                </a:moveTo>
                <a:lnTo>
                  <a:pt x="562355" y="3337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287768" y="1988820"/>
            <a:ext cx="562610" cy="334010"/>
          </a:xfrm>
          <a:custGeom>
            <a:avLst/>
            <a:gdLst/>
            <a:ahLst/>
            <a:cxnLst/>
            <a:rect l="l" t="t" r="r" b="b"/>
            <a:pathLst>
              <a:path w="562609" h="334010">
                <a:moveTo>
                  <a:pt x="562355" y="0"/>
                </a:moveTo>
                <a:lnTo>
                  <a:pt x="0" y="33375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844028" y="1985772"/>
            <a:ext cx="0" cy="312420"/>
          </a:xfrm>
          <a:custGeom>
            <a:avLst/>
            <a:gdLst/>
            <a:ahLst/>
            <a:cxnLst/>
            <a:rect l="l" t="t" r="r" b="b"/>
            <a:pathLst>
              <a:path h="312419">
                <a:moveTo>
                  <a:pt x="0" y="0"/>
                </a:moveTo>
                <a:lnTo>
                  <a:pt x="0" y="31241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7293356" y="2329052"/>
            <a:ext cx="5930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entury Schoolbook"/>
                <a:cs typeface="Century Schoolbook"/>
              </a:rPr>
              <a:t>nclient</a:t>
            </a:r>
            <a:endParaRPr sz="1400">
              <a:latin typeface="Century Schoolbook"/>
              <a:cs typeface="Century Schoolbook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911083" y="2559176"/>
            <a:ext cx="1029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200" baseline="7936" dirty="0">
                <a:latin typeface="Symbol"/>
                <a:cs typeface="Symbol"/>
              </a:rPr>
              <a:t></a:t>
            </a:r>
            <a:r>
              <a:rPr sz="1050" dirty="0">
                <a:latin typeface="Century Schoolbook"/>
                <a:cs typeface="Century Schoolbook"/>
              </a:rPr>
              <a:t>vill</a:t>
            </a:r>
            <a:r>
              <a:rPr sz="1050" spc="10" dirty="0">
                <a:latin typeface="Century Schoolbook"/>
                <a:cs typeface="Century Schoolbook"/>
              </a:rPr>
              <a:t>e</a:t>
            </a:r>
            <a:r>
              <a:rPr sz="1050" spc="5" dirty="0">
                <a:latin typeface="Century Schoolbook"/>
                <a:cs typeface="Century Schoolbook"/>
              </a:rPr>
              <a:t>=‘</a:t>
            </a:r>
            <a:r>
              <a:rPr sz="1050" dirty="0">
                <a:latin typeface="Century Schoolbook"/>
                <a:cs typeface="Century Schoolbook"/>
              </a:rPr>
              <a:t>Pa</a:t>
            </a:r>
            <a:r>
              <a:rPr sz="1050" spc="5" dirty="0">
                <a:latin typeface="Century Schoolbook"/>
                <a:cs typeface="Century Schoolbook"/>
              </a:rPr>
              <a:t>ris’</a:t>
            </a:r>
            <a:endParaRPr sz="1050">
              <a:latin typeface="Century Schoolbook"/>
              <a:cs typeface="Century Schoolbook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8040623" y="2971800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0"/>
                </a:moveTo>
                <a:lnTo>
                  <a:pt x="0" y="25755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6823329" y="3294634"/>
            <a:ext cx="5022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entury Schoolbook"/>
                <a:cs typeface="Century Schoolbook"/>
              </a:rPr>
              <a:t>Cde2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6653783" y="2919983"/>
            <a:ext cx="203200" cy="269875"/>
          </a:xfrm>
          <a:custGeom>
            <a:avLst/>
            <a:gdLst/>
            <a:ahLst/>
            <a:cxnLst/>
            <a:rect l="l" t="t" r="r" b="b"/>
            <a:pathLst>
              <a:path w="203200" h="269875">
                <a:moveTo>
                  <a:pt x="202692" y="0"/>
                </a:moveTo>
                <a:lnTo>
                  <a:pt x="0" y="2697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859268" y="2386583"/>
            <a:ext cx="166370" cy="269875"/>
          </a:xfrm>
          <a:custGeom>
            <a:avLst/>
            <a:gdLst/>
            <a:ahLst/>
            <a:cxnLst/>
            <a:rect l="l" t="t" r="r" b="b"/>
            <a:pathLst>
              <a:path w="166370" h="269875">
                <a:moveTo>
                  <a:pt x="0" y="0"/>
                </a:moveTo>
                <a:lnTo>
                  <a:pt x="166115" y="2697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008876" y="2932176"/>
            <a:ext cx="165100" cy="269875"/>
          </a:xfrm>
          <a:custGeom>
            <a:avLst/>
            <a:gdLst/>
            <a:ahLst/>
            <a:cxnLst/>
            <a:rect l="l" t="t" r="r" b="b"/>
            <a:pathLst>
              <a:path w="165100" h="269875">
                <a:moveTo>
                  <a:pt x="0" y="0"/>
                </a:moveTo>
                <a:lnTo>
                  <a:pt x="164592" y="2697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7801482" y="3281934"/>
            <a:ext cx="7175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entury Schoolbook"/>
                <a:cs typeface="Century Schoolbook"/>
              </a:rPr>
              <a:t>Cli</a:t>
            </a:r>
            <a:r>
              <a:rPr sz="1600" dirty="0">
                <a:latin typeface="Century Schoolbook"/>
                <a:cs typeface="Century Schoolbook"/>
              </a:rPr>
              <a:t>e</a:t>
            </a:r>
            <a:r>
              <a:rPr sz="1600" spc="-5" dirty="0">
                <a:latin typeface="Century Schoolbook"/>
                <a:cs typeface="Century Schoolbook"/>
              </a:rPr>
              <a:t>nt2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693028" y="1790674"/>
            <a:ext cx="860425" cy="5221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25200"/>
              </a:lnSpc>
              <a:spcBef>
                <a:spcPts val="95"/>
              </a:spcBef>
            </a:pPr>
            <a:r>
              <a:rPr sz="2100" spc="15" baseline="-15873" dirty="0" smtClean="0">
                <a:latin typeface="Century Schoolbook"/>
                <a:cs typeface="Century Schoolbook"/>
              </a:rPr>
              <a:t>1</a:t>
            </a:r>
            <a:r>
              <a:rPr lang="fr-FR" sz="900" spc="10" dirty="0" smtClean="0">
                <a:latin typeface="Century Schoolbook"/>
                <a:cs typeface="Century Schoolbook"/>
              </a:rPr>
              <a:t>ère</a:t>
            </a:r>
            <a:r>
              <a:rPr sz="900" spc="10" dirty="0" smtClean="0">
                <a:latin typeface="Century Schoolbook"/>
                <a:cs typeface="Century Schoolbook"/>
              </a:rPr>
              <a:t> </a:t>
            </a:r>
            <a:r>
              <a:rPr sz="1400" dirty="0">
                <a:latin typeface="Century Schoolbook"/>
                <a:cs typeface="Century Schoolbook"/>
              </a:rPr>
              <a:t>r</a:t>
            </a:r>
            <a:r>
              <a:rPr sz="1400" spc="5" dirty="0">
                <a:latin typeface="Century Schoolbook"/>
                <a:cs typeface="Century Schoolbook"/>
              </a:rPr>
              <a:t>é</a:t>
            </a:r>
            <a:r>
              <a:rPr sz="1400" spc="-5" dirty="0">
                <a:latin typeface="Century Schoolbook"/>
                <a:cs typeface="Century Schoolbook"/>
              </a:rPr>
              <a:t>d</a:t>
            </a:r>
            <a:r>
              <a:rPr sz="1400" spc="-10" dirty="0">
                <a:latin typeface="Century Schoolbook"/>
                <a:cs typeface="Century Schoolbook"/>
              </a:rPr>
              <a:t>u</a:t>
            </a:r>
            <a:r>
              <a:rPr sz="1400" dirty="0">
                <a:latin typeface="Century Schoolbook"/>
                <a:cs typeface="Century Schoolbook"/>
              </a:rPr>
              <a:t>c</a:t>
            </a:r>
            <a:r>
              <a:rPr sz="1400" spc="5" dirty="0">
                <a:latin typeface="Century Schoolbook"/>
                <a:cs typeface="Century Schoolbook"/>
              </a:rPr>
              <a:t>t</a:t>
            </a:r>
            <a:r>
              <a:rPr sz="1400" dirty="0">
                <a:latin typeface="Century Schoolbook"/>
                <a:cs typeface="Century Schoolbook"/>
              </a:rPr>
              <a:t>i</a:t>
            </a:r>
            <a:r>
              <a:rPr sz="1400" spc="5" dirty="0">
                <a:latin typeface="Century Schoolbook"/>
                <a:cs typeface="Century Schoolbook"/>
              </a:rPr>
              <a:t>o</a:t>
            </a:r>
            <a:r>
              <a:rPr sz="1400" dirty="0">
                <a:latin typeface="Century Schoolbook"/>
                <a:cs typeface="Century Schoolbook"/>
              </a:rPr>
              <a:t>n</a:t>
            </a:r>
          </a:p>
        </p:txBody>
      </p:sp>
      <p:sp>
        <p:nvSpPr>
          <p:cNvPr id="90" name="object 90"/>
          <p:cNvSpPr/>
          <p:nvPr/>
        </p:nvSpPr>
        <p:spPr>
          <a:xfrm>
            <a:off x="7449311" y="4515611"/>
            <a:ext cx="889000" cy="1993900"/>
          </a:xfrm>
          <a:custGeom>
            <a:avLst/>
            <a:gdLst/>
            <a:ahLst/>
            <a:cxnLst/>
            <a:rect l="l" t="t" r="r" b="b"/>
            <a:pathLst>
              <a:path w="889000" h="1993900">
                <a:moveTo>
                  <a:pt x="0" y="1658480"/>
                </a:moveTo>
                <a:lnTo>
                  <a:pt x="300355" y="1323568"/>
                </a:lnTo>
                <a:lnTo>
                  <a:pt x="300355" y="1596555"/>
                </a:lnTo>
                <a:lnTo>
                  <a:pt x="824484" y="1596555"/>
                </a:lnTo>
                <a:lnTo>
                  <a:pt x="824484" y="0"/>
                </a:lnTo>
                <a:lnTo>
                  <a:pt x="888492" y="0"/>
                </a:lnTo>
                <a:lnTo>
                  <a:pt x="888492" y="1720405"/>
                </a:lnTo>
                <a:lnTo>
                  <a:pt x="300355" y="1720405"/>
                </a:lnTo>
                <a:lnTo>
                  <a:pt x="300355" y="1993392"/>
                </a:lnTo>
                <a:lnTo>
                  <a:pt x="0" y="165848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7179056" y="4996688"/>
            <a:ext cx="10414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entury Schoolbook"/>
                <a:cs typeface="Century Schoolbook"/>
              </a:rPr>
              <a:t>Distribution</a:t>
            </a:r>
            <a:endParaRPr sz="1400">
              <a:latin typeface="Century Schoolbook"/>
              <a:cs typeface="Century Schoolbook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4524502" y="4696155"/>
            <a:ext cx="1911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entury Schoolbook"/>
                <a:cs typeface="Century Schoolbook"/>
              </a:rPr>
              <a:t>U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5434584" y="5626608"/>
            <a:ext cx="203200" cy="269875"/>
          </a:xfrm>
          <a:custGeom>
            <a:avLst/>
            <a:gdLst/>
            <a:ahLst/>
            <a:cxnLst/>
            <a:rect l="l" t="t" r="r" b="b"/>
            <a:pathLst>
              <a:path w="203200" h="269875">
                <a:moveTo>
                  <a:pt x="202691" y="0"/>
                </a:moveTo>
                <a:lnTo>
                  <a:pt x="0" y="26974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220967" y="5626608"/>
            <a:ext cx="166370" cy="269875"/>
          </a:xfrm>
          <a:custGeom>
            <a:avLst/>
            <a:gdLst/>
            <a:ahLst/>
            <a:cxnLst/>
            <a:rect l="l" t="t" r="r" b="b"/>
            <a:pathLst>
              <a:path w="166370" h="269875">
                <a:moveTo>
                  <a:pt x="0" y="0"/>
                </a:moveTo>
                <a:lnTo>
                  <a:pt x="166116" y="269747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4802123" y="4928615"/>
            <a:ext cx="812800" cy="283845"/>
          </a:xfrm>
          <a:custGeom>
            <a:avLst/>
            <a:gdLst/>
            <a:ahLst/>
            <a:cxnLst/>
            <a:rect l="l" t="t" r="r" b="b"/>
            <a:pathLst>
              <a:path w="812800" h="283845">
                <a:moveTo>
                  <a:pt x="0" y="0"/>
                </a:moveTo>
                <a:lnTo>
                  <a:pt x="812291" y="283463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647944" y="5228844"/>
            <a:ext cx="0" cy="312420"/>
          </a:xfrm>
          <a:custGeom>
            <a:avLst/>
            <a:gdLst/>
            <a:ahLst/>
            <a:cxnLst/>
            <a:rect l="l" t="t" r="r" b="b"/>
            <a:pathLst>
              <a:path h="312420">
                <a:moveTo>
                  <a:pt x="0" y="0"/>
                </a:moveTo>
                <a:lnTo>
                  <a:pt x="0" y="31241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643371" y="5231891"/>
            <a:ext cx="562610" cy="334010"/>
          </a:xfrm>
          <a:custGeom>
            <a:avLst/>
            <a:gdLst/>
            <a:ahLst/>
            <a:cxnLst/>
            <a:rect l="l" t="t" r="r" b="b"/>
            <a:pathLst>
              <a:path w="562610" h="334010">
                <a:moveTo>
                  <a:pt x="0" y="0"/>
                </a:moveTo>
                <a:lnTo>
                  <a:pt x="562355" y="33375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649467" y="5228844"/>
            <a:ext cx="562610" cy="334010"/>
          </a:xfrm>
          <a:custGeom>
            <a:avLst/>
            <a:gdLst/>
            <a:ahLst/>
            <a:cxnLst/>
            <a:rect l="l" t="t" r="r" b="b"/>
            <a:pathLst>
              <a:path w="562610" h="334010">
                <a:moveTo>
                  <a:pt x="562356" y="0"/>
                </a:moveTo>
                <a:lnTo>
                  <a:pt x="0" y="33375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205728" y="5225796"/>
            <a:ext cx="0" cy="312420"/>
          </a:xfrm>
          <a:custGeom>
            <a:avLst/>
            <a:gdLst/>
            <a:ahLst/>
            <a:cxnLst/>
            <a:rect l="l" t="t" r="r" b="b"/>
            <a:pathLst>
              <a:path h="312420">
                <a:moveTo>
                  <a:pt x="0" y="0"/>
                </a:moveTo>
                <a:lnTo>
                  <a:pt x="0" y="31241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5654802" y="5570016"/>
            <a:ext cx="883285" cy="633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50"/>
              </a:lnSpc>
              <a:spcBef>
                <a:spcPts val="100"/>
              </a:spcBef>
            </a:pPr>
            <a:r>
              <a:rPr sz="1400" spc="-5" dirty="0">
                <a:latin typeface="Century Schoolbook"/>
                <a:cs typeface="Century Schoolbook"/>
              </a:rPr>
              <a:t>nclient</a:t>
            </a:r>
            <a:endParaRPr sz="1400">
              <a:latin typeface="Century Schoolbook"/>
              <a:cs typeface="Century Schoolbook"/>
            </a:endParaRPr>
          </a:p>
          <a:p>
            <a:pPr marR="5080" algn="r">
              <a:lnSpc>
                <a:spcPts val="3229"/>
              </a:lnSpc>
            </a:pPr>
            <a:r>
              <a:rPr sz="2800" spc="-5" dirty="0">
                <a:latin typeface="Symbol"/>
                <a:cs typeface="Symbol"/>
              </a:rPr>
              <a:t>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6512814" y="6018987"/>
            <a:ext cx="763270" cy="1885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latin typeface="Century Schoolbook"/>
                <a:cs typeface="Century Schoolbook"/>
              </a:rPr>
              <a:t>ville=‘Paris’</a:t>
            </a:r>
            <a:endParaRPr sz="1050">
              <a:latin typeface="Century Schoolbook"/>
              <a:cs typeface="Century Schoolbook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6402323" y="6211823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0"/>
                </a:moveTo>
                <a:lnTo>
                  <a:pt x="0" y="25755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 txBox="1"/>
          <p:nvPr/>
        </p:nvSpPr>
        <p:spPr>
          <a:xfrm>
            <a:off x="4969002" y="5963818"/>
            <a:ext cx="5022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entury Schoolbook"/>
                <a:cs typeface="Century Schoolbook"/>
              </a:rPr>
              <a:t>Cde2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6220967" y="5626608"/>
            <a:ext cx="166370" cy="269875"/>
          </a:xfrm>
          <a:custGeom>
            <a:avLst/>
            <a:gdLst/>
            <a:ahLst/>
            <a:cxnLst/>
            <a:rect l="l" t="t" r="r" b="b"/>
            <a:pathLst>
              <a:path w="166370" h="269875">
                <a:moveTo>
                  <a:pt x="0" y="0"/>
                </a:moveTo>
                <a:lnTo>
                  <a:pt x="166116" y="269747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6162802" y="6522516"/>
            <a:ext cx="7175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entury Schoolbook"/>
                <a:cs typeface="Century Schoolbook"/>
              </a:rPr>
              <a:t>Cli</a:t>
            </a:r>
            <a:r>
              <a:rPr sz="1600" dirty="0">
                <a:latin typeface="Century Schoolbook"/>
                <a:cs typeface="Century Schoolbook"/>
              </a:rPr>
              <a:t>e</a:t>
            </a:r>
            <a:r>
              <a:rPr sz="1600" spc="-5" dirty="0">
                <a:latin typeface="Century Schoolbook"/>
                <a:cs typeface="Century Schoolbook"/>
              </a:rPr>
              <a:t>nt2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2932176" y="5626608"/>
            <a:ext cx="203200" cy="269875"/>
          </a:xfrm>
          <a:custGeom>
            <a:avLst/>
            <a:gdLst/>
            <a:ahLst/>
            <a:cxnLst/>
            <a:rect l="l" t="t" r="r" b="b"/>
            <a:pathLst>
              <a:path w="203200" h="269875">
                <a:moveTo>
                  <a:pt x="202692" y="0"/>
                </a:moveTo>
                <a:lnTo>
                  <a:pt x="0" y="269747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720084" y="5626608"/>
            <a:ext cx="165100" cy="269875"/>
          </a:xfrm>
          <a:custGeom>
            <a:avLst/>
            <a:gdLst/>
            <a:ahLst/>
            <a:cxnLst/>
            <a:rect l="l" t="t" r="r" b="b"/>
            <a:pathLst>
              <a:path w="165100" h="269875">
                <a:moveTo>
                  <a:pt x="0" y="0"/>
                </a:moveTo>
                <a:lnTo>
                  <a:pt x="164591" y="269747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3724655" y="4954523"/>
            <a:ext cx="696595" cy="243840"/>
          </a:xfrm>
          <a:custGeom>
            <a:avLst/>
            <a:gdLst/>
            <a:ahLst/>
            <a:cxnLst/>
            <a:rect l="l" t="t" r="r" b="b"/>
            <a:pathLst>
              <a:path w="696595" h="243839">
                <a:moveTo>
                  <a:pt x="696468" y="0"/>
                </a:moveTo>
                <a:lnTo>
                  <a:pt x="0" y="24383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3145535" y="5228844"/>
            <a:ext cx="0" cy="312420"/>
          </a:xfrm>
          <a:custGeom>
            <a:avLst/>
            <a:gdLst/>
            <a:ahLst/>
            <a:cxnLst/>
            <a:rect l="l" t="t" r="r" b="b"/>
            <a:pathLst>
              <a:path h="312420">
                <a:moveTo>
                  <a:pt x="0" y="0"/>
                </a:moveTo>
                <a:lnTo>
                  <a:pt x="0" y="31241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3140964" y="5231891"/>
            <a:ext cx="563880" cy="334010"/>
          </a:xfrm>
          <a:custGeom>
            <a:avLst/>
            <a:gdLst/>
            <a:ahLst/>
            <a:cxnLst/>
            <a:rect l="l" t="t" r="r" b="b"/>
            <a:pathLst>
              <a:path w="563879" h="334010">
                <a:moveTo>
                  <a:pt x="0" y="0"/>
                </a:moveTo>
                <a:lnTo>
                  <a:pt x="563880" y="33375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3147060" y="5228844"/>
            <a:ext cx="562610" cy="334010"/>
          </a:xfrm>
          <a:custGeom>
            <a:avLst/>
            <a:gdLst/>
            <a:ahLst/>
            <a:cxnLst/>
            <a:rect l="l" t="t" r="r" b="b"/>
            <a:pathLst>
              <a:path w="562610" h="334010">
                <a:moveTo>
                  <a:pt x="562355" y="0"/>
                </a:moveTo>
                <a:lnTo>
                  <a:pt x="0" y="33375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3703320" y="5225796"/>
            <a:ext cx="0" cy="312420"/>
          </a:xfrm>
          <a:custGeom>
            <a:avLst/>
            <a:gdLst/>
            <a:ahLst/>
            <a:cxnLst/>
            <a:rect l="l" t="t" r="r" b="b"/>
            <a:pathLst>
              <a:path h="312420">
                <a:moveTo>
                  <a:pt x="0" y="0"/>
                </a:moveTo>
                <a:lnTo>
                  <a:pt x="0" y="31241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3152648" y="5570016"/>
            <a:ext cx="883285" cy="633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50"/>
              </a:lnSpc>
              <a:spcBef>
                <a:spcPts val="100"/>
              </a:spcBef>
            </a:pPr>
            <a:r>
              <a:rPr sz="1400" spc="-5" dirty="0">
                <a:latin typeface="Century Schoolbook"/>
                <a:cs typeface="Century Schoolbook"/>
              </a:rPr>
              <a:t>nclient</a:t>
            </a:r>
            <a:endParaRPr sz="1400">
              <a:latin typeface="Century Schoolbook"/>
              <a:cs typeface="Century Schoolbook"/>
            </a:endParaRPr>
          </a:p>
          <a:p>
            <a:pPr marR="5080" algn="r">
              <a:lnSpc>
                <a:spcPts val="3229"/>
              </a:lnSpc>
            </a:pPr>
            <a:r>
              <a:rPr sz="2800" spc="-5" dirty="0">
                <a:latin typeface="Symbol"/>
                <a:cs typeface="Symbol"/>
              </a:rPr>
              <a:t>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4010659" y="6018987"/>
            <a:ext cx="763270" cy="1885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latin typeface="Century Schoolbook"/>
                <a:cs typeface="Century Schoolbook"/>
              </a:rPr>
              <a:t>ville=‘Paris’</a:t>
            </a:r>
            <a:endParaRPr sz="1050">
              <a:latin typeface="Century Schoolbook"/>
              <a:cs typeface="Century Schoolbook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3899915" y="6211823"/>
            <a:ext cx="1905" cy="257810"/>
          </a:xfrm>
          <a:custGeom>
            <a:avLst/>
            <a:gdLst/>
            <a:ahLst/>
            <a:cxnLst/>
            <a:rect l="l" t="t" r="r" b="b"/>
            <a:pathLst>
              <a:path w="1904" h="257810">
                <a:moveTo>
                  <a:pt x="0" y="0"/>
                </a:moveTo>
                <a:lnTo>
                  <a:pt x="1524" y="25755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 txBox="1"/>
          <p:nvPr/>
        </p:nvSpPr>
        <p:spPr>
          <a:xfrm>
            <a:off x="2581148" y="5938215"/>
            <a:ext cx="5022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entury Schoolbook"/>
                <a:cs typeface="Century Schoolbook"/>
              </a:rPr>
              <a:t>Cde1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3720084" y="5626608"/>
            <a:ext cx="165100" cy="269875"/>
          </a:xfrm>
          <a:custGeom>
            <a:avLst/>
            <a:gdLst/>
            <a:ahLst/>
            <a:cxnLst/>
            <a:rect l="l" t="t" r="r" b="b"/>
            <a:pathLst>
              <a:path w="165100" h="269875">
                <a:moveTo>
                  <a:pt x="0" y="0"/>
                </a:moveTo>
                <a:lnTo>
                  <a:pt x="164591" y="269747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 txBox="1"/>
          <p:nvPr/>
        </p:nvSpPr>
        <p:spPr>
          <a:xfrm>
            <a:off x="3660775" y="6522516"/>
            <a:ext cx="7175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entury Schoolbook"/>
                <a:cs typeface="Century Schoolbook"/>
              </a:rPr>
              <a:t>Cli</a:t>
            </a:r>
            <a:r>
              <a:rPr sz="1600" dirty="0">
                <a:latin typeface="Century Schoolbook"/>
                <a:cs typeface="Century Schoolbook"/>
              </a:rPr>
              <a:t>e</a:t>
            </a:r>
            <a:r>
              <a:rPr sz="1600" spc="-5" dirty="0">
                <a:latin typeface="Century Schoolbook"/>
                <a:cs typeface="Century Schoolbook"/>
              </a:rPr>
              <a:t>nt2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3044951" y="5257800"/>
            <a:ext cx="1196340" cy="1409700"/>
          </a:xfrm>
          <a:custGeom>
            <a:avLst/>
            <a:gdLst/>
            <a:ahLst/>
            <a:cxnLst/>
            <a:rect l="l" t="t" r="r" b="b"/>
            <a:pathLst>
              <a:path w="1196339" h="1409700">
                <a:moveTo>
                  <a:pt x="0" y="0"/>
                </a:moveTo>
                <a:lnTo>
                  <a:pt x="1196339" y="1409700"/>
                </a:lnTo>
              </a:path>
            </a:pathLst>
          </a:custGeom>
          <a:ln w="579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2945892" y="5257800"/>
            <a:ext cx="1198245" cy="1409700"/>
          </a:xfrm>
          <a:custGeom>
            <a:avLst/>
            <a:gdLst/>
            <a:ahLst/>
            <a:cxnLst/>
            <a:rect l="l" t="t" r="r" b="b"/>
            <a:pathLst>
              <a:path w="1198245" h="1409700">
                <a:moveTo>
                  <a:pt x="1197863" y="0"/>
                </a:moveTo>
                <a:lnTo>
                  <a:pt x="0" y="1409700"/>
                </a:lnTo>
              </a:path>
            </a:pathLst>
          </a:custGeom>
          <a:ln w="579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44068" y="5372100"/>
            <a:ext cx="204470" cy="269875"/>
          </a:xfrm>
          <a:custGeom>
            <a:avLst/>
            <a:gdLst/>
            <a:ahLst/>
            <a:cxnLst/>
            <a:rect l="l" t="t" r="r" b="b"/>
            <a:pathLst>
              <a:path w="204470" h="269875">
                <a:moveTo>
                  <a:pt x="204215" y="0"/>
                </a:moveTo>
                <a:lnTo>
                  <a:pt x="0" y="269747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331975" y="5372100"/>
            <a:ext cx="165100" cy="269875"/>
          </a:xfrm>
          <a:custGeom>
            <a:avLst/>
            <a:gdLst/>
            <a:ahLst/>
            <a:cxnLst/>
            <a:rect l="l" t="t" r="r" b="b"/>
            <a:pathLst>
              <a:path w="165100" h="269875">
                <a:moveTo>
                  <a:pt x="0" y="0"/>
                </a:moveTo>
                <a:lnTo>
                  <a:pt x="164592" y="269747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758951" y="4975859"/>
            <a:ext cx="0" cy="312420"/>
          </a:xfrm>
          <a:custGeom>
            <a:avLst/>
            <a:gdLst/>
            <a:ahLst/>
            <a:cxnLst/>
            <a:rect l="l" t="t" r="r" b="b"/>
            <a:pathLst>
              <a:path h="312420">
                <a:moveTo>
                  <a:pt x="0" y="0"/>
                </a:moveTo>
                <a:lnTo>
                  <a:pt x="0" y="31241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754380" y="4978908"/>
            <a:ext cx="562610" cy="332740"/>
          </a:xfrm>
          <a:custGeom>
            <a:avLst/>
            <a:gdLst/>
            <a:ahLst/>
            <a:cxnLst/>
            <a:rect l="l" t="t" r="r" b="b"/>
            <a:pathLst>
              <a:path w="562610" h="332739">
                <a:moveTo>
                  <a:pt x="0" y="0"/>
                </a:moveTo>
                <a:lnTo>
                  <a:pt x="562356" y="332232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758951" y="4975859"/>
            <a:ext cx="563880" cy="332740"/>
          </a:xfrm>
          <a:custGeom>
            <a:avLst/>
            <a:gdLst/>
            <a:ahLst/>
            <a:cxnLst/>
            <a:rect l="l" t="t" r="r" b="b"/>
            <a:pathLst>
              <a:path w="563880" h="332739">
                <a:moveTo>
                  <a:pt x="563880" y="0"/>
                </a:moveTo>
                <a:lnTo>
                  <a:pt x="0" y="332231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315211" y="4972811"/>
            <a:ext cx="0" cy="312420"/>
          </a:xfrm>
          <a:custGeom>
            <a:avLst/>
            <a:gdLst/>
            <a:ahLst/>
            <a:cxnLst/>
            <a:rect l="l" t="t" r="r" b="b"/>
            <a:pathLst>
              <a:path h="312420">
                <a:moveTo>
                  <a:pt x="0" y="0"/>
                </a:moveTo>
                <a:lnTo>
                  <a:pt x="0" y="31241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 txBox="1"/>
          <p:nvPr/>
        </p:nvSpPr>
        <p:spPr>
          <a:xfrm>
            <a:off x="777240" y="5315839"/>
            <a:ext cx="5803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entury Schoolbook"/>
                <a:cs typeface="Century Schoolbook"/>
              </a:rPr>
              <a:t>nclient</a:t>
            </a:r>
            <a:endParaRPr sz="1400">
              <a:latin typeface="Century Schoolbook"/>
              <a:cs typeface="Century Schoolbook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1394967" y="5545937"/>
            <a:ext cx="10166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4200" baseline="7936" dirty="0">
                <a:latin typeface="Symbol"/>
                <a:cs typeface="Symbol"/>
              </a:rPr>
              <a:t></a:t>
            </a:r>
            <a:r>
              <a:rPr sz="1050" dirty="0">
                <a:latin typeface="Century Schoolbook"/>
                <a:cs typeface="Century Schoolbook"/>
              </a:rPr>
              <a:t>vill</a:t>
            </a:r>
            <a:r>
              <a:rPr sz="1050" spc="10" dirty="0">
                <a:latin typeface="Century Schoolbook"/>
                <a:cs typeface="Century Schoolbook"/>
              </a:rPr>
              <a:t>e</a:t>
            </a:r>
            <a:r>
              <a:rPr sz="1050" spc="5" dirty="0">
                <a:latin typeface="Century Schoolbook"/>
                <a:cs typeface="Century Schoolbook"/>
              </a:rPr>
              <a:t>=‘</a:t>
            </a:r>
            <a:r>
              <a:rPr sz="1050" dirty="0">
                <a:latin typeface="Century Schoolbook"/>
                <a:cs typeface="Century Schoolbook"/>
              </a:rPr>
              <a:t>Pa</a:t>
            </a:r>
            <a:r>
              <a:rPr sz="1050" spc="5" dirty="0">
                <a:latin typeface="Century Schoolbook"/>
                <a:cs typeface="Century Schoolbook"/>
              </a:rPr>
              <a:t>ris’</a:t>
            </a:r>
            <a:endParaRPr sz="1050">
              <a:latin typeface="Century Schoolbook"/>
              <a:cs typeface="Century Schoolbook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1513332" y="5957315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0"/>
                </a:moveTo>
                <a:lnTo>
                  <a:pt x="0" y="2575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 txBox="1"/>
          <p:nvPr/>
        </p:nvSpPr>
        <p:spPr>
          <a:xfrm>
            <a:off x="91439" y="5709615"/>
            <a:ext cx="4895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entury Schoolbook"/>
                <a:cs typeface="Century Schoolbook"/>
              </a:rPr>
              <a:t>Cde2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1331975" y="5372100"/>
            <a:ext cx="165100" cy="269875"/>
          </a:xfrm>
          <a:custGeom>
            <a:avLst/>
            <a:gdLst/>
            <a:ahLst/>
            <a:cxnLst/>
            <a:rect l="l" t="t" r="r" b="b"/>
            <a:pathLst>
              <a:path w="165100" h="269875">
                <a:moveTo>
                  <a:pt x="0" y="0"/>
                </a:moveTo>
                <a:lnTo>
                  <a:pt x="164592" y="269747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 txBox="1"/>
          <p:nvPr/>
        </p:nvSpPr>
        <p:spPr>
          <a:xfrm>
            <a:off x="1285366" y="6268618"/>
            <a:ext cx="7048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entury Schoolbook"/>
                <a:cs typeface="Century Schoolbook"/>
              </a:rPr>
              <a:t>Cli</a:t>
            </a:r>
            <a:r>
              <a:rPr sz="1600" dirty="0">
                <a:latin typeface="Century Schoolbook"/>
                <a:cs typeface="Century Schoolbook"/>
              </a:rPr>
              <a:t>e</a:t>
            </a:r>
            <a:r>
              <a:rPr sz="1600" spc="-5" dirty="0">
                <a:latin typeface="Century Schoolbook"/>
                <a:cs typeface="Century Schoolbook"/>
              </a:rPr>
              <a:t>nt2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1866900" y="5155691"/>
            <a:ext cx="723900" cy="254635"/>
          </a:xfrm>
          <a:custGeom>
            <a:avLst/>
            <a:gdLst/>
            <a:ahLst/>
            <a:cxnLst/>
            <a:rect l="l" t="t" r="r" b="b"/>
            <a:pathLst>
              <a:path w="723900" h="254635">
                <a:moveTo>
                  <a:pt x="723900" y="190880"/>
                </a:moveTo>
                <a:lnTo>
                  <a:pt x="181356" y="190880"/>
                </a:lnTo>
                <a:lnTo>
                  <a:pt x="181356" y="254507"/>
                </a:lnTo>
                <a:lnTo>
                  <a:pt x="0" y="127253"/>
                </a:lnTo>
                <a:lnTo>
                  <a:pt x="181356" y="0"/>
                </a:lnTo>
                <a:lnTo>
                  <a:pt x="181356" y="63626"/>
                </a:lnTo>
                <a:lnTo>
                  <a:pt x="723900" y="63626"/>
                </a:lnTo>
                <a:lnTo>
                  <a:pt x="723900" y="19088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 txBox="1"/>
          <p:nvPr/>
        </p:nvSpPr>
        <p:spPr>
          <a:xfrm>
            <a:off x="1793494" y="4869560"/>
            <a:ext cx="8451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entury Schoolbook"/>
                <a:cs typeface="Century Schoolbook"/>
              </a:rPr>
              <a:t>R</a:t>
            </a:r>
            <a:r>
              <a:rPr sz="1400" dirty="0">
                <a:latin typeface="Century Schoolbook"/>
                <a:cs typeface="Century Schoolbook"/>
              </a:rPr>
              <a:t>é</a:t>
            </a:r>
            <a:r>
              <a:rPr sz="1400" spc="-5" dirty="0">
                <a:latin typeface="Century Schoolbook"/>
                <a:cs typeface="Century Schoolbook"/>
              </a:rPr>
              <a:t>d</a:t>
            </a:r>
            <a:r>
              <a:rPr sz="1400" spc="-10" dirty="0">
                <a:latin typeface="Century Schoolbook"/>
                <a:cs typeface="Century Schoolbook"/>
              </a:rPr>
              <a:t>u</a:t>
            </a:r>
            <a:r>
              <a:rPr sz="1400" dirty="0">
                <a:latin typeface="Century Schoolbook"/>
                <a:cs typeface="Century Schoolbook"/>
              </a:rPr>
              <a:t>c</a:t>
            </a:r>
            <a:r>
              <a:rPr sz="1400" spc="5" dirty="0">
                <a:latin typeface="Century Schoolbook"/>
                <a:cs typeface="Century Schoolbook"/>
              </a:rPr>
              <a:t>t</a:t>
            </a:r>
            <a:r>
              <a:rPr sz="1400" dirty="0">
                <a:latin typeface="Century Schoolbook"/>
                <a:cs typeface="Century Schoolbook"/>
              </a:rPr>
              <a:t>i</a:t>
            </a:r>
            <a:r>
              <a:rPr sz="1400" spc="5" dirty="0">
                <a:latin typeface="Century Schoolbook"/>
                <a:cs typeface="Century Schoolbook"/>
              </a:rPr>
              <a:t>o</a:t>
            </a:r>
            <a:r>
              <a:rPr sz="1400" dirty="0">
                <a:latin typeface="Century Schoolbook"/>
                <a:cs typeface="Century Schoolbook"/>
              </a:rPr>
              <a:t>n</a:t>
            </a:r>
            <a:endParaRPr sz="1400">
              <a:latin typeface="Century Schoolbook"/>
              <a:cs typeface="Century Schoolbook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902208" y="3136392"/>
            <a:ext cx="304800" cy="1385570"/>
          </a:xfrm>
          <a:custGeom>
            <a:avLst/>
            <a:gdLst/>
            <a:ahLst/>
            <a:cxnLst/>
            <a:rect l="l" t="t" r="r" b="b"/>
            <a:pathLst>
              <a:path w="304800" h="1385570">
                <a:moveTo>
                  <a:pt x="304800" y="1039241"/>
                </a:moveTo>
                <a:lnTo>
                  <a:pt x="0" y="1039241"/>
                </a:lnTo>
                <a:lnTo>
                  <a:pt x="152400" y="1385316"/>
                </a:lnTo>
                <a:lnTo>
                  <a:pt x="304800" y="1039241"/>
                </a:lnTo>
                <a:close/>
              </a:path>
              <a:path w="304800" h="1385570">
                <a:moveTo>
                  <a:pt x="228600" y="0"/>
                </a:moveTo>
                <a:lnTo>
                  <a:pt x="76200" y="0"/>
                </a:lnTo>
                <a:lnTo>
                  <a:pt x="76200" y="1039241"/>
                </a:lnTo>
                <a:lnTo>
                  <a:pt x="228600" y="1039241"/>
                </a:lnTo>
                <a:lnTo>
                  <a:pt x="22860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902208" y="3136392"/>
            <a:ext cx="304800" cy="1385570"/>
          </a:xfrm>
          <a:custGeom>
            <a:avLst/>
            <a:gdLst/>
            <a:ahLst/>
            <a:cxnLst/>
            <a:rect l="l" t="t" r="r" b="b"/>
            <a:pathLst>
              <a:path w="304800" h="1385570">
                <a:moveTo>
                  <a:pt x="0" y="1039241"/>
                </a:moveTo>
                <a:lnTo>
                  <a:pt x="76200" y="1039241"/>
                </a:lnTo>
                <a:lnTo>
                  <a:pt x="76200" y="0"/>
                </a:lnTo>
                <a:lnTo>
                  <a:pt x="228600" y="0"/>
                </a:lnTo>
                <a:lnTo>
                  <a:pt x="228600" y="1039241"/>
                </a:lnTo>
                <a:lnTo>
                  <a:pt x="304800" y="1039241"/>
                </a:lnTo>
                <a:lnTo>
                  <a:pt x="152400" y="1385316"/>
                </a:lnTo>
                <a:lnTo>
                  <a:pt x="0" y="103924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Espace réservé du numéro de diapositive 13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15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7288" y="457200"/>
            <a:ext cx="4674312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P</a:t>
            </a:r>
            <a:r>
              <a:rPr spc="-5" dirty="0"/>
              <a:t>LAN</a:t>
            </a:r>
            <a:r>
              <a:rPr spc="95" dirty="0"/>
              <a:t> </a:t>
            </a:r>
            <a:r>
              <a:rPr spc="-5" dirty="0"/>
              <a:t>D</a:t>
            </a:r>
            <a:r>
              <a:rPr sz="3000" spc="-5" dirty="0"/>
              <a:t>’</a:t>
            </a:r>
            <a:r>
              <a:rPr spc="-5" dirty="0"/>
              <a:t>EXÉCUTION</a:t>
            </a:r>
            <a:endParaRPr sz="3000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313357"/>
            <a:ext cx="7030720" cy="257683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7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dirty="0">
                <a:latin typeface="Century Schoolbook"/>
                <a:cs typeface="Century Schoolbook"/>
              </a:rPr>
              <a:t>Définition</a:t>
            </a: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100" b="1" u="heavy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En </a:t>
            </a:r>
            <a:r>
              <a:rPr sz="2100" b="1" u="heavy" spc="-5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centralisé</a:t>
            </a:r>
            <a:r>
              <a:rPr sz="2100" spc="-5" dirty="0">
                <a:latin typeface="Century Schoolbook"/>
                <a:cs typeface="Century Schoolbook"/>
              </a:rPr>
              <a:t>, </a:t>
            </a:r>
            <a:r>
              <a:rPr sz="2100" dirty="0">
                <a:latin typeface="Century Schoolbook"/>
                <a:cs typeface="Century Schoolbook"/>
              </a:rPr>
              <a:t>c’est l’enchainement </a:t>
            </a:r>
            <a:r>
              <a:rPr sz="2100" spc="-5" dirty="0">
                <a:latin typeface="Century Schoolbook"/>
                <a:cs typeface="Century Schoolbook"/>
              </a:rPr>
              <a:t>des</a:t>
            </a:r>
            <a:r>
              <a:rPr sz="2100" spc="-90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opérateurs</a:t>
            </a:r>
          </a:p>
          <a:p>
            <a:pPr marL="652780">
              <a:lnSpc>
                <a:spcPct val="100000"/>
              </a:lnSpc>
            </a:pPr>
            <a:r>
              <a:rPr sz="2100" spc="-5" dirty="0">
                <a:latin typeface="Century Schoolbook"/>
                <a:cs typeface="Century Schoolbook"/>
              </a:rPr>
              <a:t>algébriques pour </a:t>
            </a:r>
            <a:r>
              <a:rPr sz="2100" dirty="0">
                <a:latin typeface="Century Schoolbook"/>
                <a:cs typeface="Century Schoolbook"/>
              </a:rPr>
              <a:t>le calcul </a:t>
            </a:r>
            <a:r>
              <a:rPr sz="2100" spc="-5" dirty="0">
                <a:latin typeface="Century Schoolbook"/>
                <a:cs typeface="Century Schoolbook"/>
              </a:rPr>
              <a:t>d’une</a:t>
            </a:r>
            <a:r>
              <a:rPr sz="2100" spc="1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requête</a:t>
            </a:r>
            <a:endParaRPr sz="2100" dirty="0">
              <a:latin typeface="Century Schoolbook"/>
              <a:cs typeface="Century Schoolbook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050" dirty="0">
              <a:latin typeface="Times New Roman"/>
              <a:cs typeface="Times New Roman"/>
            </a:endParaRPr>
          </a:p>
          <a:p>
            <a:pPr marL="652780" marR="262255" lvl="1" indent="-274955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100" b="1" u="heavy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En </a:t>
            </a:r>
            <a:r>
              <a:rPr sz="2100" b="1" u="heavy" spc="-5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réparti</a:t>
            </a:r>
            <a:r>
              <a:rPr sz="2100" spc="-5" dirty="0">
                <a:latin typeface="Century Schoolbook"/>
                <a:cs typeface="Century Schoolbook"/>
              </a:rPr>
              <a:t>, </a:t>
            </a:r>
            <a:r>
              <a:rPr sz="2100" dirty="0">
                <a:latin typeface="Century Schoolbook"/>
                <a:cs typeface="Century Schoolbook"/>
              </a:rPr>
              <a:t>c’est l’enchainement </a:t>
            </a:r>
            <a:r>
              <a:rPr sz="2100" spc="-5" dirty="0">
                <a:latin typeface="Century Schoolbook"/>
                <a:cs typeface="Century Schoolbook"/>
              </a:rPr>
              <a:t>des opérateurs  algébriques </a:t>
            </a:r>
            <a:r>
              <a:rPr sz="2100" dirty="0">
                <a:latin typeface="Century Schoolbook"/>
                <a:cs typeface="Century Schoolbook"/>
              </a:rPr>
              <a:t>et </a:t>
            </a:r>
            <a:r>
              <a:rPr sz="2100" spc="-5" dirty="0">
                <a:latin typeface="Century Schoolbook"/>
                <a:cs typeface="Century Schoolbook"/>
              </a:rPr>
              <a:t>des </a:t>
            </a:r>
            <a:r>
              <a:rPr sz="2100" dirty="0">
                <a:latin typeface="Century Schoolbook"/>
                <a:cs typeface="Century Schoolbook"/>
              </a:rPr>
              <a:t>échanges </a:t>
            </a:r>
            <a:r>
              <a:rPr sz="2100" spc="-5" dirty="0">
                <a:latin typeface="Century Schoolbook"/>
                <a:cs typeface="Century Schoolbook"/>
              </a:rPr>
              <a:t>de données </a:t>
            </a:r>
            <a:r>
              <a:rPr sz="2100" dirty="0">
                <a:latin typeface="Century Schoolbook"/>
                <a:cs typeface="Century Schoolbook"/>
              </a:rPr>
              <a:t>intersites  </a:t>
            </a:r>
            <a:r>
              <a:rPr sz="2100" spc="-5" dirty="0">
                <a:latin typeface="Century Schoolbook"/>
                <a:cs typeface="Century Schoolbook"/>
              </a:rPr>
              <a:t>pour </a:t>
            </a:r>
            <a:r>
              <a:rPr sz="2100" dirty="0">
                <a:latin typeface="Century Schoolbook"/>
                <a:cs typeface="Century Schoolbook"/>
              </a:rPr>
              <a:t>le calcul </a:t>
            </a:r>
            <a:r>
              <a:rPr sz="2100" spc="-5" dirty="0">
                <a:latin typeface="Century Schoolbook"/>
                <a:cs typeface="Century Schoolbook"/>
              </a:rPr>
              <a:t>d’une</a:t>
            </a:r>
            <a:r>
              <a:rPr sz="2100" spc="15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requête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16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507288" y="68211"/>
            <a:ext cx="6125210" cy="102108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3000" spc="-5" dirty="0">
                <a:solidFill>
                  <a:srgbClr val="565F6C"/>
                </a:solidFill>
                <a:latin typeface="Century Schoolbook"/>
                <a:cs typeface="Century Schoolbook"/>
              </a:rPr>
              <a:t>E</a:t>
            </a:r>
            <a:r>
              <a:rPr sz="2400" spc="-5" dirty="0">
                <a:solidFill>
                  <a:srgbClr val="565F6C"/>
                </a:solidFill>
                <a:latin typeface="Century Schoolbook"/>
                <a:cs typeface="Century Schoolbook"/>
              </a:rPr>
              <a:t>XEMPLE </a:t>
            </a:r>
            <a:r>
              <a:rPr sz="2400" dirty="0">
                <a:solidFill>
                  <a:srgbClr val="565F6C"/>
                </a:solidFill>
                <a:latin typeface="Century Schoolbook"/>
                <a:cs typeface="Century Schoolbook"/>
              </a:rPr>
              <a:t>DE </a:t>
            </a:r>
            <a:r>
              <a:rPr sz="2400" spc="-10" dirty="0">
                <a:solidFill>
                  <a:srgbClr val="565F6C"/>
                </a:solidFill>
                <a:latin typeface="Century Schoolbook"/>
                <a:cs typeface="Century Schoolbook"/>
              </a:rPr>
              <a:t>PLAN </a:t>
            </a:r>
            <a:r>
              <a:rPr sz="2400" spc="-5" dirty="0">
                <a:solidFill>
                  <a:srgbClr val="565F6C"/>
                </a:solidFill>
                <a:latin typeface="Century Schoolbook"/>
                <a:cs typeface="Century Schoolbook"/>
              </a:rPr>
              <a:t>D</a:t>
            </a:r>
            <a:r>
              <a:rPr sz="3000" spc="-5" dirty="0">
                <a:solidFill>
                  <a:srgbClr val="565F6C"/>
                </a:solidFill>
                <a:latin typeface="Century Schoolbook"/>
                <a:cs typeface="Century Schoolbook"/>
              </a:rPr>
              <a:t>’</a:t>
            </a:r>
            <a:r>
              <a:rPr sz="2400" spc="-5" dirty="0">
                <a:solidFill>
                  <a:srgbClr val="565F6C"/>
                </a:solidFill>
                <a:latin typeface="Century Schoolbook"/>
                <a:cs typeface="Century Schoolbook"/>
              </a:rPr>
              <a:t>EXÉCUTION</a:t>
            </a:r>
            <a:r>
              <a:rPr sz="2400" spc="655" dirty="0">
                <a:solidFill>
                  <a:srgbClr val="565F6C"/>
                </a:solidFill>
                <a:latin typeface="Century Schoolbook"/>
                <a:cs typeface="Century Schoolbook"/>
              </a:rPr>
              <a:t> </a:t>
            </a:r>
            <a:r>
              <a:rPr sz="2400" spc="-10" dirty="0">
                <a:solidFill>
                  <a:srgbClr val="565F6C"/>
                </a:solidFill>
                <a:latin typeface="Century Schoolbook"/>
                <a:cs typeface="Century Schoolbook"/>
              </a:rPr>
              <a:t>EN</a:t>
            </a:r>
            <a:endParaRPr sz="2400">
              <a:latin typeface="Century Schoolbook"/>
              <a:cs typeface="Century Schoolbook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5" dirty="0">
                <a:solidFill>
                  <a:srgbClr val="565F6C"/>
                </a:solidFill>
                <a:latin typeface="Century Schoolbook"/>
                <a:cs typeface="Century Schoolbook"/>
              </a:rPr>
              <a:t>CENTRALISÉ</a:t>
            </a: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141" y="1556234"/>
            <a:ext cx="6125845" cy="133032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7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dirty="0">
                <a:latin typeface="Century Schoolbook"/>
                <a:cs typeface="Century Schoolbook"/>
              </a:rPr>
              <a:t>Exemple </a:t>
            </a:r>
            <a:r>
              <a:rPr sz="2000" spc="-5" dirty="0">
                <a:latin typeface="Century Schoolbook"/>
                <a:cs typeface="Century Schoolbook"/>
              </a:rPr>
              <a:t>de </a:t>
            </a:r>
            <a:r>
              <a:rPr sz="2000" dirty="0">
                <a:latin typeface="Century Schoolbook"/>
                <a:cs typeface="Century Schoolbook"/>
              </a:rPr>
              <a:t>requête globale</a:t>
            </a:r>
            <a:r>
              <a:rPr sz="2000" spc="-130" dirty="0">
                <a:latin typeface="Century Schoolbook"/>
                <a:cs typeface="Century Schoolbook"/>
              </a:rPr>
              <a:t> </a:t>
            </a:r>
            <a:r>
              <a:rPr sz="2000" dirty="0">
                <a:latin typeface="Century Schoolbook"/>
                <a:cs typeface="Century Schoolbook"/>
              </a:rPr>
              <a:t>:</a:t>
            </a:r>
          </a:p>
          <a:p>
            <a:pPr marL="378460">
              <a:lnSpc>
                <a:spcPct val="100000"/>
              </a:lnSpc>
              <a:spcBef>
                <a:spcPts val="250"/>
              </a:spcBef>
            </a:pPr>
            <a:r>
              <a:rPr sz="1800" spc="-10" dirty="0">
                <a:latin typeface="Courier New"/>
                <a:cs typeface="Courier New"/>
              </a:rPr>
              <a:t>SELECT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nom</a:t>
            </a:r>
            <a:endParaRPr sz="1800" dirty="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434"/>
              </a:spcBef>
            </a:pPr>
            <a:r>
              <a:rPr sz="1800" spc="-10" dirty="0">
                <a:latin typeface="Courier New"/>
                <a:cs typeface="Courier New"/>
              </a:rPr>
              <a:t>FROM Client,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Cde</a:t>
            </a:r>
            <a:endParaRPr sz="1800" dirty="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430"/>
              </a:spcBef>
            </a:pPr>
            <a:r>
              <a:rPr sz="1800" spc="-10" dirty="0">
                <a:latin typeface="Courier New"/>
                <a:cs typeface="Courier New"/>
              </a:rPr>
              <a:t>WHERE Client.nclient </a:t>
            </a:r>
            <a:r>
              <a:rPr sz="1800" dirty="0">
                <a:latin typeface="Courier New"/>
                <a:cs typeface="Courier New"/>
              </a:rPr>
              <a:t>= </a:t>
            </a:r>
            <a:r>
              <a:rPr sz="1800" spc="-10" dirty="0">
                <a:latin typeface="Courier New"/>
                <a:cs typeface="Courier New"/>
              </a:rPr>
              <a:t>Cde.nclient AND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qte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55740" y="2586354"/>
            <a:ext cx="84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&gt; </a:t>
            </a:r>
            <a:r>
              <a:rPr sz="1800" spc="-5" dirty="0">
                <a:latin typeface="Courier New"/>
                <a:cs typeface="Courier New"/>
              </a:rPr>
              <a:t>10</a:t>
            </a:r>
            <a:r>
              <a:rPr sz="1800" spc="-1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0141" y="3288919"/>
            <a:ext cx="714438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En </a:t>
            </a: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centralisé</a:t>
            </a:r>
            <a:r>
              <a:rPr sz="2000" spc="-5" dirty="0">
                <a:latin typeface="Century Schoolbook"/>
                <a:cs typeface="Century Schoolbook"/>
              </a:rPr>
              <a:t>, </a:t>
            </a:r>
            <a:r>
              <a:rPr sz="2000" dirty="0">
                <a:latin typeface="Century Schoolbook"/>
                <a:cs typeface="Century Schoolbook"/>
              </a:rPr>
              <a:t>deux </a:t>
            </a:r>
            <a:r>
              <a:rPr sz="2000" spc="-5" dirty="0">
                <a:latin typeface="Century Schoolbook"/>
                <a:cs typeface="Century Schoolbook"/>
              </a:rPr>
              <a:t>plans </a:t>
            </a:r>
            <a:r>
              <a:rPr sz="2000" dirty="0">
                <a:latin typeface="Century Schoolbook"/>
                <a:cs typeface="Century Schoolbook"/>
              </a:rPr>
              <a:t>d’exécution possibles seraient</a:t>
            </a:r>
            <a:r>
              <a:rPr sz="2000" spc="-190" dirty="0">
                <a:latin typeface="Century Schoolbook"/>
                <a:cs typeface="Century Schoolbook"/>
              </a:rPr>
              <a:t> </a:t>
            </a:r>
            <a:r>
              <a:rPr sz="2000" dirty="0">
                <a:latin typeface="Century Schoolbook"/>
                <a:cs typeface="Century Schoolbook"/>
              </a:rPr>
              <a:t>:</a:t>
            </a:r>
            <a:endParaRPr sz="2000">
              <a:latin typeface="Century Schoolbook"/>
              <a:cs typeface="Century Schoolbook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2311" y="5731764"/>
            <a:ext cx="393700" cy="123825"/>
          </a:xfrm>
          <a:custGeom>
            <a:avLst/>
            <a:gdLst/>
            <a:ahLst/>
            <a:cxnLst/>
            <a:rect l="l" t="t" r="r" b="b"/>
            <a:pathLst>
              <a:path w="393700" h="123825">
                <a:moveTo>
                  <a:pt x="393191" y="0"/>
                </a:moveTo>
                <a:lnTo>
                  <a:pt x="0" y="12344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19655" y="4443984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0"/>
                </a:moveTo>
                <a:lnTo>
                  <a:pt x="0" y="2575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44244" y="5740400"/>
            <a:ext cx="6711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entury Schoolbook"/>
                <a:cs typeface="Century Schoolbook"/>
              </a:rPr>
              <a:t>nclient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3443" y="5951626"/>
            <a:ext cx="6775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entury Schoolbook"/>
                <a:cs typeface="Century Schoolbook"/>
              </a:rPr>
              <a:t>C</a:t>
            </a:r>
            <a:r>
              <a:rPr sz="1800" spc="-10" dirty="0">
                <a:latin typeface="Century Schoolbook"/>
                <a:cs typeface="Century Schoolbook"/>
              </a:rPr>
              <a:t>l</a:t>
            </a:r>
            <a:r>
              <a:rPr sz="1800" dirty="0">
                <a:latin typeface="Century Schoolbook"/>
                <a:cs typeface="Century Schoolbook"/>
              </a:rPr>
              <a:t>ient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174748" y="5715000"/>
            <a:ext cx="388620" cy="100965"/>
          </a:xfrm>
          <a:custGeom>
            <a:avLst/>
            <a:gdLst/>
            <a:ahLst/>
            <a:cxnLst/>
            <a:rect l="l" t="t" r="r" b="b"/>
            <a:pathLst>
              <a:path w="388619" h="100964">
                <a:moveTo>
                  <a:pt x="0" y="0"/>
                </a:moveTo>
                <a:lnTo>
                  <a:pt x="388619" y="10058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63267" y="5119115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0"/>
                </a:moveTo>
                <a:lnTo>
                  <a:pt x="0" y="25755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529207" y="4184091"/>
            <a:ext cx="887730" cy="895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180">
              <a:lnSpc>
                <a:spcPct val="100000"/>
              </a:lnSpc>
              <a:spcBef>
                <a:spcPts val="100"/>
              </a:spcBef>
            </a:pPr>
            <a:r>
              <a:rPr sz="3600" baseline="8101" dirty="0">
                <a:latin typeface="Symbol"/>
                <a:cs typeface="Symbol"/>
              </a:rPr>
              <a:t></a:t>
            </a:r>
            <a:r>
              <a:rPr sz="900" spc="20" dirty="0">
                <a:latin typeface="Century Schoolbook"/>
                <a:cs typeface="Century Schoolbook"/>
              </a:rPr>
              <a:t>nom</a:t>
            </a:r>
            <a:endParaRPr sz="900">
              <a:latin typeface="Century Schoolbook"/>
              <a:cs typeface="Century Schoolbook"/>
            </a:endParaRPr>
          </a:p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800" spc="-7" baseline="7812" dirty="0">
                <a:latin typeface="Symbol"/>
                <a:cs typeface="Symbol"/>
              </a:rPr>
              <a:t></a:t>
            </a:r>
            <a:r>
              <a:rPr sz="1200" dirty="0">
                <a:latin typeface="Century Schoolbook"/>
                <a:cs typeface="Century Schoolbook"/>
              </a:rPr>
              <a:t>q</a:t>
            </a:r>
            <a:r>
              <a:rPr sz="1200" spc="-5" dirty="0">
                <a:latin typeface="Century Schoolbook"/>
                <a:cs typeface="Century Schoolbook"/>
              </a:rPr>
              <a:t>t</a:t>
            </a:r>
            <a:r>
              <a:rPr sz="1200" dirty="0">
                <a:latin typeface="Century Schoolbook"/>
                <a:cs typeface="Century Schoolbook"/>
              </a:rPr>
              <a:t>e</a:t>
            </a:r>
            <a:r>
              <a:rPr sz="1200" spc="-20" dirty="0">
                <a:latin typeface="Century Schoolbook"/>
                <a:cs typeface="Century Schoolbook"/>
              </a:rPr>
              <a:t> </a:t>
            </a:r>
            <a:r>
              <a:rPr sz="1200" dirty="0">
                <a:latin typeface="Century Schoolbook"/>
                <a:cs typeface="Century Schoolbook"/>
              </a:rPr>
              <a:t>&gt; </a:t>
            </a:r>
            <a:r>
              <a:rPr sz="1200" spc="5" dirty="0">
                <a:latin typeface="Century Schoolbook"/>
                <a:cs typeface="Century Schoolbook"/>
              </a:rPr>
              <a:t>1</a:t>
            </a:r>
            <a:r>
              <a:rPr sz="1200" dirty="0">
                <a:latin typeface="Century Schoolbook"/>
                <a:cs typeface="Century Schoolbook"/>
              </a:rPr>
              <a:t>0</a:t>
            </a:r>
            <a:endParaRPr sz="1200">
              <a:latin typeface="Century Schoolbook"/>
              <a:cs typeface="Century Schoolboo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76626" y="5908649"/>
            <a:ext cx="436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entury Schoolbook"/>
                <a:cs typeface="Century Schoolbook"/>
              </a:rPr>
              <a:t>Cde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132832" y="4692396"/>
            <a:ext cx="447040" cy="273050"/>
          </a:xfrm>
          <a:custGeom>
            <a:avLst/>
            <a:gdLst/>
            <a:ahLst/>
            <a:cxnLst/>
            <a:rect l="l" t="t" r="r" b="b"/>
            <a:pathLst>
              <a:path w="447039" h="273050">
                <a:moveTo>
                  <a:pt x="446531" y="0"/>
                </a:moveTo>
                <a:lnTo>
                  <a:pt x="0" y="2727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935979" y="4061459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0"/>
                </a:moveTo>
                <a:lnTo>
                  <a:pt x="0" y="2575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636766" y="5477967"/>
            <a:ext cx="88773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800" spc="-7" baseline="7812" dirty="0">
                <a:latin typeface="Symbol"/>
                <a:cs typeface="Symbol"/>
              </a:rPr>
              <a:t></a:t>
            </a:r>
            <a:r>
              <a:rPr sz="1200" dirty="0">
                <a:latin typeface="Century Schoolbook"/>
                <a:cs typeface="Century Schoolbook"/>
              </a:rPr>
              <a:t>q</a:t>
            </a:r>
            <a:r>
              <a:rPr sz="1200" spc="-5" dirty="0">
                <a:latin typeface="Century Schoolbook"/>
                <a:cs typeface="Century Schoolbook"/>
              </a:rPr>
              <a:t>t</a:t>
            </a:r>
            <a:r>
              <a:rPr sz="1200" dirty="0">
                <a:latin typeface="Century Schoolbook"/>
                <a:cs typeface="Century Schoolbook"/>
              </a:rPr>
              <a:t>e</a:t>
            </a:r>
            <a:r>
              <a:rPr sz="1200" spc="-20" dirty="0">
                <a:latin typeface="Century Schoolbook"/>
                <a:cs typeface="Century Schoolbook"/>
              </a:rPr>
              <a:t> </a:t>
            </a:r>
            <a:r>
              <a:rPr sz="1200" dirty="0">
                <a:latin typeface="Century Schoolbook"/>
                <a:cs typeface="Century Schoolbook"/>
              </a:rPr>
              <a:t>&gt; </a:t>
            </a:r>
            <a:r>
              <a:rPr sz="1200" spc="5" dirty="0">
                <a:latin typeface="Century Schoolbook"/>
                <a:cs typeface="Century Schoolbook"/>
              </a:rPr>
              <a:t>1</a:t>
            </a:r>
            <a:r>
              <a:rPr sz="1200" dirty="0">
                <a:latin typeface="Century Schoolbook"/>
                <a:cs typeface="Century Schoolbook"/>
              </a:rPr>
              <a:t>0</a:t>
            </a:r>
            <a:endParaRPr sz="1200">
              <a:latin typeface="Century Schoolbook"/>
              <a:cs typeface="Century Schoolbook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766559" y="5890259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0"/>
                </a:moveTo>
                <a:lnTo>
                  <a:pt x="0" y="25755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00215" y="4692396"/>
            <a:ext cx="394970" cy="247015"/>
          </a:xfrm>
          <a:custGeom>
            <a:avLst/>
            <a:gdLst/>
            <a:ahLst/>
            <a:cxnLst/>
            <a:rect l="l" t="t" r="r" b="b"/>
            <a:pathLst>
              <a:path w="394970" h="247014">
                <a:moveTo>
                  <a:pt x="0" y="0"/>
                </a:moveTo>
                <a:lnTo>
                  <a:pt x="394715" y="246887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609210" y="4611896"/>
            <a:ext cx="1746250" cy="11690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061720">
              <a:lnSpc>
                <a:spcPct val="100000"/>
              </a:lnSpc>
              <a:spcBef>
                <a:spcPts val="400"/>
              </a:spcBef>
            </a:pPr>
            <a:r>
              <a:rPr sz="1600" spc="-5" dirty="0">
                <a:latin typeface="Century Schoolbook"/>
                <a:cs typeface="Century Schoolbook"/>
              </a:rPr>
              <a:t>nclient</a:t>
            </a:r>
            <a:endParaRPr sz="1600">
              <a:latin typeface="Century Schoolbook"/>
              <a:cs typeface="Century Schoolbook"/>
            </a:endParaRPr>
          </a:p>
          <a:p>
            <a:pPr marL="249554">
              <a:lnSpc>
                <a:spcPct val="100000"/>
              </a:lnSpc>
              <a:spcBef>
                <a:spcPts val="465"/>
              </a:spcBef>
            </a:pPr>
            <a:r>
              <a:rPr sz="3600" baseline="8101" dirty="0">
                <a:latin typeface="Symbol"/>
                <a:cs typeface="Symbol"/>
              </a:rPr>
              <a:t></a:t>
            </a:r>
            <a:r>
              <a:rPr sz="900" spc="15" dirty="0">
                <a:latin typeface="Century Schoolbook"/>
                <a:cs typeface="Century Schoolbook"/>
              </a:rPr>
              <a:t>nclien</a:t>
            </a:r>
            <a:r>
              <a:rPr sz="900" spc="5" dirty="0">
                <a:latin typeface="Century Schoolbook"/>
                <a:cs typeface="Century Schoolbook"/>
              </a:rPr>
              <a:t>t</a:t>
            </a:r>
            <a:r>
              <a:rPr sz="900" spc="20" dirty="0">
                <a:latin typeface="Century Schoolbook"/>
                <a:cs typeface="Century Schoolbook"/>
              </a:rPr>
              <a:t>,nom</a:t>
            </a:r>
            <a:endParaRPr sz="900">
              <a:latin typeface="Century Schoolbook"/>
              <a:cs typeface="Century Schoolbook"/>
            </a:endParaRPr>
          </a:p>
          <a:p>
            <a:pPr marL="38100">
              <a:lnSpc>
                <a:spcPct val="100000"/>
              </a:lnSpc>
              <a:spcBef>
                <a:spcPts val="1275"/>
              </a:spcBef>
            </a:pPr>
            <a:r>
              <a:rPr sz="1800" spc="-5" dirty="0">
                <a:latin typeface="Century Schoolbook"/>
                <a:cs typeface="Century Schoolbook"/>
              </a:rPr>
              <a:t>Client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983479" y="5291328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0"/>
                </a:moveTo>
                <a:lnTo>
                  <a:pt x="0" y="2575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778372" y="3800982"/>
            <a:ext cx="549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8101" dirty="0">
                <a:latin typeface="Symbol"/>
                <a:cs typeface="Symbol"/>
              </a:rPr>
              <a:t></a:t>
            </a:r>
            <a:r>
              <a:rPr sz="900" spc="20" dirty="0">
                <a:latin typeface="Century Schoolbook"/>
                <a:cs typeface="Century Schoolbook"/>
              </a:rPr>
              <a:t>nom</a:t>
            </a:r>
            <a:endParaRPr sz="900">
              <a:latin typeface="Century Schoolbook"/>
              <a:cs typeface="Century Schoolbook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582409" y="4926329"/>
            <a:ext cx="692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8101" dirty="0">
                <a:latin typeface="Symbol"/>
                <a:cs typeface="Symbol"/>
              </a:rPr>
              <a:t></a:t>
            </a:r>
            <a:r>
              <a:rPr sz="900" spc="15" dirty="0">
                <a:latin typeface="Century Schoolbook"/>
                <a:cs typeface="Century Schoolbook"/>
              </a:rPr>
              <a:t>nclient</a:t>
            </a:r>
            <a:endParaRPr sz="900">
              <a:latin typeface="Century Schoolbook"/>
              <a:cs typeface="Century Schoolbook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789419" y="5265420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0"/>
                </a:moveTo>
                <a:lnTo>
                  <a:pt x="0" y="25755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578854" y="6119571"/>
            <a:ext cx="436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entury Schoolbook"/>
                <a:cs typeface="Century Schoolbook"/>
              </a:rPr>
              <a:t>Cde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602223" y="4319015"/>
            <a:ext cx="661670" cy="373380"/>
          </a:xfrm>
          <a:custGeom>
            <a:avLst/>
            <a:gdLst/>
            <a:ahLst/>
            <a:cxnLst/>
            <a:rect l="l" t="t" r="r" b="b"/>
            <a:pathLst>
              <a:path w="661670" h="373379">
                <a:moveTo>
                  <a:pt x="0" y="373379"/>
                </a:moveTo>
                <a:lnTo>
                  <a:pt x="0" y="0"/>
                </a:lnTo>
                <a:lnTo>
                  <a:pt x="330708" y="186689"/>
                </a:lnTo>
                <a:lnTo>
                  <a:pt x="661415" y="0"/>
                </a:lnTo>
                <a:lnTo>
                  <a:pt x="661415" y="373379"/>
                </a:lnTo>
                <a:lnTo>
                  <a:pt x="330708" y="186689"/>
                </a:lnTo>
                <a:lnTo>
                  <a:pt x="0" y="373379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435608" y="5393435"/>
            <a:ext cx="661670" cy="375285"/>
          </a:xfrm>
          <a:custGeom>
            <a:avLst/>
            <a:gdLst/>
            <a:ahLst/>
            <a:cxnLst/>
            <a:rect l="l" t="t" r="r" b="b"/>
            <a:pathLst>
              <a:path w="661669" h="375285">
                <a:moveTo>
                  <a:pt x="0" y="374903"/>
                </a:moveTo>
                <a:lnTo>
                  <a:pt x="0" y="0"/>
                </a:lnTo>
                <a:lnTo>
                  <a:pt x="330708" y="187451"/>
                </a:lnTo>
                <a:lnTo>
                  <a:pt x="661416" y="0"/>
                </a:lnTo>
                <a:lnTo>
                  <a:pt x="661416" y="374903"/>
                </a:lnTo>
                <a:lnTo>
                  <a:pt x="330708" y="187451"/>
                </a:lnTo>
                <a:lnTo>
                  <a:pt x="0" y="374903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392161" y="3646170"/>
            <a:ext cx="1430020" cy="798830"/>
          </a:xfrm>
          <a:custGeom>
            <a:avLst/>
            <a:gdLst/>
            <a:ahLst/>
            <a:cxnLst/>
            <a:rect l="l" t="t" r="r" b="b"/>
            <a:pathLst>
              <a:path w="1430020" h="798829">
                <a:moveTo>
                  <a:pt x="0" y="798575"/>
                </a:moveTo>
                <a:lnTo>
                  <a:pt x="1429511" y="798575"/>
                </a:lnTo>
                <a:lnTo>
                  <a:pt x="1429511" y="0"/>
                </a:lnTo>
                <a:lnTo>
                  <a:pt x="0" y="0"/>
                </a:lnTo>
                <a:lnTo>
                  <a:pt x="0" y="798575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392161" y="3646170"/>
            <a:ext cx="1430020" cy="798830"/>
          </a:xfrm>
          <a:custGeom>
            <a:avLst/>
            <a:gdLst/>
            <a:ahLst/>
            <a:cxnLst/>
            <a:rect l="l" t="t" r="r" b="b"/>
            <a:pathLst>
              <a:path w="1430020" h="798829">
                <a:moveTo>
                  <a:pt x="0" y="798575"/>
                </a:moveTo>
                <a:lnTo>
                  <a:pt x="1429511" y="798575"/>
                </a:lnTo>
                <a:lnTo>
                  <a:pt x="1429511" y="0"/>
                </a:lnTo>
                <a:lnTo>
                  <a:pt x="0" y="0"/>
                </a:lnTo>
                <a:lnTo>
                  <a:pt x="0" y="798575"/>
                </a:lnTo>
                <a:close/>
              </a:path>
            </a:pathLst>
          </a:custGeom>
          <a:ln w="25908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39789" y="4107815"/>
            <a:ext cx="833755" cy="438784"/>
          </a:xfrm>
          <a:custGeom>
            <a:avLst/>
            <a:gdLst/>
            <a:ahLst/>
            <a:cxnLst/>
            <a:rect l="l" t="t" r="r" b="b"/>
            <a:pathLst>
              <a:path w="833754" h="438785">
                <a:moveTo>
                  <a:pt x="833246" y="0"/>
                </a:moveTo>
                <a:lnTo>
                  <a:pt x="426592" y="19558"/>
                </a:lnTo>
                <a:lnTo>
                  <a:pt x="0" y="438785"/>
                </a:lnTo>
              </a:path>
            </a:pathLst>
          </a:custGeom>
          <a:ln w="25908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573136" y="3862196"/>
            <a:ext cx="106807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entury Schoolbook"/>
                <a:cs typeface="Century Schoolbook"/>
              </a:rPr>
              <a:t>A</a:t>
            </a:r>
            <a:r>
              <a:rPr sz="1100" dirty="0">
                <a:solidFill>
                  <a:srgbClr val="FFFFFF"/>
                </a:solidFill>
                <a:latin typeface="Century Schoolbook"/>
                <a:cs typeface="Century Schoolbook"/>
              </a:rPr>
              <a:t>l</a:t>
            </a:r>
            <a:r>
              <a:rPr sz="1100" spc="-5" dirty="0">
                <a:solidFill>
                  <a:srgbClr val="FFFFFF"/>
                </a:solidFill>
                <a:latin typeface="Century Schoolbook"/>
                <a:cs typeface="Century Schoolbook"/>
              </a:rPr>
              <a:t>g</a:t>
            </a:r>
            <a:r>
              <a:rPr sz="1100" dirty="0">
                <a:solidFill>
                  <a:srgbClr val="FFFFFF"/>
                </a:solidFill>
                <a:latin typeface="Century Schoolbook"/>
                <a:cs typeface="Century Schoolbook"/>
              </a:rPr>
              <a:t>ébriq</a:t>
            </a:r>
            <a:r>
              <a:rPr sz="1100" spc="-5" dirty="0">
                <a:solidFill>
                  <a:srgbClr val="FFFFFF"/>
                </a:solidFill>
                <a:latin typeface="Century Schoolbook"/>
                <a:cs typeface="Century Schoolbook"/>
              </a:rPr>
              <a:t>u</a:t>
            </a:r>
            <a:r>
              <a:rPr sz="1100" dirty="0">
                <a:solidFill>
                  <a:srgbClr val="FFFFFF"/>
                </a:solidFill>
                <a:latin typeface="Century Schoolbook"/>
                <a:cs typeface="Century Schoolbook"/>
              </a:rPr>
              <a:t>ement  optimal</a:t>
            </a:r>
            <a:endParaRPr sz="1100">
              <a:latin typeface="Century Schoolbook"/>
              <a:cs typeface="Century Schoolbook"/>
            </a:endParaRPr>
          </a:p>
        </p:txBody>
      </p:sp>
      <p:sp>
        <p:nvSpPr>
          <p:cNvPr id="39" name="Espace réservé du numéro de diapositive 3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17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7288" y="304800"/>
            <a:ext cx="7798512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R</a:t>
            </a:r>
            <a:r>
              <a:rPr spc="-10" dirty="0"/>
              <a:t>APPEL </a:t>
            </a:r>
            <a:r>
              <a:rPr sz="3000" dirty="0"/>
              <a:t>: </a:t>
            </a:r>
            <a:r>
              <a:rPr sz="3000" spc="-10" dirty="0"/>
              <a:t>O</a:t>
            </a:r>
            <a:r>
              <a:rPr spc="-10" dirty="0"/>
              <a:t>PTIMISATION</a:t>
            </a:r>
            <a:r>
              <a:rPr spc="-265" dirty="0"/>
              <a:t> </a:t>
            </a:r>
            <a:r>
              <a:rPr spc="-5" dirty="0"/>
              <a:t>ALGÉBRIQUE</a:t>
            </a:r>
            <a:endParaRPr sz="3000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2216812"/>
            <a:ext cx="7262495" cy="3345788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70"/>
              </a:spcBef>
              <a:buClr>
                <a:srgbClr val="FD8537"/>
              </a:buClr>
              <a:buSzPct val="69565"/>
              <a:buFont typeface="Wingdings"/>
              <a:buChar char=""/>
              <a:tabLst>
                <a:tab pos="287020" algn="l"/>
              </a:tabLst>
            </a:pPr>
            <a:r>
              <a:rPr sz="2300" spc="-5" dirty="0">
                <a:latin typeface="Century Schoolbook"/>
                <a:cs typeface="Century Schoolbook"/>
              </a:rPr>
              <a:t>Optimisation </a:t>
            </a:r>
            <a:r>
              <a:rPr sz="2300" dirty="0">
                <a:latin typeface="Century Schoolbook"/>
                <a:cs typeface="Century Schoolbook"/>
              </a:rPr>
              <a:t>basée sur les</a:t>
            </a:r>
            <a:r>
              <a:rPr sz="2300" spc="-80" dirty="0">
                <a:latin typeface="Century Schoolbook"/>
                <a:cs typeface="Century Schoolbook"/>
              </a:rPr>
              <a:t> </a:t>
            </a:r>
            <a:r>
              <a:rPr sz="2300" dirty="0">
                <a:latin typeface="Century Schoolbook"/>
                <a:cs typeface="Century Schoolbook"/>
              </a:rPr>
              <a:t>règles</a:t>
            </a:r>
          </a:p>
          <a:p>
            <a:pPr marL="652780" lvl="1" indent="-275590">
              <a:lnSpc>
                <a:spcPct val="100000"/>
              </a:lnSpc>
              <a:spcBef>
                <a:spcPts val="204"/>
              </a:spcBef>
              <a:buClr>
                <a:srgbClr val="FD8537"/>
              </a:buClr>
              <a:buSzPct val="79411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1700" dirty="0">
                <a:latin typeface="Century Schoolbook"/>
                <a:cs typeface="Century Schoolbook"/>
              </a:rPr>
              <a:t>Principe:</a:t>
            </a:r>
          </a:p>
          <a:p>
            <a:pPr marL="927100" marR="5080" lvl="2" indent="-182880">
              <a:lnSpc>
                <a:spcPts val="1839"/>
              </a:lnSpc>
              <a:spcBef>
                <a:spcPts val="434"/>
              </a:spcBef>
              <a:buClr>
                <a:srgbClr val="DF752E"/>
              </a:buClr>
              <a:buSzPct val="58823"/>
              <a:buFont typeface="Wingdings"/>
              <a:buChar char=""/>
              <a:tabLst>
                <a:tab pos="927735" algn="l"/>
              </a:tabLst>
            </a:pPr>
            <a:r>
              <a:rPr sz="1700" dirty="0">
                <a:latin typeface="Century Schoolbook"/>
                <a:cs typeface="Century Schoolbook"/>
              </a:rPr>
              <a:t>Faire les opérateurs les </a:t>
            </a:r>
            <a:r>
              <a:rPr sz="1700" spc="-5" dirty="0">
                <a:latin typeface="Century Schoolbook"/>
                <a:cs typeface="Century Schoolbook"/>
              </a:rPr>
              <a:t>moins </a:t>
            </a:r>
            <a:r>
              <a:rPr sz="1700" dirty="0">
                <a:latin typeface="Century Schoolbook"/>
                <a:cs typeface="Century Schoolbook"/>
              </a:rPr>
              <a:t>coûteux (projection, sélection)</a:t>
            </a:r>
            <a:r>
              <a:rPr sz="1700" spc="-110" dirty="0">
                <a:latin typeface="Century Schoolbook"/>
                <a:cs typeface="Century Schoolbook"/>
              </a:rPr>
              <a:t> </a:t>
            </a:r>
            <a:r>
              <a:rPr sz="1700" dirty="0">
                <a:latin typeface="Century Schoolbook"/>
                <a:cs typeface="Century Schoolbook"/>
              </a:rPr>
              <a:t>en  premier, de </a:t>
            </a:r>
            <a:r>
              <a:rPr sz="1700" spc="-5" dirty="0">
                <a:latin typeface="Century Schoolbook"/>
                <a:cs typeface="Century Schoolbook"/>
              </a:rPr>
              <a:t>manière </a:t>
            </a:r>
            <a:r>
              <a:rPr sz="1700" dirty="0">
                <a:latin typeface="Century Schoolbook"/>
                <a:cs typeface="Century Schoolbook"/>
              </a:rPr>
              <a:t>à réduire la </a:t>
            </a:r>
            <a:r>
              <a:rPr sz="1700" spc="-5" dirty="0">
                <a:latin typeface="Century Schoolbook"/>
                <a:cs typeface="Century Schoolbook"/>
              </a:rPr>
              <a:t>taille </a:t>
            </a:r>
            <a:r>
              <a:rPr sz="1700" dirty="0">
                <a:latin typeface="Century Schoolbook"/>
                <a:cs typeface="Century Schoolbook"/>
              </a:rPr>
              <a:t>des données </a:t>
            </a:r>
            <a:r>
              <a:rPr sz="1700" spc="-5" dirty="0">
                <a:latin typeface="Century Schoolbook"/>
                <a:cs typeface="Century Schoolbook"/>
              </a:rPr>
              <a:t>d’entrée  </a:t>
            </a:r>
            <a:r>
              <a:rPr sz="1700" dirty="0">
                <a:latin typeface="Century Schoolbook"/>
                <a:cs typeface="Century Schoolbook"/>
              </a:rPr>
              <a:t>pour les opérateurs les plus coûteux</a:t>
            </a:r>
            <a:r>
              <a:rPr sz="1700" spc="-100" dirty="0">
                <a:latin typeface="Century Schoolbook"/>
                <a:cs typeface="Century Schoolbook"/>
              </a:rPr>
              <a:t> </a:t>
            </a:r>
            <a:r>
              <a:rPr sz="1700" dirty="0">
                <a:latin typeface="Century Schoolbook"/>
                <a:cs typeface="Century Schoolbook"/>
              </a:rPr>
              <a:t>(jointure)</a:t>
            </a:r>
          </a:p>
          <a:p>
            <a:pPr lvl="2">
              <a:lnSpc>
                <a:spcPct val="100000"/>
              </a:lnSpc>
              <a:spcBef>
                <a:spcPts val="50"/>
              </a:spcBef>
              <a:buClr>
                <a:srgbClr val="DF752E"/>
              </a:buClr>
              <a:buFont typeface="Wingdings"/>
              <a:buChar char=""/>
            </a:pPr>
            <a:endParaRPr sz="2500" dirty="0">
              <a:latin typeface="Times New Roman"/>
              <a:cs typeface="Times New Roman"/>
            </a:endParaRPr>
          </a:p>
          <a:p>
            <a:pPr marL="652780" lvl="1" indent="-275590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79411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1700" dirty="0">
                <a:latin typeface="Century Schoolbook"/>
                <a:cs typeface="Century Schoolbook"/>
              </a:rPr>
              <a:t>Méthodologie</a:t>
            </a:r>
            <a:r>
              <a:rPr sz="1700" spc="-30" dirty="0">
                <a:latin typeface="Century Schoolbook"/>
                <a:cs typeface="Century Schoolbook"/>
              </a:rPr>
              <a:t> </a:t>
            </a:r>
            <a:r>
              <a:rPr sz="1700" dirty="0">
                <a:latin typeface="Century Schoolbook"/>
                <a:cs typeface="Century Schoolbook"/>
              </a:rPr>
              <a:t>:</a:t>
            </a:r>
          </a:p>
          <a:p>
            <a:pPr marL="927100" lvl="2" indent="-183515">
              <a:lnSpc>
                <a:spcPts val="1939"/>
              </a:lnSpc>
              <a:spcBef>
                <a:spcPts val="200"/>
              </a:spcBef>
              <a:buClr>
                <a:srgbClr val="DF752E"/>
              </a:buClr>
              <a:buSzPct val="58823"/>
              <a:buFont typeface="Wingdings"/>
              <a:buChar char=""/>
              <a:tabLst>
                <a:tab pos="927735" algn="l"/>
              </a:tabLst>
            </a:pPr>
            <a:r>
              <a:rPr sz="1700" dirty="0">
                <a:latin typeface="Century Schoolbook"/>
                <a:cs typeface="Century Schoolbook"/>
              </a:rPr>
              <a:t>Descendre les sélections, puis les </a:t>
            </a:r>
            <a:r>
              <a:rPr sz="1700" spc="-5" dirty="0">
                <a:latin typeface="Century Schoolbook"/>
                <a:cs typeface="Century Schoolbook"/>
              </a:rPr>
              <a:t>projections </a:t>
            </a:r>
            <a:r>
              <a:rPr sz="1700" dirty="0">
                <a:latin typeface="Century Schoolbook"/>
                <a:cs typeface="Century Schoolbook"/>
              </a:rPr>
              <a:t>au</a:t>
            </a:r>
            <a:r>
              <a:rPr sz="1700" spc="-114" dirty="0">
                <a:latin typeface="Century Schoolbook"/>
                <a:cs typeface="Century Schoolbook"/>
              </a:rPr>
              <a:t> </a:t>
            </a:r>
            <a:r>
              <a:rPr sz="1700" spc="-5" dirty="0">
                <a:latin typeface="Century Schoolbook"/>
                <a:cs typeface="Century Schoolbook"/>
              </a:rPr>
              <a:t>maximum</a:t>
            </a:r>
            <a:endParaRPr sz="1700" dirty="0">
              <a:latin typeface="Century Schoolbook"/>
              <a:cs typeface="Century Schoolbook"/>
            </a:endParaRPr>
          </a:p>
          <a:p>
            <a:pPr marL="927100">
              <a:lnSpc>
                <a:spcPts val="1939"/>
              </a:lnSpc>
            </a:pPr>
            <a:r>
              <a:rPr sz="1700" spc="-5" dirty="0">
                <a:latin typeface="Century Schoolbook"/>
                <a:cs typeface="Century Schoolbook"/>
              </a:rPr>
              <a:t>grâce aux </a:t>
            </a:r>
            <a:r>
              <a:rPr sz="1700" dirty="0">
                <a:latin typeface="Century Schoolbook"/>
                <a:cs typeface="Century Schoolbook"/>
              </a:rPr>
              <a:t>règles de</a:t>
            </a:r>
            <a:r>
              <a:rPr sz="1700" spc="-30" dirty="0">
                <a:latin typeface="Century Schoolbook"/>
                <a:cs typeface="Century Schoolbook"/>
              </a:rPr>
              <a:t> </a:t>
            </a:r>
            <a:r>
              <a:rPr sz="1700" spc="-5" dirty="0">
                <a:latin typeface="Century Schoolbook"/>
                <a:cs typeface="Century Schoolbook"/>
              </a:rPr>
              <a:t>transformation</a:t>
            </a:r>
            <a:endParaRPr sz="1700" dirty="0">
              <a:latin typeface="Century Schoolbook"/>
              <a:cs typeface="Century Schoolbook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50" dirty="0">
              <a:latin typeface="Times New Roman"/>
              <a:cs typeface="Times New Roman"/>
            </a:endParaRPr>
          </a:p>
          <a:p>
            <a:pPr marL="927100" lvl="2" indent="-183515">
              <a:lnSpc>
                <a:spcPct val="100000"/>
              </a:lnSpc>
              <a:spcBef>
                <a:spcPts val="200"/>
              </a:spcBef>
              <a:buClr>
                <a:srgbClr val="DF752E"/>
              </a:buClr>
              <a:buSzPct val="58823"/>
              <a:tabLst>
                <a:tab pos="927735" algn="l"/>
              </a:tabLst>
            </a:pPr>
            <a:endParaRPr sz="1700" dirty="0">
              <a:solidFill>
                <a:srgbClr val="FF0000"/>
              </a:solidFill>
              <a:latin typeface="Century Schoolbook"/>
              <a:cs typeface="Century Schoolbook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18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7288" y="559548"/>
            <a:ext cx="74161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EXEMPLE </a:t>
            </a:r>
            <a:r>
              <a:rPr sz="2400" dirty="0"/>
              <a:t>D’UN </a:t>
            </a:r>
            <a:r>
              <a:rPr sz="2400" spc="-5" dirty="0"/>
              <a:t>PLAN D’EXÉCUTION</a:t>
            </a:r>
            <a:r>
              <a:rPr sz="2400" spc="600" dirty="0"/>
              <a:t> </a:t>
            </a:r>
            <a:r>
              <a:rPr sz="2400" spc="-10" dirty="0"/>
              <a:t>RÉPARTI</a:t>
            </a:r>
            <a:endParaRPr sz="2400" dirty="0"/>
          </a:p>
        </p:txBody>
      </p:sp>
      <p:sp>
        <p:nvSpPr>
          <p:cNvPr id="4" name="object 4"/>
          <p:cNvSpPr txBox="1"/>
          <p:nvPr/>
        </p:nvSpPr>
        <p:spPr>
          <a:xfrm>
            <a:off x="320141" y="1590801"/>
            <a:ext cx="33216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dirty="0">
                <a:latin typeface="Century Schoolbook"/>
                <a:cs typeface="Century Schoolbook"/>
              </a:rPr>
              <a:t>Schéma </a:t>
            </a:r>
            <a:r>
              <a:rPr sz="2000" spc="-5" dirty="0">
                <a:latin typeface="Century Schoolbook"/>
                <a:cs typeface="Century Schoolbook"/>
              </a:rPr>
              <a:t>de</a:t>
            </a:r>
            <a:r>
              <a:rPr sz="2000" spc="-65" dirty="0">
                <a:latin typeface="Century Schoolbook"/>
                <a:cs typeface="Century Schoolbook"/>
              </a:rPr>
              <a:t> </a:t>
            </a:r>
            <a:r>
              <a:rPr sz="2000" spc="-5" dirty="0">
                <a:latin typeface="Century Schoolbook"/>
                <a:cs typeface="Century Schoolbook"/>
              </a:rPr>
              <a:t>fragmentation</a:t>
            </a:r>
            <a:endParaRPr sz="2000">
              <a:latin typeface="Century Schoolbook"/>
              <a:cs typeface="Century Schoolbook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3186" y="2092870"/>
          <a:ext cx="2380614" cy="23268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755"/>
                <a:gridCol w="488950"/>
                <a:gridCol w="1311909"/>
              </a:tblGrid>
              <a:tr h="344930">
                <a:tc>
                  <a:txBody>
                    <a:bodyPr/>
                    <a:lstStyle/>
                    <a:p>
                      <a:pPr marR="21590" algn="ctr">
                        <a:lnSpc>
                          <a:spcPts val="1650"/>
                        </a:lnSpc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Site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ts val="1650"/>
                        </a:lnSpc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6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522097"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Site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0645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6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0645" marB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Client2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0645" marB="0"/>
                </a:tc>
              </a:tr>
              <a:tr h="554863"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Site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4224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1600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4224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Cde1 =</a:t>
                      </a:r>
                      <a:r>
                        <a:rPr sz="16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Cde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42240" marB="0"/>
                </a:tc>
              </a:tr>
              <a:tr h="526541"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Site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13665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4</a:t>
                      </a:r>
                      <a:r>
                        <a:rPr sz="1600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13665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Cde2 =</a:t>
                      </a:r>
                      <a:r>
                        <a:rPr sz="16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Cde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13665" marB="0"/>
                </a:tc>
              </a:tr>
              <a:tr h="378458"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Site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1430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5</a:t>
                      </a:r>
                      <a:r>
                        <a:rPr sz="1600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1430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Résultat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14300" marB="0"/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985516" y="3044951"/>
            <a:ext cx="0" cy="312420"/>
          </a:xfrm>
          <a:custGeom>
            <a:avLst/>
            <a:gdLst/>
            <a:ahLst/>
            <a:cxnLst/>
            <a:rect l="l" t="t" r="r" b="b"/>
            <a:pathLst>
              <a:path h="312420">
                <a:moveTo>
                  <a:pt x="0" y="0"/>
                </a:moveTo>
                <a:lnTo>
                  <a:pt x="0" y="31242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79420" y="3048000"/>
            <a:ext cx="826135" cy="334010"/>
          </a:xfrm>
          <a:custGeom>
            <a:avLst/>
            <a:gdLst/>
            <a:ahLst/>
            <a:cxnLst/>
            <a:rect l="l" t="t" r="r" b="b"/>
            <a:pathLst>
              <a:path w="826135" h="334010">
                <a:moveTo>
                  <a:pt x="0" y="0"/>
                </a:moveTo>
                <a:lnTo>
                  <a:pt x="826007" y="33375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87039" y="3044951"/>
            <a:ext cx="828040" cy="332740"/>
          </a:xfrm>
          <a:custGeom>
            <a:avLst/>
            <a:gdLst/>
            <a:ahLst/>
            <a:cxnLst/>
            <a:rect l="l" t="t" r="r" b="b"/>
            <a:pathLst>
              <a:path w="828039" h="332739">
                <a:moveTo>
                  <a:pt x="827532" y="0"/>
                </a:moveTo>
                <a:lnTo>
                  <a:pt x="0" y="332232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09900" y="3628644"/>
            <a:ext cx="0" cy="312420"/>
          </a:xfrm>
          <a:custGeom>
            <a:avLst/>
            <a:gdLst/>
            <a:ahLst/>
            <a:cxnLst/>
            <a:rect l="l" t="t" r="r" b="b"/>
            <a:pathLst>
              <a:path h="312420">
                <a:moveTo>
                  <a:pt x="0" y="0"/>
                </a:moveTo>
                <a:lnTo>
                  <a:pt x="0" y="31241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03804" y="3631691"/>
            <a:ext cx="828040" cy="334010"/>
          </a:xfrm>
          <a:custGeom>
            <a:avLst/>
            <a:gdLst/>
            <a:ahLst/>
            <a:cxnLst/>
            <a:rect l="l" t="t" r="r" b="b"/>
            <a:pathLst>
              <a:path w="828039" h="334010">
                <a:moveTo>
                  <a:pt x="0" y="0"/>
                </a:moveTo>
                <a:lnTo>
                  <a:pt x="827532" y="33375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11423" y="3628644"/>
            <a:ext cx="828040" cy="334010"/>
          </a:xfrm>
          <a:custGeom>
            <a:avLst/>
            <a:gdLst/>
            <a:ahLst/>
            <a:cxnLst/>
            <a:rect l="l" t="t" r="r" b="b"/>
            <a:pathLst>
              <a:path w="828039" h="334010">
                <a:moveTo>
                  <a:pt x="827531" y="0"/>
                </a:moveTo>
                <a:lnTo>
                  <a:pt x="0" y="33375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33498" y="1791715"/>
            <a:ext cx="3628390" cy="2284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3825" algn="r">
              <a:lnSpc>
                <a:spcPts val="4165"/>
              </a:lnSpc>
              <a:spcBef>
                <a:spcPts val="100"/>
              </a:spcBef>
            </a:pPr>
            <a:r>
              <a:rPr sz="1600" spc="-10" dirty="0">
                <a:latin typeface="Courier New"/>
                <a:cs typeface="Courier New"/>
              </a:rPr>
              <a:t>C</a:t>
            </a:r>
            <a:r>
              <a:rPr sz="1600" spc="-5" dirty="0">
                <a:latin typeface="Courier New"/>
                <a:cs typeface="Courier New"/>
              </a:rPr>
              <a:t>l</a:t>
            </a:r>
            <a:r>
              <a:rPr sz="1600" spc="-10" dirty="0">
                <a:latin typeface="Courier New"/>
                <a:cs typeface="Courier New"/>
              </a:rPr>
              <a:t>i</a:t>
            </a:r>
            <a:r>
              <a:rPr sz="1600" spc="-5" dirty="0">
                <a:latin typeface="Courier New"/>
                <a:cs typeface="Courier New"/>
              </a:rPr>
              <a:t>e</a:t>
            </a:r>
            <a:r>
              <a:rPr sz="1600" spc="-10" dirty="0">
                <a:latin typeface="Courier New"/>
                <a:cs typeface="Courier New"/>
              </a:rPr>
              <a:t>n</a:t>
            </a:r>
            <a:r>
              <a:rPr sz="1600" spc="-5" dirty="0">
                <a:latin typeface="Courier New"/>
                <a:cs typeface="Courier New"/>
              </a:rPr>
              <a:t>t1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=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3600" dirty="0">
                <a:latin typeface="Symbol"/>
                <a:cs typeface="Symbol"/>
              </a:rPr>
              <a:t></a:t>
            </a:r>
            <a:r>
              <a:rPr sz="1575" spc="7" baseline="-21164" dirty="0">
                <a:latin typeface="Courier New"/>
                <a:cs typeface="Courier New"/>
              </a:rPr>
              <a:t>vill</a:t>
            </a:r>
            <a:r>
              <a:rPr sz="1575" spc="15" baseline="-21164" dirty="0">
                <a:latin typeface="Courier New"/>
                <a:cs typeface="Courier New"/>
              </a:rPr>
              <a:t>e =</a:t>
            </a:r>
            <a:r>
              <a:rPr sz="1575" baseline="-21164" dirty="0">
                <a:latin typeface="Courier New"/>
                <a:cs typeface="Courier New"/>
              </a:rPr>
              <a:t> </a:t>
            </a:r>
            <a:r>
              <a:rPr sz="1575" spc="7" baseline="-21164" dirty="0">
                <a:latin typeface="Courier New"/>
                <a:cs typeface="Courier New"/>
              </a:rPr>
              <a:t>Lyo</a:t>
            </a:r>
            <a:r>
              <a:rPr sz="1575" baseline="-21164" dirty="0">
                <a:latin typeface="Courier New"/>
                <a:cs typeface="Courier New"/>
              </a:rPr>
              <a:t>n</a:t>
            </a:r>
            <a:r>
              <a:rPr sz="1600" spc="-5" dirty="0">
                <a:latin typeface="Courier New"/>
                <a:cs typeface="Courier New"/>
              </a:rPr>
              <a:t>(Client)</a:t>
            </a:r>
            <a:endParaRPr sz="1600">
              <a:latin typeface="Courier New"/>
              <a:cs typeface="Courier New"/>
            </a:endParaRPr>
          </a:p>
          <a:p>
            <a:pPr marR="43180" algn="r">
              <a:lnSpc>
                <a:spcPts val="4165"/>
              </a:lnSpc>
            </a:pPr>
            <a:r>
              <a:rPr sz="5400" baseline="6172" dirty="0">
                <a:latin typeface="Symbol"/>
                <a:cs typeface="Symbol"/>
              </a:rPr>
              <a:t></a:t>
            </a:r>
            <a:r>
              <a:rPr sz="1050" spc="5" dirty="0">
                <a:latin typeface="Courier New"/>
                <a:cs typeface="Courier New"/>
              </a:rPr>
              <a:t>vill</a:t>
            </a:r>
            <a:r>
              <a:rPr sz="1050" spc="10" dirty="0">
                <a:latin typeface="Courier New"/>
                <a:cs typeface="Courier New"/>
              </a:rPr>
              <a:t>e </a:t>
            </a:r>
            <a:r>
              <a:rPr sz="1050" spc="5" dirty="0">
                <a:latin typeface="Courier New"/>
                <a:cs typeface="Courier New"/>
              </a:rPr>
              <a:t>!</a:t>
            </a:r>
            <a:r>
              <a:rPr sz="1050" spc="10" dirty="0">
                <a:latin typeface="Courier New"/>
                <a:cs typeface="Courier New"/>
              </a:rPr>
              <a:t>=</a:t>
            </a:r>
            <a:r>
              <a:rPr sz="1050" dirty="0">
                <a:latin typeface="Courier New"/>
                <a:cs typeface="Courier New"/>
              </a:rPr>
              <a:t> </a:t>
            </a:r>
            <a:r>
              <a:rPr sz="1050" spc="5" dirty="0">
                <a:latin typeface="Courier New"/>
                <a:cs typeface="Courier New"/>
              </a:rPr>
              <a:t>Lyo</a:t>
            </a:r>
            <a:r>
              <a:rPr sz="1050" dirty="0">
                <a:latin typeface="Courier New"/>
                <a:cs typeface="Courier New"/>
              </a:rPr>
              <a:t>n</a:t>
            </a:r>
            <a:r>
              <a:rPr sz="2400" spc="-7" baseline="13888" dirty="0">
                <a:latin typeface="Courier New"/>
                <a:cs typeface="Courier New"/>
              </a:rPr>
              <a:t>(Client)</a:t>
            </a:r>
            <a:endParaRPr sz="2400" baseline="13888">
              <a:latin typeface="Courier New"/>
              <a:cs typeface="Courier New"/>
            </a:endParaRPr>
          </a:p>
          <a:p>
            <a:pPr marL="2245360">
              <a:lnSpc>
                <a:spcPts val="1720"/>
              </a:lnSpc>
              <a:spcBef>
                <a:spcPts val="1889"/>
              </a:spcBef>
            </a:pPr>
            <a:r>
              <a:rPr sz="1600" spc="-5" dirty="0">
                <a:latin typeface="Courier New"/>
                <a:cs typeface="Courier New"/>
              </a:rPr>
              <a:t>Client1</a:t>
            </a:r>
            <a:endParaRPr sz="1600">
              <a:latin typeface="Courier New"/>
              <a:cs typeface="Courier New"/>
            </a:endParaRPr>
          </a:p>
          <a:p>
            <a:pPr marL="57150" algn="ctr">
              <a:lnSpc>
                <a:spcPts val="1240"/>
              </a:lnSpc>
            </a:pPr>
            <a:r>
              <a:rPr sz="1200" dirty="0">
                <a:latin typeface="Courier New"/>
                <a:cs typeface="Courier New"/>
              </a:rPr>
              <a:t>nclient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L="2245360">
              <a:lnSpc>
                <a:spcPct val="100000"/>
              </a:lnSpc>
            </a:pPr>
            <a:r>
              <a:rPr sz="1600" spc="-5" dirty="0">
                <a:latin typeface="Courier New"/>
                <a:cs typeface="Courier New"/>
              </a:rPr>
              <a:t>Client2</a:t>
            </a:r>
            <a:endParaRPr sz="1600">
              <a:latin typeface="Courier New"/>
              <a:cs typeface="Courier New"/>
            </a:endParaRPr>
          </a:p>
          <a:p>
            <a:pPr marL="107950" algn="ctr">
              <a:lnSpc>
                <a:spcPct val="100000"/>
              </a:lnSpc>
              <a:spcBef>
                <a:spcPts val="65"/>
              </a:spcBef>
            </a:pPr>
            <a:r>
              <a:rPr sz="1200" dirty="0">
                <a:latin typeface="Courier New"/>
                <a:cs typeface="Courier New"/>
              </a:rPr>
              <a:t>nclient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19</a:t>
            </a:fld>
            <a:endParaRPr lang="fr-FR" dirty="0"/>
          </a:p>
        </p:txBody>
      </p:sp>
      <p:sp>
        <p:nvSpPr>
          <p:cNvPr id="14" name="object 6"/>
          <p:cNvSpPr txBox="1"/>
          <p:nvPr/>
        </p:nvSpPr>
        <p:spPr>
          <a:xfrm>
            <a:off x="1524000" y="5410200"/>
            <a:ext cx="5655310" cy="84836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SELECT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*</a:t>
            </a: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tabLst>
                <a:tab pos="1459865" algn="l"/>
              </a:tabLst>
            </a:pPr>
            <a:r>
              <a:rPr sz="1800" dirty="0">
                <a:latin typeface="Arial"/>
                <a:cs typeface="Arial"/>
              </a:rPr>
              <a:t>FROM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Client	</a:t>
            </a:r>
            <a:r>
              <a:rPr sz="1800" dirty="0">
                <a:latin typeface="Arial"/>
                <a:cs typeface="Arial"/>
              </a:rPr>
              <a:t>JOIN </a:t>
            </a:r>
            <a:r>
              <a:rPr sz="1800" spc="-5" dirty="0">
                <a:latin typeface="Arial"/>
                <a:cs typeface="Arial"/>
              </a:rPr>
              <a:t>Cde </a:t>
            </a:r>
            <a:r>
              <a:rPr sz="1800" dirty="0">
                <a:latin typeface="Arial"/>
                <a:cs typeface="Arial"/>
              </a:rPr>
              <a:t>ON </a:t>
            </a:r>
            <a:r>
              <a:rPr sz="1800" spc="-5" dirty="0">
                <a:latin typeface="Arial"/>
                <a:cs typeface="Arial"/>
              </a:rPr>
              <a:t>Client.nclient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Cde.nclient  WHERE Cde.qte </a:t>
            </a:r>
            <a:r>
              <a:rPr sz="1800" dirty="0">
                <a:latin typeface="Arial"/>
                <a:cs typeface="Arial"/>
              </a:rPr>
              <a:t>&gt;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10;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/>
          <p:nvPr/>
        </p:nvSpPr>
        <p:spPr>
          <a:xfrm>
            <a:off x="335076" y="3352800"/>
            <a:ext cx="6599124" cy="35009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34995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3366FF"/>
                </a:solidFill>
                <a:latin typeface="Century Schoolbook"/>
                <a:cs typeface="Century Schoolbook"/>
              </a:rPr>
              <a:t>Site</a:t>
            </a:r>
            <a:r>
              <a:rPr sz="1800" i="1" spc="-10" dirty="0">
                <a:solidFill>
                  <a:srgbClr val="3366FF"/>
                </a:solidFill>
                <a:latin typeface="Century Schoolbook"/>
                <a:cs typeface="Century Schoolbook"/>
              </a:rPr>
              <a:t> </a:t>
            </a:r>
            <a:r>
              <a:rPr sz="1800" i="1" dirty="0">
                <a:solidFill>
                  <a:srgbClr val="3366FF"/>
                </a:solidFill>
                <a:latin typeface="Century Schoolbook"/>
                <a:cs typeface="Century Schoolbook"/>
              </a:rPr>
              <a:t>2</a:t>
            </a:r>
            <a:endParaRPr sz="1800" dirty="0">
              <a:latin typeface="Century Schoolbook"/>
              <a:cs typeface="Century Schoolbook"/>
            </a:endParaRPr>
          </a:p>
          <a:p>
            <a:pPr marL="287020" indent="-274320">
              <a:lnSpc>
                <a:spcPct val="100000"/>
              </a:lnSpc>
              <a:spcBef>
                <a:spcPts val="1440"/>
              </a:spcBef>
              <a:buClr>
                <a:srgbClr val="FD8537"/>
              </a:buClr>
              <a:buSzPct val="67647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700" dirty="0">
                <a:latin typeface="Century Schoolbook"/>
                <a:cs typeface="Century Schoolbook"/>
              </a:rPr>
              <a:t>Un </a:t>
            </a:r>
            <a:r>
              <a:rPr sz="1700" spc="-5" dirty="0">
                <a:latin typeface="Century Schoolbook"/>
                <a:cs typeface="Century Schoolbook"/>
              </a:rPr>
              <a:t>plan d’exécution</a:t>
            </a:r>
            <a:r>
              <a:rPr sz="1700" spc="-40" dirty="0">
                <a:latin typeface="Century Schoolbook"/>
                <a:cs typeface="Century Schoolbook"/>
              </a:rPr>
              <a:t> </a:t>
            </a:r>
            <a:r>
              <a:rPr sz="1700" dirty="0">
                <a:latin typeface="Century Schoolbook"/>
                <a:cs typeface="Century Schoolbook"/>
              </a:rPr>
              <a:t>possible</a:t>
            </a:r>
          </a:p>
          <a:p>
            <a:pPr marL="652780" lvl="1" indent="-274955">
              <a:lnSpc>
                <a:spcPct val="100000"/>
              </a:lnSpc>
              <a:spcBef>
                <a:spcPts val="370"/>
              </a:spcBef>
              <a:buClr>
                <a:srgbClr val="FD8537"/>
              </a:buClr>
              <a:buSzPct val="80000"/>
              <a:buFont typeface="Wingdings 2"/>
              <a:buChar char=""/>
              <a:tabLst>
                <a:tab pos="652145" algn="l"/>
                <a:tab pos="652780" algn="l"/>
              </a:tabLst>
            </a:pPr>
            <a:r>
              <a:rPr sz="1500" spc="-5" dirty="0">
                <a:latin typeface="Century Schoolbook"/>
                <a:cs typeface="Century Schoolbook"/>
              </a:rPr>
              <a:t>Transfert de Client1 du </a:t>
            </a:r>
            <a:r>
              <a:rPr sz="1500" dirty="0">
                <a:latin typeface="Century Schoolbook"/>
                <a:cs typeface="Century Schoolbook"/>
              </a:rPr>
              <a:t>Site 1 </a:t>
            </a:r>
            <a:r>
              <a:rPr sz="1500" spc="-5" dirty="0">
                <a:latin typeface="Century Schoolbook"/>
                <a:cs typeface="Century Schoolbook"/>
              </a:rPr>
              <a:t>vers le </a:t>
            </a:r>
            <a:r>
              <a:rPr sz="1500" dirty="0">
                <a:latin typeface="Century Schoolbook"/>
                <a:cs typeface="Century Schoolbook"/>
              </a:rPr>
              <a:t>Site</a:t>
            </a:r>
            <a:r>
              <a:rPr sz="1500" spc="-45" dirty="0">
                <a:latin typeface="Century Schoolbook"/>
                <a:cs typeface="Century Schoolbook"/>
              </a:rPr>
              <a:t> </a:t>
            </a:r>
            <a:r>
              <a:rPr sz="1500" dirty="0">
                <a:latin typeface="Century Schoolbook"/>
                <a:cs typeface="Century Schoolbook"/>
              </a:rPr>
              <a:t>5</a:t>
            </a:r>
          </a:p>
          <a:p>
            <a:pPr marL="652780" lvl="1" indent="-274955">
              <a:lnSpc>
                <a:spcPct val="100000"/>
              </a:lnSpc>
              <a:spcBef>
                <a:spcPts val="360"/>
              </a:spcBef>
              <a:buClr>
                <a:srgbClr val="FD8537"/>
              </a:buClr>
              <a:buSzPct val="80000"/>
              <a:buFont typeface="Wingdings 2"/>
              <a:buChar char=""/>
              <a:tabLst>
                <a:tab pos="652145" algn="l"/>
                <a:tab pos="652780" algn="l"/>
              </a:tabLst>
            </a:pPr>
            <a:r>
              <a:rPr sz="1500" spc="-5" dirty="0">
                <a:latin typeface="Century Schoolbook"/>
                <a:cs typeface="Century Schoolbook"/>
              </a:rPr>
              <a:t>Transfert de Client2 du </a:t>
            </a:r>
            <a:r>
              <a:rPr sz="1500" dirty="0">
                <a:latin typeface="Century Schoolbook"/>
                <a:cs typeface="Century Schoolbook"/>
              </a:rPr>
              <a:t>Site 2 </a:t>
            </a:r>
            <a:r>
              <a:rPr sz="1500" spc="-5" dirty="0">
                <a:latin typeface="Century Schoolbook"/>
                <a:cs typeface="Century Schoolbook"/>
              </a:rPr>
              <a:t>vers le </a:t>
            </a:r>
            <a:r>
              <a:rPr sz="1500" dirty="0">
                <a:latin typeface="Century Schoolbook"/>
                <a:cs typeface="Century Schoolbook"/>
              </a:rPr>
              <a:t>Site</a:t>
            </a:r>
            <a:r>
              <a:rPr sz="1500" spc="-45" dirty="0">
                <a:latin typeface="Century Schoolbook"/>
                <a:cs typeface="Century Schoolbook"/>
              </a:rPr>
              <a:t> </a:t>
            </a:r>
            <a:r>
              <a:rPr sz="1500" dirty="0">
                <a:latin typeface="Century Schoolbook"/>
                <a:cs typeface="Century Schoolbook"/>
              </a:rPr>
              <a:t>5</a:t>
            </a:r>
          </a:p>
          <a:p>
            <a:pPr marL="652780" lvl="1" indent="-274955">
              <a:lnSpc>
                <a:spcPct val="100000"/>
              </a:lnSpc>
              <a:spcBef>
                <a:spcPts val="360"/>
              </a:spcBef>
              <a:buClr>
                <a:srgbClr val="FD8537"/>
              </a:buClr>
              <a:buSzPct val="80000"/>
              <a:buFont typeface="Wingdings 2"/>
              <a:buChar char=""/>
              <a:tabLst>
                <a:tab pos="652145" algn="l"/>
                <a:tab pos="652780" algn="l"/>
              </a:tabLst>
            </a:pPr>
            <a:r>
              <a:rPr sz="1500" spc="-5" dirty="0">
                <a:latin typeface="Century Schoolbook"/>
                <a:cs typeface="Century Schoolbook"/>
              </a:rPr>
              <a:t>Transfert de Cde1 du Site </a:t>
            </a:r>
            <a:r>
              <a:rPr sz="1500" dirty="0">
                <a:latin typeface="Century Schoolbook"/>
                <a:cs typeface="Century Schoolbook"/>
              </a:rPr>
              <a:t>3 </a:t>
            </a:r>
            <a:r>
              <a:rPr sz="1500" spc="-5" dirty="0">
                <a:latin typeface="Century Schoolbook"/>
                <a:cs typeface="Century Schoolbook"/>
              </a:rPr>
              <a:t>vers le Site</a:t>
            </a:r>
            <a:r>
              <a:rPr sz="1500" spc="-30" dirty="0">
                <a:latin typeface="Century Schoolbook"/>
                <a:cs typeface="Century Schoolbook"/>
              </a:rPr>
              <a:t> </a:t>
            </a:r>
            <a:r>
              <a:rPr sz="1500" dirty="0">
                <a:latin typeface="Century Schoolbook"/>
                <a:cs typeface="Century Schoolbook"/>
              </a:rPr>
              <a:t>5</a:t>
            </a:r>
          </a:p>
          <a:p>
            <a:pPr marL="652780" lvl="1" indent="-274955">
              <a:lnSpc>
                <a:spcPct val="100000"/>
              </a:lnSpc>
              <a:spcBef>
                <a:spcPts val="360"/>
              </a:spcBef>
              <a:buClr>
                <a:srgbClr val="FD8537"/>
              </a:buClr>
              <a:buSzPct val="80000"/>
              <a:buFont typeface="Wingdings 2"/>
              <a:buChar char=""/>
              <a:tabLst>
                <a:tab pos="652145" algn="l"/>
                <a:tab pos="652780" algn="l"/>
              </a:tabLst>
            </a:pPr>
            <a:r>
              <a:rPr sz="1500" spc="-5" dirty="0">
                <a:latin typeface="Century Schoolbook"/>
                <a:cs typeface="Century Schoolbook"/>
              </a:rPr>
              <a:t>Transfert de Cde2 du Site </a:t>
            </a:r>
            <a:r>
              <a:rPr sz="1500" dirty="0">
                <a:latin typeface="Century Schoolbook"/>
                <a:cs typeface="Century Schoolbook"/>
              </a:rPr>
              <a:t>4 </a:t>
            </a:r>
            <a:r>
              <a:rPr sz="1500" spc="-5" dirty="0">
                <a:latin typeface="Century Schoolbook"/>
                <a:cs typeface="Century Schoolbook"/>
              </a:rPr>
              <a:t>vers le Site</a:t>
            </a:r>
            <a:r>
              <a:rPr sz="1500" spc="-30" dirty="0">
                <a:latin typeface="Century Schoolbook"/>
                <a:cs typeface="Century Schoolbook"/>
              </a:rPr>
              <a:t> </a:t>
            </a:r>
            <a:r>
              <a:rPr sz="1500" dirty="0">
                <a:latin typeface="Century Schoolbook"/>
                <a:cs typeface="Century Schoolbook"/>
              </a:rPr>
              <a:t>5</a:t>
            </a:r>
          </a:p>
          <a:p>
            <a:pPr marL="652780" lvl="1" indent="-274955">
              <a:lnSpc>
                <a:spcPct val="100000"/>
              </a:lnSpc>
              <a:spcBef>
                <a:spcPts val="360"/>
              </a:spcBef>
              <a:buClr>
                <a:srgbClr val="FD8537"/>
              </a:buClr>
              <a:buSzPct val="80000"/>
              <a:buFont typeface="Wingdings 2"/>
              <a:buChar char=""/>
              <a:tabLst>
                <a:tab pos="652145" algn="l"/>
                <a:tab pos="652780" algn="l"/>
              </a:tabLst>
            </a:pPr>
            <a:r>
              <a:rPr sz="1500" dirty="0">
                <a:latin typeface="Century Schoolbook"/>
                <a:cs typeface="Century Schoolbook"/>
              </a:rPr>
              <a:t>Sur site 5: </a:t>
            </a:r>
            <a:r>
              <a:rPr sz="1500" spc="-5" dirty="0">
                <a:latin typeface="Century Schoolbook"/>
                <a:cs typeface="Century Schoolbook"/>
              </a:rPr>
              <a:t>Union </a:t>
            </a:r>
            <a:r>
              <a:rPr sz="1500" dirty="0">
                <a:latin typeface="Century Schoolbook"/>
                <a:cs typeface="Century Schoolbook"/>
              </a:rPr>
              <a:t>de </a:t>
            </a:r>
            <a:r>
              <a:rPr sz="1500" spc="-5" dirty="0">
                <a:latin typeface="Century Schoolbook"/>
                <a:cs typeface="Century Schoolbook"/>
              </a:rPr>
              <a:t>Client1 </a:t>
            </a:r>
            <a:r>
              <a:rPr sz="1500" dirty="0">
                <a:latin typeface="Century Schoolbook"/>
                <a:cs typeface="Century Schoolbook"/>
              </a:rPr>
              <a:t>et </a:t>
            </a:r>
            <a:r>
              <a:rPr sz="1500" spc="-5" dirty="0">
                <a:latin typeface="Century Schoolbook"/>
                <a:cs typeface="Century Schoolbook"/>
              </a:rPr>
              <a:t>Client2 </a:t>
            </a:r>
            <a:r>
              <a:rPr sz="1500" dirty="0">
                <a:latin typeface="Century Schoolbook"/>
                <a:cs typeface="Century Schoolbook"/>
              </a:rPr>
              <a:t>: on </a:t>
            </a:r>
            <a:r>
              <a:rPr sz="1500" spc="-5" dirty="0">
                <a:latin typeface="Century Schoolbook"/>
                <a:cs typeface="Century Schoolbook"/>
              </a:rPr>
              <a:t>obtient</a:t>
            </a:r>
            <a:r>
              <a:rPr sz="1500" spc="-85" dirty="0">
                <a:latin typeface="Century Schoolbook"/>
                <a:cs typeface="Century Schoolbook"/>
              </a:rPr>
              <a:t> </a:t>
            </a:r>
            <a:r>
              <a:rPr sz="1500" spc="-5" dirty="0">
                <a:latin typeface="Century Schoolbook"/>
                <a:cs typeface="Century Schoolbook"/>
              </a:rPr>
              <a:t>T1</a:t>
            </a:r>
            <a:endParaRPr sz="1500" dirty="0">
              <a:latin typeface="Century Schoolbook"/>
              <a:cs typeface="Century Schoolbook"/>
            </a:endParaRPr>
          </a:p>
          <a:p>
            <a:pPr marL="652780" lvl="1" indent="-274955">
              <a:lnSpc>
                <a:spcPct val="100000"/>
              </a:lnSpc>
              <a:spcBef>
                <a:spcPts val="360"/>
              </a:spcBef>
              <a:buClr>
                <a:srgbClr val="FD8537"/>
              </a:buClr>
              <a:buSzPct val="80000"/>
              <a:buFont typeface="Wingdings 2"/>
              <a:buChar char=""/>
              <a:tabLst>
                <a:tab pos="652145" algn="l"/>
                <a:tab pos="652780" algn="l"/>
              </a:tabLst>
            </a:pPr>
            <a:r>
              <a:rPr sz="1500" dirty="0">
                <a:latin typeface="Century Schoolbook"/>
                <a:cs typeface="Century Schoolbook"/>
              </a:rPr>
              <a:t>Sur site 5: </a:t>
            </a:r>
            <a:r>
              <a:rPr sz="1500" spc="-5" dirty="0">
                <a:latin typeface="Century Schoolbook"/>
                <a:cs typeface="Century Schoolbook"/>
              </a:rPr>
              <a:t>Union de Cde1 </a:t>
            </a:r>
            <a:r>
              <a:rPr sz="1500" dirty="0">
                <a:latin typeface="Century Schoolbook"/>
                <a:cs typeface="Century Schoolbook"/>
              </a:rPr>
              <a:t>et </a:t>
            </a:r>
            <a:r>
              <a:rPr sz="1500" spc="-5" dirty="0">
                <a:latin typeface="Century Schoolbook"/>
                <a:cs typeface="Century Schoolbook"/>
              </a:rPr>
              <a:t>Cde2 </a:t>
            </a:r>
            <a:r>
              <a:rPr sz="1500" dirty="0">
                <a:latin typeface="Century Schoolbook"/>
                <a:cs typeface="Century Schoolbook"/>
              </a:rPr>
              <a:t>: on </a:t>
            </a:r>
            <a:r>
              <a:rPr sz="1500" spc="-5" dirty="0" err="1">
                <a:latin typeface="Century Schoolbook"/>
                <a:cs typeface="Century Schoolbook"/>
              </a:rPr>
              <a:t>obtient</a:t>
            </a:r>
            <a:r>
              <a:rPr sz="1500" spc="-100" dirty="0">
                <a:latin typeface="Century Schoolbook"/>
                <a:cs typeface="Century Schoolbook"/>
              </a:rPr>
              <a:t> </a:t>
            </a:r>
            <a:r>
              <a:rPr sz="1500" spc="-5" dirty="0" smtClean="0">
                <a:latin typeface="Century Schoolbook"/>
                <a:cs typeface="Century Schoolbook"/>
              </a:rPr>
              <a:t>T2</a:t>
            </a:r>
            <a:endParaRPr lang="fr-FR" sz="1500" spc="-5" dirty="0" smtClean="0">
              <a:latin typeface="Century Schoolbook"/>
              <a:cs typeface="Century Schoolbook"/>
            </a:endParaRPr>
          </a:p>
          <a:p>
            <a:pPr marL="652780" lvl="1" indent="-274955">
              <a:lnSpc>
                <a:spcPct val="100000"/>
              </a:lnSpc>
              <a:spcBef>
                <a:spcPts val="360"/>
              </a:spcBef>
              <a:buClr>
                <a:srgbClr val="FD8537"/>
              </a:buClr>
              <a:buSzPct val="80000"/>
              <a:buFont typeface="Wingdings 2"/>
              <a:buChar char=""/>
              <a:tabLst>
                <a:tab pos="652145" algn="l"/>
                <a:tab pos="652780" algn="l"/>
              </a:tabLst>
            </a:pPr>
            <a:r>
              <a:rPr lang="fr-FR" sz="1500" dirty="0" smtClean="0">
                <a:cs typeface="Century Schoolbook"/>
              </a:rPr>
              <a:t>Sur </a:t>
            </a:r>
            <a:r>
              <a:rPr lang="fr-FR" sz="1500" spc="-5" dirty="0">
                <a:cs typeface="Century Schoolbook"/>
              </a:rPr>
              <a:t>site </a:t>
            </a:r>
            <a:r>
              <a:rPr lang="fr-FR" sz="1500" dirty="0">
                <a:cs typeface="Century Schoolbook"/>
              </a:rPr>
              <a:t>5: </a:t>
            </a:r>
            <a:r>
              <a:rPr lang="fr-FR" sz="1500" spc="-5" dirty="0">
                <a:cs typeface="Century Schoolbook"/>
              </a:rPr>
              <a:t>Sélection sur T2 </a:t>
            </a:r>
            <a:r>
              <a:rPr lang="fr-FR" sz="1500" dirty="0">
                <a:cs typeface="Century Schoolbook"/>
              </a:rPr>
              <a:t>des </a:t>
            </a:r>
            <a:r>
              <a:rPr lang="fr-FR" sz="1500" spc="-5" dirty="0">
                <a:cs typeface="Century Schoolbook"/>
              </a:rPr>
              <a:t>n-</a:t>
            </a:r>
            <a:r>
              <a:rPr lang="fr-FR" sz="1500" spc="-5" dirty="0" err="1">
                <a:cs typeface="Century Schoolbook"/>
              </a:rPr>
              <a:t>uplets</a:t>
            </a:r>
            <a:r>
              <a:rPr lang="fr-FR" sz="1500" spc="-5" dirty="0">
                <a:cs typeface="Century Schoolbook"/>
              </a:rPr>
              <a:t> dont la valeur de </a:t>
            </a:r>
            <a:r>
              <a:rPr lang="fr-FR" sz="1500" spc="-5" dirty="0" err="1">
                <a:cs typeface="Century Schoolbook"/>
              </a:rPr>
              <a:t>qté</a:t>
            </a:r>
            <a:r>
              <a:rPr lang="fr-FR" sz="1500" spc="-5" dirty="0">
                <a:cs typeface="Century Schoolbook"/>
              </a:rPr>
              <a:t> </a:t>
            </a:r>
            <a:r>
              <a:rPr lang="fr-FR" sz="1500" dirty="0">
                <a:cs typeface="Century Schoolbook"/>
              </a:rPr>
              <a:t>&gt; 10 : on </a:t>
            </a:r>
            <a:r>
              <a:rPr lang="fr-FR" sz="1500" spc="-5" dirty="0">
                <a:cs typeface="Century Schoolbook"/>
              </a:rPr>
              <a:t>obtient T3</a:t>
            </a:r>
            <a:r>
              <a:rPr lang="fr-FR" sz="1500" spc="355" dirty="0">
                <a:cs typeface="Century Schoolbook"/>
              </a:rPr>
              <a:t> </a:t>
            </a:r>
            <a:endParaRPr lang="fr-FR" sz="1500" spc="355" dirty="0" smtClean="0">
              <a:cs typeface="Century Schoolbook"/>
            </a:endParaRPr>
          </a:p>
          <a:p>
            <a:pPr marL="652780" lvl="1" indent="-274955">
              <a:lnSpc>
                <a:spcPct val="100000"/>
              </a:lnSpc>
              <a:spcBef>
                <a:spcPts val="360"/>
              </a:spcBef>
              <a:buClr>
                <a:srgbClr val="FD8537"/>
              </a:buClr>
              <a:buSzPct val="80000"/>
              <a:buFont typeface="Wingdings 2"/>
              <a:buChar char=""/>
              <a:tabLst>
                <a:tab pos="652145" algn="l"/>
                <a:tab pos="652780" algn="l"/>
              </a:tabLst>
            </a:pPr>
            <a:r>
              <a:rPr lang="fr-FR" sz="1500" dirty="0" smtClean="0">
                <a:cs typeface="Century Schoolbook"/>
              </a:rPr>
              <a:t>Sur </a:t>
            </a:r>
            <a:r>
              <a:rPr lang="fr-FR" sz="1500" spc="-5" dirty="0">
                <a:cs typeface="Century Schoolbook"/>
              </a:rPr>
              <a:t>site </a:t>
            </a:r>
            <a:r>
              <a:rPr lang="fr-FR" sz="1500" dirty="0">
                <a:cs typeface="Century Schoolbook"/>
              </a:rPr>
              <a:t>5: </a:t>
            </a:r>
            <a:r>
              <a:rPr lang="fr-FR" sz="1500" spc="-5" dirty="0">
                <a:cs typeface="Century Schoolbook"/>
              </a:rPr>
              <a:t>Jointure entre T1 </a:t>
            </a:r>
            <a:r>
              <a:rPr lang="fr-FR" sz="1500" dirty="0">
                <a:cs typeface="Century Schoolbook"/>
              </a:rPr>
              <a:t>et </a:t>
            </a:r>
            <a:r>
              <a:rPr lang="fr-FR" sz="1500" spc="-5" dirty="0">
                <a:cs typeface="Century Schoolbook"/>
              </a:rPr>
              <a:t>T3 </a:t>
            </a:r>
            <a:r>
              <a:rPr lang="fr-FR" sz="1500" dirty="0">
                <a:cs typeface="Century Schoolbook"/>
              </a:rPr>
              <a:t>: on </a:t>
            </a:r>
            <a:r>
              <a:rPr lang="fr-FR" sz="1500" spc="-5" dirty="0">
                <a:cs typeface="Century Schoolbook"/>
              </a:rPr>
              <a:t>obtient le</a:t>
            </a:r>
            <a:r>
              <a:rPr lang="fr-FR" sz="1500" spc="-70" dirty="0">
                <a:cs typeface="Century Schoolbook"/>
              </a:rPr>
              <a:t> </a:t>
            </a:r>
            <a:r>
              <a:rPr lang="fr-FR" sz="1500" spc="-5" dirty="0">
                <a:cs typeface="Century Schoolbook"/>
              </a:rPr>
              <a:t>résultat</a:t>
            </a:r>
            <a:endParaRPr lang="fr-FR" sz="1500" dirty="0">
              <a:cs typeface="Century Schoolbook"/>
            </a:endParaRPr>
          </a:p>
          <a:p>
            <a:pPr marL="652780" lvl="1" indent="-274955">
              <a:lnSpc>
                <a:spcPct val="100000"/>
              </a:lnSpc>
              <a:spcBef>
                <a:spcPts val="360"/>
              </a:spcBef>
              <a:buClr>
                <a:srgbClr val="FD8537"/>
              </a:buClr>
              <a:buSzPct val="80000"/>
              <a:buFont typeface="Wingdings 2"/>
              <a:buChar char=""/>
              <a:tabLst>
                <a:tab pos="652145" algn="l"/>
                <a:tab pos="652780" algn="l"/>
              </a:tabLst>
            </a:pPr>
            <a:endParaRPr sz="1500" dirty="0">
              <a:latin typeface="Century Schoolbook"/>
              <a:cs typeface="Century Schoolbook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304800" y="76200"/>
            <a:ext cx="5913755" cy="906017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2400" spc="-5" dirty="0"/>
              <a:t>EXEMPLE D’UN </a:t>
            </a:r>
            <a:r>
              <a:rPr sz="2400" spc="-10" dirty="0"/>
              <a:t>PLAN</a:t>
            </a:r>
            <a:r>
              <a:rPr sz="2400" spc="459" dirty="0"/>
              <a:t> </a:t>
            </a:r>
            <a:r>
              <a:rPr sz="2400" spc="-5" dirty="0"/>
              <a:t>D’EXÉCUTION</a:t>
            </a:r>
            <a:endParaRPr sz="2400" dirty="0"/>
          </a:p>
          <a:p>
            <a:pPr marR="5080" algn="r">
              <a:lnSpc>
                <a:spcPct val="100000"/>
              </a:lnSpc>
              <a:spcBef>
                <a:spcPts val="735"/>
              </a:spcBef>
            </a:pPr>
            <a:r>
              <a:rPr sz="1800" i="1" dirty="0">
                <a:solidFill>
                  <a:srgbClr val="3366FF"/>
                </a:solidFill>
                <a:latin typeface="Century Schoolbook"/>
                <a:cs typeface="Century Schoolbook"/>
              </a:rPr>
              <a:t>Site</a:t>
            </a:r>
            <a:r>
              <a:rPr sz="1800" i="1" spc="-105" dirty="0">
                <a:solidFill>
                  <a:srgbClr val="3366FF"/>
                </a:solidFill>
                <a:latin typeface="Century Schoolbook"/>
                <a:cs typeface="Century Schoolbook"/>
              </a:rPr>
              <a:t> </a:t>
            </a:r>
            <a:r>
              <a:rPr sz="1800" i="1" dirty="0">
                <a:solidFill>
                  <a:srgbClr val="3366FF"/>
                </a:solidFill>
                <a:latin typeface="Century Schoolbook"/>
                <a:cs typeface="Century Schoolbook"/>
              </a:rPr>
              <a:t>5</a:t>
            </a:r>
            <a:endParaRPr sz="1800" dirty="0">
              <a:latin typeface="Century Schoolbook"/>
              <a:cs typeface="Century Schoolbook"/>
            </a:endParaRPr>
          </a:p>
        </p:txBody>
      </p:sp>
      <p:grpSp>
        <p:nvGrpSpPr>
          <p:cNvPr id="30" name="Groupe 29"/>
          <p:cNvGrpSpPr/>
          <p:nvPr/>
        </p:nvGrpSpPr>
        <p:grpSpPr>
          <a:xfrm>
            <a:off x="1730120" y="1155191"/>
            <a:ext cx="5491354" cy="2666238"/>
            <a:chOff x="1730120" y="1155191"/>
            <a:chExt cx="5491354" cy="2666238"/>
          </a:xfrm>
        </p:grpSpPr>
        <p:sp>
          <p:nvSpPr>
            <p:cNvPr id="3" name="object 3"/>
            <p:cNvSpPr txBox="1"/>
            <p:nvPr/>
          </p:nvSpPr>
          <p:spPr>
            <a:xfrm>
              <a:off x="3800347" y="2091054"/>
              <a:ext cx="20129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latin typeface="Symbol"/>
                  <a:cs typeface="Symbol"/>
                </a:rPr>
                <a:t></a:t>
              </a:r>
              <a:endParaRPr sz="1800">
                <a:latin typeface="Symbol"/>
                <a:cs typeface="Symbol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4943602" y="3040506"/>
              <a:ext cx="502284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Century Schoolbook"/>
                  <a:cs typeface="Century Schoolbook"/>
                </a:rPr>
                <a:t>Cde1</a:t>
              </a:r>
              <a:endParaRPr sz="1600">
                <a:latin typeface="Century Schoolbook"/>
                <a:cs typeface="Century Schoolbook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2860294" y="2735706"/>
              <a:ext cx="71755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Century Schoolbook"/>
                  <a:cs typeface="Century Schoolbook"/>
                </a:rPr>
                <a:t>Cli</a:t>
              </a:r>
              <a:r>
                <a:rPr sz="1600" dirty="0">
                  <a:latin typeface="Century Schoolbook"/>
                  <a:cs typeface="Century Schoolbook"/>
                </a:rPr>
                <a:t>e</a:t>
              </a:r>
              <a:r>
                <a:rPr sz="1600" spc="-5" dirty="0">
                  <a:latin typeface="Century Schoolbook"/>
                  <a:cs typeface="Century Schoolbook"/>
                </a:rPr>
                <a:t>nt1</a:t>
              </a:r>
              <a:endParaRPr sz="1600">
                <a:latin typeface="Century Schoolbook"/>
                <a:cs typeface="Century Schoolbook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973067" y="1827276"/>
              <a:ext cx="547370" cy="231775"/>
            </a:xfrm>
            <a:custGeom>
              <a:avLst/>
              <a:gdLst/>
              <a:ahLst/>
              <a:cxnLst/>
              <a:rect l="l" t="t" r="r" b="b"/>
              <a:pathLst>
                <a:path w="547370" h="231775">
                  <a:moveTo>
                    <a:pt x="547116" y="0"/>
                  </a:moveTo>
                  <a:lnTo>
                    <a:pt x="0" y="23164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4498975" y="1744725"/>
              <a:ext cx="671195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Century Schoolbook"/>
                  <a:cs typeface="Century Schoolbook"/>
                </a:rPr>
                <a:t>nclient</a:t>
              </a:r>
              <a:endParaRPr sz="1600">
                <a:latin typeface="Century Schoolbook"/>
                <a:cs typeface="Century Schoolbook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590032" y="2336292"/>
              <a:ext cx="0" cy="257810"/>
            </a:xfrm>
            <a:custGeom>
              <a:avLst/>
              <a:gdLst/>
              <a:ahLst/>
              <a:cxnLst/>
              <a:rect l="l" t="t" r="r" b="b"/>
              <a:pathLst>
                <a:path h="257810">
                  <a:moveTo>
                    <a:pt x="0" y="0"/>
                  </a:moveTo>
                  <a:lnTo>
                    <a:pt x="0" y="257556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3749802" y="2735706"/>
              <a:ext cx="71755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Century Schoolbook"/>
                  <a:cs typeface="Century Schoolbook"/>
                </a:rPr>
                <a:t>Cli</a:t>
              </a:r>
              <a:r>
                <a:rPr sz="1600" dirty="0">
                  <a:latin typeface="Century Schoolbook"/>
                  <a:cs typeface="Century Schoolbook"/>
                </a:rPr>
                <a:t>e</a:t>
              </a:r>
              <a:r>
                <a:rPr sz="1600" spc="-5" dirty="0">
                  <a:latin typeface="Century Schoolbook"/>
                  <a:cs typeface="Century Schoolbook"/>
                </a:rPr>
                <a:t>nt2</a:t>
              </a:r>
              <a:endParaRPr sz="1600">
                <a:latin typeface="Century Schoolbook"/>
                <a:cs typeface="Century Schoolbook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579876" y="2360676"/>
              <a:ext cx="203200" cy="269875"/>
            </a:xfrm>
            <a:custGeom>
              <a:avLst/>
              <a:gdLst/>
              <a:ahLst/>
              <a:cxnLst/>
              <a:rect l="l" t="t" r="r" b="b"/>
              <a:pathLst>
                <a:path w="203200" h="269875">
                  <a:moveTo>
                    <a:pt x="202691" y="0"/>
                  </a:moveTo>
                  <a:lnTo>
                    <a:pt x="0" y="26974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03876" y="1827276"/>
              <a:ext cx="431800" cy="205740"/>
            </a:xfrm>
            <a:custGeom>
              <a:avLst/>
              <a:gdLst/>
              <a:ahLst/>
              <a:cxnLst/>
              <a:rect l="l" t="t" r="r" b="b"/>
              <a:pathLst>
                <a:path w="431800" h="205739">
                  <a:moveTo>
                    <a:pt x="0" y="0"/>
                  </a:moveTo>
                  <a:lnTo>
                    <a:pt x="431291" y="205739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34967" y="2372867"/>
              <a:ext cx="166370" cy="269875"/>
            </a:xfrm>
            <a:custGeom>
              <a:avLst/>
              <a:gdLst/>
              <a:ahLst/>
              <a:cxnLst/>
              <a:rect l="l" t="t" r="r" b="b"/>
              <a:pathLst>
                <a:path w="166370" h="269875">
                  <a:moveTo>
                    <a:pt x="0" y="0"/>
                  </a:moveTo>
                  <a:lnTo>
                    <a:pt x="166116" y="26974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5807455" y="3040506"/>
              <a:ext cx="502284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Century Schoolbook"/>
                  <a:cs typeface="Century Schoolbook"/>
                </a:rPr>
                <a:t>Cde2</a:t>
              </a:r>
              <a:endParaRPr sz="1600">
                <a:latin typeface="Century Schoolbook"/>
                <a:cs typeface="Century Schoolbook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344667" y="2855976"/>
              <a:ext cx="204470" cy="269875"/>
            </a:xfrm>
            <a:custGeom>
              <a:avLst/>
              <a:gdLst/>
              <a:ahLst/>
              <a:cxnLst/>
              <a:rect l="l" t="t" r="r" b="b"/>
              <a:pathLst>
                <a:path w="204470" h="269875">
                  <a:moveTo>
                    <a:pt x="204216" y="0"/>
                  </a:moveTo>
                  <a:lnTo>
                    <a:pt x="0" y="26974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01284" y="2868167"/>
              <a:ext cx="165100" cy="269875"/>
            </a:xfrm>
            <a:custGeom>
              <a:avLst/>
              <a:gdLst/>
              <a:ahLst/>
              <a:cxnLst/>
              <a:rect l="l" t="t" r="r" b="b"/>
              <a:pathLst>
                <a:path w="165100" h="269875">
                  <a:moveTo>
                    <a:pt x="0" y="0"/>
                  </a:moveTo>
                  <a:lnTo>
                    <a:pt x="164591" y="269748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1730120" y="3115183"/>
              <a:ext cx="62674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i="1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Site</a:t>
              </a:r>
              <a:r>
                <a:rPr sz="1800" i="1" spc="-90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 </a:t>
              </a:r>
              <a:r>
                <a:rPr sz="1800" i="1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1</a:t>
              </a:r>
              <a:endParaRPr sz="1800">
                <a:latin typeface="Century Schoolbook"/>
                <a:cs typeface="Century Schoolbook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4626102" y="3521709"/>
              <a:ext cx="62674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i="1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Site</a:t>
              </a:r>
              <a:r>
                <a:rPr sz="1800" i="1" spc="-90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 </a:t>
              </a:r>
              <a:r>
                <a:rPr sz="1800" i="1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3</a:t>
              </a:r>
              <a:endParaRPr sz="1800">
                <a:latin typeface="Century Schoolbook"/>
                <a:cs typeface="Century Schoolbook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6594729" y="3394709"/>
              <a:ext cx="62674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i="1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Site</a:t>
              </a:r>
              <a:r>
                <a:rPr sz="1800" i="1" spc="-90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 </a:t>
              </a:r>
              <a:r>
                <a:rPr sz="1800" i="1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4</a:t>
              </a:r>
              <a:endParaRPr sz="1800">
                <a:latin typeface="Century Schoolbook"/>
                <a:cs typeface="Century Schoolbook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462022" y="2963417"/>
              <a:ext cx="369570" cy="154940"/>
            </a:xfrm>
            <a:custGeom>
              <a:avLst/>
              <a:gdLst/>
              <a:ahLst/>
              <a:cxnLst/>
              <a:rect l="l" t="t" r="r" b="b"/>
              <a:pathLst>
                <a:path w="369569" h="154939">
                  <a:moveTo>
                    <a:pt x="296077" y="29684"/>
                  </a:moveTo>
                  <a:lnTo>
                    <a:pt x="0" y="142621"/>
                  </a:lnTo>
                  <a:lnTo>
                    <a:pt x="4571" y="154559"/>
                  </a:lnTo>
                  <a:lnTo>
                    <a:pt x="300600" y="41518"/>
                  </a:lnTo>
                  <a:lnTo>
                    <a:pt x="296077" y="29684"/>
                  </a:lnTo>
                  <a:close/>
                </a:path>
                <a:path w="369569" h="154939">
                  <a:moveTo>
                    <a:pt x="354163" y="25146"/>
                  </a:moveTo>
                  <a:lnTo>
                    <a:pt x="307975" y="25146"/>
                  </a:lnTo>
                  <a:lnTo>
                    <a:pt x="312546" y="36957"/>
                  </a:lnTo>
                  <a:lnTo>
                    <a:pt x="300600" y="41518"/>
                  </a:lnTo>
                  <a:lnTo>
                    <a:pt x="311911" y="71120"/>
                  </a:lnTo>
                  <a:lnTo>
                    <a:pt x="354163" y="25146"/>
                  </a:lnTo>
                  <a:close/>
                </a:path>
                <a:path w="369569" h="154939">
                  <a:moveTo>
                    <a:pt x="307975" y="25146"/>
                  </a:moveTo>
                  <a:lnTo>
                    <a:pt x="296077" y="29684"/>
                  </a:lnTo>
                  <a:lnTo>
                    <a:pt x="300600" y="41518"/>
                  </a:lnTo>
                  <a:lnTo>
                    <a:pt x="312546" y="36957"/>
                  </a:lnTo>
                  <a:lnTo>
                    <a:pt x="307975" y="25146"/>
                  </a:lnTo>
                  <a:close/>
                </a:path>
                <a:path w="369569" h="154939">
                  <a:moveTo>
                    <a:pt x="284733" y="0"/>
                  </a:moveTo>
                  <a:lnTo>
                    <a:pt x="296077" y="29684"/>
                  </a:lnTo>
                  <a:lnTo>
                    <a:pt x="307975" y="25146"/>
                  </a:lnTo>
                  <a:lnTo>
                    <a:pt x="354163" y="25146"/>
                  </a:lnTo>
                  <a:lnTo>
                    <a:pt x="369569" y="8382"/>
                  </a:lnTo>
                  <a:lnTo>
                    <a:pt x="284733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04411" y="3073907"/>
              <a:ext cx="234315" cy="446405"/>
            </a:xfrm>
            <a:custGeom>
              <a:avLst/>
              <a:gdLst/>
              <a:ahLst/>
              <a:cxnLst/>
              <a:rect l="l" t="t" r="r" b="b"/>
              <a:pathLst>
                <a:path w="234314" h="446404">
                  <a:moveTo>
                    <a:pt x="193597" y="64836"/>
                  </a:moveTo>
                  <a:lnTo>
                    <a:pt x="0" y="440563"/>
                  </a:lnTo>
                  <a:lnTo>
                    <a:pt x="11175" y="446404"/>
                  </a:lnTo>
                  <a:lnTo>
                    <a:pt x="204855" y="70634"/>
                  </a:lnTo>
                  <a:lnTo>
                    <a:pt x="193597" y="64836"/>
                  </a:lnTo>
                  <a:close/>
                </a:path>
                <a:path w="234314" h="446404">
                  <a:moveTo>
                    <a:pt x="233549" y="53593"/>
                  </a:moveTo>
                  <a:lnTo>
                    <a:pt x="199389" y="53593"/>
                  </a:lnTo>
                  <a:lnTo>
                    <a:pt x="210692" y="59308"/>
                  </a:lnTo>
                  <a:lnTo>
                    <a:pt x="204855" y="70634"/>
                  </a:lnTo>
                  <a:lnTo>
                    <a:pt x="233172" y="85216"/>
                  </a:lnTo>
                  <a:lnTo>
                    <a:pt x="233549" y="53593"/>
                  </a:lnTo>
                  <a:close/>
                </a:path>
                <a:path w="234314" h="446404">
                  <a:moveTo>
                    <a:pt x="199389" y="53593"/>
                  </a:moveTo>
                  <a:lnTo>
                    <a:pt x="193597" y="64836"/>
                  </a:lnTo>
                  <a:lnTo>
                    <a:pt x="204855" y="70634"/>
                  </a:lnTo>
                  <a:lnTo>
                    <a:pt x="210692" y="59308"/>
                  </a:lnTo>
                  <a:lnTo>
                    <a:pt x="199389" y="53593"/>
                  </a:lnTo>
                  <a:close/>
                </a:path>
                <a:path w="234314" h="446404">
                  <a:moveTo>
                    <a:pt x="234187" y="0"/>
                  </a:moveTo>
                  <a:lnTo>
                    <a:pt x="165353" y="50291"/>
                  </a:lnTo>
                  <a:lnTo>
                    <a:pt x="193597" y="64836"/>
                  </a:lnTo>
                  <a:lnTo>
                    <a:pt x="199389" y="53593"/>
                  </a:lnTo>
                  <a:lnTo>
                    <a:pt x="233549" y="53593"/>
                  </a:lnTo>
                  <a:lnTo>
                    <a:pt x="234187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11216" y="3288791"/>
              <a:ext cx="270510" cy="196215"/>
            </a:xfrm>
            <a:custGeom>
              <a:avLst/>
              <a:gdLst/>
              <a:ahLst/>
              <a:cxnLst/>
              <a:rect l="l" t="t" r="r" b="b"/>
              <a:pathLst>
                <a:path w="270510" h="196214">
                  <a:moveTo>
                    <a:pt x="204645" y="39152"/>
                  </a:moveTo>
                  <a:lnTo>
                    <a:pt x="0" y="185293"/>
                  </a:lnTo>
                  <a:lnTo>
                    <a:pt x="7366" y="195707"/>
                  </a:lnTo>
                  <a:lnTo>
                    <a:pt x="212008" y="49447"/>
                  </a:lnTo>
                  <a:lnTo>
                    <a:pt x="204645" y="39152"/>
                  </a:lnTo>
                  <a:close/>
                </a:path>
                <a:path w="270510" h="196214">
                  <a:moveTo>
                    <a:pt x="253571" y="31750"/>
                  </a:moveTo>
                  <a:lnTo>
                    <a:pt x="215011" y="31750"/>
                  </a:lnTo>
                  <a:lnTo>
                    <a:pt x="222377" y="42037"/>
                  </a:lnTo>
                  <a:lnTo>
                    <a:pt x="212008" y="49447"/>
                  </a:lnTo>
                  <a:lnTo>
                    <a:pt x="230505" y="75311"/>
                  </a:lnTo>
                  <a:lnTo>
                    <a:pt x="253571" y="31750"/>
                  </a:lnTo>
                  <a:close/>
                </a:path>
                <a:path w="270510" h="196214">
                  <a:moveTo>
                    <a:pt x="215011" y="31750"/>
                  </a:moveTo>
                  <a:lnTo>
                    <a:pt x="204645" y="39152"/>
                  </a:lnTo>
                  <a:lnTo>
                    <a:pt x="212008" y="49447"/>
                  </a:lnTo>
                  <a:lnTo>
                    <a:pt x="222377" y="42037"/>
                  </a:lnTo>
                  <a:lnTo>
                    <a:pt x="215011" y="31750"/>
                  </a:lnTo>
                  <a:close/>
                </a:path>
                <a:path w="270510" h="196214">
                  <a:moveTo>
                    <a:pt x="270383" y="0"/>
                  </a:moveTo>
                  <a:lnTo>
                    <a:pt x="186182" y="13335"/>
                  </a:lnTo>
                  <a:lnTo>
                    <a:pt x="204645" y="39152"/>
                  </a:lnTo>
                  <a:lnTo>
                    <a:pt x="215011" y="31750"/>
                  </a:lnTo>
                  <a:lnTo>
                    <a:pt x="253571" y="31750"/>
                  </a:lnTo>
                  <a:lnTo>
                    <a:pt x="270383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198108" y="3340608"/>
              <a:ext cx="308610" cy="208279"/>
            </a:xfrm>
            <a:custGeom>
              <a:avLst/>
              <a:gdLst/>
              <a:ahLst/>
              <a:cxnLst/>
              <a:rect l="l" t="t" r="r" b="b"/>
              <a:pathLst>
                <a:path w="308609" h="208279">
                  <a:moveTo>
                    <a:pt x="66959" y="36873"/>
                  </a:moveTo>
                  <a:lnTo>
                    <a:pt x="59890" y="47488"/>
                  </a:lnTo>
                  <a:lnTo>
                    <a:pt x="301243" y="208025"/>
                  </a:lnTo>
                  <a:lnTo>
                    <a:pt x="308356" y="197357"/>
                  </a:lnTo>
                  <a:lnTo>
                    <a:pt x="66959" y="36873"/>
                  </a:lnTo>
                  <a:close/>
                </a:path>
                <a:path w="308609" h="208279">
                  <a:moveTo>
                    <a:pt x="0" y="0"/>
                  </a:moveTo>
                  <a:lnTo>
                    <a:pt x="42290" y="73913"/>
                  </a:lnTo>
                  <a:lnTo>
                    <a:pt x="59890" y="47488"/>
                  </a:lnTo>
                  <a:lnTo>
                    <a:pt x="49402" y="40512"/>
                  </a:lnTo>
                  <a:lnTo>
                    <a:pt x="56387" y="29844"/>
                  </a:lnTo>
                  <a:lnTo>
                    <a:pt x="71640" y="29844"/>
                  </a:lnTo>
                  <a:lnTo>
                    <a:pt x="84581" y="10413"/>
                  </a:lnTo>
                  <a:lnTo>
                    <a:pt x="0" y="0"/>
                  </a:lnTo>
                  <a:close/>
                </a:path>
                <a:path w="308609" h="208279">
                  <a:moveTo>
                    <a:pt x="56387" y="29844"/>
                  </a:moveTo>
                  <a:lnTo>
                    <a:pt x="49402" y="40512"/>
                  </a:lnTo>
                  <a:lnTo>
                    <a:pt x="59890" y="47488"/>
                  </a:lnTo>
                  <a:lnTo>
                    <a:pt x="66959" y="36873"/>
                  </a:lnTo>
                  <a:lnTo>
                    <a:pt x="56387" y="29844"/>
                  </a:lnTo>
                  <a:close/>
                </a:path>
                <a:path w="308609" h="208279">
                  <a:moveTo>
                    <a:pt x="71640" y="29844"/>
                  </a:moveTo>
                  <a:lnTo>
                    <a:pt x="56387" y="29844"/>
                  </a:lnTo>
                  <a:lnTo>
                    <a:pt x="66959" y="36873"/>
                  </a:lnTo>
                  <a:lnTo>
                    <a:pt x="71640" y="29844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43300" y="1155191"/>
              <a:ext cx="2908300" cy="1614170"/>
            </a:xfrm>
            <a:custGeom>
              <a:avLst/>
              <a:gdLst/>
              <a:ahLst/>
              <a:cxnLst/>
              <a:rect l="l" t="t" r="r" b="b"/>
              <a:pathLst>
                <a:path w="2908300" h="1614170">
                  <a:moveTo>
                    <a:pt x="0" y="1613915"/>
                  </a:moveTo>
                  <a:lnTo>
                    <a:pt x="2907792" y="1613915"/>
                  </a:lnTo>
                  <a:lnTo>
                    <a:pt x="2907792" y="0"/>
                  </a:lnTo>
                  <a:lnTo>
                    <a:pt x="0" y="0"/>
                  </a:lnTo>
                  <a:lnTo>
                    <a:pt x="0" y="1613915"/>
                  </a:lnTo>
                  <a:close/>
                </a:path>
              </a:pathLst>
            </a:custGeom>
            <a:ln w="9144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5459603" y="1768615"/>
              <a:ext cx="887730" cy="1030605"/>
            </a:xfrm>
            <a:prstGeom prst="rect">
              <a:avLst/>
            </a:prstGeom>
          </p:spPr>
          <p:txBody>
            <a:bodyPr vert="horz" wrap="square" lIns="0" tIns="16827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25"/>
                </a:spcBef>
              </a:pPr>
              <a:r>
                <a:rPr sz="4800" spc="-7" baseline="7812" dirty="0">
                  <a:latin typeface="Symbol"/>
                  <a:cs typeface="Symbol"/>
                </a:rPr>
                <a:t></a:t>
              </a:r>
              <a:r>
                <a:rPr sz="1200" spc="-5" dirty="0">
                  <a:latin typeface="Century Schoolbook"/>
                  <a:cs typeface="Century Schoolbook"/>
                </a:rPr>
                <a:t>q</a:t>
              </a:r>
              <a:r>
                <a:rPr sz="1200" dirty="0">
                  <a:latin typeface="Century Schoolbook"/>
                  <a:cs typeface="Century Schoolbook"/>
                </a:rPr>
                <a:t>té</a:t>
              </a:r>
              <a:r>
                <a:rPr sz="1200" spc="-25" dirty="0">
                  <a:latin typeface="Century Schoolbook"/>
                  <a:cs typeface="Century Schoolbook"/>
                </a:rPr>
                <a:t> </a:t>
              </a:r>
              <a:r>
                <a:rPr sz="1200" dirty="0">
                  <a:latin typeface="Century Schoolbook"/>
                  <a:cs typeface="Century Schoolbook"/>
                </a:rPr>
                <a:t>&gt; </a:t>
              </a:r>
              <a:r>
                <a:rPr sz="1200" spc="-5" dirty="0">
                  <a:latin typeface="Century Schoolbook"/>
                  <a:cs typeface="Century Schoolbook"/>
                </a:rPr>
                <a:t>10</a:t>
              </a:r>
              <a:endParaRPr sz="1200">
                <a:latin typeface="Century Schoolbook"/>
                <a:cs typeface="Century Schoolbook"/>
              </a:endParaRPr>
            </a:p>
            <a:p>
              <a:pPr marL="52069">
                <a:lnSpc>
                  <a:spcPct val="100000"/>
                </a:lnSpc>
                <a:spcBef>
                  <a:spcPts val="690"/>
                </a:spcBef>
              </a:pPr>
              <a:r>
                <a:rPr sz="1800" dirty="0">
                  <a:latin typeface="Symbol"/>
                  <a:cs typeface="Symbol"/>
                </a:rPr>
                <a:t></a:t>
              </a:r>
              <a:endParaRPr sz="1800">
                <a:latin typeface="Symbol"/>
                <a:cs typeface="Symbol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447032" y="1447800"/>
              <a:ext cx="660400" cy="375285"/>
            </a:xfrm>
            <a:custGeom>
              <a:avLst/>
              <a:gdLst/>
              <a:ahLst/>
              <a:cxnLst/>
              <a:rect l="l" t="t" r="r" b="b"/>
              <a:pathLst>
                <a:path w="660400" h="375285">
                  <a:moveTo>
                    <a:pt x="0" y="374903"/>
                  </a:moveTo>
                  <a:lnTo>
                    <a:pt x="0" y="0"/>
                  </a:lnTo>
                  <a:lnTo>
                    <a:pt x="329945" y="187451"/>
                  </a:lnTo>
                  <a:lnTo>
                    <a:pt x="659891" y="0"/>
                  </a:lnTo>
                  <a:lnTo>
                    <a:pt x="659891" y="374903"/>
                  </a:lnTo>
                  <a:lnTo>
                    <a:pt x="329945" y="187451"/>
                  </a:lnTo>
                  <a:lnTo>
                    <a:pt x="0" y="374903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Espace réservé du numéro de diapositive 2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20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676973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AUTRE EXEMPLE </a:t>
            </a:r>
            <a:r>
              <a:rPr sz="2400" dirty="0"/>
              <a:t>DE </a:t>
            </a:r>
            <a:r>
              <a:rPr sz="2400" spc="-5" dirty="0"/>
              <a:t>PLAN</a:t>
            </a:r>
            <a:r>
              <a:rPr sz="2400" spc="650" dirty="0"/>
              <a:t> </a:t>
            </a:r>
            <a:r>
              <a:rPr sz="2400" spc="-5" dirty="0"/>
              <a:t>D’EXECUTION</a:t>
            </a:r>
            <a:endParaRPr sz="2400" dirty="0"/>
          </a:p>
        </p:txBody>
      </p:sp>
      <p:sp>
        <p:nvSpPr>
          <p:cNvPr id="7" name="object 7"/>
          <p:cNvSpPr txBox="1"/>
          <p:nvPr/>
        </p:nvSpPr>
        <p:spPr>
          <a:xfrm>
            <a:off x="8050783" y="3528821"/>
            <a:ext cx="626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3366FF"/>
                </a:solidFill>
                <a:latin typeface="Century Schoolbook"/>
                <a:cs typeface="Century Schoolbook"/>
              </a:rPr>
              <a:t>Site</a:t>
            </a:r>
            <a:r>
              <a:rPr sz="1800" i="1" spc="-90" dirty="0">
                <a:solidFill>
                  <a:srgbClr val="3366FF"/>
                </a:solidFill>
                <a:latin typeface="Century Schoolbook"/>
                <a:cs typeface="Century Schoolbook"/>
              </a:rPr>
              <a:t> </a:t>
            </a:r>
            <a:r>
              <a:rPr sz="1800" i="1" dirty="0">
                <a:solidFill>
                  <a:srgbClr val="3366FF"/>
                </a:solidFill>
                <a:latin typeface="Century Schoolbook"/>
                <a:cs typeface="Century Schoolbook"/>
              </a:rPr>
              <a:t>4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5940" y="3713733"/>
            <a:ext cx="1283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350" spc="670" dirty="0">
                <a:solidFill>
                  <a:srgbClr val="FFF39D"/>
                </a:solidFill>
                <a:latin typeface="Wingdings"/>
                <a:cs typeface="Wingdings"/>
              </a:rPr>
              <a:t>◼</a:t>
            </a:r>
            <a:r>
              <a:rPr sz="1350" spc="670" dirty="0">
                <a:solidFill>
                  <a:srgbClr val="FFF39D"/>
                </a:solidFill>
                <a:latin typeface="Times New Roman"/>
                <a:cs typeface="Times New Roman"/>
              </a:rPr>
              <a:t>	</a:t>
            </a:r>
            <a:r>
              <a:rPr sz="1800" spc="-5" dirty="0">
                <a:latin typeface="Century Schoolbook"/>
                <a:cs typeface="Century Schoolbook"/>
              </a:rPr>
              <a:t>Scénario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93444" y="3987444"/>
            <a:ext cx="7513955" cy="17818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484"/>
              </a:spcBef>
              <a:buClr>
                <a:srgbClr val="7597D9"/>
              </a:buClr>
              <a:buSzPct val="78125"/>
              <a:buFont typeface="Wingdings"/>
              <a:buChar char=""/>
              <a:tabLst>
                <a:tab pos="299085" algn="l"/>
                <a:tab pos="299720" algn="l"/>
              </a:tabLst>
            </a:pPr>
            <a:r>
              <a:rPr sz="1600" spc="-5" dirty="0">
                <a:latin typeface="Century Schoolbook"/>
                <a:cs typeface="Century Schoolbook"/>
              </a:rPr>
              <a:t>Sur site 3 : Sélection </a:t>
            </a:r>
            <a:r>
              <a:rPr sz="1600" spc="-10" dirty="0">
                <a:latin typeface="Century Schoolbook"/>
                <a:cs typeface="Century Schoolbook"/>
              </a:rPr>
              <a:t>des commande </a:t>
            </a:r>
            <a:r>
              <a:rPr sz="1600" spc="-5" dirty="0">
                <a:latin typeface="Century Schoolbook"/>
                <a:cs typeface="Century Schoolbook"/>
              </a:rPr>
              <a:t>de </a:t>
            </a:r>
            <a:r>
              <a:rPr sz="1600" spc="-10" dirty="0">
                <a:latin typeface="Century Schoolbook"/>
                <a:cs typeface="Century Schoolbook"/>
              </a:rPr>
              <a:t>Cde1 </a:t>
            </a:r>
            <a:r>
              <a:rPr sz="1600" spc="-5" dirty="0">
                <a:latin typeface="Century Schoolbook"/>
                <a:cs typeface="Century Schoolbook"/>
              </a:rPr>
              <a:t>de </a:t>
            </a:r>
            <a:r>
              <a:rPr sz="1600" spc="-10" dirty="0">
                <a:latin typeface="Century Schoolbook"/>
                <a:cs typeface="Century Schoolbook"/>
              </a:rPr>
              <a:t>quantité </a:t>
            </a:r>
            <a:r>
              <a:rPr sz="1600" spc="-5" dirty="0">
                <a:latin typeface="Century Schoolbook"/>
                <a:cs typeface="Century Schoolbook"/>
              </a:rPr>
              <a:t>&gt; 10 : on obtient</a:t>
            </a:r>
            <a:r>
              <a:rPr sz="1600" spc="290" dirty="0">
                <a:latin typeface="Century Schoolbook"/>
                <a:cs typeface="Century Schoolbook"/>
              </a:rPr>
              <a:t> </a:t>
            </a:r>
            <a:r>
              <a:rPr sz="1600" spc="-10" dirty="0">
                <a:latin typeface="Century Schoolbook"/>
                <a:cs typeface="Century Schoolbook"/>
              </a:rPr>
              <a:t>C1</a:t>
            </a:r>
            <a:endParaRPr sz="1600">
              <a:latin typeface="Century Schoolbook"/>
              <a:cs typeface="Century Schoolbook"/>
            </a:endParaRPr>
          </a:p>
          <a:p>
            <a:pPr marL="299085" indent="-287020">
              <a:lnSpc>
                <a:spcPct val="100000"/>
              </a:lnSpc>
              <a:spcBef>
                <a:spcPts val="380"/>
              </a:spcBef>
              <a:buClr>
                <a:srgbClr val="7597D9"/>
              </a:buClr>
              <a:buSzPct val="78125"/>
              <a:buFont typeface="Wingdings"/>
              <a:buChar char=""/>
              <a:tabLst>
                <a:tab pos="299085" algn="l"/>
                <a:tab pos="299720" algn="l"/>
              </a:tabLst>
            </a:pPr>
            <a:r>
              <a:rPr sz="1600" spc="-5" dirty="0">
                <a:latin typeface="Century Schoolbook"/>
                <a:cs typeface="Century Schoolbook"/>
              </a:rPr>
              <a:t>Sur site 4 : Sélection </a:t>
            </a:r>
            <a:r>
              <a:rPr sz="1600" spc="-10" dirty="0">
                <a:latin typeface="Century Schoolbook"/>
                <a:cs typeface="Century Schoolbook"/>
              </a:rPr>
              <a:t>des commande </a:t>
            </a:r>
            <a:r>
              <a:rPr sz="1600" spc="-5" dirty="0">
                <a:latin typeface="Century Schoolbook"/>
                <a:cs typeface="Century Schoolbook"/>
              </a:rPr>
              <a:t>de </a:t>
            </a:r>
            <a:r>
              <a:rPr sz="1600" spc="-10" dirty="0">
                <a:latin typeface="Century Schoolbook"/>
                <a:cs typeface="Century Schoolbook"/>
              </a:rPr>
              <a:t>Cde2 </a:t>
            </a:r>
            <a:r>
              <a:rPr sz="1600" spc="-5" dirty="0">
                <a:latin typeface="Century Schoolbook"/>
                <a:cs typeface="Century Schoolbook"/>
              </a:rPr>
              <a:t>de </a:t>
            </a:r>
            <a:r>
              <a:rPr sz="1600" spc="-10" dirty="0">
                <a:latin typeface="Century Schoolbook"/>
                <a:cs typeface="Century Schoolbook"/>
              </a:rPr>
              <a:t>quantité </a:t>
            </a:r>
            <a:r>
              <a:rPr sz="1600" spc="-5" dirty="0">
                <a:latin typeface="Century Schoolbook"/>
                <a:cs typeface="Century Schoolbook"/>
              </a:rPr>
              <a:t>&gt; 10 : on obtient</a:t>
            </a:r>
            <a:r>
              <a:rPr sz="1600" spc="290" dirty="0">
                <a:latin typeface="Century Schoolbook"/>
                <a:cs typeface="Century Schoolbook"/>
              </a:rPr>
              <a:t> </a:t>
            </a:r>
            <a:r>
              <a:rPr sz="1600" spc="-10" dirty="0">
                <a:latin typeface="Century Schoolbook"/>
                <a:cs typeface="Century Schoolbook"/>
              </a:rPr>
              <a:t>C2</a:t>
            </a:r>
            <a:endParaRPr sz="1600">
              <a:latin typeface="Century Schoolbook"/>
              <a:cs typeface="Century Schoolbook"/>
            </a:endParaRPr>
          </a:p>
          <a:p>
            <a:pPr marL="299085" indent="-287020">
              <a:lnSpc>
                <a:spcPct val="100000"/>
              </a:lnSpc>
              <a:spcBef>
                <a:spcPts val="385"/>
              </a:spcBef>
              <a:buClr>
                <a:srgbClr val="7597D9"/>
              </a:buClr>
              <a:buSzPct val="78125"/>
              <a:buFont typeface="Wingdings"/>
              <a:buChar char=""/>
              <a:tabLst>
                <a:tab pos="299085" algn="l"/>
                <a:tab pos="299720" algn="l"/>
              </a:tabLst>
            </a:pPr>
            <a:r>
              <a:rPr sz="1600" spc="-5" dirty="0">
                <a:latin typeface="Century Schoolbook"/>
                <a:cs typeface="Century Schoolbook"/>
              </a:rPr>
              <a:t>Transfert </a:t>
            </a:r>
            <a:r>
              <a:rPr sz="1600" spc="-10" dirty="0">
                <a:latin typeface="Century Schoolbook"/>
                <a:cs typeface="Century Schoolbook"/>
              </a:rPr>
              <a:t>de </a:t>
            </a:r>
            <a:r>
              <a:rPr sz="1600" spc="-5" dirty="0">
                <a:latin typeface="Century Schoolbook"/>
                <a:cs typeface="Century Schoolbook"/>
              </a:rPr>
              <a:t>C1 </a:t>
            </a:r>
            <a:r>
              <a:rPr sz="1600" spc="-10" dirty="0">
                <a:latin typeface="Century Schoolbook"/>
                <a:cs typeface="Century Schoolbook"/>
              </a:rPr>
              <a:t>du </a:t>
            </a:r>
            <a:r>
              <a:rPr sz="1600" spc="-5" dirty="0">
                <a:latin typeface="Century Schoolbook"/>
                <a:cs typeface="Century Schoolbook"/>
              </a:rPr>
              <a:t>Site 3 vers le Site</a:t>
            </a:r>
            <a:r>
              <a:rPr sz="1600" spc="114" dirty="0">
                <a:latin typeface="Century Schoolbook"/>
                <a:cs typeface="Century Schoolbook"/>
              </a:rPr>
              <a:t> </a:t>
            </a:r>
            <a:r>
              <a:rPr sz="1600" spc="-5" dirty="0">
                <a:latin typeface="Century Schoolbook"/>
                <a:cs typeface="Century Schoolbook"/>
              </a:rPr>
              <a:t>1</a:t>
            </a:r>
            <a:endParaRPr sz="1600">
              <a:latin typeface="Century Schoolbook"/>
              <a:cs typeface="Century Schoolbook"/>
            </a:endParaRPr>
          </a:p>
          <a:p>
            <a:pPr marL="299085" indent="-287020">
              <a:lnSpc>
                <a:spcPct val="100000"/>
              </a:lnSpc>
              <a:spcBef>
                <a:spcPts val="390"/>
              </a:spcBef>
              <a:buClr>
                <a:srgbClr val="7597D9"/>
              </a:buClr>
              <a:buSzPct val="78125"/>
              <a:buFont typeface="Wingdings"/>
              <a:buChar char=""/>
              <a:tabLst>
                <a:tab pos="299085" algn="l"/>
                <a:tab pos="299720" algn="l"/>
              </a:tabLst>
            </a:pPr>
            <a:r>
              <a:rPr sz="1600" spc="-5" dirty="0">
                <a:latin typeface="Century Schoolbook"/>
                <a:cs typeface="Century Schoolbook"/>
              </a:rPr>
              <a:t>Transfert de </a:t>
            </a:r>
            <a:r>
              <a:rPr sz="1600" spc="-10" dirty="0">
                <a:latin typeface="Century Schoolbook"/>
                <a:cs typeface="Century Schoolbook"/>
              </a:rPr>
              <a:t>C2 </a:t>
            </a:r>
            <a:r>
              <a:rPr sz="1600" spc="-5" dirty="0">
                <a:latin typeface="Century Schoolbook"/>
                <a:cs typeface="Century Schoolbook"/>
              </a:rPr>
              <a:t>du Site 4 </a:t>
            </a:r>
            <a:r>
              <a:rPr sz="1600" spc="-10" dirty="0">
                <a:latin typeface="Century Schoolbook"/>
                <a:cs typeface="Century Schoolbook"/>
              </a:rPr>
              <a:t>vers </a:t>
            </a:r>
            <a:r>
              <a:rPr sz="1600" spc="-5" dirty="0">
                <a:latin typeface="Century Schoolbook"/>
                <a:cs typeface="Century Schoolbook"/>
              </a:rPr>
              <a:t>le Site</a:t>
            </a:r>
            <a:r>
              <a:rPr sz="1600" spc="100" dirty="0">
                <a:latin typeface="Century Schoolbook"/>
                <a:cs typeface="Century Schoolbook"/>
              </a:rPr>
              <a:t> </a:t>
            </a:r>
            <a:r>
              <a:rPr sz="1600" spc="-5" dirty="0">
                <a:latin typeface="Century Schoolbook"/>
                <a:cs typeface="Century Schoolbook"/>
              </a:rPr>
              <a:t>2</a:t>
            </a:r>
            <a:endParaRPr sz="1600">
              <a:latin typeface="Century Schoolbook"/>
              <a:cs typeface="Century Schoolbook"/>
            </a:endParaRPr>
          </a:p>
          <a:p>
            <a:pPr marL="299085" indent="-287020">
              <a:lnSpc>
                <a:spcPct val="100000"/>
              </a:lnSpc>
              <a:spcBef>
                <a:spcPts val="380"/>
              </a:spcBef>
              <a:buClr>
                <a:srgbClr val="7597D9"/>
              </a:buClr>
              <a:buSzPct val="78125"/>
              <a:buFont typeface="Wingdings"/>
              <a:buChar char=""/>
              <a:tabLst>
                <a:tab pos="299085" algn="l"/>
                <a:tab pos="299720" algn="l"/>
              </a:tabLst>
            </a:pPr>
            <a:r>
              <a:rPr sz="1600" spc="-5" dirty="0">
                <a:latin typeface="Century Schoolbook"/>
                <a:cs typeface="Century Schoolbook"/>
              </a:rPr>
              <a:t>Sur site 1: Jointure de </a:t>
            </a:r>
            <a:r>
              <a:rPr sz="1600" spc="-10" dirty="0">
                <a:latin typeface="Century Schoolbook"/>
                <a:cs typeface="Century Schoolbook"/>
              </a:rPr>
              <a:t>C1 avec </a:t>
            </a:r>
            <a:r>
              <a:rPr sz="1600" spc="-5" dirty="0">
                <a:latin typeface="Century Schoolbook"/>
                <a:cs typeface="Century Schoolbook"/>
              </a:rPr>
              <a:t>Client 1: on obtient</a:t>
            </a:r>
            <a:r>
              <a:rPr sz="1600" spc="105" dirty="0">
                <a:latin typeface="Century Schoolbook"/>
                <a:cs typeface="Century Schoolbook"/>
              </a:rPr>
              <a:t> </a:t>
            </a:r>
            <a:r>
              <a:rPr sz="1600" spc="-10" dirty="0">
                <a:latin typeface="Century Schoolbook"/>
                <a:cs typeface="Century Schoolbook"/>
              </a:rPr>
              <a:t>C3</a:t>
            </a:r>
            <a:endParaRPr sz="1600">
              <a:latin typeface="Century Schoolbook"/>
              <a:cs typeface="Century Schoolbook"/>
            </a:endParaRPr>
          </a:p>
          <a:p>
            <a:pPr marL="299085" indent="-287020">
              <a:lnSpc>
                <a:spcPct val="100000"/>
              </a:lnSpc>
              <a:spcBef>
                <a:spcPts val="385"/>
              </a:spcBef>
              <a:buClr>
                <a:srgbClr val="7597D9"/>
              </a:buClr>
              <a:buSzPct val="78125"/>
              <a:buFont typeface="Wingdings"/>
              <a:buChar char=""/>
              <a:tabLst>
                <a:tab pos="299085" algn="l"/>
                <a:tab pos="299720" algn="l"/>
              </a:tabLst>
            </a:pPr>
            <a:r>
              <a:rPr sz="1600" spc="-5" dirty="0">
                <a:latin typeface="Century Schoolbook"/>
                <a:cs typeface="Century Schoolbook"/>
              </a:rPr>
              <a:t>Sur site 2: Jointure de </a:t>
            </a:r>
            <a:r>
              <a:rPr sz="1600" spc="-10" dirty="0">
                <a:latin typeface="Century Schoolbook"/>
                <a:cs typeface="Century Schoolbook"/>
              </a:rPr>
              <a:t>C2 avec </a:t>
            </a:r>
            <a:r>
              <a:rPr sz="1600" spc="-5" dirty="0">
                <a:latin typeface="Century Schoolbook"/>
                <a:cs typeface="Century Schoolbook"/>
              </a:rPr>
              <a:t>Client 2 : on obtient</a:t>
            </a:r>
            <a:r>
              <a:rPr sz="1600" spc="114" dirty="0">
                <a:latin typeface="Century Schoolbook"/>
                <a:cs typeface="Century Schoolbook"/>
              </a:rPr>
              <a:t> </a:t>
            </a:r>
            <a:r>
              <a:rPr sz="1600" spc="-10" dirty="0">
                <a:latin typeface="Century Schoolbook"/>
                <a:cs typeface="Century Schoolbook"/>
              </a:rPr>
              <a:t>C4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3444" y="5743826"/>
            <a:ext cx="5429250" cy="9036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480"/>
              </a:spcBef>
              <a:buClr>
                <a:srgbClr val="7597D9"/>
              </a:buClr>
              <a:buSzPct val="78125"/>
              <a:buFont typeface="Wingdings"/>
              <a:buChar char=""/>
              <a:tabLst>
                <a:tab pos="299085" algn="l"/>
                <a:tab pos="299720" algn="l"/>
              </a:tabLst>
            </a:pPr>
            <a:r>
              <a:rPr sz="1600" spc="-5" dirty="0">
                <a:latin typeface="Century Schoolbook"/>
                <a:cs typeface="Century Schoolbook"/>
              </a:rPr>
              <a:t>Transfert de </a:t>
            </a:r>
            <a:r>
              <a:rPr sz="1600" spc="-10" dirty="0">
                <a:latin typeface="Century Schoolbook"/>
                <a:cs typeface="Century Schoolbook"/>
              </a:rPr>
              <a:t>C3 </a:t>
            </a:r>
            <a:r>
              <a:rPr sz="1600" spc="-5" dirty="0">
                <a:latin typeface="Century Schoolbook"/>
                <a:cs typeface="Century Schoolbook"/>
              </a:rPr>
              <a:t>du Site 1 </a:t>
            </a:r>
            <a:r>
              <a:rPr sz="1600" spc="-10" dirty="0">
                <a:latin typeface="Century Schoolbook"/>
                <a:cs typeface="Century Schoolbook"/>
              </a:rPr>
              <a:t>vers </a:t>
            </a:r>
            <a:r>
              <a:rPr sz="1600" spc="-5" dirty="0">
                <a:latin typeface="Century Schoolbook"/>
                <a:cs typeface="Century Schoolbook"/>
              </a:rPr>
              <a:t>le Site</a:t>
            </a:r>
            <a:r>
              <a:rPr sz="1600" spc="100" dirty="0">
                <a:latin typeface="Century Schoolbook"/>
                <a:cs typeface="Century Schoolbook"/>
              </a:rPr>
              <a:t> </a:t>
            </a:r>
            <a:r>
              <a:rPr sz="1600" spc="-5" dirty="0">
                <a:latin typeface="Century Schoolbook"/>
                <a:cs typeface="Century Schoolbook"/>
              </a:rPr>
              <a:t>5</a:t>
            </a:r>
            <a:endParaRPr sz="1600">
              <a:latin typeface="Century Schoolbook"/>
              <a:cs typeface="Century Schoolbook"/>
            </a:endParaRPr>
          </a:p>
          <a:p>
            <a:pPr marL="299085" indent="-287020">
              <a:lnSpc>
                <a:spcPct val="100000"/>
              </a:lnSpc>
              <a:spcBef>
                <a:spcPts val="385"/>
              </a:spcBef>
              <a:buClr>
                <a:srgbClr val="7597D9"/>
              </a:buClr>
              <a:buSzPct val="78125"/>
              <a:buFont typeface="Wingdings"/>
              <a:buChar char=""/>
              <a:tabLst>
                <a:tab pos="299085" algn="l"/>
                <a:tab pos="299720" algn="l"/>
              </a:tabLst>
            </a:pPr>
            <a:r>
              <a:rPr sz="1600" spc="-5" dirty="0">
                <a:latin typeface="Century Schoolbook"/>
                <a:cs typeface="Century Schoolbook"/>
              </a:rPr>
              <a:t>Transfert </a:t>
            </a:r>
            <a:r>
              <a:rPr sz="1600" spc="-10" dirty="0">
                <a:latin typeface="Century Schoolbook"/>
                <a:cs typeface="Century Schoolbook"/>
              </a:rPr>
              <a:t>de </a:t>
            </a:r>
            <a:r>
              <a:rPr sz="1600" spc="-5" dirty="0">
                <a:latin typeface="Century Schoolbook"/>
                <a:cs typeface="Century Schoolbook"/>
              </a:rPr>
              <a:t>C4 </a:t>
            </a:r>
            <a:r>
              <a:rPr sz="1600" spc="-10" dirty="0">
                <a:latin typeface="Century Schoolbook"/>
                <a:cs typeface="Century Schoolbook"/>
              </a:rPr>
              <a:t>du </a:t>
            </a:r>
            <a:r>
              <a:rPr sz="1600" spc="-5" dirty="0">
                <a:latin typeface="Century Schoolbook"/>
                <a:cs typeface="Century Schoolbook"/>
              </a:rPr>
              <a:t>Site 2 vers le Site</a:t>
            </a:r>
            <a:r>
              <a:rPr sz="1600" spc="114" dirty="0">
                <a:latin typeface="Century Schoolbook"/>
                <a:cs typeface="Century Schoolbook"/>
              </a:rPr>
              <a:t> </a:t>
            </a:r>
            <a:r>
              <a:rPr sz="1600" spc="-5" dirty="0">
                <a:latin typeface="Century Schoolbook"/>
                <a:cs typeface="Century Schoolbook"/>
              </a:rPr>
              <a:t>5</a:t>
            </a:r>
            <a:endParaRPr sz="1600">
              <a:latin typeface="Century Schoolbook"/>
              <a:cs typeface="Century Schoolbook"/>
            </a:endParaRPr>
          </a:p>
          <a:p>
            <a:pPr marL="299085" indent="-287020">
              <a:lnSpc>
                <a:spcPct val="100000"/>
              </a:lnSpc>
              <a:spcBef>
                <a:spcPts val="385"/>
              </a:spcBef>
              <a:buClr>
                <a:srgbClr val="7597D9"/>
              </a:buClr>
              <a:buSzPct val="78125"/>
              <a:buFont typeface="Wingdings"/>
              <a:buChar char=""/>
              <a:tabLst>
                <a:tab pos="299085" algn="l"/>
                <a:tab pos="299720" algn="l"/>
              </a:tabLst>
            </a:pPr>
            <a:r>
              <a:rPr sz="1600" spc="-5" dirty="0">
                <a:latin typeface="Century Schoolbook"/>
                <a:cs typeface="Century Schoolbook"/>
              </a:rPr>
              <a:t>Sur site 5: Union de </a:t>
            </a:r>
            <a:r>
              <a:rPr sz="1600" spc="-10" dirty="0">
                <a:latin typeface="Century Schoolbook"/>
                <a:cs typeface="Century Schoolbook"/>
              </a:rPr>
              <a:t>C3 avec C4 </a:t>
            </a:r>
            <a:r>
              <a:rPr sz="1600" spc="-5" dirty="0">
                <a:latin typeface="Century Schoolbook"/>
                <a:cs typeface="Century Schoolbook"/>
              </a:rPr>
              <a:t>: on obtient le</a:t>
            </a:r>
            <a:r>
              <a:rPr sz="1600" spc="155" dirty="0">
                <a:latin typeface="Century Schoolbook"/>
                <a:cs typeface="Century Schoolbook"/>
              </a:rPr>
              <a:t> </a:t>
            </a:r>
            <a:r>
              <a:rPr sz="1600" spc="-5" dirty="0">
                <a:latin typeface="Century Schoolbook"/>
                <a:cs typeface="Century Schoolbook"/>
              </a:rPr>
              <a:t>résultat</a:t>
            </a:r>
            <a:endParaRPr sz="1600">
              <a:latin typeface="Century Schoolbook"/>
              <a:cs typeface="Century Schoolbook"/>
            </a:endParaRPr>
          </a:p>
        </p:txBody>
      </p:sp>
      <p:grpSp>
        <p:nvGrpSpPr>
          <p:cNvPr id="25" name="Groupe 24"/>
          <p:cNvGrpSpPr/>
          <p:nvPr/>
        </p:nvGrpSpPr>
        <p:grpSpPr>
          <a:xfrm>
            <a:off x="282041" y="947673"/>
            <a:ext cx="8378850" cy="2431034"/>
            <a:chOff x="282041" y="947673"/>
            <a:chExt cx="8378850" cy="2431034"/>
          </a:xfrm>
        </p:grpSpPr>
        <p:sp>
          <p:nvSpPr>
            <p:cNvPr id="4" name="object 4"/>
            <p:cNvSpPr txBox="1"/>
            <p:nvPr/>
          </p:nvSpPr>
          <p:spPr>
            <a:xfrm>
              <a:off x="1207008" y="2819400"/>
              <a:ext cx="3295015" cy="471924"/>
            </a:xfrm>
            <a:prstGeom prst="rect">
              <a:avLst/>
            </a:prstGeom>
            <a:ln w="9144">
              <a:solidFill>
                <a:srgbClr val="3366FF"/>
              </a:solidFill>
            </a:ln>
          </p:spPr>
          <p:txBody>
            <a:bodyPr vert="horz" wrap="square" lIns="0" tIns="40640" rIns="0" bIns="0" rtlCol="0">
              <a:spAutoFit/>
            </a:bodyPr>
            <a:lstStyle/>
            <a:p>
              <a:pPr marL="73660">
                <a:lnSpc>
                  <a:spcPct val="100000"/>
                </a:lnSpc>
                <a:spcBef>
                  <a:spcPts val="320"/>
                </a:spcBef>
              </a:pPr>
              <a:r>
                <a:rPr sz="2400" spc="-15" baseline="15625" dirty="0">
                  <a:latin typeface="Century Schoolbook"/>
                  <a:cs typeface="Century Schoolbook"/>
                </a:rPr>
                <a:t>C</a:t>
              </a:r>
              <a:r>
                <a:rPr sz="2400" spc="-7" baseline="15625" dirty="0">
                  <a:latin typeface="Century Schoolbook"/>
                  <a:cs typeface="Century Schoolbook"/>
                </a:rPr>
                <a:t>1 =</a:t>
              </a:r>
              <a:r>
                <a:rPr sz="2400" baseline="15625" dirty="0">
                  <a:latin typeface="Century Schoolbook"/>
                  <a:cs typeface="Century Schoolbook"/>
                </a:rPr>
                <a:t> </a:t>
              </a:r>
              <a:r>
                <a:rPr sz="4200" baseline="8928" dirty="0" smtClean="0">
                  <a:latin typeface="Symbol"/>
                  <a:cs typeface="Symbol"/>
                </a:rPr>
                <a:t></a:t>
              </a:r>
              <a:r>
                <a:rPr sz="1575" baseline="2645" dirty="0">
                  <a:latin typeface="Century Schoolbook"/>
                  <a:cs typeface="Century Schoolbook"/>
                </a:rPr>
                <a:t>q</a:t>
              </a:r>
              <a:r>
                <a:rPr sz="1575" spc="7" baseline="2645" dirty="0">
                  <a:latin typeface="Century Schoolbook"/>
                  <a:cs typeface="Century Schoolbook"/>
                </a:rPr>
                <a:t>té</a:t>
              </a:r>
              <a:r>
                <a:rPr sz="1575" baseline="2645" dirty="0">
                  <a:latin typeface="Century Schoolbook"/>
                  <a:cs typeface="Century Schoolbook"/>
                </a:rPr>
                <a:t> </a:t>
              </a:r>
              <a:r>
                <a:rPr sz="1575" spc="15" baseline="2645" dirty="0">
                  <a:latin typeface="Century Schoolbook"/>
                  <a:cs typeface="Century Schoolbook"/>
                </a:rPr>
                <a:t>&gt;</a:t>
              </a:r>
              <a:r>
                <a:rPr sz="1575" spc="7" baseline="2645" dirty="0">
                  <a:latin typeface="Century Schoolbook"/>
                  <a:cs typeface="Century Schoolbook"/>
                </a:rPr>
                <a:t> </a:t>
              </a:r>
              <a:r>
                <a:rPr sz="1575" baseline="2645" dirty="0">
                  <a:latin typeface="Century Schoolbook"/>
                  <a:cs typeface="Century Schoolbook"/>
                </a:rPr>
                <a:t>1</a:t>
              </a:r>
              <a:r>
                <a:rPr sz="1575" spc="15" baseline="2645" dirty="0">
                  <a:latin typeface="Century Schoolbook"/>
                  <a:cs typeface="Century Schoolbook"/>
                </a:rPr>
                <a:t>0</a:t>
              </a:r>
              <a:r>
                <a:rPr sz="1575" baseline="2645" dirty="0">
                  <a:latin typeface="Century Schoolbook"/>
                  <a:cs typeface="Century Schoolbook"/>
                </a:rPr>
                <a:t> </a:t>
              </a:r>
              <a:r>
                <a:rPr sz="2400" spc="-7" baseline="15625" dirty="0">
                  <a:latin typeface="Century Schoolbook"/>
                  <a:cs typeface="Century Schoolbook"/>
                </a:rPr>
                <a:t>(C</a:t>
              </a:r>
              <a:r>
                <a:rPr sz="2400" spc="-22" baseline="15625" dirty="0">
                  <a:latin typeface="Century Schoolbook"/>
                  <a:cs typeface="Century Schoolbook"/>
                </a:rPr>
                <a:t>d</a:t>
              </a:r>
              <a:r>
                <a:rPr sz="2400" spc="-7" baseline="15625" dirty="0">
                  <a:latin typeface="Century Schoolbook"/>
                  <a:cs typeface="Century Schoolbook"/>
                </a:rPr>
                <a:t>e</a:t>
              </a:r>
              <a:r>
                <a:rPr sz="2400" spc="-15" baseline="15625" dirty="0">
                  <a:latin typeface="Century Schoolbook"/>
                  <a:cs typeface="Century Schoolbook"/>
                </a:rPr>
                <a:t>1</a:t>
              </a:r>
              <a:r>
                <a:rPr sz="2400" spc="-15" baseline="15625" dirty="0" smtClean="0">
                  <a:latin typeface="Century Schoolbook"/>
                  <a:cs typeface="Century Schoolbook"/>
                </a:rPr>
                <a:t>)</a:t>
              </a:r>
              <a:endParaRPr sz="2700" baseline="13888" dirty="0">
                <a:latin typeface="Century Schoolbook"/>
                <a:cs typeface="Century Schoolbook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4736591" y="2807207"/>
              <a:ext cx="3924300" cy="571500"/>
            </a:xfrm>
            <a:prstGeom prst="rect">
              <a:avLst/>
            </a:prstGeom>
            <a:ln w="9144">
              <a:solidFill>
                <a:srgbClr val="3366FF"/>
              </a:solidFill>
            </a:ln>
          </p:spPr>
          <p:txBody>
            <a:bodyPr vert="horz" wrap="square" lIns="0" tIns="64769" rIns="0" bIns="0" rtlCol="0">
              <a:spAutoFit/>
            </a:bodyPr>
            <a:lstStyle/>
            <a:p>
              <a:pPr marL="163830">
                <a:lnSpc>
                  <a:spcPct val="100000"/>
                </a:lnSpc>
                <a:spcBef>
                  <a:spcPts val="509"/>
                </a:spcBef>
              </a:pPr>
              <a:r>
                <a:rPr sz="2700" spc="-7" baseline="15432" dirty="0">
                  <a:latin typeface="Century Schoolbook"/>
                  <a:cs typeface="Century Schoolbook"/>
                </a:rPr>
                <a:t>C</a:t>
              </a:r>
              <a:r>
                <a:rPr sz="2700" baseline="15432" dirty="0">
                  <a:latin typeface="Century Schoolbook"/>
                  <a:cs typeface="Century Schoolbook"/>
                </a:rPr>
                <a:t>2</a:t>
              </a:r>
              <a:r>
                <a:rPr sz="2700" spc="-15" baseline="15432" dirty="0">
                  <a:latin typeface="Century Schoolbook"/>
                  <a:cs typeface="Century Schoolbook"/>
                </a:rPr>
                <a:t> </a:t>
              </a:r>
              <a:r>
                <a:rPr sz="2700" baseline="15432" dirty="0">
                  <a:latin typeface="Century Schoolbook"/>
                  <a:cs typeface="Century Schoolbook"/>
                </a:rPr>
                <a:t>= </a:t>
              </a:r>
              <a:r>
                <a:rPr sz="2700" spc="-165" baseline="15432" dirty="0">
                  <a:latin typeface="Century Schoolbook"/>
                  <a:cs typeface="Century Schoolbook"/>
                </a:rPr>
                <a:t> </a:t>
              </a:r>
              <a:r>
                <a:rPr sz="4800" baseline="8680" dirty="0" smtClean="0">
                  <a:latin typeface="Symbol"/>
                  <a:cs typeface="Symbol"/>
                </a:rPr>
                <a:t></a:t>
              </a:r>
              <a:r>
                <a:rPr sz="1800" baseline="2314" dirty="0">
                  <a:latin typeface="Century Schoolbook"/>
                  <a:cs typeface="Century Schoolbook"/>
                </a:rPr>
                <a:t>q</a:t>
              </a:r>
              <a:r>
                <a:rPr sz="1800" spc="-7" baseline="2314" dirty="0">
                  <a:latin typeface="Century Schoolbook"/>
                  <a:cs typeface="Century Schoolbook"/>
                </a:rPr>
                <a:t>t</a:t>
              </a:r>
              <a:r>
                <a:rPr sz="1800" baseline="2314" dirty="0">
                  <a:latin typeface="Century Schoolbook"/>
                  <a:cs typeface="Century Schoolbook"/>
                </a:rPr>
                <a:t>é</a:t>
              </a:r>
              <a:r>
                <a:rPr sz="1800" spc="-30" baseline="2314" dirty="0">
                  <a:latin typeface="Century Schoolbook"/>
                  <a:cs typeface="Century Schoolbook"/>
                </a:rPr>
                <a:t> </a:t>
              </a:r>
              <a:r>
                <a:rPr sz="1800" baseline="2314" dirty="0">
                  <a:latin typeface="Century Schoolbook"/>
                  <a:cs typeface="Century Schoolbook"/>
                </a:rPr>
                <a:t>&gt;</a:t>
              </a:r>
              <a:r>
                <a:rPr sz="1800" spc="-15" baseline="2314" dirty="0">
                  <a:latin typeface="Century Schoolbook"/>
                  <a:cs typeface="Century Schoolbook"/>
                </a:rPr>
                <a:t> </a:t>
              </a:r>
              <a:r>
                <a:rPr sz="1800" baseline="2314" dirty="0">
                  <a:latin typeface="Century Schoolbook"/>
                  <a:cs typeface="Century Schoolbook"/>
                </a:rPr>
                <a:t>10</a:t>
              </a:r>
              <a:r>
                <a:rPr sz="1800" spc="-7" baseline="2314" dirty="0">
                  <a:latin typeface="Century Schoolbook"/>
                  <a:cs typeface="Century Schoolbook"/>
                </a:rPr>
                <a:t> </a:t>
              </a:r>
              <a:r>
                <a:rPr sz="2700" baseline="15432" dirty="0">
                  <a:latin typeface="Century Schoolbook"/>
                  <a:cs typeface="Century Schoolbook"/>
                </a:rPr>
                <a:t>(Cde</a:t>
              </a:r>
              <a:r>
                <a:rPr sz="2700" spc="-15" baseline="15432" dirty="0">
                  <a:latin typeface="Century Schoolbook"/>
                  <a:cs typeface="Century Schoolbook"/>
                </a:rPr>
                <a:t>2</a:t>
              </a:r>
              <a:r>
                <a:rPr sz="2700" spc="-7" baseline="15432" dirty="0" smtClean="0">
                  <a:latin typeface="Century Schoolbook"/>
                  <a:cs typeface="Century Schoolbook"/>
                </a:rPr>
                <a:t>)</a:t>
              </a:r>
              <a:endParaRPr sz="3600" baseline="11574" dirty="0">
                <a:latin typeface="Century Schoolbook"/>
                <a:cs typeface="Century Schoolbook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282041" y="2924683"/>
              <a:ext cx="62674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i="1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Site</a:t>
              </a:r>
              <a:r>
                <a:rPr sz="1800" i="1" spc="-90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 </a:t>
              </a:r>
              <a:r>
                <a:rPr sz="1800" i="1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3</a:t>
              </a:r>
              <a:endParaRPr sz="1800">
                <a:latin typeface="Century Schoolbook"/>
                <a:cs typeface="Century Schoolbook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427732" y="2502407"/>
              <a:ext cx="0" cy="256540"/>
            </a:xfrm>
            <a:custGeom>
              <a:avLst/>
              <a:gdLst/>
              <a:ahLst/>
              <a:cxnLst/>
              <a:rect l="l" t="t" r="r" b="b"/>
              <a:pathLst>
                <a:path h="256539">
                  <a:moveTo>
                    <a:pt x="0" y="0"/>
                  </a:moveTo>
                  <a:lnTo>
                    <a:pt x="0" y="256031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19215" y="2464307"/>
              <a:ext cx="0" cy="256540"/>
            </a:xfrm>
            <a:custGeom>
              <a:avLst/>
              <a:gdLst/>
              <a:ahLst/>
              <a:cxnLst/>
              <a:rect l="l" t="t" r="r" b="b"/>
              <a:pathLst>
                <a:path h="256539">
                  <a:moveTo>
                    <a:pt x="0" y="0"/>
                  </a:moveTo>
                  <a:lnTo>
                    <a:pt x="0" y="256031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4786248" y="1998344"/>
              <a:ext cx="1341120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95"/>
                </a:spcBef>
              </a:pPr>
              <a:r>
                <a:rPr lang="fr-FR" sz="1600" spc="-10" dirty="0" smtClean="0">
                  <a:latin typeface="Century Schoolbook"/>
                  <a:cs typeface="Century Schoolbook"/>
                </a:rPr>
                <a:t>        </a:t>
              </a:r>
              <a:r>
                <a:rPr sz="1600" spc="-10" dirty="0" smtClean="0">
                  <a:latin typeface="Century Schoolbook"/>
                  <a:cs typeface="Century Schoolbook"/>
                </a:rPr>
                <a:t>C4 </a:t>
              </a:r>
              <a:r>
                <a:rPr sz="1600" spc="-5" dirty="0">
                  <a:latin typeface="Century Schoolbook"/>
                  <a:cs typeface="Century Schoolbook"/>
                </a:rPr>
                <a:t>=</a:t>
              </a:r>
              <a:r>
                <a:rPr sz="1600" spc="-15" dirty="0">
                  <a:latin typeface="Century Schoolbook"/>
                  <a:cs typeface="Century Schoolbook"/>
                </a:rPr>
                <a:t> </a:t>
              </a:r>
              <a:r>
                <a:rPr lang="fr-FR" sz="1600" spc="-15" dirty="0" smtClean="0">
                  <a:latin typeface="Century Schoolbook"/>
                  <a:cs typeface="Century Schoolbook"/>
                </a:rPr>
                <a:t> </a:t>
              </a:r>
              <a:r>
                <a:rPr sz="1600" dirty="0" smtClean="0">
                  <a:latin typeface="Century Schoolbook"/>
                  <a:cs typeface="Century Schoolbook"/>
                </a:rPr>
                <a:t>C2</a:t>
              </a:r>
              <a:endParaRPr sz="1600" dirty="0">
                <a:latin typeface="Century Schoolbook"/>
                <a:cs typeface="Century Schoolbook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6646564" y="1998344"/>
              <a:ext cx="772160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 smtClean="0">
                  <a:latin typeface="Century Schoolbook"/>
                  <a:cs typeface="Century Schoolbook"/>
                </a:rPr>
                <a:t>Cli</a:t>
              </a:r>
              <a:r>
                <a:rPr sz="1600" dirty="0" smtClean="0">
                  <a:latin typeface="Century Schoolbook"/>
                  <a:cs typeface="Century Schoolbook"/>
                </a:rPr>
                <a:t>e</a:t>
              </a:r>
              <a:r>
                <a:rPr sz="1600" spc="-5" dirty="0" smtClean="0">
                  <a:latin typeface="Century Schoolbook"/>
                  <a:cs typeface="Century Schoolbook"/>
                </a:rPr>
                <a:t>nt2</a:t>
              </a:r>
              <a:endParaRPr sz="1600" dirty="0">
                <a:latin typeface="Century Schoolbook"/>
                <a:cs typeface="Century Schoolbook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1143000" y="1816607"/>
              <a:ext cx="2781300" cy="490519"/>
            </a:xfrm>
            <a:prstGeom prst="rect">
              <a:avLst/>
            </a:prstGeom>
            <a:ln w="9144">
              <a:solidFill>
                <a:srgbClr val="3366FF"/>
              </a:solidFill>
            </a:ln>
          </p:spPr>
          <p:txBody>
            <a:bodyPr vert="horz" wrap="square" lIns="0" tIns="130175" rIns="0" bIns="0" rtlCol="0">
              <a:spAutoFit/>
            </a:bodyPr>
            <a:lstStyle/>
            <a:p>
              <a:pPr marL="64135">
                <a:lnSpc>
                  <a:spcPts val="1755"/>
                </a:lnSpc>
                <a:spcBef>
                  <a:spcPts val="1025"/>
                </a:spcBef>
                <a:tabLst>
                  <a:tab pos="1828164" algn="l"/>
                </a:tabLst>
              </a:pPr>
              <a:r>
                <a:rPr lang="fr-FR" sz="1600" spc="-10" dirty="0" smtClean="0">
                  <a:latin typeface="Century Schoolbook"/>
                  <a:cs typeface="Century Schoolbook"/>
                </a:rPr>
                <a:t>         </a:t>
              </a:r>
              <a:r>
                <a:rPr sz="1600" spc="-10" dirty="0" smtClean="0">
                  <a:latin typeface="Century Schoolbook"/>
                  <a:cs typeface="Century Schoolbook"/>
                </a:rPr>
                <a:t>C3</a:t>
              </a:r>
              <a:r>
                <a:rPr sz="1600" dirty="0" smtClean="0">
                  <a:latin typeface="Century Schoolbook"/>
                  <a:cs typeface="Century Schoolbook"/>
                </a:rPr>
                <a:t> </a:t>
              </a:r>
              <a:r>
                <a:rPr sz="1600" spc="-5" dirty="0">
                  <a:latin typeface="Century Schoolbook"/>
                  <a:cs typeface="Century Schoolbook"/>
                </a:rPr>
                <a:t>=</a:t>
              </a:r>
              <a:r>
                <a:rPr sz="1600" spc="25" dirty="0">
                  <a:latin typeface="Century Schoolbook"/>
                  <a:cs typeface="Century Schoolbook"/>
                </a:rPr>
                <a:t> </a:t>
              </a:r>
              <a:r>
                <a:rPr sz="1600" dirty="0" smtClean="0">
                  <a:latin typeface="Century Schoolbook"/>
                  <a:cs typeface="Century Schoolbook"/>
                </a:rPr>
                <a:t>C1	</a:t>
              </a:r>
              <a:r>
                <a:rPr sz="1600" spc="-5" dirty="0" smtClean="0">
                  <a:latin typeface="Century Schoolbook"/>
                  <a:cs typeface="Century Schoolbook"/>
                </a:rPr>
                <a:t>Client1</a:t>
              </a:r>
              <a:r>
                <a:rPr sz="1600" spc="-5" dirty="0">
                  <a:latin typeface="Century Schoolbook"/>
                  <a:cs typeface="Century Schoolbook"/>
                </a:rPr>
                <a:t>)</a:t>
              </a:r>
              <a:endParaRPr sz="1600" dirty="0">
                <a:latin typeface="Century Schoolbook"/>
                <a:cs typeface="Century Schoolbook"/>
              </a:endParaRPr>
            </a:p>
            <a:p>
              <a:pPr marL="487045" algn="ctr">
                <a:lnSpc>
                  <a:spcPts val="1035"/>
                </a:lnSpc>
              </a:pPr>
              <a:r>
                <a:rPr sz="1000" spc="-5" dirty="0">
                  <a:latin typeface="Century Schoolbook"/>
                  <a:cs typeface="Century Schoolbook"/>
                </a:rPr>
                <a:t>nclient</a:t>
              </a:r>
              <a:endParaRPr sz="1000" dirty="0">
                <a:latin typeface="Century Schoolbook"/>
                <a:cs typeface="Century Schoolbook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6176517" y="2208402"/>
              <a:ext cx="416559" cy="1778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95"/>
                </a:spcBef>
              </a:pPr>
              <a:r>
                <a:rPr sz="1000" spc="-5" dirty="0">
                  <a:latin typeface="Century Schoolbook"/>
                  <a:cs typeface="Century Schoolbook"/>
                </a:rPr>
                <a:t>nclient</a:t>
              </a:r>
              <a:endParaRPr sz="1000">
                <a:latin typeface="Century Schoolbook"/>
                <a:cs typeface="Century Schoolbook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5097779" y="1802892"/>
              <a:ext cx="2498090" cy="571500"/>
            </a:xfrm>
            <a:custGeom>
              <a:avLst/>
              <a:gdLst/>
              <a:ahLst/>
              <a:cxnLst/>
              <a:rect l="l" t="t" r="r" b="b"/>
              <a:pathLst>
                <a:path w="2498090" h="571500">
                  <a:moveTo>
                    <a:pt x="0" y="571500"/>
                  </a:moveTo>
                  <a:lnTo>
                    <a:pt x="2497835" y="571500"/>
                  </a:lnTo>
                  <a:lnTo>
                    <a:pt x="2497835" y="0"/>
                  </a:lnTo>
                  <a:lnTo>
                    <a:pt x="0" y="0"/>
                  </a:lnTo>
                  <a:lnTo>
                    <a:pt x="0" y="571500"/>
                  </a:lnTo>
                  <a:close/>
                </a:path>
              </a:pathLst>
            </a:custGeom>
            <a:ln w="9144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63367" y="1319783"/>
              <a:ext cx="1130935" cy="408940"/>
            </a:xfrm>
            <a:custGeom>
              <a:avLst/>
              <a:gdLst/>
              <a:ahLst/>
              <a:cxnLst/>
              <a:rect l="l" t="t" r="r" b="b"/>
              <a:pathLst>
                <a:path w="1130935" h="408939">
                  <a:moveTo>
                    <a:pt x="1130808" y="0"/>
                  </a:moveTo>
                  <a:lnTo>
                    <a:pt x="0" y="40843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72584" y="1319783"/>
              <a:ext cx="977265" cy="370840"/>
            </a:xfrm>
            <a:custGeom>
              <a:avLst/>
              <a:gdLst/>
              <a:ahLst/>
              <a:cxnLst/>
              <a:rect l="l" t="t" r="r" b="b"/>
              <a:pathLst>
                <a:path w="977264" h="370839">
                  <a:moveTo>
                    <a:pt x="0" y="0"/>
                  </a:moveTo>
                  <a:lnTo>
                    <a:pt x="976883" y="370331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345440" y="1959355"/>
              <a:ext cx="62674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i="1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Site</a:t>
              </a:r>
              <a:r>
                <a:rPr sz="1800" i="1" spc="-90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 </a:t>
              </a:r>
              <a:r>
                <a:rPr sz="1800" i="1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1</a:t>
              </a:r>
              <a:endParaRPr sz="1800">
                <a:latin typeface="Century Schoolbook"/>
                <a:cs typeface="Century Schoolbook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3647947" y="947673"/>
              <a:ext cx="228790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1673860" algn="l"/>
                </a:tabLst>
              </a:pPr>
              <a:r>
                <a:rPr sz="1800" spc="-5" dirty="0">
                  <a:latin typeface="Century Schoolbook"/>
                  <a:cs typeface="Century Schoolbook"/>
                </a:rPr>
                <a:t>C3 </a:t>
              </a:r>
              <a:r>
                <a:rPr sz="1800" spc="-5" dirty="0">
                  <a:latin typeface="Symbol"/>
                  <a:cs typeface="Symbol"/>
                </a:rPr>
                <a:t></a:t>
              </a:r>
              <a:r>
                <a:rPr sz="1800" spc="-5" dirty="0">
                  <a:latin typeface="Century Schoolbook"/>
                  <a:cs typeface="Century Schoolbook"/>
                </a:rPr>
                <a:t>C4	</a:t>
              </a:r>
              <a:r>
                <a:rPr sz="2700" i="1" baseline="1543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Site</a:t>
              </a:r>
              <a:r>
                <a:rPr sz="2700" i="1" spc="-127" baseline="1543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 </a:t>
              </a:r>
              <a:r>
                <a:rPr sz="2700" i="1" baseline="1543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5</a:t>
              </a:r>
              <a:endParaRPr sz="2700" baseline="1543">
                <a:latin typeface="Century Schoolbook"/>
                <a:cs typeface="Century Schoolbook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7659116" y="1933397"/>
              <a:ext cx="627380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i="1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Site</a:t>
              </a:r>
              <a:r>
                <a:rPr sz="1800" i="1" spc="-85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 </a:t>
              </a:r>
              <a:r>
                <a:rPr sz="1800" i="1" dirty="0">
                  <a:solidFill>
                    <a:srgbClr val="3366FF"/>
                  </a:solidFill>
                  <a:latin typeface="Century Schoolbook"/>
                  <a:cs typeface="Century Schoolbook"/>
                </a:rPr>
                <a:t>2</a:t>
              </a:r>
              <a:endParaRPr sz="1800">
                <a:latin typeface="Century Schoolbook"/>
                <a:cs typeface="Century Schoolbook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6228588" y="1979676"/>
              <a:ext cx="329565" cy="297180"/>
            </a:xfrm>
            <a:custGeom>
              <a:avLst/>
              <a:gdLst/>
              <a:ahLst/>
              <a:cxnLst/>
              <a:rect l="l" t="t" r="r" b="b"/>
              <a:pathLst>
                <a:path w="329565" h="297180">
                  <a:moveTo>
                    <a:pt x="0" y="297179"/>
                  </a:moveTo>
                  <a:lnTo>
                    <a:pt x="0" y="0"/>
                  </a:lnTo>
                  <a:lnTo>
                    <a:pt x="164591" y="148589"/>
                  </a:lnTo>
                  <a:lnTo>
                    <a:pt x="329184" y="0"/>
                  </a:lnTo>
                  <a:lnTo>
                    <a:pt x="329184" y="297179"/>
                  </a:lnTo>
                  <a:lnTo>
                    <a:pt x="164591" y="148589"/>
                  </a:lnTo>
                  <a:lnTo>
                    <a:pt x="0" y="297179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42032" y="1930907"/>
              <a:ext cx="386080" cy="254635"/>
            </a:xfrm>
            <a:custGeom>
              <a:avLst/>
              <a:gdLst/>
              <a:ahLst/>
              <a:cxnLst/>
              <a:rect l="l" t="t" r="r" b="b"/>
              <a:pathLst>
                <a:path w="386080" h="254635">
                  <a:moveTo>
                    <a:pt x="0" y="254507"/>
                  </a:moveTo>
                  <a:lnTo>
                    <a:pt x="0" y="0"/>
                  </a:lnTo>
                  <a:lnTo>
                    <a:pt x="192786" y="127253"/>
                  </a:lnTo>
                  <a:lnTo>
                    <a:pt x="385572" y="0"/>
                  </a:lnTo>
                  <a:lnTo>
                    <a:pt x="385572" y="254507"/>
                  </a:lnTo>
                  <a:lnTo>
                    <a:pt x="192786" y="127253"/>
                  </a:lnTo>
                  <a:lnTo>
                    <a:pt x="0" y="25450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Espace réservé du numéro de diapositive 2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21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533400"/>
            <a:ext cx="65716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COMPARATIF </a:t>
            </a:r>
            <a:r>
              <a:rPr sz="2400" dirty="0"/>
              <a:t>DU </a:t>
            </a:r>
            <a:r>
              <a:rPr sz="2400" spc="-5" dirty="0"/>
              <a:t>COÛT </a:t>
            </a:r>
            <a:r>
              <a:rPr sz="2400" dirty="0"/>
              <a:t>DES</a:t>
            </a:r>
            <a:r>
              <a:rPr sz="2400" spc="640" dirty="0"/>
              <a:t> </a:t>
            </a:r>
            <a:r>
              <a:rPr sz="2400" spc="-5" dirty="0"/>
              <a:t>SOLUTIONS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13407"/>
            <a:ext cx="6346825" cy="176974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84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dirty="0">
                <a:latin typeface="Century Schoolbook"/>
                <a:cs typeface="Century Schoolbook"/>
              </a:rPr>
              <a:t>Supposons</a:t>
            </a:r>
            <a:endParaRPr sz="2400">
              <a:latin typeface="Century Schoolbook"/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80000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000" spc="-5" dirty="0">
                <a:latin typeface="Century Schoolbook"/>
                <a:cs typeface="Century Schoolbook"/>
              </a:rPr>
              <a:t>Taille(Cde1) </a:t>
            </a:r>
            <a:r>
              <a:rPr sz="2000" dirty="0">
                <a:latin typeface="Century Schoolbook"/>
                <a:cs typeface="Century Schoolbook"/>
              </a:rPr>
              <a:t>= </a:t>
            </a:r>
            <a:r>
              <a:rPr sz="2000" spc="-5" dirty="0">
                <a:latin typeface="Century Schoolbook"/>
                <a:cs typeface="Century Schoolbook"/>
              </a:rPr>
              <a:t>taille(Cde2) </a:t>
            </a:r>
            <a:r>
              <a:rPr sz="2000" dirty="0">
                <a:latin typeface="Century Schoolbook"/>
                <a:cs typeface="Century Schoolbook"/>
              </a:rPr>
              <a:t>= 10 000</a:t>
            </a:r>
            <a:r>
              <a:rPr sz="2000" spc="-95" dirty="0">
                <a:latin typeface="Century Schoolbook"/>
                <a:cs typeface="Century Schoolbook"/>
              </a:rPr>
              <a:t> </a:t>
            </a:r>
            <a:r>
              <a:rPr sz="2000" dirty="0">
                <a:latin typeface="Century Schoolbook"/>
                <a:cs typeface="Century Schoolbook"/>
              </a:rPr>
              <a:t>n-uplets</a:t>
            </a:r>
            <a:endParaRPr sz="2000">
              <a:latin typeface="Century Schoolbook"/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245"/>
              </a:spcBef>
              <a:buClr>
                <a:srgbClr val="FD8537"/>
              </a:buClr>
              <a:buSzPct val="80000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000" spc="-5" dirty="0">
                <a:latin typeface="Century Schoolbook"/>
                <a:cs typeface="Century Schoolbook"/>
              </a:rPr>
              <a:t>Taille(Client1) </a:t>
            </a:r>
            <a:r>
              <a:rPr sz="2000" dirty="0">
                <a:latin typeface="Century Schoolbook"/>
                <a:cs typeface="Century Schoolbook"/>
              </a:rPr>
              <a:t>= Taille(Client2) = 2 </a:t>
            </a:r>
            <a:r>
              <a:rPr sz="2000" spc="-5" dirty="0">
                <a:latin typeface="Century Schoolbook"/>
                <a:cs typeface="Century Schoolbook"/>
              </a:rPr>
              <a:t>000</a:t>
            </a:r>
            <a:r>
              <a:rPr sz="2000" spc="-135" dirty="0">
                <a:latin typeface="Century Schoolbook"/>
                <a:cs typeface="Century Schoolbook"/>
              </a:rPr>
              <a:t> </a:t>
            </a:r>
            <a:r>
              <a:rPr sz="2000" dirty="0">
                <a:latin typeface="Century Schoolbook"/>
                <a:cs typeface="Century Schoolbook"/>
              </a:rPr>
              <a:t>n-uplets</a:t>
            </a:r>
            <a:endParaRPr sz="2000">
              <a:latin typeface="Century Schoolbook"/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80000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000" dirty="0">
                <a:latin typeface="Century Schoolbook"/>
                <a:cs typeface="Century Schoolbook"/>
              </a:rPr>
              <a:t>Coût </a:t>
            </a:r>
            <a:r>
              <a:rPr sz="2000" spc="-5" dirty="0">
                <a:latin typeface="Century Schoolbook"/>
                <a:cs typeface="Century Schoolbook"/>
              </a:rPr>
              <a:t>de transfert de </a:t>
            </a:r>
            <a:r>
              <a:rPr sz="2000" dirty="0">
                <a:latin typeface="Century Schoolbook"/>
                <a:cs typeface="Century Schoolbook"/>
              </a:rPr>
              <a:t>1 n-uplets =</a:t>
            </a:r>
            <a:r>
              <a:rPr sz="2000" spc="-135" dirty="0">
                <a:latin typeface="Century Schoolbook"/>
                <a:cs typeface="Century Schoolbook"/>
              </a:rPr>
              <a:t> </a:t>
            </a:r>
            <a:r>
              <a:rPr sz="2000" dirty="0">
                <a:latin typeface="Century Schoolbook"/>
                <a:cs typeface="Century Schoolbook"/>
              </a:rPr>
              <a:t>1</a:t>
            </a:r>
            <a:endParaRPr sz="2000">
              <a:latin typeface="Century Schoolbook"/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80000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000" dirty="0">
                <a:latin typeface="Century Schoolbook"/>
                <a:cs typeface="Century Schoolbook"/>
              </a:rPr>
              <a:t>Sélectivité (qté &gt; </a:t>
            </a:r>
            <a:r>
              <a:rPr sz="2000" spc="-5" dirty="0">
                <a:latin typeface="Century Schoolbook"/>
                <a:cs typeface="Century Schoolbook"/>
              </a:rPr>
              <a:t>10) </a:t>
            </a:r>
            <a:r>
              <a:rPr sz="2000" dirty="0">
                <a:latin typeface="Century Schoolbook"/>
                <a:cs typeface="Century Schoolbook"/>
              </a:rPr>
              <a:t>=</a:t>
            </a:r>
            <a:r>
              <a:rPr sz="2000" spc="-100" dirty="0">
                <a:latin typeface="Century Schoolbook"/>
                <a:cs typeface="Century Schoolbook"/>
              </a:rPr>
              <a:t> </a:t>
            </a:r>
            <a:r>
              <a:rPr sz="2000" spc="-5" dirty="0">
                <a:latin typeface="Century Schoolbook"/>
                <a:cs typeface="Century Schoolbook"/>
              </a:rPr>
              <a:t>1%</a:t>
            </a:r>
            <a:endParaRPr sz="2000">
              <a:latin typeface="Century Schoolbook"/>
              <a:cs typeface="Century Schoolboo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395290"/>
            <a:ext cx="6189980" cy="10991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8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dirty="0">
                <a:latin typeface="Century Schoolbook"/>
                <a:cs typeface="Century Schoolbook"/>
              </a:rPr>
              <a:t>Solution</a:t>
            </a:r>
            <a:r>
              <a:rPr sz="2400" spc="-3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1</a:t>
            </a:r>
            <a:endParaRPr sz="2400">
              <a:latin typeface="Century Schoolbook"/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245"/>
              </a:spcBef>
              <a:buClr>
                <a:srgbClr val="FD8537"/>
              </a:buClr>
              <a:buSzPct val="80000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000" spc="-5" dirty="0">
                <a:latin typeface="Century Schoolbook"/>
                <a:cs typeface="Century Schoolbook"/>
              </a:rPr>
              <a:t>Transfert de </a:t>
            </a:r>
            <a:r>
              <a:rPr sz="2000" dirty="0">
                <a:latin typeface="Century Schoolbook"/>
                <a:cs typeface="Century Schoolbook"/>
              </a:rPr>
              <a:t>Cde1 + Cde2 = </a:t>
            </a:r>
            <a:r>
              <a:rPr sz="2000" spc="-5" dirty="0">
                <a:latin typeface="Century Schoolbook"/>
                <a:cs typeface="Century Schoolbook"/>
              </a:rPr>
              <a:t>20 000</a:t>
            </a:r>
            <a:r>
              <a:rPr sz="2000" spc="-105" dirty="0">
                <a:latin typeface="Century Schoolbook"/>
                <a:cs typeface="Century Schoolbook"/>
              </a:rPr>
              <a:t> </a:t>
            </a:r>
            <a:r>
              <a:rPr sz="2000" dirty="0">
                <a:latin typeface="Century Schoolbook"/>
                <a:cs typeface="Century Schoolbook"/>
              </a:rPr>
              <a:t>n-uplets</a:t>
            </a:r>
            <a:endParaRPr sz="2000">
              <a:latin typeface="Century Schoolbook"/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80000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000" spc="-5" dirty="0">
                <a:latin typeface="Century Schoolbook"/>
                <a:cs typeface="Century Schoolbook"/>
              </a:rPr>
              <a:t>Transfert de </a:t>
            </a:r>
            <a:r>
              <a:rPr sz="2000" dirty="0">
                <a:latin typeface="Century Schoolbook"/>
                <a:cs typeface="Century Schoolbook"/>
              </a:rPr>
              <a:t>Client1 + Client2 = 4 </a:t>
            </a:r>
            <a:r>
              <a:rPr sz="2000" spc="-5" dirty="0">
                <a:latin typeface="Century Schoolbook"/>
                <a:cs typeface="Century Schoolbook"/>
              </a:rPr>
              <a:t>000</a:t>
            </a:r>
            <a:r>
              <a:rPr sz="2000" spc="-135" dirty="0">
                <a:latin typeface="Century Schoolbook"/>
                <a:cs typeface="Century Schoolbook"/>
              </a:rPr>
              <a:t> </a:t>
            </a:r>
            <a:r>
              <a:rPr sz="2000" dirty="0">
                <a:latin typeface="Century Schoolbook"/>
                <a:cs typeface="Century Schoolbook"/>
              </a:rPr>
              <a:t>n-uplets</a:t>
            </a:r>
            <a:endParaRPr sz="2000">
              <a:latin typeface="Century Schoolbook"/>
              <a:cs typeface="Century Schoolboo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805789"/>
            <a:ext cx="4899025" cy="110045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Solution</a:t>
            </a:r>
            <a:r>
              <a:rPr sz="2400" spc="-30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2</a:t>
            </a:r>
            <a:endParaRPr sz="2400">
              <a:latin typeface="Century Schoolbook"/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250"/>
              </a:spcBef>
              <a:buClr>
                <a:srgbClr val="FD8537"/>
              </a:buClr>
              <a:buSzPct val="80000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000" spc="-5" dirty="0">
                <a:latin typeface="Century Schoolbook"/>
                <a:cs typeface="Century Schoolbook"/>
              </a:rPr>
              <a:t>Transfert de </a:t>
            </a:r>
            <a:r>
              <a:rPr sz="2000" dirty="0">
                <a:latin typeface="Century Schoolbook"/>
                <a:cs typeface="Century Schoolbook"/>
              </a:rPr>
              <a:t>C1 + C2 = </a:t>
            </a:r>
            <a:r>
              <a:rPr sz="2000" spc="-5" dirty="0">
                <a:latin typeface="Century Schoolbook"/>
                <a:cs typeface="Century Schoolbook"/>
              </a:rPr>
              <a:t>200</a:t>
            </a:r>
            <a:r>
              <a:rPr sz="2000" spc="-90" dirty="0">
                <a:latin typeface="Century Schoolbook"/>
                <a:cs typeface="Century Schoolbook"/>
              </a:rPr>
              <a:t> </a:t>
            </a:r>
            <a:r>
              <a:rPr sz="2000" dirty="0">
                <a:latin typeface="Century Schoolbook"/>
                <a:cs typeface="Century Schoolbook"/>
              </a:rPr>
              <a:t>n-uplets</a:t>
            </a:r>
            <a:endParaRPr sz="2000">
              <a:latin typeface="Century Schoolbook"/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80000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000" spc="-5" dirty="0">
                <a:latin typeface="Century Schoolbook"/>
                <a:cs typeface="Century Schoolbook"/>
              </a:rPr>
              <a:t>Transfert de </a:t>
            </a:r>
            <a:r>
              <a:rPr sz="2000" dirty="0">
                <a:latin typeface="Century Schoolbook"/>
                <a:cs typeface="Century Schoolbook"/>
              </a:rPr>
              <a:t>C3 + C4 = </a:t>
            </a:r>
            <a:r>
              <a:rPr sz="2000" spc="-5" dirty="0">
                <a:latin typeface="Century Schoolbook"/>
                <a:cs typeface="Century Schoolbook"/>
              </a:rPr>
              <a:t>200</a:t>
            </a:r>
            <a:r>
              <a:rPr sz="2000" spc="-90" dirty="0">
                <a:latin typeface="Century Schoolbook"/>
                <a:cs typeface="Century Schoolbook"/>
              </a:rPr>
              <a:t> </a:t>
            </a:r>
            <a:r>
              <a:rPr sz="2000" dirty="0">
                <a:latin typeface="Century Schoolbook"/>
                <a:cs typeface="Century Schoolbook"/>
              </a:rPr>
              <a:t>n-uplets</a:t>
            </a:r>
            <a:endParaRPr sz="2000">
              <a:latin typeface="Century Schoolbook"/>
              <a:cs typeface="Century Schoolboo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05600" y="3898391"/>
            <a:ext cx="204470" cy="711835"/>
          </a:xfrm>
          <a:custGeom>
            <a:avLst/>
            <a:gdLst/>
            <a:ahLst/>
            <a:cxnLst/>
            <a:rect l="l" t="t" r="r" b="b"/>
            <a:pathLst>
              <a:path w="204470" h="711835">
                <a:moveTo>
                  <a:pt x="0" y="0"/>
                </a:moveTo>
                <a:lnTo>
                  <a:pt x="39743" y="4681"/>
                </a:lnTo>
                <a:lnTo>
                  <a:pt x="72199" y="17446"/>
                </a:lnTo>
                <a:lnTo>
                  <a:pt x="94083" y="36379"/>
                </a:lnTo>
                <a:lnTo>
                  <a:pt x="102107" y="59562"/>
                </a:lnTo>
                <a:lnTo>
                  <a:pt x="102107" y="296290"/>
                </a:lnTo>
                <a:lnTo>
                  <a:pt x="110132" y="319474"/>
                </a:lnTo>
                <a:lnTo>
                  <a:pt x="132016" y="338407"/>
                </a:lnTo>
                <a:lnTo>
                  <a:pt x="164472" y="351172"/>
                </a:lnTo>
                <a:lnTo>
                  <a:pt x="204215" y="355853"/>
                </a:lnTo>
                <a:lnTo>
                  <a:pt x="164472" y="360535"/>
                </a:lnTo>
                <a:lnTo>
                  <a:pt x="132016" y="373300"/>
                </a:lnTo>
                <a:lnTo>
                  <a:pt x="110132" y="392233"/>
                </a:lnTo>
                <a:lnTo>
                  <a:pt x="102107" y="415416"/>
                </a:lnTo>
                <a:lnTo>
                  <a:pt x="102107" y="652144"/>
                </a:lnTo>
                <a:lnTo>
                  <a:pt x="94083" y="675328"/>
                </a:lnTo>
                <a:lnTo>
                  <a:pt x="72199" y="694261"/>
                </a:lnTo>
                <a:lnTo>
                  <a:pt x="39743" y="707026"/>
                </a:lnTo>
                <a:lnTo>
                  <a:pt x="0" y="711707"/>
                </a:lnTo>
              </a:path>
            </a:pathLst>
          </a:custGeom>
          <a:ln w="914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22391" y="5334000"/>
            <a:ext cx="204470" cy="711835"/>
          </a:xfrm>
          <a:custGeom>
            <a:avLst/>
            <a:gdLst/>
            <a:ahLst/>
            <a:cxnLst/>
            <a:rect l="l" t="t" r="r" b="b"/>
            <a:pathLst>
              <a:path w="204470" h="711835">
                <a:moveTo>
                  <a:pt x="0" y="0"/>
                </a:moveTo>
                <a:lnTo>
                  <a:pt x="39743" y="4681"/>
                </a:lnTo>
                <a:lnTo>
                  <a:pt x="72199" y="17446"/>
                </a:lnTo>
                <a:lnTo>
                  <a:pt x="94083" y="36379"/>
                </a:lnTo>
                <a:lnTo>
                  <a:pt x="102108" y="59562"/>
                </a:lnTo>
                <a:lnTo>
                  <a:pt x="102108" y="296291"/>
                </a:lnTo>
                <a:lnTo>
                  <a:pt x="110132" y="319474"/>
                </a:lnTo>
                <a:lnTo>
                  <a:pt x="132016" y="338407"/>
                </a:lnTo>
                <a:lnTo>
                  <a:pt x="164472" y="351172"/>
                </a:lnTo>
                <a:lnTo>
                  <a:pt x="204216" y="355853"/>
                </a:lnTo>
                <a:lnTo>
                  <a:pt x="164472" y="360535"/>
                </a:lnTo>
                <a:lnTo>
                  <a:pt x="132016" y="373300"/>
                </a:lnTo>
                <a:lnTo>
                  <a:pt x="110132" y="392233"/>
                </a:lnTo>
                <a:lnTo>
                  <a:pt x="102108" y="415416"/>
                </a:lnTo>
                <a:lnTo>
                  <a:pt x="102108" y="652144"/>
                </a:lnTo>
                <a:lnTo>
                  <a:pt x="94083" y="675328"/>
                </a:lnTo>
                <a:lnTo>
                  <a:pt x="72199" y="694261"/>
                </a:lnTo>
                <a:lnTo>
                  <a:pt x="39743" y="707026"/>
                </a:lnTo>
                <a:lnTo>
                  <a:pt x="0" y="711708"/>
                </a:lnTo>
              </a:path>
            </a:pathLst>
          </a:custGeom>
          <a:ln w="914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912356" y="4052061"/>
            <a:ext cx="17780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24 000</a:t>
            </a:r>
            <a:r>
              <a:rPr sz="2000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n-uplets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81802" y="5500217"/>
            <a:ext cx="14262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400</a:t>
            </a:r>
            <a:r>
              <a:rPr sz="20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n-uplets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22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7288" y="326560"/>
            <a:ext cx="6795770" cy="953769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800" spc="-10" dirty="0"/>
              <a:t>E</a:t>
            </a:r>
            <a:r>
              <a:rPr sz="2250" spc="-10" dirty="0"/>
              <a:t>STIMATION DE </a:t>
            </a:r>
            <a:r>
              <a:rPr sz="2250" spc="-5" dirty="0"/>
              <a:t>LA TAILLE </a:t>
            </a:r>
            <a:r>
              <a:rPr sz="2250" spc="-10" dirty="0"/>
              <a:t>DES</a:t>
            </a:r>
            <a:r>
              <a:rPr sz="2250" spc="105" dirty="0"/>
              <a:t> </a:t>
            </a:r>
            <a:r>
              <a:rPr sz="2250" spc="-10" dirty="0"/>
              <a:t>RÉSULTATS</a:t>
            </a:r>
            <a:endParaRPr sz="2250"/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250" spc="-10" dirty="0"/>
              <a:t>INTERMÉDIAIRES</a:t>
            </a:r>
            <a:endParaRPr sz="2250"/>
          </a:p>
        </p:txBody>
      </p:sp>
      <p:sp>
        <p:nvSpPr>
          <p:cNvPr id="4" name="object 4"/>
          <p:cNvSpPr txBox="1"/>
          <p:nvPr/>
        </p:nvSpPr>
        <p:spPr>
          <a:xfrm>
            <a:off x="485140" y="2286000"/>
            <a:ext cx="6235065" cy="21576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9885" indent="-287020">
              <a:lnSpc>
                <a:spcPts val="215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349885" algn="l"/>
                <a:tab pos="350520" algn="l"/>
              </a:tabLst>
            </a:pPr>
            <a:r>
              <a:rPr sz="2000" dirty="0">
                <a:solidFill>
                  <a:srgbClr val="D2601C"/>
                </a:solidFill>
                <a:latin typeface="Century Schoolbook"/>
                <a:cs typeface="Century Schoolbook"/>
              </a:rPr>
              <a:t>Sélection</a:t>
            </a:r>
            <a:endParaRPr sz="2000" dirty="0">
              <a:latin typeface="Century Schoolbook"/>
              <a:cs typeface="Century Schoolbook"/>
            </a:endParaRPr>
          </a:p>
          <a:p>
            <a:pPr marL="485775">
              <a:lnSpc>
                <a:spcPts val="1789"/>
              </a:lnSpc>
            </a:pPr>
            <a:r>
              <a:rPr sz="1700" i="1" dirty="0">
                <a:latin typeface="Century Schoolbook"/>
                <a:cs typeface="Century Schoolbook"/>
              </a:rPr>
              <a:t>card</a:t>
            </a:r>
            <a:r>
              <a:rPr sz="1700" dirty="0">
                <a:latin typeface="Century Schoolbook"/>
                <a:cs typeface="Century Schoolbook"/>
              </a:rPr>
              <a:t>(</a:t>
            </a:r>
            <a:r>
              <a:rPr sz="1700" dirty="0">
                <a:latin typeface="Symbol"/>
                <a:cs typeface="Symbol"/>
              </a:rPr>
              <a:t></a:t>
            </a:r>
            <a:r>
              <a:rPr sz="1650" i="1" baseline="-20202" dirty="0">
                <a:latin typeface="Century Schoolbook"/>
                <a:cs typeface="Century Schoolbook"/>
              </a:rPr>
              <a:t>F </a:t>
            </a:r>
            <a:r>
              <a:rPr sz="1700" spc="-5" dirty="0">
                <a:latin typeface="Century Schoolbook"/>
                <a:cs typeface="Century Schoolbook"/>
              </a:rPr>
              <a:t>(</a:t>
            </a:r>
            <a:r>
              <a:rPr sz="1700" i="1" spc="-5" dirty="0">
                <a:latin typeface="Century Schoolbook"/>
                <a:cs typeface="Century Schoolbook"/>
              </a:rPr>
              <a:t>R</a:t>
            </a:r>
            <a:r>
              <a:rPr sz="1700" spc="-5" dirty="0">
                <a:latin typeface="Century Schoolbook"/>
                <a:cs typeface="Century Schoolbook"/>
              </a:rPr>
              <a:t>)) </a:t>
            </a:r>
            <a:r>
              <a:rPr sz="1700" dirty="0">
                <a:latin typeface="Century Schoolbook"/>
                <a:cs typeface="Century Schoolbook"/>
              </a:rPr>
              <a:t>= </a:t>
            </a:r>
            <a:r>
              <a:rPr sz="1700" i="1" spc="5" dirty="0">
                <a:latin typeface="Century Schoolbook"/>
                <a:cs typeface="Century Schoolbook"/>
              </a:rPr>
              <a:t>SF</a:t>
            </a:r>
            <a:r>
              <a:rPr sz="1650" spc="7" baseline="-20202" dirty="0">
                <a:latin typeface="Symbol"/>
                <a:cs typeface="Symbol"/>
              </a:rPr>
              <a:t></a:t>
            </a:r>
            <a:r>
              <a:rPr sz="1650" spc="7" baseline="-2020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Century Schoolbook"/>
                <a:cs typeface="Century Schoolbook"/>
              </a:rPr>
              <a:t>(</a:t>
            </a:r>
            <a:r>
              <a:rPr sz="1700" i="1" dirty="0">
                <a:latin typeface="Century Schoolbook"/>
                <a:cs typeface="Century Schoolbook"/>
              </a:rPr>
              <a:t>F</a:t>
            </a:r>
            <a:r>
              <a:rPr sz="1700" dirty="0">
                <a:latin typeface="Century Schoolbook"/>
                <a:cs typeface="Century Schoolbook"/>
              </a:rPr>
              <a:t>) </a:t>
            </a:r>
            <a:r>
              <a:rPr sz="1700" dirty="0">
                <a:latin typeface="Symbol"/>
                <a:cs typeface="Symbol"/>
              </a:rPr>
              <a:t></a:t>
            </a:r>
            <a:r>
              <a:rPr sz="1700" spc="14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Century Schoolbook"/>
                <a:cs typeface="Century Schoolbook"/>
              </a:rPr>
              <a:t>card</a:t>
            </a:r>
            <a:r>
              <a:rPr sz="1700" dirty="0">
                <a:latin typeface="Century Schoolbook"/>
                <a:cs typeface="Century Schoolbook"/>
              </a:rPr>
              <a:t>(</a:t>
            </a:r>
            <a:r>
              <a:rPr sz="1700" i="1" dirty="0">
                <a:latin typeface="Century Schoolbook"/>
                <a:cs typeface="Century Schoolbook"/>
              </a:rPr>
              <a:t>R</a:t>
            </a:r>
            <a:r>
              <a:rPr sz="1700" dirty="0">
                <a:latin typeface="Century Schoolbook"/>
                <a:cs typeface="Century Schoolbook"/>
              </a:rPr>
              <a:t>)</a:t>
            </a:r>
          </a:p>
          <a:p>
            <a:pPr marL="349885" indent="-287020">
              <a:lnSpc>
                <a:spcPct val="100000"/>
              </a:lnSpc>
              <a:spcBef>
                <a:spcPts val="188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349885" algn="l"/>
                <a:tab pos="350520" algn="l"/>
              </a:tabLst>
            </a:pPr>
            <a:r>
              <a:rPr sz="2000" dirty="0">
                <a:solidFill>
                  <a:srgbClr val="D2601C"/>
                </a:solidFill>
                <a:latin typeface="Century Schoolbook"/>
                <a:cs typeface="Century Schoolbook"/>
              </a:rPr>
              <a:t>Projection</a:t>
            </a:r>
            <a:endParaRPr sz="2000" dirty="0">
              <a:latin typeface="Century Schoolbook"/>
              <a:cs typeface="Century Schoolbook"/>
            </a:endParaRPr>
          </a:p>
          <a:p>
            <a:pPr marR="1383030" algn="r">
              <a:lnSpc>
                <a:spcPct val="100000"/>
              </a:lnSpc>
              <a:spcBef>
                <a:spcPts val="360"/>
              </a:spcBef>
            </a:pPr>
            <a:r>
              <a:rPr sz="1700" i="1" dirty="0">
                <a:latin typeface="Century Schoolbook"/>
                <a:cs typeface="Century Schoolbook"/>
              </a:rPr>
              <a:t>Si A est la </a:t>
            </a:r>
            <a:r>
              <a:rPr sz="1700" i="1" spc="-5" dirty="0">
                <a:latin typeface="Century Schoolbook"/>
                <a:cs typeface="Century Schoolbook"/>
              </a:rPr>
              <a:t>clé, </a:t>
            </a:r>
            <a:r>
              <a:rPr sz="1700" i="1" dirty="0">
                <a:latin typeface="Century Schoolbook"/>
                <a:cs typeface="Century Schoolbook"/>
              </a:rPr>
              <a:t>alors card</a:t>
            </a:r>
            <a:r>
              <a:rPr sz="1700" dirty="0">
                <a:latin typeface="Century Schoolbook"/>
                <a:cs typeface="Century Schoolbook"/>
              </a:rPr>
              <a:t>(</a:t>
            </a:r>
            <a:r>
              <a:rPr sz="2000" dirty="0">
                <a:latin typeface="Symbol"/>
                <a:cs typeface="Symbol"/>
              </a:rPr>
              <a:t></a:t>
            </a:r>
            <a:r>
              <a:rPr sz="1650" i="1" baseline="-20202" dirty="0">
                <a:latin typeface="Century Schoolbook"/>
                <a:cs typeface="Century Schoolbook"/>
              </a:rPr>
              <a:t>A</a:t>
            </a:r>
            <a:r>
              <a:rPr sz="1700" dirty="0">
                <a:latin typeface="Century Schoolbook"/>
                <a:cs typeface="Century Schoolbook"/>
              </a:rPr>
              <a:t>(</a:t>
            </a:r>
            <a:r>
              <a:rPr sz="1700" i="1" dirty="0">
                <a:latin typeface="Century Schoolbook"/>
                <a:cs typeface="Century Schoolbook"/>
              </a:rPr>
              <a:t>R</a:t>
            </a:r>
            <a:r>
              <a:rPr sz="1700" dirty="0">
                <a:latin typeface="Century Schoolbook"/>
                <a:cs typeface="Century Schoolbook"/>
              </a:rPr>
              <a:t>)) =</a:t>
            </a:r>
            <a:r>
              <a:rPr sz="1700" spc="355" dirty="0">
                <a:latin typeface="Century Schoolbook"/>
                <a:cs typeface="Century Schoolbook"/>
              </a:rPr>
              <a:t> </a:t>
            </a:r>
            <a:r>
              <a:rPr sz="1700" i="1" dirty="0">
                <a:latin typeface="Century Schoolbook"/>
                <a:cs typeface="Century Schoolbook"/>
              </a:rPr>
              <a:t>card</a:t>
            </a:r>
            <a:r>
              <a:rPr sz="1700" dirty="0">
                <a:latin typeface="Century Schoolbook"/>
                <a:cs typeface="Century Schoolbook"/>
              </a:rPr>
              <a:t>(</a:t>
            </a:r>
            <a:r>
              <a:rPr sz="1700" i="1" dirty="0">
                <a:latin typeface="Century Schoolbook"/>
                <a:cs typeface="Century Schoolbook"/>
              </a:rPr>
              <a:t>R</a:t>
            </a:r>
            <a:r>
              <a:rPr sz="1700" dirty="0">
                <a:latin typeface="Century Schoolbook"/>
                <a:cs typeface="Century Schoolbook"/>
              </a:rPr>
              <a:t>)</a:t>
            </a:r>
          </a:p>
          <a:p>
            <a:pPr marR="1311275" algn="r">
              <a:lnSpc>
                <a:spcPct val="100000"/>
              </a:lnSpc>
              <a:spcBef>
                <a:spcPts val="365"/>
              </a:spcBef>
            </a:pPr>
            <a:r>
              <a:rPr sz="1700" i="1" dirty="0">
                <a:latin typeface="Century Schoolbook"/>
                <a:cs typeface="Century Schoolbook"/>
              </a:rPr>
              <a:t>sinon card</a:t>
            </a:r>
            <a:r>
              <a:rPr sz="1700" dirty="0">
                <a:latin typeface="Century Schoolbook"/>
                <a:cs typeface="Century Schoolbook"/>
              </a:rPr>
              <a:t>(</a:t>
            </a:r>
            <a:r>
              <a:rPr sz="2000" dirty="0">
                <a:latin typeface="Symbol"/>
                <a:cs typeface="Symbol"/>
              </a:rPr>
              <a:t></a:t>
            </a:r>
            <a:r>
              <a:rPr sz="1650" i="1" baseline="-20202" dirty="0">
                <a:latin typeface="Century Schoolbook"/>
                <a:cs typeface="Century Schoolbook"/>
              </a:rPr>
              <a:t>A</a:t>
            </a:r>
            <a:r>
              <a:rPr sz="1700" dirty="0">
                <a:latin typeface="Century Schoolbook"/>
                <a:cs typeface="Century Schoolbook"/>
              </a:rPr>
              <a:t>(</a:t>
            </a:r>
            <a:r>
              <a:rPr sz="1700" i="1" dirty="0">
                <a:latin typeface="Century Schoolbook"/>
                <a:cs typeface="Century Schoolbook"/>
              </a:rPr>
              <a:t>R</a:t>
            </a:r>
            <a:r>
              <a:rPr sz="1700" dirty="0">
                <a:latin typeface="Century Schoolbook"/>
                <a:cs typeface="Century Schoolbook"/>
              </a:rPr>
              <a:t>)) </a:t>
            </a:r>
            <a:r>
              <a:rPr sz="1700" dirty="0">
                <a:latin typeface="Symbol"/>
                <a:cs typeface="Symbol"/>
              </a:rPr>
              <a:t></a:t>
            </a:r>
            <a:r>
              <a:rPr sz="1700" spc="41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Century Schoolbook"/>
                <a:cs typeface="Century Schoolbook"/>
              </a:rPr>
              <a:t>card</a:t>
            </a:r>
            <a:r>
              <a:rPr sz="1700" dirty="0">
                <a:latin typeface="Century Schoolbook"/>
                <a:cs typeface="Century Schoolbook"/>
              </a:rPr>
              <a:t>(</a:t>
            </a:r>
            <a:r>
              <a:rPr sz="1700" i="1" dirty="0">
                <a:latin typeface="Century Schoolbook"/>
                <a:cs typeface="Century Schoolbook"/>
              </a:rPr>
              <a:t>R</a:t>
            </a:r>
            <a:r>
              <a:rPr sz="1700" dirty="0">
                <a:latin typeface="Century Schoolbook"/>
                <a:cs typeface="Century Schoolbook"/>
              </a:rPr>
              <a:t>)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7288" y="326560"/>
            <a:ext cx="6795770" cy="953769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800" spc="-10" dirty="0"/>
              <a:t>E</a:t>
            </a:r>
            <a:r>
              <a:rPr sz="2250" spc="-10" dirty="0"/>
              <a:t>STIMATION DE </a:t>
            </a:r>
            <a:r>
              <a:rPr sz="2250" spc="-5" dirty="0"/>
              <a:t>LA TAILLE </a:t>
            </a:r>
            <a:r>
              <a:rPr sz="2250" spc="-10" dirty="0"/>
              <a:t>DES</a:t>
            </a:r>
            <a:r>
              <a:rPr sz="2250" spc="105" dirty="0"/>
              <a:t> </a:t>
            </a:r>
            <a:r>
              <a:rPr sz="2250" spc="-10" dirty="0"/>
              <a:t>RÉSULTATS</a:t>
            </a:r>
            <a:endParaRPr sz="2250"/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250" spc="-10" dirty="0"/>
              <a:t>INTERMÉDIAIRES</a:t>
            </a:r>
            <a:endParaRPr sz="2250"/>
          </a:p>
        </p:txBody>
      </p:sp>
      <p:sp>
        <p:nvSpPr>
          <p:cNvPr id="4" name="object 4"/>
          <p:cNvSpPr txBox="1"/>
          <p:nvPr/>
        </p:nvSpPr>
        <p:spPr>
          <a:xfrm>
            <a:off x="535940" y="1765172"/>
            <a:ext cx="6699250" cy="1381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ts val="2815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99720" algn="l"/>
              </a:tabLst>
            </a:pPr>
            <a:r>
              <a:rPr sz="2400" spc="-5" dirty="0">
                <a:solidFill>
                  <a:srgbClr val="D2601C"/>
                </a:solidFill>
                <a:latin typeface="Century Schoolbook"/>
                <a:cs typeface="Century Schoolbook"/>
              </a:rPr>
              <a:t>Jointure</a:t>
            </a:r>
            <a:endParaRPr sz="2400" dirty="0">
              <a:latin typeface="Century Schoolbook"/>
              <a:cs typeface="Century Schoolbook"/>
            </a:endParaRPr>
          </a:p>
          <a:p>
            <a:pPr marL="927100">
              <a:lnSpc>
                <a:spcPts val="2335"/>
              </a:lnSpc>
              <a:tabLst>
                <a:tab pos="2146935" algn="l"/>
                <a:tab pos="2750185" algn="l"/>
              </a:tabLst>
            </a:pPr>
            <a:r>
              <a:rPr sz="2000" i="1" dirty="0">
                <a:latin typeface="Century Schoolbook"/>
                <a:cs typeface="Century Schoolbook"/>
              </a:rPr>
              <a:t>card</a:t>
            </a:r>
            <a:r>
              <a:rPr sz="2000" dirty="0">
                <a:latin typeface="Century Schoolbook"/>
                <a:cs typeface="Century Schoolbook"/>
              </a:rPr>
              <a:t>(</a:t>
            </a:r>
            <a:r>
              <a:rPr sz="2000" i="1" dirty="0">
                <a:latin typeface="Century Schoolbook"/>
                <a:cs typeface="Century Schoolbook"/>
              </a:rPr>
              <a:t>R	</a:t>
            </a:r>
            <a:r>
              <a:rPr sz="2000" i="1" spc="-5" dirty="0">
                <a:latin typeface="Century Schoolbook"/>
                <a:cs typeface="Century Schoolbook"/>
              </a:rPr>
              <a:t>S</a:t>
            </a:r>
            <a:r>
              <a:rPr sz="2000" spc="-5" dirty="0">
                <a:latin typeface="Century Schoolbook"/>
                <a:cs typeface="Century Schoolbook"/>
              </a:rPr>
              <a:t>)</a:t>
            </a:r>
            <a:r>
              <a:rPr sz="2000" spc="-15" dirty="0">
                <a:latin typeface="Century Schoolbook"/>
                <a:cs typeface="Century Schoolbook"/>
              </a:rPr>
              <a:t> </a:t>
            </a:r>
            <a:r>
              <a:rPr sz="2000" dirty="0">
                <a:latin typeface="Symbol"/>
                <a:cs typeface="Symbol"/>
              </a:rPr>
              <a:t>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i="1" dirty="0">
                <a:latin typeface="Century Schoolbook"/>
                <a:cs typeface="Century Schoolbook"/>
              </a:rPr>
              <a:t>card</a:t>
            </a:r>
            <a:r>
              <a:rPr sz="2000" dirty="0">
                <a:latin typeface="Century Schoolbook"/>
                <a:cs typeface="Century Schoolbook"/>
              </a:rPr>
              <a:t>(</a:t>
            </a:r>
            <a:r>
              <a:rPr sz="2000" i="1" dirty="0">
                <a:latin typeface="Century Schoolbook"/>
                <a:cs typeface="Century Schoolbook"/>
              </a:rPr>
              <a:t>R</a:t>
            </a:r>
            <a:r>
              <a:rPr sz="2000" dirty="0">
                <a:latin typeface="Century Schoolbook"/>
                <a:cs typeface="Century Schoolbook"/>
              </a:rPr>
              <a:t>) </a:t>
            </a:r>
            <a:r>
              <a:rPr sz="2000" dirty="0">
                <a:latin typeface="Cambria Math"/>
                <a:cs typeface="Cambria Math"/>
              </a:rPr>
              <a:t>×</a:t>
            </a:r>
            <a:r>
              <a:rPr sz="2000" spc="15" dirty="0">
                <a:latin typeface="Cambria Math"/>
                <a:cs typeface="Cambria Math"/>
              </a:rPr>
              <a:t> </a:t>
            </a:r>
            <a:r>
              <a:rPr sz="2000" i="1" dirty="0">
                <a:latin typeface="Century Schoolbook"/>
                <a:cs typeface="Century Schoolbook"/>
              </a:rPr>
              <a:t>card</a:t>
            </a:r>
            <a:r>
              <a:rPr sz="2000" dirty="0">
                <a:latin typeface="Century Schoolbook"/>
                <a:cs typeface="Century Schoolbook"/>
              </a:rPr>
              <a:t>(</a:t>
            </a:r>
            <a:r>
              <a:rPr sz="2000" i="1" dirty="0">
                <a:latin typeface="Century Schoolbook"/>
                <a:cs typeface="Century Schoolbook"/>
              </a:rPr>
              <a:t>S</a:t>
            </a:r>
            <a:r>
              <a:rPr sz="2000" dirty="0">
                <a:latin typeface="Century Schoolbook"/>
                <a:cs typeface="Century Schoolbook"/>
              </a:rPr>
              <a:t>)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00" dirty="0">
              <a:latin typeface="Times New Roman"/>
              <a:cs typeface="Times New Roman"/>
            </a:endParaRPr>
          </a:p>
          <a:p>
            <a:pPr marL="652780" lvl="1" indent="-344170">
              <a:lnSpc>
                <a:spcPct val="100000"/>
              </a:lnSpc>
              <a:buClr>
                <a:srgbClr val="FD8537"/>
              </a:buClr>
              <a:buSzPct val="80555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1800" dirty="0">
                <a:latin typeface="Century Schoolbook"/>
                <a:cs typeface="Century Schoolbook"/>
              </a:rPr>
              <a:t>cas </a:t>
            </a:r>
            <a:r>
              <a:rPr sz="1800" spc="-5" dirty="0">
                <a:latin typeface="Century Schoolbook"/>
                <a:cs typeface="Century Schoolbook"/>
              </a:rPr>
              <a:t>particulier: </a:t>
            </a:r>
            <a:r>
              <a:rPr sz="1800" i="1" dirty="0">
                <a:latin typeface="Century Schoolbook"/>
                <a:cs typeface="Century Schoolbook"/>
              </a:rPr>
              <a:t>A </a:t>
            </a:r>
            <a:r>
              <a:rPr sz="1800" spc="-5" dirty="0">
                <a:latin typeface="Century Schoolbook"/>
                <a:cs typeface="Century Schoolbook"/>
              </a:rPr>
              <a:t>est </a:t>
            </a:r>
            <a:r>
              <a:rPr sz="1800" dirty="0">
                <a:latin typeface="Century Schoolbook"/>
                <a:cs typeface="Century Schoolbook"/>
              </a:rPr>
              <a:t>clé </a:t>
            </a:r>
            <a:r>
              <a:rPr sz="1800" spc="-5" dirty="0">
                <a:latin typeface="Century Schoolbook"/>
                <a:cs typeface="Century Schoolbook"/>
              </a:rPr>
              <a:t>de </a:t>
            </a:r>
            <a:r>
              <a:rPr sz="1800" i="1" dirty="0">
                <a:latin typeface="Century Schoolbook"/>
                <a:cs typeface="Century Schoolbook"/>
              </a:rPr>
              <a:t>R </a:t>
            </a:r>
            <a:r>
              <a:rPr sz="1800" dirty="0">
                <a:latin typeface="Century Schoolbook"/>
                <a:cs typeface="Century Schoolbook"/>
              </a:rPr>
              <a:t>et </a:t>
            </a:r>
            <a:r>
              <a:rPr sz="1800" i="1" dirty="0">
                <a:latin typeface="Century Schoolbook"/>
                <a:cs typeface="Century Schoolbook"/>
              </a:rPr>
              <a:t>B </a:t>
            </a:r>
            <a:r>
              <a:rPr sz="1800" spc="-5" dirty="0">
                <a:latin typeface="Century Schoolbook"/>
                <a:cs typeface="Century Schoolbook"/>
              </a:rPr>
              <a:t>est </a:t>
            </a:r>
            <a:r>
              <a:rPr sz="1800" dirty="0">
                <a:latin typeface="Century Schoolbook"/>
                <a:cs typeface="Century Schoolbook"/>
              </a:rPr>
              <a:t>clé étrangère </a:t>
            </a:r>
            <a:r>
              <a:rPr sz="1800" spc="-5" dirty="0">
                <a:latin typeface="Century Schoolbook"/>
                <a:cs typeface="Century Schoolbook"/>
              </a:rPr>
              <a:t>de </a:t>
            </a:r>
            <a:r>
              <a:rPr sz="1800" i="1" dirty="0">
                <a:latin typeface="Century Schoolbook"/>
                <a:cs typeface="Century Schoolbook"/>
              </a:rPr>
              <a:t>S</a:t>
            </a:r>
            <a:r>
              <a:rPr sz="1800" i="1" spc="-65" dirty="0">
                <a:latin typeface="Century Schoolbook"/>
                <a:cs typeface="Century Schoolbook"/>
              </a:rPr>
              <a:t> </a:t>
            </a:r>
            <a:r>
              <a:rPr sz="1800" i="1" dirty="0">
                <a:latin typeface="Century Schoolbook"/>
                <a:cs typeface="Century Schoolbook"/>
              </a:rPr>
              <a:t>:</a:t>
            </a:r>
            <a:endParaRPr sz="1800" dirty="0">
              <a:latin typeface="Century Schoolbook"/>
              <a:cs typeface="Century Schoolboo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2766" y="3237738"/>
            <a:ext cx="1724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spc="-7" baseline="-20833" dirty="0">
                <a:latin typeface="Century Schoolbook"/>
                <a:cs typeface="Century Schoolbook"/>
              </a:rPr>
              <a:t>A=B </a:t>
            </a:r>
            <a:r>
              <a:rPr sz="1800" i="1" spc="-5" dirty="0">
                <a:latin typeface="Century Schoolbook"/>
                <a:cs typeface="Century Schoolbook"/>
              </a:rPr>
              <a:t>S</a:t>
            </a:r>
            <a:r>
              <a:rPr sz="1800" spc="-5" dirty="0">
                <a:latin typeface="Century Schoolbook"/>
                <a:cs typeface="Century Schoolbook"/>
              </a:rPr>
              <a:t>) </a:t>
            </a:r>
            <a:r>
              <a:rPr sz="1800" dirty="0">
                <a:latin typeface="Century Schoolbook"/>
                <a:cs typeface="Century Schoolbook"/>
              </a:rPr>
              <a:t>=</a:t>
            </a:r>
            <a:r>
              <a:rPr sz="1800" spc="-225" dirty="0">
                <a:latin typeface="Century Schoolbook"/>
                <a:cs typeface="Century Schoolbook"/>
              </a:rPr>
              <a:t> </a:t>
            </a:r>
            <a:r>
              <a:rPr sz="1800" i="1" dirty="0">
                <a:latin typeface="Century Schoolbook"/>
                <a:cs typeface="Century Schoolbook"/>
              </a:rPr>
              <a:t>card</a:t>
            </a:r>
            <a:r>
              <a:rPr sz="1800" dirty="0">
                <a:latin typeface="Century Schoolbook"/>
                <a:cs typeface="Century Schoolbook"/>
              </a:rPr>
              <a:t>(</a:t>
            </a:r>
            <a:r>
              <a:rPr sz="1800" i="1" dirty="0">
                <a:latin typeface="Century Schoolbook"/>
                <a:cs typeface="Century Schoolbook"/>
              </a:rPr>
              <a:t>S</a:t>
            </a:r>
            <a:r>
              <a:rPr sz="1800" dirty="0">
                <a:latin typeface="Century Schoolbook"/>
                <a:cs typeface="Century Schoolbook"/>
              </a:rPr>
              <a:t>)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119" y="3077718"/>
            <a:ext cx="2332990" cy="127762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544320">
              <a:lnSpc>
                <a:spcPct val="100000"/>
              </a:lnSpc>
              <a:spcBef>
                <a:spcPts val="1360"/>
              </a:spcBef>
            </a:pPr>
            <a:r>
              <a:rPr sz="1800" i="1" dirty="0">
                <a:latin typeface="Century Schoolbook"/>
                <a:cs typeface="Century Schoolbook"/>
              </a:rPr>
              <a:t>card</a:t>
            </a:r>
            <a:r>
              <a:rPr sz="1800" dirty="0">
                <a:latin typeface="Century Schoolbook"/>
                <a:cs typeface="Century Schoolbook"/>
              </a:rPr>
              <a:t>(</a:t>
            </a:r>
            <a:r>
              <a:rPr sz="1800" i="1" dirty="0">
                <a:latin typeface="Century Schoolbook"/>
                <a:cs typeface="Century Schoolbook"/>
              </a:rPr>
              <a:t>R</a:t>
            </a:r>
            <a:endParaRPr sz="1800" dirty="0">
              <a:latin typeface="Century Schoolbook"/>
              <a:cs typeface="Century Schoolbook"/>
            </a:endParaRPr>
          </a:p>
          <a:p>
            <a:pPr marL="355600" indent="-343535">
              <a:lnSpc>
                <a:spcPct val="100000"/>
              </a:lnSpc>
              <a:spcBef>
                <a:spcPts val="1260"/>
              </a:spcBef>
              <a:buClr>
                <a:srgbClr val="FD8537"/>
              </a:buClr>
              <a:buSzPct val="80555"/>
              <a:buFont typeface="Wingdings 2"/>
              <a:buChar char=""/>
              <a:tabLst>
                <a:tab pos="355600" algn="l"/>
                <a:tab pos="356235" algn="l"/>
              </a:tabLst>
            </a:pPr>
            <a:r>
              <a:rPr sz="1800" spc="-5" dirty="0">
                <a:latin typeface="Century Schoolbook"/>
                <a:cs typeface="Century Schoolbook"/>
              </a:rPr>
              <a:t>plus</a:t>
            </a:r>
            <a:r>
              <a:rPr sz="1800" spc="-45" dirty="0">
                <a:latin typeface="Century Schoolbook"/>
                <a:cs typeface="Century Schoolbook"/>
              </a:rPr>
              <a:t> </a:t>
            </a:r>
            <a:r>
              <a:rPr sz="1800" spc="-5" dirty="0">
                <a:latin typeface="Century Schoolbook"/>
                <a:cs typeface="Century Schoolbook"/>
              </a:rPr>
              <a:t>généralement</a:t>
            </a:r>
            <a:endParaRPr sz="1800" dirty="0">
              <a:latin typeface="Century Schoolbook"/>
              <a:cs typeface="Century Schoolbook"/>
            </a:endParaRPr>
          </a:p>
          <a:p>
            <a:pPr marL="1544320">
              <a:lnSpc>
                <a:spcPct val="100000"/>
              </a:lnSpc>
              <a:spcBef>
                <a:spcPts val="1100"/>
              </a:spcBef>
            </a:pPr>
            <a:r>
              <a:rPr sz="1600" i="1" spc="-5" dirty="0">
                <a:latin typeface="Century Schoolbook"/>
                <a:cs typeface="Century Schoolbook"/>
              </a:rPr>
              <a:t>card</a:t>
            </a:r>
            <a:r>
              <a:rPr sz="1600" spc="-5" dirty="0">
                <a:latin typeface="Century Schoolbook"/>
                <a:cs typeface="Century Schoolbook"/>
              </a:rPr>
              <a:t>(</a:t>
            </a:r>
            <a:r>
              <a:rPr sz="1600" i="1" spc="-5" dirty="0">
                <a:latin typeface="Century Schoolbook"/>
                <a:cs typeface="Century Schoolbook"/>
              </a:rPr>
              <a:t>R</a:t>
            </a:r>
            <a:endParaRPr sz="1600" dirty="0">
              <a:latin typeface="Century Schoolbook"/>
              <a:cs typeface="Century Schoolboo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23971" y="4060697"/>
            <a:ext cx="2762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Century Schoolbook"/>
                <a:cs typeface="Century Schoolbook"/>
              </a:rPr>
              <a:t>S</a:t>
            </a:r>
            <a:r>
              <a:rPr sz="1600" spc="-5" dirty="0">
                <a:latin typeface="Century Schoolbook"/>
                <a:cs typeface="Century Schoolbook"/>
              </a:rPr>
              <a:t>) = </a:t>
            </a:r>
            <a:r>
              <a:rPr sz="1600" i="1" spc="-5" dirty="0">
                <a:latin typeface="Century Schoolbook"/>
                <a:cs typeface="Century Schoolbook"/>
              </a:rPr>
              <a:t>SF </a:t>
            </a:r>
            <a:r>
              <a:rPr sz="1800" dirty="0">
                <a:latin typeface="Cambria Math"/>
                <a:cs typeface="Cambria Math"/>
              </a:rPr>
              <a:t>× </a:t>
            </a:r>
            <a:r>
              <a:rPr sz="1600" i="1" spc="-5" dirty="0">
                <a:latin typeface="Century Schoolbook"/>
                <a:cs typeface="Century Schoolbook"/>
              </a:rPr>
              <a:t>card</a:t>
            </a:r>
            <a:r>
              <a:rPr sz="1600" spc="-5" dirty="0">
                <a:latin typeface="Century Schoolbook"/>
                <a:cs typeface="Century Schoolbook"/>
              </a:rPr>
              <a:t>(</a:t>
            </a:r>
            <a:r>
              <a:rPr sz="1600" i="1" spc="-5" dirty="0">
                <a:latin typeface="Century Schoolbook"/>
                <a:cs typeface="Century Schoolbook"/>
              </a:rPr>
              <a:t>R</a:t>
            </a:r>
            <a:r>
              <a:rPr sz="1600" spc="-5" dirty="0">
                <a:latin typeface="Century Schoolbook"/>
                <a:cs typeface="Century Schoolbook"/>
              </a:rPr>
              <a:t>) </a:t>
            </a:r>
            <a:r>
              <a:rPr sz="1800" dirty="0">
                <a:latin typeface="Cambria Math"/>
                <a:cs typeface="Cambria Math"/>
              </a:rPr>
              <a:t>×</a:t>
            </a:r>
            <a:r>
              <a:rPr sz="1800" spc="225" dirty="0">
                <a:latin typeface="Cambria Math"/>
                <a:cs typeface="Cambria Math"/>
              </a:rPr>
              <a:t> </a:t>
            </a:r>
            <a:r>
              <a:rPr sz="1600" i="1" spc="-5" dirty="0">
                <a:latin typeface="Century Schoolbook"/>
                <a:cs typeface="Century Schoolbook"/>
              </a:rPr>
              <a:t>card</a:t>
            </a:r>
            <a:r>
              <a:rPr sz="1600" spc="-5" dirty="0">
                <a:latin typeface="Century Schoolbook"/>
                <a:cs typeface="Century Schoolbook"/>
              </a:rPr>
              <a:t>(</a:t>
            </a:r>
            <a:r>
              <a:rPr sz="1600" i="1" spc="-5" dirty="0">
                <a:latin typeface="Century Schoolbook"/>
                <a:cs typeface="Century Schoolbook"/>
              </a:rPr>
              <a:t>S</a:t>
            </a:r>
            <a:r>
              <a:rPr sz="1600" spc="-5" dirty="0">
                <a:latin typeface="Century Schoolbook"/>
                <a:cs typeface="Century Schoolbook"/>
              </a:rPr>
              <a:t>)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55490" y="5202428"/>
            <a:ext cx="1025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ambria Math"/>
                <a:cs typeface="Cambria Math"/>
              </a:rPr>
              <a:t>×</a:t>
            </a:r>
            <a:r>
              <a:rPr sz="1600" spc="25" dirty="0">
                <a:latin typeface="Cambria Math"/>
                <a:cs typeface="Cambria Math"/>
              </a:rPr>
              <a:t> </a:t>
            </a:r>
            <a:r>
              <a:rPr sz="1800" i="1" dirty="0">
                <a:latin typeface="Century Schoolbook"/>
                <a:cs typeface="Century Schoolbook"/>
              </a:rPr>
              <a:t>card</a:t>
            </a:r>
            <a:r>
              <a:rPr sz="1800" dirty="0">
                <a:latin typeface="Century Schoolbook"/>
                <a:cs typeface="Century Schoolbook"/>
              </a:rPr>
              <a:t>(</a:t>
            </a:r>
            <a:r>
              <a:rPr sz="1800" i="1" dirty="0">
                <a:latin typeface="Century Schoolbook"/>
                <a:cs typeface="Century Schoolbook"/>
              </a:rPr>
              <a:t>R</a:t>
            </a:r>
            <a:r>
              <a:rPr sz="1800" dirty="0">
                <a:latin typeface="Century Schoolbook"/>
                <a:cs typeface="Century Schoolbook"/>
              </a:rPr>
              <a:t>)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25723" y="3279647"/>
            <a:ext cx="228600" cy="2087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64764" y="4122420"/>
            <a:ext cx="228599" cy="2103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37076" y="4288535"/>
            <a:ext cx="120396" cy="1112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33244" y="2199132"/>
            <a:ext cx="228600" cy="2103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80844" y="5276088"/>
            <a:ext cx="114300" cy="175260"/>
          </a:xfrm>
          <a:custGeom>
            <a:avLst/>
            <a:gdLst/>
            <a:ahLst/>
            <a:cxnLst/>
            <a:rect l="l" t="t" r="r" b="b"/>
            <a:pathLst>
              <a:path w="114300" h="175260">
                <a:moveTo>
                  <a:pt x="0" y="0"/>
                </a:moveTo>
                <a:lnTo>
                  <a:pt x="114300" y="87630"/>
                </a:lnTo>
                <a:lnTo>
                  <a:pt x="0" y="175259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95144" y="5276088"/>
            <a:ext cx="105410" cy="88265"/>
          </a:xfrm>
          <a:custGeom>
            <a:avLst/>
            <a:gdLst/>
            <a:ahLst/>
            <a:cxnLst/>
            <a:rect l="l" t="t" r="r" b="b"/>
            <a:pathLst>
              <a:path w="105410" h="88264">
                <a:moveTo>
                  <a:pt x="0" y="87756"/>
                </a:moveTo>
                <a:lnTo>
                  <a:pt x="10515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95144" y="5362955"/>
            <a:ext cx="105410" cy="88265"/>
          </a:xfrm>
          <a:custGeom>
            <a:avLst/>
            <a:gdLst/>
            <a:ahLst/>
            <a:cxnLst/>
            <a:rect l="l" t="t" r="r" b="b"/>
            <a:pathLst>
              <a:path w="105410" h="88264">
                <a:moveTo>
                  <a:pt x="0" y="0"/>
                </a:moveTo>
                <a:lnTo>
                  <a:pt x="105156" y="87757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97840" y="4850383"/>
            <a:ext cx="2924175" cy="652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7185" indent="-287020">
              <a:lnSpc>
                <a:spcPts val="2825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337820" algn="l"/>
              </a:tabLst>
            </a:pPr>
            <a:r>
              <a:rPr sz="2400" spc="-5" dirty="0">
                <a:solidFill>
                  <a:srgbClr val="D2601C"/>
                </a:solidFill>
                <a:latin typeface="Century Schoolbook"/>
                <a:cs typeface="Century Schoolbook"/>
              </a:rPr>
              <a:t>Semi-Jointure</a:t>
            </a:r>
            <a:endParaRPr sz="2400">
              <a:latin typeface="Century Schoolbook"/>
              <a:cs typeface="Century Schoolbook"/>
            </a:endParaRPr>
          </a:p>
          <a:p>
            <a:pPr marL="965200">
              <a:lnSpc>
                <a:spcPts val="2105"/>
              </a:lnSpc>
              <a:tabLst>
                <a:tab pos="1901825" algn="l"/>
                <a:tab pos="2614295" algn="l"/>
              </a:tabLst>
            </a:pPr>
            <a:r>
              <a:rPr sz="1800" i="1" dirty="0">
                <a:latin typeface="Century Schoolbook"/>
                <a:cs typeface="Century Schoolbook"/>
              </a:rPr>
              <a:t>card</a:t>
            </a:r>
            <a:r>
              <a:rPr sz="1600" dirty="0">
                <a:latin typeface="Century Schoolbook"/>
                <a:cs typeface="Century Schoolbook"/>
              </a:rPr>
              <a:t>(</a:t>
            </a:r>
            <a:r>
              <a:rPr sz="1600" i="1" dirty="0">
                <a:latin typeface="Century Schoolbook"/>
                <a:cs typeface="Century Schoolbook"/>
              </a:rPr>
              <a:t>R	</a:t>
            </a:r>
            <a:r>
              <a:rPr sz="1575" spc="7" baseline="-23809" dirty="0">
                <a:latin typeface="Century Schoolbook"/>
                <a:cs typeface="Century Schoolbook"/>
              </a:rPr>
              <a:t>A</a:t>
            </a:r>
            <a:r>
              <a:rPr sz="1600" i="1" spc="5" dirty="0">
                <a:latin typeface="Century Schoolbook"/>
                <a:cs typeface="Century Schoolbook"/>
              </a:rPr>
              <a:t>S</a:t>
            </a:r>
            <a:r>
              <a:rPr sz="1600" spc="5" dirty="0">
                <a:latin typeface="Century Schoolbook"/>
                <a:cs typeface="Century Schoolbook"/>
              </a:rPr>
              <a:t>) </a:t>
            </a:r>
            <a:r>
              <a:rPr sz="1600" spc="-5" dirty="0">
                <a:latin typeface="Century Schoolbook"/>
                <a:cs typeface="Century Schoolbook"/>
              </a:rPr>
              <a:t>=	</a:t>
            </a:r>
            <a:r>
              <a:rPr sz="1600" i="1" spc="-5" dirty="0">
                <a:latin typeface="Century Schoolbook"/>
                <a:cs typeface="Century Schoolbook"/>
              </a:rPr>
              <a:t>SF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45179" y="5373623"/>
            <a:ext cx="113030" cy="175260"/>
          </a:xfrm>
          <a:custGeom>
            <a:avLst/>
            <a:gdLst/>
            <a:ahLst/>
            <a:cxnLst/>
            <a:rect l="l" t="t" r="r" b="b"/>
            <a:pathLst>
              <a:path w="113029" h="175260">
                <a:moveTo>
                  <a:pt x="0" y="0"/>
                </a:moveTo>
                <a:lnTo>
                  <a:pt x="112775" y="87629"/>
                </a:lnTo>
                <a:lnTo>
                  <a:pt x="0" y="175259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57955" y="5373623"/>
            <a:ext cx="105410" cy="88265"/>
          </a:xfrm>
          <a:custGeom>
            <a:avLst/>
            <a:gdLst/>
            <a:ahLst/>
            <a:cxnLst/>
            <a:rect l="l" t="t" r="r" b="b"/>
            <a:pathLst>
              <a:path w="105410" h="88264">
                <a:moveTo>
                  <a:pt x="0" y="87756"/>
                </a:moveTo>
                <a:lnTo>
                  <a:pt x="10515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57955" y="5460491"/>
            <a:ext cx="105410" cy="88265"/>
          </a:xfrm>
          <a:custGeom>
            <a:avLst/>
            <a:gdLst/>
            <a:ahLst/>
            <a:cxnLst/>
            <a:rect l="l" t="t" r="r" b="b"/>
            <a:pathLst>
              <a:path w="105410" h="88264">
                <a:moveTo>
                  <a:pt x="0" y="0"/>
                </a:moveTo>
                <a:lnTo>
                  <a:pt x="105156" y="87757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551301" y="5450535"/>
            <a:ext cx="1225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entury Schoolbook"/>
                <a:cs typeface="Century Schoolbook"/>
              </a:rPr>
              <a:t>A</a:t>
            </a:r>
            <a:endParaRPr sz="1050">
              <a:latin typeface="Century Schoolbook"/>
              <a:cs typeface="Century Schoolboo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30809"/>
            <a:ext cx="716026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O</a:t>
            </a:r>
            <a:r>
              <a:rPr spc="-5" dirty="0"/>
              <a:t>PTIMISATION </a:t>
            </a:r>
            <a:r>
              <a:rPr dirty="0"/>
              <a:t>DE</a:t>
            </a:r>
            <a:r>
              <a:rPr spc="270" dirty="0"/>
              <a:t> </a:t>
            </a:r>
            <a:r>
              <a:rPr spc="-5" dirty="0"/>
              <a:t>REQUÊTES</a:t>
            </a:r>
            <a:endParaRPr sz="3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03739"/>
            <a:ext cx="7753350" cy="393954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84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En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centralisé,</a:t>
            </a:r>
          </a:p>
          <a:p>
            <a:pPr marL="652780" lvl="1" indent="-275590">
              <a:lnSpc>
                <a:spcPts val="2395"/>
              </a:lnSpc>
              <a:spcBef>
                <a:spcPts val="250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100" dirty="0">
                <a:latin typeface="Century Schoolbook"/>
                <a:cs typeface="Century Schoolbook"/>
              </a:rPr>
              <a:t>L’élément clé </a:t>
            </a:r>
            <a:r>
              <a:rPr sz="2100" spc="-5" dirty="0">
                <a:latin typeface="Century Schoolbook"/>
                <a:cs typeface="Century Schoolbook"/>
              </a:rPr>
              <a:t>de l’optimisation </a:t>
            </a:r>
            <a:r>
              <a:rPr sz="2100" dirty="0">
                <a:latin typeface="Century Schoolbook"/>
                <a:cs typeface="Century Schoolbook"/>
              </a:rPr>
              <a:t>concerne le </a:t>
            </a:r>
            <a:r>
              <a:rPr sz="2100" spc="-5" dirty="0">
                <a:latin typeface="Century Schoolbook"/>
                <a:cs typeface="Century Schoolbook"/>
              </a:rPr>
              <a:t>traitement</a:t>
            </a:r>
            <a:r>
              <a:rPr sz="2100" spc="-50" dirty="0">
                <a:latin typeface="Century Schoolbook"/>
                <a:cs typeface="Century Schoolbook"/>
              </a:rPr>
              <a:t> </a:t>
            </a:r>
            <a:r>
              <a:rPr sz="2100" spc="-5" dirty="0">
                <a:latin typeface="Century Schoolbook"/>
                <a:cs typeface="Century Schoolbook"/>
              </a:rPr>
              <a:t>des</a:t>
            </a:r>
            <a:endParaRPr sz="2100" dirty="0">
              <a:latin typeface="Century Schoolbook"/>
              <a:cs typeface="Century Schoolbook"/>
            </a:endParaRPr>
          </a:p>
          <a:p>
            <a:pPr marL="652780">
              <a:lnSpc>
                <a:spcPts val="2395"/>
              </a:lnSpc>
            </a:pPr>
            <a:r>
              <a:rPr sz="2100" dirty="0">
                <a:latin typeface="Century Schoolbook"/>
                <a:cs typeface="Century Schoolbook"/>
              </a:rPr>
              <a:t>jointures</a:t>
            </a:r>
          </a:p>
          <a:p>
            <a:pPr marL="927100" lvl="2" indent="-183515">
              <a:lnSpc>
                <a:spcPct val="100000"/>
              </a:lnSpc>
              <a:spcBef>
                <a:spcPts val="229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-5" dirty="0">
                <a:latin typeface="Century Schoolbook"/>
                <a:cs typeface="Century Schoolbook"/>
              </a:rPr>
              <a:t>L’ordre d’exécution des</a:t>
            </a:r>
            <a:r>
              <a:rPr sz="1800" spc="-20" dirty="0">
                <a:latin typeface="Century Schoolbook"/>
                <a:cs typeface="Century Schoolbook"/>
              </a:rPr>
              <a:t> </a:t>
            </a:r>
            <a:r>
              <a:rPr sz="1800" spc="-5" dirty="0">
                <a:latin typeface="Century Schoolbook"/>
                <a:cs typeface="Century Schoolbook"/>
              </a:rPr>
              <a:t>jointures</a:t>
            </a:r>
            <a:endParaRPr sz="1800" dirty="0">
              <a:latin typeface="Century Schoolbook"/>
              <a:cs typeface="Century Schoolbook"/>
            </a:endParaRPr>
          </a:p>
          <a:p>
            <a:pPr marL="927100" lvl="2" indent="-183515">
              <a:lnSpc>
                <a:spcPct val="100000"/>
              </a:lnSpc>
              <a:spcBef>
                <a:spcPts val="21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-5" dirty="0">
                <a:latin typeface="Century Schoolbook"/>
                <a:cs typeface="Century Schoolbook"/>
              </a:rPr>
              <a:t>L’algorithme utilisé pour effectuer la</a:t>
            </a:r>
            <a:r>
              <a:rPr sz="1800" dirty="0">
                <a:latin typeface="Century Schoolbook"/>
                <a:cs typeface="Century Schoolbook"/>
              </a:rPr>
              <a:t> </a:t>
            </a:r>
            <a:r>
              <a:rPr sz="1800" spc="-5" dirty="0">
                <a:latin typeface="Century Schoolbook"/>
                <a:cs typeface="Century Schoolbook"/>
              </a:rPr>
              <a:t>jointure</a:t>
            </a:r>
            <a:endParaRPr sz="1800" dirty="0">
              <a:latin typeface="Century Schoolbook"/>
              <a:cs typeface="Century Schoolbook"/>
            </a:endParaRPr>
          </a:p>
          <a:p>
            <a:pPr marL="1201420" lvl="3" indent="-183515">
              <a:lnSpc>
                <a:spcPct val="100000"/>
              </a:lnSpc>
              <a:spcBef>
                <a:spcPts val="215"/>
              </a:spcBef>
              <a:buClr>
                <a:srgbClr val="FDC3AD"/>
              </a:buClr>
              <a:buSzPct val="58333"/>
              <a:buFont typeface="Wingdings"/>
              <a:buChar char=""/>
              <a:tabLst>
                <a:tab pos="1202055" algn="l"/>
              </a:tabLst>
            </a:pPr>
            <a:r>
              <a:rPr sz="1800" spc="-5" dirty="0">
                <a:latin typeface="Century Schoolbook"/>
                <a:cs typeface="Century Schoolbook"/>
              </a:rPr>
              <a:t>Jointure par boucle </a:t>
            </a:r>
            <a:r>
              <a:rPr sz="1800" spc="-5" dirty="0" err="1" smtClean="0">
                <a:latin typeface="Century Schoolbook"/>
                <a:cs typeface="Century Schoolbook"/>
              </a:rPr>
              <a:t>imbriquée</a:t>
            </a:r>
            <a:endParaRPr sz="1800" dirty="0">
              <a:latin typeface="Century Schoolbook"/>
              <a:cs typeface="Century Schoolbook"/>
            </a:endParaRPr>
          </a:p>
          <a:p>
            <a:pPr marL="1201420" lvl="3" indent="-183515">
              <a:lnSpc>
                <a:spcPct val="100000"/>
              </a:lnSpc>
              <a:spcBef>
                <a:spcPts val="215"/>
              </a:spcBef>
              <a:buClr>
                <a:srgbClr val="FDC3AD"/>
              </a:buClr>
              <a:buSzPct val="58333"/>
              <a:buFont typeface="Wingdings"/>
              <a:buChar char=""/>
              <a:tabLst>
                <a:tab pos="1202055" algn="l"/>
              </a:tabLst>
            </a:pPr>
            <a:r>
              <a:rPr sz="1800" spc="-5" dirty="0">
                <a:latin typeface="Century Schoolbook"/>
                <a:cs typeface="Century Schoolbook"/>
              </a:rPr>
              <a:t>Jointure par tri-fusion</a:t>
            </a:r>
            <a:endParaRPr sz="1800" dirty="0">
              <a:latin typeface="Century Schoolbook"/>
              <a:cs typeface="Century Schoolbook"/>
            </a:endParaRPr>
          </a:p>
          <a:p>
            <a:pPr marL="1201420" lvl="3" indent="-183515">
              <a:lnSpc>
                <a:spcPct val="100000"/>
              </a:lnSpc>
              <a:spcBef>
                <a:spcPts val="220"/>
              </a:spcBef>
              <a:buClr>
                <a:srgbClr val="FDC3AD"/>
              </a:buClr>
              <a:buSzPct val="58333"/>
              <a:buFont typeface="Wingdings"/>
              <a:buChar char=""/>
              <a:tabLst>
                <a:tab pos="1202055" algn="l"/>
              </a:tabLst>
            </a:pPr>
            <a:r>
              <a:rPr sz="1800" spc="-5" dirty="0">
                <a:latin typeface="Century Schoolbook"/>
                <a:cs typeface="Century Schoolbook"/>
              </a:rPr>
              <a:t>Jointure par hachage</a:t>
            </a:r>
            <a:endParaRPr sz="1800" dirty="0">
              <a:latin typeface="Century Schoolbook"/>
              <a:cs typeface="Century Schoolbook"/>
            </a:endParaRPr>
          </a:p>
          <a:p>
            <a:pPr lvl="3">
              <a:lnSpc>
                <a:spcPct val="100000"/>
              </a:lnSpc>
              <a:spcBef>
                <a:spcPts val="30"/>
              </a:spcBef>
              <a:buClr>
                <a:srgbClr val="FDC3AD"/>
              </a:buClr>
              <a:buFont typeface="Wingdings"/>
              <a:buChar char=""/>
            </a:pPr>
            <a:endParaRPr sz="2300" dirty="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En</a:t>
            </a:r>
            <a:r>
              <a:rPr sz="2400" spc="-15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réparti,</a:t>
            </a:r>
            <a:endParaRPr sz="2400" dirty="0">
              <a:latin typeface="Century Schoolbook"/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254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100" dirty="0">
                <a:latin typeface="Century Schoolbook"/>
                <a:cs typeface="Century Schoolbook"/>
              </a:rPr>
              <a:t>Le </a:t>
            </a:r>
            <a:r>
              <a:rPr sz="2100" spc="-5" dirty="0">
                <a:latin typeface="Century Schoolbook"/>
                <a:cs typeface="Century Schoolbook"/>
              </a:rPr>
              <a:t>traitement des </a:t>
            </a:r>
            <a:r>
              <a:rPr sz="2100" dirty="0">
                <a:latin typeface="Century Schoolbook"/>
                <a:cs typeface="Century Schoolbook"/>
              </a:rPr>
              <a:t>jointures est</a:t>
            </a:r>
            <a:r>
              <a:rPr sz="2100" spc="-30" dirty="0">
                <a:latin typeface="Century Schoolbook"/>
                <a:cs typeface="Century Schoolbook"/>
              </a:rPr>
              <a:t> </a:t>
            </a:r>
            <a:r>
              <a:rPr sz="2100" dirty="0">
                <a:latin typeface="Century Schoolbook"/>
                <a:cs typeface="Century Schoolbook"/>
              </a:rPr>
              <a:t>crucial</a:t>
            </a:r>
          </a:p>
          <a:p>
            <a:pPr marL="927100" lvl="2" indent="-183515">
              <a:lnSpc>
                <a:spcPct val="100000"/>
              </a:lnSpc>
              <a:spcBef>
                <a:spcPts val="22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-5" dirty="0">
                <a:latin typeface="Century Schoolbook"/>
                <a:cs typeface="Century Schoolbook"/>
              </a:rPr>
              <a:t>Impacte </a:t>
            </a:r>
            <a:r>
              <a:rPr sz="1800" dirty="0">
                <a:latin typeface="Century Schoolbook"/>
                <a:cs typeface="Century Schoolbook"/>
              </a:rPr>
              <a:t>la </a:t>
            </a:r>
            <a:r>
              <a:rPr sz="1800" spc="-5" dirty="0">
                <a:latin typeface="Century Schoolbook"/>
                <a:cs typeface="Century Schoolbook"/>
              </a:rPr>
              <a:t>quantité d’information transitant par </a:t>
            </a:r>
            <a:r>
              <a:rPr sz="1800" dirty="0">
                <a:latin typeface="Century Schoolbook"/>
                <a:cs typeface="Century Schoolbook"/>
              </a:rPr>
              <a:t>le</a:t>
            </a:r>
            <a:r>
              <a:rPr sz="1800" spc="10" dirty="0">
                <a:latin typeface="Century Schoolbook"/>
                <a:cs typeface="Century Schoolbook"/>
              </a:rPr>
              <a:t> </a:t>
            </a:r>
            <a:r>
              <a:rPr sz="1800" spc="-5" dirty="0">
                <a:latin typeface="Century Schoolbook"/>
                <a:cs typeface="Century Schoolbook"/>
              </a:rPr>
              <a:t>réseau.</a:t>
            </a:r>
            <a:endParaRPr sz="1800" dirty="0">
              <a:latin typeface="Century Schoolbook"/>
              <a:cs typeface="Century Schoolbook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25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7288" y="660427"/>
            <a:ext cx="817951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TECHNIQUES D’EXÉCUTION</a:t>
            </a:r>
            <a:r>
              <a:rPr sz="2800" spc="320" dirty="0"/>
              <a:t> </a:t>
            </a:r>
            <a:r>
              <a:rPr sz="2800" spc="-5" dirty="0"/>
              <a:t>DISTRIBUÉE</a:t>
            </a:r>
            <a:endParaRPr sz="2800" dirty="0"/>
          </a:p>
        </p:txBody>
      </p:sp>
      <p:sp>
        <p:nvSpPr>
          <p:cNvPr id="4" name="object 4"/>
          <p:cNvSpPr txBox="1"/>
          <p:nvPr/>
        </p:nvSpPr>
        <p:spPr>
          <a:xfrm>
            <a:off x="533400" y="1143000"/>
            <a:ext cx="7150100" cy="4501232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250" dirty="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5" dirty="0">
                <a:latin typeface="Century Schoolbook"/>
                <a:cs typeface="Century Schoolbook"/>
              </a:rPr>
              <a:t>Optimisation de </a:t>
            </a:r>
            <a:r>
              <a:rPr sz="2400" dirty="0">
                <a:latin typeface="Century Schoolbook"/>
                <a:cs typeface="Century Schoolbook"/>
              </a:rPr>
              <a:t>la </a:t>
            </a:r>
            <a:r>
              <a:rPr sz="2400" spc="-5" dirty="0">
                <a:latin typeface="Century Schoolbook"/>
                <a:cs typeface="Century Schoolbook"/>
              </a:rPr>
              <a:t>diffusion des</a:t>
            </a:r>
            <a:r>
              <a:rPr sz="2400" spc="-70" dirty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tuples</a:t>
            </a:r>
            <a:endParaRPr sz="2400" dirty="0">
              <a:latin typeface="Century Schoolbook"/>
              <a:cs typeface="Century Schoolbook"/>
            </a:endParaRPr>
          </a:p>
          <a:p>
            <a:pPr marL="652780" marR="5080" lvl="1" indent="-27495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2100" dirty="0">
                <a:latin typeface="Century Schoolbook"/>
                <a:cs typeface="Century Schoolbook"/>
              </a:rPr>
              <a:t>Tenir </a:t>
            </a:r>
            <a:r>
              <a:rPr sz="2100" spc="-5" dirty="0">
                <a:latin typeface="Century Schoolbook"/>
                <a:cs typeface="Century Schoolbook"/>
              </a:rPr>
              <a:t>compte des </a:t>
            </a:r>
            <a:r>
              <a:rPr sz="2100" dirty="0">
                <a:latin typeface="Century Schoolbook"/>
                <a:cs typeface="Century Schoolbook"/>
              </a:rPr>
              <a:t>coûts </a:t>
            </a:r>
            <a:r>
              <a:rPr sz="2100" spc="-5" dirty="0">
                <a:latin typeface="Century Schoolbook"/>
                <a:cs typeface="Century Schoolbook"/>
              </a:rPr>
              <a:t>de transferts pour </a:t>
            </a:r>
            <a:r>
              <a:rPr sz="2100" dirty="0">
                <a:latin typeface="Century Schoolbook"/>
                <a:cs typeface="Century Schoolbook"/>
              </a:rPr>
              <a:t>une même  </a:t>
            </a:r>
            <a:r>
              <a:rPr sz="2100" spc="-5" dirty="0">
                <a:latin typeface="Century Schoolbook"/>
                <a:cs typeface="Century Schoolbook"/>
              </a:rPr>
              <a:t>information </a:t>
            </a:r>
            <a:r>
              <a:rPr sz="2100" dirty="0">
                <a:latin typeface="Century Schoolbook"/>
                <a:cs typeface="Century Schoolbook"/>
              </a:rPr>
              <a:t>nécessaire sur </a:t>
            </a:r>
            <a:r>
              <a:rPr sz="2100" spc="-5" dirty="0" err="1">
                <a:latin typeface="Century Schoolbook"/>
                <a:cs typeface="Century Schoolbook"/>
              </a:rPr>
              <a:t>plusieurs</a:t>
            </a:r>
            <a:r>
              <a:rPr sz="2100" spc="25" dirty="0">
                <a:latin typeface="Century Schoolbook"/>
                <a:cs typeface="Century Schoolbook"/>
              </a:rPr>
              <a:t> </a:t>
            </a:r>
            <a:r>
              <a:rPr sz="2100" dirty="0" smtClean="0">
                <a:latin typeface="Century Schoolbook"/>
                <a:cs typeface="Century Schoolbook"/>
              </a:rPr>
              <a:t>sites</a:t>
            </a:r>
            <a:endParaRPr lang="fr-FR" sz="2100" dirty="0" smtClean="0">
              <a:latin typeface="Century Schoolbook"/>
              <a:cs typeface="Century Schoolbook"/>
            </a:endParaRPr>
          </a:p>
          <a:p>
            <a:pPr marL="287020" indent="-274320">
              <a:lnSpc>
                <a:spcPct val="100000"/>
              </a:lnSpc>
              <a:spcBef>
                <a:spcPts val="68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fr-FR" sz="2400" spc="-5" dirty="0">
                <a:cs typeface="Century Schoolbook"/>
              </a:rPr>
              <a:t>Multithreading</a:t>
            </a:r>
            <a:endParaRPr lang="fr-FR" sz="2400" dirty="0"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lang="fr-FR" sz="2100" spc="-5" dirty="0" err="1">
                <a:cs typeface="Century Schoolbook"/>
              </a:rPr>
              <a:t>Parallélisation</a:t>
            </a:r>
            <a:r>
              <a:rPr lang="fr-FR" sz="2100" spc="-5" dirty="0">
                <a:cs typeface="Century Schoolbook"/>
              </a:rPr>
              <a:t> de </a:t>
            </a:r>
            <a:r>
              <a:rPr lang="fr-FR" sz="2100" dirty="0">
                <a:cs typeface="Century Schoolbook"/>
              </a:rPr>
              <a:t>certains</a:t>
            </a:r>
            <a:r>
              <a:rPr lang="fr-FR" sz="2100" spc="10" dirty="0">
                <a:cs typeface="Century Schoolbook"/>
              </a:rPr>
              <a:t> </a:t>
            </a:r>
            <a:r>
              <a:rPr lang="fr-FR" sz="2100" spc="-5" dirty="0">
                <a:cs typeface="Century Schoolbook"/>
              </a:rPr>
              <a:t>opérateurs</a:t>
            </a:r>
            <a:endParaRPr lang="fr-FR" sz="2100" dirty="0">
              <a:cs typeface="Century Schoolbook"/>
            </a:endParaRPr>
          </a:p>
          <a:p>
            <a:pPr lvl="2">
              <a:lnSpc>
                <a:spcPct val="100000"/>
              </a:lnSpc>
              <a:spcBef>
                <a:spcPts val="45"/>
              </a:spcBef>
              <a:buClr>
                <a:srgbClr val="DF752E"/>
              </a:buClr>
              <a:buFont typeface="Wingdings"/>
              <a:buChar char=""/>
            </a:pPr>
            <a:endParaRPr lang="fr-FR" sz="3100" dirty="0" smtClean="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fr-FR" sz="2400" spc="-5" dirty="0">
                <a:cs typeface="Century Schoolbook"/>
              </a:rPr>
              <a:t>Réduire </a:t>
            </a:r>
            <a:r>
              <a:rPr lang="fr-FR" sz="2400" dirty="0">
                <a:cs typeface="Century Schoolbook"/>
              </a:rPr>
              <a:t>les </a:t>
            </a:r>
            <a:r>
              <a:rPr lang="fr-FR" sz="2400" spc="-5" dirty="0">
                <a:cs typeface="Century Schoolbook"/>
              </a:rPr>
              <a:t>transferts </a:t>
            </a:r>
            <a:r>
              <a:rPr lang="fr-FR" sz="2400" dirty="0">
                <a:cs typeface="Century Schoolbook"/>
              </a:rPr>
              <a:t>en cas </a:t>
            </a:r>
            <a:r>
              <a:rPr lang="fr-FR" sz="2400" spc="-5" dirty="0">
                <a:cs typeface="Century Schoolbook"/>
              </a:rPr>
              <a:t>de jointures</a:t>
            </a:r>
            <a:r>
              <a:rPr lang="fr-FR" sz="2400" spc="-65" dirty="0">
                <a:cs typeface="Century Schoolbook"/>
              </a:rPr>
              <a:t> </a:t>
            </a:r>
            <a:r>
              <a:rPr lang="fr-FR" sz="2400" dirty="0">
                <a:cs typeface="Century Schoolbook"/>
              </a:rPr>
              <a:t>inter-site</a:t>
            </a:r>
          </a:p>
          <a:p>
            <a:pPr marL="652780" marR="5080" lvl="1" indent="-27495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52780" algn="l"/>
                <a:tab pos="653415" algn="l"/>
              </a:tabLst>
            </a:pPr>
            <a:endParaRPr sz="2100" dirty="0">
              <a:latin typeface="Century Schoolbook"/>
              <a:cs typeface="Century Schoolbook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26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179512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A </a:t>
            </a:r>
            <a:r>
              <a:rPr spc="-5" dirty="0"/>
              <a:t>PROPOS </a:t>
            </a:r>
            <a:r>
              <a:rPr dirty="0"/>
              <a:t>DES </a:t>
            </a:r>
            <a:r>
              <a:rPr spc="-5" dirty="0"/>
              <a:t>JOINTURES</a:t>
            </a:r>
            <a:r>
              <a:rPr spc="490" dirty="0"/>
              <a:t> </a:t>
            </a:r>
            <a:r>
              <a:rPr spc="-10" dirty="0"/>
              <a:t>INTERSITES</a:t>
            </a:r>
            <a:endParaRPr sz="3000" dirty="0"/>
          </a:p>
        </p:txBody>
      </p:sp>
      <p:sp>
        <p:nvSpPr>
          <p:cNvPr id="4" name="object 4"/>
          <p:cNvSpPr txBox="1">
            <a:spLocks noGrp="1"/>
          </p:cNvSpPr>
          <p:nvPr>
            <p:ph sz="quarter" idx="1"/>
          </p:nvPr>
        </p:nvSpPr>
        <p:spPr>
          <a:xfrm>
            <a:off x="457200" y="1600200"/>
            <a:ext cx="8229600" cy="433195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8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pc="-5" dirty="0"/>
              <a:t>Jointures</a:t>
            </a:r>
            <a:r>
              <a:rPr spc="-25" dirty="0"/>
              <a:t> </a:t>
            </a:r>
            <a:r>
              <a:rPr dirty="0"/>
              <a:t>intersites</a:t>
            </a:r>
          </a:p>
          <a:p>
            <a:pPr marL="652780" lvl="1" indent="-27495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52145" algn="l"/>
                <a:tab pos="652780" algn="l"/>
              </a:tabLst>
            </a:pPr>
            <a:r>
              <a:rPr sz="2100" spc="-5" dirty="0">
                <a:latin typeface="Century Schoolbook"/>
                <a:cs typeface="Century Schoolbook"/>
              </a:rPr>
              <a:t>C’est </a:t>
            </a:r>
            <a:r>
              <a:rPr sz="2100" dirty="0">
                <a:latin typeface="Century Schoolbook"/>
                <a:cs typeface="Century Schoolbook"/>
              </a:rPr>
              <a:t>une jointure interrogeant </a:t>
            </a:r>
            <a:r>
              <a:rPr sz="2100" spc="-5" dirty="0">
                <a:latin typeface="Century Schoolbook"/>
                <a:cs typeface="Century Schoolbook"/>
              </a:rPr>
              <a:t>des données </a:t>
            </a:r>
            <a:r>
              <a:rPr sz="2100" spc="-5" dirty="0" err="1">
                <a:latin typeface="Century Schoolbook"/>
                <a:cs typeface="Century Schoolbook"/>
              </a:rPr>
              <a:t>distribuées</a:t>
            </a:r>
            <a:r>
              <a:rPr sz="2100" spc="-20" dirty="0">
                <a:latin typeface="Century Schoolbook"/>
                <a:cs typeface="Century Schoolbook"/>
              </a:rPr>
              <a:t> </a:t>
            </a:r>
            <a:r>
              <a:rPr sz="2100" dirty="0" err="1" smtClean="0">
                <a:latin typeface="Century Schoolbook"/>
                <a:cs typeface="Century Schoolbook"/>
              </a:rPr>
              <a:t>sur</a:t>
            </a:r>
            <a:r>
              <a:rPr lang="fr-FR" sz="2100" dirty="0" smtClean="0">
                <a:latin typeface="Century Schoolbook"/>
                <a:cs typeface="Century Schoolbook"/>
              </a:rPr>
              <a:t> </a:t>
            </a:r>
            <a:r>
              <a:rPr sz="2100" spc="-5" dirty="0" err="1" smtClean="0"/>
              <a:t>différents</a:t>
            </a:r>
            <a:r>
              <a:rPr sz="2100" spc="-10" dirty="0" smtClean="0"/>
              <a:t> </a:t>
            </a:r>
            <a:r>
              <a:rPr sz="2100" dirty="0"/>
              <a:t>sites</a:t>
            </a:r>
          </a:p>
          <a:p>
            <a:pPr marL="377825">
              <a:lnSpc>
                <a:spcPct val="100000"/>
              </a:lnSpc>
              <a:spcBef>
                <a:spcPts val="490"/>
              </a:spcBef>
              <a:buNone/>
            </a:pPr>
            <a:r>
              <a:rPr sz="2100" dirty="0">
                <a:latin typeface="Wingdings"/>
                <a:cs typeface="Wingdings"/>
              </a:rPr>
              <a:t>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5" dirty="0"/>
              <a:t>Coût de transfert des données dans </a:t>
            </a:r>
            <a:r>
              <a:rPr sz="2100" dirty="0"/>
              <a:t>la résolution </a:t>
            </a:r>
            <a:r>
              <a:rPr sz="2100" spc="-5" dirty="0"/>
              <a:t>des</a:t>
            </a:r>
            <a:r>
              <a:rPr sz="2100" spc="60" dirty="0"/>
              <a:t> </a:t>
            </a:r>
            <a:r>
              <a:rPr sz="2100" spc="-5" dirty="0"/>
              <a:t>requêtes</a:t>
            </a:r>
            <a:endParaRPr sz="2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50" dirty="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pc="-5" dirty="0" err="1" smtClean="0"/>
              <a:t>Approches</a:t>
            </a:r>
            <a:endParaRPr lang="fr-FR" spc="-5" dirty="0" smtClean="0"/>
          </a:p>
          <a:p>
            <a:pPr marL="652780" lvl="1" indent="-274955">
              <a:spcBef>
                <a:spcPts val="505"/>
              </a:spcBef>
              <a:buClr>
                <a:srgbClr val="FD8537"/>
              </a:buClr>
              <a:buSzPct val="78571"/>
              <a:tabLst>
                <a:tab pos="652145" algn="l"/>
                <a:tab pos="652780" algn="l"/>
              </a:tabLst>
            </a:pPr>
            <a:r>
              <a:rPr lang="fr-FR" dirty="0" smtClean="0">
                <a:latin typeface="Century Schoolbook"/>
                <a:cs typeface="Century Schoolbook"/>
              </a:rPr>
              <a:t>transférer la relation la plus petite</a:t>
            </a:r>
            <a:endParaRPr dirty="0">
              <a:latin typeface="Century Schoolbook"/>
              <a:cs typeface="Century Schoolbook"/>
            </a:endParaRPr>
          </a:p>
          <a:p>
            <a:pPr marL="652780" lvl="1" indent="-27495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52145" algn="l"/>
                <a:tab pos="652780" algn="l"/>
              </a:tabLst>
            </a:pPr>
            <a:r>
              <a:rPr sz="2100" dirty="0">
                <a:latin typeface="Century Schoolbook"/>
                <a:cs typeface="Century Schoolbook"/>
              </a:rPr>
              <a:t>Par jointures </a:t>
            </a:r>
            <a:r>
              <a:rPr sz="2100" spc="-5" dirty="0">
                <a:latin typeface="Century Schoolbook"/>
                <a:cs typeface="Century Schoolbook"/>
              </a:rPr>
              <a:t>parallèles</a:t>
            </a:r>
            <a:endParaRPr sz="2100" dirty="0">
              <a:latin typeface="Century Schoolbook"/>
              <a:cs typeface="Century Schoolbook"/>
            </a:endParaRPr>
          </a:p>
          <a:p>
            <a:pPr marL="652780" lvl="1">
              <a:spcBef>
                <a:spcPts val="615"/>
              </a:spcBef>
              <a:buClr>
                <a:srgbClr val="FD8537"/>
              </a:buClr>
              <a:buSzPct val="78571"/>
              <a:tabLst>
                <a:tab pos="286385" algn="l"/>
                <a:tab pos="287020" algn="l"/>
              </a:tabLst>
            </a:pPr>
            <a:r>
              <a:rPr lang="fr-FR" spc="-5" dirty="0" smtClean="0">
                <a:latin typeface="Century Schoolbook"/>
                <a:cs typeface="Century Schoolbook"/>
              </a:rPr>
              <a:t>Par remplacement des jointures par des semi-jointures</a:t>
            </a:r>
          </a:p>
          <a:p>
            <a:pPr marL="835660" lvl="2" indent="-184150">
              <a:spcBef>
                <a:spcPts val="445"/>
              </a:spcBef>
              <a:buClr>
                <a:srgbClr val="DF752E"/>
              </a:buClr>
              <a:buSzPct val="58333"/>
              <a:tabLst>
                <a:tab pos="561975" algn="l"/>
              </a:tabLst>
            </a:pPr>
            <a:r>
              <a:rPr lang="fr-FR" sz="1500" spc="-5" dirty="0" smtClean="0">
                <a:cs typeface="Century Schoolbook"/>
              </a:rPr>
              <a:t>Algorithme </a:t>
            </a:r>
            <a:r>
              <a:rPr lang="fr-FR" sz="1500" spc="-10" dirty="0" smtClean="0">
                <a:cs typeface="Century Schoolbook"/>
              </a:rPr>
              <a:t>basé </a:t>
            </a:r>
            <a:r>
              <a:rPr lang="fr-FR" sz="1500" spc="-5" dirty="0" smtClean="0">
                <a:cs typeface="Century Schoolbook"/>
              </a:rPr>
              <a:t>sur </a:t>
            </a:r>
            <a:r>
              <a:rPr lang="fr-FR" sz="1500" dirty="0" smtClean="0">
                <a:cs typeface="Century Schoolbook"/>
              </a:rPr>
              <a:t>les</a:t>
            </a:r>
            <a:r>
              <a:rPr lang="fr-FR" sz="1500" spc="20" dirty="0" smtClean="0">
                <a:cs typeface="Century Schoolbook"/>
              </a:rPr>
              <a:t> </a:t>
            </a:r>
            <a:r>
              <a:rPr lang="fr-FR" sz="1500" spc="-5" dirty="0" smtClean="0">
                <a:cs typeface="Century Schoolbook"/>
              </a:rPr>
              <a:t>semi-jointures</a:t>
            </a:r>
            <a:endParaRPr lang="fr-FR" sz="1500" dirty="0" smtClean="0">
              <a:cs typeface="Century Schoolbook"/>
            </a:endParaRPr>
          </a:p>
          <a:p>
            <a:pPr marL="927100" lvl="2" indent="-184150">
              <a:lnSpc>
                <a:spcPct val="100000"/>
              </a:lnSpc>
              <a:spcBef>
                <a:spcPts val="44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endParaRPr sz="1800" dirty="0">
              <a:latin typeface="Century Schoolbook"/>
              <a:cs typeface="Century Schoolbook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27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7646112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J</a:t>
            </a:r>
            <a:r>
              <a:rPr spc="-5" dirty="0"/>
              <a:t>OINTURE ENTRE </a:t>
            </a:r>
            <a:r>
              <a:rPr dirty="0"/>
              <a:t>DEUX</a:t>
            </a:r>
            <a:r>
              <a:rPr spc="459" dirty="0"/>
              <a:t> </a:t>
            </a:r>
            <a:r>
              <a:rPr spc="-5" dirty="0"/>
              <a:t>SITES</a:t>
            </a:r>
            <a:endParaRPr sz="3000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318701"/>
            <a:ext cx="7870825" cy="322199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6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-5" dirty="0">
                <a:latin typeface="Century Schoolbook"/>
                <a:cs typeface="Century Schoolbook"/>
              </a:rPr>
              <a:t>Principe</a:t>
            </a:r>
            <a:r>
              <a:rPr sz="2200" spc="-15" dirty="0">
                <a:latin typeface="Century Schoolbook"/>
                <a:cs typeface="Century Schoolbook"/>
              </a:rPr>
              <a:t> </a:t>
            </a:r>
            <a:r>
              <a:rPr sz="2200" spc="-5" dirty="0">
                <a:latin typeface="Century Schoolbook"/>
                <a:cs typeface="Century Schoolbook"/>
              </a:rPr>
              <a:t>élémentaire</a:t>
            </a:r>
            <a:endParaRPr sz="2200" dirty="0">
              <a:latin typeface="Century Schoolbook"/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229"/>
              </a:spcBef>
              <a:buClr>
                <a:srgbClr val="FD8537"/>
              </a:buClr>
              <a:buSzPct val="78947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1900" b="1" spc="-10" dirty="0">
                <a:latin typeface="Century Schoolbook"/>
                <a:cs typeface="Century Schoolbook"/>
              </a:rPr>
              <a:t>Toujours </a:t>
            </a:r>
            <a:r>
              <a:rPr sz="1900" b="1" spc="-5" dirty="0">
                <a:latin typeface="Century Schoolbook"/>
                <a:cs typeface="Century Schoolbook"/>
              </a:rPr>
              <a:t>transférer la relation la </a:t>
            </a:r>
            <a:r>
              <a:rPr sz="1900" b="1" spc="-10" dirty="0">
                <a:latin typeface="Century Schoolbook"/>
                <a:cs typeface="Century Schoolbook"/>
              </a:rPr>
              <a:t>plus</a:t>
            </a:r>
            <a:r>
              <a:rPr sz="1900" b="1" spc="114" dirty="0">
                <a:latin typeface="Century Schoolbook"/>
                <a:cs typeface="Century Schoolbook"/>
              </a:rPr>
              <a:t> </a:t>
            </a:r>
            <a:r>
              <a:rPr sz="1900" b="1" spc="-10" dirty="0">
                <a:latin typeface="Century Schoolbook"/>
                <a:cs typeface="Century Schoolbook"/>
              </a:rPr>
              <a:t>petite</a:t>
            </a:r>
            <a:endParaRPr sz="1900" dirty="0">
              <a:latin typeface="Century Schoolbook"/>
              <a:cs typeface="Century Schoolbook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FD8537"/>
              </a:buClr>
              <a:buFont typeface="Wingdings 2"/>
              <a:buChar char=""/>
            </a:pPr>
            <a:endParaRPr sz="2900" dirty="0">
              <a:latin typeface="Times New Roman"/>
              <a:cs typeface="Times New Roman"/>
            </a:endParaRPr>
          </a:p>
          <a:p>
            <a:pPr marL="287020" indent="-274320">
              <a:lnSpc>
                <a:spcPts val="2095"/>
              </a:lnSpc>
              <a:buClr>
                <a:srgbClr val="FD8537"/>
              </a:buClr>
              <a:buSzPct val="68421"/>
              <a:buFont typeface="Wingdings"/>
              <a:buChar char=""/>
              <a:tabLst>
                <a:tab pos="287020" algn="l"/>
              </a:tabLst>
            </a:pPr>
            <a:r>
              <a:rPr sz="1900" spc="-5" dirty="0">
                <a:latin typeface="Century Schoolbook"/>
                <a:cs typeface="Century Schoolbook"/>
              </a:rPr>
              <a:t>Site 1:</a:t>
            </a:r>
            <a:r>
              <a:rPr sz="1900" spc="-10" dirty="0">
                <a:latin typeface="Century Schoolbook"/>
                <a:cs typeface="Century Schoolbook"/>
              </a:rPr>
              <a:t> Requête</a:t>
            </a:r>
            <a:endParaRPr sz="1900" dirty="0">
              <a:latin typeface="Century Schoolbook"/>
              <a:cs typeface="Century Schoolbook"/>
            </a:endParaRPr>
          </a:p>
          <a:p>
            <a:pPr marL="927100">
              <a:lnSpc>
                <a:spcPts val="1980"/>
              </a:lnSpc>
            </a:pPr>
            <a:r>
              <a:rPr sz="1900" spc="-5" dirty="0">
                <a:latin typeface="Courier New"/>
                <a:cs typeface="Courier New"/>
              </a:rPr>
              <a:t>SELECT </a:t>
            </a:r>
            <a:r>
              <a:rPr sz="1900" spc="-10" dirty="0">
                <a:latin typeface="Courier New"/>
                <a:cs typeface="Courier New"/>
              </a:rPr>
              <a:t>nom,</a:t>
            </a:r>
            <a:r>
              <a:rPr sz="1900" spc="-1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titre</a:t>
            </a:r>
            <a:endParaRPr sz="1900" dirty="0">
              <a:latin typeface="Courier New"/>
              <a:cs typeface="Courier New"/>
            </a:endParaRPr>
          </a:p>
          <a:p>
            <a:pPr marL="927100" marR="3467735">
              <a:lnSpc>
                <a:spcPts val="2050"/>
              </a:lnSpc>
              <a:spcBef>
                <a:spcPts val="145"/>
              </a:spcBef>
              <a:tabLst>
                <a:tab pos="1938655" algn="l"/>
              </a:tabLst>
            </a:pPr>
            <a:r>
              <a:rPr sz="1900" spc="-5" dirty="0">
                <a:latin typeface="Courier New"/>
                <a:cs typeface="Courier New"/>
              </a:rPr>
              <a:t>FROM </a:t>
            </a:r>
            <a:r>
              <a:rPr sz="1900" spc="-10" dirty="0">
                <a:latin typeface="Courier New"/>
                <a:cs typeface="Courier New"/>
              </a:rPr>
              <a:t>Employé </a:t>
            </a:r>
            <a:r>
              <a:rPr sz="1900" spc="-5" dirty="0">
                <a:latin typeface="Courier New"/>
                <a:cs typeface="Courier New"/>
              </a:rPr>
              <a:t>E, </a:t>
            </a:r>
            <a:r>
              <a:rPr sz="1900" spc="-10" dirty="0">
                <a:latin typeface="Courier New"/>
                <a:cs typeface="Courier New"/>
              </a:rPr>
              <a:t>Statut </a:t>
            </a:r>
            <a:r>
              <a:rPr sz="1900" spc="-5" dirty="0">
                <a:latin typeface="Courier New"/>
                <a:cs typeface="Courier New"/>
              </a:rPr>
              <a:t>S  WHERE	</a:t>
            </a:r>
            <a:r>
              <a:rPr sz="1900" spc="-10" dirty="0">
                <a:latin typeface="Courier New"/>
                <a:cs typeface="Courier New"/>
              </a:rPr>
              <a:t>E.tnum </a:t>
            </a:r>
            <a:r>
              <a:rPr sz="1900" spc="-5" dirty="0">
                <a:latin typeface="Courier New"/>
                <a:cs typeface="Courier New"/>
              </a:rPr>
              <a:t>=</a:t>
            </a:r>
            <a:r>
              <a:rPr sz="1900" spc="-2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S.tnum;</a:t>
            </a:r>
            <a:endParaRPr sz="19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00" dirty="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421"/>
              <a:buFont typeface="Wingdings"/>
              <a:buChar char=""/>
              <a:tabLst>
                <a:tab pos="287020" algn="l"/>
                <a:tab pos="5033010" algn="l"/>
              </a:tabLst>
            </a:pPr>
            <a:r>
              <a:rPr sz="1900" spc="-5" dirty="0">
                <a:latin typeface="Century Schoolbook"/>
                <a:cs typeface="Century Schoolbook"/>
              </a:rPr>
              <a:t>Site 2 : Employé(</a:t>
            </a:r>
            <a:r>
              <a:rPr sz="1900" u="sng" spc="-5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enum</a:t>
            </a:r>
            <a:r>
              <a:rPr sz="1900" spc="-5" dirty="0">
                <a:latin typeface="Century Schoolbook"/>
                <a:cs typeface="Century Schoolbook"/>
              </a:rPr>
              <a:t>, nom,</a:t>
            </a:r>
            <a:r>
              <a:rPr sz="1900" spc="70" dirty="0">
                <a:latin typeface="Century Schoolbook"/>
                <a:cs typeface="Century Schoolbook"/>
              </a:rPr>
              <a:t> </a:t>
            </a:r>
            <a:r>
              <a:rPr sz="1900" spc="-5" dirty="0">
                <a:latin typeface="Century Schoolbook"/>
                <a:cs typeface="Century Schoolbook"/>
              </a:rPr>
              <a:t>adr,</a:t>
            </a:r>
            <a:r>
              <a:rPr sz="1900" spc="5" dirty="0">
                <a:latin typeface="Century Schoolbook"/>
                <a:cs typeface="Century Schoolbook"/>
              </a:rPr>
              <a:t> </a:t>
            </a:r>
            <a:r>
              <a:rPr sz="1900" spc="-5" dirty="0">
                <a:latin typeface="Century Schoolbook"/>
                <a:cs typeface="Century Schoolbook"/>
              </a:rPr>
              <a:t>#tnum)	=&gt;100 </a:t>
            </a:r>
            <a:r>
              <a:rPr sz="1900" spc="-10" dirty="0">
                <a:latin typeface="Century Schoolbook"/>
                <a:cs typeface="Century Schoolbook"/>
              </a:rPr>
              <a:t>000 </a:t>
            </a:r>
            <a:r>
              <a:rPr sz="1900" spc="-5" dirty="0">
                <a:latin typeface="Century Schoolbook"/>
                <a:cs typeface="Century Schoolbook"/>
              </a:rPr>
              <a:t>tuples de 1</a:t>
            </a:r>
            <a:r>
              <a:rPr sz="1900" spc="5" dirty="0">
                <a:latin typeface="Century Schoolbook"/>
                <a:cs typeface="Century Schoolbook"/>
              </a:rPr>
              <a:t> </a:t>
            </a:r>
            <a:r>
              <a:rPr sz="1900" spc="-5" dirty="0">
                <a:latin typeface="Century Schoolbook"/>
                <a:cs typeface="Century Schoolbook"/>
              </a:rPr>
              <a:t>Ko</a:t>
            </a:r>
            <a:endParaRPr sz="1900" dirty="0">
              <a:latin typeface="Century Schoolbook"/>
              <a:cs typeface="Century Schoolbook"/>
            </a:endParaRPr>
          </a:p>
          <a:p>
            <a:pPr marL="287020" indent="-274320">
              <a:lnSpc>
                <a:spcPct val="100000"/>
              </a:lnSpc>
              <a:spcBef>
                <a:spcPts val="370"/>
              </a:spcBef>
              <a:buClr>
                <a:srgbClr val="FD8537"/>
              </a:buClr>
              <a:buSzPct val="68421"/>
              <a:buFont typeface="Wingdings"/>
              <a:buChar char=""/>
              <a:tabLst>
                <a:tab pos="287020" algn="l"/>
                <a:tab pos="3369945" algn="l"/>
              </a:tabLst>
            </a:pPr>
            <a:r>
              <a:rPr sz="1900" spc="-5" dirty="0">
                <a:latin typeface="Century Schoolbook"/>
                <a:cs typeface="Century Schoolbook"/>
              </a:rPr>
              <a:t>Site 3 :</a:t>
            </a:r>
            <a:r>
              <a:rPr sz="1900" spc="20" dirty="0">
                <a:latin typeface="Century Schoolbook"/>
                <a:cs typeface="Century Schoolbook"/>
              </a:rPr>
              <a:t> </a:t>
            </a:r>
            <a:r>
              <a:rPr sz="1900" spc="-5" dirty="0">
                <a:latin typeface="Century Schoolbook"/>
                <a:cs typeface="Century Schoolbook"/>
              </a:rPr>
              <a:t>Statut(</a:t>
            </a:r>
            <a:r>
              <a:rPr sz="1900" u="sng" spc="-5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tnum</a:t>
            </a:r>
            <a:r>
              <a:rPr sz="1900" spc="-5" dirty="0">
                <a:latin typeface="Century Schoolbook"/>
                <a:cs typeface="Century Schoolbook"/>
              </a:rPr>
              <a:t>,</a:t>
            </a:r>
            <a:r>
              <a:rPr sz="1900" spc="25" dirty="0">
                <a:latin typeface="Century Schoolbook"/>
                <a:cs typeface="Century Schoolbook"/>
              </a:rPr>
              <a:t> </a:t>
            </a:r>
            <a:r>
              <a:rPr sz="1900" spc="-5" dirty="0">
                <a:latin typeface="Century Schoolbook"/>
                <a:cs typeface="Century Schoolbook"/>
              </a:rPr>
              <a:t>titre)	=&gt; 10 tuples de 0,5</a:t>
            </a:r>
            <a:r>
              <a:rPr sz="1900" spc="5" dirty="0">
                <a:latin typeface="Century Schoolbook"/>
                <a:cs typeface="Century Schoolbook"/>
              </a:rPr>
              <a:t> </a:t>
            </a:r>
            <a:r>
              <a:rPr sz="1900" spc="-5" dirty="0">
                <a:latin typeface="Century Schoolbook"/>
                <a:cs typeface="Century Schoolbook"/>
              </a:rPr>
              <a:t>Ko</a:t>
            </a:r>
            <a:endParaRPr sz="1900" dirty="0">
              <a:latin typeface="Century Schoolbook"/>
              <a:cs typeface="Century Schoolboo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868991"/>
            <a:ext cx="6957059" cy="141859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35"/>
              </a:spcBef>
              <a:buClr>
                <a:srgbClr val="FD8537"/>
              </a:buClr>
              <a:buSzPct val="68421"/>
              <a:buFont typeface="Wingdings"/>
              <a:buChar char=""/>
              <a:tabLst>
                <a:tab pos="287020" algn="l"/>
              </a:tabLst>
            </a:pPr>
            <a:r>
              <a:rPr sz="1900" spc="-5" dirty="0">
                <a:latin typeface="Century Schoolbook"/>
                <a:cs typeface="Century Schoolbook"/>
              </a:rPr>
              <a:t>Plan d’exécution P</a:t>
            </a:r>
            <a:r>
              <a:rPr sz="1900" spc="10" dirty="0">
                <a:latin typeface="Century Schoolbook"/>
                <a:cs typeface="Century Schoolbook"/>
              </a:rPr>
              <a:t> </a:t>
            </a:r>
            <a:r>
              <a:rPr sz="1900" spc="-5" dirty="0">
                <a:latin typeface="Century Schoolbook"/>
                <a:cs typeface="Century Schoolbook"/>
              </a:rPr>
              <a:t>:</a:t>
            </a:r>
            <a:endParaRPr sz="1900">
              <a:latin typeface="Century Schoolbook"/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195"/>
              </a:spcBef>
              <a:buClr>
                <a:srgbClr val="FD8537"/>
              </a:buClr>
              <a:buSzPct val="78125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1600" spc="-5" dirty="0">
                <a:latin typeface="Century Schoolbook"/>
                <a:cs typeface="Century Schoolbook"/>
              </a:rPr>
              <a:t>Transfert de Statut du site 3 </a:t>
            </a:r>
            <a:r>
              <a:rPr sz="1600" spc="-10" dirty="0">
                <a:latin typeface="Century Schoolbook"/>
                <a:cs typeface="Century Schoolbook"/>
              </a:rPr>
              <a:t>vers </a:t>
            </a:r>
            <a:r>
              <a:rPr sz="1600" spc="-5" dirty="0">
                <a:latin typeface="Century Schoolbook"/>
                <a:cs typeface="Century Schoolbook"/>
              </a:rPr>
              <a:t>le site</a:t>
            </a:r>
            <a:r>
              <a:rPr sz="1600" spc="95" dirty="0">
                <a:latin typeface="Century Schoolbook"/>
                <a:cs typeface="Century Schoolbook"/>
              </a:rPr>
              <a:t> </a:t>
            </a:r>
            <a:r>
              <a:rPr sz="1600" spc="-5" dirty="0">
                <a:latin typeface="Century Schoolbook"/>
                <a:cs typeface="Century Schoolbook"/>
              </a:rPr>
              <a:t>2</a:t>
            </a:r>
            <a:endParaRPr sz="1600">
              <a:latin typeface="Century Schoolbook"/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180"/>
              </a:spcBef>
              <a:buClr>
                <a:srgbClr val="FD8537"/>
              </a:buClr>
              <a:buSzPct val="78125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1600" spc="-5" dirty="0">
                <a:latin typeface="Century Schoolbook"/>
                <a:cs typeface="Century Schoolbook"/>
              </a:rPr>
              <a:t>T1 </a:t>
            </a:r>
            <a:r>
              <a:rPr sz="1600" spc="-5" dirty="0">
                <a:latin typeface="Wingdings"/>
                <a:cs typeface="Wingdings"/>
              </a:rPr>
              <a:t>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Century Schoolbook"/>
                <a:cs typeface="Century Schoolbook"/>
              </a:rPr>
              <a:t>Exécution de la jointure entre </a:t>
            </a:r>
            <a:r>
              <a:rPr sz="1600" spc="-10" dirty="0">
                <a:latin typeface="Century Schoolbook"/>
                <a:cs typeface="Century Schoolbook"/>
              </a:rPr>
              <a:t>Employé </a:t>
            </a:r>
            <a:r>
              <a:rPr sz="1600" spc="-5" dirty="0">
                <a:latin typeface="Century Schoolbook"/>
                <a:cs typeface="Century Schoolbook"/>
              </a:rPr>
              <a:t>et Statut sur le site</a:t>
            </a:r>
            <a:r>
              <a:rPr sz="1600" spc="229" dirty="0">
                <a:latin typeface="Century Schoolbook"/>
                <a:cs typeface="Century Schoolbook"/>
              </a:rPr>
              <a:t> </a:t>
            </a:r>
            <a:r>
              <a:rPr sz="1600" spc="-5" dirty="0">
                <a:latin typeface="Century Schoolbook"/>
                <a:cs typeface="Century Schoolbook"/>
              </a:rPr>
              <a:t>2</a:t>
            </a:r>
            <a:endParaRPr sz="1600">
              <a:latin typeface="Century Schoolbook"/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190"/>
              </a:spcBef>
              <a:buClr>
                <a:srgbClr val="FD8537"/>
              </a:buClr>
              <a:buSzPct val="78125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1600" spc="-5" dirty="0">
                <a:latin typeface="Century Schoolbook"/>
                <a:cs typeface="Century Schoolbook"/>
              </a:rPr>
              <a:t>T2 </a:t>
            </a:r>
            <a:r>
              <a:rPr sz="1600" spc="-5" dirty="0">
                <a:latin typeface="Wingdings"/>
                <a:cs typeface="Wingdings"/>
              </a:rPr>
              <a:t>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Century Schoolbook"/>
                <a:cs typeface="Century Schoolbook"/>
              </a:rPr>
              <a:t>Projection sur nom et titre appliquée à</a:t>
            </a:r>
            <a:r>
              <a:rPr sz="1600" spc="114" dirty="0">
                <a:latin typeface="Century Schoolbook"/>
                <a:cs typeface="Century Schoolbook"/>
              </a:rPr>
              <a:t> </a:t>
            </a:r>
            <a:r>
              <a:rPr sz="1600" spc="-5" dirty="0">
                <a:latin typeface="Century Schoolbook"/>
                <a:cs typeface="Century Schoolbook"/>
              </a:rPr>
              <a:t>T1</a:t>
            </a:r>
            <a:endParaRPr sz="1600">
              <a:latin typeface="Century Schoolbook"/>
              <a:cs typeface="Century Schoolbook"/>
            </a:endParaRPr>
          </a:p>
          <a:p>
            <a:pPr marL="652780" lvl="1" indent="-275590">
              <a:lnSpc>
                <a:spcPct val="100000"/>
              </a:lnSpc>
              <a:spcBef>
                <a:spcPts val="204"/>
              </a:spcBef>
              <a:buClr>
                <a:srgbClr val="FD8537"/>
              </a:buClr>
              <a:buSzPct val="78125"/>
              <a:buFont typeface="Wingdings 2"/>
              <a:buChar char=""/>
              <a:tabLst>
                <a:tab pos="652780" algn="l"/>
                <a:tab pos="653415" algn="l"/>
              </a:tabLst>
            </a:pPr>
            <a:r>
              <a:rPr sz="1600" spc="-5" dirty="0">
                <a:latin typeface="Century Schoolbook"/>
                <a:cs typeface="Century Schoolbook"/>
              </a:rPr>
              <a:t>Transfert de T2 du site 2 vers le site</a:t>
            </a:r>
            <a:r>
              <a:rPr sz="1600" spc="75" dirty="0">
                <a:latin typeface="Century Schoolbook"/>
                <a:cs typeface="Century Schoolbook"/>
              </a:rPr>
              <a:t> </a:t>
            </a:r>
            <a:r>
              <a:rPr sz="1600" spc="-5" dirty="0">
                <a:latin typeface="Century Schoolbook"/>
                <a:cs typeface="Century Schoolbook"/>
              </a:rPr>
              <a:t>1</a:t>
            </a:r>
            <a:endParaRPr sz="1600">
              <a:latin typeface="Century Schoolbook"/>
              <a:cs typeface="Century Schoolbook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28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à coins arrondis 25"/>
          <p:cNvSpPr/>
          <p:nvPr/>
        </p:nvSpPr>
        <p:spPr>
          <a:xfrm>
            <a:off x="4343400" y="990600"/>
            <a:ext cx="4800600" cy="8382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255712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J</a:t>
            </a:r>
            <a:r>
              <a:rPr spc="-5" dirty="0"/>
              <a:t>OINTURE ENTRE </a:t>
            </a:r>
            <a:r>
              <a:rPr dirty="0"/>
              <a:t>DEUX</a:t>
            </a:r>
            <a:r>
              <a:rPr spc="475" dirty="0"/>
              <a:t> </a:t>
            </a:r>
            <a:r>
              <a:rPr spc="-210" dirty="0"/>
              <a:t>SITES</a:t>
            </a:r>
            <a:endParaRPr sz="300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15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dirty="0"/>
              <a:pPr marL="25400">
                <a:lnSpc>
                  <a:spcPct val="100000"/>
                </a:lnSpc>
                <a:spcBef>
                  <a:spcPts val="85"/>
                </a:spcBef>
              </a:pPr>
              <a:t>29</a:t>
            </a:fld>
            <a:endParaRPr dirty="0"/>
          </a:p>
        </p:txBody>
      </p:sp>
      <p:grpSp>
        <p:nvGrpSpPr>
          <p:cNvPr id="25" name="Groupe 24"/>
          <p:cNvGrpSpPr/>
          <p:nvPr/>
        </p:nvGrpSpPr>
        <p:grpSpPr>
          <a:xfrm>
            <a:off x="4454524" y="1066800"/>
            <a:ext cx="4918076" cy="728437"/>
            <a:chOff x="3935728" y="582295"/>
            <a:chExt cx="4918076" cy="728437"/>
          </a:xfrm>
        </p:grpSpPr>
        <p:sp>
          <p:nvSpPr>
            <p:cNvPr id="19" name="object 19"/>
            <p:cNvSpPr txBox="1"/>
            <p:nvPr/>
          </p:nvSpPr>
          <p:spPr>
            <a:xfrm>
              <a:off x="3935729" y="582295"/>
              <a:ext cx="3147695" cy="18210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100" dirty="0">
                  <a:latin typeface="Century Schoolbook"/>
                  <a:cs typeface="Century Schoolbook"/>
                </a:rPr>
                <a:t>1) </a:t>
              </a:r>
              <a:r>
                <a:rPr sz="1100" spc="-5" dirty="0">
                  <a:latin typeface="Century Schoolbook"/>
                  <a:cs typeface="Century Schoolbook"/>
                </a:rPr>
                <a:t>Transfert de Statut du </a:t>
              </a:r>
              <a:r>
                <a:rPr sz="1100" dirty="0">
                  <a:latin typeface="Century Schoolbook"/>
                  <a:cs typeface="Century Schoolbook"/>
                </a:rPr>
                <a:t>site 3 </a:t>
              </a:r>
              <a:r>
                <a:rPr sz="1100" spc="-5" dirty="0">
                  <a:latin typeface="Century Schoolbook"/>
                  <a:cs typeface="Century Schoolbook"/>
                </a:rPr>
                <a:t>vers </a:t>
              </a:r>
              <a:r>
                <a:rPr sz="1100" dirty="0">
                  <a:latin typeface="Century Schoolbook"/>
                  <a:cs typeface="Century Schoolbook"/>
                </a:rPr>
                <a:t>le site</a:t>
              </a:r>
              <a:r>
                <a:rPr sz="1100" spc="-50" dirty="0">
                  <a:latin typeface="Century Schoolbook"/>
                  <a:cs typeface="Century Schoolbook"/>
                </a:rPr>
                <a:t> </a:t>
              </a:r>
              <a:r>
                <a:rPr sz="1100" dirty="0">
                  <a:latin typeface="Century Schoolbook"/>
                  <a:cs typeface="Century Schoolbook"/>
                </a:rPr>
                <a:t>2</a:t>
              </a: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3935729" y="763651"/>
              <a:ext cx="4918075" cy="18210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100" dirty="0">
                  <a:latin typeface="Century Schoolbook"/>
                  <a:cs typeface="Century Schoolbook"/>
                </a:rPr>
                <a:t>2) T1 </a:t>
              </a:r>
              <a:r>
                <a:rPr sz="1100" dirty="0">
                  <a:latin typeface="Wingdings"/>
                  <a:cs typeface="Wingdings"/>
                </a:rPr>
                <a:t></a:t>
              </a:r>
              <a:r>
                <a:rPr sz="1100" dirty="0">
                  <a:latin typeface="Times New Roman"/>
                  <a:cs typeface="Times New Roman"/>
                </a:rPr>
                <a:t> </a:t>
              </a:r>
              <a:r>
                <a:rPr sz="1100" spc="-5" dirty="0">
                  <a:latin typeface="Century Schoolbook"/>
                  <a:cs typeface="Century Schoolbook"/>
                </a:rPr>
                <a:t>Exécution de </a:t>
              </a:r>
              <a:r>
                <a:rPr sz="1100" dirty="0">
                  <a:latin typeface="Century Schoolbook"/>
                  <a:cs typeface="Century Schoolbook"/>
                </a:rPr>
                <a:t>la </a:t>
              </a:r>
              <a:r>
                <a:rPr sz="1100" spc="-5" dirty="0">
                  <a:latin typeface="Century Schoolbook"/>
                  <a:cs typeface="Century Schoolbook"/>
                </a:rPr>
                <a:t>jointure </a:t>
              </a:r>
              <a:r>
                <a:rPr sz="1100" dirty="0">
                  <a:latin typeface="Century Schoolbook"/>
                  <a:cs typeface="Century Schoolbook"/>
                </a:rPr>
                <a:t>entre </a:t>
              </a:r>
              <a:r>
                <a:rPr sz="1100" spc="-5" dirty="0">
                  <a:latin typeface="Century Schoolbook"/>
                  <a:cs typeface="Century Schoolbook"/>
                </a:rPr>
                <a:t>Employé </a:t>
              </a:r>
              <a:r>
                <a:rPr sz="1100" dirty="0">
                  <a:latin typeface="Century Schoolbook"/>
                  <a:cs typeface="Century Schoolbook"/>
                </a:rPr>
                <a:t>et </a:t>
              </a:r>
              <a:r>
                <a:rPr sz="1100" spc="-5" dirty="0">
                  <a:latin typeface="Century Schoolbook"/>
                  <a:cs typeface="Century Schoolbook"/>
                </a:rPr>
                <a:t>Statut sur </a:t>
              </a:r>
              <a:r>
                <a:rPr sz="1100" dirty="0">
                  <a:latin typeface="Century Schoolbook"/>
                  <a:cs typeface="Century Schoolbook"/>
                </a:rPr>
                <a:t>le </a:t>
              </a:r>
              <a:r>
                <a:rPr sz="1100" spc="-5" dirty="0">
                  <a:latin typeface="Century Schoolbook"/>
                  <a:cs typeface="Century Schoolbook"/>
                </a:rPr>
                <a:t>site</a:t>
              </a:r>
              <a:r>
                <a:rPr sz="1100" spc="30" dirty="0">
                  <a:latin typeface="Century Schoolbook"/>
                  <a:cs typeface="Century Schoolbook"/>
                </a:rPr>
                <a:t> </a:t>
              </a:r>
              <a:r>
                <a:rPr sz="1100" dirty="0">
                  <a:latin typeface="Century Schoolbook"/>
                  <a:cs typeface="Century Schoolbook"/>
                </a:rPr>
                <a:t>2</a:t>
              </a: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3935728" y="946530"/>
              <a:ext cx="4598672" cy="36420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100" dirty="0">
                  <a:latin typeface="Century Schoolbook"/>
                  <a:cs typeface="Century Schoolbook"/>
                </a:rPr>
                <a:t>3) T2 </a:t>
              </a:r>
              <a:r>
                <a:rPr sz="1100" dirty="0">
                  <a:latin typeface="Wingdings"/>
                  <a:cs typeface="Wingdings"/>
                </a:rPr>
                <a:t></a:t>
              </a:r>
              <a:r>
                <a:rPr sz="1100" dirty="0">
                  <a:latin typeface="Times New Roman"/>
                  <a:cs typeface="Times New Roman"/>
                </a:rPr>
                <a:t> </a:t>
              </a:r>
              <a:r>
                <a:rPr sz="1100" spc="-5" dirty="0">
                  <a:latin typeface="Century Schoolbook"/>
                  <a:cs typeface="Century Schoolbook"/>
                </a:rPr>
                <a:t>Projection sur </a:t>
              </a:r>
              <a:r>
                <a:rPr sz="1100" dirty="0">
                  <a:latin typeface="Century Schoolbook"/>
                  <a:cs typeface="Century Schoolbook"/>
                </a:rPr>
                <a:t>nom et </a:t>
              </a:r>
              <a:r>
                <a:rPr sz="1100" spc="-5" dirty="0">
                  <a:latin typeface="Century Schoolbook"/>
                  <a:cs typeface="Century Schoolbook"/>
                </a:rPr>
                <a:t>titre </a:t>
              </a:r>
              <a:r>
                <a:rPr sz="1100" spc="-5" dirty="0" err="1">
                  <a:latin typeface="Century Schoolbook"/>
                  <a:cs typeface="Century Schoolbook"/>
                </a:rPr>
                <a:t>appliquée</a:t>
              </a:r>
              <a:r>
                <a:rPr sz="1100" spc="-5" dirty="0">
                  <a:latin typeface="Century Schoolbook"/>
                  <a:cs typeface="Century Schoolbook"/>
                </a:rPr>
                <a:t> </a:t>
              </a:r>
              <a:r>
                <a:rPr sz="1100" dirty="0" smtClean="0">
                  <a:latin typeface="Century Schoolbook"/>
                  <a:cs typeface="Century Schoolbook"/>
                </a:rPr>
                <a:t>à</a:t>
              </a:r>
              <a:r>
                <a:rPr lang="fr-FR" sz="1100" dirty="0" smtClean="0">
                  <a:latin typeface="Century Schoolbook"/>
                  <a:cs typeface="Century Schoolbook"/>
                </a:rPr>
                <a:t> </a:t>
              </a:r>
              <a:r>
                <a:rPr sz="1100" dirty="0" smtClean="0">
                  <a:latin typeface="Century Schoolbook"/>
                  <a:cs typeface="Century Schoolbook"/>
                </a:rPr>
                <a:t>T1</a:t>
              </a:r>
              <a:endParaRPr lang="fr-FR" sz="1100" dirty="0" smtClean="0">
                <a:latin typeface="Century Schoolbook"/>
                <a:cs typeface="Century Schoolbook"/>
              </a:endParaRPr>
            </a:p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fr-FR" sz="1100" dirty="0" smtClean="0">
                  <a:cs typeface="Century Schoolbook"/>
                </a:rPr>
                <a:t>4) </a:t>
              </a:r>
              <a:r>
                <a:rPr lang="fr-FR" sz="1100" spc="-5" dirty="0" smtClean="0">
                  <a:cs typeface="Century Schoolbook"/>
                </a:rPr>
                <a:t>Transfert de </a:t>
              </a:r>
              <a:r>
                <a:rPr lang="fr-FR" sz="1100" dirty="0" smtClean="0">
                  <a:cs typeface="Century Schoolbook"/>
                </a:rPr>
                <a:t>T2 </a:t>
              </a:r>
              <a:r>
                <a:rPr lang="fr-FR" sz="1100" spc="-5" dirty="0" smtClean="0">
                  <a:cs typeface="Century Schoolbook"/>
                </a:rPr>
                <a:t>du </a:t>
              </a:r>
              <a:r>
                <a:rPr lang="fr-FR" sz="1100" dirty="0" smtClean="0">
                  <a:cs typeface="Century Schoolbook"/>
                </a:rPr>
                <a:t>site 2 </a:t>
              </a:r>
              <a:r>
                <a:rPr lang="fr-FR" sz="1100" spc="-5" dirty="0" smtClean="0">
                  <a:cs typeface="Century Schoolbook"/>
                </a:rPr>
                <a:t>vers </a:t>
              </a:r>
              <a:r>
                <a:rPr lang="fr-FR" sz="1100" dirty="0" smtClean="0">
                  <a:cs typeface="Century Schoolbook"/>
                </a:rPr>
                <a:t>le site</a:t>
              </a:r>
              <a:r>
                <a:rPr lang="fr-FR" sz="1100" spc="-20" dirty="0" smtClean="0">
                  <a:cs typeface="Century Schoolbook"/>
                </a:rPr>
                <a:t> </a:t>
              </a:r>
              <a:r>
                <a:rPr lang="fr-FR" sz="1100" dirty="0" smtClean="0">
                  <a:cs typeface="Century Schoolbook"/>
                </a:rPr>
                <a:t>1</a:t>
              </a:r>
              <a:endParaRPr sz="1100" dirty="0">
                <a:latin typeface="Century Schoolbook"/>
                <a:cs typeface="Century Schoolbook"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33400" y="1144668"/>
            <a:ext cx="8381999" cy="5177699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425190">
              <a:lnSpc>
                <a:spcPct val="100000"/>
              </a:lnSpc>
              <a:spcBef>
                <a:spcPts val="295"/>
              </a:spcBef>
            </a:pPr>
            <a:endParaRPr sz="1200" dirty="0">
              <a:latin typeface="Century Schoolbook"/>
              <a:cs typeface="Century Schoolbook"/>
            </a:endParaRPr>
          </a:p>
          <a:p>
            <a:pPr marL="299720" indent="-274320">
              <a:lnSpc>
                <a:spcPct val="100000"/>
              </a:lnSpc>
              <a:spcBef>
                <a:spcPts val="33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99720" algn="l"/>
              </a:tabLst>
            </a:pPr>
            <a:r>
              <a:rPr sz="2000" dirty="0">
                <a:latin typeface="Century Schoolbook"/>
                <a:cs typeface="Century Schoolbook"/>
              </a:rPr>
              <a:t>Coût </a:t>
            </a:r>
            <a:r>
              <a:rPr sz="2000" spc="-5" dirty="0">
                <a:latin typeface="Century Schoolbook"/>
                <a:cs typeface="Century Schoolbook"/>
              </a:rPr>
              <a:t>du plan </a:t>
            </a:r>
            <a:r>
              <a:rPr sz="2000" dirty="0">
                <a:latin typeface="Century Schoolbook"/>
                <a:cs typeface="Century Schoolbook"/>
              </a:rPr>
              <a:t>d’exécution</a:t>
            </a:r>
            <a:r>
              <a:rPr sz="2000" spc="-100" dirty="0">
                <a:latin typeface="Century Schoolbook"/>
                <a:cs typeface="Century Schoolbook"/>
              </a:rPr>
              <a:t> </a:t>
            </a:r>
            <a:r>
              <a:rPr sz="2000" dirty="0">
                <a:latin typeface="Century Schoolbook"/>
                <a:cs typeface="Century Schoolbook"/>
              </a:rPr>
              <a:t>P</a:t>
            </a:r>
          </a:p>
          <a:p>
            <a:pPr marL="665480" lvl="1" indent="-275590">
              <a:lnSpc>
                <a:spcPct val="100000"/>
              </a:lnSpc>
              <a:spcBef>
                <a:spcPts val="204"/>
              </a:spcBef>
              <a:buClr>
                <a:srgbClr val="FD8537"/>
              </a:buClr>
              <a:buSzPct val="79411"/>
              <a:buFont typeface="Wingdings 2"/>
              <a:buChar char=""/>
              <a:tabLst>
                <a:tab pos="665480" algn="l"/>
                <a:tab pos="666115" algn="l"/>
              </a:tabLst>
            </a:pPr>
            <a:r>
              <a:rPr sz="1700" dirty="0">
                <a:latin typeface="Century Schoolbook"/>
                <a:cs typeface="Century Schoolbook"/>
              </a:rPr>
              <a:t>En supposant</a:t>
            </a:r>
            <a:r>
              <a:rPr sz="1700" spc="-55" dirty="0">
                <a:latin typeface="Century Schoolbook"/>
                <a:cs typeface="Century Schoolbook"/>
              </a:rPr>
              <a:t> </a:t>
            </a:r>
            <a:r>
              <a:rPr sz="1700" spc="-5" dirty="0">
                <a:latin typeface="Century Schoolbook"/>
                <a:cs typeface="Century Schoolbook"/>
              </a:rPr>
              <a:t>que</a:t>
            </a:r>
            <a:endParaRPr sz="1700" dirty="0">
              <a:latin typeface="Century Schoolbook"/>
              <a:cs typeface="Century Schoolbook"/>
            </a:endParaRPr>
          </a:p>
          <a:p>
            <a:pPr marL="939800" lvl="2" indent="-183515">
              <a:lnSpc>
                <a:spcPct val="100000"/>
              </a:lnSpc>
              <a:spcBef>
                <a:spcPts val="180"/>
              </a:spcBef>
              <a:buClr>
                <a:srgbClr val="DF752E"/>
              </a:buClr>
              <a:buSzPct val="60714"/>
              <a:buFont typeface="Wingdings"/>
              <a:buChar char=""/>
              <a:tabLst>
                <a:tab pos="940435" algn="l"/>
              </a:tabLst>
            </a:pPr>
            <a:r>
              <a:rPr sz="1400" spc="-5" dirty="0">
                <a:latin typeface="Century Schoolbook"/>
                <a:cs typeface="Century Schoolbook"/>
              </a:rPr>
              <a:t>Chaque </a:t>
            </a:r>
            <a:r>
              <a:rPr sz="1400" dirty="0">
                <a:latin typeface="Century Schoolbook"/>
                <a:cs typeface="Century Schoolbook"/>
              </a:rPr>
              <a:t>attribut est de </a:t>
            </a:r>
            <a:r>
              <a:rPr sz="1400" spc="-5" dirty="0">
                <a:latin typeface="Century Schoolbook"/>
                <a:cs typeface="Century Schoolbook"/>
              </a:rPr>
              <a:t>taille 0,25</a:t>
            </a:r>
            <a:r>
              <a:rPr sz="1400" spc="-125" dirty="0">
                <a:latin typeface="Century Schoolbook"/>
                <a:cs typeface="Century Schoolbook"/>
              </a:rPr>
              <a:t> </a:t>
            </a:r>
            <a:r>
              <a:rPr sz="1400" dirty="0">
                <a:latin typeface="Century Schoolbook"/>
                <a:cs typeface="Century Schoolbook"/>
              </a:rPr>
              <a:t>Ko</a:t>
            </a:r>
          </a:p>
          <a:p>
            <a:pPr marL="939800" lvl="2" indent="-183515">
              <a:lnSpc>
                <a:spcPct val="100000"/>
              </a:lnSpc>
              <a:spcBef>
                <a:spcPts val="170"/>
              </a:spcBef>
              <a:buClr>
                <a:srgbClr val="DF752E"/>
              </a:buClr>
              <a:buSzPct val="60714"/>
              <a:buFont typeface="Wingdings"/>
              <a:buChar char=""/>
              <a:tabLst>
                <a:tab pos="940435" algn="l"/>
              </a:tabLst>
            </a:pPr>
            <a:r>
              <a:rPr sz="1400" spc="-5" dirty="0">
                <a:latin typeface="Century Schoolbook"/>
                <a:cs typeface="Century Schoolbook"/>
              </a:rPr>
              <a:t>Qu’il n’y </a:t>
            </a:r>
            <a:r>
              <a:rPr sz="1400" dirty="0">
                <a:latin typeface="Century Schoolbook"/>
                <a:cs typeface="Century Schoolbook"/>
              </a:rPr>
              <a:t>a </a:t>
            </a:r>
            <a:r>
              <a:rPr sz="1400" spc="-5" dirty="0">
                <a:latin typeface="Century Schoolbook"/>
                <a:cs typeface="Century Schoolbook"/>
              </a:rPr>
              <a:t>pas d’homonymes parmi </a:t>
            </a:r>
            <a:r>
              <a:rPr sz="1400" dirty="0">
                <a:latin typeface="Century Schoolbook"/>
                <a:cs typeface="Century Schoolbook"/>
              </a:rPr>
              <a:t>les</a:t>
            </a:r>
            <a:r>
              <a:rPr sz="1400" spc="-100" dirty="0">
                <a:latin typeface="Century Schoolbook"/>
                <a:cs typeface="Century Schoolbook"/>
              </a:rPr>
              <a:t> </a:t>
            </a:r>
            <a:r>
              <a:rPr sz="1400" dirty="0">
                <a:latin typeface="Century Schoolbook"/>
                <a:cs typeface="Century Schoolbook"/>
              </a:rPr>
              <a:t>employés</a:t>
            </a:r>
          </a:p>
          <a:p>
            <a:pPr marL="939800" lvl="2" indent="-183515">
              <a:lnSpc>
                <a:spcPct val="100000"/>
              </a:lnSpc>
              <a:spcBef>
                <a:spcPts val="165"/>
              </a:spcBef>
              <a:buClr>
                <a:srgbClr val="DF752E"/>
              </a:buClr>
              <a:buSzPct val="60714"/>
              <a:buFont typeface="Wingdings"/>
              <a:buChar char=""/>
              <a:tabLst>
                <a:tab pos="940435" algn="l"/>
              </a:tabLst>
            </a:pPr>
            <a:r>
              <a:rPr sz="1400" dirty="0">
                <a:latin typeface="Century Schoolbook"/>
                <a:cs typeface="Century Schoolbook"/>
              </a:rPr>
              <a:t>le coût </a:t>
            </a:r>
            <a:r>
              <a:rPr sz="1400" spc="-5" dirty="0">
                <a:latin typeface="Century Schoolbook"/>
                <a:cs typeface="Century Schoolbook"/>
              </a:rPr>
              <a:t>de transfert </a:t>
            </a:r>
            <a:r>
              <a:rPr sz="1400" dirty="0" err="1">
                <a:latin typeface="Century Schoolbook"/>
                <a:cs typeface="Century Schoolbook"/>
              </a:rPr>
              <a:t>est</a:t>
            </a:r>
            <a:r>
              <a:rPr sz="1400" dirty="0">
                <a:latin typeface="Century Schoolbook"/>
                <a:cs typeface="Century Schoolbook"/>
              </a:rPr>
              <a:t> </a:t>
            </a:r>
            <a:r>
              <a:rPr sz="1400" dirty="0" err="1" smtClean="0">
                <a:latin typeface="Century Schoolbook"/>
                <a:cs typeface="Century Schoolbook"/>
              </a:rPr>
              <a:t>défini</a:t>
            </a:r>
            <a:r>
              <a:rPr sz="1400" dirty="0" smtClean="0">
                <a:latin typeface="Century Schoolbook"/>
                <a:cs typeface="Century Schoolbook"/>
              </a:rPr>
              <a:t> </a:t>
            </a:r>
            <a:r>
              <a:rPr sz="1400" dirty="0">
                <a:latin typeface="Century Schoolbook"/>
                <a:cs typeface="Century Schoolbook"/>
              </a:rPr>
              <a:t>comme </a:t>
            </a:r>
            <a:r>
              <a:rPr sz="1400" spc="-5" dirty="0">
                <a:latin typeface="Century Schoolbook"/>
                <a:cs typeface="Century Schoolbook"/>
              </a:rPr>
              <a:t>suit</a:t>
            </a:r>
            <a:r>
              <a:rPr sz="1400" spc="-105" dirty="0">
                <a:latin typeface="Century Schoolbook"/>
                <a:cs typeface="Century Schoolbook"/>
              </a:rPr>
              <a:t> </a:t>
            </a:r>
            <a:r>
              <a:rPr sz="1400" dirty="0">
                <a:latin typeface="Century Schoolbook"/>
                <a:cs typeface="Century Schoolbook"/>
              </a:rPr>
              <a:t>:</a:t>
            </a:r>
          </a:p>
          <a:p>
            <a:pPr marL="1305560" marR="3938904">
              <a:lnSpc>
                <a:spcPts val="1580"/>
              </a:lnSpc>
              <a:spcBef>
                <a:spcPts val="75"/>
              </a:spcBef>
            </a:pPr>
            <a:r>
              <a:rPr sz="1200" spc="-5" dirty="0">
                <a:latin typeface="Century Schoolbook"/>
                <a:cs typeface="Century Schoolbook"/>
              </a:rPr>
              <a:t>Tr( X, </a:t>
            </a:r>
            <a:r>
              <a:rPr sz="1200" dirty="0">
                <a:latin typeface="Century Schoolbook"/>
                <a:cs typeface="Century Schoolbook"/>
              </a:rPr>
              <a:t>site1, site2) = </a:t>
            </a:r>
            <a:r>
              <a:rPr sz="1200" spc="-5" dirty="0">
                <a:latin typeface="Century Schoolbook"/>
                <a:cs typeface="Century Schoolbook"/>
              </a:rPr>
              <a:t>card(X) </a:t>
            </a:r>
            <a:r>
              <a:rPr sz="1200" dirty="0">
                <a:latin typeface="Century Schoolbook"/>
                <a:cs typeface="Century Schoolbook"/>
              </a:rPr>
              <a:t>* </a:t>
            </a:r>
            <a:r>
              <a:rPr sz="1200" spc="-5" dirty="0" err="1">
                <a:latin typeface="Century Schoolbook"/>
                <a:cs typeface="Century Schoolbook"/>
              </a:rPr>
              <a:t>taille</a:t>
            </a:r>
            <a:r>
              <a:rPr sz="1200" spc="-5" dirty="0">
                <a:latin typeface="Century Schoolbook"/>
                <a:cs typeface="Century Schoolbook"/>
              </a:rPr>
              <a:t>(X</a:t>
            </a:r>
            <a:r>
              <a:rPr sz="1200" spc="-5" dirty="0" smtClean="0">
                <a:latin typeface="Century Schoolbook"/>
                <a:cs typeface="Century Schoolbook"/>
              </a:rPr>
              <a:t>)</a:t>
            </a:r>
            <a:endParaRPr lang="fr-FR" sz="1200" spc="-5" dirty="0" smtClean="0">
              <a:latin typeface="Century Schoolbook"/>
              <a:cs typeface="Century Schoolbook"/>
            </a:endParaRPr>
          </a:p>
          <a:p>
            <a:pPr marL="1305560" marR="3938904">
              <a:lnSpc>
                <a:spcPts val="1580"/>
              </a:lnSpc>
              <a:spcBef>
                <a:spcPts val="75"/>
              </a:spcBef>
            </a:pPr>
            <a:r>
              <a:rPr sz="1200" spc="-5" dirty="0" err="1" smtClean="0">
                <a:latin typeface="Century Schoolbook"/>
                <a:cs typeface="Century Schoolbook"/>
              </a:rPr>
              <a:t>Tr</a:t>
            </a:r>
            <a:r>
              <a:rPr sz="1200" spc="-5" dirty="0">
                <a:latin typeface="Century Schoolbook"/>
                <a:cs typeface="Century Schoolbook"/>
              </a:rPr>
              <a:t>( X, </a:t>
            </a:r>
            <a:r>
              <a:rPr sz="1200" dirty="0">
                <a:latin typeface="Century Schoolbook"/>
                <a:cs typeface="Century Schoolbook"/>
              </a:rPr>
              <a:t>site2, site3) = 2 * </a:t>
            </a:r>
            <a:r>
              <a:rPr sz="1200" spc="-5" dirty="0">
                <a:latin typeface="Century Schoolbook"/>
                <a:cs typeface="Century Schoolbook"/>
              </a:rPr>
              <a:t>card(X) </a:t>
            </a:r>
            <a:r>
              <a:rPr sz="1200" dirty="0">
                <a:latin typeface="Century Schoolbook"/>
                <a:cs typeface="Century Schoolbook"/>
              </a:rPr>
              <a:t>* </a:t>
            </a:r>
            <a:r>
              <a:rPr sz="1200" spc="-5" dirty="0">
                <a:latin typeface="Century Schoolbook"/>
                <a:cs typeface="Century Schoolbook"/>
              </a:rPr>
              <a:t>taille(X)  Tr( X, </a:t>
            </a:r>
            <a:r>
              <a:rPr sz="1200" dirty="0">
                <a:latin typeface="Century Schoolbook"/>
                <a:cs typeface="Century Schoolbook"/>
              </a:rPr>
              <a:t>site1, site3) = 3 * </a:t>
            </a:r>
            <a:r>
              <a:rPr sz="1200" spc="-5" dirty="0">
                <a:latin typeface="Century Schoolbook"/>
                <a:cs typeface="Century Schoolbook"/>
              </a:rPr>
              <a:t>card(X) </a:t>
            </a:r>
            <a:r>
              <a:rPr sz="1200" dirty="0">
                <a:latin typeface="Century Schoolbook"/>
                <a:cs typeface="Century Schoolbook"/>
              </a:rPr>
              <a:t>* </a:t>
            </a:r>
            <a:r>
              <a:rPr sz="1200" spc="-5" dirty="0">
                <a:latin typeface="Century Schoolbook"/>
                <a:cs typeface="Century Schoolbook"/>
              </a:rPr>
              <a:t>taille(X)  Tr( X, </a:t>
            </a:r>
            <a:r>
              <a:rPr sz="1200" dirty="0">
                <a:latin typeface="Century Schoolbook"/>
                <a:cs typeface="Century Schoolbook"/>
              </a:rPr>
              <a:t>S, W) = </a:t>
            </a:r>
            <a:r>
              <a:rPr sz="1200" spc="-5" dirty="0">
                <a:latin typeface="Century Schoolbook"/>
                <a:cs typeface="Century Schoolbook"/>
              </a:rPr>
              <a:t>Tr( X, </a:t>
            </a:r>
            <a:r>
              <a:rPr sz="1200" dirty="0">
                <a:latin typeface="Century Schoolbook"/>
                <a:cs typeface="Century Schoolbook"/>
              </a:rPr>
              <a:t>W,</a:t>
            </a:r>
            <a:r>
              <a:rPr sz="1200" spc="40" dirty="0">
                <a:latin typeface="Century Schoolbook"/>
                <a:cs typeface="Century Schoolbook"/>
              </a:rPr>
              <a:t> </a:t>
            </a:r>
            <a:r>
              <a:rPr sz="1200" dirty="0">
                <a:latin typeface="Century Schoolbook"/>
                <a:cs typeface="Century Schoolbook"/>
              </a:rPr>
              <a:t>S)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65480" lvl="1" indent="-275590">
              <a:lnSpc>
                <a:spcPct val="100000"/>
              </a:lnSpc>
              <a:buClr>
                <a:srgbClr val="FD8537"/>
              </a:buClr>
              <a:buSzPct val="79411"/>
              <a:buFont typeface="Wingdings 2"/>
              <a:buChar char=""/>
              <a:tabLst>
                <a:tab pos="665480" algn="l"/>
                <a:tab pos="666115" algn="l"/>
              </a:tabLst>
            </a:pPr>
            <a:r>
              <a:rPr sz="1700" dirty="0">
                <a:latin typeface="Century Schoolbook"/>
                <a:cs typeface="Century Schoolbook"/>
              </a:rPr>
              <a:t>Coût du plan </a:t>
            </a:r>
            <a:r>
              <a:rPr sz="1700" spc="-5" dirty="0">
                <a:latin typeface="Century Schoolbook"/>
                <a:cs typeface="Century Schoolbook"/>
              </a:rPr>
              <a:t>d’exécution</a:t>
            </a:r>
            <a:r>
              <a:rPr sz="1700" spc="-70" dirty="0">
                <a:latin typeface="Century Schoolbook"/>
                <a:cs typeface="Century Schoolbook"/>
              </a:rPr>
              <a:t> </a:t>
            </a:r>
            <a:r>
              <a:rPr sz="1700" dirty="0">
                <a:latin typeface="Century Schoolbook"/>
                <a:cs typeface="Century Schoolbook"/>
              </a:rPr>
              <a:t>P</a:t>
            </a:r>
          </a:p>
          <a:p>
            <a:pPr marL="390525">
              <a:lnSpc>
                <a:spcPct val="100000"/>
              </a:lnSpc>
              <a:spcBef>
                <a:spcPts val="204"/>
              </a:spcBef>
              <a:tabLst>
                <a:tab pos="734060" algn="l"/>
              </a:tabLst>
            </a:pPr>
            <a:r>
              <a:rPr sz="1350" dirty="0">
                <a:solidFill>
                  <a:srgbClr val="FD8537"/>
                </a:solidFill>
                <a:latin typeface="Century Schoolbook"/>
                <a:cs typeface="Century Schoolbook"/>
              </a:rPr>
              <a:t>1)	</a:t>
            </a:r>
            <a:r>
              <a:rPr sz="1700" spc="-5" dirty="0">
                <a:latin typeface="Century Schoolbook"/>
                <a:cs typeface="Century Schoolbook"/>
              </a:rPr>
              <a:t>Tr(Statut, </a:t>
            </a:r>
            <a:r>
              <a:rPr sz="1700" dirty="0">
                <a:latin typeface="Century Schoolbook"/>
                <a:cs typeface="Century Schoolbook"/>
              </a:rPr>
              <a:t>Site3, Site2) = 2 * </a:t>
            </a:r>
            <a:r>
              <a:rPr sz="1700" spc="-5" dirty="0">
                <a:latin typeface="Century Schoolbook"/>
                <a:cs typeface="Century Schoolbook"/>
              </a:rPr>
              <a:t>10 </a:t>
            </a:r>
            <a:r>
              <a:rPr sz="1700" dirty="0">
                <a:latin typeface="Century Schoolbook"/>
                <a:cs typeface="Century Schoolbook"/>
              </a:rPr>
              <a:t>* </a:t>
            </a:r>
            <a:r>
              <a:rPr sz="1700" spc="-5" dirty="0">
                <a:latin typeface="Century Schoolbook"/>
                <a:cs typeface="Century Schoolbook"/>
              </a:rPr>
              <a:t>0,5 </a:t>
            </a:r>
            <a:r>
              <a:rPr sz="1700" dirty="0">
                <a:latin typeface="Century Schoolbook"/>
                <a:cs typeface="Century Schoolbook"/>
              </a:rPr>
              <a:t>=</a:t>
            </a:r>
            <a:r>
              <a:rPr sz="1700" spc="35" dirty="0">
                <a:latin typeface="Century Schoolbook"/>
                <a:cs typeface="Century Schoolbook"/>
              </a:rPr>
              <a:t> </a:t>
            </a:r>
            <a:r>
              <a:rPr sz="1700" b="1" spc="5" dirty="0">
                <a:latin typeface="Century Schoolbook"/>
                <a:cs typeface="Century Schoolbook"/>
              </a:rPr>
              <a:t>10</a:t>
            </a:r>
            <a:endParaRPr sz="1700" dirty="0">
              <a:latin typeface="Century Schoolbook"/>
              <a:cs typeface="Century Schoolbook"/>
            </a:endParaRPr>
          </a:p>
          <a:p>
            <a:pPr marL="734060" indent="-344170">
              <a:lnSpc>
                <a:spcPct val="100000"/>
              </a:lnSpc>
              <a:spcBef>
                <a:spcPts val="200"/>
              </a:spcBef>
              <a:buClr>
                <a:srgbClr val="FD8537"/>
              </a:buClr>
              <a:buSzPct val="79411"/>
              <a:buAutoNum type="arabicParenR" startAt="2"/>
              <a:tabLst>
                <a:tab pos="734060" algn="l"/>
                <a:tab pos="734695" algn="l"/>
              </a:tabLst>
            </a:pPr>
            <a:r>
              <a:rPr sz="1700" spc="-5" dirty="0">
                <a:latin typeface="Century Schoolbook"/>
                <a:cs typeface="Century Schoolbook"/>
              </a:rPr>
              <a:t>Card(T1)=Card(Employé)=100 000 </a:t>
            </a:r>
            <a:r>
              <a:rPr sz="1700" dirty="0">
                <a:latin typeface="Century Schoolbook"/>
                <a:cs typeface="Century Schoolbook"/>
              </a:rPr>
              <a:t>car </a:t>
            </a:r>
            <a:r>
              <a:rPr sz="1700" spc="-5" dirty="0">
                <a:latin typeface="Century Schoolbook"/>
                <a:cs typeface="Century Schoolbook"/>
              </a:rPr>
              <a:t>tnum </a:t>
            </a:r>
            <a:r>
              <a:rPr sz="1700" dirty="0">
                <a:latin typeface="Century Schoolbook"/>
                <a:cs typeface="Century Schoolbook"/>
              </a:rPr>
              <a:t>clé étrangère </a:t>
            </a:r>
            <a:r>
              <a:rPr sz="1700" spc="-5" dirty="0">
                <a:latin typeface="Century Schoolbook"/>
                <a:cs typeface="Century Schoolbook"/>
              </a:rPr>
              <a:t>dans</a:t>
            </a:r>
            <a:r>
              <a:rPr sz="1700" spc="-15" dirty="0">
                <a:latin typeface="Century Schoolbook"/>
                <a:cs typeface="Century Schoolbook"/>
              </a:rPr>
              <a:t> </a:t>
            </a:r>
            <a:r>
              <a:rPr sz="1700" dirty="0">
                <a:latin typeface="Century Schoolbook"/>
                <a:cs typeface="Century Schoolbook"/>
              </a:rPr>
              <a:t>Employé</a:t>
            </a:r>
          </a:p>
          <a:p>
            <a:pPr marL="734060" indent="-344170">
              <a:lnSpc>
                <a:spcPts val="1939"/>
              </a:lnSpc>
              <a:spcBef>
                <a:spcPts val="204"/>
              </a:spcBef>
              <a:buClr>
                <a:srgbClr val="FD8537"/>
              </a:buClr>
              <a:buSzPct val="79411"/>
              <a:buAutoNum type="arabicParenR" startAt="2"/>
              <a:tabLst>
                <a:tab pos="734060" algn="l"/>
                <a:tab pos="734695" algn="l"/>
              </a:tabLst>
            </a:pPr>
            <a:r>
              <a:rPr sz="1700" dirty="0">
                <a:latin typeface="Century Schoolbook"/>
                <a:cs typeface="Century Schoolbook"/>
              </a:rPr>
              <a:t>Card(T2)= Card(T1)=100 </a:t>
            </a:r>
            <a:r>
              <a:rPr sz="1700" spc="-5" dirty="0">
                <a:latin typeface="Century Schoolbook"/>
                <a:cs typeface="Century Schoolbook"/>
              </a:rPr>
              <a:t>000 </a:t>
            </a:r>
            <a:r>
              <a:rPr sz="1700" dirty="0">
                <a:latin typeface="Century Schoolbook"/>
                <a:cs typeface="Century Schoolbook"/>
              </a:rPr>
              <a:t>car par </a:t>
            </a:r>
            <a:r>
              <a:rPr sz="1700" spc="-5" dirty="0">
                <a:latin typeface="Century Schoolbook"/>
                <a:cs typeface="Century Schoolbook"/>
              </a:rPr>
              <a:t>d’homonymes parmi </a:t>
            </a:r>
            <a:r>
              <a:rPr sz="1700" dirty="0">
                <a:latin typeface="Century Schoolbook"/>
                <a:cs typeface="Century Schoolbook"/>
              </a:rPr>
              <a:t>les</a:t>
            </a:r>
            <a:r>
              <a:rPr sz="1700" spc="-90" dirty="0">
                <a:latin typeface="Century Schoolbook"/>
                <a:cs typeface="Century Schoolbook"/>
              </a:rPr>
              <a:t> </a:t>
            </a:r>
            <a:r>
              <a:rPr sz="1700" dirty="0">
                <a:latin typeface="Century Schoolbook"/>
                <a:cs typeface="Century Schoolbook"/>
              </a:rPr>
              <a:t>employé</a:t>
            </a:r>
          </a:p>
          <a:p>
            <a:pPr marL="734060">
              <a:lnSpc>
                <a:spcPts val="1939"/>
              </a:lnSpc>
            </a:pPr>
            <a:r>
              <a:rPr sz="1700" dirty="0">
                <a:latin typeface="Century Schoolbook"/>
                <a:cs typeface="Century Schoolbook"/>
              </a:rPr>
              <a:t>Taille(T2) = </a:t>
            </a:r>
            <a:r>
              <a:rPr sz="1700" spc="-5" dirty="0">
                <a:latin typeface="Century Schoolbook"/>
                <a:cs typeface="Century Schoolbook"/>
              </a:rPr>
              <a:t>0,5 </a:t>
            </a:r>
            <a:r>
              <a:rPr sz="1700" dirty="0">
                <a:latin typeface="Century Schoolbook"/>
                <a:cs typeface="Century Schoolbook"/>
              </a:rPr>
              <a:t>car 2</a:t>
            </a:r>
            <a:r>
              <a:rPr sz="1700" spc="-25" dirty="0">
                <a:latin typeface="Century Schoolbook"/>
                <a:cs typeface="Century Schoolbook"/>
              </a:rPr>
              <a:t> </a:t>
            </a:r>
            <a:r>
              <a:rPr sz="1700" spc="-5" dirty="0">
                <a:latin typeface="Century Schoolbook"/>
                <a:cs typeface="Century Schoolbook"/>
              </a:rPr>
              <a:t>attributs</a:t>
            </a:r>
            <a:endParaRPr sz="1700" dirty="0">
              <a:latin typeface="Century Schoolbook"/>
              <a:cs typeface="Century Schoolbook"/>
            </a:endParaRPr>
          </a:p>
          <a:p>
            <a:pPr marL="390525">
              <a:lnSpc>
                <a:spcPct val="100000"/>
              </a:lnSpc>
              <a:spcBef>
                <a:spcPts val="209"/>
              </a:spcBef>
              <a:tabLst>
                <a:tab pos="734060" algn="l"/>
              </a:tabLst>
            </a:pPr>
            <a:r>
              <a:rPr sz="1350" dirty="0">
                <a:solidFill>
                  <a:srgbClr val="FD8537"/>
                </a:solidFill>
                <a:latin typeface="Century Schoolbook"/>
                <a:cs typeface="Century Schoolbook"/>
              </a:rPr>
              <a:t>4)	</a:t>
            </a:r>
            <a:r>
              <a:rPr sz="1700" dirty="0">
                <a:latin typeface="Century Schoolbook"/>
                <a:cs typeface="Century Schoolbook"/>
              </a:rPr>
              <a:t>Tr(T2, site2, site1) = </a:t>
            </a:r>
            <a:r>
              <a:rPr sz="1700" spc="-5" dirty="0">
                <a:latin typeface="Century Schoolbook"/>
                <a:cs typeface="Century Schoolbook"/>
              </a:rPr>
              <a:t>100 000 </a:t>
            </a:r>
            <a:r>
              <a:rPr sz="1700" dirty="0">
                <a:latin typeface="Century Schoolbook"/>
                <a:cs typeface="Century Schoolbook"/>
              </a:rPr>
              <a:t>* </a:t>
            </a:r>
            <a:r>
              <a:rPr sz="1700" spc="-5" dirty="0">
                <a:latin typeface="Century Schoolbook"/>
                <a:cs typeface="Century Schoolbook"/>
              </a:rPr>
              <a:t>0,5 </a:t>
            </a:r>
            <a:r>
              <a:rPr sz="1700" dirty="0">
                <a:latin typeface="Century Schoolbook"/>
                <a:cs typeface="Century Schoolbook"/>
              </a:rPr>
              <a:t>= </a:t>
            </a:r>
            <a:r>
              <a:rPr sz="1700" b="1" dirty="0">
                <a:latin typeface="Century Schoolbook"/>
                <a:cs typeface="Century Schoolbook"/>
              </a:rPr>
              <a:t>50</a:t>
            </a:r>
            <a:r>
              <a:rPr sz="1700" b="1" spc="-20" dirty="0">
                <a:latin typeface="Century Schoolbook"/>
                <a:cs typeface="Century Schoolbook"/>
              </a:rPr>
              <a:t> </a:t>
            </a:r>
            <a:r>
              <a:rPr sz="1700" b="1" dirty="0">
                <a:latin typeface="Century Schoolbook"/>
                <a:cs typeface="Century Schoolbook"/>
              </a:rPr>
              <a:t>000</a:t>
            </a:r>
            <a:endParaRPr sz="1700" dirty="0">
              <a:latin typeface="Century Schoolbook"/>
              <a:cs typeface="Century Schoolbook"/>
            </a:endParaRPr>
          </a:p>
          <a:p>
            <a:pPr marL="390525">
              <a:lnSpc>
                <a:spcPct val="100000"/>
              </a:lnSpc>
              <a:spcBef>
                <a:spcPts val="200"/>
              </a:spcBef>
            </a:pPr>
            <a:r>
              <a:rPr sz="1350" spc="5" dirty="0">
                <a:solidFill>
                  <a:srgbClr val="FD8537"/>
                </a:solidFill>
                <a:latin typeface="Wingdings"/>
                <a:cs typeface="Wingdings"/>
              </a:rPr>
              <a:t></a:t>
            </a:r>
            <a:r>
              <a:rPr sz="1350" spc="5" dirty="0">
                <a:solidFill>
                  <a:srgbClr val="FD8537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latin typeface="Century Schoolbook"/>
                <a:cs typeface="Century Schoolbook"/>
              </a:rPr>
              <a:t>Le </a:t>
            </a:r>
            <a:r>
              <a:rPr sz="1700" spc="-5" dirty="0">
                <a:latin typeface="Century Schoolbook"/>
                <a:cs typeface="Century Schoolbook"/>
              </a:rPr>
              <a:t>plan d’exécution </a:t>
            </a:r>
            <a:r>
              <a:rPr sz="1700" dirty="0">
                <a:latin typeface="Century Schoolbook"/>
                <a:cs typeface="Century Schoolbook"/>
              </a:rPr>
              <a:t>coûte </a:t>
            </a:r>
            <a:r>
              <a:rPr sz="1700" spc="-5" dirty="0">
                <a:latin typeface="Century Schoolbook"/>
                <a:cs typeface="Century Schoolbook"/>
              </a:rPr>
              <a:t>50 000 </a:t>
            </a:r>
            <a:r>
              <a:rPr sz="1700" dirty="0">
                <a:latin typeface="Century Schoolbook"/>
                <a:cs typeface="Century Schoolbook"/>
              </a:rPr>
              <a:t>+ </a:t>
            </a:r>
            <a:r>
              <a:rPr sz="1700" spc="-5" dirty="0">
                <a:latin typeface="Century Schoolbook"/>
                <a:cs typeface="Century Schoolbook"/>
              </a:rPr>
              <a:t>10 </a:t>
            </a:r>
            <a:r>
              <a:rPr sz="1700" dirty="0">
                <a:latin typeface="Century Schoolbook"/>
                <a:cs typeface="Century Schoolbook"/>
              </a:rPr>
              <a:t>= </a:t>
            </a:r>
            <a:r>
              <a:rPr sz="1700" b="1" u="sng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50 010</a:t>
            </a:r>
            <a:r>
              <a:rPr sz="1700" b="1" dirty="0">
                <a:latin typeface="Century Schoolbook"/>
                <a:cs typeface="Century Schoolbook"/>
              </a:rPr>
              <a:t> </a:t>
            </a:r>
            <a:r>
              <a:rPr sz="1700" b="1" dirty="0">
                <a:latin typeface="Symbol"/>
                <a:cs typeface="Symbol"/>
              </a:rPr>
              <a:t></a:t>
            </a:r>
            <a:r>
              <a:rPr sz="1700" b="1" spc="5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Century Schoolbook"/>
                <a:cs typeface="Century Schoolbook"/>
              </a:rPr>
              <a:t>50Mo</a:t>
            </a:r>
            <a:endParaRPr sz="1700" dirty="0">
              <a:latin typeface="Century Schoolbook"/>
              <a:cs typeface="Century Schoolbook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L="390525">
              <a:lnSpc>
                <a:spcPts val="1939"/>
              </a:lnSpc>
            </a:pPr>
            <a:r>
              <a:rPr sz="1700" b="1" dirty="0">
                <a:latin typeface="Century Schoolbook"/>
                <a:cs typeface="Century Schoolbook"/>
              </a:rPr>
              <a:t>NB: </a:t>
            </a:r>
            <a:r>
              <a:rPr lang="fr-FR" sz="1700" spc="-5" dirty="0" smtClean="0">
                <a:latin typeface="Century Schoolbook"/>
                <a:cs typeface="Century Schoolbook"/>
              </a:rPr>
              <a:t>beaucoup moins que de transférer Employé vers Site3</a:t>
            </a:r>
            <a:endParaRPr sz="1700" dirty="0">
              <a:latin typeface="Century Schoolbook"/>
              <a:cs typeface="Century Schoolboo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5741112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 smtClean="0"/>
              <a:t>J</a:t>
            </a:r>
            <a:r>
              <a:rPr spc="-5" dirty="0" smtClean="0"/>
              <a:t>OINTURES</a:t>
            </a:r>
            <a:r>
              <a:rPr spc="100" dirty="0" smtClean="0"/>
              <a:t> </a:t>
            </a:r>
            <a:r>
              <a:rPr spc="-5" dirty="0" smtClean="0"/>
              <a:t>PARALLÈLES</a:t>
            </a:r>
            <a:endParaRPr sz="3000" dirty="0"/>
          </a:p>
        </p:txBody>
      </p:sp>
      <p:sp>
        <p:nvSpPr>
          <p:cNvPr id="4" name="object 4"/>
          <p:cNvSpPr txBox="1"/>
          <p:nvPr/>
        </p:nvSpPr>
        <p:spPr>
          <a:xfrm>
            <a:off x="258267" y="1384172"/>
            <a:ext cx="8387715" cy="423608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530"/>
              </a:spcBef>
              <a:buClr>
                <a:srgbClr val="FD8537"/>
              </a:buClr>
              <a:buSzPct val="69444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800" spc="-5" dirty="0">
                <a:latin typeface="Century Schoolbook"/>
                <a:cs typeface="Century Schoolbook"/>
              </a:rPr>
              <a:t>Objectif:</a:t>
            </a:r>
            <a:endParaRPr sz="1800" dirty="0">
              <a:latin typeface="Century Schoolbook"/>
              <a:cs typeface="Century Schoolbook"/>
            </a:endParaRPr>
          </a:p>
          <a:p>
            <a:pPr marL="652780" marR="5080" lvl="1" indent="-274320">
              <a:lnSpc>
                <a:spcPct val="100000"/>
              </a:lnSpc>
              <a:spcBef>
                <a:spcPts val="434"/>
              </a:spcBef>
              <a:buClr>
                <a:srgbClr val="FD8537"/>
              </a:buClr>
              <a:buSzPct val="80555"/>
              <a:buFont typeface="Wingdings 2"/>
              <a:buChar char=""/>
              <a:tabLst>
                <a:tab pos="652145" algn="l"/>
                <a:tab pos="652780" algn="l"/>
              </a:tabLst>
            </a:pPr>
            <a:r>
              <a:rPr sz="1800" spc="-5" dirty="0">
                <a:latin typeface="Century Schoolbook"/>
                <a:cs typeface="Century Schoolbook"/>
              </a:rPr>
              <a:t>Eviter de rassembler l’ensemble des fragments </a:t>
            </a:r>
            <a:r>
              <a:rPr sz="1800" dirty="0">
                <a:latin typeface="Century Schoolbook"/>
                <a:cs typeface="Century Schoolbook"/>
              </a:rPr>
              <a:t>horizontaux </a:t>
            </a:r>
            <a:r>
              <a:rPr sz="1800" spc="-5" dirty="0">
                <a:latin typeface="Century Schoolbook"/>
                <a:cs typeface="Century Schoolbook"/>
              </a:rPr>
              <a:t>sur </a:t>
            </a:r>
            <a:r>
              <a:rPr sz="1800" dirty="0">
                <a:latin typeface="Century Schoolbook"/>
                <a:cs typeface="Century Schoolbook"/>
              </a:rPr>
              <a:t>un </a:t>
            </a:r>
            <a:r>
              <a:rPr sz="1800" spc="-5" dirty="0">
                <a:latin typeface="Century Schoolbook"/>
                <a:cs typeface="Century Schoolbook"/>
              </a:rPr>
              <a:t>même  nœud.</a:t>
            </a:r>
            <a:endParaRPr sz="1800" dirty="0">
              <a:latin typeface="Century Schoolbook"/>
              <a:cs typeface="Century Schoolbook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FD8537"/>
              </a:buClr>
            </a:pPr>
            <a:endParaRPr sz="2750" dirty="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9444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800" dirty="0">
                <a:latin typeface="Century Schoolbook"/>
                <a:cs typeface="Century Schoolbook"/>
              </a:rPr>
              <a:t>Principe </a:t>
            </a:r>
            <a:r>
              <a:rPr sz="1800" spc="-5" dirty="0">
                <a:latin typeface="Century Schoolbook"/>
                <a:cs typeface="Century Schoolbook"/>
              </a:rPr>
              <a:t>de </a:t>
            </a:r>
            <a:r>
              <a:rPr sz="1800" dirty="0">
                <a:latin typeface="Century Schoolbook"/>
                <a:cs typeface="Century Schoolbook"/>
              </a:rPr>
              <a:t>la jointure </a:t>
            </a:r>
            <a:r>
              <a:rPr sz="1800" spc="-5" dirty="0" err="1">
                <a:latin typeface="Century Schoolbook"/>
                <a:cs typeface="Century Schoolbook"/>
              </a:rPr>
              <a:t>parallèle</a:t>
            </a:r>
            <a:r>
              <a:rPr sz="1800" spc="-5" dirty="0">
                <a:latin typeface="Century Schoolbook"/>
                <a:cs typeface="Century Schoolbook"/>
              </a:rPr>
              <a:t> </a:t>
            </a:r>
            <a:r>
              <a:rPr sz="1800" spc="-5" dirty="0" smtClean="0">
                <a:latin typeface="Century Schoolbook"/>
                <a:cs typeface="Century Schoolbook"/>
              </a:rPr>
              <a:t>:</a:t>
            </a:r>
            <a:endParaRPr sz="1800" dirty="0">
              <a:latin typeface="Century Schoolbook"/>
              <a:cs typeface="Century Schoolbook"/>
            </a:endParaRPr>
          </a:p>
          <a:p>
            <a:pPr marL="378460" marR="643255">
              <a:lnSpc>
                <a:spcPct val="120000"/>
              </a:lnSpc>
            </a:pPr>
            <a:r>
              <a:rPr sz="1800" spc="-5" dirty="0">
                <a:latin typeface="Century Schoolbook"/>
                <a:cs typeface="Century Schoolbook"/>
              </a:rPr>
              <a:t>Soit </a:t>
            </a:r>
            <a:r>
              <a:rPr sz="1800" dirty="0">
                <a:latin typeface="Century Schoolbook"/>
                <a:cs typeface="Century Schoolbook"/>
              </a:rPr>
              <a:t>R </a:t>
            </a:r>
            <a:r>
              <a:rPr sz="1800" spc="-5" dirty="0">
                <a:latin typeface="Century Schoolbook"/>
                <a:cs typeface="Century Schoolbook"/>
              </a:rPr>
              <a:t>fragmenté horizontalement sur Site S1 </a:t>
            </a:r>
            <a:r>
              <a:rPr sz="1800" dirty="0">
                <a:latin typeface="Century Schoolbook"/>
                <a:cs typeface="Century Schoolbook"/>
              </a:rPr>
              <a:t>et </a:t>
            </a:r>
            <a:r>
              <a:rPr sz="1800" spc="-5" dirty="0">
                <a:latin typeface="Century Schoolbook"/>
                <a:cs typeface="Century Schoolbook"/>
              </a:rPr>
              <a:t>Site S2: </a:t>
            </a:r>
            <a:r>
              <a:rPr sz="1800" dirty="0">
                <a:latin typeface="Century Schoolbook"/>
                <a:cs typeface="Century Schoolbook"/>
              </a:rPr>
              <a:t>R = </a:t>
            </a:r>
            <a:r>
              <a:rPr sz="1800" spc="-5" dirty="0">
                <a:latin typeface="Century Schoolbook"/>
                <a:cs typeface="Century Schoolbook"/>
              </a:rPr>
              <a:t>R1 </a:t>
            </a:r>
            <a:r>
              <a:rPr sz="1800" dirty="0">
                <a:latin typeface="Symbol"/>
                <a:cs typeface="Symbol"/>
              </a:rPr>
              <a:t>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entury Schoolbook"/>
                <a:cs typeface="Century Schoolbook"/>
              </a:rPr>
              <a:t>R2  Soit </a:t>
            </a:r>
            <a:r>
              <a:rPr sz="1800" dirty="0">
                <a:latin typeface="Century Schoolbook"/>
                <a:cs typeface="Century Schoolbook"/>
              </a:rPr>
              <a:t>T </a:t>
            </a:r>
            <a:r>
              <a:rPr sz="1800" spc="-5" dirty="0">
                <a:latin typeface="Century Schoolbook"/>
                <a:cs typeface="Century Schoolbook"/>
              </a:rPr>
              <a:t>fragmenté horizontalement sur Site S3 </a:t>
            </a:r>
            <a:r>
              <a:rPr sz="1800" dirty="0">
                <a:latin typeface="Century Schoolbook"/>
                <a:cs typeface="Century Schoolbook"/>
              </a:rPr>
              <a:t>et </a:t>
            </a:r>
            <a:r>
              <a:rPr sz="1800" spc="-5" dirty="0">
                <a:latin typeface="Century Schoolbook"/>
                <a:cs typeface="Century Schoolbook"/>
              </a:rPr>
              <a:t>Site S4: </a:t>
            </a:r>
            <a:r>
              <a:rPr sz="1800" dirty="0">
                <a:latin typeface="Century Schoolbook"/>
                <a:cs typeface="Century Schoolbook"/>
              </a:rPr>
              <a:t>T = T3 </a:t>
            </a:r>
            <a:r>
              <a:rPr sz="1800" dirty="0">
                <a:latin typeface="Symbol"/>
                <a:cs typeface="Symbol"/>
              </a:rPr>
              <a:t>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entury Schoolbook"/>
                <a:cs typeface="Century Schoolbook"/>
              </a:rPr>
              <a:t>T4</a:t>
            </a:r>
            <a:endParaRPr sz="1800" dirty="0">
              <a:latin typeface="Century Schoolbook"/>
              <a:cs typeface="Century Schoolbook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L="378460">
              <a:lnSpc>
                <a:spcPct val="100000"/>
              </a:lnSpc>
            </a:pPr>
            <a:r>
              <a:rPr sz="1800" spc="-5" dirty="0">
                <a:latin typeface="Century Schoolbook"/>
                <a:cs typeface="Century Schoolbook"/>
              </a:rPr>
              <a:t>Si </a:t>
            </a:r>
            <a:r>
              <a:rPr sz="1800" dirty="0">
                <a:latin typeface="Century Schoolbook"/>
                <a:cs typeface="Century Schoolbook"/>
              </a:rPr>
              <a:t>R est une </a:t>
            </a:r>
            <a:r>
              <a:rPr sz="1800" spc="-5" dirty="0">
                <a:latin typeface="Century Schoolbook"/>
                <a:cs typeface="Century Schoolbook"/>
              </a:rPr>
              <a:t>relation plus petite </a:t>
            </a:r>
            <a:r>
              <a:rPr sz="1800" dirty="0">
                <a:latin typeface="Century Schoolbook"/>
                <a:cs typeface="Century Schoolbook"/>
              </a:rPr>
              <a:t>(en </a:t>
            </a:r>
            <a:r>
              <a:rPr sz="1800" spc="-5" dirty="0">
                <a:latin typeface="Century Schoolbook"/>
                <a:cs typeface="Century Schoolbook"/>
              </a:rPr>
              <a:t>nombre de tuples) que</a:t>
            </a:r>
            <a:r>
              <a:rPr sz="1800" spc="30" dirty="0">
                <a:latin typeface="Century Schoolbook"/>
                <a:cs typeface="Century Schoolbook"/>
              </a:rPr>
              <a:t> </a:t>
            </a:r>
            <a:r>
              <a:rPr sz="1800" dirty="0">
                <a:latin typeface="Century Schoolbook"/>
                <a:cs typeface="Century Schoolbook"/>
              </a:rPr>
              <a:t>T</a:t>
            </a:r>
          </a:p>
          <a:p>
            <a:pPr marL="378460">
              <a:lnSpc>
                <a:spcPct val="100000"/>
              </a:lnSpc>
              <a:spcBef>
                <a:spcPts val="430"/>
              </a:spcBef>
            </a:pPr>
            <a:r>
              <a:rPr sz="1800" spc="-5" dirty="0">
                <a:latin typeface="Century Schoolbook"/>
                <a:cs typeface="Century Schoolbook"/>
              </a:rPr>
              <a:t>Alors</a:t>
            </a:r>
            <a:endParaRPr sz="1800" dirty="0">
              <a:latin typeface="Century Schoolbook"/>
              <a:cs typeface="Century Schoolbook"/>
            </a:endParaRPr>
          </a:p>
          <a:p>
            <a:pPr marL="927100" indent="-183515">
              <a:lnSpc>
                <a:spcPct val="100000"/>
              </a:lnSpc>
              <a:spcBef>
                <a:spcPts val="340"/>
              </a:spcBef>
              <a:buClr>
                <a:srgbClr val="DF752E"/>
              </a:buClr>
              <a:buSzPct val="60714"/>
              <a:buFont typeface="Wingdings"/>
              <a:buChar char=""/>
              <a:tabLst>
                <a:tab pos="927735" algn="l"/>
              </a:tabLst>
            </a:pPr>
            <a:r>
              <a:rPr sz="1400" dirty="0">
                <a:latin typeface="Century Schoolbook"/>
                <a:cs typeface="Century Schoolbook"/>
              </a:rPr>
              <a:t>Transférer </a:t>
            </a:r>
            <a:r>
              <a:rPr sz="1400" spc="-5" dirty="0">
                <a:latin typeface="Century Schoolbook"/>
                <a:cs typeface="Century Schoolbook"/>
              </a:rPr>
              <a:t>R1 sur </a:t>
            </a:r>
            <a:r>
              <a:rPr sz="1400" dirty="0">
                <a:latin typeface="Century Schoolbook"/>
                <a:cs typeface="Century Schoolbook"/>
              </a:rPr>
              <a:t>S3 et</a:t>
            </a:r>
            <a:r>
              <a:rPr sz="1400" spc="-35" dirty="0">
                <a:latin typeface="Century Schoolbook"/>
                <a:cs typeface="Century Schoolbook"/>
              </a:rPr>
              <a:t> </a:t>
            </a:r>
            <a:r>
              <a:rPr sz="1400" dirty="0">
                <a:latin typeface="Century Schoolbook"/>
                <a:cs typeface="Century Schoolbook"/>
              </a:rPr>
              <a:t>S4</a:t>
            </a:r>
          </a:p>
          <a:p>
            <a:pPr marL="927100" indent="-183515">
              <a:lnSpc>
                <a:spcPct val="100000"/>
              </a:lnSpc>
              <a:spcBef>
                <a:spcPts val="340"/>
              </a:spcBef>
              <a:buClr>
                <a:srgbClr val="DF752E"/>
              </a:buClr>
              <a:buSzPct val="60714"/>
              <a:buFont typeface="Wingdings"/>
              <a:buChar char=""/>
              <a:tabLst>
                <a:tab pos="927735" algn="l"/>
              </a:tabLst>
            </a:pPr>
            <a:r>
              <a:rPr sz="1400" dirty="0">
                <a:latin typeface="Century Schoolbook"/>
                <a:cs typeface="Century Schoolbook"/>
              </a:rPr>
              <a:t>Transférer </a:t>
            </a:r>
            <a:r>
              <a:rPr sz="1400" spc="-5" dirty="0">
                <a:latin typeface="Century Schoolbook"/>
                <a:cs typeface="Century Schoolbook"/>
              </a:rPr>
              <a:t>R2 sur </a:t>
            </a:r>
            <a:r>
              <a:rPr sz="1400" dirty="0">
                <a:latin typeface="Century Schoolbook"/>
                <a:cs typeface="Century Schoolbook"/>
              </a:rPr>
              <a:t>S3 et</a:t>
            </a:r>
            <a:r>
              <a:rPr sz="1400" spc="-35" dirty="0">
                <a:latin typeface="Century Schoolbook"/>
                <a:cs typeface="Century Schoolbook"/>
              </a:rPr>
              <a:t> </a:t>
            </a:r>
            <a:r>
              <a:rPr sz="1400" dirty="0">
                <a:latin typeface="Century Schoolbook"/>
                <a:cs typeface="Century Schoolbook"/>
              </a:rPr>
              <a:t>S4.</a:t>
            </a:r>
          </a:p>
          <a:p>
            <a:pPr marL="927100" indent="-183515">
              <a:lnSpc>
                <a:spcPct val="100000"/>
              </a:lnSpc>
              <a:spcBef>
                <a:spcPts val="335"/>
              </a:spcBef>
              <a:buClr>
                <a:srgbClr val="DF752E"/>
              </a:buClr>
              <a:buSzPct val="60714"/>
              <a:buFont typeface="Wingdings"/>
              <a:buChar char=""/>
              <a:tabLst>
                <a:tab pos="927735" algn="l"/>
              </a:tabLst>
            </a:pPr>
            <a:r>
              <a:rPr sz="1400" dirty="0">
                <a:latin typeface="Century Schoolbook"/>
                <a:cs typeface="Century Schoolbook"/>
              </a:rPr>
              <a:t>Faire l’union </a:t>
            </a:r>
            <a:r>
              <a:rPr sz="1400" spc="-5" dirty="0">
                <a:latin typeface="Century Schoolbook"/>
                <a:cs typeface="Century Schoolbook"/>
              </a:rPr>
              <a:t>de R1 </a:t>
            </a:r>
            <a:r>
              <a:rPr sz="1400" dirty="0">
                <a:latin typeface="Century Schoolbook"/>
                <a:cs typeface="Century Schoolbook"/>
              </a:rPr>
              <a:t>et </a:t>
            </a:r>
            <a:r>
              <a:rPr sz="1400" spc="-5" dirty="0">
                <a:latin typeface="Century Schoolbook"/>
                <a:cs typeface="Century Schoolbook"/>
              </a:rPr>
              <a:t>de R2 sur </a:t>
            </a:r>
            <a:r>
              <a:rPr sz="1400" dirty="0">
                <a:latin typeface="Century Schoolbook"/>
                <a:cs typeface="Century Schoolbook"/>
              </a:rPr>
              <a:t>S3 </a:t>
            </a:r>
            <a:r>
              <a:rPr sz="1400" spc="-5" dirty="0">
                <a:latin typeface="Century Schoolbook"/>
                <a:cs typeface="Century Schoolbook"/>
              </a:rPr>
              <a:t>puis </a:t>
            </a:r>
            <a:r>
              <a:rPr sz="1400" dirty="0">
                <a:latin typeface="Century Schoolbook"/>
                <a:cs typeface="Century Schoolbook"/>
              </a:rPr>
              <a:t>faire la jointure avec</a:t>
            </a:r>
            <a:r>
              <a:rPr sz="1400" spc="-180" dirty="0">
                <a:latin typeface="Century Schoolbook"/>
                <a:cs typeface="Century Schoolbook"/>
              </a:rPr>
              <a:t> </a:t>
            </a:r>
            <a:r>
              <a:rPr sz="1400" dirty="0">
                <a:latin typeface="Century Schoolbook"/>
                <a:cs typeface="Century Schoolbook"/>
              </a:rPr>
              <a:t>T3</a:t>
            </a:r>
          </a:p>
          <a:p>
            <a:pPr marL="927100" indent="-183515">
              <a:lnSpc>
                <a:spcPct val="100000"/>
              </a:lnSpc>
              <a:spcBef>
                <a:spcPts val="335"/>
              </a:spcBef>
              <a:buClr>
                <a:srgbClr val="DF752E"/>
              </a:buClr>
              <a:buSzPct val="60714"/>
              <a:buFont typeface="Wingdings"/>
              <a:buChar char=""/>
              <a:tabLst>
                <a:tab pos="927735" algn="l"/>
              </a:tabLst>
            </a:pPr>
            <a:r>
              <a:rPr sz="1400" dirty="0">
                <a:latin typeface="Century Schoolbook"/>
                <a:cs typeface="Century Schoolbook"/>
              </a:rPr>
              <a:t>Faire l’union </a:t>
            </a:r>
            <a:r>
              <a:rPr sz="1400" spc="-5" dirty="0">
                <a:latin typeface="Century Schoolbook"/>
                <a:cs typeface="Century Schoolbook"/>
              </a:rPr>
              <a:t>de R1 </a:t>
            </a:r>
            <a:r>
              <a:rPr sz="1400" dirty="0">
                <a:latin typeface="Century Schoolbook"/>
                <a:cs typeface="Century Schoolbook"/>
              </a:rPr>
              <a:t>et </a:t>
            </a:r>
            <a:r>
              <a:rPr sz="1400" spc="-5" dirty="0">
                <a:latin typeface="Century Schoolbook"/>
                <a:cs typeface="Century Schoolbook"/>
              </a:rPr>
              <a:t>de R2 sur </a:t>
            </a:r>
            <a:r>
              <a:rPr sz="1400" dirty="0">
                <a:latin typeface="Century Schoolbook"/>
                <a:cs typeface="Century Schoolbook"/>
              </a:rPr>
              <a:t>S4 </a:t>
            </a:r>
            <a:r>
              <a:rPr sz="1400" spc="-5" dirty="0">
                <a:latin typeface="Century Schoolbook"/>
                <a:cs typeface="Century Schoolbook"/>
              </a:rPr>
              <a:t>puis </a:t>
            </a:r>
            <a:r>
              <a:rPr sz="1400" dirty="0">
                <a:latin typeface="Century Schoolbook"/>
                <a:cs typeface="Century Schoolbook"/>
              </a:rPr>
              <a:t>faire la jointure avec</a:t>
            </a:r>
            <a:r>
              <a:rPr sz="1400" spc="-180" dirty="0">
                <a:latin typeface="Century Schoolbook"/>
                <a:cs typeface="Century Schoolbook"/>
              </a:rPr>
              <a:t> </a:t>
            </a:r>
            <a:r>
              <a:rPr sz="1400" dirty="0">
                <a:latin typeface="Century Schoolbook"/>
                <a:cs typeface="Century Schoolbook"/>
              </a:rPr>
              <a:t>T4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30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r>
              <a:rPr lang="fr-FR" spc="-5" dirty="0" smtClean="0"/>
              <a:t>JOINTURES</a:t>
            </a:r>
            <a:r>
              <a:rPr lang="fr-FR" spc="100" dirty="0" smtClean="0"/>
              <a:t> </a:t>
            </a:r>
            <a:r>
              <a:rPr lang="fr-FR" spc="-5" dirty="0" smtClean="0"/>
              <a:t>PARALLÈLES</a:t>
            </a:r>
            <a:endParaRPr lang="fr-FR" dirty="0"/>
          </a:p>
        </p:txBody>
      </p:sp>
      <p:grpSp>
        <p:nvGrpSpPr>
          <p:cNvPr id="4" name="Groupe 3"/>
          <p:cNvGrpSpPr/>
          <p:nvPr/>
        </p:nvGrpSpPr>
        <p:grpSpPr>
          <a:xfrm>
            <a:off x="609600" y="1219200"/>
            <a:ext cx="7777480" cy="5105400"/>
            <a:chOff x="611886" y="1197102"/>
            <a:chExt cx="7777480" cy="4753610"/>
          </a:xfrm>
        </p:grpSpPr>
        <p:sp>
          <p:nvSpPr>
            <p:cNvPr id="5" name="object 5"/>
            <p:cNvSpPr txBox="1"/>
            <p:nvPr/>
          </p:nvSpPr>
          <p:spPr>
            <a:xfrm>
              <a:off x="2048766" y="1784157"/>
              <a:ext cx="967740" cy="2749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2135"/>
                </a:lnSpc>
              </a:pPr>
              <a:r>
                <a:rPr sz="1800" dirty="0">
                  <a:latin typeface="Century Schoolbook"/>
                  <a:cs typeface="Century Schoolbook"/>
                </a:rPr>
                <a:t>a</a:t>
              </a:r>
              <a:r>
                <a:rPr sz="1800" spc="-10" dirty="0">
                  <a:latin typeface="Century Schoolbook"/>
                  <a:cs typeface="Century Schoolbook"/>
                </a:rPr>
                <a:t>ss</a:t>
              </a:r>
              <a:r>
                <a:rPr sz="1800" dirty="0">
                  <a:latin typeface="Century Schoolbook"/>
                  <a:cs typeface="Century Schoolbook"/>
                </a:rPr>
                <a:t>em</a:t>
              </a:r>
              <a:r>
                <a:rPr sz="1800" spc="-10" dirty="0">
                  <a:latin typeface="Century Schoolbook"/>
                  <a:cs typeface="Century Schoolbook"/>
                </a:rPr>
                <a:t>b</a:t>
              </a:r>
              <a:r>
                <a:rPr sz="1800" dirty="0">
                  <a:latin typeface="Century Schoolbook"/>
                  <a:cs typeface="Century Schoolbook"/>
                </a:rPr>
                <a:t>le</a:t>
              </a:r>
              <a:endParaRPr sz="1800">
                <a:latin typeface="Century Schoolbook"/>
                <a:cs typeface="Century Schoolbook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5655494" y="1784157"/>
              <a:ext cx="909955" cy="2749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2135"/>
                </a:lnSpc>
              </a:pPr>
              <a:r>
                <a:rPr sz="1800" spc="-5" dirty="0">
                  <a:latin typeface="Century Schoolbook"/>
                  <a:cs typeface="Century Schoolbook"/>
                </a:rPr>
                <a:t>ts</a:t>
              </a:r>
              <a:r>
                <a:rPr sz="1800" spc="-100" dirty="0">
                  <a:latin typeface="Century Schoolbook"/>
                  <a:cs typeface="Century Schoolbook"/>
                </a:rPr>
                <a:t> </a:t>
              </a:r>
              <a:r>
                <a:rPr sz="1800" dirty="0">
                  <a:latin typeface="Century Schoolbook"/>
                  <a:cs typeface="Century Schoolbook"/>
                </a:rPr>
                <a:t>horizo</a:t>
              </a:r>
              <a:endParaRPr sz="1800">
                <a:latin typeface="Century Schoolbook"/>
                <a:cs typeface="Century Schoolbook"/>
              </a:endParaRPr>
            </a:p>
          </p:txBody>
        </p:sp>
        <p:sp>
          <p:nvSpPr>
            <p:cNvPr id="7" name="object 9"/>
            <p:cNvSpPr txBox="1"/>
            <p:nvPr/>
          </p:nvSpPr>
          <p:spPr>
            <a:xfrm>
              <a:off x="624027" y="4295647"/>
              <a:ext cx="37592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latin typeface="Century Schoolbook"/>
                  <a:cs typeface="Century Schoolbook"/>
                </a:rPr>
                <a:t>A</a:t>
              </a:r>
              <a:r>
                <a:rPr sz="1800" spc="-10" dirty="0">
                  <a:latin typeface="Century Schoolbook"/>
                  <a:cs typeface="Century Schoolbook"/>
                </a:rPr>
                <a:t>l</a:t>
              </a:r>
              <a:r>
                <a:rPr sz="1800" dirty="0">
                  <a:latin typeface="Century Schoolbook"/>
                  <a:cs typeface="Century Schoolbook"/>
                </a:rPr>
                <a:t>o</a:t>
              </a:r>
              <a:endParaRPr sz="1800">
                <a:latin typeface="Century Schoolbook"/>
                <a:cs typeface="Century Schoolbook"/>
              </a:endParaRPr>
            </a:p>
          </p:txBody>
        </p:sp>
        <p:sp>
          <p:nvSpPr>
            <p:cNvPr id="8" name="object 10"/>
            <p:cNvSpPr txBox="1"/>
            <p:nvPr/>
          </p:nvSpPr>
          <p:spPr>
            <a:xfrm>
              <a:off x="989787" y="4684267"/>
              <a:ext cx="120650" cy="15367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850" spc="-10" dirty="0">
                  <a:solidFill>
                    <a:srgbClr val="DF752E"/>
                  </a:solidFill>
                  <a:latin typeface="Wingdings"/>
                  <a:cs typeface="Wingdings"/>
                </a:rPr>
                <a:t></a:t>
              </a:r>
              <a:endParaRPr sz="850">
                <a:latin typeface="Wingdings"/>
                <a:cs typeface="Wingdings"/>
              </a:endParaRPr>
            </a:p>
          </p:txBody>
        </p:sp>
        <p:sp>
          <p:nvSpPr>
            <p:cNvPr id="9" name="object 11"/>
            <p:cNvSpPr txBox="1"/>
            <p:nvPr/>
          </p:nvSpPr>
          <p:spPr>
            <a:xfrm>
              <a:off x="989787" y="4940300"/>
              <a:ext cx="120650" cy="15367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850" spc="-10" dirty="0">
                  <a:solidFill>
                    <a:srgbClr val="DF752E"/>
                  </a:solidFill>
                  <a:latin typeface="Wingdings"/>
                  <a:cs typeface="Wingdings"/>
                </a:rPr>
                <a:t></a:t>
              </a:r>
              <a:endParaRPr sz="850">
                <a:latin typeface="Wingdings"/>
                <a:cs typeface="Wingdings"/>
              </a:endParaRPr>
            </a:p>
          </p:txBody>
        </p:sp>
        <p:sp>
          <p:nvSpPr>
            <p:cNvPr id="10" name="object 12"/>
            <p:cNvSpPr txBox="1"/>
            <p:nvPr/>
          </p:nvSpPr>
          <p:spPr>
            <a:xfrm>
              <a:off x="987119" y="4311584"/>
              <a:ext cx="1083945" cy="7867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2135"/>
                </a:lnSpc>
              </a:pPr>
              <a:r>
                <a:rPr sz="1800" dirty="0">
                  <a:latin typeface="Century Schoolbook"/>
                  <a:cs typeface="Century Schoolbook"/>
                </a:rPr>
                <a:t>rs</a:t>
              </a:r>
              <a:endParaRPr sz="1800">
                <a:latin typeface="Century Schoolbook"/>
                <a:cs typeface="Century Schoolbook"/>
              </a:endParaRPr>
            </a:p>
            <a:p>
              <a:pPr marL="198120">
                <a:lnSpc>
                  <a:spcPct val="120000"/>
                </a:lnSpc>
              </a:pPr>
              <a:r>
                <a:rPr sz="1400" dirty="0">
                  <a:latin typeface="Century Schoolbook"/>
                  <a:cs typeface="Century Schoolbook"/>
                </a:rPr>
                <a:t>Tra</a:t>
              </a:r>
              <a:r>
                <a:rPr sz="1400" spc="-10" dirty="0">
                  <a:latin typeface="Century Schoolbook"/>
                  <a:cs typeface="Century Schoolbook"/>
                </a:rPr>
                <a:t>n</a:t>
              </a:r>
              <a:r>
                <a:rPr sz="1400" dirty="0">
                  <a:latin typeface="Century Schoolbook"/>
                  <a:cs typeface="Century Schoolbook"/>
                </a:rPr>
                <a:t>sfér</a:t>
              </a:r>
              <a:r>
                <a:rPr sz="1400" spc="5" dirty="0">
                  <a:latin typeface="Century Schoolbook"/>
                  <a:cs typeface="Century Schoolbook"/>
                </a:rPr>
                <a:t>e</a:t>
              </a:r>
              <a:r>
                <a:rPr sz="1400" dirty="0">
                  <a:latin typeface="Century Schoolbook"/>
                  <a:cs typeface="Century Schoolbook"/>
                </a:rPr>
                <a:t>r  Tra</a:t>
              </a:r>
              <a:r>
                <a:rPr sz="1400" spc="-10" dirty="0">
                  <a:latin typeface="Century Schoolbook"/>
                  <a:cs typeface="Century Schoolbook"/>
                </a:rPr>
                <a:t>n</a:t>
              </a:r>
              <a:r>
                <a:rPr sz="1400" dirty="0">
                  <a:latin typeface="Century Schoolbook"/>
                  <a:cs typeface="Century Schoolbook"/>
                </a:rPr>
                <a:t>sfér</a:t>
              </a:r>
              <a:r>
                <a:rPr sz="1400" spc="5" dirty="0">
                  <a:latin typeface="Century Schoolbook"/>
                  <a:cs typeface="Century Schoolbook"/>
                </a:rPr>
                <a:t>e</a:t>
              </a:r>
              <a:r>
                <a:rPr sz="1400" dirty="0">
                  <a:latin typeface="Century Schoolbook"/>
                  <a:cs typeface="Century Schoolbook"/>
                </a:rPr>
                <a:t>r</a:t>
              </a:r>
              <a:endParaRPr sz="1400">
                <a:latin typeface="Century Schoolbook"/>
                <a:cs typeface="Century Schoolbook"/>
              </a:endParaRPr>
            </a:p>
          </p:txBody>
        </p:sp>
        <p:sp>
          <p:nvSpPr>
            <p:cNvPr id="11" name="object 13"/>
            <p:cNvSpPr txBox="1"/>
            <p:nvPr/>
          </p:nvSpPr>
          <p:spPr>
            <a:xfrm>
              <a:off x="2116688" y="4627864"/>
              <a:ext cx="807720" cy="47053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664"/>
                </a:lnSpc>
              </a:pPr>
              <a:r>
                <a:rPr sz="1400" spc="-5" dirty="0">
                  <a:latin typeface="Century Schoolbook"/>
                  <a:cs typeface="Century Schoolbook"/>
                </a:rPr>
                <a:t>R1 sur</a:t>
              </a:r>
              <a:r>
                <a:rPr sz="1400" spc="-75" dirty="0">
                  <a:latin typeface="Century Schoolbook"/>
                  <a:cs typeface="Century Schoolbook"/>
                </a:rPr>
                <a:t> </a:t>
              </a:r>
              <a:r>
                <a:rPr sz="1400" dirty="0">
                  <a:latin typeface="Century Schoolbook"/>
                  <a:cs typeface="Century Schoolbook"/>
                </a:rPr>
                <a:t>S3</a:t>
              </a:r>
              <a:endParaRPr sz="1400">
                <a:latin typeface="Century Schoolbook"/>
                <a:cs typeface="Century Schoolbook"/>
              </a:endParaRPr>
            </a:p>
            <a:p>
              <a:pPr>
                <a:lnSpc>
                  <a:spcPct val="100000"/>
                </a:lnSpc>
                <a:spcBef>
                  <a:spcPts val="335"/>
                </a:spcBef>
              </a:pPr>
              <a:r>
                <a:rPr sz="1400" spc="-5" dirty="0">
                  <a:latin typeface="Century Schoolbook"/>
                  <a:cs typeface="Century Schoolbook"/>
                </a:rPr>
                <a:t>R2 sur</a:t>
              </a:r>
              <a:r>
                <a:rPr sz="1400" spc="-75" dirty="0">
                  <a:latin typeface="Century Schoolbook"/>
                  <a:cs typeface="Century Schoolbook"/>
                </a:rPr>
                <a:t> </a:t>
              </a:r>
              <a:r>
                <a:rPr sz="1400" dirty="0">
                  <a:latin typeface="Century Schoolbook"/>
                  <a:cs typeface="Century Schoolbook"/>
                </a:rPr>
                <a:t>S3</a:t>
              </a:r>
              <a:endParaRPr sz="1400">
                <a:latin typeface="Century Schoolbook"/>
                <a:cs typeface="Century Schoolbook"/>
              </a:endParaRPr>
            </a:p>
          </p:txBody>
        </p:sp>
        <p:sp>
          <p:nvSpPr>
            <p:cNvPr id="12" name="object 14"/>
            <p:cNvSpPr txBox="1"/>
            <p:nvPr/>
          </p:nvSpPr>
          <p:spPr>
            <a:xfrm>
              <a:off x="989787" y="5082641"/>
              <a:ext cx="5535295" cy="537845"/>
            </a:xfrm>
            <a:prstGeom prst="rect">
              <a:avLst/>
            </a:prstGeom>
          </p:spPr>
          <p:txBody>
            <a:bodyPr vert="horz" wrap="square" lIns="0" tIns="55244" rIns="0" bIns="0" rtlCol="0">
              <a:spAutoFit/>
            </a:bodyPr>
            <a:lstStyle/>
            <a:p>
              <a:pPr marL="195580" indent="-183515">
                <a:lnSpc>
                  <a:spcPct val="100000"/>
                </a:lnSpc>
                <a:spcBef>
                  <a:spcPts val="434"/>
                </a:spcBef>
                <a:buClr>
                  <a:srgbClr val="DF752E"/>
                </a:buClr>
                <a:buSzPct val="60714"/>
                <a:buFont typeface="Wingdings"/>
                <a:buChar char=""/>
                <a:tabLst>
                  <a:tab pos="196215" algn="l"/>
                </a:tabLst>
              </a:pPr>
              <a:r>
                <a:rPr sz="1400" dirty="0">
                  <a:latin typeface="Century Schoolbook"/>
                  <a:cs typeface="Century Schoolbook"/>
                </a:rPr>
                <a:t>Faire l’union </a:t>
              </a:r>
              <a:r>
                <a:rPr sz="1400" spc="-5" dirty="0">
                  <a:latin typeface="Century Schoolbook"/>
                  <a:cs typeface="Century Schoolbook"/>
                </a:rPr>
                <a:t>de R1 </a:t>
              </a:r>
              <a:r>
                <a:rPr sz="1400" dirty="0">
                  <a:latin typeface="Century Schoolbook"/>
                  <a:cs typeface="Century Schoolbook"/>
                </a:rPr>
                <a:t>et </a:t>
              </a:r>
              <a:r>
                <a:rPr sz="1400" spc="-5" dirty="0">
                  <a:latin typeface="Century Schoolbook"/>
                  <a:cs typeface="Century Schoolbook"/>
                </a:rPr>
                <a:t>de R2 sur  </a:t>
              </a:r>
              <a:r>
                <a:rPr sz="1400" dirty="0">
                  <a:latin typeface="Century Schoolbook"/>
                  <a:cs typeface="Century Schoolbook"/>
                </a:rPr>
                <a:t>S3 </a:t>
              </a:r>
              <a:r>
                <a:rPr sz="1400" spc="-5" dirty="0">
                  <a:latin typeface="Century Schoolbook"/>
                  <a:cs typeface="Century Schoolbook"/>
                </a:rPr>
                <a:t>puis </a:t>
              </a:r>
              <a:r>
                <a:rPr sz="1400" dirty="0">
                  <a:latin typeface="Century Schoolbook"/>
                  <a:cs typeface="Century Schoolbook"/>
                </a:rPr>
                <a:t>faire la jointure avec</a:t>
              </a:r>
              <a:r>
                <a:rPr sz="1400" spc="-175" dirty="0">
                  <a:latin typeface="Century Schoolbook"/>
                  <a:cs typeface="Century Schoolbook"/>
                </a:rPr>
                <a:t> </a:t>
              </a:r>
              <a:r>
                <a:rPr sz="1400" dirty="0">
                  <a:latin typeface="Century Schoolbook"/>
                  <a:cs typeface="Century Schoolbook"/>
                </a:rPr>
                <a:t>T3</a:t>
              </a:r>
              <a:endParaRPr sz="1400">
                <a:latin typeface="Century Schoolbook"/>
                <a:cs typeface="Century Schoolbook"/>
              </a:endParaRPr>
            </a:p>
            <a:p>
              <a:pPr marL="195580" indent="-183515">
                <a:lnSpc>
                  <a:spcPct val="100000"/>
                </a:lnSpc>
                <a:spcBef>
                  <a:spcPts val="335"/>
                </a:spcBef>
                <a:buClr>
                  <a:srgbClr val="DF752E"/>
                </a:buClr>
                <a:buSzPct val="60714"/>
                <a:buFont typeface="Wingdings"/>
                <a:buChar char=""/>
                <a:tabLst>
                  <a:tab pos="196215" algn="l"/>
                </a:tabLst>
              </a:pPr>
              <a:r>
                <a:rPr sz="1400" dirty="0">
                  <a:latin typeface="Century Schoolbook"/>
                  <a:cs typeface="Century Schoolbook"/>
                </a:rPr>
                <a:t>Faire l’union </a:t>
              </a:r>
              <a:r>
                <a:rPr sz="1400" spc="-5" dirty="0">
                  <a:latin typeface="Century Schoolbook"/>
                  <a:cs typeface="Century Schoolbook"/>
                </a:rPr>
                <a:t>de R1 </a:t>
              </a:r>
              <a:r>
                <a:rPr sz="1400" dirty="0">
                  <a:latin typeface="Century Schoolbook"/>
                  <a:cs typeface="Century Schoolbook"/>
                </a:rPr>
                <a:t>et </a:t>
              </a:r>
              <a:r>
                <a:rPr sz="1400" spc="-5" dirty="0">
                  <a:latin typeface="Century Schoolbook"/>
                  <a:cs typeface="Century Schoolbook"/>
                </a:rPr>
                <a:t>de R2 sur </a:t>
              </a:r>
              <a:r>
                <a:rPr sz="1400" dirty="0">
                  <a:latin typeface="Century Schoolbook"/>
                  <a:cs typeface="Century Schoolbook"/>
                </a:rPr>
                <a:t>S4 </a:t>
              </a:r>
              <a:r>
                <a:rPr sz="1400" spc="-5" dirty="0">
                  <a:latin typeface="Century Schoolbook"/>
                  <a:cs typeface="Century Schoolbook"/>
                </a:rPr>
                <a:t>puis </a:t>
              </a:r>
              <a:r>
                <a:rPr sz="1400" dirty="0">
                  <a:latin typeface="Century Schoolbook"/>
                  <a:cs typeface="Century Schoolbook"/>
                </a:rPr>
                <a:t>faire la jointure avec</a:t>
              </a:r>
              <a:r>
                <a:rPr sz="1400" spc="-175" dirty="0">
                  <a:latin typeface="Century Schoolbook"/>
                  <a:cs typeface="Century Schoolbook"/>
                </a:rPr>
                <a:t> </a:t>
              </a:r>
              <a:r>
                <a:rPr sz="1400" dirty="0">
                  <a:latin typeface="Century Schoolbook"/>
                  <a:cs typeface="Century Schoolbook"/>
                </a:rPr>
                <a:t>T4</a:t>
              </a:r>
              <a:endParaRPr sz="1400">
                <a:latin typeface="Century Schoolbook"/>
                <a:cs typeface="Century Schoolbook"/>
              </a:endParaRPr>
            </a:p>
          </p:txBody>
        </p:sp>
        <p:sp>
          <p:nvSpPr>
            <p:cNvPr id="13" name="object 15"/>
            <p:cNvSpPr/>
            <p:nvPr/>
          </p:nvSpPr>
          <p:spPr>
            <a:xfrm>
              <a:off x="611886" y="1197102"/>
              <a:ext cx="7777480" cy="4753610"/>
            </a:xfrm>
            <a:custGeom>
              <a:avLst/>
              <a:gdLst/>
              <a:ahLst/>
              <a:cxnLst/>
              <a:rect l="l" t="t" r="r" b="b"/>
              <a:pathLst>
                <a:path w="7777480" h="4753610">
                  <a:moveTo>
                    <a:pt x="6984746" y="0"/>
                  </a:moveTo>
                  <a:lnTo>
                    <a:pt x="792226" y="0"/>
                  </a:lnTo>
                  <a:lnTo>
                    <a:pt x="743966" y="1445"/>
                  </a:lnTo>
                  <a:lnTo>
                    <a:pt x="696471" y="5728"/>
                  </a:lnTo>
                  <a:lnTo>
                    <a:pt x="649824" y="12764"/>
                  </a:lnTo>
                  <a:lnTo>
                    <a:pt x="604107" y="22471"/>
                  </a:lnTo>
                  <a:lnTo>
                    <a:pt x="559403" y="34766"/>
                  </a:lnTo>
                  <a:lnTo>
                    <a:pt x="515795" y="49565"/>
                  </a:lnTo>
                  <a:lnTo>
                    <a:pt x="473366" y="66787"/>
                  </a:lnTo>
                  <a:lnTo>
                    <a:pt x="432199" y="86348"/>
                  </a:lnTo>
                  <a:lnTo>
                    <a:pt x="392377" y="108166"/>
                  </a:lnTo>
                  <a:lnTo>
                    <a:pt x="353982" y="132157"/>
                  </a:lnTo>
                  <a:lnTo>
                    <a:pt x="317098" y="158238"/>
                  </a:lnTo>
                  <a:lnTo>
                    <a:pt x="281807" y="186327"/>
                  </a:lnTo>
                  <a:lnTo>
                    <a:pt x="248192" y="216341"/>
                  </a:lnTo>
                  <a:lnTo>
                    <a:pt x="216337" y="248197"/>
                  </a:lnTo>
                  <a:lnTo>
                    <a:pt x="186323" y="281812"/>
                  </a:lnTo>
                  <a:lnTo>
                    <a:pt x="158235" y="317103"/>
                  </a:lnTo>
                  <a:lnTo>
                    <a:pt x="132154" y="353988"/>
                  </a:lnTo>
                  <a:lnTo>
                    <a:pt x="108163" y="392382"/>
                  </a:lnTo>
                  <a:lnTo>
                    <a:pt x="86346" y="432205"/>
                  </a:lnTo>
                  <a:lnTo>
                    <a:pt x="66785" y="473371"/>
                  </a:lnTo>
                  <a:lnTo>
                    <a:pt x="49564" y="515800"/>
                  </a:lnTo>
                  <a:lnTo>
                    <a:pt x="34765" y="559407"/>
                  </a:lnTo>
                  <a:lnTo>
                    <a:pt x="22470" y="604111"/>
                  </a:lnTo>
                  <a:lnTo>
                    <a:pt x="12764" y="649827"/>
                  </a:lnTo>
                  <a:lnTo>
                    <a:pt x="5728" y="696473"/>
                  </a:lnTo>
                  <a:lnTo>
                    <a:pt x="1445" y="743967"/>
                  </a:lnTo>
                  <a:lnTo>
                    <a:pt x="0" y="792226"/>
                  </a:lnTo>
                  <a:lnTo>
                    <a:pt x="0" y="3961129"/>
                  </a:lnTo>
                  <a:lnTo>
                    <a:pt x="1445" y="4009389"/>
                  </a:lnTo>
                  <a:lnTo>
                    <a:pt x="5728" y="4056884"/>
                  </a:lnTo>
                  <a:lnTo>
                    <a:pt x="12764" y="4103531"/>
                  </a:lnTo>
                  <a:lnTo>
                    <a:pt x="22470" y="4149248"/>
                  </a:lnTo>
                  <a:lnTo>
                    <a:pt x="34765" y="4193952"/>
                  </a:lnTo>
                  <a:lnTo>
                    <a:pt x="49564" y="4237560"/>
                  </a:lnTo>
                  <a:lnTo>
                    <a:pt x="66785" y="4279989"/>
                  </a:lnTo>
                  <a:lnTo>
                    <a:pt x="86346" y="4321156"/>
                  </a:lnTo>
                  <a:lnTo>
                    <a:pt x="108163" y="4360978"/>
                  </a:lnTo>
                  <a:lnTo>
                    <a:pt x="132154" y="4399373"/>
                  </a:lnTo>
                  <a:lnTo>
                    <a:pt x="158235" y="4436257"/>
                  </a:lnTo>
                  <a:lnTo>
                    <a:pt x="186323" y="4471548"/>
                  </a:lnTo>
                  <a:lnTo>
                    <a:pt x="216337" y="4505163"/>
                  </a:lnTo>
                  <a:lnTo>
                    <a:pt x="248192" y="4537018"/>
                  </a:lnTo>
                  <a:lnTo>
                    <a:pt x="281807" y="4567032"/>
                  </a:lnTo>
                  <a:lnTo>
                    <a:pt x="317098" y="4595120"/>
                  </a:lnTo>
                  <a:lnTo>
                    <a:pt x="353982" y="4621201"/>
                  </a:lnTo>
                  <a:lnTo>
                    <a:pt x="392377" y="4645192"/>
                  </a:lnTo>
                  <a:lnTo>
                    <a:pt x="432199" y="4667009"/>
                  </a:lnTo>
                  <a:lnTo>
                    <a:pt x="473366" y="4686570"/>
                  </a:lnTo>
                  <a:lnTo>
                    <a:pt x="515795" y="4703791"/>
                  </a:lnTo>
                  <a:lnTo>
                    <a:pt x="559403" y="4718590"/>
                  </a:lnTo>
                  <a:lnTo>
                    <a:pt x="604107" y="4730885"/>
                  </a:lnTo>
                  <a:lnTo>
                    <a:pt x="649824" y="4740591"/>
                  </a:lnTo>
                  <a:lnTo>
                    <a:pt x="696471" y="4747627"/>
                  </a:lnTo>
                  <a:lnTo>
                    <a:pt x="743966" y="4751910"/>
                  </a:lnTo>
                  <a:lnTo>
                    <a:pt x="792226" y="4753356"/>
                  </a:lnTo>
                  <a:lnTo>
                    <a:pt x="6984746" y="4753356"/>
                  </a:lnTo>
                  <a:lnTo>
                    <a:pt x="7033004" y="4751910"/>
                  </a:lnTo>
                  <a:lnTo>
                    <a:pt x="7080498" y="4747627"/>
                  </a:lnTo>
                  <a:lnTo>
                    <a:pt x="7127144" y="4740591"/>
                  </a:lnTo>
                  <a:lnTo>
                    <a:pt x="7172860" y="4730885"/>
                  </a:lnTo>
                  <a:lnTo>
                    <a:pt x="7217564" y="4718590"/>
                  </a:lnTo>
                  <a:lnTo>
                    <a:pt x="7261171" y="4703791"/>
                  </a:lnTo>
                  <a:lnTo>
                    <a:pt x="7303600" y="4686570"/>
                  </a:lnTo>
                  <a:lnTo>
                    <a:pt x="7344766" y="4667009"/>
                  </a:lnTo>
                  <a:lnTo>
                    <a:pt x="7384589" y="4645192"/>
                  </a:lnTo>
                  <a:lnTo>
                    <a:pt x="7422983" y="4621201"/>
                  </a:lnTo>
                  <a:lnTo>
                    <a:pt x="7459868" y="4595120"/>
                  </a:lnTo>
                  <a:lnTo>
                    <a:pt x="7495159" y="4567032"/>
                  </a:lnTo>
                  <a:lnTo>
                    <a:pt x="7528774" y="4537018"/>
                  </a:lnTo>
                  <a:lnTo>
                    <a:pt x="7560630" y="4505163"/>
                  </a:lnTo>
                  <a:lnTo>
                    <a:pt x="7590644" y="4471548"/>
                  </a:lnTo>
                  <a:lnTo>
                    <a:pt x="7618733" y="4436257"/>
                  </a:lnTo>
                  <a:lnTo>
                    <a:pt x="7644814" y="4399373"/>
                  </a:lnTo>
                  <a:lnTo>
                    <a:pt x="7668805" y="4360978"/>
                  </a:lnTo>
                  <a:lnTo>
                    <a:pt x="7690623" y="4321156"/>
                  </a:lnTo>
                  <a:lnTo>
                    <a:pt x="7710184" y="4279989"/>
                  </a:lnTo>
                  <a:lnTo>
                    <a:pt x="7727406" y="4237560"/>
                  </a:lnTo>
                  <a:lnTo>
                    <a:pt x="7742205" y="4193952"/>
                  </a:lnTo>
                  <a:lnTo>
                    <a:pt x="7754500" y="4149248"/>
                  </a:lnTo>
                  <a:lnTo>
                    <a:pt x="7764207" y="4103531"/>
                  </a:lnTo>
                  <a:lnTo>
                    <a:pt x="7771243" y="4056884"/>
                  </a:lnTo>
                  <a:lnTo>
                    <a:pt x="7775526" y="4009389"/>
                  </a:lnTo>
                  <a:lnTo>
                    <a:pt x="7776972" y="3961129"/>
                  </a:lnTo>
                  <a:lnTo>
                    <a:pt x="7776972" y="792226"/>
                  </a:lnTo>
                  <a:lnTo>
                    <a:pt x="7775526" y="743967"/>
                  </a:lnTo>
                  <a:lnTo>
                    <a:pt x="7771243" y="696473"/>
                  </a:lnTo>
                  <a:lnTo>
                    <a:pt x="7764207" y="649827"/>
                  </a:lnTo>
                  <a:lnTo>
                    <a:pt x="7754500" y="604111"/>
                  </a:lnTo>
                  <a:lnTo>
                    <a:pt x="7742205" y="559407"/>
                  </a:lnTo>
                  <a:lnTo>
                    <a:pt x="7727406" y="515800"/>
                  </a:lnTo>
                  <a:lnTo>
                    <a:pt x="7710184" y="473371"/>
                  </a:lnTo>
                  <a:lnTo>
                    <a:pt x="7690623" y="432205"/>
                  </a:lnTo>
                  <a:lnTo>
                    <a:pt x="7668805" y="392382"/>
                  </a:lnTo>
                  <a:lnTo>
                    <a:pt x="7644814" y="353988"/>
                  </a:lnTo>
                  <a:lnTo>
                    <a:pt x="7618733" y="317103"/>
                  </a:lnTo>
                  <a:lnTo>
                    <a:pt x="7590644" y="281812"/>
                  </a:lnTo>
                  <a:lnTo>
                    <a:pt x="7560630" y="248197"/>
                  </a:lnTo>
                  <a:lnTo>
                    <a:pt x="7528774" y="216341"/>
                  </a:lnTo>
                  <a:lnTo>
                    <a:pt x="7495159" y="186327"/>
                  </a:lnTo>
                  <a:lnTo>
                    <a:pt x="7459868" y="158238"/>
                  </a:lnTo>
                  <a:lnTo>
                    <a:pt x="7422983" y="132157"/>
                  </a:lnTo>
                  <a:lnTo>
                    <a:pt x="7384589" y="108166"/>
                  </a:lnTo>
                  <a:lnTo>
                    <a:pt x="7344766" y="86348"/>
                  </a:lnTo>
                  <a:lnTo>
                    <a:pt x="7303600" y="66787"/>
                  </a:lnTo>
                  <a:lnTo>
                    <a:pt x="7261171" y="49565"/>
                  </a:lnTo>
                  <a:lnTo>
                    <a:pt x="7217564" y="34766"/>
                  </a:lnTo>
                  <a:lnTo>
                    <a:pt x="7172860" y="22471"/>
                  </a:lnTo>
                  <a:lnTo>
                    <a:pt x="7127144" y="12764"/>
                  </a:lnTo>
                  <a:lnTo>
                    <a:pt x="7080498" y="5728"/>
                  </a:lnTo>
                  <a:lnTo>
                    <a:pt x="7033004" y="1445"/>
                  </a:lnTo>
                  <a:lnTo>
                    <a:pt x="6984746" y="0"/>
                  </a:lnTo>
                  <a:close/>
                </a:path>
              </a:pathLst>
            </a:custGeom>
            <a:solidFill>
              <a:srgbClr val="FFED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6"/>
            <p:cNvSpPr/>
            <p:nvPr/>
          </p:nvSpPr>
          <p:spPr>
            <a:xfrm>
              <a:off x="611886" y="1197102"/>
              <a:ext cx="7777480" cy="4753610"/>
            </a:xfrm>
            <a:custGeom>
              <a:avLst/>
              <a:gdLst/>
              <a:ahLst/>
              <a:cxnLst/>
              <a:rect l="l" t="t" r="r" b="b"/>
              <a:pathLst>
                <a:path w="7777480" h="4753610">
                  <a:moveTo>
                    <a:pt x="0" y="792226"/>
                  </a:moveTo>
                  <a:lnTo>
                    <a:pt x="1445" y="743967"/>
                  </a:lnTo>
                  <a:lnTo>
                    <a:pt x="5728" y="696473"/>
                  </a:lnTo>
                  <a:lnTo>
                    <a:pt x="12764" y="649827"/>
                  </a:lnTo>
                  <a:lnTo>
                    <a:pt x="22470" y="604111"/>
                  </a:lnTo>
                  <a:lnTo>
                    <a:pt x="34765" y="559407"/>
                  </a:lnTo>
                  <a:lnTo>
                    <a:pt x="49564" y="515800"/>
                  </a:lnTo>
                  <a:lnTo>
                    <a:pt x="66785" y="473371"/>
                  </a:lnTo>
                  <a:lnTo>
                    <a:pt x="86346" y="432205"/>
                  </a:lnTo>
                  <a:lnTo>
                    <a:pt x="108163" y="392382"/>
                  </a:lnTo>
                  <a:lnTo>
                    <a:pt x="132154" y="353988"/>
                  </a:lnTo>
                  <a:lnTo>
                    <a:pt x="158235" y="317103"/>
                  </a:lnTo>
                  <a:lnTo>
                    <a:pt x="186323" y="281812"/>
                  </a:lnTo>
                  <a:lnTo>
                    <a:pt x="216337" y="248197"/>
                  </a:lnTo>
                  <a:lnTo>
                    <a:pt x="248192" y="216341"/>
                  </a:lnTo>
                  <a:lnTo>
                    <a:pt x="281807" y="186327"/>
                  </a:lnTo>
                  <a:lnTo>
                    <a:pt x="317098" y="158238"/>
                  </a:lnTo>
                  <a:lnTo>
                    <a:pt x="353982" y="132157"/>
                  </a:lnTo>
                  <a:lnTo>
                    <a:pt x="392377" y="108166"/>
                  </a:lnTo>
                  <a:lnTo>
                    <a:pt x="432199" y="86348"/>
                  </a:lnTo>
                  <a:lnTo>
                    <a:pt x="473366" y="66787"/>
                  </a:lnTo>
                  <a:lnTo>
                    <a:pt x="515795" y="49565"/>
                  </a:lnTo>
                  <a:lnTo>
                    <a:pt x="559403" y="34766"/>
                  </a:lnTo>
                  <a:lnTo>
                    <a:pt x="604107" y="22471"/>
                  </a:lnTo>
                  <a:lnTo>
                    <a:pt x="649824" y="12764"/>
                  </a:lnTo>
                  <a:lnTo>
                    <a:pt x="696471" y="5728"/>
                  </a:lnTo>
                  <a:lnTo>
                    <a:pt x="743966" y="1445"/>
                  </a:lnTo>
                  <a:lnTo>
                    <a:pt x="792226" y="0"/>
                  </a:lnTo>
                  <a:lnTo>
                    <a:pt x="6984746" y="0"/>
                  </a:lnTo>
                  <a:lnTo>
                    <a:pt x="7033004" y="1445"/>
                  </a:lnTo>
                  <a:lnTo>
                    <a:pt x="7080498" y="5728"/>
                  </a:lnTo>
                  <a:lnTo>
                    <a:pt x="7127144" y="12764"/>
                  </a:lnTo>
                  <a:lnTo>
                    <a:pt x="7172860" y="22471"/>
                  </a:lnTo>
                  <a:lnTo>
                    <a:pt x="7217564" y="34766"/>
                  </a:lnTo>
                  <a:lnTo>
                    <a:pt x="7261171" y="49565"/>
                  </a:lnTo>
                  <a:lnTo>
                    <a:pt x="7303600" y="66787"/>
                  </a:lnTo>
                  <a:lnTo>
                    <a:pt x="7344766" y="86348"/>
                  </a:lnTo>
                  <a:lnTo>
                    <a:pt x="7384589" y="108166"/>
                  </a:lnTo>
                  <a:lnTo>
                    <a:pt x="7422983" y="132157"/>
                  </a:lnTo>
                  <a:lnTo>
                    <a:pt x="7459868" y="158238"/>
                  </a:lnTo>
                  <a:lnTo>
                    <a:pt x="7495159" y="186327"/>
                  </a:lnTo>
                  <a:lnTo>
                    <a:pt x="7528774" y="216341"/>
                  </a:lnTo>
                  <a:lnTo>
                    <a:pt x="7560630" y="248197"/>
                  </a:lnTo>
                  <a:lnTo>
                    <a:pt x="7590644" y="281812"/>
                  </a:lnTo>
                  <a:lnTo>
                    <a:pt x="7618733" y="317103"/>
                  </a:lnTo>
                  <a:lnTo>
                    <a:pt x="7644814" y="353988"/>
                  </a:lnTo>
                  <a:lnTo>
                    <a:pt x="7668805" y="392382"/>
                  </a:lnTo>
                  <a:lnTo>
                    <a:pt x="7690623" y="432205"/>
                  </a:lnTo>
                  <a:lnTo>
                    <a:pt x="7710184" y="473371"/>
                  </a:lnTo>
                  <a:lnTo>
                    <a:pt x="7727406" y="515800"/>
                  </a:lnTo>
                  <a:lnTo>
                    <a:pt x="7742205" y="559407"/>
                  </a:lnTo>
                  <a:lnTo>
                    <a:pt x="7754500" y="604111"/>
                  </a:lnTo>
                  <a:lnTo>
                    <a:pt x="7764207" y="649827"/>
                  </a:lnTo>
                  <a:lnTo>
                    <a:pt x="7771243" y="696473"/>
                  </a:lnTo>
                  <a:lnTo>
                    <a:pt x="7775526" y="743967"/>
                  </a:lnTo>
                  <a:lnTo>
                    <a:pt x="7776972" y="792226"/>
                  </a:lnTo>
                  <a:lnTo>
                    <a:pt x="7776972" y="3961129"/>
                  </a:lnTo>
                  <a:lnTo>
                    <a:pt x="7775526" y="4009389"/>
                  </a:lnTo>
                  <a:lnTo>
                    <a:pt x="7771243" y="4056884"/>
                  </a:lnTo>
                  <a:lnTo>
                    <a:pt x="7764207" y="4103531"/>
                  </a:lnTo>
                  <a:lnTo>
                    <a:pt x="7754500" y="4149248"/>
                  </a:lnTo>
                  <a:lnTo>
                    <a:pt x="7742205" y="4193952"/>
                  </a:lnTo>
                  <a:lnTo>
                    <a:pt x="7727406" y="4237560"/>
                  </a:lnTo>
                  <a:lnTo>
                    <a:pt x="7710184" y="4279989"/>
                  </a:lnTo>
                  <a:lnTo>
                    <a:pt x="7690623" y="4321156"/>
                  </a:lnTo>
                  <a:lnTo>
                    <a:pt x="7668805" y="4360978"/>
                  </a:lnTo>
                  <a:lnTo>
                    <a:pt x="7644814" y="4399373"/>
                  </a:lnTo>
                  <a:lnTo>
                    <a:pt x="7618733" y="4436257"/>
                  </a:lnTo>
                  <a:lnTo>
                    <a:pt x="7590644" y="4471548"/>
                  </a:lnTo>
                  <a:lnTo>
                    <a:pt x="7560630" y="4505163"/>
                  </a:lnTo>
                  <a:lnTo>
                    <a:pt x="7528774" y="4537018"/>
                  </a:lnTo>
                  <a:lnTo>
                    <a:pt x="7495159" y="4567032"/>
                  </a:lnTo>
                  <a:lnTo>
                    <a:pt x="7459868" y="4595120"/>
                  </a:lnTo>
                  <a:lnTo>
                    <a:pt x="7422983" y="4621201"/>
                  </a:lnTo>
                  <a:lnTo>
                    <a:pt x="7384589" y="4645192"/>
                  </a:lnTo>
                  <a:lnTo>
                    <a:pt x="7344766" y="4667009"/>
                  </a:lnTo>
                  <a:lnTo>
                    <a:pt x="7303600" y="4686570"/>
                  </a:lnTo>
                  <a:lnTo>
                    <a:pt x="7261171" y="4703791"/>
                  </a:lnTo>
                  <a:lnTo>
                    <a:pt x="7217564" y="4718590"/>
                  </a:lnTo>
                  <a:lnTo>
                    <a:pt x="7172860" y="4730885"/>
                  </a:lnTo>
                  <a:lnTo>
                    <a:pt x="7127144" y="4740591"/>
                  </a:lnTo>
                  <a:lnTo>
                    <a:pt x="7080498" y="4747627"/>
                  </a:lnTo>
                  <a:lnTo>
                    <a:pt x="7033004" y="4751910"/>
                  </a:lnTo>
                  <a:lnTo>
                    <a:pt x="6984746" y="4753356"/>
                  </a:lnTo>
                  <a:lnTo>
                    <a:pt x="792226" y="4753356"/>
                  </a:lnTo>
                  <a:lnTo>
                    <a:pt x="743966" y="4751910"/>
                  </a:lnTo>
                  <a:lnTo>
                    <a:pt x="696471" y="4747627"/>
                  </a:lnTo>
                  <a:lnTo>
                    <a:pt x="649824" y="4740591"/>
                  </a:lnTo>
                  <a:lnTo>
                    <a:pt x="604107" y="4730885"/>
                  </a:lnTo>
                  <a:lnTo>
                    <a:pt x="559403" y="4718590"/>
                  </a:lnTo>
                  <a:lnTo>
                    <a:pt x="515795" y="4703791"/>
                  </a:lnTo>
                  <a:lnTo>
                    <a:pt x="473366" y="4686570"/>
                  </a:lnTo>
                  <a:lnTo>
                    <a:pt x="432199" y="4667009"/>
                  </a:lnTo>
                  <a:lnTo>
                    <a:pt x="392377" y="4645192"/>
                  </a:lnTo>
                  <a:lnTo>
                    <a:pt x="353982" y="4621201"/>
                  </a:lnTo>
                  <a:lnTo>
                    <a:pt x="317098" y="4595120"/>
                  </a:lnTo>
                  <a:lnTo>
                    <a:pt x="281807" y="4567032"/>
                  </a:lnTo>
                  <a:lnTo>
                    <a:pt x="248192" y="4537018"/>
                  </a:lnTo>
                  <a:lnTo>
                    <a:pt x="216337" y="4505163"/>
                  </a:lnTo>
                  <a:lnTo>
                    <a:pt x="186323" y="4471548"/>
                  </a:lnTo>
                  <a:lnTo>
                    <a:pt x="158235" y="4436257"/>
                  </a:lnTo>
                  <a:lnTo>
                    <a:pt x="132154" y="4399373"/>
                  </a:lnTo>
                  <a:lnTo>
                    <a:pt x="108163" y="4360978"/>
                  </a:lnTo>
                  <a:lnTo>
                    <a:pt x="86346" y="4321156"/>
                  </a:lnTo>
                  <a:lnTo>
                    <a:pt x="66785" y="4279989"/>
                  </a:lnTo>
                  <a:lnTo>
                    <a:pt x="49564" y="4237560"/>
                  </a:lnTo>
                  <a:lnTo>
                    <a:pt x="34765" y="4193952"/>
                  </a:lnTo>
                  <a:lnTo>
                    <a:pt x="22470" y="4149248"/>
                  </a:lnTo>
                  <a:lnTo>
                    <a:pt x="12764" y="4103531"/>
                  </a:lnTo>
                  <a:lnTo>
                    <a:pt x="5728" y="4056884"/>
                  </a:lnTo>
                  <a:lnTo>
                    <a:pt x="1445" y="4009389"/>
                  </a:lnTo>
                  <a:lnTo>
                    <a:pt x="0" y="3961129"/>
                  </a:lnTo>
                  <a:lnTo>
                    <a:pt x="0" y="792226"/>
                  </a:lnTo>
                  <a:close/>
                </a:path>
              </a:pathLst>
            </a:custGeom>
            <a:ln w="25907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7"/>
            <p:cNvSpPr/>
            <p:nvPr/>
          </p:nvSpPr>
          <p:spPr>
            <a:xfrm>
              <a:off x="1044702" y="1477517"/>
              <a:ext cx="3442970" cy="2089785"/>
            </a:xfrm>
            <a:custGeom>
              <a:avLst/>
              <a:gdLst/>
              <a:ahLst/>
              <a:cxnLst/>
              <a:rect l="l" t="t" r="r" b="b"/>
              <a:pathLst>
                <a:path w="3442970" h="2089785">
                  <a:moveTo>
                    <a:pt x="3094482" y="0"/>
                  </a:moveTo>
                  <a:lnTo>
                    <a:pt x="348234" y="0"/>
                  </a:lnTo>
                  <a:lnTo>
                    <a:pt x="300982" y="3179"/>
                  </a:lnTo>
                  <a:lnTo>
                    <a:pt x="255662" y="12442"/>
                  </a:lnTo>
                  <a:lnTo>
                    <a:pt x="212689" y="27372"/>
                  </a:lnTo>
                  <a:lnTo>
                    <a:pt x="172477" y="47554"/>
                  </a:lnTo>
                  <a:lnTo>
                    <a:pt x="135442" y="72573"/>
                  </a:lnTo>
                  <a:lnTo>
                    <a:pt x="101998" y="102012"/>
                  </a:lnTo>
                  <a:lnTo>
                    <a:pt x="72561" y="135458"/>
                  </a:lnTo>
                  <a:lnTo>
                    <a:pt x="47545" y="172494"/>
                  </a:lnTo>
                  <a:lnTo>
                    <a:pt x="27367" y="212705"/>
                  </a:lnTo>
                  <a:lnTo>
                    <a:pt x="12439" y="255675"/>
                  </a:lnTo>
                  <a:lnTo>
                    <a:pt x="3179" y="300990"/>
                  </a:lnTo>
                  <a:lnTo>
                    <a:pt x="0" y="348234"/>
                  </a:lnTo>
                  <a:lnTo>
                    <a:pt x="0" y="1741170"/>
                  </a:lnTo>
                  <a:lnTo>
                    <a:pt x="3179" y="1788413"/>
                  </a:lnTo>
                  <a:lnTo>
                    <a:pt x="12439" y="1833728"/>
                  </a:lnTo>
                  <a:lnTo>
                    <a:pt x="27367" y="1876698"/>
                  </a:lnTo>
                  <a:lnTo>
                    <a:pt x="47545" y="1916909"/>
                  </a:lnTo>
                  <a:lnTo>
                    <a:pt x="72561" y="1953945"/>
                  </a:lnTo>
                  <a:lnTo>
                    <a:pt x="101998" y="1987391"/>
                  </a:lnTo>
                  <a:lnTo>
                    <a:pt x="135442" y="2016830"/>
                  </a:lnTo>
                  <a:lnTo>
                    <a:pt x="172477" y="2041849"/>
                  </a:lnTo>
                  <a:lnTo>
                    <a:pt x="212689" y="2062031"/>
                  </a:lnTo>
                  <a:lnTo>
                    <a:pt x="255662" y="2076961"/>
                  </a:lnTo>
                  <a:lnTo>
                    <a:pt x="300982" y="2086224"/>
                  </a:lnTo>
                  <a:lnTo>
                    <a:pt x="348234" y="2089404"/>
                  </a:lnTo>
                  <a:lnTo>
                    <a:pt x="3094482" y="2089404"/>
                  </a:lnTo>
                  <a:lnTo>
                    <a:pt x="3141725" y="2086224"/>
                  </a:lnTo>
                  <a:lnTo>
                    <a:pt x="3187040" y="2076961"/>
                  </a:lnTo>
                  <a:lnTo>
                    <a:pt x="3230010" y="2062031"/>
                  </a:lnTo>
                  <a:lnTo>
                    <a:pt x="3270221" y="2041849"/>
                  </a:lnTo>
                  <a:lnTo>
                    <a:pt x="3307257" y="2016830"/>
                  </a:lnTo>
                  <a:lnTo>
                    <a:pt x="3340703" y="1987391"/>
                  </a:lnTo>
                  <a:lnTo>
                    <a:pt x="3370142" y="1953945"/>
                  </a:lnTo>
                  <a:lnTo>
                    <a:pt x="3395161" y="1916909"/>
                  </a:lnTo>
                  <a:lnTo>
                    <a:pt x="3415343" y="1876698"/>
                  </a:lnTo>
                  <a:lnTo>
                    <a:pt x="3430273" y="1833728"/>
                  </a:lnTo>
                  <a:lnTo>
                    <a:pt x="3439536" y="1788413"/>
                  </a:lnTo>
                  <a:lnTo>
                    <a:pt x="3442716" y="1741170"/>
                  </a:lnTo>
                  <a:lnTo>
                    <a:pt x="3442716" y="348234"/>
                  </a:lnTo>
                  <a:lnTo>
                    <a:pt x="3439536" y="300990"/>
                  </a:lnTo>
                  <a:lnTo>
                    <a:pt x="3430273" y="255675"/>
                  </a:lnTo>
                  <a:lnTo>
                    <a:pt x="3415343" y="212705"/>
                  </a:lnTo>
                  <a:lnTo>
                    <a:pt x="3395161" y="172494"/>
                  </a:lnTo>
                  <a:lnTo>
                    <a:pt x="3370142" y="135458"/>
                  </a:lnTo>
                  <a:lnTo>
                    <a:pt x="3340703" y="102012"/>
                  </a:lnTo>
                  <a:lnTo>
                    <a:pt x="3307257" y="72573"/>
                  </a:lnTo>
                  <a:lnTo>
                    <a:pt x="3270221" y="47554"/>
                  </a:lnTo>
                  <a:lnTo>
                    <a:pt x="3230010" y="27372"/>
                  </a:lnTo>
                  <a:lnTo>
                    <a:pt x="3187040" y="12442"/>
                  </a:lnTo>
                  <a:lnTo>
                    <a:pt x="3141725" y="3179"/>
                  </a:lnTo>
                  <a:lnTo>
                    <a:pt x="3094482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8"/>
            <p:cNvSpPr/>
            <p:nvPr/>
          </p:nvSpPr>
          <p:spPr>
            <a:xfrm>
              <a:off x="1044702" y="1477517"/>
              <a:ext cx="3442970" cy="2089785"/>
            </a:xfrm>
            <a:custGeom>
              <a:avLst/>
              <a:gdLst/>
              <a:ahLst/>
              <a:cxnLst/>
              <a:rect l="l" t="t" r="r" b="b"/>
              <a:pathLst>
                <a:path w="3442970" h="2089785">
                  <a:moveTo>
                    <a:pt x="0" y="348234"/>
                  </a:moveTo>
                  <a:lnTo>
                    <a:pt x="3179" y="300990"/>
                  </a:lnTo>
                  <a:lnTo>
                    <a:pt x="12439" y="255675"/>
                  </a:lnTo>
                  <a:lnTo>
                    <a:pt x="27367" y="212705"/>
                  </a:lnTo>
                  <a:lnTo>
                    <a:pt x="47545" y="172494"/>
                  </a:lnTo>
                  <a:lnTo>
                    <a:pt x="72561" y="135458"/>
                  </a:lnTo>
                  <a:lnTo>
                    <a:pt x="101998" y="102012"/>
                  </a:lnTo>
                  <a:lnTo>
                    <a:pt x="135442" y="72573"/>
                  </a:lnTo>
                  <a:lnTo>
                    <a:pt x="172477" y="47554"/>
                  </a:lnTo>
                  <a:lnTo>
                    <a:pt x="212689" y="27372"/>
                  </a:lnTo>
                  <a:lnTo>
                    <a:pt x="255662" y="12442"/>
                  </a:lnTo>
                  <a:lnTo>
                    <a:pt x="300982" y="3179"/>
                  </a:lnTo>
                  <a:lnTo>
                    <a:pt x="348234" y="0"/>
                  </a:lnTo>
                  <a:lnTo>
                    <a:pt x="3094482" y="0"/>
                  </a:lnTo>
                  <a:lnTo>
                    <a:pt x="3141725" y="3179"/>
                  </a:lnTo>
                  <a:lnTo>
                    <a:pt x="3187040" y="12442"/>
                  </a:lnTo>
                  <a:lnTo>
                    <a:pt x="3230010" y="27372"/>
                  </a:lnTo>
                  <a:lnTo>
                    <a:pt x="3270221" y="47554"/>
                  </a:lnTo>
                  <a:lnTo>
                    <a:pt x="3307257" y="72573"/>
                  </a:lnTo>
                  <a:lnTo>
                    <a:pt x="3340703" y="102012"/>
                  </a:lnTo>
                  <a:lnTo>
                    <a:pt x="3370142" y="135458"/>
                  </a:lnTo>
                  <a:lnTo>
                    <a:pt x="3395161" y="172494"/>
                  </a:lnTo>
                  <a:lnTo>
                    <a:pt x="3415343" y="212705"/>
                  </a:lnTo>
                  <a:lnTo>
                    <a:pt x="3430273" y="255675"/>
                  </a:lnTo>
                  <a:lnTo>
                    <a:pt x="3439536" y="300990"/>
                  </a:lnTo>
                  <a:lnTo>
                    <a:pt x="3442716" y="348234"/>
                  </a:lnTo>
                  <a:lnTo>
                    <a:pt x="3442716" y="1741170"/>
                  </a:lnTo>
                  <a:lnTo>
                    <a:pt x="3439536" y="1788413"/>
                  </a:lnTo>
                  <a:lnTo>
                    <a:pt x="3430273" y="1833728"/>
                  </a:lnTo>
                  <a:lnTo>
                    <a:pt x="3415343" y="1876698"/>
                  </a:lnTo>
                  <a:lnTo>
                    <a:pt x="3395161" y="1916909"/>
                  </a:lnTo>
                  <a:lnTo>
                    <a:pt x="3370142" y="1953945"/>
                  </a:lnTo>
                  <a:lnTo>
                    <a:pt x="3340703" y="1987391"/>
                  </a:lnTo>
                  <a:lnTo>
                    <a:pt x="3307257" y="2016830"/>
                  </a:lnTo>
                  <a:lnTo>
                    <a:pt x="3270221" y="2041849"/>
                  </a:lnTo>
                  <a:lnTo>
                    <a:pt x="3230010" y="2062031"/>
                  </a:lnTo>
                  <a:lnTo>
                    <a:pt x="3187040" y="2076961"/>
                  </a:lnTo>
                  <a:lnTo>
                    <a:pt x="3141725" y="2086224"/>
                  </a:lnTo>
                  <a:lnTo>
                    <a:pt x="3094482" y="2089404"/>
                  </a:lnTo>
                  <a:lnTo>
                    <a:pt x="348234" y="2089404"/>
                  </a:lnTo>
                  <a:lnTo>
                    <a:pt x="300982" y="2086224"/>
                  </a:lnTo>
                  <a:lnTo>
                    <a:pt x="255662" y="2076961"/>
                  </a:lnTo>
                  <a:lnTo>
                    <a:pt x="212689" y="2062031"/>
                  </a:lnTo>
                  <a:lnTo>
                    <a:pt x="172477" y="2041849"/>
                  </a:lnTo>
                  <a:lnTo>
                    <a:pt x="135442" y="2016830"/>
                  </a:lnTo>
                  <a:lnTo>
                    <a:pt x="101998" y="1987391"/>
                  </a:lnTo>
                  <a:lnTo>
                    <a:pt x="72561" y="1953945"/>
                  </a:lnTo>
                  <a:lnTo>
                    <a:pt x="47545" y="1916909"/>
                  </a:lnTo>
                  <a:lnTo>
                    <a:pt x="27367" y="1876698"/>
                  </a:lnTo>
                  <a:lnTo>
                    <a:pt x="12439" y="1833728"/>
                  </a:lnTo>
                  <a:lnTo>
                    <a:pt x="3179" y="1788413"/>
                  </a:lnTo>
                  <a:lnTo>
                    <a:pt x="0" y="1741170"/>
                  </a:lnTo>
                  <a:lnTo>
                    <a:pt x="0" y="348234"/>
                  </a:lnTo>
                  <a:close/>
                </a:path>
              </a:pathLst>
            </a:custGeom>
            <a:ln w="25908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9"/>
            <p:cNvSpPr/>
            <p:nvPr/>
          </p:nvSpPr>
          <p:spPr>
            <a:xfrm>
              <a:off x="4644390" y="1485138"/>
              <a:ext cx="3442970" cy="2087880"/>
            </a:xfrm>
            <a:custGeom>
              <a:avLst/>
              <a:gdLst/>
              <a:ahLst/>
              <a:cxnLst/>
              <a:rect l="l" t="t" r="r" b="b"/>
              <a:pathLst>
                <a:path w="3442970" h="2087879">
                  <a:moveTo>
                    <a:pt x="3094736" y="0"/>
                  </a:moveTo>
                  <a:lnTo>
                    <a:pt x="347980" y="0"/>
                  </a:lnTo>
                  <a:lnTo>
                    <a:pt x="300768" y="3177"/>
                  </a:lnTo>
                  <a:lnTo>
                    <a:pt x="255484" y="12432"/>
                  </a:lnTo>
                  <a:lnTo>
                    <a:pt x="212544" y="27350"/>
                  </a:lnTo>
                  <a:lnTo>
                    <a:pt x="172362" y="47516"/>
                  </a:lnTo>
                  <a:lnTo>
                    <a:pt x="135353" y="72516"/>
                  </a:lnTo>
                  <a:lnTo>
                    <a:pt x="101933" y="101933"/>
                  </a:lnTo>
                  <a:lnTo>
                    <a:pt x="72516" y="135353"/>
                  </a:lnTo>
                  <a:lnTo>
                    <a:pt x="47516" y="172362"/>
                  </a:lnTo>
                  <a:lnTo>
                    <a:pt x="27350" y="212544"/>
                  </a:lnTo>
                  <a:lnTo>
                    <a:pt x="12432" y="255484"/>
                  </a:lnTo>
                  <a:lnTo>
                    <a:pt x="3177" y="300768"/>
                  </a:lnTo>
                  <a:lnTo>
                    <a:pt x="0" y="347979"/>
                  </a:lnTo>
                  <a:lnTo>
                    <a:pt x="0" y="1739900"/>
                  </a:lnTo>
                  <a:lnTo>
                    <a:pt x="3177" y="1787111"/>
                  </a:lnTo>
                  <a:lnTo>
                    <a:pt x="12432" y="1832395"/>
                  </a:lnTo>
                  <a:lnTo>
                    <a:pt x="27350" y="1875335"/>
                  </a:lnTo>
                  <a:lnTo>
                    <a:pt x="47516" y="1915517"/>
                  </a:lnTo>
                  <a:lnTo>
                    <a:pt x="72516" y="1952526"/>
                  </a:lnTo>
                  <a:lnTo>
                    <a:pt x="101933" y="1985946"/>
                  </a:lnTo>
                  <a:lnTo>
                    <a:pt x="135353" y="2015363"/>
                  </a:lnTo>
                  <a:lnTo>
                    <a:pt x="172362" y="2040363"/>
                  </a:lnTo>
                  <a:lnTo>
                    <a:pt x="212544" y="2060529"/>
                  </a:lnTo>
                  <a:lnTo>
                    <a:pt x="255484" y="2075447"/>
                  </a:lnTo>
                  <a:lnTo>
                    <a:pt x="300768" y="2084702"/>
                  </a:lnTo>
                  <a:lnTo>
                    <a:pt x="347980" y="2087879"/>
                  </a:lnTo>
                  <a:lnTo>
                    <a:pt x="3094736" y="2087879"/>
                  </a:lnTo>
                  <a:lnTo>
                    <a:pt x="3141947" y="2084702"/>
                  </a:lnTo>
                  <a:lnTo>
                    <a:pt x="3187231" y="2075447"/>
                  </a:lnTo>
                  <a:lnTo>
                    <a:pt x="3230171" y="2060529"/>
                  </a:lnTo>
                  <a:lnTo>
                    <a:pt x="3270353" y="2040363"/>
                  </a:lnTo>
                  <a:lnTo>
                    <a:pt x="3307362" y="2015363"/>
                  </a:lnTo>
                  <a:lnTo>
                    <a:pt x="3340782" y="1985946"/>
                  </a:lnTo>
                  <a:lnTo>
                    <a:pt x="3370199" y="1952526"/>
                  </a:lnTo>
                  <a:lnTo>
                    <a:pt x="3395199" y="1915517"/>
                  </a:lnTo>
                  <a:lnTo>
                    <a:pt x="3415365" y="1875335"/>
                  </a:lnTo>
                  <a:lnTo>
                    <a:pt x="3430283" y="1832395"/>
                  </a:lnTo>
                  <a:lnTo>
                    <a:pt x="3439538" y="1787111"/>
                  </a:lnTo>
                  <a:lnTo>
                    <a:pt x="3442716" y="1739900"/>
                  </a:lnTo>
                  <a:lnTo>
                    <a:pt x="3442716" y="347979"/>
                  </a:lnTo>
                  <a:lnTo>
                    <a:pt x="3439538" y="300768"/>
                  </a:lnTo>
                  <a:lnTo>
                    <a:pt x="3430283" y="255484"/>
                  </a:lnTo>
                  <a:lnTo>
                    <a:pt x="3415365" y="212544"/>
                  </a:lnTo>
                  <a:lnTo>
                    <a:pt x="3395199" y="172362"/>
                  </a:lnTo>
                  <a:lnTo>
                    <a:pt x="3370199" y="135353"/>
                  </a:lnTo>
                  <a:lnTo>
                    <a:pt x="3340782" y="101933"/>
                  </a:lnTo>
                  <a:lnTo>
                    <a:pt x="3307362" y="72516"/>
                  </a:lnTo>
                  <a:lnTo>
                    <a:pt x="3270353" y="47516"/>
                  </a:lnTo>
                  <a:lnTo>
                    <a:pt x="3230171" y="27350"/>
                  </a:lnTo>
                  <a:lnTo>
                    <a:pt x="3187231" y="12432"/>
                  </a:lnTo>
                  <a:lnTo>
                    <a:pt x="3141947" y="3177"/>
                  </a:lnTo>
                  <a:lnTo>
                    <a:pt x="3094736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20"/>
            <p:cNvSpPr/>
            <p:nvPr/>
          </p:nvSpPr>
          <p:spPr>
            <a:xfrm>
              <a:off x="4644390" y="1485138"/>
              <a:ext cx="3442970" cy="2087880"/>
            </a:xfrm>
            <a:custGeom>
              <a:avLst/>
              <a:gdLst/>
              <a:ahLst/>
              <a:cxnLst/>
              <a:rect l="l" t="t" r="r" b="b"/>
              <a:pathLst>
                <a:path w="3442970" h="2087879">
                  <a:moveTo>
                    <a:pt x="0" y="347979"/>
                  </a:moveTo>
                  <a:lnTo>
                    <a:pt x="3177" y="300768"/>
                  </a:lnTo>
                  <a:lnTo>
                    <a:pt x="12432" y="255484"/>
                  </a:lnTo>
                  <a:lnTo>
                    <a:pt x="27350" y="212544"/>
                  </a:lnTo>
                  <a:lnTo>
                    <a:pt x="47516" y="172362"/>
                  </a:lnTo>
                  <a:lnTo>
                    <a:pt x="72516" y="135353"/>
                  </a:lnTo>
                  <a:lnTo>
                    <a:pt x="101933" y="101933"/>
                  </a:lnTo>
                  <a:lnTo>
                    <a:pt x="135353" y="72516"/>
                  </a:lnTo>
                  <a:lnTo>
                    <a:pt x="172362" y="47516"/>
                  </a:lnTo>
                  <a:lnTo>
                    <a:pt x="212544" y="27350"/>
                  </a:lnTo>
                  <a:lnTo>
                    <a:pt x="255484" y="12432"/>
                  </a:lnTo>
                  <a:lnTo>
                    <a:pt x="300768" y="3177"/>
                  </a:lnTo>
                  <a:lnTo>
                    <a:pt x="347980" y="0"/>
                  </a:lnTo>
                  <a:lnTo>
                    <a:pt x="3094736" y="0"/>
                  </a:lnTo>
                  <a:lnTo>
                    <a:pt x="3141947" y="3177"/>
                  </a:lnTo>
                  <a:lnTo>
                    <a:pt x="3187231" y="12432"/>
                  </a:lnTo>
                  <a:lnTo>
                    <a:pt x="3230171" y="27350"/>
                  </a:lnTo>
                  <a:lnTo>
                    <a:pt x="3270353" y="47516"/>
                  </a:lnTo>
                  <a:lnTo>
                    <a:pt x="3307362" y="72516"/>
                  </a:lnTo>
                  <a:lnTo>
                    <a:pt x="3340782" y="101933"/>
                  </a:lnTo>
                  <a:lnTo>
                    <a:pt x="3370199" y="135353"/>
                  </a:lnTo>
                  <a:lnTo>
                    <a:pt x="3395199" y="172362"/>
                  </a:lnTo>
                  <a:lnTo>
                    <a:pt x="3415365" y="212544"/>
                  </a:lnTo>
                  <a:lnTo>
                    <a:pt x="3430283" y="255484"/>
                  </a:lnTo>
                  <a:lnTo>
                    <a:pt x="3439538" y="300768"/>
                  </a:lnTo>
                  <a:lnTo>
                    <a:pt x="3442716" y="347979"/>
                  </a:lnTo>
                  <a:lnTo>
                    <a:pt x="3442716" y="1739900"/>
                  </a:lnTo>
                  <a:lnTo>
                    <a:pt x="3439538" y="1787111"/>
                  </a:lnTo>
                  <a:lnTo>
                    <a:pt x="3430283" y="1832395"/>
                  </a:lnTo>
                  <a:lnTo>
                    <a:pt x="3415365" y="1875335"/>
                  </a:lnTo>
                  <a:lnTo>
                    <a:pt x="3395199" y="1915517"/>
                  </a:lnTo>
                  <a:lnTo>
                    <a:pt x="3370199" y="1952526"/>
                  </a:lnTo>
                  <a:lnTo>
                    <a:pt x="3340782" y="1985946"/>
                  </a:lnTo>
                  <a:lnTo>
                    <a:pt x="3307362" y="2015363"/>
                  </a:lnTo>
                  <a:lnTo>
                    <a:pt x="3270353" y="2040363"/>
                  </a:lnTo>
                  <a:lnTo>
                    <a:pt x="3230171" y="2060529"/>
                  </a:lnTo>
                  <a:lnTo>
                    <a:pt x="3187231" y="2075447"/>
                  </a:lnTo>
                  <a:lnTo>
                    <a:pt x="3141947" y="2084702"/>
                  </a:lnTo>
                  <a:lnTo>
                    <a:pt x="3094736" y="2087879"/>
                  </a:lnTo>
                  <a:lnTo>
                    <a:pt x="347980" y="2087879"/>
                  </a:lnTo>
                  <a:lnTo>
                    <a:pt x="300768" y="2084702"/>
                  </a:lnTo>
                  <a:lnTo>
                    <a:pt x="255484" y="2075447"/>
                  </a:lnTo>
                  <a:lnTo>
                    <a:pt x="212544" y="2060529"/>
                  </a:lnTo>
                  <a:lnTo>
                    <a:pt x="172362" y="2040363"/>
                  </a:lnTo>
                  <a:lnTo>
                    <a:pt x="135353" y="2015363"/>
                  </a:lnTo>
                  <a:lnTo>
                    <a:pt x="101933" y="1985946"/>
                  </a:lnTo>
                  <a:lnTo>
                    <a:pt x="72516" y="1952526"/>
                  </a:lnTo>
                  <a:lnTo>
                    <a:pt x="47516" y="1915517"/>
                  </a:lnTo>
                  <a:lnTo>
                    <a:pt x="27350" y="1875335"/>
                  </a:lnTo>
                  <a:lnTo>
                    <a:pt x="12432" y="1832395"/>
                  </a:lnTo>
                  <a:lnTo>
                    <a:pt x="3177" y="1787111"/>
                  </a:lnTo>
                  <a:lnTo>
                    <a:pt x="0" y="1739900"/>
                  </a:lnTo>
                  <a:lnTo>
                    <a:pt x="0" y="347979"/>
                  </a:lnTo>
                  <a:close/>
                </a:path>
              </a:pathLst>
            </a:custGeom>
            <a:ln w="25907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1"/>
            <p:cNvSpPr/>
            <p:nvPr/>
          </p:nvSpPr>
          <p:spPr>
            <a:xfrm>
              <a:off x="4658105" y="3681221"/>
              <a:ext cx="3442970" cy="2089785"/>
            </a:xfrm>
            <a:custGeom>
              <a:avLst/>
              <a:gdLst/>
              <a:ahLst/>
              <a:cxnLst/>
              <a:rect l="l" t="t" r="r" b="b"/>
              <a:pathLst>
                <a:path w="3442970" h="2089785">
                  <a:moveTo>
                    <a:pt x="3094482" y="0"/>
                  </a:moveTo>
                  <a:lnTo>
                    <a:pt x="348234" y="0"/>
                  </a:lnTo>
                  <a:lnTo>
                    <a:pt x="300990" y="3179"/>
                  </a:lnTo>
                  <a:lnTo>
                    <a:pt x="255675" y="12442"/>
                  </a:lnTo>
                  <a:lnTo>
                    <a:pt x="212705" y="27372"/>
                  </a:lnTo>
                  <a:lnTo>
                    <a:pt x="172494" y="47554"/>
                  </a:lnTo>
                  <a:lnTo>
                    <a:pt x="135458" y="72573"/>
                  </a:lnTo>
                  <a:lnTo>
                    <a:pt x="102012" y="102012"/>
                  </a:lnTo>
                  <a:lnTo>
                    <a:pt x="72573" y="135458"/>
                  </a:lnTo>
                  <a:lnTo>
                    <a:pt x="47554" y="172494"/>
                  </a:lnTo>
                  <a:lnTo>
                    <a:pt x="27372" y="212705"/>
                  </a:lnTo>
                  <a:lnTo>
                    <a:pt x="12442" y="255675"/>
                  </a:lnTo>
                  <a:lnTo>
                    <a:pt x="3179" y="300990"/>
                  </a:lnTo>
                  <a:lnTo>
                    <a:pt x="0" y="348233"/>
                  </a:lnTo>
                  <a:lnTo>
                    <a:pt x="0" y="1741169"/>
                  </a:lnTo>
                  <a:lnTo>
                    <a:pt x="3179" y="1788421"/>
                  </a:lnTo>
                  <a:lnTo>
                    <a:pt x="12442" y="1833741"/>
                  </a:lnTo>
                  <a:lnTo>
                    <a:pt x="27372" y="1876714"/>
                  </a:lnTo>
                  <a:lnTo>
                    <a:pt x="47554" y="1916926"/>
                  </a:lnTo>
                  <a:lnTo>
                    <a:pt x="72573" y="1953961"/>
                  </a:lnTo>
                  <a:lnTo>
                    <a:pt x="102012" y="1987405"/>
                  </a:lnTo>
                  <a:lnTo>
                    <a:pt x="135458" y="2016842"/>
                  </a:lnTo>
                  <a:lnTo>
                    <a:pt x="172494" y="2041858"/>
                  </a:lnTo>
                  <a:lnTo>
                    <a:pt x="212705" y="2062036"/>
                  </a:lnTo>
                  <a:lnTo>
                    <a:pt x="255675" y="2076964"/>
                  </a:lnTo>
                  <a:lnTo>
                    <a:pt x="300990" y="2086224"/>
                  </a:lnTo>
                  <a:lnTo>
                    <a:pt x="348234" y="2089403"/>
                  </a:lnTo>
                  <a:lnTo>
                    <a:pt x="3094482" y="2089403"/>
                  </a:lnTo>
                  <a:lnTo>
                    <a:pt x="3141725" y="2086224"/>
                  </a:lnTo>
                  <a:lnTo>
                    <a:pt x="3187040" y="2076964"/>
                  </a:lnTo>
                  <a:lnTo>
                    <a:pt x="3230010" y="2062036"/>
                  </a:lnTo>
                  <a:lnTo>
                    <a:pt x="3270221" y="2041858"/>
                  </a:lnTo>
                  <a:lnTo>
                    <a:pt x="3307257" y="2016842"/>
                  </a:lnTo>
                  <a:lnTo>
                    <a:pt x="3340703" y="1987405"/>
                  </a:lnTo>
                  <a:lnTo>
                    <a:pt x="3370142" y="1953961"/>
                  </a:lnTo>
                  <a:lnTo>
                    <a:pt x="3395161" y="1916926"/>
                  </a:lnTo>
                  <a:lnTo>
                    <a:pt x="3415343" y="1876714"/>
                  </a:lnTo>
                  <a:lnTo>
                    <a:pt x="3430273" y="1833741"/>
                  </a:lnTo>
                  <a:lnTo>
                    <a:pt x="3439536" y="1788421"/>
                  </a:lnTo>
                  <a:lnTo>
                    <a:pt x="3442716" y="1741169"/>
                  </a:lnTo>
                  <a:lnTo>
                    <a:pt x="3442716" y="348233"/>
                  </a:lnTo>
                  <a:lnTo>
                    <a:pt x="3439536" y="300990"/>
                  </a:lnTo>
                  <a:lnTo>
                    <a:pt x="3430273" y="255675"/>
                  </a:lnTo>
                  <a:lnTo>
                    <a:pt x="3415343" y="212705"/>
                  </a:lnTo>
                  <a:lnTo>
                    <a:pt x="3395161" y="172494"/>
                  </a:lnTo>
                  <a:lnTo>
                    <a:pt x="3370142" y="135458"/>
                  </a:lnTo>
                  <a:lnTo>
                    <a:pt x="3340703" y="102012"/>
                  </a:lnTo>
                  <a:lnTo>
                    <a:pt x="3307257" y="72573"/>
                  </a:lnTo>
                  <a:lnTo>
                    <a:pt x="3270221" y="47554"/>
                  </a:lnTo>
                  <a:lnTo>
                    <a:pt x="3230010" y="27372"/>
                  </a:lnTo>
                  <a:lnTo>
                    <a:pt x="3187040" y="12442"/>
                  </a:lnTo>
                  <a:lnTo>
                    <a:pt x="3141725" y="3179"/>
                  </a:lnTo>
                  <a:lnTo>
                    <a:pt x="3094482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2"/>
            <p:cNvSpPr/>
            <p:nvPr/>
          </p:nvSpPr>
          <p:spPr>
            <a:xfrm>
              <a:off x="4658105" y="3681221"/>
              <a:ext cx="3442970" cy="2089785"/>
            </a:xfrm>
            <a:custGeom>
              <a:avLst/>
              <a:gdLst/>
              <a:ahLst/>
              <a:cxnLst/>
              <a:rect l="l" t="t" r="r" b="b"/>
              <a:pathLst>
                <a:path w="3442970" h="2089785">
                  <a:moveTo>
                    <a:pt x="0" y="348233"/>
                  </a:moveTo>
                  <a:lnTo>
                    <a:pt x="3179" y="300990"/>
                  </a:lnTo>
                  <a:lnTo>
                    <a:pt x="12442" y="255675"/>
                  </a:lnTo>
                  <a:lnTo>
                    <a:pt x="27372" y="212705"/>
                  </a:lnTo>
                  <a:lnTo>
                    <a:pt x="47554" y="172494"/>
                  </a:lnTo>
                  <a:lnTo>
                    <a:pt x="72573" y="135458"/>
                  </a:lnTo>
                  <a:lnTo>
                    <a:pt x="102012" y="102012"/>
                  </a:lnTo>
                  <a:lnTo>
                    <a:pt x="135458" y="72573"/>
                  </a:lnTo>
                  <a:lnTo>
                    <a:pt x="172494" y="47554"/>
                  </a:lnTo>
                  <a:lnTo>
                    <a:pt x="212705" y="27372"/>
                  </a:lnTo>
                  <a:lnTo>
                    <a:pt x="255675" y="12442"/>
                  </a:lnTo>
                  <a:lnTo>
                    <a:pt x="300990" y="3179"/>
                  </a:lnTo>
                  <a:lnTo>
                    <a:pt x="348234" y="0"/>
                  </a:lnTo>
                  <a:lnTo>
                    <a:pt x="3094482" y="0"/>
                  </a:lnTo>
                  <a:lnTo>
                    <a:pt x="3141725" y="3179"/>
                  </a:lnTo>
                  <a:lnTo>
                    <a:pt x="3187040" y="12442"/>
                  </a:lnTo>
                  <a:lnTo>
                    <a:pt x="3230010" y="27372"/>
                  </a:lnTo>
                  <a:lnTo>
                    <a:pt x="3270221" y="47554"/>
                  </a:lnTo>
                  <a:lnTo>
                    <a:pt x="3307257" y="72573"/>
                  </a:lnTo>
                  <a:lnTo>
                    <a:pt x="3340703" y="102012"/>
                  </a:lnTo>
                  <a:lnTo>
                    <a:pt x="3370142" y="135458"/>
                  </a:lnTo>
                  <a:lnTo>
                    <a:pt x="3395161" y="172494"/>
                  </a:lnTo>
                  <a:lnTo>
                    <a:pt x="3415343" y="212705"/>
                  </a:lnTo>
                  <a:lnTo>
                    <a:pt x="3430273" y="255675"/>
                  </a:lnTo>
                  <a:lnTo>
                    <a:pt x="3439536" y="300990"/>
                  </a:lnTo>
                  <a:lnTo>
                    <a:pt x="3442716" y="348233"/>
                  </a:lnTo>
                  <a:lnTo>
                    <a:pt x="3442716" y="1741169"/>
                  </a:lnTo>
                  <a:lnTo>
                    <a:pt x="3439536" y="1788421"/>
                  </a:lnTo>
                  <a:lnTo>
                    <a:pt x="3430273" y="1833741"/>
                  </a:lnTo>
                  <a:lnTo>
                    <a:pt x="3415343" y="1876714"/>
                  </a:lnTo>
                  <a:lnTo>
                    <a:pt x="3395161" y="1916926"/>
                  </a:lnTo>
                  <a:lnTo>
                    <a:pt x="3370142" y="1953961"/>
                  </a:lnTo>
                  <a:lnTo>
                    <a:pt x="3340703" y="1987405"/>
                  </a:lnTo>
                  <a:lnTo>
                    <a:pt x="3307257" y="2016842"/>
                  </a:lnTo>
                  <a:lnTo>
                    <a:pt x="3270221" y="2041858"/>
                  </a:lnTo>
                  <a:lnTo>
                    <a:pt x="3230010" y="2062036"/>
                  </a:lnTo>
                  <a:lnTo>
                    <a:pt x="3187040" y="2076964"/>
                  </a:lnTo>
                  <a:lnTo>
                    <a:pt x="3141725" y="2086224"/>
                  </a:lnTo>
                  <a:lnTo>
                    <a:pt x="3094482" y="2089403"/>
                  </a:lnTo>
                  <a:lnTo>
                    <a:pt x="348234" y="2089403"/>
                  </a:lnTo>
                  <a:lnTo>
                    <a:pt x="300990" y="2086224"/>
                  </a:lnTo>
                  <a:lnTo>
                    <a:pt x="255675" y="2076964"/>
                  </a:lnTo>
                  <a:lnTo>
                    <a:pt x="212705" y="2062036"/>
                  </a:lnTo>
                  <a:lnTo>
                    <a:pt x="172494" y="2041858"/>
                  </a:lnTo>
                  <a:lnTo>
                    <a:pt x="135458" y="2016842"/>
                  </a:lnTo>
                  <a:lnTo>
                    <a:pt x="102012" y="1987405"/>
                  </a:lnTo>
                  <a:lnTo>
                    <a:pt x="72573" y="1953961"/>
                  </a:lnTo>
                  <a:lnTo>
                    <a:pt x="47554" y="1916926"/>
                  </a:lnTo>
                  <a:lnTo>
                    <a:pt x="27372" y="1876714"/>
                  </a:lnTo>
                  <a:lnTo>
                    <a:pt x="12442" y="1833741"/>
                  </a:lnTo>
                  <a:lnTo>
                    <a:pt x="3179" y="1788421"/>
                  </a:lnTo>
                  <a:lnTo>
                    <a:pt x="0" y="1741169"/>
                  </a:lnTo>
                  <a:lnTo>
                    <a:pt x="0" y="348233"/>
                  </a:lnTo>
                  <a:close/>
                </a:path>
              </a:pathLst>
            </a:custGeom>
            <a:ln w="25908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3"/>
            <p:cNvSpPr/>
            <p:nvPr/>
          </p:nvSpPr>
          <p:spPr>
            <a:xfrm>
              <a:off x="1044702" y="3697985"/>
              <a:ext cx="3442970" cy="2089785"/>
            </a:xfrm>
            <a:custGeom>
              <a:avLst/>
              <a:gdLst/>
              <a:ahLst/>
              <a:cxnLst/>
              <a:rect l="l" t="t" r="r" b="b"/>
              <a:pathLst>
                <a:path w="3442970" h="2089785">
                  <a:moveTo>
                    <a:pt x="3094482" y="0"/>
                  </a:moveTo>
                  <a:lnTo>
                    <a:pt x="348234" y="0"/>
                  </a:lnTo>
                  <a:lnTo>
                    <a:pt x="300982" y="3179"/>
                  </a:lnTo>
                  <a:lnTo>
                    <a:pt x="255662" y="12442"/>
                  </a:lnTo>
                  <a:lnTo>
                    <a:pt x="212689" y="27372"/>
                  </a:lnTo>
                  <a:lnTo>
                    <a:pt x="172477" y="47554"/>
                  </a:lnTo>
                  <a:lnTo>
                    <a:pt x="135442" y="72573"/>
                  </a:lnTo>
                  <a:lnTo>
                    <a:pt x="101998" y="102012"/>
                  </a:lnTo>
                  <a:lnTo>
                    <a:pt x="72561" y="135458"/>
                  </a:lnTo>
                  <a:lnTo>
                    <a:pt x="47545" y="172494"/>
                  </a:lnTo>
                  <a:lnTo>
                    <a:pt x="27367" y="212705"/>
                  </a:lnTo>
                  <a:lnTo>
                    <a:pt x="12439" y="255675"/>
                  </a:lnTo>
                  <a:lnTo>
                    <a:pt x="3179" y="300990"/>
                  </a:lnTo>
                  <a:lnTo>
                    <a:pt x="0" y="348233"/>
                  </a:lnTo>
                  <a:lnTo>
                    <a:pt x="0" y="1741170"/>
                  </a:lnTo>
                  <a:lnTo>
                    <a:pt x="3179" y="1788421"/>
                  </a:lnTo>
                  <a:lnTo>
                    <a:pt x="12439" y="1833741"/>
                  </a:lnTo>
                  <a:lnTo>
                    <a:pt x="27367" y="1876714"/>
                  </a:lnTo>
                  <a:lnTo>
                    <a:pt x="47545" y="1916926"/>
                  </a:lnTo>
                  <a:lnTo>
                    <a:pt x="72561" y="1953961"/>
                  </a:lnTo>
                  <a:lnTo>
                    <a:pt x="101998" y="1987405"/>
                  </a:lnTo>
                  <a:lnTo>
                    <a:pt x="135442" y="2016842"/>
                  </a:lnTo>
                  <a:lnTo>
                    <a:pt x="172477" y="2041858"/>
                  </a:lnTo>
                  <a:lnTo>
                    <a:pt x="212689" y="2062036"/>
                  </a:lnTo>
                  <a:lnTo>
                    <a:pt x="255662" y="2076964"/>
                  </a:lnTo>
                  <a:lnTo>
                    <a:pt x="300982" y="2086224"/>
                  </a:lnTo>
                  <a:lnTo>
                    <a:pt x="348234" y="2089403"/>
                  </a:lnTo>
                  <a:lnTo>
                    <a:pt x="3094482" y="2089403"/>
                  </a:lnTo>
                  <a:lnTo>
                    <a:pt x="3141725" y="2086224"/>
                  </a:lnTo>
                  <a:lnTo>
                    <a:pt x="3187040" y="2076964"/>
                  </a:lnTo>
                  <a:lnTo>
                    <a:pt x="3230010" y="2062036"/>
                  </a:lnTo>
                  <a:lnTo>
                    <a:pt x="3270221" y="2041858"/>
                  </a:lnTo>
                  <a:lnTo>
                    <a:pt x="3307257" y="2016842"/>
                  </a:lnTo>
                  <a:lnTo>
                    <a:pt x="3340703" y="1987405"/>
                  </a:lnTo>
                  <a:lnTo>
                    <a:pt x="3370142" y="1953961"/>
                  </a:lnTo>
                  <a:lnTo>
                    <a:pt x="3395161" y="1916926"/>
                  </a:lnTo>
                  <a:lnTo>
                    <a:pt x="3415343" y="1876714"/>
                  </a:lnTo>
                  <a:lnTo>
                    <a:pt x="3430273" y="1833741"/>
                  </a:lnTo>
                  <a:lnTo>
                    <a:pt x="3439536" y="1788421"/>
                  </a:lnTo>
                  <a:lnTo>
                    <a:pt x="3442716" y="1741170"/>
                  </a:lnTo>
                  <a:lnTo>
                    <a:pt x="3442716" y="348233"/>
                  </a:lnTo>
                  <a:lnTo>
                    <a:pt x="3439536" y="300990"/>
                  </a:lnTo>
                  <a:lnTo>
                    <a:pt x="3430273" y="255675"/>
                  </a:lnTo>
                  <a:lnTo>
                    <a:pt x="3415343" y="212705"/>
                  </a:lnTo>
                  <a:lnTo>
                    <a:pt x="3395161" y="172494"/>
                  </a:lnTo>
                  <a:lnTo>
                    <a:pt x="3370142" y="135458"/>
                  </a:lnTo>
                  <a:lnTo>
                    <a:pt x="3340703" y="102012"/>
                  </a:lnTo>
                  <a:lnTo>
                    <a:pt x="3307257" y="72573"/>
                  </a:lnTo>
                  <a:lnTo>
                    <a:pt x="3270221" y="47554"/>
                  </a:lnTo>
                  <a:lnTo>
                    <a:pt x="3230010" y="27372"/>
                  </a:lnTo>
                  <a:lnTo>
                    <a:pt x="3187040" y="12442"/>
                  </a:lnTo>
                  <a:lnTo>
                    <a:pt x="3141725" y="3179"/>
                  </a:lnTo>
                  <a:lnTo>
                    <a:pt x="3094482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4"/>
            <p:cNvSpPr/>
            <p:nvPr/>
          </p:nvSpPr>
          <p:spPr>
            <a:xfrm>
              <a:off x="1044702" y="3697985"/>
              <a:ext cx="3442970" cy="2089785"/>
            </a:xfrm>
            <a:custGeom>
              <a:avLst/>
              <a:gdLst/>
              <a:ahLst/>
              <a:cxnLst/>
              <a:rect l="l" t="t" r="r" b="b"/>
              <a:pathLst>
                <a:path w="3442970" h="2089785">
                  <a:moveTo>
                    <a:pt x="0" y="348233"/>
                  </a:moveTo>
                  <a:lnTo>
                    <a:pt x="3179" y="300990"/>
                  </a:lnTo>
                  <a:lnTo>
                    <a:pt x="12439" y="255675"/>
                  </a:lnTo>
                  <a:lnTo>
                    <a:pt x="27367" y="212705"/>
                  </a:lnTo>
                  <a:lnTo>
                    <a:pt x="47545" y="172494"/>
                  </a:lnTo>
                  <a:lnTo>
                    <a:pt x="72561" y="135458"/>
                  </a:lnTo>
                  <a:lnTo>
                    <a:pt x="101998" y="102012"/>
                  </a:lnTo>
                  <a:lnTo>
                    <a:pt x="135442" y="72573"/>
                  </a:lnTo>
                  <a:lnTo>
                    <a:pt x="172477" y="47554"/>
                  </a:lnTo>
                  <a:lnTo>
                    <a:pt x="212689" y="27372"/>
                  </a:lnTo>
                  <a:lnTo>
                    <a:pt x="255662" y="12442"/>
                  </a:lnTo>
                  <a:lnTo>
                    <a:pt x="300982" y="3179"/>
                  </a:lnTo>
                  <a:lnTo>
                    <a:pt x="348234" y="0"/>
                  </a:lnTo>
                  <a:lnTo>
                    <a:pt x="3094482" y="0"/>
                  </a:lnTo>
                  <a:lnTo>
                    <a:pt x="3141725" y="3179"/>
                  </a:lnTo>
                  <a:lnTo>
                    <a:pt x="3187040" y="12442"/>
                  </a:lnTo>
                  <a:lnTo>
                    <a:pt x="3230010" y="27372"/>
                  </a:lnTo>
                  <a:lnTo>
                    <a:pt x="3270221" y="47554"/>
                  </a:lnTo>
                  <a:lnTo>
                    <a:pt x="3307257" y="72573"/>
                  </a:lnTo>
                  <a:lnTo>
                    <a:pt x="3340703" y="102012"/>
                  </a:lnTo>
                  <a:lnTo>
                    <a:pt x="3370142" y="135458"/>
                  </a:lnTo>
                  <a:lnTo>
                    <a:pt x="3395161" y="172494"/>
                  </a:lnTo>
                  <a:lnTo>
                    <a:pt x="3415343" y="212705"/>
                  </a:lnTo>
                  <a:lnTo>
                    <a:pt x="3430273" y="255675"/>
                  </a:lnTo>
                  <a:lnTo>
                    <a:pt x="3439536" y="300990"/>
                  </a:lnTo>
                  <a:lnTo>
                    <a:pt x="3442716" y="348233"/>
                  </a:lnTo>
                  <a:lnTo>
                    <a:pt x="3442716" y="1741170"/>
                  </a:lnTo>
                  <a:lnTo>
                    <a:pt x="3439536" y="1788421"/>
                  </a:lnTo>
                  <a:lnTo>
                    <a:pt x="3430273" y="1833741"/>
                  </a:lnTo>
                  <a:lnTo>
                    <a:pt x="3415343" y="1876714"/>
                  </a:lnTo>
                  <a:lnTo>
                    <a:pt x="3395161" y="1916926"/>
                  </a:lnTo>
                  <a:lnTo>
                    <a:pt x="3370142" y="1953961"/>
                  </a:lnTo>
                  <a:lnTo>
                    <a:pt x="3340703" y="1987405"/>
                  </a:lnTo>
                  <a:lnTo>
                    <a:pt x="3307257" y="2016842"/>
                  </a:lnTo>
                  <a:lnTo>
                    <a:pt x="3270221" y="2041858"/>
                  </a:lnTo>
                  <a:lnTo>
                    <a:pt x="3230010" y="2062036"/>
                  </a:lnTo>
                  <a:lnTo>
                    <a:pt x="3187040" y="2076964"/>
                  </a:lnTo>
                  <a:lnTo>
                    <a:pt x="3141725" y="2086224"/>
                  </a:lnTo>
                  <a:lnTo>
                    <a:pt x="3094482" y="2089403"/>
                  </a:lnTo>
                  <a:lnTo>
                    <a:pt x="348234" y="2089403"/>
                  </a:lnTo>
                  <a:lnTo>
                    <a:pt x="300982" y="2086224"/>
                  </a:lnTo>
                  <a:lnTo>
                    <a:pt x="255662" y="2076964"/>
                  </a:lnTo>
                  <a:lnTo>
                    <a:pt x="212689" y="2062036"/>
                  </a:lnTo>
                  <a:lnTo>
                    <a:pt x="172477" y="2041858"/>
                  </a:lnTo>
                  <a:lnTo>
                    <a:pt x="135442" y="2016842"/>
                  </a:lnTo>
                  <a:lnTo>
                    <a:pt x="101998" y="1987405"/>
                  </a:lnTo>
                  <a:lnTo>
                    <a:pt x="72561" y="1953961"/>
                  </a:lnTo>
                  <a:lnTo>
                    <a:pt x="47545" y="1916926"/>
                  </a:lnTo>
                  <a:lnTo>
                    <a:pt x="27367" y="1876714"/>
                  </a:lnTo>
                  <a:lnTo>
                    <a:pt x="12439" y="1833741"/>
                  </a:lnTo>
                  <a:lnTo>
                    <a:pt x="3179" y="1788421"/>
                  </a:lnTo>
                  <a:lnTo>
                    <a:pt x="0" y="1741170"/>
                  </a:lnTo>
                  <a:lnTo>
                    <a:pt x="0" y="348233"/>
                  </a:lnTo>
                  <a:close/>
                </a:path>
              </a:pathLst>
            </a:custGeom>
            <a:ln w="25908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5"/>
            <p:cNvSpPr/>
            <p:nvPr/>
          </p:nvSpPr>
          <p:spPr>
            <a:xfrm>
              <a:off x="2125217" y="1846326"/>
              <a:ext cx="935990" cy="1007744"/>
            </a:xfrm>
            <a:custGeom>
              <a:avLst/>
              <a:gdLst/>
              <a:ahLst/>
              <a:cxnLst/>
              <a:rect l="l" t="t" r="r" b="b"/>
              <a:pathLst>
                <a:path w="935989" h="1007744">
                  <a:moveTo>
                    <a:pt x="0" y="1007363"/>
                  </a:moveTo>
                  <a:lnTo>
                    <a:pt x="935736" y="1007363"/>
                  </a:lnTo>
                  <a:lnTo>
                    <a:pt x="935736" y="0"/>
                  </a:lnTo>
                  <a:lnTo>
                    <a:pt x="0" y="0"/>
                  </a:lnTo>
                  <a:lnTo>
                    <a:pt x="0" y="100736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6"/>
            <p:cNvSpPr/>
            <p:nvPr/>
          </p:nvSpPr>
          <p:spPr>
            <a:xfrm>
              <a:off x="2125217" y="1846326"/>
              <a:ext cx="935990" cy="1007744"/>
            </a:xfrm>
            <a:custGeom>
              <a:avLst/>
              <a:gdLst/>
              <a:ahLst/>
              <a:cxnLst/>
              <a:rect l="l" t="t" r="r" b="b"/>
              <a:pathLst>
                <a:path w="935989" h="1007744">
                  <a:moveTo>
                    <a:pt x="0" y="1007363"/>
                  </a:moveTo>
                  <a:lnTo>
                    <a:pt x="935736" y="1007363"/>
                  </a:lnTo>
                  <a:lnTo>
                    <a:pt x="935736" y="0"/>
                  </a:lnTo>
                  <a:lnTo>
                    <a:pt x="0" y="0"/>
                  </a:lnTo>
                  <a:lnTo>
                    <a:pt x="0" y="100736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7"/>
            <p:cNvSpPr/>
            <p:nvPr/>
          </p:nvSpPr>
          <p:spPr>
            <a:xfrm>
              <a:off x="5724905" y="1846326"/>
              <a:ext cx="935990" cy="1007744"/>
            </a:xfrm>
            <a:custGeom>
              <a:avLst/>
              <a:gdLst/>
              <a:ahLst/>
              <a:cxnLst/>
              <a:rect l="l" t="t" r="r" b="b"/>
              <a:pathLst>
                <a:path w="935990" h="1007744">
                  <a:moveTo>
                    <a:pt x="0" y="1007363"/>
                  </a:moveTo>
                  <a:lnTo>
                    <a:pt x="935736" y="1007363"/>
                  </a:lnTo>
                  <a:lnTo>
                    <a:pt x="935736" y="0"/>
                  </a:lnTo>
                  <a:lnTo>
                    <a:pt x="0" y="0"/>
                  </a:lnTo>
                  <a:lnTo>
                    <a:pt x="0" y="1007363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8"/>
            <p:cNvSpPr/>
            <p:nvPr/>
          </p:nvSpPr>
          <p:spPr>
            <a:xfrm>
              <a:off x="5724905" y="1846326"/>
              <a:ext cx="935990" cy="1007744"/>
            </a:xfrm>
            <a:custGeom>
              <a:avLst/>
              <a:gdLst/>
              <a:ahLst/>
              <a:cxnLst/>
              <a:rect l="l" t="t" r="r" b="b"/>
              <a:pathLst>
                <a:path w="935990" h="1007744">
                  <a:moveTo>
                    <a:pt x="0" y="1007363"/>
                  </a:moveTo>
                  <a:lnTo>
                    <a:pt x="935736" y="1007363"/>
                  </a:lnTo>
                  <a:lnTo>
                    <a:pt x="935736" y="0"/>
                  </a:lnTo>
                  <a:lnTo>
                    <a:pt x="0" y="0"/>
                  </a:lnTo>
                  <a:lnTo>
                    <a:pt x="0" y="100736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30"/>
            <p:cNvSpPr/>
            <p:nvPr/>
          </p:nvSpPr>
          <p:spPr>
            <a:xfrm>
              <a:off x="1116330" y="4239005"/>
              <a:ext cx="935990" cy="1007744"/>
            </a:xfrm>
            <a:custGeom>
              <a:avLst/>
              <a:gdLst/>
              <a:ahLst/>
              <a:cxnLst/>
              <a:rect l="l" t="t" r="r" b="b"/>
              <a:pathLst>
                <a:path w="935989" h="1007745">
                  <a:moveTo>
                    <a:pt x="0" y="1007364"/>
                  </a:moveTo>
                  <a:lnTo>
                    <a:pt x="935736" y="1007364"/>
                  </a:lnTo>
                  <a:lnTo>
                    <a:pt x="935736" y="0"/>
                  </a:lnTo>
                  <a:lnTo>
                    <a:pt x="0" y="0"/>
                  </a:lnTo>
                  <a:lnTo>
                    <a:pt x="0" y="10073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31"/>
            <p:cNvSpPr/>
            <p:nvPr/>
          </p:nvSpPr>
          <p:spPr>
            <a:xfrm>
              <a:off x="1116330" y="4239005"/>
              <a:ext cx="935990" cy="1007744"/>
            </a:xfrm>
            <a:custGeom>
              <a:avLst/>
              <a:gdLst/>
              <a:ahLst/>
              <a:cxnLst/>
              <a:rect l="l" t="t" r="r" b="b"/>
              <a:pathLst>
                <a:path w="935989" h="1007745">
                  <a:moveTo>
                    <a:pt x="0" y="1007364"/>
                  </a:moveTo>
                  <a:lnTo>
                    <a:pt x="935736" y="1007364"/>
                  </a:lnTo>
                  <a:lnTo>
                    <a:pt x="935736" y="0"/>
                  </a:lnTo>
                  <a:lnTo>
                    <a:pt x="0" y="0"/>
                  </a:lnTo>
                  <a:lnTo>
                    <a:pt x="0" y="100736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32"/>
            <p:cNvSpPr txBox="1"/>
            <p:nvPr/>
          </p:nvSpPr>
          <p:spPr>
            <a:xfrm>
              <a:off x="1425066" y="4590033"/>
              <a:ext cx="31686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latin typeface="Century Schoolbook"/>
                  <a:cs typeface="Century Schoolbook"/>
                </a:rPr>
                <a:t>R1</a:t>
              </a:r>
              <a:endParaRPr sz="1800">
                <a:latin typeface="Century Schoolbook"/>
                <a:cs typeface="Century Schoolbook"/>
              </a:endParaRPr>
            </a:p>
          </p:txBody>
        </p:sp>
        <p:sp>
          <p:nvSpPr>
            <p:cNvPr id="30" name="object 33"/>
            <p:cNvSpPr/>
            <p:nvPr/>
          </p:nvSpPr>
          <p:spPr>
            <a:xfrm>
              <a:off x="4716017" y="4239005"/>
              <a:ext cx="937260" cy="1007744"/>
            </a:xfrm>
            <a:custGeom>
              <a:avLst/>
              <a:gdLst/>
              <a:ahLst/>
              <a:cxnLst/>
              <a:rect l="l" t="t" r="r" b="b"/>
              <a:pathLst>
                <a:path w="937260" h="1007745">
                  <a:moveTo>
                    <a:pt x="0" y="1007364"/>
                  </a:moveTo>
                  <a:lnTo>
                    <a:pt x="937260" y="1007364"/>
                  </a:lnTo>
                  <a:lnTo>
                    <a:pt x="937260" y="0"/>
                  </a:lnTo>
                  <a:lnTo>
                    <a:pt x="0" y="0"/>
                  </a:lnTo>
                  <a:lnTo>
                    <a:pt x="0" y="10073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4"/>
            <p:cNvSpPr/>
            <p:nvPr/>
          </p:nvSpPr>
          <p:spPr>
            <a:xfrm>
              <a:off x="4716017" y="4239005"/>
              <a:ext cx="937260" cy="1007744"/>
            </a:xfrm>
            <a:custGeom>
              <a:avLst/>
              <a:gdLst/>
              <a:ahLst/>
              <a:cxnLst/>
              <a:rect l="l" t="t" r="r" b="b"/>
              <a:pathLst>
                <a:path w="937260" h="1007745">
                  <a:moveTo>
                    <a:pt x="0" y="1007364"/>
                  </a:moveTo>
                  <a:lnTo>
                    <a:pt x="937260" y="1007364"/>
                  </a:lnTo>
                  <a:lnTo>
                    <a:pt x="937260" y="0"/>
                  </a:lnTo>
                  <a:lnTo>
                    <a:pt x="0" y="0"/>
                  </a:lnTo>
                  <a:lnTo>
                    <a:pt x="0" y="100736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5"/>
            <p:cNvSpPr txBox="1"/>
            <p:nvPr/>
          </p:nvSpPr>
          <p:spPr>
            <a:xfrm>
              <a:off x="5025897" y="4590033"/>
              <a:ext cx="31686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latin typeface="Century Schoolbook"/>
                  <a:cs typeface="Century Schoolbook"/>
                </a:rPr>
                <a:t>R1</a:t>
              </a:r>
              <a:endParaRPr sz="1800">
                <a:latin typeface="Century Schoolbook"/>
                <a:cs typeface="Century Schoolbook"/>
              </a:endParaRPr>
            </a:p>
          </p:txBody>
        </p:sp>
        <p:sp>
          <p:nvSpPr>
            <p:cNvPr id="33" name="object 36"/>
            <p:cNvSpPr/>
            <p:nvPr/>
          </p:nvSpPr>
          <p:spPr>
            <a:xfrm>
              <a:off x="2052066" y="4232909"/>
              <a:ext cx="937260" cy="1007744"/>
            </a:xfrm>
            <a:custGeom>
              <a:avLst/>
              <a:gdLst/>
              <a:ahLst/>
              <a:cxnLst/>
              <a:rect l="l" t="t" r="r" b="b"/>
              <a:pathLst>
                <a:path w="937260" h="1007745">
                  <a:moveTo>
                    <a:pt x="0" y="1007363"/>
                  </a:moveTo>
                  <a:lnTo>
                    <a:pt x="937259" y="1007363"/>
                  </a:lnTo>
                  <a:lnTo>
                    <a:pt x="937259" y="0"/>
                  </a:lnTo>
                  <a:lnTo>
                    <a:pt x="0" y="0"/>
                  </a:lnTo>
                  <a:lnTo>
                    <a:pt x="0" y="1007363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7"/>
            <p:cNvSpPr/>
            <p:nvPr/>
          </p:nvSpPr>
          <p:spPr>
            <a:xfrm>
              <a:off x="2052066" y="4232909"/>
              <a:ext cx="937260" cy="1007744"/>
            </a:xfrm>
            <a:custGeom>
              <a:avLst/>
              <a:gdLst/>
              <a:ahLst/>
              <a:cxnLst/>
              <a:rect l="l" t="t" r="r" b="b"/>
              <a:pathLst>
                <a:path w="937260" h="1007745">
                  <a:moveTo>
                    <a:pt x="0" y="1007363"/>
                  </a:moveTo>
                  <a:lnTo>
                    <a:pt x="937259" y="1007363"/>
                  </a:lnTo>
                  <a:lnTo>
                    <a:pt x="937259" y="0"/>
                  </a:lnTo>
                  <a:lnTo>
                    <a:pt x="0" y="0"/>
                  </a:lnTo>
                  <a:lnTo>
                    <a:pt x="0" y="100736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8"/>
            <p:cNvSpPr txBox="1"/>
            <p:nvPr/>
          </p:nvSpPr>
          <p:spPr>
            <a:xfrm>
              <a:off x="2361438" y="4583938"/>
              <a:ext cx="31686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latin typeface="Century Schoolbook"/>
                  <a:cs typeface="Century Schoolbook"/>
                </a:rPr>
                <a:t>R2</a:t>
              </a:r>
              <a:endParaRPr sz="1800">
                <a:latin typeface="Century Schoolbook"/>
                <a:cs typeface="Century Schoolbook"/>
              </a:endParaRPr>
            </a:p>
          </p:txBody>
        </p:sp>
        <p:sp>
          <p:nvSpPr>
            <p:cNvPr id="36" name="object 39"/>
            <p:cNvSpPr/>
            <p:nvPr/>
          </p:nvSpPr>
          <p:spPr>
            <a:xfrm>
              <a:off x="5645658" y="4232909"/>
              <a:ext cx="937260" cy="1009015"/>
            </a:xfrm>
            <a:custGeom>
              <a:avLst/>
              <a:gdLst/>
              <a:ahLst/>
              <a:cxnLst/>
              <a:rect l="l" t="t" r="r" b="b"/>
              <a:pathLst>
                <a:path w="937259" h="1009014">
                  <a:moveTo>
                    <a:pt x="0" y="1008887"/>
                  </a:moveTo>
                  <a:lnTo>
                    <a:pt x="937260" y="1008887"/>
                  </a:lnTo>
                  <a:lnTo>
                    <a:pt x="937260" y="0"/>
                  </a:lnTo>
                  <a:lnTo>
                    <a:pt x="0" y="0"/>
                  </a:lnTo>
                  <a:lnTo>
                    <a:pt x="0" y="1008887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40"/>
            <p:cNvSpPr/>
            <p:nvPr/>
          </p:nvSpPr>
          <p:spPr>
            <a:xfrm>
              <a:off x="5645658" y="4232909"/>
              <a:ext cx="937260" cy="1009015"/>
            </a:xfrm>
            <a:custGeom>
              <a:avLst/>
              <a:gdLst/>
              <a:ahLst/>
              <a:cxnLst/>
              <a:rect l="l" t="t" r="r" b="b"/>
              <a:pathLst>
                <a:path w="937259" h="1009014">
                  <a:moveTo>
                    <a:pt x="0" y="1008887"/>
                  </a:moveTo>
                  <a:lnTo>
                    <a:pt x="937260" y="1008887"/>
                  </a:lnTo>
                  <a:lnTo>
                    <a:pt x="937260" y="0"/>
                  </a:lnTo>
                  <a:lnTo>
                    <a:pt x="0" y="0"/>
                  </a:lnTo>
                  <a:lnTo>
                    <a:pt x="0" y="1008887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41"/>
            <p:cNvSpPr txBox="1"/>
            <p:nvPr/>
          </p:nvSpPr>
          <p:spPr>
            <a:xfrm>
              <a:off x="5955538" y="4584954"/>
              <a:ext cx="31686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latin typeface="Century Schoolbook"/>
                  <a:cs typeface="Century Schoolbook"/>
                </a:rPr>
                <a:t>R2</a:t>
              </a:r>
              <a:endParaRPr sz="1800">
                <a:latin typeface="Century Schoolbook"/>
                <a:cs typeface="Century Schoolbook"/>
              </a:endParaRPr>
            </a:p>
          </p:txBody>
        </p:sp>
        <p:sp>
          <p:nvSpPr>
            <p:cNvPr id="39" name="object 42"/>
            <p:cNvSpPr/>
            <p:nvPr/>
          </p:nvSpPr>
          <p:spPr>
            <a:xfrm>
              <a:off x="3492246" y="4217670"/>
              <a:ext cx="937260" cy="1007744"/>
            </a:xfrm>
            <a:custGeom>
              <a:avLst/>
              <a:gdLst/>
              <a:ahLst/>
              <a:cxnLst/>
              <a:rect l="l" t="t" r="r" b="b"/>
              <a:pathLst>
                <a:path w="937260" h="1007745">
                  <a:moveTo>
                    <a:pt x="0" y="1007363"/>
                  </a:moveTo>
                  <a:lnTo>
                    <a:pt x="937260" y="1007363"/>
                  </a:lnTo>
                  <a:lnTo>
                    <a:pt x="937260" y="0"/>
                  </a:lnTo>
                  <a:lnTo>
                    <a:pt x="0" y="0"/>
                  </a:lnTo>
                  <a:lnTo>
                    <a:pt x="0" y="10073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12700" algn="ctr">
                <a:spcBef>
                  <a:spcPts val="100"/>
                </a:spcBef>
              </a:pPr>
              <a:endParaRPr lang="fr-FR" spc="-5" dirty="0" smtClean="0">
                <a:latin typeface="Century Schoolbook"/>
                <a:cs typeface="Century Schoolbook"/>
              </a:endParaRPr>
            </a:p>
            <a:p>
              <a:pPr marL="12700" algn="ctr">
                <a:spcBef>
                  <a:spcPts val="100"/>
                </a:spcBef>
              </a:pPr>
              <a:r>
                <a:rPr lang="fr-FR" spc="-5" dirty="0" smtClean="0">
                  <a:latin typeface="Century Schoolbook"/>
                  <a:cs typeface="Century Schoolbook"/>
                </a:rPr>
                <a:t>T3</a:t>
              </a:r>
              <a:endParaRPr spc="-5" dirty="0">
                <a:latin typeface="Century Schoolbook"/>
                <a:cs typeface="Century Schoolbook"/>
              </a:endParaRPr>
            </a:p>
          </p:txBody>
        </p:sp>
        <p:sp>
          <p:nvSpPr>
            <p:cNvPr id="40" name="object 43"/>
            <p:cNvSpPr/>
            <p:nvPr/>
          </p:nvSpPr>
          <p:spPr>
            <a:xfrm>
              <a:off x="3492246" y="4217670"/>
              <a:ext cx="937260" cy="1007744"/>
            </a:xfrm>
            <a:custGeom>
              <a:avLst/>
              <a:gdLst/>
              <a:ahLst/>
              <a:cxnLst/>
              <a:rect l="l" t="t" r="r" b="b"/>
              <a:pathLst>
                <a:path w="937260" h="1007745">
                  <a:moveTo>
                    <a:pt x="0" y="1007363"/>
                  </a:moveTo>
                  <a:lnTo>
                    <a:pt x="937260" y="1007363"/>
                  </a:lnTo>
                  <a:lnTo>
                    <a:pt x="937260" y="0"/>
                  </a:lnTo>
                  <a:lnTo>
                    <a:pt x="0" y="0"/>
                  </a:lnTo>
                  <a:lnTo>
                    <a:pt x="0" y="100736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5"/>
            <p:cNvSpPr/>
            <p:nvPr/>
          </p:nvSpPr>
          <p:spPr>
            <a:xfrm>
              <a:off x="7093457" y="4217670"/>
              <a:ext cx="935990" cy="1007744"/>
            </a:xfrm>
            <a:custGeom>
              <a:avLst/>
              <a:gdLst/>
              <a:ahLst/>
              <a:cxnLst/>
              <a:rect l="l" t="t" r="r" b="b"/>
              <a:pathLst>
                <a:path w="935990" h="1007745">
                  <a:moveTo>
                    <a:pt x="0" y="1007363"/>
                  </a:moveTo>
                  <a:lnTo>
                    <a:pt x="935736" y="1007363"/>
                  </a:lnTo>
                  <a:lnTo>
                    <a:pt x="935736" y="0"/>
                  </a:lnTo>
                  <a:lnTo>
                    <a:pt x="0" y="0"/>
                  </a:lnTo>
                  <a:lnTo>
                    <a:pt x="0" y="10073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6"/>
            <p:cNvSpPr/>
            <p:nvPr/>
          </p:nvSpPr>
          <p:spPr>
            <a:xfrm>
              <a:off x="7093457" y="4217670"/>
              <a:ext cx="935990" cy="1007744"/>
            </a:xfrm>
            <a:custGeom>
              <a:avLst/>
              <a:gdLst/>
              <a:ahLst/>
              <a:cxnLst/>
              <a:rect l="l" t="t" r="r" b="b"/>
              <a:pathLst>
                <a:path w="935990" h="1007745">
                  <a:moveTo>
                    <a:pt x="0" y="1007363"/>
                  </a:moveTo>
                  <a:lnTo>
                    <a:pt x="935736" y="1007363"/>
                  </a:lnTo>
                  <a:lnTo>
                    <a:pt x="935736" y="0"/>
                  </a:lnTo>
                  <a:lnTo>
                    <a:pt x="0" y="0"/>
                  </a:lnTo>
                  <a:lnTo>
                    <a:pt x="0" y="100736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7"/>
            <p:cNvSpPr txBox="1"/>
            <p:nvPr/>
          </p:nvSpPr>
          <p:spPr>
            <a:xfrm>
              <a:off x="7408926" y="4568444"/>
              <a:ext cx="30543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latin typeface="Century Schoolbook"/>
                  <a:cs typeface="Century Schoolbook"/>
                </a:rPr>
                <a:t>T4</a:t>
              </a:r>
              <a:endParaRPr sz="1800" dirty="0">
                <a:latin typeface="Century Schoolbook"/>
                <a:cs typeface="Century Schoolbook"/>
              </a:endParaRPr>
            </a:p>
          </p:txBody>
        </p:sp>
        <p:sp>
          <p:nvSpPr>
            <p:cNvPr id="45" name="object 48"/>
            <p:cNvSpPr/>
            <p:nvPr/>
          </p:nvSpPr>
          <p:spPr>
            <a:xfrm>
              <a:off x="1583436" y="2849245"/>
              <a:ext cx="1013460" cy="1388745"/>
            </a:xfrm>
            <a:custGeom>
              <a:avLst/>
              <a:gdLst/>
              <a:ahLst/>
              <a:cxnLst/>
              <a:rect l="l" t="t" r="r" b="b"/>
              <a:pathLst>
                <a:path w="1013460" h="1388745">
                  <a:moveTo>
                    <a:pt x="13461" y="1284096"/>
                  </a:moveTo>
                  <a:lnTo>
                    <a:pt x="10286" y="1286636"/>
                  </a:lnTo>
                  <a:lnTo>
                    <a:pt x="10032" y="1290192"/>
                  </a:lnTo>
                  <a:lnTo>
                    <a:pt x="0" y="1388744"/>
                  </a:lnTo>
                  <a:lnTo>
                    <a:pt x="14485" y="1382394"/>
                  </a:lnTo>
                  <a:lnTo>
                    <a:pt x="12572" y="1382394"/>
                  </a:lnTo>
                  <a:lnTo>
                    <a:pt x="2285" y="1374902"/>
                  </a:lnTo>
                  <a:lnTo>
                    <a:pt x="16072" y="1355959"/>
                  </a:lnTo>
                  <a:lnTo>
                    <a:pt x="22605" y="1291462"/>
                  </a:lnTo>
                  <a:lnTo>
                    <a:pt x="22986" y="1288033"/>
                  </a:lnTo>
                  <a:lnTo>
                    <a:pt x="20446" y="1284858"/>
                  </a:lnTo>
                  <a:lnTo>
                    <a:pt x="13461" y="1284096"/>
                  </a:lnTo>
                  <a:close/>
                </a:path>
                <a:path w="1013460" h="1388745">
                  <a:moveTo>
                    <a:pt x="16072" y="1355959"/>
                  </a:moveTo>
                  <a:lnTo>
                    <a:pt x="2285" y="1374902"/>
                  </a:lnTo>
                  <a:lnTo>
                    <a:pt x="12572" y="1382394"/>
                  </a:lnTo>
                  <a:lnTo>
                    <a:pt x="14883" y="1379219"/>
                  </a:lnTo>
                  <a:lnTo>
                    <a:pt x="13715" y="1379219"/>
                  </a:lnTo>
                  <a:lnTo>
                    <a:pt x="4825" y="1372742"/>
                  </a:lnTo>
                  <a:lnTo>
                    <a:pt x="14816" y="1368360"/>
                  </a:lnTo>
                  <a:lnTo>
                    <a:pt x="16072" y="1355959"/>
                  </a:lnTo>
                  <a:close/>
                </a:path>
                <a:path w="1013460" h="1388745">
                  <a:moveTo>
                    <a:pt x="88900" y="1335912"/>
                  </a:moveTo>
                  <a:lnTo>
                    <a:pt x="85597" y="1337309"/>
                  </a:lnTo>
                  <a:lnTo>
                    <a:pt x="26523" y="1363224"/>
                  </a:lnTo>
                  <a:lnTo>
                    <a:pt x="12572" y="1382394"/>
                  </a:lnTo>
                  <a:lnTo>
                    <a:pt x="14485" y="1382394"/>
                  </a:lnTo>
                  <a:lnTo>
                    <a:pt x="90677" y="1348993"/>
                  </a:lnTo>
                  <a:lnTo>
                    <a:pt x="93980" y="1347596"/>
                  </a:lnTo>
                  <a:lnTo>
                    <a:pt x="95376" y="1343786"/>
                  </a:lnTo>
                  <a:lnTo>
                    <a:pt x="93980" y="1340611"/>
                  </a:lnTo>
                  <a:lnTo>
                    <a:pt x="92582" y="1337309"/>
                  </a:lnTo>
                  <a:lnTo>
                    <a:pt x="88900" y="1335912"/>
                  </a:lnTo>
                  <a:close/>
                </a:path>
                <a:path w="1013460" h="1388745">
                  <a:moveTo>
                    <a:pt x="14816" y="1368360"/>
                  </a:moveTo>
                  <a:lnTo>
                    <a:pt x="4825" y="1372742"/>
                  </a:lnTo>
                  <a:lnTo>
                    <a:pt x="13715" y="1379219"/>
                  </a:lnTo>
                  <a:lnTo>
                    <a:pt x="14816" y="1368360"/>
                  </a:lnTo>
                  <a:close/>
                </a:path>
                <a:path w="1013460" h="1388745">
                  <a:moveTo>
                    <a:pt x="26523" y="1363224"/>
                  </a:moveTo>
                  <a:lnTo>
                    <a:pt x="14816" y="1368360"/>
                  </a:lnTo>
                  <a:lnTo>
                    <a:pt x="13715" y="1379219"/>
                  </a:lnTo>
                  <a:lnTo>
                    <a:pt x="14883" y="1379219"/>
                  </a:lnTo>
                  <a:lnTo>
                    <a:pt x="26523" y="1363224"/>
                  </a:lnTo>
                  <a:close/>
                </a:path>
                <a:path w="1013460" h="1388745">
                  <a:moveTo>
                    <a:pt x="1002919" y="0"/>
                  </a:moveTo>
                  <a:lnTo>
                    <a:pt x="16072" y="1355959"/>
                  </a:lnTo>
                  <a:lnTo>
                    <a:pt x="14816" y="1368360"/>
                  </a:lnTo>
                  <a:lnTo>
                    <a:pt x="26523" y="1363224"/>
                  </a:lnTo>
                  <a:lnTo>
                    <a:pt x="1013206" y="7365"/>
                  </a:lnTo>
                  <a:lnTo>
                    <a:pt x="10029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9"/>
            <p:cNvSpPr/>
            <p:nvPr/>
          </p:nvSpPr>
          <p:spPr>
            <a:xfrm>
              <a:off x="2612135" y="2847339"/>
              <a:ext cx="2571750" cy="1394460"/>
            </a:xfrm>
            <a:custGeom>
              <a:avLst/>
              <a:gdLst/>
              <a:ahLst/>
              <a:cxnLst/>
              <a:rect l="l" t="t" r="r" b="b"/>
              <a:pathLst>
                <a:path w="2571750" h="1394460">
                  <a:moveTo>
                    <a:pt x="2536456" y="1379111"/>
                  </a:moveTo>
                  <a:lnTo>
                    <a:pt x="2468244" y="1381379"/>
                  </a:lnTo>
                  <a:lnTo>
                    <a:pt x="2465578" y="1384300"/>
                  </a:lnTo>
                  <a:lnTo>
                    <a:pt x="2465704" y="1391412"/>
                  </a:lnTo>
                  <a:lnTo>
                    <a:pt x="2468753" y="1394079"/>
                  </a:lnTo>
                  <a:lnTo>
                    <a:pt x="2571241" y="1390650"/>
                  </a:lnTo>
                  <a:lnTo>
                    <a:pt x="2571009" y="1390269"/>
                  </a:lnTo>
                  <a:lnTo>
                    <a:pt x="2557144" y="1390269"/>
                  </a:lnTo>
                  <a:lnTo>
                    <a:pt x="2536456" y="1379111"/>
                  </a:lnTo>
                  <a:close/>
                </a:path>
                <a:path w="2571750" h="1394460">
                  <a:moveTo>
                    <a:pt x="2549061" y="1378692"/>
                  </a:moveTo>
                  <a:lnTo>
                    <a:pt x="2536456" y="1379111"/>
                  </a:lnTo>
                  <a:lnTo>
                    <a:pt x="2557144" y="1390269"/>
                  </a:lnTo>
                  <a:lnTo>
                    <a:pt x="2558391" y="1387983"/>
                  </a:lnTo>
                  <a:lnTo>
                    <a:pt x="2554731" y="1387983"/>
                  </a:lnTo>
                  <a:lnTo>
                    <a:pt x="2549061" y="1378692"/>
                  </a:lnTo>
                  <a:close/>
                </a:path>
                <a:path w="2571750" h="1394460">
                  <a:moveTo>
                    <a:pt x="2513838" y="1302131"/>
                  </a:moveTo>
                  <a:lnTo>
                    <a:pt x="2510916" y="1304036"/>
                  </a:lnTo>
                  <a:lnTo>
                    <a:pt x="2507868" y="1305814"/>
                  </a:lnTo>
                  <a:lnTo>
                    <a:pt x="2506979" y="1309751"/>
                  </a:lnTo>
                  <a:lnTo>
                    <a:pt x="2542467" y="1367889"/>
                  </a:lnTo>
                  <a:lnTo>
                    <a:pt x="2563241" y="1379093"/>
                  </a:lnTo>
                  <a:lnTo>
                    <a:pt x="2557144" y="1390269"/>
                  </a:lnTo>
                  <a:lnTo>
                    <a:pt x="2571009" y="1390269"/>
                  </a:lnTo>
                  <a:lnTo>
                    <a:pt x="2517775" y="1303147"/>
                  </a:lnTo>
                  <a:lnTo>
                    <a:pt x="2513838" y="1302131"/>
                  </a:lnTo>
                  <a:close/>
                </a:path>
                <a:path w="2571750" h="1394460">
                  <a:moveTo>
                    <a:pt x="2559939" y="1378331"/>
                  </a:moveTo>
                  <a:lnTo>
                    <a:pt x="2549061" y="1378692"/>
                  </a:lnTo>
                  <a:lnTo>
                    <a:pt x="2554731" y="1387983"/>
                  </a:lnTo>
                  <a:lnTo>
                    <a:pt x="2559939" y="1378331"/>
                  </a:lnTo>
                  <a:close/>
                </a:path>
                <a:path w="2571750" h="1394460">
                  <a:moveTo>
                    <a:pt x="2561828" y="1378331"/>
                  </a:moveTo>
                  <a:lnTo>
                    <a:pt x="2559939" y="1378331"/>
                  </a:lnTo>
                  <a:lnTo>
                    <a:pt x="2554731" y="1387983"/>
                  </a:lnTo>
                  <a:lnTo>
                    <a:pt x="2558391" y="1387983"/>
                  </a:lnTo>
                  <a:lnTo>
                    <a:pt x="2563241" y="1379093"/>
                  </a:lnTo>
                  <a:lnTo>
                    <a:pt x="2561828" y="1378331"/>
                  </a:lnTo>
                  <a:close/>
                </a:path>
                <a:path w="2571750" h="1394460">
                  <a:moveTo>
                    <a:pt x="6095" y="0"/>
                  </a:moveTo>
                  <a:lnTo>
                    <a:pt x="0" y="11175"/>
                  </a:lnTo>
                  <a:lnTo>
                    <a:pt x="2536456" y="1379111"/>
                  </a:lnTo>
                  <a:lnTo>
                    <a:pt x="2549061" y="1378692"/>
                  </a:lnTo>
                  <a:lnTo>
                    <a:pt x="2542467" y="1367889"/>
                  </a:lnTo>
                  <a:lnTo>
                    <a:pt x="6095" y="0"/>
                  </a:lnTo>
                  <a:close/>
                </a:path>
                <a:path w="2571750" h="1394460">
                  <a:moveTo>
                    <a:pt x="2542467" y="1367889"/>
                  </a:moveTo>
                  <a:lnTo>
                    <a:pt x="2549061" y="1378692"/>
                  </a:lnTo>
                  <a:lnTo>
                    <a:pt x="2559939" y="1378331"/>
                  </a:lnTo>
                  <a:lnTo>
                    <a:pt x="2561828" y="1378331"/>
                  </a:lnTo>
                  <a:lnTo>
                    <a:pt x="2542467" y="13678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50"/>
            <p:cNvSpPr/>
            <p:nvPr/>
          </p:nvSpPr>
          <p:spPr>
            <a:xfrm>
              <a:off x="2519172" y="2846958"/>
              <a:ext cx="3674745" cy="1402715"/>
            </a:xfrm>
            <a:custGeom>
              <a:avLst/>
              <a:gdLst/>
              <a:ahLst/>
              <a:cxnLst/>
              <a:rect l="l" t="t" r="r" b="b"/>
              <a:pathLst>
                <a:path w="3674745" h="1402714">
                  <a:moveTo>
                    <a:pt x="68833" y="1304924"/>
                  </a:moveTo>
                  <a:lnTo>
                    <a:pt x="64769" y="1305433"/>
                  </a:lnTo>
                  <a:lnTo>
                    <a:pt x="0" y="1384934"/>
                  </a:lnTo>
                  <a:lnTo>
                    <a:pt x="97662" y="1401571"/>
                  </a:lnTo>
                  <a:lnTo>
                    <a:pt x="101091" y="1402207"/>
                  </a:lnTo>
                  <a:lnTo>
                    <a:pt x="104393" y="1399793"/>
                  </a:lnTo>
                  <a:lnTo>
                    <a:pt x="105028" y="1396364"/>
                  </a:lnTo>
                  <a:lnTo>
                    <a:pt x="105536" y="1392935"/>
                  </a:lnTo>
                  <a:lnTo>
                    <a:pt x="103250" y="1389633"/>
                  </a:lnTo>
                  <a:lnTo>
                    <a:pt x="99821" y="1389126"/>
                  </a:lnTo>
                  <a:lnTo>
                    <a:pt x="84207" y="1386458"/>
                  </a:lnTo>
                  <a:lnTo>
                    <a:pt x="13969" y="1386458"/>
                  </a:lnTo>
                  <a:lnTo>
                    <a:pt x="9525" y="1374647"/>
                  </a:lnTo>
                  <a:lnTo>
                    <a:pt x="31393" y="1366435"/>
                  </a:lnTo>
                  <a:lnTo>
                    <a:pt x="72389" y="1316101"/>
                  </a:lnTo>
                  <a:lnTo>
                    <a:pt x="74675" y="1313433"/>
                  </a:lnTo>
                  <a:lnTo>
                    <a:pt x="74167" y="1309370"/>
                  </a:lnTo>
                  <a:lnTo>
                    <a:pt x="71500" y="1307210"/>
                  </a:lnTo>
                  <a:lnTo>
                    <a:pt x="68833" y="1304924"/>
                  </a:lnTo>
                  <a:close/>
                </a:path>
                <a:path w="3674745" h="1402714">
                  <a:moveTo>
                    <a:pt x="31393" y="1366435"/>
                  </a:moveTo>
                  <a:lnTo>
                    <a:pt x="9525" y="1374647"/>
                  </a:lnTo>
                  <a:lnTo>
                    <a:pt x="13969" y="1386458"/>
                  </a:lnTo>
                  <a:lnTo>
                    <a:pt x="19043" y="1384553"/>
                  </a:lnTo>
                  <a:lnTo>
                    <a:pt x="16636" y="1384553"/>
                  </a:lnTo>
                  <a:lnTo>
                    <a:pt x="12826" y="1374266"/>
                  </a:lnTo>
                  <a:lnTo>
                    <a:pt x="25015" y="1374266"/>
                  </a:lnTo>
                  <a:lnTo>
                    <a:pt x="31393" y="1366435"/>
                  </a:lnTo>
                  <a:close/>
                </a:path>
                <a:path w="3674745" h="1402714">
                  <a:moveTo>
                    <a:pt x="35930" y="1378213"/>
                  </a:moveTo>
                  <a:lnTo>
                    <a:pt x="13969" y="1386458"/>
                  </a:lnTo>
                  <a:lnTo>
                    <a:pt x="84207" y="1386458"/>
                  </a:lnTo>
                  <a:lnTo>
                    <a:pt x="35930" y="1378213"/>
                  </a:lnTo>
                  <a:close/>
                </a:path>
                <a:path w="3674745" h="1402714">
                  <a:moveTo>
                    <a:pt x="12826" y="1374266"/>
                  </a:moveTo>
                  <a:lnTo>
                    <a:pt x="16636" y="1384553"/>
                  </a:lnTo>
                  <a:lnTo>
                    <a:pt x="23526" y="1376094"/>
                  </a:lnTo>
                  <a:lnTo>
                    <a:pt x="12826" y="1374266"/>
                  </a:lnTo>
                  <a:close/>
                </a:path>
                <a:path w="3674745" h="1402714">
                  <a:moveTo>
                    <a:pt x="23526" y="1376094"/>
                  </a:moveTo>
                  <a:lnTo>
                    <a:pt x="16636" y="1384553"/>
                  </a:lnTo>
                  <a:lnTo>
                    <a:pt x="19043" y="1384553"/>
                  </a:lnTo>
                  <a:lnTo>
                    <a:pt x="35930" y="1378213"/>
                  </a:lnTo>
                  <a:lnTo>
                    <a:pt x="23526" y="1376094"/>
                  </a:lnTo>
                  <a:close/>
                </a:path>
                <a:path w="3674745" h="1402714">
                  <a:moveTo>
                    <a:pt x="3670173" y="0"/>
                  </a:moveTo>
                  <a:lnTo>
                    <a:pt x="31393" y="1366435"/>
                  </a:lnTo>
                  <a:lnTo>
                    <a:pt x="23526" y="1376094"/>
                  </a:lnTo>
                  <a:lnTo>
                    <a:pt x="35930" y="1378213"/>
                  </a:lnTo>
                  <a:lnTo>
                    <a:pt x="3674617" y="11937"/>
                  </a:lnTo>
                  <a:lnTo>
                    <a:pt x="3670173" y="0"/>
                  </a:lnTo>
                  <a:close/>
                </a:path>
                <a:path w="3674745" h="1402714">
                  <a:moveTo>
                    <a:pt x="25015" y="1374266"/>
                  </a:moveTo>
                  <a:lnTo>
                    <a:pt x="12826" y="1374266"/>
                  </a:lnTo>
                  <a:lnTo>
                    <a:pt x="23526" y="1376094"/>
                  </a:lnTo>
                  <a:lnTo>
                    <a:pt x="25015" y="13742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51"/>
            <p:cNvSpPr/>
            <p:nvPr/>
          </p:nvSpPr>
          <p:spPr>
            <a:xfrm>
              <a:off x="6066154" y="2852547"/>
              <a:ext cx="132080" cy="1380490"/>
            </a:xfrm>
            <a:custGeom>
              <a:avLst/>
              <a:gdLst/>
              <a:ahLst/>
              <a:cxnLst/>
              <a:rect l="l" t="t" r="r" b="b"/>
              <a:pathLst>
                <a:path w="132079" h="1380489">
                  <a:moveTo>
                    <a:pt x="7493" y="1281683"/>
                  </a:moveTo>
                  <a:lnTo>
                    <a:pt x="4445" y="1283334"/>
                  </a:lnTo>
                  <a:lnTo>
                    <a:pt x="1270" y="1284858"/>
                  </a:lnTo>
                  <a:lnTo>
                    <a:pt x="0" y="1288669"/>
                  </a:lnTo>
                  <a:lnTo>
                    <a:pt x="1650" y="1291844"/>
                  </a:lnTo>
                  <a:lnTo>
                    <a:pt x="46609" y="1380108"/>
                  </a:lnTo>
                  <a:lnTo>
                    <a:pt x="54693" y="1367916"/>
                  </a:lnTo>
                  <a:lnTo>
                    <a:pt x="53721" y="1367916"/>
                  </a:lnTo>
                  <a:lnTo>
                    <a:pt x="41021" y="1367154"/>
                  </a:lnTo>
                  <a:lnTo>
                    <a:pt x="42356" y="1343780"/>
                  </a:lnTo>
                  <a:lnTo>
                    <a:pt x="12954" y="1286002"/>
                  </a:lnTo>
                  <a:lnTo>
                    <a:pt x="11303" y="1282953"/>
                  </a:lnTo>
                  <a:lnTo>
                    <a:pt x="7493" y="1281683"/>
                  </a:lnTo>
                  <a:close/>
                </a:path>
                <a:path w="132079" h="1380489">
                  <a:moveTo>
                    <a:pt x="42356" y="1343780"/>
                  </a:moveTo>
                  <a:lnTo>
                    <a:pt x="41021" y="1367154"/>
                  </a:lnTo>
                  <a:lnTo>
                    <a:pt x="53721" y="1367916"/>
                  </a:lnTo>
                  <a:lnTo>
                    <a:pt x="53909" y="1364614"/>
                  </a:lnTo>
                  <a:lnTo>
                    <a:pt x="52959" y="1364614"/>
                  </a:lnTo>
                  <a:lnTo>
                    <a:pt x="42037" y="1364107"/>
                  </a:lnTo>
                  <a:lnTo>
                    <a:pt x="48066" y="1355000"/>
                  </a:lnTo>
                  <a:lnTo>
                    <a:pt x="42356" y="1343780"/>
                  </a:lnTo>
                  <a:close/>
                </a:path>
                <a:path w="132079" h="1380489">
                  <a:moveTo>
                    <a:pt x="96647" y="1286764"/>
                  </a:moveTo>
                  <a:lnTo>
                    <a:pt x="92710" y="1287526"/>
                  </a:lnTo>
                  <a:lnTo>
                    <a:pt x="90805" y="1290446"/>
                  </a:lnTo>
                  <a:lnTo>
                    <a:pt x="55060" y="1344436"/>
                  </a:lnTo>
                  <a:lnTo>
                    <a:pt x="53721" y="1367916"/>
                  </a:lnTo>
                  <a:lnTo>
                    <a:pt x="54693" y="1367916"/>
                  </a:lnTo>
                  <a:lnTo>
                    <a:pt x="101346" y="1297558"/>
                  </a:lnTo>
                  <a:lnTo>
                    <a:pt x="103250" y="1294638"/>
                  </a:lnTo>
                  <a:lnTo>
                    <a:pt x="102489" y="1290701"/>
                  </a:lnTo>
                  <a:lnTo>
                    <a:pt x="99568" y="1288669"/>
                  </a:lnTo>
                  <a:lnTo>
                    <a:pt x="96647" y="1286764"/>
                  </a:lnTo>
                  <a:close/>
                </a:path>
                <a:path w="132079" h="1380489">
                  <a:moveTo>
                    <a:pt x="48066" y="1355000"/>
                  </a:moveTo>
                  <a:lnTo>
                    <a:pt x="42037" y="1364107"/>
                  </a:lnTo>
                  <a:lnTo>
                    <a:pt x="52959" y="1364614"/>
                  </a:lnTo>
                  <a:lnTo>
                    <a:pt x="48066" y="1355000"/>
                  </a:lnTo>
                  <a:close/>
                </a:path>
                <a:path w="132079" h="1380489">
                  <a:moveTo>
                    <a:pt x="55060" y="1344436"/>
                  </a:moveTo>
                  <a:lnTo>
                    <a:pt x="48066" y="1355000"/>
                  </a:lnTo>
                  <a:lnTo>
                    <a:pt x="52959" y="1364614"/>
                  </a:lnTo>
                  <a:lnTo>
                    <a:pt x="53909" y="1364614"/>
                  </a:lnTo>
                  <a:lnTo>
                    <a:pt x="55060" y="1344436"/>
                  </a:lnTo>
                  <a:close/>
                </a:path>
                <a:path w="132079" h="1380489">
                  <a:moveTo>
                    <a:pt x="119125" y="0"/>
                  </a:moveTo>
                  <a:lnTo>
                    <a:pt x="42356" y="1343780"/>
                  </a:lnTo>
                  <a:lnTo>
                    <a:pt x="48066" y="1355000"/>
                  </a:lnTo>
                  <a:lnTo>
                    <a:pt x="55060" y="1344436"/>
                  </a:lnTo>
                  <a:lnTo>
                    <a:pt x="131699" y="762"/>
                  </a:lnTo>
                  <a:lnTo>
                    <a:pt x="1191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52"/>
            <p:cNvSpPr/>
            <p:nvPr/>
          </p:nvSpPr>
          <p:spPr>
            <a:xfrm>
              <a:off x="3088385" y="4469129"/>
              <a:ext cx="360045" cy="504825"/>
            </a:xfrm>
            <a:custGeom>
              <a:avLst/>
              <a:gdLst/>
              <a:ahLst/>
              <a:cxnLst/>
              <a:rect l="l" t="t" r="r" b="b"/>
              <a:pathLst>
                <a:path w="360045" h="504825">
                  <a:moveTo>
                    <a:pt x="0" y="504444"/>
                  </a:moveTo>
                  <a:lnTo>
                    <a:pt x="0" y="0"/>
                  </a:lnTo>
                  <a:lnTo>
                    <a:pt x="179831" y="252222"/>
                  </a:lnTo>
                  <a:lnTo>
                    <a:pt x="359663" y="0"/>
                  </a:lnTo>
                  <a:lnTo>
                    <a:pt x="359663" y="504444"/>
                  </a:lnTo>
                  <a:lnTo>
                    <a:pt x="179831" y="252222"/>
                  </a:lnTo>
                  <a:lnTo>
                    <a:pt x="0" y="504444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3"/>
            <p:cNvSpPr/>
            <p:nvPr/>
          </p:nvSpPr>
          <p:spPr>
            <a:xfrm>
              <a:off x="6660642" y="4496561"/>
              <a:ext cx="360045" cy="504825"/>
            </a:xfrm>
            <a:custGeom>
              <a:avLst/>
              <a:gdLst/>
              <a:ahLst/>
              <a:cxnLst/>
              <a:rect l="l" t="t" r="r" b="b"/>
              <a:pathLst>
                <a:path w="360045" h="504825">
                  <a:moveTo>
                    <a:pt x="0" y="504444"/>
                  </a:moveTo>
                  <a:lnTo>
                    <a:pt x="0" y="0"/>
                  </a:lnTo>
                  <a:lnTo>
                    <a:pt x="179831" y="252221"/>
                  </a:lnTo>
                  <a:lnTo>
                    <a:pt x="359663" y="0"/>
                  </a:lnTo>
                  <a:lnTo>
                    <a:pt x="359663" y="504444"/>
                  </a:lnTo>
                  <a:lnTo>
                    <a:pt x="179831" y="252221"/>
                  </a:lnTo>
                  <a:lnTo>
                    <a:pt x="0" y="504444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4"/>
            <p:cNvSpPr txBox="1"/>
            <p:nvPr/>
          </p:nvSpPr>
          <p:spPr>
            <a:xfrm>
              <a:off x="1914905" y="4520310"/>
              <a:ext cx="281940" cy="4521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800" spc="-5" dirty="0">
                  <a:latin typeface="Arial"/>
                  <a:cs typeface="Arial"/>
                </a:rPr>
                <a:t>U</a:t>
              </a:r>
              <a:endParaRPr sz="2800">
                <a:latin typeface="Arial"/>
                <a:cs typeface="Arial"/>
              </a:endParaRPr>
            </a:p>
          </p:txBody>
        </p:sp>
        <p:sp>
          <p:nvSpPr>
            <p:cNvPr id="52" name="object 55"/>
            <p:cNvSpPr txBox="1"/>
            <p:nvPr/>
          </p:nvSpPr>
          <p:spPr>
            <a:xfrm>
              <a:off x="5504179" y="4474209"/>
              <a:ext cx="281940" cy="4521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800" spc="-5" dirty="0">
                  <a:latin typeface="Arial"/>
                  <a:cs typeface="Arial"/>
                </a:rPr>
                <a:t>U</a:t>
              </a:r>
              <a:endParaRPr sz="2800">
                <a:latin typeface="Arial"/>
                <a:cs typeface="Arial"/>
              </a:endParaRPr>
            </a:p>
          </p:txBody>
        </p:sp>
      </p:grpSp>
      <p:sp>
        <p:nvSpPr>
          <p:cNvPr id="53" name="Rectangle 52"/>
          <p:cNvSpPr/>
          <p:nvPr/>
        </p:nvSpPr>
        <p:spPr>
          <a:xfrm>
            <a:off x="2438400" y="2133600"/>
            <a:ext cx="4453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spc="-7" baseline="-37037" dirty="0" smtClean="0">
                <a:cs typeface="Century Schoolbook"/>
              </a:rPr>
              <a:t>R</a:t>
            </a:r>
            <a:r>
              <a:rPr lang="fr-FR" sz="2400" baseline="-37037" dirty="0" smtClean="0">
                <a:cs typeface="Century Schoolbook"/>
              </a:rPr>
              <a:t>1</a:t>
            </a:r>
            <a:endParaRPr lang="fr-FR" sz="2400" dirty="0"/>
          </a:p>
        </p:txBody>
      </p:sp>
      <p:sp>
        <p:nvSpPr>
          <p:cNvPr id="54" name="Rectangle 53"/>
          <p:cNvSpPr/>
          <p:nvPr/>
        </p:nvSpPr>
        <p:spPr>
          <a:xfrm>
            <a:off x="6096000" y="2209800"/>
            <a:ext cx="4448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spc="-7" baseline="-37037" dirty="0" smtClean="0">
                <a:cs typeface="Century Schoolbook"/>
              </a:rPr>
              <a:t>R2</a:t>
            </a:r>
            <a:endParaRPr lang="fr-FR" sz="2400" dirty="0"/>
          </a:p>
        </p:txBody>
      </p:sp>
      <p:sp>
        <p:nvSpPr>
          <p:cNvPr id="55" name="Espace réservé du numéro de diapositive 5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31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7288" y="203302"/>
            <a:ext cx="863671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800" dirty="0" smtClean="0">
                <a:solidFill>
                  <a:srgbClr val="565F6C"/>
                </a:solidFill>
                <a:cs typeface="Century Schoolbook"/>
              </a:rPr>
              <a:t>REDUCTION DES DONNÉES</a:t>
            </a:r>
            <a:r>
              <a:rPr lang="fr-FR" sz="2800" spc="145" dirty="0" smtClean="0">
                <a:solidFill>
                  <a:srgbClr val="565F6C"/>
                </a:solidFill>
                <a:cs typeface="Century Schoolbook"/>
              </a:rPr>
              <a:t> </a:t>
            </a:r>
            <a:r>
              <a:rPr lang="fr-FR" sz="2800" spc="-10" dirty="0" smtClean="0">
                <a:solidFill>
                  <a:srgbClr val="565F6C"/>
                </a:solidFill>
                <a:cs typeface="Century Schoolbook"/>
              </a:rPr>
              <a:t>TRANSFÉRÉES</a:t>
            </a:r>
            <a:endParaRPr lang="fr-FR" sz="2800" dirty="0">
              <a:cs typeface="Century Schoolboo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288" y="1315189"/>
            <a:ext cx="7270115" cy="24186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5595" indent="-274955">
              <a:lnSpc>
                <a:spcPct val="100000"/>
              </a:lnSpc>
              <a:spcBef>
                <a:spcPts val="254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316230" algn="l"/>
              </a:tabLst>
            </a:pPr>
            <a:r>
              <a:rPr sz="2400" spc="-5" dirty="0" err="1" smtClean="0">
                <a:latin typeface="Century Schoolbook"/>
                <a:cs typeface="Century Schoolbook"/>
              </a:rPr>
              <a:t>Algorithme</a:t>
            </a:r>
            <a:r>
              <a:rPr sz="2400" spc="-5" dirty="0" smtClean="0">
                <a:latin typeface="Century Schoolbook"/>
                <a:cs typeface="Century Schoolbook"/>
              </a:rPr>
              <a:t> </a:t>
            </a:r>
            <a:r>
              <a:rPr sz="2400" spc="-5" dirty="0">
                <a:latin typeface="Century Schoolbook"/>
                <a:cs typeface="Century Schoolbook"/>
              </a:rPr>
              <a:t>des</a:t>
            </a:r>
            <a:r>
              <a:rPr sz="2400" spc="-25" dirty="0">
                <a:latin typeface="Century Schoolbook"/>
                <a:cs typeface="Century Schoolbook"/>
              </a:rPr>
              <a:t> </a:t>
            </a:r>
            <a:r>
              <a:rPr sz="2400" dirty="0">
                <a:latin typeface="Century Schoolbook"/>
                <a:cs typeface="Century Schoolbook"/>
              </a:rPr>
              <a:t>semi-jointures</a:t>
            </a:r>
          </a:p>
          <a:p>
            <a:pPr marL="681355" lvl="1" indent="-27495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81355" algn="l"/>
                <a:tab pos="681990" algn="l"/>
              </a:tabLst>
            </a:pPr>
            <a:r>
              <a:rPr sz="2100" spc="-5" dirty="0">
                <a:latin typeface="Century Schoolbook"/>
                <a:cs typeface="Century Schoolbook"/>
              </a:rPr>
              <a:t>Intérêt:</a:t>
            </a:r>
            <a:endParaRPr sz="2100" dirty="0">
              <a:latin typeface="Century Schoolbook"/>
              <a:cs typeface="Century Schoolbook"/>
            </a:endParaRPr>
          </a:p>
          <a:p>
            <a:pPr marL="955675" lvl="2" indent="-183515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56310" algn="l"/>
              </a:tabLst>
            </a:pPr>
            <a:r>
              <a:rPr sz="1800" dirty="0">
                <a:latin typeface="Century Schoolbook"/>
                <a:cs typeface="Century Schoolbook"/>
              </a:rPr>
              <a:t>réduire la </a:t>
            </a:r>
            <a:r>
              <a:rPr sz="1800" spc="-5" dirty="0">
                <a:latin typeface="Century Schoolbook"/>
                <a:cs typeface="Century Schoolbook"/>
              </a:rPr>
              <a:t>quantité d’information transférée pour</a:t>
            </a:r>
            <a:r>
              <a:rPr sz="1800" spc="20" dirty="0">
                <a:latin typeface="Century Schoolbook"/>
                <a:cs typeface="Century Schoolbook"/>
              </a:rPr>
              <a:t> </a:t>
            </a:r>
            <a:r>
              <a:rPr sz="1800" spc="-5" dirty="0">
                <a:latin typeface="Century Schoolbook"/>
                <a:cs typeface="Century Schoolbook"/>
              </a:rPr>
              <a:t>exécuter</a:t>
            </a:r>
            <a:endParaRPr sz="1800" dirty="0">
              <a:latin typeface="Century Schoolbook"/>
              <a:cs typeface="Century Schoolbook"/>
            </a:endParaRPr>
          </a:p>
          <a:p>
            <a:pPr marL="955675">
              <a:lnSpc>
                <a:spcPct val="100000"/>
              </a:lnSpc>
            </a:pPr>
            <a:r>
              <a:rPr sz="1800" dirty="0">
                <a:latin typeface="Century Schoolbook"/>
                <a:cs typeface="Century Schoolbook"/>
              </a:rPr>
              <a:t>une </a:t>
            </a:r>
            <a:r>
              <a:rPr sz="1800" spc="-5" dirty="0">
                <a:latin typeface="Century Schoolbook"/>
                <a:cs typeface="Century Schoolbook"/>
              </a:rPr>
              <a:t>jointure quand peu de </a:t>
            </a:r>
            <a:r>
              <a:rPr sz="1800" dirty="0">
                <a:latin typeface="Century Schoolbook"/>
                <a:cs typeface="Century Schoolbook"/>
              </a:rPr>
              <a:t>n-uplets </a:t>
            </a:r>
            <a:r>
              <a:rPr sz="1800" spc="-5" dirty="0">
                <a:latin typeface="Century Schoolbook"/>
                <a:cs typeface="Century Schoolbook"/>
              </a:rPr>
              <a:t>participent </a:t>
            </a:r>
            <a:r>
              <a:rPr sz="1800" dirty="0">
                <a:latin typeface="Century Schoolbook"/>
                <a:cs typeface="Century Schoolbook"/>
              </a:rPr>
              <a:t>à la</a:t>
            </a:r>
            <a:r>
              <a:rPr sz="1800" spc="30" dirty="0">
                <a:latin typeface="Century Schoolbook"/>
                <a:cs typeface="Century Schoolbook"/>
              </a:rPr>
              <a:t> </a:t>
            </a:r>
            <a:r>
              <a:rPr sz="1800" spc="-5" dirty="0">
                <a:latin typeface="Century Schoolbook"/>
                <a:cs typeface="Century Schoolbook"/>
              </a:rPr>
              <a:t>jointure</a:t>
            </a:r>
            <a:endParaRPr sz="1800" dirty="0">
              <a:latin typeface="Century Schoolbook"/>
              <a:cs typeface="Century Schoolbook"/>
            </a:endParaRPr>
          </a:p>
          <a:p>
            <a:pPr marL="681355" lvl="1" indent="-274955">
              <a:lnSpc>
                <a:spcPct val="100000"/>
              </a:lnSpc>
              <a:spcBef>
                <a:spcPts val="490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681355" algn="l"/>
                <a:tab pos="681990" algn="l"/>
              </a:tabLst>
            </a:pPr>
            <a:r>
              <a:rPr sz="2100" spc="-5" dirty="0">
                <a:latin typeface="Century Schoolbook"/>
                <a:cs typeface="Century Schoolbook"/>
              </a:rPr>
              <a:t>Constat:</a:t>
            </a:r>
            <a:endParaRPr sz="2100" dirty="0">
              <a:latin typeface="Century Schoolbook"/>
              <a:cs typeface="Century Schoolbook"/>
            </a:endParaRPr>
          </a:p>
          <a:p>
            <a:pPr marL="955675" lvl="2" indent="-183515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56310" algn="l"/>
              </a:tabLst>
            </a:pPr>
            <a:r>
              <a:rPr sz="1800" spc="-5" dirty="0">
                <a:latin typeface="Century Schoolbook"/>
                <a:cs typeface="Century Schoolbook"/>
              </a:rPr>
              <a:t>Soient R(A, B, C, </a:t>
            </a:r>
            <a:r>
              <a:rPr sz="1800" dirty="0">
                <a:latin typeface="Century Schoolbook"/>
                <a:cs typeface="Century Schoolbook"/>
              </a:rPr>
              <a:t>D) </a:t>
            </a:r>
            <a:r>
              <a:rPr sz="1800" spc="-5" dirty="0">
                <a:latin typeface="Century Schoolbook"/>
                <a:cs typeface="Century Schoolbook"/>
              </a:rPr>
              <a:t>sur Site </a:t>
            </a:r>
            <a:r>
              <a:rPr sz="1800" dirty="0">
                <a:latin typeface="Century Schoolbook"/>
                <a:cs typeface="Century Schoolbook"/>
              </a:rPr>
              <a:t>1 et </a:t>
            </a:r>
            <a:r>
              <a:rPr sz="1800" spc="-5" dirty="0">
                <a:latin typeface="Century Schoolbook"/>
                <a:cs typeface="Century Schoolbook"/>
              </a:rPr>
              <a:t>S(A, </a:t>
            </a:r>
            <a:r>
              <a:rPr sz="1800" dirty="0">
                <a:latin typeface="Century Schoolbook"/>
                <a:cs typeface="Century Schoolbook"/>
              </a:rPr>
              <a:t>D, </a:t>
            </a:r>
            <a:r>
              <a:rPr sz="1800" spc="-5" dirty="0">
                <a:latin typeface="Century Schoolbook"/>
                <a:cs typeface="Century Schoolbook"/>
              </a:rPr>
              <a:t>E, </a:t>
            </a:r>
            <a:r>
              <a:rPr sz="1800" dirty="0">
                <a:latin typeface="Century Schoolbook"/>
                <a:cs typeface="Century Schoolbook"/>
              </a:rPr>
              <a:t>F) </a:t>
            </a:r>
            <a:r>
              <a:rPr sz="1800" spc="-5" dirty="0">
                <a:latin typeface="Century Schoolbook"/>
                <a:cs typeface="Century Schoolbook"/>
              </a:rPr>
              <a:t>sur</a:t>
            </a:r>
            <a:r>
              <a:rPr sz="1800" spc="15" dirty="0">
                <a:latin typeface="Century Schoolbook"/>
                <a:cs typeface="Century Schoolbook"/>
              </a:rPr>
              <a:t> </a:t>
            </a:r>
            <a:r>
              <a:rPr sz="1800" spc="-5" dirty="0">
                <a:latin typeface="Century Schoolbook"/>
                <a:cs typeface="Century Schoolbook"/>
              </a:rPr>
              <a:t>Site2</a:t>
            </a:r>
            <a:endParaRPr sz="1800" dirty="0">
              <a:latin typeface="Century Schoolbook"/>
              <a:cs typeface="Century Schoolbook"/>
            </a:endParaRPr>
          </a:p>
          <a:p>
            <a:pPr marL="955675" lvl="2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56310" algn="l"/>
              </a:tabLst>
            </a:pPr>
            <a:r>
              <a:rPr sz="1800" dirty="0">
                <a:latin typeface="Century Schoolbook"/>
                <a:cs typeface="Century Schoolbook"/>
              </a:rPr>
              <a:t>On</a:t>
            </a:r>
            <a:r>
              <a:rPr sz="1800" spc="-10" dirty="0">
                <a:latin typeface="Century Schoolbook"/>
                <a:cs typeface="Century Schoolbook"/>
              </a:rPr>
              <a:t> </a:t>
            </a:r>
            <a:r>
              <a:rPr sz="1800" spc="-5" dirty="0">
                <a:latin typeface="Century Schoolbook"/>
                <a:cs typeface="Century Schoolbook"/>
              </a:rPr>
              <a:t>a:</a:t>
            </a:r>
            <a:endParaRPr sz="1800" dirty="0">
              <a:latin typeface="Century Schoolbook"/>
              <a:cs typeface="Century Schoolboo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4175505"/>
            <a:ext cx="14071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78571"/>
              <a:buFont typeface="Wingdings 2"/>
              <a:buChar char=""/>
              <a:tabLst>
                <a:tab pos="287020" algn="l"/>
                <a:tab pos="287655" algn="l"/>
              </a:tabLst>
            </a:pPr>
            <a:r>
              <a:rPr sz="2100" dirty="0">
                <a:latin typeface="Century Schoolbook"/>
                <a:cs typeface="Century Schoolbook"/>
              </a:rPr>
              <a:t>Principe:</a:t>
            </a:r>
            <a:endParaRPr sz="2100">
              <a:latin typeface="Century Schoolbook"/>
              <a:cs typeface="Century Schoolboo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03448" y="3925823"/>
            <a:ext cx="113030" cy="175260"/>
          </a:xfrm>
          <a:custGeom>
            <a:avLst/>
            <a:gdLst/>
            <a:ahLst/>
            <a:cxnLst/>
            <a:rect l="l" t="t" r="r" b="b"/>
            <a:pathLst>
              <a:path w="113029" h="175260">
                <a:moveTo>
                  <a:pt x="0" y="0"/>
                </a:moveTo>
                <a:lnTo>
                  <a:pt x="112775" y="87630"/>
                </a:lnTo>
                <a:lnTo>
                  <a:pt x="0" y="175259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16223" y="3925823"/>
            <a:ext cx="105410" cy="88265"/>
          </a:xfrm>
          <a:custGeom>
            <a:avLst/>
            <a:gdLst/>
            <a:ahLst/>
            <a:cxnLst/>
            <a:rect l="l" t="t" r="r" b="b"/>
            <a:pathLst>
              <a:path w="105410" h="88264">
                <a:moveTo>
                  <a:pt x="0" y="87756"/>
                </a:moveTo>
                <a:lnTo>
                  <a:pt x="105155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16223" y="4014215"/>
            <a:ext cx="105410" cy="88265"/>
          </a:xfrm>
          <a:custGeom>
            <a:avLst/>
            <a:gdLst/>
            <a:ahLst/>
            <a:cxnLst/>
            <a:rect l="l" t="t" r="r" b="b"/>
            <a:pathLst>
              <a:path w="105410" h="88264">
                <a:moveTo>
                  <a:pt x="0" y="0"/>
                </a:moveTo>
                <a:lnTo>
                  <a:pt x="105155" y="877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01951" y="3945635"/>
            <a:ext cx="155447" cy="1371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6633" y="3838702"/>
            <a:ext cx="1696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182880">
              <a:lnSpc>
                <a:spcPct val="100000"/>
              </a:lnSpc>
              <a:spcBef>
                <a:spcPts val="100"/>
              </a:spcBef>
              <a:buClr>
                <a:srgbClr val="FDC3AD"/>
              </a:buClr>
              <a:buSzPct val="58333"/>
              <a:buFont typeface="Wingdings"/>
              <a:buChar char=""/>
              <a:tabLst>
                <a:tab pos="220979" algn="l"/>
                <a:tab pos="555625" algn="l"/>
                <a:tab pos="1037590" algn="l"/>
              </a:tabLst>
            </a:pPr>
            <a:r>
              <a:rPr sz="1800" dirty="0">
                <a:latin typeface="Century Schoolbook"/>
                <a:cs typeface="Century Schoolbook"/>
              </a:rPr>
              <a:t>R	</a:t>
            </a:r>
            <a:r>
              <a:rPr sz="1650" baseline="-22727" dirty="0">
                <a:latin typeface="Century Schoolbook"/>
                <a:cs typeface="Century Schoolbook"/>
              </a:rPr>
              <a:t>A</a:t>
            </a:r>
            <a:r>
              <a:rPr sz="1650" spc="89" baseline="-22727" dirty="0">
                <a:latin typeface="Century Schoolbook"/>
                <a:cs typeface="Century Schoolbook"/>
              </a:rPr>
              <a:t> </a:t>
            </a:r>
            <a:r>
              <a:rPr sz="1800" dirty="0">
                <a:latin typeface="Century Schoolbook"/>
                <a:cs typeface="Century Schoolbook"/>
              </a:rPr>
              <a:t>S	</a:t>
            </a:r>
            <a:r>
              <a:rPr sz="1800" dirty="0">
                <a:latin typeface="Symbol"/>
                <a:cs typeface="Symbol"/>
              </a:rPr>
              <a:t>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entury Schoolbook"/>
                <a:cs typeface="Century Schoolbook"/>
              </a:rPr>
              <a:t>(</a:t>
            </a:r>
            <a:r>
              <a:rPr sz="1800" spc="-20" dirty="0">
                <a:latin typeface="Century Schoolbook"/>
                <a:cs typeface="Century Schoolbook"/>
              </a:rPr>
              <a:t> </a:t>
            </a:r>
            <a:r>
              <a:rPr sz="1800" dirty="0">
                <a:latin typeface="Century Schoolbook"/>
                <a:cs typeface="Century Schoolbook"/>
              </a:rPr>
              <a:t>R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49496" y="3925823"/>
            <a:ext cx="155448" cy="1386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92952" y="3890771"/>
            <a:ext cx="113030" cy="175260"/>
          </a:xfrm>
          <a:custGeom>
            <a:avLst/>
            <a:gdLst/>
            <a:ahLst/>
            <a:cxnLst/>
            <a:rect l="l" t="t" r="r" b="b"/>
            <a:pathLst>
              <a:path w="113029" h="175260">
                <a:moveTo>
                  <a:pt x="0" y="0"/>
                </a:moveTo>
                <a:lnTo>
                  <a:pt x="112775" y="87629"/>
                </a:lnTo>
                <a:lnTo>
                  <a:pt x="0" y="175259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05728" y="3890771"/>
            <a:ext cx="105410" cy="88265"/>
          </a:xfrm>
          <a:custGeom>
            <a:avLst/>
            <a:gdLst/>
            <a:ahLst/>
            <a:cxnLst/>
            <a:rect l="l" t="t" r="r" b="b"/>
            <a:pathLst>
              <a:path w="105410" h="88264">
                <a:moveTo>
                  <a:pt x="0" y="87756"/>
                </a:moveTo>
                <a:lnTo>
                  <a:pt x="10515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05728" y="3979164"/>
            <a:ext cx="105410" cy="88265"/>
          </a:xfrm>
          <a:custGeom>
            <a:avLst/>
            <a:gdLst/>
            <a:ahLst/>
            <a:cxnLst/>
            <a:rect l="l" t="t" r="r" b="b"/>
            <a:pathLst>
              <a:path w="105410" h="88264">
                <a:moveTo>
                  <a:pt x="0" y="0"/>
                </a:moveTo>
                <a:lnTo>
                  <a:pt x="105156" y="877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28488" y="3890771"/>
            <a:ext cx="155448" cy="1371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243707" y="3838702"/>
            <a:ext cx="5366893" cy="3718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5585">
              <a:lnSpc>
                <a:spcPts val="1820"/>
              </a:lnSpc>
              <a:spcBef>
                <a:spcPts val="100"/>
              </a:spcBef>
              <a:tabLst>
                <a:tab pos="1276985" algn="l"/>
                <a:tab pos="1673225" algn="l"/>
                <a:tab pos="2356485" algn="l"/>
                <a:tab pos="2965450" algn="l"/>
              </a:tabLst>
            </a:pPr>
            <a:r>
              <a:rPr sz="1800" dirty="0">
                <a:latin typeface="Symbol"/>
                <a:cs typeface="Symbol"/>
              </a:rPr>
              <a:t></a:t>
            </a:r>
            <a:r>
              <a:rPr sz="1800" baseline="-20833" dirty="0">
                <a:latin typeface="Century Schoolbook"/>
                <a:cs typeface="Century Schoolbook"/>
              </a:rPr>
              <a:t>A</a:t>
            </a:r>
            <a:r>
              <a:rPr sz="1800" dirty="0">
                <a:latin typeface="Century Schoolbook"/>
                <a:cs typeface="Century Schoolbook"/>
              </a:rPr>
              <a:t>(S)</a:t>
            </a:r>
            <a:r>
              <a:rPr sz="1800" spc="-10" dirty="0">
                <a:latin typeface="Century Schoolbook"/>
                <a:cs typeface="Century Schoolbook"/>
              </a:rPr>
              <a:t> </a:t>
            </a:r>
            <a:r>
              <a:rPr sz="1800" dirty="0">
                <a:latin typeface="Century Schoolbook"/>
                <a:cs typeface="Century Schoolbook"/>
              </a:rPr>
              <a:t>)	</a:t>
            </a:r>
            <a:r>
              <a:rPr sz="1650" baseline="-15151" dirty="0">
                <a:latin typeface="Century Schoolbook"/>
                <a:cs typeface="Century Schoolbook"/>
              </a:rPr>
              <a:t>A</a:t>
            </a:r>
            <a:r>
              <a:rPr sz="1650" spc="-187" baseline="-15151" dirty="0">
                <a:latin typeface="Century Schoolbook"/>
                <a:cs typeface="Century Schoolbook"/>
              </a:rPr>
              <a:t> </a:t>
            </a:r>
            <a:r>
              <a:rPr sz="1800" dirty="0">
                <a:latin typeface="Century Schoolbook"/>
                <a:cs typeface="Century Schoolbook"/>
              </a:rPr>
              <a:t>S	</a:t>
            </a:r>
            <a:r>
              <a:rPr sz="1800" dirty="0">
                <a:latin typeface="Symbol"/>
                <a:cs typeface="Symbol"/>
              </a:rPr>
              <a:t>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entury Schoolbook"/>
                <a:cs typeface="Century Schoolbook"/>
              </a:rPr>
              <a:t>R	</a:t>
            </a:r>
            <a:r>
              <a:rPr sz="1100" dirty="0">
                <a:latin typeface="Century Schoolbook"/>
                <a:cs typeface="Century Schoolbook"/>
              </a:rPr>
              <a:t>A  </a:t>
            </a:r>
            <a:r>
              <a:rPr sz="1100" spc="75" dirty="0">
                <a:latin typeface="Century Schoolbook"/>
                <a:cs typeface="Century Schoolbook"/>
              </a:rPr>
              <a:t> </a:t>
            </a:r>
            <a:r>
              <a:rPr sz="1800" dirty="0">
                <a:latin typeface="Century Schoolbook"/>
                <a:cs typeface="Century Schoolbook"/>
              </a:rPr>
              <a:t>(S	</a:t>
            </a:r>
            <a:r>
              <a:rPr lang="fr-FR" sz="1800" dirty="0" smtClean="0">
                <a:latin typeface="Century Schoolbook"/>
                <a:cs typeface="Century Schoolbook"/>
              </a:rPr>
              <a:t>   </a:t>
            </a:r>
            <a:r>
              <a:rPr sz="1650" baseline="-25252" dirty="0" smtClean="0">
                <a:latin typeface="Century Schoolbook"/>
                <a:cs typeface="Century Schoolbook"/>
              </a:rPr>
              <a:t>A </a:t>
            </a:r>
            <a:r>
              <a:rPr sz="1800" dirty="0">
                <a:latin typeface="Symbol"/>
                <a:cs typeface="Symbol"/>
              </a:rPr>
              <a:t></a:t>
            </a:r>
            <a:r>
              <a:rPr sz="1800" baseline="-20833" dirty="0">
                <a:latin typeface="Century Schoolbook"/>
                <a:cs typeface="Century Schoolbook"/>
              </a:rPr>
              <a:t>A</a:t>
            </a:r>
            <a:r>
              <a:rPr sz="1800" dirty="0">
                <a:latin typeface="Century Schoolbook"/>
                <a:cs typeface="Century Schoolbook"/>
              </a:rPr>
              <a:t>(R</a:t>
            </a:r>
            <a:r>
              <a:rPr sz="1800" dirty="0" smtClean="0">
                <a:latin typeface="Century Schoolbook"/>
                <a:cs typeface="Century Schoolbook"/>
              </a:rPr>
              <a:t>)</a:t>
            </a:r>
            <a:r>
              <a:rPr sz="1800" spc="-245" dirty="0" smtClean="0">
                <a:latin typeface="Century Schoolbook"/>
                <a:cs typeface="Century Schoolbook"/>
              </a:rPr>
              <a:t> </a:t>
            </a:r>
            <a:r>
              <a:rPr sz="1800" dirty="0">
                <a:latin typeface="Century Schoolbook"/>
                <a:cs typeface="Century Schoolbook"/>
              </a:rPr>
              <a:t>)</a:t>
            </a:r>
          </a:p>
          <a:p>
            <a:pPr marL="76200">
              <a:lnSpc>
                <a:spcPts val="980"/>
              </a:lnSpc>
            </a:pPr>
            <a:r>
              <a:rPr sz="1100" dirty="0">
                <a:latin typeface="Century Schoolbook"/>
                <a:cs typeface="Century Schoolbook"/>
              </a:rPr>
              <a:t>A</a:t>
            </a:r>
          </a:p>
        </p:txBody>
      </p:sp>
      <p:sp>
        <p:nvSpPr>
          <p:cNvPr id="17" name="object 17"/>
          <p:cNvSpPr/>
          <p:nvPr/>
        </p:nvSpPr>
        <p:spPr>
          <a:xfrm>
            <a:off x="3601211" y="5588508"/>
            <a:ext cx="113030" cy="177165"/>
          </a:xfrm>
          <a:custGeom>
            <a:avLst/>
            <a:gdLst/>
            <a:ahLst/>
            <a:cxnLst/>
            <a:rect l="l" t="t" r="r" b="b"/>
            <a:pathLst>
              <a:path w="113029" h="177164">
                <a:moveTo>
                  <a:pt x="0" y="0"/>
                </a:moveTo>
                <a:lnTo>
                  <a:pt x="112775" y="88391"/>
                </a:lnTo>
                <a:lnTo>
                  <a:pt x="0" y="176783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13988" y="5588508"/>
            <a:ext cx="105410" cy="88265"/>
          </a:xfrm>
          <a:custGeom>
            <a:avLst/>
            <a:gdLst/>
            <a:ahLst/>
            <a:cxnLst/>
            <a:rect l="l" t="t" r="r" b="b"/>
            <a:pathLst>
              <a:path w="105410" h="88264">
                <a:moveTo>
                  <a:pt x="0" y="87756"/>
                </a:moveTo>
                <a:lnTo>
                  <a:pt x="10515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713988" y="5676900"/>
            <a:ext cx="105410" cy="88265"/>
          </a:xfrm>
          <a:custGeom>
            <a:avLst/>
            <a:gdLst/>
            <a:ahLst/>
            <a:cxnLst/>
            <a:rect l="l" t="t" r="r" b="b"/>
            <a:pathLst>
              <a:path w="105410" h="88264">
                <a:moveTo>
                  <a:pt x="0" y="0"/>
                </a:moveTo>
                <a:lnTo>
                  <a:pt x="105156" y="877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242313" y="4494401"/>
            <a:ext cx="4859020" cy="167449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20979" indent="-182880">
              <a:lnSpc>
                <a:spcPct val="100000"/>
              </a:lnSpc>
              <a:spcBef>
                <a:spcPts val="54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220979" algn="l"/>
              </a:tabLst>
            </a:pPr>
            <a:r>
              <a:rPr sz="1800" dirty="0">
                <a:latin typeface="Century Schoolbook"/>
                <a:cs typeface="Century Schoolbook"/>
              </a:rPr>
              <a:t>On </a:t>
            </a:r>
            <a:r>
              <a:rPr sz="1800" spc="-5" dirty="0">
                <a:latin typeface="Century Schoolbook"/>
                <a:cs typeface="Century Schoolbook"/>
              </a:rPr>
              <a:t>suppose que </a:t>
            </a:r>
            <a:r>
              <a:rPr sz="1800" i="1" dirty="0">
                <a:latin typeface="Century Schoolbook"/>
                <a:cs typeface="Century Schoolbook"/>
              </a:rPr>
              <a:t>card</a:t>
            </a:r>
            <a:r>
              <a:rPr sz="1800" dirty="0">
                <a:latin typeface="Century Schoolbook"/>
                <a:cs typeface="Century Schoolbook"/>
              </a:rPr>
              <a:t>(</a:t>
            </a:r>
            <a:r>
              <a:rPr sz="1800" dirty="0">
                <a:latin typeface="Symbol"/>
                <a:cs typeface="Symbol"/>
              </a:rPr>
              <a:t></a:t>
            </a:r>
            <a:r>
              <a:rPr sz="1800" baseline="-20833" dirty="0">
                <a:latin typeface="Century Schoolbook"/>
                <a:cs typeface="Century Schoolbook"/>
              </a:rPr>
              <a:t>A</a:t>
            </a:r>
            <a:r>
              <a:rPr sz="1800" dirty="0">
                <a:latin typeface="Century Schoolbook"/>
                <a:cs typeface="Century Schoolbook"/>
              </a:rPr>
              <a:t>(S)) &lt;</a:t>
            </a:r>
            <a:r>
              <a:rPr sz="1800" spc="-30" dirty="0">
                <a:latin typeface="Century Schoolbook"/>
                <a:cs typeface="Century Schoolbook"/>
              </a:rPr>
              <a:t> </a:t>
            </a:r>
            <a:r>
              <a:rPr sz="1800" i="1" dirty="0">
                <a:latin typeface="Century Schoolbook"/>
                <a:cs typeface="Century Schoolbook"/>
              </a:rPr>
              <a:t>card</a:t>
            </a:r>
            <a:r>
              <a:rPr sz="1800" dirty="0">
                <a:latin typeface="Century Schoolbook"/>
                <a:cs typeface="Century Schoolbook"/>
              </a:rPr>
              <a:t>(</a:t>
            </a:r>
            <a:r>
              <a:rPr sz="1800" dirty="0">
                <a:latin typeface="Symbol"/>
                <a:cs typeface="Symbol"/>
              </a:rPr>
              <a:t></a:t>
            </a:r>
            <a:r>
              <a:rPr sz="1800" baseline="-20833" dirty="0">
                <a:latin typeface="Century Schoolbook"/>
                <a:cs typeface="Century Schoolbook"/>
              </a:rPr>
              <a:t>A</a:t>
            </a:r>
            <a:r>
              <a:rPr sz="1800" dirty="0">
                <a:latin typeface="Century Schoolbook"/>
                <a:cs typeface="Century Schoolbook"/>
              </a:rPr>
              <a:t>(R))</a:t>
            </a:r>
            <a:endParaRPr sz="1800">
              <a:latin typeface="Century Schoolbook"/>
              <a:cs typeface="Century Schoolbook"/>
            </a:endParaRPr>
          </a:p>
          <a:p>
            <a:pPr marL="220979" indent="-182880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220979" algn="l"/>
              </a:tabLst>
            </a:pPr>
            <a:r>
              <a:rPr sz="1800" dirty="0">
                <a:latin typeface="Century Schoolbook"/>
                <a:cs typeface="Century Schoolbook"/>
              </a:rPr>
              <a:t>Pour effectuer la </a:t>
            </a:r>
            <a:r>
              <a:rPr sz="1800" spc="-5" dirty="0">
                <a:latin typeface="Century Schoolbook"/>
                <a:cs typeface="Century Schoolbook"/>
              </a:rPr>
              <a:t>jointure de </a:t>
            </a:r>
            <a:r>
              <a:rPr sz="1800" dirty="0">
                <a:latin typeface="Century Schoolbook"/>
                <a:cs typeface="Century Schoolbook"/>
              </a:rPr>
              <a:t>R </a:t>
            </a:r>
            <a:r>
              <a:rPr sz="1800" spc="-5" dirty="0">
                <a:latin typeface="Century Schoolbook"/>
                <a:cs typeface="Century Schoolbook"/>
              </a:rPr>
              <a:t>avec </a:t>
            </a:r>
            <a:r>
              <a:rPr sz="1800" dirty="0">
                <a:latin typeface="Century Schoolbook"/>
                <a:cs typeface="Century Schoolbook"/>
              </a:rPr>
              <a:t>S</a:t>
            </a:r>
            <a:r>
              <a:rPr sz="1800" spc="-40" dirty="0">
                <a:latin typeface="Century Schoolbook"/>
                <a:cs typeface="Century Schoolbook"/>
              </a:rPr>
              <a:t> </a:t>
            </a:r>
            <a:r>
              <a:rPr sz="1800" dirty="0">
                <a:latin typeface="Century Schoolbook"/>
                <a:cs typeface="Century Schoolbook"/>
              </a:rPr>
              <a:t>:</a:t>
            </a:r>
            <a:endParaRPr sz="1800">
              <a:latin typeface="Century Schoolbook"/>
              <a:cs typeface="Century Schoolbook"/>
            </a:endParaRPr>
          </a:p>
          <a:p>
            <a:pPr marL="495300" lvl="1" indent="-182880">
              <a:lnSpc>
                <a:spcPct val="100000"/>
              </a:lnSpc>
              <a:spcBef>
                <a:spcPts val="434"/>
              </a:spcBef>
              <a:buClr>
                <a:srgbClr val="FDC3AD"/>
              </a:buClr>
              <a:buSzPct val="58333"/>
              <a:buFont typeface="Wingdings"/>
              <a:buChar char=""/>
              <a:tabLst>
                <a:tab pos="495300" algn="l"/>
              </a:tabLst>
            </a:pPr>
            <a:r>
              <a:rPr sz="1800" dirty="0">
                <a:latin typeface="Century Schoolbook"/>
                <a:cs typeface="Century Schoolbook"/>
              </a:rPr>
              <a:t>Transfert </a:t>
            </a:r>
            <a:r>
              <a:rPr sz="1800" spc="-5" dirty="0">
                <a:latin typeface="Century Schoolbook"/>
                <a:cs typeface="Century Schoolbook"/>
              </a:rPr>
              <a:t>de </a:t>
            </a:r>
            <a:r>
              <a:rPr sz="1800" dirty="0">
                <a:latin typeface="Symbol"/>
                <a:cs typeface="Symbol"/>
              </a:rPr>
              <a:t></a:t>
            </a:r>
            <a:r>
              <a:rPr sz="1800" baseline="-20833" dirty="0">
                <a:latin typeface="Century Schoolbook"/>
                <a:cs typeface="Century Schoolbook"/>
              </a:rPr>
              <a:t>A</a:t>
            </a:r>
            <a:r>
              <a:rPr sz="1800" dirty="0">
                <a:latin typeface="Century Schoolbook"/>
                <a:cs typeface="Century Schoolbook"/>
              </a:rPr>
              <a:t>(S) </a:t>
            </a:r>
            <a:r>
              <a:rPr sz="1800" spc="-5" dirty="0">
                <a:latin typeface="Century Schoolbook"/>
                <a:cs typeface="Century Schoolbook"/>
              </a:rPr>
              <a:t>du site </a:t>
            </a:r>
            <a:r>
              <a:rPr sz="1800" dirty="0">
                <a:latin typeface="Century Schoolbook"/>
                <a:cs typeface="Century Schoolbook"/>
              </a:rPr>
              <a:t>2 </a:t>
            </a:r>
            <a:r>
              <a:rPr sz="1800" spc="-5" dirty="0">
                <a:latin typeface="Century Schoolbook"/>
                <a:cs typeface="Century Schoolbook"/>
              </a:rPr>
              <a:t>vers </a:t>
            </a:r>
            <a:r>
              <a:rPr sz="1800" dirty="0">
                <a:latin typeface="Century Schoolbook"/>
                <a:cs typeface="Century Schoolbook"/>
              </a:rPr>
              <a:t>le </a:t>
            </a:r>
            <a:r>
              <a:rPr sz="1800" spc="-5" dirty="0">
                <a:latin typeface="Century Schoolbook"/>
                <a:cs typeface="Century Schoolbook"/>
              </a:rPr>
              <a:t>site</a:t>
            </a:r>
            <a:r>
              <a:rPr sz="1800" spc="-60" dirty="0">
                <a:latin typeface="Century Schoolbook"/>
                <a:cs typeface="Century Schoolbook"/>
              </a:rPr>
              <a:t> </a:t>
            </a:r>
            <a:r>
              <a:rPr sz="1800" dirty="0">
                <a:latin typeface="Century Schoolbook"/>
                <a:cs typeface="Century Schoolbook"/>
              </a:rPr>
              <a:t>1</a:t>
            </a:r>
            <a:endParaRPr sz="1800">
              <a:latin typeface="Century Schoolbook"/>
              <a:cs typeface="Century Schoolbook"/>
            </a:endParaRPr>
          </a:p>
          <a:p>
            <a:pPr marL="495300" lvl="1" indent="-182880">
              <a:lnSpc>
                <a:spcPct val="100000"/>
              </a:lnSpc>
              <a:spcBef>
                <a:spcPts val="405"/>
              </a:spcBef>
              <a:buClr>
                <a:srgbClr val="FDC3AD"/>
              </a:buClr>
              <a:buSzPct val="58333"/>
              <a:buFont typeface="Wingdings"/>
              <a:buChar char=""/>
              <a:tabLst>
                <a:tab pos="495300" algn="l"/>
                <a:tab pos="2474595" algn="l"/>
              </a:tabLst>
            </a:pPr>
            <a:r>
              <a:rPr sz="1800" spc="-5" dirty="0">
                <a:latin typeface="Century Schoolbook"/>
                <a:cs typeface="Century Schoolbook"/>
              </a:rPr>
              <a:t>Calcul de </a:t>
            </a:r>
            <a:r>
              <a:rPr sz="1800" dirty="0">
                <a:latin typeface="Century Schoolbook"/>
                <a:cs typeface="Century Schoolbook"/>
              </a:rPr>
              <a:t>T1</a:t>
            </a:r>
            <a:r>
              <a:rPr sz="1800" spc="15" dirty="0">
                <a:latin typeface="Century Schoolbook"/>
                <a:cs typeface="Century Schoolbook"/>
              </a:rPr>
              <a:t> </a:t>
            </a:r>
            <a:r>
              <a:rPr sz="1800" dirty="0">
                <a:latin typeface="Wingdings"/>
                <a:cs typeface="Wingdings"/>
              </a:rPr>
              <a:t>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entury Schoolbook"/>
                <a:cs typeface="Century Schoolbook"/>
              </a:rPr>
              <a:t>R	</a:t>
            </a:r>
            <a:r>
              <a:rPr sz="1650" baseline="-25252" dirty="0">
                <a:latin typeface="Century Schoolbook"/>
                <a:cs typeface="Century Schoolbook"/>
              </a:rPr>
              <a:t>A</a:t>
            </a:r>
            <a:r>
              <a:rPr sz="1650" spc="37" baseline="-25252" dirty="0">
                <a:latin typeface="Century Schoolbook"/>
                <a:cs typeface="Century Schoolbook"/>
              </a:rPr>
              <a:t> </a:t>
            </a:r>
            <a:r>
              <a:rPr sz="1800" dirty="0">
                <a:latin typeface="Symbol"/>
                <a:cs typeface="Symbol"/>
              </a:rPr>
              <a:t></a:t>
            </a:r>
            <a:r>
              <a:rPr sz="1800" baseline="-20833" dirty="0">
                <a:latin typeface="Century Schoolbook"/>
                <a:cs typeface="Century Schoolbook"/>
              </a:rPr>
              <a:t>A</a:t>
            </a:r>
            <a:r>
              <a:rPr sz="1800" dirty="0">
                <a:latin typeface="Century Schoolbook"/>
                <a:cs typeface="Century Schoolbook"/>
              </a:rPr>
              <a:t>(S)</a:t>
            </a:r>
            <a:endParaRPr sz="1800">
              <a:latin typeface="Century Schoolbook"/>
              <a:cs typeface="Century Schoolbook"/>
            </a:endParaRPr>
          </a:p>
          <a:p>
            <a:pPr marL="495300" lvl="1" indent="-182880">
              <a:lnSpc>
                <a:spcPct val="100000"/>
              </a:lnSpc>
              <a:spcBef>
                <a:spcPts val="455"/>
              </a:spcBef>
              <a:buClr>
                <a:srgbClr val="FDC3AD"/>
              </a:buClr>
              <a:buSzPct val="58333"/>
              <a:buFont typeface="Wingdings"/>
              <a:buChar char=""/>
              <a:tabLst>
                <a:tab pos="495300" algn="l"/>
              </a:tabLst>
            </a:pPr>
            <a:r>
              <a:rPr sz="1800" dirty="0">
                <a:latin typeface="Century Schoolbook"/>
                <a:cs typeface="Century Schoolbook"/>
              </a:rPr>
              <a:t>Transfert </a:t>
            </a:r>
            <a:r>
              <a:rPr sz="1800" spc="-5" dirty="0">
                <a:latin typeface="Century Schoolbook"/>
                <a:cs typeface="Century Schoolbook"/>
              </a:rPr>
              <a:t>de </a:t>
            </a:r>
            <a:r>
              <a:rPr sz="1800" dirty="0">
                <a:latin typeface="Century Schoolbook"/>
                <a:cs typeface="Century Schoolbook"/>
              </a:rPr>
              <a:t>T1 </a:t>
            </a:r>
            <a:r>
              <a:rPr sz="1800" spc="-5" dirty="0">
                <a:latin typeface="Century Schoolbook"/>
                <a:cs typeface="Century Schoolbook"/>
              </a:rPr>
              <a:t>du site </a:t>
            </a:r>
            <a:r>
              <a:rPr sz="1800" dirty="0">
                <a:latin typeface="Century Schoolbook"/>
                <a:cs typeface="Century Schoolbook"/>
              </a:rPr>
              <a:t>1 </a:t>
            </a:r>
            <a:r>
              <a:rPr sz="1800" spc="-5" dirty="0">
                <a:latin typeface="Century Schoolbook"/>
                <a:cs typeface="Century Schoolbook"/>
              </a:rPr>
              <a:t>vers </a:t>
            </a:r>
            <a:r>
              <a:rPr sz="1800" dirty="0">
                <a:latin typeface="Century Schoolbook"/>
                <a:cs typeface="Century Schoolbook"/>
              </a:rPr>
              <a:t>le </a:t>
            </a:r>
            <a:r>
              <a:rPr sz="1800" spc="-5" dirty="0">
                <a:latin typeface="Century Schoolbook"/>
                <a:cs typeface="Century Schoolbook"/>
              </a:rPr>
              <a:t>site</a:t>
            </a:r>
            <a:r>
              <a:rPr sz="1800" spc="-40" dirty="0">
                <a:latin typeface="Century Schoolbook"/>
                <a:cs typeface="Century Schoolbook"/>
              </a:rPr>
              <a:t> </a:t>
            </a:r>
            <a:r>
              <a:rPr sz="1800" dirty="0">
                <a:latin typeface="Century Schoolbook"/>
                <a:cs typeface="Century Schoolbook"/>
              </a:rPr>
              <a:t>2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689603" y="6303264"/>
            <a:ext cx="155448" cy="1386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516633" y="6195161"/>
            <a:ext cx="269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182880">
              <a:lnSpc>
                <a:spcPct val="100000"/>
              </a:lnSpc>
              <a:spcBef>
                <a:spcPts val="100"/>
              </a:spcBef>
              <a:buClr>
                <a:srgbClr val="FDC3AD"/>
              </a:buClr>
              <a:buSzPct val="58333"/>
              <a:buFont typeface="Wingdings"/>
              <a:buChar char=""/>
              <a:tabLst>
                <a:tab pos="220979" algn="l"/>
                <a:tab pos="2343785" algn="l"/>
              </a:tabLst>
            </a:pPr>
            <a:r>
              <a:rPr sz="1800" spc="-5" dirty="0">
                <a:latin typeface="Century Schoolbook"/>
                <a:cs typeface="Century Schoolbook"/>
              </a:rPr>
              <a:t>Calcul de </a:t>
            </a:r>
            <a:r>
              <a:rPr sz="1800" dirty="0">
                <a:latin typeface="Century Schoolbook"/>
                <a:cs typeface="Century Schoolbook"/>
              </a:rPr>
              <a:t>T2</a:t>
            </a:r>
            <a:r>
              <a:rPr sz="1800" spc="15" dirty="0">
                <a:latin typeface="Century Schoolbook"/>
                <a:cs typeface="Century Schoolbook"/>
              </a:rPr>
              <a:t> </a:t>
            </a:r>
            <a:r>
              <a:rPr sz="1800" dirty="0">
                <a:latin typeface="Wingdings"/>
                <a:cs typeface="Wingdings"/>
              </a:rPr>
              <a:t>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entury Schoolbook"/>
                <a:cs typeface="Century Schoolbook"/>
              </a:rPr>
              <a:t>T1	</a:t>
            </a:r>
            <a:r>
              <a:rPr sz="1650" baseline="-22727" dirty="0">
                <a:latin typeface="Century Schoolbook"/>
                <a:cs typeface="Century Schoolbook"/>
              </a:rPr>
              <a:t>A</a:t>
            </a:r>
            <a:r>
              <a:rPr sz="1650" spc="82" baseline="-22727" dirty="0">
                <a:latin typeface="Century Schoolbook"/>
                <a:cs typeface="Century Schoolbook"/>
              </a:rPr>
              <a:t> </a:t>
            </a:r>
            <a:r>
              <a:rPr sz="1800" dirty="0">
                <a:latin typeface="Century Schoolbook"/>
                <a:cs typeface="Century Schoolbook"/>
              </a:rPr>
              <a:t>S</a:t>
            </a:r>
            <a:endParaRPr sz="1800">
              <a:latin typeface="Century Schoolbook"/>
              <a:cs typeface="Century Schoolbook"/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32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304800"/>
            <a:ext cx="783143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400" dirty="0" smtClean="0">
                <a:solidFill>
                  <a:srgbClr val="565F6C"/>
                </a:solidFill>
                <a:cs typeface="Century Schoolbook"/>
              </a:rPr>
              <a:t>REDUCTION DES DONNÉES</a:t>
            </a:r>
            <a:r>
              <a:rPr lang="fr-FR" sz="2400" spc="145" dirty="0" smtClean="0">
                <a:solidFill>
                  <a:srgbClr val="565F6C"/>
                </a:solidFill>
                <a:cs typeface="Century Schoolbook"/>
              </a:rPr>
              <a:t> </a:t>
            </a:r>
            <a:r>
              <a:rPr lang="fr-FR" sz="2400" spc="-10" dirty="0" smtClean="0">
                <a:solidFill>
                  <a:srgbClr val="565F6C"/>
                </a:solidFill>
                <a:cs typeface="Century Schoolbook"/>
              </a:rPr>
              <a:t>TRANSFÉRÉES</a:t>
            </a:r>
            <a:endParaRPr sz="2400" dirty="0"/>
          </a:p>
        </p:txBody>
      </p:sp>
      <p:sp>
        <p:nvSpPr>
          <p:cNvPr id="5" name="object 5"/>
          <p:cNvSpPr txBox="1"/>
          <p:nvPr/>
        </p:nvSpPr>
        <p:spPr>
          <a:xfrm>
            <a:off x="642213" y="1381671"/>
            <a:ext cx="4518025" cy="293433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12420" indent="-274320">
              <a:lnSpc>
                <a:spcPct val="100000"/>
              </a:lnSpc>
              <a:spcBef>
                <a:spcPts val="57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312420" algn="l"/>
              </a:tabLst>
            </a:pPr>
            <a:r>
              <a:rPr sz="2000" dirty="0">
                <a:latin typeface="Century Schoolbook"/>
                <a:cs typeface="Century Schoolbook"/>
              </a:rPr>
              <a:t>Coût </a:t>
            </a:r>
            <a:r>
              <a:rPr sz="2000" spc="-5" dirty="0">
                <a:latin typeface="Century Schoolbook"/>
                <a:cs typeface="Century Schoolbook"/>
              </a:rPr>
              <a:t>du plan</a:t>
            </a:r>
            <a:r>
              <a:rPr sz="2000" spc="-65" dirty="0">
                <a:latin typeface="Century Schoolbook"/>
                <a:cs typeface="Century Schoolbook"/>
              </a:rPr>
              <a:t> </a:t>
            </a:r>
            <a:r>
              <a:rPr sz="2000" dirty="0">
                <a:latin typeface="Century Schoolbook"/>
                <a:cs typeface="Century Schoolbook"/>
              </a:rPr>
              <a:t>d’exécution</a:t>
            </a:r>
            <a:endParaRPr sz="2000">
              <a:latin typeface="Century Schoolbook"/>
              <a:cs typeface="Century Schoolbook"/>
            </a:endParaRPr>
          </a:p>
          <a:p>
            <a:pPr marL="678180" lvl="1" indent="-275590">
              <a:lnSpc>
                <a:spcPct val="100000"/>
              </a:lnSpc>
              <a:spcBef>
                <a:spcPts val="405"/>
              </a:spcBef>
              <a:buClr>
                <a:srgbClr val="FD8537"/>
              </a:buClr>
              <a:buSzPct val="79411"/>
              <a:buFont typeface="Wingdings 2"/>
              <a:buChar char=""/>
              <a:tabLst>
                <a:tab pos="677545" algn="l"/>
                <a:tab pos="678815" algn="l"/>
              </a:tabLst>
            </a:pPr>
            <a:r>
              <a:rPr sz="1700" dirty="0">
                <a:latin typeface="Century Schoolbook"/>
                <a:cs typeface="Century Schoolbook"/>
              </a:rPr>
              <a:t>En supposant</a:t>
            </a:r>
            <a:r>
              <a:rPr sz="1700" spc="-55" dirty="0">
                <a:latin typeface="Century Schoolbook"/>
                <a:cs typeface="Century Schoolbook"/>
              </a:rPr>
              <a:t> </a:t>
            </a:r>
            <a:r>
              <a:rPr sz="1700" spc="-5" dirty="0">
                <a:latin typeface="Century Schoolbook"/>
                <a:cs typeface="Century Schoolbook"/>
              </a:rPr>
              <a:t>que</a:t>
            </a:r>
            <a:endParaRPr sz="1700">
              <a:latin typeface="Century Schoolbook"/>
              <a:cs typeface="Century Schoolbook"/>
            </a:endParaRPr>
          </a:p>
          <a:p>
            <a:pPr marL="952500" lvl="2" indent="-183515">
              <a:lnSpc>
                <a:spcPct val="100000"/>
              </a:lnSpc>
              <a:spcBef>
                <a:spcPts val="350"/>
              </a:spcBef>
              <a:buClr>
                <a:srgbClr val="DF752E"/>
              </a:buClr>
              <a:buSzPct val="60714"/>
              <a:buFont typeface="Wingdings"/>
              <a:buChar char=""/>
              <a:tabLst>
                <a:tab pos="953135" algn="l"/>
              </a:tabLst>
            </a:pPr>
            <a:r>
              <a:rPr sz="1400" spc="-5" dirty="0">
                <a:latin typeface="Century Schoolbook"/>
                <a:cs typeface="Century Schoolbook"/>
              </a:rPr>
              <a:t>Chaque </a:t>
            </a:r>
            <a:r>
              <a:rPr sz="1400" dirty="0">
                <a:latin typeface="Century Schoolbook"/>
                <a:cs typeface="Century Schoolbook"/>
              </a:rPr>
              <a:t>attribut est </a:t>
            </a:r>
            <a:r>
              <a:rPr sz="1400" spc="-5" dirty="0">
                <a:latin typeface="Century Schoolbook"/>
                <a:cs typeface="Century Schoolbook"/>
              </a:rPr>
              <a:t>de taille 0,25</a:t>
            </a:r>
            <a:r>
              <a:rPr sz="1400" spc="-114" dirty="0">
                <a:latin typeface="Century Schoolbook"/>
                <a:cs typeface="Century Schoolbook"/>
              </a:rPr>
              <a:t> </a:t>
            </a:r>
            <a:r>
              <a:rPr sz="1400" dirty="0">
                <a:latin typeface="Century Schoolbook"/>
                <a:cs typeface="Century Schoolbook"/>
              </a:rPr>
              <a:t>Ko</a:t>
            </a:r>
            <a:endParaRPr sz="1400">
              <a:latin typeface="Century Schoolbook"/>
              <a:cs typeface="Century Schoolbook"/>
            </a:endParaRPr>
          </a:p>
          <a:p>
            <a:pPr marL="952500" lvl="2" indent="-183515">
              <a:lnSpc>
                <a:spcPct val="100000"/>
              </a:lnSpc>
              <a:spcBef>
                <a:spcPts val="340"/>
              </a:spcBef>
              <a:buClr>
                <a:srgbClr val="DF752E"/>
              </a:buClr>
              <a:buSzPct val="60714"/>
              <a:buFont typeface="Wingdings"/>
              <a:buChar char=""/>
              <a:tabLst>
                <a:tab pos="953135" algn="l"/>
              </a:tabLst>
            </a:pPr>
            <a:r>
              <a:rPr sz="1400" spc="-5" dirty="0">
                <a:latin typeface="Century Schoolbook"/>
                <a:cs typeface="Century Schoolbook"/>
              </a:rPr>
              <a:t>Hypothèses</a:t>
            </a:r>
            <a:r>
              <a:rPr sz="1400" spc="-45" dirty="0">
                <a:latin typeface="Century Schoolbook"/>
                <a:cs typeface="Century Schoolbook"/>
              </a:rPr>
              <a:t> </a:t>
            </a:r>
            <a:r>
              <a:rPr sz="1400" dirty="0">
                <a:latin typeface="Century Schoolbook"/>
                <a:cs typeface="Century Schoolbook"/>
              </a:rPr>
              <a:t>:</a:t>
            </a:r>
            <a:endParaRPr sz="1400">
              <a:latin typeface="Century Schoolbook"/>
              <a:cs typeface="Century Schoolbook"/>
            </a:endParaRPr>
          </a:p>
          <a:p>
            <a:pPr marL="1226820" lvl="3" indent="-183515">
              <a:lnSpc>
                <a:spcPct val="100000"/>
              </a:lnSpc>
              <a:spcBef>
                <a:spcPts val="335"/>
              </a:spcBef>
              <a:buClr>
                <a:srgbClr val="FDC3AD"/>
              </a:buClr>
              <a:buSzPct val="60714"/>
              <a:buFont typeface="Wingdings"/>
              <a:buChar char=""/>
              <a:tabLst>
                <a:tab pos="1227455" algn="l"/>
              </a:tabLst>
            </a:pPr>
            <a:r>
              <a:rPr sz="1400" spc="-5" dirty="0">
                <a:latin typeface="Century Schoolbook"/>
                <a:cs typeface="Century Schoolbook"/>
              </a:rPr>
              <a:t>Card(R) </a:t>
            </a:r>
            <a:r>
              <a:rPr sz="1400" dirty="0">
                <a:latin typeface="Century Schoolbook"/>
                <a:cs typeface="Century Schoolbook"/>
              </a:rPr>
              <a:t>= </a:t>
            </a:r>
            <a:r>
              <a:rPr sz="1400" spc="-5" dirty="0">
                <a:latin typeface="Century Schoolbook"/>
                <a:cs typeface="Century Schoolbook"/>
              </a:rPr>
              <a:t>10</a:t>
            </a:r>
            <a:r>
              <a:rPr sz="1400" spc="-35" dirty="0">
                <a:latin typeface="Century Schoolbook"/>
                <a:cs typeface="Century Schoolbook"/>
              </a:rPr>
              <a:t> </a:t>
            </a:r>
            <a:r>
              <a:rPr sz="1400" spc="-5" dirty="0">
                <a:latin typeface="Century Schoolbook"/>
                <a:cs typeface="Century Schoolbook"/>
              </a:rPr>
              <a:t>000</a:t>
            </a:r>
            <a:endParaRPr sz="1400">
              <a:latin typeface="Century Schoolbook"/>
              <a:cs typeface="Century Schoolbook"/>
            </a:endParaRPr>
          </a:p>
          <a:p>
            <a:pPr marL="1226820" lvl="3" indent="-183515">
              <a:lnSpc>
                <a:spcPct val="100000"/>
              </a:lnSpc>
              <a:spcBef>
                <a:spcPts val="335"/>
              </a:spcBef>
              <a:buClr>
                <a:srgbClr val="FDC3AD"/>
              </a:buClr>
              <a:buSzPct val="60714"/>
              <a:buFont typeface="Wingdings"/>
              <a:buChar char=""/>
              <a:tabLst>
                <a:tab pos="1227455" algn="l"/>
              </a:tabLst>
            </a:pPr>
            <a:r>
              <a:rPr sz="1400" spc="-5" dirty="0">
                <a:latin typeface="Century Schoolbook"/>
                <a:cs typeface="Century Schoolbook"/>
              </a:rPr>
              <a:t>Card(S) </a:t>
            </a:r>
            <a:r>
              <a:rPr sz="1400" dirty="0">
                <a:latin typeface="Century Schoolbook"/>
                <a:cs typeface="Century Schoolbook"/>
              </a:rPr>
              <a:t>= 1</a:t>
            </a:r>
            <a:r>
              <a:rPr sz="1400" spc="-30" dirty="0">
                <a:latin typeface="Century Schoolbook"/>
                <a:cs typeface="Century Schoolbook"/>
              </a:rPr>
              <a:t> </a:t>
            </a:r>
            <a:r>
              <a:rPr sz="1400" spc="-5" dirty="0">
                <a:latin typeface="Century Schoolbook"/>
                <a:cs typeface="Century Schoolbook"/>
              </a:rPr>
              <a:t>000</a:t>
            </a:r>
            <a:endParaRPr sz="1400">
              <a:latin typeface="Century Schoolbook"/>
              <a:cs typeface="Century Schoolbook"/>
            </a:endParaRPr>
          </a:p>
          <a:p>
            <a:pPr marL="1226820" lvl="3" indent="-183515">
              <a:lnSpc>
                <a:spcPct val="100000"/>
              </a:lnSpc>
              <a:spcBef>
                <a:spcPts val="335"/>
              </a:spcBef>
              <a:buClr>
                <a:srgbClr val="FDC3AD"/>
              </a:buClr>
              <a:buSzPct val="60714"/>
              <a:buFont typeface="Wingdings"/>
              <a:buChar char=""/>
              <a:tabLst>
                <a:tab pos="1227455" algn="l"/>
              </a:tabLst>
            </a:pPr>
            <a:r>
              <a:rPr sz="1400" dirty="0">
                <a:latin typeface="Century Schoolbook"/>
                <a:cs typeface="Century Schoolbook"/>
              </a:rPr>
              <a:t>Card(</a:t>
            </a:r>
            <a:r>
              <a:rPr sz="1400" dirty="0">
                <a:latin typeface="Symbol"/>
                <a:cs typeface="Symbol"/>
              </a:rPr>
              <a:t></a:t>
            </a:r>
            <a:r>
              <a:rPr sz="1350" baseline="-21604" dirty="0">
                <a:latin typeface="Century Schoolbook"/>
                <a:cs typeface="Century Schoolbook"/>
              </a:rPr>
              <a:t>A</a:t>
            </a:r>
            <a:r>
              <a:rPr sz="1400" dirty="0">
                <a:latin typeface="Century Schoolbook"/>
                <a:cs typeface="Century Schoolbook"/>
              </a:rPr>
              <a:t>(S)) =</a:t>
            </a:r>
            <a:r>
              <a:rPr sz="1400" spc="-55" dirty="0">
                <a:latin typeface="Century Schoolbook"/>
                <a:cs typeface="Century Schoolbook"/>
              </a:rPr>
              <a:t> </a:t>
            </a:r>
            <a:r>
              <a:rPr sz="1400" spc="-5" dirty="0">
                <a:latin typeface="Century Schoolbook"/>
                <a:cs typeface="Century Schoolbook"/>
              </a:rPr>
              <a:t>10</a:t>
            </a:r>
            <a:endParaRPr sz="1400">
              <a:latin typeface="Century Schoolbook"/>
              <a:cs typeface="Century Schoolbook"/>
            </a:endParaRPr>
          </a:p>
          <a:p>
            <a:pPr marL="1226820" lvl="3" indent="-183515">
              <a:lnSpc>
                <a:spcPct val="100000"/>
              </a:lnSpc>
              <a:spcBef>
                <a:spcPts val="335"/>
              </a:spcBef>
              <a:buClr>
                <a:srgbClr val="FDC3AD"/>
              </a:buClr>
              <a:buSzPct val="60714"/>
              <a:buFont typeface="Wingdings"/>
              <a:buChar char=""/>
              <a:tabLst>
                <a:tab pos="1227455" algn="l"/>
                <a:tab pos="1605915" algn="l"/>
                <a:tab pos="2014220" algn="l"/>
              </a:tabLst>
            </a:pPr>
            <a:r>
              <a:rPr sz="1400" dirty="0">
                <a:latin typeface="Century Schoolbook"/>
                <a:cs typeface="Century Schoolbook"/>
              </a:rPr>
              <a:t>SF	</a:t>
            </a:r>
            <a:r>
              <a:rPr sz="1350" spc="37" baseline="-21604" dirty="0">
                <a:latin typeface="Century Schoolbook"/>
                <a:cs typeface="Century Schoolbook"/>
              </a:rPr>
              <a:t>A</a:t>
            </a:r>
            <a:r>
              <a:rPr sz="1350" spc="405" baseline="-21604" dirty="0">
                <a:latin typeface="Century Schoolbook"/>
                <a:cs typeface="Century Schoolbook"/>
              </a:rPr>
              <a:t> </a:t>
            </a:r>
            <a:r>
              <a:rPr sz="1400" dirty="0">
                <a:latin typeface="Century Schoolbook"/>
                <a:cs typeface="Century Schoolbook"/>
              </a:rPr>
              <a:t>=	</a:t>
            </a:r>
            <a:r>
              <a:rPr sz="1400" spc="-5" dirty="0">
                <a:latin typeface="Century Schoolbook"/>
                <a:cs typeface="Century Schoolbook"/>
              </a:rPr>
              <a:t>20</a:t>
            </a:r>
            <a:r>
              <a:rPr sz="1400" spc="-20" dirty="0">
                <a:latin typeface="Century Schoolbook"/>
                <a:cs typeface="Century Schoolbook"/>
              </a:rPr>
              <a:t> </a:t>
            </a:r>
            <a:r>
              <a:rPr sz="1400" dirty="0">
                <a:latin typeface="Century Schoolbook"/>
                <a:cs typeface="Century Schoolbook"/>
              </a:rPr>
              <a:t>%</a:t>
            </a:r>
            <a:endParaRPr sz="1400">
              <a:latin typeface="Century Schoolbook"/>
              <a:cs typeface="Century Schoolbook"/>
            </a:endParaRPr>
          </a:p>
          <a:p>
            <a:pPr marL="952500" lvl="2" indent="-183515">
              <a:lnSpc>
                <a:spcPct val="100000"/>
              </a:lnSpc>
              <a:spcBef>
                <a:spcPts val="340"/>
              </a:spcBef>
              <a:buClr>
                <a:srgbClr val="DF752E"/>
              </a:buClr>
              <a:buSzPct val="60714"/>
              <a:buFont typeface="Wingdings"/>
              <a:buChar char=""/>
              <a:tabLst>
                <a:tab pos="953135" algn="l"/>
              </a:tabLst>
            </a:pPr>
            <a:r>
              <a:rPr sz="1400" dirty="0">
                <a:latin typeface="Century Schoolbook"/>
                <a:cs typeface="Century Schoolbook"/>
              </a:rPr>
              <a:t>le coût </a:t>
            </a:r>
            <a:r>
              <a:rPr sz="1400" spc="-5" dirty="0">
                <a:latin typeface="Century Schoolbook"/>
                <a:cs typeface="Century Schoolbook"/>
              </a:rPr>
              <a:t>de transfert </a:t>
            </a:r>
            <a:r>
              <a:rPr sz="1400" dirty="0">
                <a:latin typeface="Century Schoolbook"/>
                <a:cs typeface="Century Schoolbook"/>
              </a:rPr>
              <a:t>est définit comme </a:t>
            </a:r>
            <a:r>
              <a:rPr sz="1400" spc="-5" dirty="0">
                <a:latin typeface="Century Schoolbook"/>
                <a:cs typeface="Century Schoolbook"/>
              </a:rPr>
              <a:t>suit</a:t>
            </a:r>
            <a:r>
              <a:rPr sz="1400" spc="-105" dirty="0">
                <a:latin typeface="Century Schoolbook"/>
                <a:cs typeface="Century Schoolbook"/>
              </a:rPr>
              <a:t> </a:t>
            </a:r>
            <a:r>
              <a:rPr sz="1400" dirty="0">
                <a:latin typeface="Century Schoolbook"/>
                <a:cs typeface="Century Schoolbook"/>
              </a:rPr>
              <a:t>:</a:t>
            </a:r>
            <a:endParaRPr sz="1400">
              <a:latin typeface="Century Schoolbook"/>
              <a:cs typeface="Century Schoolbook"/>
            </a:endParaRPr>
          </a:p>
          <a:p>
            <a:pPr marL="1318260" marR="450850">
              <a:lnSpc>
                <a:spcPts val="1730"/>
              </a:lnSpc>
              <a:spcBef>
                <a:spcPts val="100"/>
              </a:spcBef>
            </a:pPr>
            <a:r>
              <a:rPr sz="1200" spc="-5" dirty="0">
                <a:latin typeface="Century Schoolbook"/>
                <a:cs typeface="Century Schoolbook"/>
              </a:rPr>
              <a:t>Tr( X, </a:t>
            </a:r>
            <a:r>
              <a:rPr sz="1200" dirty="0">
                <a:latin typeface="Century Schoolbook"/>
                <a:cs typeface="Century Schoolbook"/>
              </a:rPr>
              <a:t>site1, site2) = </a:t>
            </a:r>
            <a:r>
              <a:rPr sz="1200" spc="-5" dirty="0">
                <a:latin typeface="Century Schoolbook"/>
                <a:cs typeface="Century Schoolbook"/>
              </a:rPr>
              <a:t>card(X) </a:t>
            </a:r>
            <a:r>
              <a:rPr sz="1200" dirty="0">
                <a:latin typeface="Century Schoolbook"/>
                <a:cs typeface="Century Schoolbook"/>
              </a:rPr>
              <a:t>* </a:t>
            </a:r>
            <a:r>
              <a:rPr sz="1200" spc="-5" dirty="0">
                <a:latin typeface="Century Schoolbook"/>
                <a:cs typeface="Century Schoolbook"/>
              </a:rPr>
              <a:t>taille(X)  Tr( X, </a:t>
            </a:r>
            <a:r>
              <a:rPr sz="1200" dirty="0">
                <a:latin typeface="Century Schoolbook"/>
                <a:cs typeface="Century Schoolbook"/>
              </a:rPr>
              <a:t>S, W) = </a:t>
            </a:r>
            <a:r>
              <a:rPr sz="1200" spc="-5" dirty="0">
                <a:latin typeface="Century Schoolbook"/>
                <a:cs typeface="Century Schoolbook"/>
              </a:rPr>
              <a:t>Tr( X, </a:t>
            </a:r>
            <a:r>
              <a:rPr sz="1200" dirty="0">
                <a:latin typeface="Century Schoolbook"/>
                <a:cs typeface="Century Schoolbook"/>
              </a:rPr>
              <a:t>W,</a:t>
            </a:r>
            <a:r>
              <a:rPr sz="1200" spc="40" dirty="0">
                <a:latin typeface="Century Schoolbook"/>
                <a:cs typeface="Century Schoolbook"/>
              </a:rPr>
              <a:t> </a:t>
            </a:r>
            <a:r>
              <a:rPr sz="1200" dirty="0">
                <a:latin typeface="Century Schoolbook"/>
                <a:cs typeface="Century Schoolbook"/>
              </a:rPr>
              <a:t>S)</a:t>
            </a:r>
            <a:endParaRPr sz="1200">
              <a:latin typeface="Century Schoolbook"/>
              <a:cs typeface="Century Schoolboo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7973" y="4544320"/>
            <a:ext cx="4427855" cy="66802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12420" indent="-274955">
              <a:lnSpc>
                <a:spcPct val="100000"/>
              </a:lnSpc>
              <a:spcBef>
                <a:spcPts val="515"/>
              </a:spcBef>
              <a:buClr>
                <a:srgbClr val="FD8537"/>
              </a:buClr>
              <a:buSzPct val="79411"/>
              <a:buFont typeface="Wingdings 2"/>
              <a:buChar char=""/>
              <a:tabLst>
                <a:tab pos="311785" algn="l"/>
                <a:tab pos="313055" algn="l"/>
              </a:tabLst>
            </a:pPr>
            <a:r>
              <a:rPr sz="1700" dirty="0">
                <a:latin typeface="Century Schoolbook"/>
                <a:cs typeface="Century Schoolbook"/>
              </a:rPr>
              <a:t>Coût du plan </a:t>
            </a:r>
            <a:r>
              <a:rPr sz="1700" spc="-5" dirty="0">
                <a:latin typeface="Century Schoolbook"/>
                <a:cs typeface="Century Schoolbook"/>
              </a:rPr>
              <a:t>d’exécution</a:t>
            </a:r>
            <a:r>
              <a:rPr sz="1700" spc="-75" dirty="0">
                <a:latin typeface="Century Schoolbook"/>
                <a:cs typeface="Century Schoolbook"/>
              </a:rPr>
              <a:t> </a:t>
            </a:r>
            <a:r>
              <a:rPr sz="1700" dirty="0">
                <a:latin typeface="Century Schoolbook"/>
                <a:cs typeface="Century Schoolbook"/>
              </a:rPr>
              <a:t>P</a:t>
            </a:r>
            <a:endParaRPr sz="1700">
              <a:latin typeface="Century Schoolbook"/>
              <a:cs typeface="Century Schoolbook"/>
            </a:endParaRPr>
          </a:p>
          <a:p>
            <a:pPr marL="38100">
              <a:lnSpc>
                <a:spcPct val="100000"/>
              </a:lnSpc>
              <a:spcBef>
                <a:spcPts val="440"/>
              </a:spcBef>
              <a:tabLst>
                <a:tab pos="380365" algn="l"/>
              </a:tabLst>
            </a:pPr>
            <a:r>
              <a:rPr sz="1350" dirty="0">
                <a:solidFill>
                  <a:srgbClr val="FD8537"/>
                </a:solidFill>
                <a:latin typeface="Century Schoolbook"/>
                <a:cs typeface="Century Schoolbook"/>
              </a:rPr>
              <a:t>1)	</a:t>
            </a:r>
            <a:r>
              <a:rPr sz="1700" dirty="0">
                <a:latin typeface="Century Schoolbook"/>
                <a:cs typeface="Century Schoolbook"/>
              </a:rPr>
              <a:t>Tr(</a:t>
            </a:r>
            <a:r>
              <a:rPr sz="1800" dirty="0">
                <a:latin typeface="Symbol"/>
                <a:cs typeface="Symbol"/>
              </a:rPr>
              <a:t></a:t>
            </a:r>
            <a:r>
              <a:rPr sz="1800" baseline="-20833" dirty="0">
                <a:latin typeface="Century Schoolbook"/>
                <a:cs typeface="Century Schoolbook"/>
              </a:rPr>
              <a:t>A</a:t>
            </a:r>
            <a:r>
              <a:rPr sz="1800" dirty="0">
                <a:latin typeface="Century Schoolbook"/>
                <a:cs typeface="Century Schoolbook"/>
              </a:rPr>
              <a:t>(S) </a:t>
            </a:r>
            <a:r>
              <a:rPr sz="1700" dirty="0">
                <a:latin typeface="Century Schoolbook"/>
                <a:cs typeface="Century Schoolbook"/>
              </a:rPr>
              <a:t>, Site2, Site1) = 10 * </a:t>
            </a:r>
            <a:r>
              <a:rPr sz="1700" spc="-5" dirty="0">
                <a:latin typeface="Century Schoolbook"/>
                <a:cs typeface="Century Schoolbook"/>
              </a:rPr>
              <a:t>0,25 </a:t>
            </a:r>
            <a:r>
              <a:rPr sz="1700" dirty="0">
                <a:latin typeface="Century Schoolbook"/>
                <a:cs typeface="Century Schoolbook"/>
              </a:rPr>
              <a:t>=</a:t>
            </a:r>
            <a:r>
              <a:rPr sz="1700" spc="-55" dirty="0">
                <a:latin typeface="Century Schoolbook"/>
                <a:cs typeface="Century Schoolbook"/>
              </a:rPr>
              <a:t> </a:t>
            </a:r>
            <a:r>
              <a:rPr sz="1700" b="1" spc="-5" dirty="0">
                <a:latin typeface="Century Schoolbook"/>
                <a:cs typeface="Century Schoolbook"/>
              </a:rPr>
              <a:t>2,5</a:t>
            </a:r>
            <a:endParaRPr sz="1700">
              <a:latin typeface="Century Schoolbook"/>
              <a:cs typeface="Century Schoolboo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5273" y="5186070"/>
            <a:ext cx="5374005" cy="95821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05"/>
              </a:spcBef>
              <a:tabLst>
                <a:tab pos="393065" algn="l"/>
                <a:tab pos="1949450" algn="l"/>
              </a:tabLst>
            </a:pPr>
            <a:r>
              <a:rPr sz="1350" dirty="0">
                <a:solidFill>
                  <a:srgbClr val="FD8537"/>
                </a:solidFill>
                <a:latin typeface="Century Schoolbook"/>
                <a:cs typeface="Century Schoolbook"/>
              </a:rPr>
              <a:t>2)	</a:t>
            </a:r>
            <a:r>
              <a:rPr sz="1700" dirty="0">
                <a:latin typeface="Century Schoolbook"/>
                <a:cs typeface="Century Schoolbook"/>
              </a:rPr>
              <a:t>Card(T1)=</a:t>
            </a:r>
            <a:r>
              <a:rPr sz="1700" spc="-30" dirty="0">
                <a:latin typeface="Century Schoolbook"/>
                <a:cs typeface="Century Schoolbook"/>
              </a:rPr>
              <a:t> </a:t>
            </a:r>
            <a:r>
              <a:rPr sz="1700" dirty="0">
                <a:latin typeface="Century Schoolbook"/>
                <a:cs typeface="Century Schoolbook"/>
              </a:rPr>
              <a:t>SF	</a:t>
            </a:r>
            <a:r>
              <a:rPr sz="1650" spc="30" baseline="-20202" dirty="0">
                <a:latin typeface="Century Schoolbook"/>
                <a:cs typeface="Century Schoolbook"/>
              </a:rPr>
              <a:t>A </a:t>
            </a:r>
            <a:r>
              <a:rPr sz="1700" dirty="0">
                <a:latin typeface="Century Schoolbook"/>
                <a:cs typeface="Century Schoolbook"/>
              </a:rPr>
              <a:t>* card( R) = </a:t>
            </a:r>
            <a:r>
              <a:rPr sz="1700" spc="-5" dirty="0">
                <a:latin typeface="Century Schoolbook"/>
                <a:cs typeface="Century Schoolbook"/>
              </a:rPr>
              <a:t>0,2 </a:t>
            </a:r>
            <a:r>
              <a:rPr sz="1700" dirty="0">
                <a:latin typeface="Century Schoolbook"/>
                <a:cs typeface="Century Schoolbook"/>
              </a:rPr>
              <a:t>* </a:t>
            </a:r>
            <a:r>
              <a:rPr sz="1700" spc="-5" dirty="0">
                <a:latin typeface="Century Schoolbook"/>
                <a:cs typeface="Century Schoolbook"/>
              </a:rPr>
              <a:t>10 000 </a:t>
            </a:r>
            <a:r>
              <a:rPr sz="1700" dirty="0">
                <a:latin typeface="Century Schoolbook"/>
                <a:cs typeface="Century Schoolbook"/>
              </a:rPr>
              <a:t>=</a:t>
            </a:r>
            <a:r>
              <a:rPr sz="1700" spc="225" dirty="0">
                <a:latin typeface="Century Schoolbook"/>
                <a:cs typeface="Century Schoolbook"/>
              </a:rPr>
              <a:t> </a:t>
            </a:r>
            <a:r>
              <a:rPr sz="1700" spc="-5" dirty="0">
                <a:latin typeface="Century Schoolbook"/>
                <a:cs typeface="Century Schoolbook"/>
              </a:rPr>
              <a:t>2000</a:t>
            </a:r>
            <a:endParaRPr sz="1700">
              <a:latin typeface="Century Schoolbook"/>
              <a:cs typeface="Century Schoolbook"/>
            </a:endParaRPr>
          </a:p>
          <a:p>
            <a:pPr marL="50800">
              <a:lnSpc>
                <a:spcPct val="100000"/>
              </a:lnSpc>
              <a:spcBef>
                <a:spcPts val="409"/>
              </a:spcBef>
              <a:tabLst>
                <a:tab pos="393065" algn="l"/>
              </a:tabLst>
            </a:pPr>
            <a:r>
              <a:rPr sz="1350" dirty="0">
                <a:solidFill>
                  <a:srgbClr val="FD8537"/>
                </a:solidFill>
                <a:latin typeface="Century Schoolbook"/>
                <a:cs typeface="Century Schoolbook"/>
              </a:rPr>
              <a:t>3)	</a:t>
            </a:r>
            <a:r>
              <a:rPr sz="1700" dirty="0">
                <a:latin typeface="Century Schoolbook"/>
                <a:cs typeface="Century Schoolbook"/>
              </a:rPr>
              <a:t>Tr(T1, Site1, Site2) = 2 </a:t>
            </a:r>
            <a:r>
              <a:rPr sz="1700" spc="-5" dirty="0">
                <a:latin typeface="Century Schoolbook"/>
                <a:cs typeface="Century Schoolbook"/>
              </a:rPr>
              <a:t>000 </a:t>
            </a:r>
            <a:r>
              <a:rPr sz="1700" dirty="0">
                <a:latin typeface="Century Schoolbook"/>
                <a:cs typeface="Century Schoolbook"/>
              </a:rPr>
              <a:t>* 1 = 2</a:t>
            </a:r>
            <a:r>
              <a:rPr sz="1700" spc="10" dirty="0">
                <a:latin typeface="Century Schoolbook"/>
                <a:cs typeface="Century Schoolbook"/>
              </a:rPr>
              <a:t> </a:t>
            </a:r>
            <a:r>
              <a:rPr sz="1700" b="1" spc="5" dirty="0">
                <a:latin typeface="Century Schoolbook"/>
                <a:cs typeface="Century Schoolbook"/>
              </a:rPr>
              <a:t>000</a:t>
            </a:r>
            <a:endParaRPr sz="1700">
              <a:latin typeface="Century Schoolbook"/>
              <a:cs typeface="Century Schoolbook"/>
            </a:endParaRPr>
          </a:p>
          <a:p>
            <a:pPr marL="50800">
              <a:lnSpc>
                <a:spcPct val="100000"/>
              </a:lnSpc>
              <a:spcBef>
                <a:spcPts val="405"/>
              </a:spcBef>
            </a:pPr>
            <a:r>
              <a:rPr sz="1350" spc="5" dirty="0">
                <a:solidFill>
                  <a:srgbClr val="FD8537"/>
                </a:solidFill>
                <a:latin typeface="Wingdings"/>
                <a:cs typeface="Wingdings"/>
              </a:rPr>
              <a:t></a:t>
            </a:r>
            <a:r>
              <a:rPr sz="1350" spc="5" dirty="0">
                <a:solidFill>
                  <a:srgbClr val="FD8537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latin typeface="Century Schoolbook"/>
                <a:cs typeface="Century Schoolbook"/>
              </a:rPr>
              <a:t>Le </a:t>
            </a:r>
            <a:r>
              <a:rPr sz="1700" spc="-5" dirty="0">
                <a:latin typeface="Century Schoolbook"/>
                <a:cs typeface="Century Schoolbook"/>
              </a:rPr>
              <a:t>plan d’exécution </a:t>
            </a:r>
            <a:r>
              <a:rPr sz="1700" dirty="0">
                <a:latin typeface="Century Schoolbook"/>
                <a:cs typeface="Century Schoolbook"/>
              </a:rPr>
              <a:t>coûte 2 </a:t>
            </a:r>
            <a:r>
              <a:rPr sz="1700" spc="-5" dirty="0">
                <a:latin typeface="Century Schoolbook"/>
                <a:cs typeface="Century Schoolbook"/>
              </a:rPr>
              <a:t>000 </a:t>
            </a:r>
            <a:r>
              <a:rPr sz="1700" dirty="0">
                <a:latin typeface="Century Schoolbook"/>
                <a:cs typeface="Century Schoolbook"/>
              </a:rPr>
              <a:t>+ </a:t>
            </a:r>
            <a:r>
              <a:rPr sz="1700" spc="-5" dirty="0">
                <a:latin typeface="Century Schoolbook"/>
                <a:cs typeface="Century Schoolbook"/>
              </a:rPr>
              <a:t>2,5 </a:t>
            </a:r>
            <a:r>
              <a:rPr sz="1700" dirty="0">
                <a:latin typeface="Century Schoolbook"/>
                <a:cs typeface="Century Schoolbook"/>
              </a:rPr>
              <a:t>=</a:t>
            </a:r>
            <a:r>
              <a:rPr sz="1700" u="sng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 </a:t>
            </a:r>
            <a:r>
              <a:rPr sz="1700" b="1" u="sng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2</a:t>
            </a:r>
            <a:r>
              <a:rPr sz="1700" b="1" u="sng" spc="10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 </a:t>
            </a:r>
            <a:r>
              <a:rPr sz="1700" b="1" u="sng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002,5</a:t>
            </a:r>
            <a:endParaRPr sz="1700">
              <a:latin typeface="Century Schoolbook"/>
              <a:cs typeface="Century Schoolbook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106167" y="3441191"/>
            <a:ext cx="155447" cy="137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772155" y="5314188"/>
            <a:ext cx="85725" cy="131445"/>
          </a:xfrm>
          <a:custGeom>
            <a:avLst/>
            <a:gdLst/>
            <a:ahLst/>
            <a:cxnLst/>
            <a:rect l="l" t="t" r="r" b="b"/>
            <a:pathLst>
              <a:path w="85725" h="131445">
                <a:moveTo>
                  <a:pt x="0" y="0"/>
                </a:moveTo>
                <a:lnTo>
                  <a:pt x="85343" y="65531"/>
                </a:lnTo>
                <a:lnTo>
                  <a:pt x="0" y="131064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57500" y="5314188"/>
            <a:ext cx="80010" cy="66040"/>
          </a:xfrm>
          <a:custGeom>
            <a:avLst/>
            <a:gdLst/>
            <a:ahLst/>
            <a:cxnLst/>
            <a:rect l="l" t="t" r="r" b="b"/>
            <a:pathLst>
              <a:path w="80010" h="66039">
                <a:moveTo>
                  <a:pt x="0" y="65786"/>
                </a:moveTo>
                <a:lnTo>
                  <a:pt x="79756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857500" y="5379720"/>
            <a:ext cx="80010" cy="66040"/>
          </a:xfrm>
          <a:custGeom>
            <a:avLst/>
            <a:gdLst/>
            <a:ahLst/>
            <a:cxnLst/>
            <a:rect l="l" t="t" r="r" b="b"/>
            <a:pathLst>
              <a:path w="80010" h="66039">
                <a:moveTo>
                  <a:pt x="0" y="0"/>
                </a:moveTo>
                <a:lnTo>
                  <a:pt x="79756" y="6578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44338" y="2945068"/>
            <a:ext cx="3721100" cy="1970405"/>
          </a:xfrm>
          <a:custGeom>
            <a:avLst/>
            <a:gdLst/>
            <a:ahLst/>
            <a:cxnLst/>
            <a:rect l="l" t="t" r="r" b="b"/>
            <a:pathLst>
              <a:path w="3721100" h="1970404">
                <a:moveTo>
                  <a:pt x="2217353" y="0"/>
                </a:moveTo>
                <a:lnTo>
                  <a:pt x="2165631" y="277"/>
                </a:lnTo>
                <a:lnTo>
                  <a:pt x="2113893" y="1455"/>
                </a:lnTo>
                <a:lnTo>
                  <a:pt x="2062188" y="3538"/>
                </a:lnTo>
                <a:lnTo>
                  <a:pt x="2010563" y="6529"/>
                </a:lnTo>
                <a:lnTo>
                  <a:pt x="1959066" y="10432"/>
                </a:lnTo>
                <a:lnTo>
                  <a:pt x="1907745" y="15252"/>
                </a:lnTo>
                <a:lnTo>
                  <a:pt x="1856647" y="20992"/>
                </a:lnTo>
                <a:lnTo>
                  <a:pt x="1805820" y="27656"/>
                </a:lnTo>
                <a:lnTo>
                  <a:pt x="1755312" y="35249"/>
                </a:lnTo>
                <a:lnTo>
                  <a:pt x="1705171" y="43773"/>
                </a:lnTo>
                <a:lnTo>
                  <a:pt x="1655444" y="53233"/>
                </a:lnTo>
                <a:lnTo>
                  <a:pt x="1606178" y="63633"/>
                </a:lnTo>
                <a:lnTo>
                  <a:pt x="1557423" y="74976"/>
                </a:lnTo>
                <a:lnTo>
                  <a:pt x="1509224" y="87267"/>
                </a:lnTo>
                <a:lnTo>
                  <a:pt x="1461631" y="100509"/>
                </a:lnTo>
                <a:lnTo>
                  <a:pt x="1414690" y="114707"/>
                </a:lnTo>
                <a:lnTo>
                  <a:pt x="1368450" y="129864"/>
                </a:lnTo>
                <a:lnTo>
                  <a:pt x="1322959" y="145984"/>
                </a:lnTo>
                <a:lnTo>
                  <a:pt x="1267788" y="167278"/>
                </a:lnTo>
                <a:lnTo>
                  <a:pt x="1215061" y="189598"/>
                </a:lnTo>
                <a:lnTo>
                  <a:pt x="1164794" y="212896"/>
                </a:lnTo>
                <a:lnTo>
                  <a:pt x="1117002" y="237126"/>
                </a:lnTo>
                <a:lnTo>
                  <a:pt x="1071699" y="262240"/>
                </a:lnTo>
                <a:lnTo>
                  <a:pt x="1028900" y="288190"/>
                </a:lnTo>
                <a:lnTo>
                  <a:pt x="988621" y="314930"/>
                </a:lnTo>
                <a:lnTo>
                  <a:pt x="950875" y="342412"/>
                </a:lnTo>
                <a:lnTo>
                  <a:pt x="915679" y="370588"/>
                </a:lnTo>
                <a:lnTo>
                  <a:pt x="883048" y="399411"/>
                </a:lnTo>
                <a:lnTo>
                  <a:pt x="852995" y="428834"/>
                </a:lnTo>
                <a:lnTo>
                  <a:pt x="825537" y="458809"/>
                </a:lnTo>
                <a:lnTo>
                  <a:pt x="800688" y="489289"/>
                </a:lnTo>
                <a:lnTo>
                  <a:pt x="758877" y="551574"/>
                </a:lnTo>
                <a:lnTo>
                  <a:pt x="727683" y="615309"/>
                </a:lnTo>
                <a:lnTo>
                  <a:pt x="707225" y="680117"/>
                </a:lnTo>
                <a:lnTo>
                  <a:pt x="697624" y="745616"/>
                </a:lnTo>
                <a:lnTo>
                  <a:pt x="696931" y="778507"/>
                </a:lnTo>
                <a:lnTo>
                  <a:pt x="698998" y="811429"/>
                </a:lnTo>
                <a:lnTo>
                  <a:pt x="711468" y="877175"/>
                </a:lnTo>
                <a:lnTo>
                  <a:pt x="735153" y="942477"/>
                </a:lnTo>
                <a:lnTo>
                  <a:pt x="770174" y="1006954"/>
                </a:lnTo>
                <a:lnTo>
                  <a:pt x="791972" y="1038765"/>
                </a:lnTo>
                <a:lnTo>
                  <a:pt x="816649" y="1070228"/>
                </a:lnTo>
                <a:lnTo>
                  <a:pt x="844220" y="1101295"/>
                </a:lnTo>
                <a:lnTo>
                  <a:pt x="874700" y="1131919"/>
                </a:lnTo>
                <a:lnTo>
                  <a:pt x="908104" y="1162052"/>
                </a:lnTo>
                <a:lnTo>
                  <a:pt x="944446" y="1191648"/>
                </a:lnTo>
                <a:lnTo>
                  <a:pt x="983741" y="1220658"/>
                </a:lnTo>
                <a:lnTo>
                  <a:pt x="0" y="1970085"/>
                </a:lnTo>
                <a:lnTo>
                  <a:pt x="1404746" y="1421445"/>
                </a:lnTo>
                <a:lnTo>
                  <a:pt x="3012627" y="1421445"/>
                </a:lnTo>
                <a:lnTo>
                  <a:pt x="3050116" y="1409145"/>
                </a:lnTo>
                <a:lnTo>
                  <a:pt x="3094609" y="1393378"/>
                </a:lnTo>
                <a:lnTo>
                  <a:pt x="3149779" y="1372085"/>
                </a:lnTo>
                <a:lnTo>
                  <a:pt x="3202506" y="1349765"/>
                </a:lnTo>
                <a:lnTo>
                  <a:pt x="3252773" y="1326467"/>
                </a:lnTo>
                <a:lnTo>
                  <a:pt x="3300565" y="1302237"/>
                </a:lnTo>
                <a:lnTo>
                  <a:pt x="3345868" y="1277123"/>
                </a:lnTo>
                <a:lnTo>
                  <a:pt x="3388667" y="1251173"/>
                </a:lnTo>
                <a:lnTo>
                  <a:pt x="3428946" y="1224433"/>
                </a:lnTo>
                <a:lnTo>
                  <a:pt x="3466692" y="1196951"/>
                </a:lnTo>
                <a:lnTo>
                  <a:pt x="3501888" y="1168775"/>
                </a:lnTo>
                <a:lnTo>
                  <a:pt x="3534519" y="1139952"/>
                </a:lnTo>
                <a:lnTo>
                  <a:pt x="3564572" y="1110529"/>
                </a:lnTo>
                <a:lnTo>
                  <a:pt x="3592030" y="1080554"/>
                </a:lnTo>
                <a:lnTo>
                  <a:pt x="3616879" y="1050074"/>
                </a:lnTo>
                <a:lnTo>
                  <a:pt x="3658690" y="987789"/>
                </a:lnTo>
                <a:lnTo>
                  <a:pt x="3689884" y="924054"/>
                </a:lnTo>
                <a:lnTo>
                  <a:pt x="3710342" y="859246"/>
                </a:lnTo>
                <a:lnTo>
                  <a:pt x="3719943" y="793747"/>
                </a:lnTo>
                <a:lnTo>
                  <a:pt x="3720636" y="760856"/>
                </a:lnTo>
                <a:lnTo>
                  <a:pt x="3718569" y="727934"/>
                </a:lnTo>
                <a:lnTo>
                  <a:pt x="3706099" y="662188"/>
                </a:lnTo>
                <a:lnTo>
                  <a:pt x="3682414" y="596886"/>
                </a:lnTo>
                <a:lnTo>
                  <a:pt x="3647393" y="532409"/>
                </a:lnTo>
                <a:lnTo>
                  <a:pt x="3625595" y="500598"/>
                </a:lnTo>
                <a:lnTo>
                  <a:pt x="3600918" y="469135"/>
                </a:lnTo>
                <a:lnTo>
                  <a:pt x="3573347" y="438068"/>
                </a:lnTo>
                <a:lnTo>
                  <a:pt x="3542867" y="407444"/>
                </a:lnTo>
                <a:lnTo>
                  <a:pt x="3509463" y="377311"/>
                </a:lnTo>
                <a:lnTo>
                  <a:pt x="3473121" y="347715"/>
                </a:lnTo>
                <a:lnTo>
                  <a:pt x="3433826" y="318704"/>
                </a:lnTo>
                <a:lnTo>
                  <a:pt x="3400544" y="296139"/>
                </a:lnTo>
                <a:lnTo>
                  <a:pt x="3365960" y="274369"/>
                </a:lnTo>
                <a:lnTo>
                  <a:pt x="3330120" y="253398"/>
                </a:lnTo>
                <a:lnTo>
                  <a:pt x="3293073" y="233231"/>
                </a:lnTo>
                <a:lnTo>
                  <a:pt x="3254865" y="213870"/>
                </a:lnTo>
                <a:lnTo>
                  <a:pt x="3215545" y="195320"/>
                </a:lnTo>
                <a:lnTo>
                  <a:pt x="3175160" y="177585"/>
                </a:lnTo>
                <a:lnTo>
                  <a:pt x="3133759" y="160668"/>
                </a:lnTo>
                <a:lnTo>
                  <a:pt x="3091388" y="144574"/>
                </a:lnTo>
                <a:lnTo>
                  <a:pt x="3048095" y="129307"/>
                </a:lnTo>
                <a:lnTo>
                  <a:pt x="3003929" y="114870"/>
                </a:lnTo>
                <a:lnTo>
                  <a:pt x="2958937" y="101267"/>
                </a:lnTo>
                <a:lnTo>
                  <a:pt x="2913166" y="88503"/>
                </a:lnTo>
                <a:lnTo>
                  <a:pt x="2866664" y="76580"/>
                </a:lnTo>
                <a:lnTo>
                  <a:pt x="2819479" y="65504"/>
                </a:lnTo>
                <a:lnTo>
                  <a:pt x="2771660" y="55278"/>
                </a:lnTo>
                <a:lnTo>
                  <a:pt x="2723252" y="45905"/>
                </a:lnTo>
                <a:lnTo>
                  <a:pt x="2674305" y="37390"/>
                </a:lnTo>
                <a:lnTo>
                  <a:pt x="2624865" y="29737"/>
                </a:lnTo>
                <a:lnTo>
                  <a:pt x="2574981" y="22950"/>
                </a:lnTo>
                <a:lnTo>
                  <a:pt x="2524700" y="17031"/>
                </a:lnTo>
                <a:lnTo>
                  <a:pt x="2474070" y="11987"/>
                </a:lnTo>
                <a:lnTo>
                  <a:pt x="2423139" y="7819"/>
                </a:lnTo>
                <a:lnTo>
                  <a:pt x="2371953" y="4533"/>
                </a:lnTo>
                <a:lnTo>
                  <a:pt x="2320562" y="2131"/>
                </a:lnTo>
                <a:lnTo>
                  <a:pt x="2269013" y="619"/>
                </a:lnTo>
                <a:lnTo>
                  <a:pt x="2217353" y="0"/>
                </a:lnTo>
                <a:close/>
              </a:path>
              <a:path w="3721100" h="1970404">
                <a:moveTo>
                  <a:pt x="3012627" y="1421445"/>
                </a:moveTo>
                <a:lnTo>
                  <a:pt x="1404746" y="1421445"/>
                </a:lnTo>
                <a:lnTo>
                  <a:pt x="1451175" y="1435708"/>
                </a:lnTo>
                <a:lnTo>
                  <a:pt x="1498316" y="1449047"/>
                </a:lnTo>
                <a:lnTo>
                  <a:pt x="1546121" y="1461464"/>
                </a:lnTo>
                <a:lnTo>
                  <a:pt x="1594543" y="1472959"/>
                </a:lnTo>
                <a:lnTo>
                  <a:pt x="1643532" y="1483534"/>
                </a:lnTo>
                <a:lnTo>
                  <a:pt x="1693041" y="1493188"/>
                </a:lnTo>
                <a:lnTo>
                  <a:pt x="1743021" y="1501923"/>
                </a:lnTo>
                <a:lnTo>
                  <a:pt x="1793425" y="1509740"/>
                </a:lnTo>
                <a:lnTo>
                  <a:pt x="1844204" y="1516639"/>
                </a:lnTo>
                <a:lnTo>
                  <a:pt x="1895310" y="1522622"/>
                </a:lnTo>
                <a:lnTo>
                  <a:pt x="1946694" y="1527689"/>
                </a:lnTo>
                <a:lnTo>
                  <a:pt x="1998309" y="1531841"/>
                </a:lnTo>
                <a:lnTo>
                  <a:pt x="2050106" y="1535078"/>
                </a:lnTo>
                <a:lnTo>
                  <a:pt x="2102038" y="1537403"/>
                </a:lnTo>
                <a:lnTo>
                  <a:pt x="2154055" y="1538815"/>
                </a:lnTo>
                <a:lnTo>
                  <a:pt x="2206110" y="1539315"/>
                </a:lnTo>
                <a:lnTo>
                  <a:pt x="2258155" y="1538905"/>
                </a:lnTo>
                <a:lnTo>
                  <a:pt x="2310141" y="1537584"/>
                </a:lnTo>
                <a:lnTo>
                  <a:pt x="2362020" y="1535354"/>
                </a:lnTo>
                <a:lnTo>
                  <a:pt x="2413744" y="1532216"/>
                </a:lnTo>
                <a:lnTo>
                  <a:pt x="2465265" y="1528171"/>
                </a:lnTo>
                <a:lnTo>
                  <a:pt x="2516534" y="1523219"/>
                </a:lnTo>
                <a:lnTo>
                  <a:pt x="2567504" y="1517361"/>
                </a:lnTo>
                <a:lnTo>
                  <a:pt x="2618125" y="1510598"/>
                </a:lnTo>
                <a:lnTo>
                  <a:pt x="2668351" y="1502931"/>
                </a:lnTo>
                <a:lnTo>
                  <a:pt x="2718133" y="1494361"/>
                </a:lnTo>
                <a:lnTo>
                  <a:pt x="2767422" y="1484888"/>
                </a:lnTo>
                <a:lnTo>
                  <a:pt x="2816170" y="1474513"/>
                </a:lnTo>
                <a:lnTo>
                  <a:pt x="2864330" y="1463238"/>
                </a:lnTo>
                <a:lnTo>
                  <a:pt x="2911852" y="1451063"/>
                </a:lnTo>
                <a:lnTo>
                  <a:pt x="2958690" y="1437988"/>
                </a:lnTo>
                <a:lnTo>
                  <a:pt x="3004794" y="1424016"/>
                </a:lnTo>
                <a:lnTo>
                  <a:pt x="3012627" y="1421445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44338" y="2945068"/>
            <a:ext cx="3721100" cy="1970405"/>
          </a:xfrm>
          <a:custGeom>
            <a:avLst/>
            <a:gdLst/>
            <a:ahLst/>
            <a:cxnLst/>
            <a:rect l="l" t="t" r="r" b="b"/>
            <a:pathLst>
              <a:path w="3721100" h="1970404">
                <a:moveTo>
                  <a:pt x="0" y="1970085"/>
                </a:moveTo>
                <a:lnTo>
                  <a:pt x="983741" y="1220658"/>
                </a:lnTo>
                <a:lnTo>
                  <a:pt x="944446" y="1191648"/>
                </a:lnTo>
                <a:lnTo>
                  <a:pt x="908104" y="1162052"/>
                </a:lnTo>
                <a:lnTo>
                  <a:pt x="874700" y="1131919"/>
                </a:lnTo>
                <a:lnTo>
                  <a:pt x="844220" y="1101295"/>
                </a:lnTo>
                <a:lnTo>
                  <a:pt x="816649" y="1070228"/>
                </a:lnTo>
                <a:lnTo>
                  <a:pt x="791972" y="1038765"/>
                </a:lnTo>
                <a:lnTo>
                  <a:pt x="770174" y="1006954"/>
                </a:lnTo>
                <a:lnTo>
                  <a:pt x="735153" y="942477"/>
                </a:lnTo>
                <a:lnTo>
                  <a:pt x="711468" y="877175"/>
                </a:lnTo>
                <a:lnTo>
                  <a:pt x="698998" y="811429"/>
                </a:lnTo>
                <a:lnTo>
                  <a:pt x="696931" y="778507"/>
                </a:lnTo>
                <a:lnTo>
                  <a:pt x="697624" y="745616"/>
                </a:lnTo>
                <a:lnTo>
                  <a:pt x="707225" y="680117"/>
                </a:lnTo>
                <a:lnTo>
                  <a:pt x="727683" y="615309"/>
                </a:lnTo>
                <a:lnTo>
                  <a:pt x="758877" y="551574"/>
                </a:lnTo>
                <a:lnTo>
                  <a:pt x="800688" y="489289"/>
                </a:lnTo>
                <a:lnTo>
                  <a:pt x="825537" y="458809"/>
                </a:lnTo>
                <a:lnTo>
                  <a:pt x="852995" y="428834"/>
                </a:lnTo>
                <a:lnTo>
                  <a:pt x="883048" y="399411"/>
                </a:lnTo>
                <a:lnTo>
                  <a:pt x="915679" y="370588"/>
                </a:lnTo>
                <a:lnTo>
                  <a:pt x="950875" y="342412"/>
                </a:lnTo>
                <a:lnTo>
                  <a:pt x="988621" y="314930"/>
                </a:lnTo>
                <a:lnTo>
                  <a:pt x="1028900" y="288190"/>
                </a:lnTo>
                <a:lnTo>
                  <a:pt x="1071699" y="262240"/>
                </a:lnTo>
                <a:lnTo>
                  <a:pt x="1117002" y="237126"/>
                </a:lnTo>
                <a:lnTo>
                  <a:pt x="1164794" y="212896"/>
                </a:lnTo>
                <a:lnTo>
                  <a:pt x="1215061" y="189598"/>
                </a:lnTo>
                <a:lnTo>
                  <a:pt x="1267788" y="167278"/>
                </a:lnTo>
                <a:lnTo>
                  <a:pt x="1322959" y="145984"/>
                </a:lnTo>
                <a:lnTo>
                  <a:pt x="1368450" y="129864"/>
                </a:lnTo>
                <a:lnTo>
                  <a:pt x="1414690" y="114707"/>
                </a:lnTo>
                <a:lnTo>
                  <a:pt x="1461631" y="100509"/>
                </a:lnTo>
                <a:lnTo>
                  <a:pt x="1509224" y="87267"/>
                </a:lnTo>
                <a:lnTo>
                  <a:pt x="1557423" y="74976"/>
                </a:lnTo>
                <a:lnTo>
                  <a:pt x="1606178" y="63633"/>
                </a:lnTo>
                <a:lnTo>
                  <a:pt x="1655444" y="53233"/>
                </a:lnTo>
                <a:lnTo>
                  <a:pt x="1705171" y="43773"/>
                </a:lnTo>
                <a:lnTo>
                  <a:pt x="1755312" y="35249"/>
                </a:lnTo>
                <a:lnTo>
                  <a:pt x="1805820" y="27656"/>
                </a:lnTo>
                <a:lnTo>
                  <a:pt x="1856647" y="20992"/>
                </a:lnTo>
                <a:lnTo>
                  <a:pt x="1907745" y="15252"/>
                </a:lnTo>
                <a:lnTo>
                  <a:pt x="1959066" y="10432"/>
                </a:lnTo>
                <a:lnTo>
                  <a:pt x="2010563" y="6529"/>
                </a:lnTo>
                <a:lnTo>
                  <a:pt x="2062188" y="3538"/>
                </a:lnTo>
                <a:lnTo>
                  <a:pt x="2113893" y="1455"/>
                </a:lnTo>
                <a:lnTo>
                  <a:pt x="2165631" y="277"/>
                </a:lnTo>
                <a:lnTo>
                  <a:pt x="2217353" y="0"/>
                </a:lnTo>
                <a:lnTo>
                  <a:pt x="2269013" y="619"/>
                </a:lnTo>
                <a:lnTo>
                  <a:pt x="2320562" y="2131"/>
                </a:lnTo>
                <a:lnTo>
                  <a:pt x="2371953" y="4533"/>
                </a:lnTo>
                <a:lnTo>
                  <a:pt x="2423139" y="7819"/>
                </a:lnTo>
                <a:lnTo>
                  <a:pt x="2474070" y="11987"/>
                </a:lnTo>
                <a:lnTo>
                  <a:pt x="2524700" y="17031"/>
                </a:lnTo>
                <a:lnTo>
                  <a:pt x="2574981" y="22950"/>
                </a:lnTo>
                <a:lnTo>
                  <a:pt x="2624865" y="29737"/>
                </a:lnTo>
                <a:lnTo>
                  <a:pt x="2674305" y="37390"/>
                </a:lnTo>
                <a:lnTo>
                  <a:pt x="2723252" y="45905"/>
                </a:lnTo>
                <a:lnTo>
                  <a:pt x="2771660" y="55278"/>
                </a:lnTo>
                <a:lnTo>
                  <a:pt x="2819479" y="65504"/>
                </a:lnTo>
                <a:lnTo>
                  <a:pt x="2866664" y="76580"/>
                </a:lnTo>
                <a:lnTo>
                  <a:pt x="2913166" y="88503"/>
                </a:lnTo>
                <a:lnTo>
                  <a:pt x="2958937" y="101267"/>
                </a:lnTo>
                <a:lnTo>
                  <a:pt x="3003929" y="114870"/>
                </a:lnTo>
                <a:lnTo>
                  <a:pt x="3048095" y="129307"/>
                </a:lnTo>
                <a:lnTo>
                  <a:pt x="3091388" y="144574"/>
                </a:lnTo>
                <a:lnTo>
                  <a:pt x="3133759" y="160668"/>
                </a:lnTo>
                <a:lnTo>
                  <a:pt x="3175160" y="177585"/>
                </a:lnTo>
                <a:lnTo>
                  <a:pt x="3215545" y="195320"/>
                </a:lnTo>
                <a:lnTo>
                  <a:pt x="3254865" y="213870"/>
                </a:lnTo>
                <a:lnTo>
                  <a:pt x="3293073" y="233231"/>
                </a:lnTo>
                <a:lnTo>
                  <a:pt x="3330120" y="253398"/>
                </a:lnTo>
                <a:lnTo>
                  <a:pt x="3365960" y="274369"/>
                </a:lnTo>
                <a:lnTo>
                  <a:pt x="3400544" y="296139"/>
                </a:lnTo>
                <a:lnTo>
                  <a:pt x="3433826" y="318704"/>
                </a:lnTo>
                <a:lnTo>
                  <a:pt x="3473121" y="347715"/>
                </a:lnTo>
                <a:lnTo>
                  <a:pt x="3509463" y="377311"/>
                </a:lnTo>
                <a:lnTo>
                  <a:pt x="3542867" y="407444"/>
                </a:lnTo>
                <a:lnTo>
                  <a:pt x="3573347" y="438068"/>
                </a:lnTo>
                <a:lnTo>
                  <a:pt x="3600918" y="469135"/>
                </a:lnTo>
                <a:lnTo>
                  <a:pt x="3625595" y="500598"/>
                </a:lnTo>
                <a:lnTo>
                  <a:pt x="3647393" y="532409"/>
                </a:lnTo>
                <a:lnTo>
                  <a:pt x="3682414" y="596886"/>
                </a:lnTo>
                <a:lnTo>
                  <a:pt x="3706099" y="662188"/>
                </a:lnTo>
                <a:lnTo>
                  <a:pt x="3718569" y="727934"/>
                </a:lnTo>
                <a:lnTo>
                  <a:pt x="3720636" y="760856"/>
                </a:lnTo>
                <a:lnTo>
                  <a:pt x="3719943" y="793747"/>
                </a:lnTo>
                <a:lnTo>
                  <a:pt x="3710342" y="859246"/>
                </a:lnTo>
                <a:lnTo>
                  <a:pt x="3689884" y="924054"/>
                </a:lnTo>
                <a:lnTo>
                  <a:pt x="3658690" y="987789"/>
                </a:lnTo>
                <a:lnTo>
                  <a:pt x="3616879" y="1050074"/>
                </a:lnTo>
                <a:lnTo>
                  <a:pt x="3592030" y="1080554"/>
                </a:lnTo>
                <a:lnTo>
                  <a:pt x="3564572" y="1110529"/>
                </a:lnTo>
                <a:lnTo>
                  <a:pt x="3534519" y="1139952"/>
                </a:lnTo>
                <a:lnTo>
                  <a:pt x="3501888" y="1168775"/>
                </a:lnTo>
                <a:lnTo>
                  <a:pt x="3466692" y="1196951"/>
                </a:lnTo>
                <a:lnTo>
                  <a:pt x="3428946" y="1224433"/>
                </a:lnTo>
                <a:lnTo>
                  <a:pt x="3388667" y="1251173"/>
                </a:lnTo>
                <a:lnTo>
                  <a:pt x="3345868" y="1277123"/>
                </a:lnTo>
                <a:lnTo>
                  <a:pt x="3300565" y="1302237"/>
                </a:lnTo>
                <a:lnTo>
                  <a:pt x="3252773" y="1326467"/>
                </a:lnTo>
                <a:lnTo>
                  <a:pt x="3202506" y="1349765"/>
                </a:lnTo>
                <a:lnTo>
                  <a:pt x="3149779" y="1372085"/>
                </a:lnTo>
                <a:lnTo>
                  <a:pt x="3094609" y="1393378"/>
                </a:lnTo>
                <a:lnTo>
                  <a:pt x="3050116" y="1409145"/>
                </a:lnTo>
                <a:lnTo>
                  <a:pt x="3004794" y="1424016"/>
                </a:lnTo>
                <a:lnTo>
                  <a:pt x="2958690" y="1437988"/>
                </a:lnTo>
                <a:lnTo>
                  <a:pt x="2911852" y="1451063"/>
                </a:lnTo>
                <a:lnTo>
                  <a:pt x="2864330" y="1463238"/>
                </a:lnTo>
                <a:lnTo>
                  <a:pt x="2816170" y="1474513"/>
                </a:lnTo>
                <a:lnTo>
                  <a:pt x="2767422" y="1484888"/>
                </a:lnTo>
                <a:lnTo>
                  <a:pt x="2718133" y="1494361"/>
                </a:lnTo>
                <a:lnTo>
                  <a:pt x="2668351" y="1502931"/>
                </a:lnTo>
                <a:lnTo>
                  <a:pt x="2618125" y="1510598"/>
                </a:lnTo>
                <a:lnTo>
                  <a:pt x="2567504" y="1517361"/>
                </a:lnTo>
                <a:lnTo>
                  <a:pt x="2516534" y="1523219"/>
                </a:lnTo>
                <a:lnTo>
                  <a:pt x="2465265" y="1528171"/>
                </a:lnTo>
                <a:lnTo>
                  <a:pt x="2413744" y="1532216"/>
                </a:lnTo>
                <a:lnTo>
                  <a:pt x="2362020" y="1535354"/>
                </a:lnTo>
                <a:lnTo>
                  <a:pt x="2310141" y="1537584"/>
                </a:lnTo>
                <a:lnTo>
                  <a:pt x="2258155" y="1538905"/>
                </a:lnTo>
                <a:lnTo>
                  <a:pt x="2206110" y="1539315"/>
                </a:lnTo>
                <a:lnTo>
                  <a:pt x="2154055" y="1538815"/>
                </a:lnTo>
                <a:lnTo>
                  <a:pt x="2102038" y="1537403"/>
                </a:lnTo>
                <a:lnTo>
                  <a:pt x="2050106" y="1535078"/>
                </a:lnTo>
                <a:lnTo>
                  <a:pt x="1998309" y="1531841"/>
                </a:lnTo>
                <a:lnTo>
                  <a:pt x="1946694" y="1527689"/>
                </a:lnTo>
                <a:lnTo>
                  <a:pt x="1895310" y="1522622"/>
                </a:lnTo>
                <a:lnTo>
                  <a:pt x="1844204" y="1516639"/>
                </a:lnTo>
                <a:lnTo>
                  <a:pt x="1793425" y="1509740"/>
                </a:lnTo>
                <a:lnTo>
                  <a:pt x="1743021" y="1501923"/>
                </a:lnTo>
                <a:lnTo>
                  <a:pt x="1693041" y="1493188"/>
                </a:lnTo>
                <a:lnTo>
                  <a:pt x="1643532" y="1483534"/>
                </a:lnTo>
                <a:lnTo>
                  <a:pt x="1594543" y="1472959"/>
                </a:lnTo>
                <a:lnTo>
                  <a:pt x="1546121" y="1461464"/>
                </a:lnTo>
                <a:lnTo>
                  <a:pt x="1498316" y="1449047"/>
                </a:lnTo>
                <a:lnTo>
                  <a:pt x="1451175" y="1435708"/>
                </a:lnTo>
                <a:lnTo>
                  <a:pt x="1404746" y="1421445"/>
                </a:lnTo>
                <a:lnTo>
                  <a:pt x="0" y="1970085"/>
                </a:lnTo>
                <a:close/>
              </a:path>
            </a:pathLst>
          </a:custGeom>
          <a:ln w="25908">
            <a:solidFill>
              <a:srgbClr val="BA60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518275" y="3058795"/>
            <a:ext cx="1868170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Century Schoolbook"/>
                <a:cs typeface="Century Schoolbook"/>
              </a:rPr>
              <a:t>Le transfert </a:t>
            </a:r>
            <a:r>
              <a:rPr sz="1400" spc="-5" dirty="0">
                <a:solidFill>
                  <a:srgbClr val="FFFFFF"/>
                </a:solidFill>
                <a:latin typeface="Century Schoolbook"/>
                <a:cs typeface="Century Schoolbook"/>
              </a:rPr>
              <a:t>de </a:t>
            </a:r>
            <a:r>
              <a:rPr sz="1400" dirty="0">
                <a:solidFill>
                  <a:srgbClr val="FFFFFF"/>
                </a:solidFill>
                <a:latin typeface="Century Schoolbook"/>
                <a:cs typeface="Century Schoolbook"/>
              </a:rPr>
              <a:t>la  projection </a:t>
            </a:r>
            <a:r>
              <a:rPr sz="1400" spc="-5" dirty="0">
                <a:solidFill>
                  <a:srgbClr val="FFFFFF"/>
                </a:solidFill>
                <a:latin typeface="Century Schoolbook"/>
                <a:cs typeface="Century Schoolbook"/>
              </a:rPr>
              <a:t>sur </a:t>
            </a:r>
            <a:r>
              <a:rPr sz="1400" dirty="0">
                <a:solidFill>
                  <a:srgbClr val="FFFFFF"/>
                </a:solidFill>
                <a:latin typeface="Century Schoolbook"/>
                <a:cs typeface="Century Schoolbook"/>
              </a:rPr>
              <a:t>S et la  semi-jointure évite  ensuite le transfert</a:t>
            </a:r>
            <a:r>
              <a:rPr sz="1400" spc="-125" dirty="0">
                <a:solidFill>
                  <a:srgbClr val="FFFFFF"/>
                </a:solidFill>
                <a:latin typeface="Century Schoolbook"/>
                <a:cs typeface="Century Schoolbook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entury Schoolbook"/>
                <a:cs typeface="Century Schoolbook"/>
              </a:rPr>
              <a:t>de  </a:t>
            </a:r>
            <a:r>
              <a:rPr sz="1400" dirty="0">
                <a:solidFill>
                  <a:srgbClr val="FFFFFF"/>
                </a:solidFill>
                <a:latin typeface="Century Schoolbook"/>
                <a:cs typeface="Century Schoolbook"/>
              </a:rPr>
              <a:t>8 </a:t>
            </a:r>
            <a:r>
              <a:rPr sz="1400" spc="-5" dirty="0">
                <a:solidFill>
                  <a:srgbClr val="FFFFFF"/>
                </a:solidFill>
                <a:latin typeface="Century Schoolbook"/>
                <a:cs typeface="Century Schoolbook"/>
              </a:rPr>
              <a:t>000 n-uplets</a:t>
            </a:r>
            <a:r>
              <a:rPr sz="1400" spc="-105" dirty="0">
                <a:solidFill>
                  <a:srgbClr val="FFFFFF"/>
                </a:solidFill>
                <a:latin typeface="Century Schoolbook"/>
                <a:cs typeface="Century Schoolbook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Schoolbook"/>
                <a:cs typeface="Century Schoolbook"/>
              </a:rPr>
              <a:t>inutiles  </a:t>
            </a:r>
            <a:r>
              <a:rPr sz="1400" spc="-5" dirty="0">
                <a:solidFill>
                  <a:srgbClr val="FFFFFF"/>
                </a:solidFill>
                <a:latin typeface="Century Schoolbook"/>
                <a:cs typeface="Century Schoolbook"/>
              </a:rPr>
              <a:t>de</a:t>
            </a:r>
            <a:r>
              <a:rPr sz="1400" spc="-25" dirty="0">
                <a:solidFill>
                  <a:srgbClr val="FFFFFF"/>
                </a:solidFill>
                <a:latin typeface="Century Schoolbook"/>
                <a:cs typeface="Century Schoolbook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Schoolbook"/>
                <a:cs typeface="Century Schoolbook"/>
              </a:rPr>
              <a:t>R</a:t>
            </a:r>
            <a:endParaRPr sz="1400">
              <a:latin typeface="Century Schoolbook"/>
              <a:cs typeface="Century Schoolbook"/>
            </a:endParaRPr>
          </a:p>
        </p:txBody>
      </p:sp>
      <p:sp>
        <p:nvSpPr>
          <p:cNvPr id="31" name="object 22"/>
          <p:cNvSpPr/>
          <p:nvPr/>
        </p:nvSpPr>
        <p:spPr>
          <a:xfrm>
            <a:off x="4914900" y="990600"/>
            <a:ext cx="3695700" cy="1066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85"/>
              </a:spcBef>
            </a:pPr>
            <a:fld id="{81D60167-4931-47E6-BA6A-407CBD079E47}" type="slidenum">
              <a:rPr lang="fr-FR" smtClean="0"/>
              <a:pPr marL="25400">
                <a:lnSpc>
                  <a:spcPct val="100000"/>
                </a:lnSpc>
                <a:spcBef>
                  <a:spcPts val="85"/>
                </a:spcBef>
              </a:pPr>
              <a:t>33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Urbai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3117</TotalTime>
  <Words>2152</Words>
  <Application>Microsoft Office PowerPoint</Application>
  <PresentationFormat>Affichage à l'écran (4:3)</PresentationFormat>
  <Paragraphs>505</Paragraphs>
  <Slides>33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4" baseType="lpstr">
      <vt:lpstr>Oriel</vt:lpstr>
      <vt:lpstr>Chapitre3:    EVALUATION DEs REQUÊTES  RÉPARTIES  </vt:lpstr>
      <vt:lpstr>TRAITEMENT DES REQUÊTES RÉPARTIES</vt:lpstr>
      <vt:lpstr>EXEMPLE</vt:lpstr>
      <vt:lpstr>EXEMPLE</vt:lpstr>
      <vt:lpstr>Evaluation de Requêtes Réparties</vt:lpstr>
      <vt:lpstr>FRAGMENTATION DES REQUÊTES</vt:lpstr>
      <vt:lpstr>EXEMPLE</vt:lpstr>
      <vt:lpstr>Diapositive 8</vt:lpstr>
      <vt:lpstr>Diapositive 9</vt:lpstr>
      <vt:lpstr>Diapositive 10</vt:lpstr>
      <vt:lpstr>Diapositive 11</vt:lpstr>
      <vt:lpstr>RÉDUCTION DE FRAGMENTATION VERTICALE</vt:lpstr>
      <vt:lpstr>RÉDUCTION DE FRAGMENTATION VERTICALE</vt:lpstr>
      <vt:lpstr>RÉDUCTION POUR LA FRAGMENTATION HORIZONTALE  DÉRIVÉE (1)</vt:lpstr>
      <vt:lpstr>Diapositive 15</vt:lpstr>
      <vt:lpstr>PLAN D’EXÉCUTION</vt:lpstr>
      <vt:lpstr>Diapositive 17</vt:lpstr>
      <vt:lpstr>RAPPEL : OPTIMISATION ALGÉBRIQUE</vt:lpstr>
      <vt:lpstr>EXEMPLE D’UN PLAN D’EXÉCUTION RÉPARTI</vt:lpstr>
      <vt:lpstr>EXEMPLE D’UN PLAN D’EXÉCUTION Site 5</vt:lpstr>
      <vt:lpstr>AUTRE EXEMPLE DE PLAN D’EXECUTION</vt:lpstr>
      <vt:lpstr>COMPARATIF DU COÛT DES SOLUTIONS</vt:lpstr>
      <vt:lpstr>ESTIMATION DE LA TAILLE DES RÉSULTATS INTERMÉDIAIRES</vt:lpstr>
      <vt:lpstr>ESTIMATION DE LA TAILLE DES RÉSULTATS INTERMÉDIAIRES</vt:lpstr>
      <vt:lpstr>OPTIMISATION DE REQUÊTES</vt:lpstr>
      <vt:lpstr>TECHNIQUES D’EXÉCUTION DISTRIBUÉE</vt:lpstr>
      <vt:lpstr>A PROPOS DES JOINTURES INTERSITES</vt:lpstr>
      <vt:lpstr>JOINTURE ENTRE DEUX SITES</vt:lpstr>
      <vt:lpstr>JOINTURE ENTRE DEUX SITES</vt:lpstr>
      <vt:lpstr>JOINTURES PARALLÈLES</vt:lpstr>
      <vt:lpstr>JOINTURES PARALLÈLES</vt:lpstr>
      <vt:lpstr>REDUCTION DES DONNÉES TRANSFÉRÉES</vt:lpstr>
      <vt:lpstr>REDUCTION DES DONNÉES TRANSFÉRÉES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LIF4 : Initiation aux bases de données</dc:title>
  <dc:creator>Nicolas</dc:creator>
  <cp:lastModifiedBy>Soumaya</cp:lastModifiedBy>
  <cp:revision>32</cp:revision>
  <dcterms:created xsi:type="dcterms:W3CDTF">2020-11-11T17:39:11Z</dcterms:created>
  <dcterms:modified xsi:type="dcterms:W3CDTF">2024-10-31T23:20:39Z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2018-05-22T00:00:00Z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2020-11-11T00:00:00Z</vt:filetime>
  </property>
</Properties>
</file>