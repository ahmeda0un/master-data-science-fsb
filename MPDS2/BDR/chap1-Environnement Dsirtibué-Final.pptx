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theme/themeOverride12.xml" ContentType="application/vnd.openxmlformats-officedocument.themeOverr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Override5.xml" ContentType="application/vnd.openxmlformats-officedocument.themeOverr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Override17.xml" ContentType="application/vnd.openxmlformats-officedocument.themeOverride+xml"/>
  <Override PartName="/ppt/theme/themeOverride15.xml" ContentType="application/vnd.openxmlformats-officedocument.themeOverr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13.xml" ContentType="application/vnd.openxmlformats-officedocument.themeOverr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0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Override18.xml" ContentType="application/vnd.openxmlformats-officedocument.themeOverride+xml"/>
  <Override PartName="/ppt/theme/themeOverride16.xml" ContentType="application/vnd.openxmlformats-officedocument.themeOverr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theme/themeOverride9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Override7.xml" ContentType="application/vnd.openxmlformats-officedocument.themeOverr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Override19.xml" ContentType="application/vnd.openxmlformats-officedocument.themeOverr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4" r:id="rId3"/>
  </p:sldMasterIdLst>
  <p:notesMasterIdLst>
    <p:notesMasterId r:id="rId60"/>
  </p:notesMasterIdLst>
  <p:sldIdLst>
    <p:sldId id="257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87" r:id="rId15"/>
    <p:sldId id="288" r:id="rId16"/>
    <p:sldId id="289" r:id="rId17"/>
    <p:sldId id="290" r:id="rId18"/>
    <p:sldId id="294" r:id="rId19"/>
    <p:sldId id="295" r:id="rId20"/>
    <p:sldId id="310" r:id="rId21"/>
    <p:sldId id="311" r:id="rId22"/>
    <p:sldId id="367" r:id="rId23"/>
    <p:sldId id="312" r:id="rId24"/>
    <p:sldId id="317" r:id="rId25"/>
    <p:sldId id="314" r:id="rId26"/>
    <p:sldId id="315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6" r:id="rId35"/>
    <p:sldId id="327" r:id="rId36"/>
    <p:sldId id="332" r:id="rId37"/>
    <p:sldId id="333" r:id="rId38"/>
    <p:sldId id="340" r:id="rId39"/>
    <p:sldId id="344" r:id="rId40"/>
    <p:sldId id="345" r:id="rId41"/>
    <p:sldId id="346" r:id="rId42"/>
    <p:sldId id="347" r:id="rId43"/>
    <p:sldId id="348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6" r:id="rId53"/>
    <p:sldId id="360" r:id="rId54"/>
    <p:sldId id="361" r:id="rId55"/>
    <p:sldId id="362" r:id="rId56"/>
    <p:sldId id="363" r:id="rId57"/>
    <p:sldId id="364" r:id="rId58"/>
    <p:sldId id="365" r:id="rId5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4F93B-1C78-4453-AAE0-82AD8B2FCAF1}" type="datetimeFigureOut">
              <a:rPr lang="fr-FR" smtClean="0"/>
              <a:pPr/>
              <a:t>07/01/2021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A6810-2942-4619-A779-CFAA6F816A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8171" marR="183451" indent="-177737" algn="just">
              <a:lnSpc>
                <a:spcPts val="2100"/>
              </a:lnSpc>
              <a:spcBef>
                <a:spcPts val="720"/>
              </a:spcBef>
            </a:pPr>
            <a:r>
              <a:rPr lang="fr-FR" sz="1050" spc="-285" dirty="0" smtClean="0">
                <a:solidFill>
                  <a:srgbClr val="E1001A"/>
                </a:solidFill>
                <a:latin typeface="Times New Roman"/>
                <a:cs typeface="Times New Roman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L’intégration </a:t>
            </a: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de données provenant d’organismes 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indépendants </a:t>
            </a: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(par ex,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entreprises</a:t>
            </a:r>
            <a:r>
              <a:rPr lang="fr-FR" spc="50" dirty="0" smtClean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indépendantes)</a:t>
            </a:r>
            <a:endParaRPr lang="fr-FR" dirty="0" smtClean="0">
              <a:latin typeface="Arial"/>
              <a:cs typeface="Arial"/>
            </a:endParaRPr>
          </a:p>
          <a:p>
            <a:pPr marL="368171" marR="198686" indent="-177737" algn="just">
              <a:lnSpc>
                <a:spcPct val="99500"/>
              </a:lnSpc>
              <a:spcBef>
                <a:spcPts val="590"/>
              </a:spcBef>
            </a:pPr>
            <a:r>
              <a:rPr lang="fr-FR" sz="1050" spc="-285" dirty="0" smtClean="0">
                <a:solidFill>
                  <a:srgbClr val="E1001A"/>
                </a:solidFill>
                <a:latin typeface="Times New Roman"/>
                <a:cs typeface="Times New Roman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L’intégration </a:t>
            </a: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de données provenant de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différentes  </a:t>
            </a: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branches d’un même organisme mais en laissant  plus de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liberté </a:t>
            </a: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à chaque</a:t>
            </a:r>
            <a:r>
              <a:rPr lang="fr-FR" spc="-15" dirty="0" smtClean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branche</a:t>
            </a:r>
            <a:endParaRPr lang="fr-FR" dirty="0" smtClean="0">
              <a:latin typeface="Arial"/>
              <a:cs typeface="Arial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B0503-FF0B-46F6-9FFF-2F7BE351F8F2}" type="slidenum">
              <a:rPr lang="fr-FR" smtClean="0">
                <a:solidFill>
                  <a:prstClr val="black"/>
                </a:solidFill>
              </a:rPr>
              <a:pPr/>
              <a:t>10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0.4+.6*10 car puisque </a:t>
            </a:r>
            <a:r>
              <a:rPr lang="fr-FR" dirty="0" err="1" smtClean="0"/>
              <a:t>laBD</a:t>
            </a:r>
            <a:r>
              <a:rPr lang="fr-FR" dirty="0" smtClean="0"/>
              <a:t> est à Paris</a:t>
            </a:r>
            <a:r>
              <a:rPr lang="fr-FR" baseline="0" dirty="0" smtClean="0"/>
              <a:t> toutes les requêtes locales ou externes de paris se feront au local et toutes les </a:t>
            </a:r>
            <a:r>
              <a:rPr lang="fr-FR" baseline="0" dirty="0" err="1" smtClean="0"/>
              <a:t>requetes</a:t>
            </a:r>
            <a:r>
              <a:rPr lang="fr-FR" baseline="0" dirty="0" smtClean="0"/>
              <a:t> de L/M se feront en réseau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B0503-FF0B-46F6-9FFF-2F7BE351F8F2}" type="slidenum">
              <a:rPr lang="fr-FR" smtClean="0">
                <a:solidFill>
                  <a:prstClr val="black"/>
                </a:solidFill>
              </a:rPr>
              <a:pPr/>
              <a:t>35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B0503-FF0B-46F6-9FFF-2F7BE351F8F2}" type="slidenum">
              <a:rPr lang="fr-FR" smtClean="0">
                <a:solidFill>
                  <a:prstClr val="black"/>
                </a:solidFill>
              </a:rPr>
              <a:pPr/>
              <a:t>40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9898E3D-1B02-486F-935A-F64BD680B581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45D2C73-C97D-4C7C-BA19-A46FB994032B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013E82B-C933-41EE-B5A4-E9ABF24024CE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FF9BC-9F04-4889-A787-B8E4B7A8AC26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097-A258-4344-B771-1AEE1102B425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F9F804F-2A78-4952-AB64-5E03DF1FA1A6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3196-1CF4-436B-AB50-05FD27F5D68D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CF6FB30-78A8-4201-83C5-7F2301961C3F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77A64FC-DFB5-43A4-BD33-1DCE08195108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19E2-AA11-44CA-A0A4-795691C2994B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D86F-5D40-4851-BA7C-840615730FB6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039" indent="0" algn="ctr">
              <a:buNone/>
            </a:lvl2pPr>
            <a:lvl3pPr marL="914079" indent="0" algn="ctr">
              <a:buNone/>
            </a:lvl3pPr>
            <a:lvl4pPr marL="1371119" indent="0" algn="ctr">
              <a:buNone/>
            </a:lvl4pPr>
            <a:lvl5pPr marL="1828159" indent="0" algn="ctr">
              <a:buNone/>
            </a:lvl5pPr>
            <a:lvl6pPr marL="2285199" indent="0" algn="ctr">
              <a:buNone/>
            </a:lvl6pPr>
            <a:lvl7pPr marL="2742237" indent="0" algn="ctr">
              <a:buNone/>
            </a:lvl7pPr>
            <a:lvl8pPr marL="3199278" indent="0" algn="ctr">
              <a:buNone/>
            </a:lvl8pPr>
            <a:lvl9pPr marL="3656316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AF756DC-CCFF-4E4D-A8AE-A4743F5682CA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72"/>
            <a:ext cx="3657600" cy="384048"/>
          </a:xfrm>
        </p:spPr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8203603-198A-40FC-A0D1-5F8F084D8393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0A1E488-E12F-48FE-878E-0324D7ED44FD}" type="datetime1">
              <a:rPr lang="fr-FR" smtClean="0">
                <a:solidFill>
                  <a:srgbClr val="DEDEDE"/>
                </a:solidFill>
              </a:rPr>
              <a:pPr/>
              <a:t>07/01/2021</a:t>
            </a:fld>
            <a:endParaRPr lang="fr-FR">
              <a:solidFill>
                <a:srgbClr val="DEDEDE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>
              <a:solidFill>
                <a:srgbClr val="DEDEDE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85E7-41C0-4BFE-ACFA-15BFF0FAEBDE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CA2B-100D-4ED2-9605-F22748312461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3661934-64DC-4B52-B79D-5F8FF8164235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0CFB-6085-492B-B426-303DDABDA1C8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1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B3B05E5-95AC-4A3D-8F49-808B76232033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07" tIns="45704" rIns="91407" bIns="45704" numCol="1" spcCol="274224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46108CB-1416-4628-9FA0-7C8F2B258434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96D1-BA09-404F-8462-B0144FA6C2DE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18DD-B89C-4144-B9C7-F853C81B342B}" type="datetime1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1"/>
            <a:ext cx="6172200" cy="1894363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3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039" indent="0" algn="ctr">
              <a:buNone/>
            </a:lvl2pPr>
            <a:lvl3pPr marL="914079" indent="0" algn="ctr">
              <a:buNone/>
            </a:lvl3pPr>
            <a:lvl4pPr marL="1371119" indent="0" algn="ctr">
              <a:buNone/>
            </a:lvl4pPr>
            <a:lvl5pPr marL="1828159" indent="0" algn="ctr">
              <a:buNone/>
            </a:lvl5pPr>
            <a:lvl6pPr marL="2285199" indent="0" algn="ctr">
              <a:buNone/>
            </a:lvl6pPr>
            <a:lvl7pPr marL="2742237" indent="0" algn="ctr">
              <a:buNone/>
            </a:lvl7pPr>
            <a:lvl8pPr marL="3199278" indent="0" algn="ctr">
              <a:buNone/>
            </a:lvl8pPr>
            <a:lvl9pPr marL="3656316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72"/>
            <a:ext cx="3657600" cy="384048"/>
          </a:xfrm>
        </p:spPr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3"/>
            <a:ext cx="609600" cy="517524"/>
          </a:xfrm>
        </p:spPr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7"/>
            <a:ext cx="6172200" cy="2053591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1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DEDEDE"/>
                </a:solidFill>
              </a:rPr>
              <a:pPr/>
              <a:t>07/01/2021</a:t>
            </a:fld>
            <a:endParaRPr lang="fr-FR">
              <a:solidFill>
                <a:srgbClr val="DEDEDE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>
              <a:solidFill>
                <a:srgbClr val="DEDEDE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3"/>
            <a:ext cx="609600" cy="517524"/>
          </a:xfrm>
        </p:spPr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1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1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07" tIns="45704" rIns="91407" bIns="45704" numCol="1" spcCol="274224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424456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E100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37" y="1202617"/>
            <a:ext cx="397700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marL="38087">
              <a:lnSpc>
                <a:spcPts val="1315"/>
              </a:lnSpc>
              <a:defRPr sz="11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600E16F-82C0-473E-8B05-F3DD3A88B99D}" type="datetime1">
              <a:rPr lang="fr-FR" smtClean="0"/>
              <a:pPr/>
              <a:t>07/01/2021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DB32C28-4521-438B-8142-142F194A0DD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91407" tIns="45704" rIns="91407" bIns="45704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 lIns="91407" tIns="45704" rIns="91407" bIns="45704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4"/>
            <a:ext cx="2011680" cy="384048"/>
          </a:xfrm>
          <a:prstGeom prst="rect">
            <a:avLst/>
          </a:prstGeom>
        </p:spPr>
        <p:txBody>
          <a:bodyPr vert="horz" lIns="91407" tIns="45704" rIns="91407" bIns="45704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defTabSz="914079"/>
            <a:fld id="{1569C4CF-5727-4EFB-A694-55F0BB42C5B1}" type="datetime1">
              <a:rPr lang="fr-FR" smtClean="0">
                <a:solidFill>
                  <a:srgbClr val="424456"/>
                </a:solidFill>
              </a:rPr>
              <a:pPr defTabSz="914079"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lIns="91407" tIns="45704" rIns="91407" bIns="45704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defTabSz="914079"/>
            <a:endParaRPr lang="fr-FR">
              <a:solidFill>
                <a:srgbClr val="424456"/>
              </a:solidFill>
            </a:endParaRPr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lIns="91407" tIns="45704" rIns="91407" bIns="45704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defTabSz="914079"/>
            <a:fld id="{F1AAE0E6-1385-44E0-8EAE-F204D7E7A5E9}" type="slidenum">
              <a:rPr lang="fr-FR" smtClean="0"/>
              <a:pPr defTabSz="914079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224" indent="-274224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856" indent="-274224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9" indent="-182816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303" indent="-182816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527" indent="-182816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6751" indent="-182816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0975" indent="-182816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5199" indent="-182816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59422" indent="-182816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9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1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9"/>
            <a:ext cx="7467600" cy="1143000"/>
          </a:xfrm>
          <a:prstGeom prst="rect">
            <a:avLst/>
          </a:prstGeom>
        </p:spPr>
        <p:txBody>
          <a:bodyPr vert="horz" lIns="91407" tIns="45704" rIns="91407" bIns="45704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 lIns="91407" tIns="45704" rIns="91407" bIns="45704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5"/>
            <a:ext cx="2011680" cy="384048"/>
          </a:xfrm>
          <a:prstGeom prst="rect">
            <a:avLst/>
          </a:prstGeom>
        </p:spPr>
        <p:txBody>
          <a:bodyPr vert="horz" lIns="91407" tIns="45704" rIns="91407" bIns="45704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defTabSz="914079"/>
            <a:fld id="{4601997D-5052-4267-80CF-114B26C705AC}" type="datetimeFigureOut">
              <a:rPr lang="fr-FR" smtClean="0">
                <a:solidFill>
                  <a:srgbClr val="424456"/>
                </a:solidFill>
              </a:rPr>
              <a:pPr defTabSz="914079"/>
              <a:t>07/01/2021</a:t>
            </a:fld>
            <a:endParaRPr lang="fr-FR">
              <a:solidFill>
                <a:srgbClr val="424456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lIns="91407" tIns="45704" rIns="91407" bIns="45704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defTabSz="914079"/>
            <a:endParaRPr lang="fr-FR">
              <a:solidFill>
                <a:srgbClr val="424456"/>
              </a:solidFill>
            </a:endParaRPr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7" tIns="45704" rIns="91407" bIns="45704" anchor="t" compatLnSpc="1"/>
          <a:lstStyle/>
          <a:p>
            <a:pPr defTabSz="914079"/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07" tIns="45704" rIns="91407" bIns="45704" anchor="ctr"/>
          <a:lstStyle/>
          <a:p>
            <a:pPr algn="ctr" defTabSz="9140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1"/>
            <a:ext cx="609600" cy="521208"/>
          </a:xfrm>
          <a:prstGeom prst="rect">
            <a:avLst/>
          </a:prstGeom>
        </p:spPr>
        <p:txBody>
          <a:bodyPr vert="horz" lIns="91407" tIns="45704" rIns="91407" bIns="45704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defTabSz="914079"/>
            <a:fld id="{F1AAE0E6-1385-44E0-8EAE-F204D7E7A5E9}" type="slidenum">
              <a:rPr lang="fr-FR" smtClean="0"/>
              <a:pPr defTabSz="914079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7" r:id="rId12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224" indent="-274224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856" indent="-274224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9" indent="-182816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303" indent="-182816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527" indent="-182816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6751" indent="-182816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0975" indent="-182816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5199" indent="-182816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59422" indent="-182816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9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1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9" Type="http://schemas.openxmlformats.org/officeDocument/2006/relationships/image" Target="../media/image63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34" Type="http://schemas.openxmlformats.org/officeDocument/2006/relationships/image" Target="../media/image58.png"/><Relationship Id="rId42" Type="http://schemas.openxmlformats.org/officeDocument/2006/relationships/image" Target="../media/image66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41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37" Type="http://schemas.openxmlformats.org/officeDocument/2006/relationships/image" Target="../media/image61.png"/><Relationship Id="rId40" Type="http://schemas.openxmlformats.org/officeDocument/2006/relationships/image" Target="../media/image64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36" Type="http://schemas.openxmlformats.org/officeDocument/2006/relationships/image" Target="../media/image60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31" Type="http://schemas.openxmlformats.org/officeDocument/2006/relationships/image" Target="../media/image55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0.png"/><Relationship Id="rId3" Type="http://schemas.openxmlformats.org/officeDocument/2006/relationships/image" Target="../media/image69.png"/><Relationship Id="rId21" Type="http://schemas.openxmlformats.org/officeDocument/2006/relationships/image" Target="../media/image86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89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2.png"/><Relationship Id="rId20" Type="http://schemas.openxmlformats.org/officeDocument/2006/relationships/image" Target="../media/image36.png"/><Relationship Id="rId29" Type="http://schemas.openxmlformats.org/officeDocument/2006/relationships/image" Target="../media/image93.png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88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32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0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0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195736" y="1124744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Chapitre1:</a:t>
            </a:r>
            <a:br>
              <a:rPr lang="fr-FR" dirty="0" smtClean="0"/>
            </a:br>
            <a:r>
              <a:rPr lang="fr-FR" dirty="0" smtClean="0"/>
              <a:t>Environnement </a:t>
            </a:r>
            <a:r>
              <a:rPr lang="fr-FR" smtClean="0"/>
              <a:t>distribué: concepts </a:t>
            </a:r>
            <a:r>
              <a:rPr lang="fr-FR" dirty="0" smtClean="0"/>
              <a:t>de base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75656" y="6089848"/>
            <a:ext cx="6172200" cy="1371600"/>
          </a:xfrm>
        </p:spPr>
        <p:txBody>
          <a:bodyPr/>
          <a:lstStyle/>
          <a:p>
            <a:pPr algn="ctr"/>
            <a:r>
              <a:rPr lang="fr-FR" dirty="0" smtClean="0"/>
              <a:t>MDPS2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7288" y="315214"/>
            <a:ext cx="57232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3000" spc="-5" dirty="0" smtClean="0"/>
              <a:t>Contexte et Motivations</a:t>
            </a:r>
            <a:endParaRPr sz="3000" dirty="0"/>
          </a:p>
        </p:txBody>
      </p:sp>
      <p:sp>
        <p:nvSpPr>
          <p:cNvPr id="5" name="object 5"/>
          <p:cNvSpPr txBox="1"/>
          <p:nvPr/>
        </p:nvSpPr>
        <p:spPr>
          <a:xfrm>
            <a:off x="251520" y="1094994"/>
            <a:ext cx="8284532" cy="500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 defTabSz="914079">
              <a:lnSpc>
                <a:spcPts val="2965"/>
              </a:lnSpc>
              <a:spcBef>
                <a:spcPts val="105"/>
              </a:spcBef>
              <a:buClr>
                <a:schemeClr val="accent1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lang="fr-FR" sz="2000" u="sng" spc="-5" dirty="0">
                <a:solidFill>
                  <a:prstClr val="black"/>
                </a:solidFill>
                <a:cs typeface="Century Schoolbook"/>
              </a:rPr>
              <a:t>Scénario1</a:t>
            </a:r>
            <a:r>
              <a:rPr lang="fr-FR" sz="2000" u="sng" spc="-5" dirty="0" smtClean="0">
                <a:solidFill>
                  <a:prstClr val="black"/>
                </a:solidFill>
                <a:cs typeface="Century Schoolbook"/>
              </a:rPr>
              <a:t>: </a:t>
            </a:r>
            <a:r>
              <a:rPr sz="2000" spc="-5" dirty="0" err="1">
                <a:solidFill>
                  <a:prstClr val="black"/>
                </a:solidFill>
                <a:cs typeface="Century Schoolbook"/>
              </a:rPr>
              <a:t>L’entreprise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qui se développe et souhaite</a:t>
            </a:r>
            <a:r>
              <a:rPr sz="2000" spc="-8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ouvrir</a:t>
            </a:r>
            <a:endParaRPr sz="2000" dirty="0">
              <a:solidFill>
                <a:prstClr val="black"/>
              </a:solidFill>
              <a:cs typeface="Century Schoolbook"/>
            </a:endParaRPr>
          </a:p>
          <a:p>
            <a:pPr marL="286385" defTabSz="914079">
              <a:lnSpc>
                <a:spcPts val="2965"/>
              </a:lnSpc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des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filiales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à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travers </a:t>
            </a:r>
            <a:r>
              <a:rPr sz="2000" spc="-10" dirty="0">
                <a:solidFill>
                  <a:prstClr val="black"/>
                </a:solidFill>
                <a:cs typeface="Century Schoolbook"/>
              </a:rPr>
              <a:t>le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 monde</a:t>
            </a:r>
          </a:p>
          <a:p>
            <a:pPr marL="377825" defTabSz="914079">
              <a:lnSpc>
                <a:spcPts val="2635"/>
              </a:lnSpc>
              <a:spcBef>
                <a:spcPts val="260"/>
              </a:spcBef>
            </a:pPr>
            <a:r>
              <a:rPr dirty="0">
                <a:solidFill>
                  <a:prstClr val="black"/>
                </a:solidFill>
                <a:latin typeface="Wingdings"/>
                <a:cs typeface="Wingdings"/>
              </a:rPr>
              <a:t></a:t>
            </a:r>
            <a:r>
              <a:rPr dirty="0">
                <a:solidFill>
                  <a:prstClr val="black"/>
                </a:solidFill>
                <a:cs typeface="Century Schoolbook"/>
              </a:rPr>
              <a:t>Cas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de données </a:t>
            </a:r>
            <a:r>
              <a:rPr dirty="0">
                <a:solidFill>
                  <a:prstClr val="black"/>
                </a:solidFill>
                <a:cs typeface="Century Schoolbook"/>
              </a:rPr>
              <a:t>jusqu’alors centralisées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doivent</a:t>
            </a:r>
            <a:r>
              <a:rPr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être</a:t>
            </a:r>
          </a:p>
          <a:p>
            <a:pPr marL="377825" defTabSz="914079">
              <a:lnSpc>
                <a:spcPts val="26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réparties sur différents</a:t>
            </a:r>
            <a:r>
              <a:rPr spc="-2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sites</a:t>
            </a:r>
          </a:p>
          <a:p>
            <a:pPr marL="652780" lvl="1" indent="-275590" defTabSz="914079">
              <a:lnSpc>
                <a:spcPts val="2510"/>
              </a:lnSpc>
              <a:spcBef>
                <a:spcPts val="259"/>
              </a:spcBef>
              <a:buClr>
                <a:schemeClr val="accent1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Comment découper logiquement </a:t>
            </a:r>
            <a:r>
              <a:rPr spc="-10" dirty="0">
                <a:solidFill>
                  <a:prstClr val="black"/>
                </a:solidFill>
                <a:cs typeface="Century Schoolbook"/>
              </a:rPr>
              <a:t>ma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base pour répartir</a:t>
            </a:r>
            <a:endParaRPr dirty="0">
              <a:solidFill>
                <a:prstClr val="black"/>
              </a:solidFill>
              <a:cs typeface="Century Schoolbook"/>
            </a:endParaRPr>
          </a:p>
          <a:p>
            <a:pPr marL="652780" defTabSz="914079">
              <a:lnSpc>
                <a:spcPts val="2510"/>
              </a:lnSpc>
              <a:buClr>
                <a:schemeClr val="accent1"/>
              </a:buClr>
            </a:pPr>
            <a:r>
              <a:rPr dirty="0">
                <a:solidFill>
                  <a:prstClr val="black"/>
                </a:solidFill>
                <a:cs typeface="Century Schoolbook"/>
              </a:rPr>
              <a:t>les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n-uplets sur </a:t>
            </a:r>
            <a:r>
              <a:rPr dirty="0">
                <a:solidFill>
                  <a:prstClr val="black"/>
                </a:solidFill>
                <a:cs typeface="Century Schoolbook"/>
              </a:rPr>
              <a:t>les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différents</a:t>
            </a:r>
            <a:r>
              <a:rPr spc="-3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sites</a:t>
            </a:r>
            <a:r>
              <a:rPr dirty="0" smtClean="0">
                <a:solidFill>
                  <a:prstClr val="black"/>
                </a:solidFill>
                <a:cs typeface="Century Schoolbook"/>
              </a:rPr>
              <a:t>?</a:t>
            </a:r>
            <a:endParaRPr lang="fr-FR" dirty="0" smtClean="0">
              <a:solidFill>
                <a:prstClr val="black"/>
              </a:solidFill>
              <a:cs typeface="Century Schoolbook"/>
            </a:endParaRPr>
          </a:p>
          <a:p>
            <a:pPr marL="286385" marR="164465" indent="-274320" algn="just" defTabSz="914079">
              <a:lnSpc>
                <a:spcPts val="2810"/>
              </a:lnSpc>
              <a:spcBef>
                <a:spcPts val="455"/>
              </a:spcBef>
              <a:buClr>
                <a:schemeClr val="accent1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lang="fr-FR" sz="2000" u="sng" spc="-5" dirty="0">
                <a:solidFill>
                  <a:prstClr val="black"/>
                </a:solidFill>
                <a:cs typeface="Century Schoolbook"/>
              </a:rPr>
              <a:t>Scénario2: </a:t>
            </a:r>
            <a:r>
              <a:rPr lang="fr-FR" sz="2000" spc="-5" dirty="0">
                <a:solidFill>
                  <a:prstClr val="black"/>
                </a:solidFill>
                <a:cs typeface="Century Schoolbook"/>
              </a:rPr>
              <a:t>L’entreprise </a:t>
            </a:r>
            <a:r>
              <a:rPr lang="fr-FR" sz="2000" dirty="0">
                <a:solidFill>
                  <a:prstClr val="black"/>
                </a:solidFill>
                <a:cs typeface="Century Schoolbook"/>
              </a:rPr>
              <a:t>A qui rachète l’entreprise B et </a:t>
            </a:r>
            <a:r>
              <a:rPr lang="fr-FR" sz="2000" spc="-5" dirty="0">
                <a:solidFill>
                  <a:prstClr val="black"/>
                </a:solidFill>
                <a:cs typeface="Century Schoolbook"/>
              </a:rPr>
              <a:t>qui  </a:t>
            </a:r>
            <a:r>
              <a:rPr lang="fr-FR" sz="2000" dirty="0">
                <a:solidFill>
                  <a:prstClr val="black"/>
                </a:solidFill>
                <a:cs typeface="Century Schoolbook"/>
              </a:rPr>
              <a:t>souhaite faire </a:t>
            </a:r>
            <a:r>
              <a:rPr lang="fr-FR" sz="2000" spc="-5" dirty="0">
                <a:solidFill>
                  <a:prstClr val="black"/>
                </a:solidFill>
                <a:cs typeface="Century Schoolbook"/>
              </a:rPr>
              <a:t>du </a:t>
            </a:r>
            <a:r>
              <a:rPr lang="fr-FR" sz="2000" i="1" spc="-5" dirty="0" err="1">
                <a:solidFill>
                  <a:prstClr val="black"/>
                </a:solidFill>
                <a:cs typeface="Century Schoolbook"/>
              </a:rPr>
              <a:t>reporting</a:t>
            </a:r>
            <a:r>
              <a:rPr lang="fr-FR" sz="2000" i="1" spc="-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lang="fr-FR" sz="2000" dirty="0">
                <a:solidFill>
                  <a:prstClr val="black"/>
                </a:solidFill>
                <a:cs typeface="Century Schoolbook"/>
              </a:rPr>
              <a:t>basé sur l’ensemble  des données du</a:t>
            </a:r>
            <a:r>
              <a:rPr lang="fr-FR" sz="2000" spc="-9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lang="fr-FR" sz="2000" dirty="0">
                <a:solidFill>
                  <a:prstClr val="black"/>
                </a:solidFill>
                <a:cs typeface="Century Schoolbook"/>
              </a:rPr>
              <a:t>groupe.</a:t>
            </a:r>
          </a:p>
          <a:p>
            <a:pPr marL="377825" defTabSz="914079">
              <a:lnSpc>
                <a:spcPts val="2635"/>
              </a:lnSpc>
              <a:spcBef>
                <a:spcPts val="220"/>
              </a:spcBef>
              <a:buClr>
                <a:schemeClr val="accent1"/>
              </a:buClr>
            </a:pPr>
            <a:r>
              <a:rPr lang="fr-FR" dirty="0">
                <a:solidFill>
                  <a:prstClr val="black"/>
                </a:solidFill>
                <a:latin typeface="Wingdings"/>
                <a:cs typeface="Wingdings"/>
              </a:rPr>
              <a:t></a:t>
            </a:r>
            <a:r>
              <a:rPr lang="fr-FR" dirty="0">
                <a:solidFill>
                  <a:prstClr val="black"/>
                </a:solidFill>
                <a:cs typeface="Century Schoolbook"/>
              </a:rPr>
              <a:t>Cas </a:t>
            </a:r>
            <a:r>
              <a:rPr lang="fr-FR" spc="-5" dirty="0">
                <a:solidFill>
                  <a:prstClr val="black"/>
                </a:solidFill>
                <a:cs typeface="Century Schoolbook"/>
              </a:rPr>
              <a:t>des données </a:t>
            </a:r>
            <a:r>
              <a:rPr lang="fr-FR" dirty="0">
                <a:solidFill>
                  <a:prstClr val="black"/>
                </a:solidFill>
                <a:cs typeface="Century Schoolbook"/>
              </a:rPr>
              <a:t>réparties sur différents </a:t>
            </a:r>
            <a:r>
              <a:rPr lang="fr-FR" spc="-5" dirty="0">
                <a:solidFill>
                  <a:prstClr val="black"/>
                </a:solidFill>
                <a:cs typeface="Century Schoolbook"/>
              </a:rPr>
              <a:t>sites</a:t>
            </a:r>
            <a:r>
              <a:rPr lang="fr-FR"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lang="fr-FR" spc="-5" dirty="0">
                <a:solidFill>
                  <a:prstClr val="black"/>
                </a:solidFill>
                <a:cs typeface="Century Schoolbook"/>
              </a:rPr>
              <a:t>qui</a:t>
            </a:r>
            <a:endParaRPr lang="fr-FR" dirty="0">
              <a:solidFill>
                <a:prstClr val="black"/>
              </a:solidFill>
              <a:cs typeface="Century Schoolbook"/>
            </a:endParaRPr>
          </a:p>
          <a:p>
            <a:pPr marL="377825" defTabSz="914079">
              <a:lnSpc>
                <a:spcPts val="2635"/>
              </a:lnSpc>
              <a:buClr>
                <a:schemeClr val="accent1"/>
              </a:buClr>
            </a:pPr>
            <a:r>
              <a:rPr lang="fr-FR" spc="-5" dirty="0">
                <a:solidFill>
                  <a:prstClr val="black"/>
                </a:solidFill>
                <a:cs typeface="Century Schoolbook"/>
              </a:rPr>
              <a:t>doivent </a:t>
            </a:r>
            <a:r>
              <a:rPr lang="fr-FR" dirty="0">
                <a:solidFill>
                  <a:prstClr val="black"/>
                </a:solidFill>
                <a:cs typeface="Century Schoolbook"/>
              </a:rPr>
              <a:t>être </a:t>
            </a:r>
            <a:r>
              <a:rPr lang="fr-FR" spc="-5" dirty="0">
                <a:solidFill>
                  <a:prstClr val="black"/>
                </a:solidFill>
                <a:cs typeface="Century Schoolbook"/>
              </a:rPr>
              <a:t>interrogeables depuis n’importe quel</a:t>
            </a:r>
            <a:r>
              <a:rPr lang="fr-FR" spc="4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lang="fr-FR" dirty="0">
                <a:solidFill>
                  <a:prstClr val="black"/>
                </a:solidFill>
                <a:cs typeface="Century Schoolbook"/>
              </a:rPr>
              <a:t>site</a:t>
            </a:r>
          </a:p>
          <a:p>
            <a:pPr marL="730250" lvl="1" indent="-353060" defTabSz="914079">
              <a:lnSpc>
                <a:spcPts val="2510"/>
              </a:lnSpc>
              <a:spcBef>
                <a:spcPts val="254"/>
              </a:spcBef>
              <a:buClr>
                <a:schemeClr val="accent1"/>
              </a:buClr>
              <a:buSzPct val="79545"/>
              <a:buFont typeface="Wingdings 2"/>
              <a:buChar char=""/>
              <a:tabLst>
                <a:tab pos="730250" algn="l"/>
                <a:tab pos="730885" algn="l"/>
              </a:tabLst>
            </a:pPr>
            <a:r>
              <a:rPr lang="fr-FR" spc="-5" dirty="0">
                <a:solidFill>
                  <a:prstClr val="black"/>
                </a:solidFill>
                <a:cs typeface="Century Schoolbook"/>
              </a:rPr>
              <a:t>Comment offrir à l’utilisateur un moyen</a:t>
            </a:r>
            <a:r>
              <a:rPr lang="fr-FR" spc="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lang="fr-FR" spc="-10" dirty="0">
                <a:solidFill>
                  <a:prstClr val="black"/>
                </a:solidFill>
                <a:cs typeface="Century Schoolbook"/>
              </a:rPr>
              <a:t>d’accès</a:t>
            </a:r>
            <a:endParaRPr lang="fr-FR" dirty="0">
              <a:solidFill>
                <a:prstClr val="black"/>
              </a:solidFill>
              <a:cs typeface="Century Schoolbook"/>
            </a:endParaRPr>
          </a:p>
          <a:p>
            <a:pPr marL="652780" defTabSz="914079">
              <a:lnSpc>
                <a:spcPts val="2510"/>
              </a:lnSpc>
              <a:buClr>
                <a:schemeClr val="accent1"/>
              </a:buClr>
            </a:pPr>
            <a:r>
              <a:rPr lang="fr-FR" spc="-5" dirty="0">
                <a:solidFill>
                  <a:prstClr val="black"/>
                </a:solidFill>
                <a:cs typeface="Century Schoolbook"/>
              </a:rPr>
              <a:t>transparents à </a:t>
            </a:r>
            <a:r>
              <a:rPr lang="fr-FR" spc="-10" dirty="0">
                <a:solidFill>
                  <a:prstClr val="black"/>
                </a:solidFill>
                <a:cs typeface="Century Schoolbook"/>
              </a:rPr>
              <a:t>toutes </a:t>
            </a:r>
            <a:r>
              <a:rPr lang="fr-FR" spc="-5" dirty="0">
                <a:solidFill>
                  <a:prstClr val="black"/>
                </a:solidFill>
                <a:cs typeface="Century Schoolbook"/>
              </a:rPr>
              <a:t>ces données</a:t>
            </a:r>
            <a:r>
              <a:rPr lang="fr-FR" spc="1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lang="fr-FR" spc="-5" dirty="0">
                <a:solidFill>
                  <a:prstClr val="black"/>
                </a:solidFill>
                <a:cs typeface="Century Schoolbook"/>
              </a:rPr>
              <a:t>?</a:t>
            </a:r>
            <a:endParaRPr lang="fr-FR" dirty="0">
              <a:solidFill>
                <a:prstClr val="black"/>
              </a:solidFill>
              <a:cs typeface="Century Schoolbook"/>
            </a:endParaRPr>
          </a:p>
          <a:p>
            <a:pPr marL="652780" defTabSz="914079">
              <a:lnSpc>
                <a:spcPts val="2510"/>
              </a:lnSpc>
              <a:buClr>
                <a:schemeClr val="accent1"/>
              </a:buClr>
            </a:pPr>
            <a:endParaRPr sz="2200" dirty="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7288" y="315214"/>
            <a:ext cx="57232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5" dirty="0" smtClean="0"/>
              <a:t>Contexte et Motivations</a:t>
            </a:r>
            <a:endParaRPr sz="3000"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094995"/>
            <a:ext cx="7846059" cy="39825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337185" indent="-274320" defTabSz="914079">
              <a:lnSpc>
                <a:spcPct val="90000"/>
              </a:lnSpc>
              <a:spcBef>
                <a:spcPts val="415"/>
              </a:spcBef>
              <a:buClr>
                <a:schemeClr val="accent1"/>
              </a:buClr>
              <a:buSzPct val="69230"/>
              <a:buFont typeface="Wingdings"/>
              <a:buChar char=""/>
              <a:tabLst>
                <a:tab pos="287020" algn="l"/>
                <a:tab pos="5400675" algn="l"/>
              </a:tabLst>
            </a:pPr>
            <a:r>
              <a:rPr lang="fr-FR" sz="2000" u="sng" spc="-5" dirty="0">
                <a:solidFill>
                  <a:prstClr val="black"/>
                </a:solidFill>
                <a:cs typeface="Century Schoolbook"/>
              </a:rPr>
              <a:t>Scénario3: </a:t>
            </a:r>
            <a:r>
              <a:rPr sz="2000" spc="-5" dirty="0" err="1">
                <a:solidFill>
                  <a:prstClr val="black"/>
                </a:solidFill>
                <a:cs typeface="Century Schoolbook"/>
              </a:rPr>
              <a:t>L’entreprise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qui voit la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quantité de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ses données  croitre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</a:t>
            </a:r>
            <a:r>
              <a:rPr sz="2000" spc="-1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 err="1">
                <a:solidFill>
                  <a:prstClr val="black"/>
                </a:solidFill>
                <a:cs typeface="Century Schoolbook"/>
              </a:rPr>
              <a:t>manière</a:t>
            </a:r>
            <a:r>
              <a:rPr sz="2000" spc="-1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 err="1" smtClean="0">
                <a:solidFill>
                  <a:prstClr val="black"/>
                </a:solidFill>
                <a:cs typeface="Century Schoolbook"/>
              </a:rPr>
              <a:t>exponentielle</a:t>
            </a:r>
            <a:r>
              <a:rPr lang="fr-FR" sz="2000" dirty="0" smtClean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 smtClean="0">
                <a:solidFill>
                  <a:prstClr val="black"/>
                </a:solidFill>
                <a:cs typeface="Century Schoolbook"/>
              </a:rPr>
              <a:t>avec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des  latences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plus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en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plus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importantes dans 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l’interrogation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des</a:t>
            </a:r>
            <a:r>
              <a:rPr sz="2000" spc="-3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 err="1" smtClean="0">
                <a:solidFill>
                  <a:prstClr val="black"/>
                </a:solidFill>
                <a:cs typeface="Century Schoolbook"/>
              </a:rPr>
              <a:t>données</a:t>
            </a:r>
            <a:endParaRPr lang="fr-FR" sz="2000" dirty="0" smtClean="0">
              <a:solidFill>
                <a:prstClr val="black"/>
              </a:solidFill>
              <a:cs typeface="Century Schoolbook"/>
            </a:endParaRPr>
          </a:p>
          <a:p>
            <a:pPr marL="286385" marR="337185" indent="-274320" defTabSz="914079">
              <a:lnSpc>
                <a:spcPct val="90000"/>
              </a:lnSpc>
              <a:spcBef>
                <a:spcPts val="415"/>
              </a:spcBef>
              <a:buClr>
                <a:schemeClr val="accent1"/>
              </a:buClr>
              <a:buSzPct val="69230"/>
              <a:buFont typeface="Wingdings"/>
              <a:buChar char=""/>
              <a:tabLst>
                <a:tab pos="287020" algn="l"/>
                <a:tab pos="5400675" algn="l"/>
              </a:tabLst>
            </a:pPr>
            <a:endParaRPr sz="2000" dirty="0">
              <a:solidFill>
                <a:prstClr val="black"/>
              </a:solidFill>
              <a:cs typeface="Century Schoolbook"/>
            </a:endParaRPr>
          </a:p>
          <a:p>
            <a:pPr marL="377825" defTabSz="914079">
              <a:lnSpc>
                <a:spcPts val="2290"/>
              </a:lnSpc>
              <a:spcBef>
                <a:spcPts val="229"/>
              </a:spcBef>
              <a:buClr>
                <a:schemeClr val="accent1"/>
              </a:buClr>
            </a:pPr>
            <a:r>
              <a:rPr sz="1600" dirty="0">
                <a:solidFill>
                  <a:prstClr val="black"/>
                </a:solidFill>
                <a:latin typeface="Wingdings"/>
                <a:cs typeface="Wingdings"/>
              </a:rPr>
              <a:t></a:t>
            </a:r>
            <a:r>
              <a:rPr sz="1600" dirty="0">
                <a:solidFill>
                  <a:prstClr val="black"/>
                </a:solidFill>
                <a:cs typeface="Century Schoolbook"/>
              </a:rPr>
              <a:t>Cas </a:t>
            </a:r>
            <a:r>
              <a:rPr sz="1600" spc="-5" dirty="0">
                <a:solidFill>
                  <a:prstClr val="black"/>
                </a:solidFill>
                <a:cs typeface="Century Schoolbook"/>
              </a:rPr>
              <a:t>de traitement de masse de </a:t>
            </a:r>
            <a:r>
              <a:rPr sz="1600" dirty="0">
                <a:solidFill>
                  <a:prstClr val="black"/>
                </a:solidFill>
                <a:cs typeface="Century Schoolbook"/>
              </a:rPr>
              <a:t>données épuisant</a:t>
            </a:r>
            <a:r>
              <a:rPr sz="1600" spc="-12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600" dirty="0">
                <a:solidFill>
                  <a:prstClr val="black"/>
                </a:solidFill>
                <a:cs typeface="Century Schoolbook"/>
              </a:rPr>
              <a:t>les</a:t>
            </a:r>
          </a:p>
          <a:p>
            <a:pPr marL="377825" defTabSz="914079">
              <a:lnSpc>
                <a:spcPts val="2290"/>
              </a:lnSpc>
              <a:buClr>
                <a:schemeClr val="accent1"/>
              </a:buClr>
            </a:pPr>
            <a:r>
              <a:rPr sz="1600" dirty="0">
                <a:solidFill>
                  <a:prstClr val="black"/>
                </a:solidFill>
                <a:cs typeface="Century Schoolbook"/>
              </a:rPr>
              <a:t>ressources du</a:t>
            </a:r>
            <a:r>
              <a:rPr sz="1600" spc="-3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600" dirty="0">
                <a:solidFill>
                  <a:prstClr val="black"/>
                </a:solidFill>
                <a:cs typeface="Century Schoolbook"/>
              </a:rPr>
              <a:t>serveur</a:t>
            </a:r>
          </a:p>
          <a:p>
            <a:pPr marL="652780" marR="63500" lvl="1" indent="-274955" defTabSz="914079">
              <a:lnSpc>
                <a:spcPts val="2380"/>
              </a:lnSpc>
              <a:spcBef>
                <a:spcPts val="550"/>
              </a:spcBef>
              <a:buClr>
                <a:schemeClr val="accent1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Comment </a:t>
            </a:r>
            <a:r>
              <a:rPr spc="-10" dirty="0">
                <a:solidFill>
                  <a:prstClr val="black"/>
                </a:solidFill>
                <a:cs typeface="Century Schoolbook"/>
              </a:rPr>
              <a:t>garantir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un </a:t>
            </a:r>
            <a:r>
              <a:rPr spc="-10" dirty="0">
                <a:solidFill>
                  <a:prstClr val="black"/>
                </a:solidFill>
                <a:cs typeface="Century Schoolbook"/>
              </a:rPr>
              <a:t>temps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de traitement satisfaisant  malgré </a:t>
            </a:r>
            <a:r>
              <a:rPr dirty="0">
                <a:solidFill>
                  <a:prstClr val="black"/>
                </a:solidFill>
                <a:cs typeface="Century Schoolbook"/>
              </a:rPr>
              <a:t>la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quantité croissante de </a:t>
            </a:r>
            <a:r>
              <a:rPr spc="-5" dirty="0" err="1" smtClean="0">
                <a:solidFill>
                  <a:prstClr val="black"/>
                </a:solidFill>
                <a:cs typeface="Century Schoolbook"/>
              </a:rPr>
              <a:t>données</a:t>
            </a:r>
            <a:r>
              <a:rPr spc="-5" dirty="0" smtClean="0">
                <a:solidFill>
                  <a:prstClr val="black"/>
                </a:solidFill>
                <a:cs typeface="Century Schoolbook"/>
              </a:rPr>
              <a:t>?</a:t>
            </a:r>
            <a:endParaRPr lang="fr-FR" spc="-5" dirty="0">
              <a:solidFill>
                <a:prstClr val="black"/>
              </a:solidFill>
              <a:cs typeface="Century Schoolbook"/>
            </a:endParaRPr>
          </a:p>
          <a:p>
            <a:pPr marL="652780" marR="63500" lvl="1" indent="-274955" defTabSz="914079">
              <a:lnSpc>
                <a:spcPts val="2380"/>
              </a:lnSpc>
              <a:spcBef>
                <a:spcPts val="550"/>
              </a:spcBef>
              <a:buClr>
                <a:schemeClr val="accent1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endParaRPr lang="fr-FR" spc="-5" dirty="0">
              <a:solidFill>
                <a:prstClr val="black"/>
              </a:solidFill>
              <a:cs typeface="Century Schoolbook"/>
            </a:endParaRPr>
          </a:p>
          <a:p>
            <a:pPr marL="652780" marR="63500" lvl="1" indent="-274955" defTabSz="914079">
              <a:lnSpc>
                <a:spcPts val="2380"/>
              </a:lnSpc>
              <a:spcBef>
                <a:spcPts val="550"/>
              </a:spcBef>
              <a:buClr>
                <a:schemeClr val="accent1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endParaRPr lang="fr-FR" spc="-5" dirty="0">
              <a:solidFill>
                <a:prstClr val="black"/>
              </a:solidFill>
              <a:cs typeface="Century Schoolbook"/>
            </a:endParaRPr>
          </a:p>
          <a:p>
            <a:pPr marL="652780" marR="63500" lvl="1" indent="-274955" defTabSz="914079">
              <a:lnSpc>
                <a:spcPts val="2380"/>
              </a:lnSpc>
              <a:spcBef>
                <a:spcPts val="550"/>
              </a:spcBef>
              <a:buClr>
                <a:schemeClr val="accent1"/>
              </a:buClr>
              <a:buSzPct val="79545"/>
              <a:buFont typeface="Wingdings 2"/>
              <a:buChar char=""/>
              <a:tabLst>
                <a:tab pos="652780" algn="l"/>
                <a:tab pos="653415" algn="l"/>
              </a:tabLst>
            </a:pPr>
            <a:endParaRPr dirty="0">
              <a:solidFill>
                <a:prstClr val="black"/>
              </a:solidFill>
              <a:cs typeface="Century Schoolbook"/>
            </a:endParaRPr>
          </a:p>
          <a:p>
            <a:pPr marL="457039" lvl="1" defTabSz="914079">
              <a:spcBef>
                <a:spcPts val="45"/>
              </a:spcBef>
              <a:buClr>
                <a:schemeClr val="accent1"/>
              </a:buClr>
              <a:buFont typeface="Wingdings 2"/>
              <a:buChar char=""/>
            </a:pP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1115616" y="5013176"/>
            <a:ext cx="86409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79"/>
            <a:endParaRPr lang="fr-FR">
              <a:solidFill>
                <a:prstClr val="white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555776" y="4849996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79"/>
            <a:r>
              <a:rPr lang="fr-FR" sz="2800" dirty="0" smtClean="0">
                <a:solidFill>
                  <a:prstClr val="black"/>
                </a:solidFill>
              </a:rPr>
              <a:t>BD </a:t>
            </a:r>
            <a:r>
              <a:rPr lang="fr-FR" sz="2800" dirty="0">
                <a:solidFill>
                  <a:prstClr val="black"/>
                </a:solidFill>
              </a:rPr>
              <a:t>Distribuées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467600" cy="1143000"/>
          </a:xfrm>
        </p:spPr>
        <p:txBody>
          <a:bodyPr/>
          <a:lstStyle/>
          <a:p>
            <a:r>
              <a:rPr lang="fr-FR" b="1" dirty="0" smtClean="0"/>
              <a:t>Définitions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19256" cy="4873752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 smtClean="0"/>
              <a:t>Base de </a:t>
            </a:r>
            <a:r>
              <a:rPr lang="es-ES" b="1" dirty="0" err="1" smtClean="0"/>
              <a:t>données</a:t>
            </a:r>
            <a:r>
              <a:rPr lang="es-ES" b="1" dirty="0" smtClean="0"/>
              <a:t>  </a:t>
            </a:r>
            <a:r>
              <a:rPr lang="es-ES" b="1" dirty="0" err="1" smtClean="0"/>
              <a:t>distribuée</a:t>
            </a:r>
            <a:r>
              <a:rPr lang="es-ES" b="1" dirty="0" smtClean="0"/>
              <a:t> (DDB) :</a:t>
            </a:r>
          </a:p>
          <a:p>
            <a:r>
              <a:rPr lang="fr-FR" dirty="0" smtClean="0"/>
              <a:t>Collection de BD logiquement </a:t>
            </a:r>
            <a:r>
              <a:rPr lang="fr-FR" i="1" dirty="0" smtClean="0"/>
              <a:t>reliées et physiquement distribuées sur un réseau</a:t>
            </a:r>
          </a:p>
          <a:p>
            <a:r>
              <a:rPr lang="fr-FR" dirty="0" smtClean="0"/>
              <a:t>une grande quantité de données  résidant sur plusieurs machines</a:t>
            </a:r>
          </a:p>
          <a:p>
            <a:r>
              <a:rPr lang="fr-FR" b="1" dirty="0" smtClean="0"/>
              <a:t>SGBD Distribué :</a:t>
            </a:r>
          </a:p>
          <a:p>
            <a:r>
              <a:rPr lang="fr-FR" dirty="0" smtClean="0"/>
              <a:t>Système logiciel de gestion rendant les applications insensibles à la distribution des données </a:t>
            </a:r>
          </a:p>
          <a:p>
            <a:r>
              <a:rPr lang="fr-FR" dirty="0" smtClean="0"/>
              <a:t>Permettant  d’avoir un point d’entrée unique  sur une base de données distribuées (TRANSPARENCE)</a:t>
            </a:r>
          </a:p>
          <a:p>
            <a:r>
              <a:rPr lang="fr-FR" i="1" dirty="0" smtClean="0"/>
              <a:t>Base de données distribuée N’EST PAS :</a:t>
            </a:r>
          </a:p>
          <a:p>
            <a:pPr>
              <a:buNone/>
            </a:pPr>
            <a:r>
              <a:rPr lang="fr-FR" b="1" dirty="0" smtClean="0"/>
              <a:t>	– Fichiers indépendants sur des sites différents,</a:t>
            </a:r>
          </a:p>
          <a:p>
            <a:pPr>
              <a:buNone/>
            </a:pPr>
            <a:r>
              <a:rPr lang="fr-FR" b="1" dirty="0" smtClean="0"/>
              <a:t>	– Base centralisée accessible par différentes applications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3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38" y="353797"/>
            <a:ext cx="613029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9070" algn="l"/>
              </a:tabLst>
            </a:pPr>
            <a:r>
              <a:rPr lang="fr-FR" spc="-5" dirty="0" smtClean="0"/>
              <a:t>Evolution des SI</a:t>
            </a:r>
            <a:endParaRPr spc="-5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5"/>
          </p:nvPr>
        </p:nvSpPr>
        <p:spPr>
          <a:xfrm>
            <a:off x="486625" y="6578557"/>
            <a:ext cx="23177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pPr marL="38100">
                <a:lnSpc>
                  <a:spcPts val="1315"/>
                </a:lnSpc>
              </a:pPr>
              <a:t>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247907" y="1682412"/>
            <a:ext cx="5260197" cy="49192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defTabSz="914079">
              <a:spcBef>
                <a:spcPts val="700"/>
              </a:spcBef>
            </a:pPr>
            <a:r>
              <a:rPr lang="fr-FR" sz="1600" b="1" dirty="0" err="1" smtClean="0">
                <a:solidFill>
                  <a:srgbClr val="4C4C4C"/>
                </a:solidFill>
                <a:latin typeface="+mj-lt"/>
                <a:cs typeface="Arial"/>
              </a:rPr>
              <a:t>MainFrame</a:t>
            </a:r>
            <a:endParaRPr lang="fr-FR" sz="1600" b="1" dirty="0" smtClean="0">
              <a:solidFill>
                <a:srgbClr val="4C4C4C"/>
              </a:solidFill>
              <a:latin typeface="+mj-lt"/>
              <a:cs typeface="Arial"/>
            </a:endParaRPr>
          </a:p>
          <a:p>
            <a:pPr marL="12700" defTabSz="914079">
              <a:spcBef>
                <a:spcPts val="700"/>
              </a:spcBef>
            </a:pPr>
            <a:r>
              <a:rPr sz="1600" dirty="0" smtClean="0">
                <a:solidFill>
                  <a:srgbClr val="4C4C4C"/>
                </a:solidFill>
                <a:latin typeface="+mj-lt"/>
                <a:cs typeface="Arial"/>
              </a:rPr>
              <a:t>Les </a:t>
            </a:r>
            <a:r>
              <a:rPr sz="1600" spc="-5" dirty="0">
                <a:solidFill>
                  <a:srgbClr val="4C4C4C"/>
                </a:solidFill>
                <a:latin typeface="+mj-lt"/>
                <a:cs typeface="Arial"/>
              </a:rPr>
              <a:t>SGBD </a:t>
            </a:r>
            <a:r>
              <a:rPr sz="1600" dirty="0">
                <a:solidFill>
                  <a:srgbClr val="4C4C4C"/>
                </a:solidFill>
                <a:latin typeface="+mj-lt"/>
                <a:cs typeface="Arial"/>
              </a:rPr>
              <a:t>des </a:t>
            </a:r>
            <a:r>
              <a:rPr sz="1600" spc="-5" dirty="0">
                <a:solidFill>
                  <a:srgbClr val="4C4C4C"/>
                </a:solidFill>
                <a:latin typeface="+mj-lt"/>
                <a:cs typeface="Arial"/>
              </a:rPr>
              <a:t>débuts </a:t>
            </a:r>
            <a:r>
              <a:rPr sz="1600" dirty="0">
                <a:solidFill>
                  <a:srgbClr val="4C4C4C"/>
                </a:solidFill>
                <a:latin typeface="+mj-lt"/>
                <a:cs typeface="Arial"/>
              </a:rPr>
              <a:t>:</a:t>
            </a:r>
            <a:r>
              <a:rPr sz="1600" spc="-30" dirty="0">
                <a:solidFill>
                  <a:srgbClr val="4C4C4C"/>
                </a:solidFill>
                <a:latin typeface="+mj-lt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+mj-lt"/>
                <a:cs typeface="Arial"/>
              </a:rPr>
              <a:t>centralisés</a:t>
            </a:r>
            <a:endParaRPr sz="1600" dirty="0">
              <a:solidFill>
                <a:prstClr val="black"/>
              </a:solidFill>
              <a:latin typeface="+mj-lt"/>
              <a:cs typeface="Arial"/>
            </a:endParaRPr>
          </a:p>
          <a:p>
            <a:pPr marL="193675" indent="-180975" defTabSz="914079">
              <a:spcBef>
                <a:spcPts val="60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r>
              <a:rPr sz="1600" spc="-5" dirty="0">
                <a:solidFill>
                  <a:srgbClr val="4C4C4C"/>
                </a:solidFill>
                <a:latin typeface="+mj-lt"/>
                <a:cs typeface="Arial"/>
              </a:rPr>
              <a:t>Pluri-utilisateurs</a:t>
            </a:r>
            <a:endParaRPr sz="1600" dirty="0">
              <a:solidFill>
                <a:prstClr val="black"/>
              </a:solidFill>
              <a:latin typeface="+mj-lt"/>
              <a:cs typeface="Arial"/>
            </a:endParaRPr>
          </a:p>
          <a:p>
            <a:pPr marL="193675" indent="-180975" defTabSz="914079">
              <a:spcBef>
                <a:spcPts val="60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r>
              <a:rPr sz="1600" spc="-5" dirty="0" err="1" smtClean="0">
                <a:solidFill>
                  <a:srgbClr val="4C4C4C"/>
                </a:solidFill>
                <a:latin typeface="+mj-lt"/>
                <a:cs typeface="Arial"/>
              </a:rPr>
              <a:t>Terminaux</a:t>
            </a:r>
            <a:endParaRPr lang="fr-FR" sz="1600" spc="-5" dirty="0" smtClean="0">
              <a:solidFill>
                <a:srgbClr val="4C4C4C"/>
              </a:solidFill>
              <a:latin typeface="+mj-lt"/>
              <a:cs typeface="Arial"/>
            </a:endParaRPr>
          </a:p>
          <a:p>
            <a:pPr marL="193675" indent="-180975" defTabSz="914079">
              <a:spcBef>
                <a:spcPts val="60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endParaRPr lang="fr-FR" sz="1600" spc="-5" dirty="0" smtClean="0">
              <a:solidFill>
                <a:srgbClr val="4C4C4C"/>
              </a:solidFill>
              <a:latin typeface="+mj-lt"/>
              <a:cs typeface="Arial"/>
            </a:endParaRPr>
          </a:p>
          <a:p>
            <a:pPr algn="just"/>
            <a:r>
              <a:rPr lang="fr-FR" sz="1600" dirty="0" smtClean="0"/>
              <a:t>Toute l’informatique des entreprises était concentrée dans un serveur unique : le mainframe.</a:t>
            </a:r>
          </a:p>
          <a:p>
            <a:pPr algn="just"/>
            <a:r>
              <a:rPr lang="fr-FR" sz="1600" dirty="0" smtClean="0"/>
              <a:t>Le mainframe supporte en général des applications de gestion essentielles pour l’entreprise. </a:t>
            </a:r>
          </a:p>
          <a:p>
            <a:pPr algn="just">
              <a:buNone/>
            </a:pPr>
            <a:r>
              <a:rPr lang="fr-FR" sz="1600" dirty="0" smtClean="0">
                <a:sym typeface="Wingdings" pitchFamily="2" charset="2"/>
              </a:rPr>
              <a:t></a:t>
            </a:r>
            <a:r>
              <a:rPr lang="fr-FR" sz="1600" dirty="0" smtClean="0"/>
              <a:t>toute la logique de persistance, de traitement, et de présentation est agrégée dans un ensemble indissociable. </a:t>
            </a:r>
          </a:p>
          <a:p>
            <a:pPr algn="just"/>
            <a:endParaRPr lang="fr-FR" sz="1600" dirty="0" smtClean="0"/>
          </a:p>
          <a:p>
            <a:pPr algn="just"/>
            <a:r>
              <a:rPr lang="fr-FR" sz="1600" b="1" dirty="0" smtClean="0"/>
              <a:t>Avantage</a:t>
            </a:r>
            <a:r>
              <a:rPr lang="fr-FR" sz="1600" dirty="0" smtClean="0"/>
              <a:t>: système totalement cohérent et fiable (sous contrainte d’assurer la haute disponibilité)</a:t>
            </a:r>
          </a:p>
          <a:p>
            <a:pPr algn="just"/>
            <a:r>
              <a:rPr lang="fr-FR" sz="1600" b="1" dirty="0" smtClean="0"/>
              <a:t>Inconvénien</a:t>
            </a:r>
            <a:r>
              <a:rPr lang="fr-FR" sz="1600" dirty="0" smtClean="0"/>
              <a:t>t: ses coûts d’acquisition et d’exploitation sont élevés</a:t>
            </a:r>
          </a:p>
          <a:p>
            <a:pPr marL="193675" indent="-180975" defTabSz="914079">
              <a:spcBef>
                <a:spcPts val="60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endParaRPr sz="1600" dirty="0">
              <a:solidFill>
                <a:prstClr val="black"/>
              </a:solidFill>
              <a:latin typeface="+mj-lt"/>
              <a:cs typeface="Arial"/>
            </a:endParaRPr>
          </a:p>
        </p:txBody>
      </p:sp>
      <p:grpSp>
        <p:nvGrpSpPr>
          <p:cNvPr id="23" name="Groupe 22"/>
          <p:cNvGrpSpPr/>
          <p:nvPr/>
        </p:nvGrpSpPr>
        <p:grpSpPr>
          <a:xfrm>
            <a:off x="4994603" y="1850876"/>
            <a:ext cx="3465829" cy="3162300"/>
            <a:chOff x="1691680" y="3082897"/>
            <a:chExt cx="3465829" cy="3162300"/>
          </a:xfrm>
        </p:grpSpPr>
        <p:grpSp>
          <p:nvGrpSpPr>
            <p:cNvPr id="7" name="object 7"/>
            <p:cNvGrpSpPr/>
            <p:nvPr/>
          </p:nvGrpSpPr>
          <p:grpSpPr>
            <a:xfrm>
              <a:off x="2864061" y="4231092"/>
              <a:ext cx="2286635" cy="1510453"/>
              <a:chOff x="2864060" y="3173319"/>
              <a:chExt cx="2286635" cy="113284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2892635" y="3201894"/>
                <a:ext cx="2229485" cy="1075690"/>
              </a:xfrm>
              <a:custGeom>
                <a:avLst/>
                <a:gdLst/>
                <a:ahLst/>
                <a:cxnLst/>
                <a:rect l="l" t="t" r="r" b="b"/>
                <a:pathLst>
                  <a:path w="2229485" h="1075689">
                    <a:moveTo>
                      <a:pt x="0" y="0"/>
                    </a:moveTo>
                    <a:lnTo>
                      <a:pt x="2229300" y="0"/>
                    </a:lnTo>
                    <a:lnTo>
                      <a:pt x="2229300" y="1075192"/>
                    </a:lnTo>
                    <a:lnTo>
                      <a:pt x="0" y="1075192"/>
                    </a:lnTo>
                    <a:lnTo>
                      <a:pt x="0" y="0"/>
                    </a:lnTo>
                    <a:close/>
                  </a:path>
                </a:pathLst>
              </a:custGeom>
              <a:ln w="5714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892634" y="3201894"/>
                <a:ext cx="2229485" cy="457834"/>
              </a:xfrm>
              <a:custGeom>
                <a:avLst/>
                <a:gdLst/>
                <a:ahLst/>
                <a:cxnLst/>
                <a:rect l="l" t="t" r="r" b="b"/>
                <a:pathLst>
                  <a:path w="2229485" h="457835">
                    <a:moveTo>
                      <a:pt x="0" y="0"/>
                    </a:moveTo>
                    <a:lnTo>
                      <a:pt x="2229300" y="0"/>
                    </a:lnTo>
                    <a:lnTo>
                      <a:pt x="2229300" y="457295"/>
                    </a:lnTo>
                    <a:lnTo>
                      <a:pt x="0" y="457295"/>
                    </a:lnTo>
                    <a:lnTo>
                      <a:pt x="0" y="0"/>
                    </a:lnTo>
                    <a:close/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2921211" y="4895854"/>
              <a:ext cx="2172335" cy="528991"/>
            </a:xfrm>
            <a:prstGeom prst="rect">
              <a:avLst/>
            </a:prstGeom>
            <a:solidFill>
              <a:srgbClr val="FDDDC2"/>
            </a:solidFill>
          </p:spPr>
          <p:txBody>
            <a:bodyPr vert="horz" wrap="square" lIns="0" tIns="158115" rIns="0" bIns="0" rtlCol="0">
              <a:spAutoFit/>
            </a:bodyPr>
            <a:lstStyle/>
            <a:p>
              <a:pPr marL="738505" defTabSz="914079">
                <a:spcBef>
                  <a:spcPts val="1245"/>
                </a:spcBef>
              </a:pPr>
              <a:r>
                <a:rPr sz="2400" spc="-5" dirty="0">
                  <a:solidFill>
                    <a:prstClr val="black"/>
                  </a:solidFill>
                  <a:latin typeface="Arial"/>
                  <a:cs typeface="Arial"/>
                </a:rPr>
                <a:t>SGBD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921211" y="4307293"/>
              <a:ext cx="2172335" cy="414216"/>
            </a:xfrm>
            <a:prstGeom prst="rect">
              <a:avLst/>
            </a:prstGeom>
            <a:solidFill>
              <a:srgbClr val="D4FEFF"/>
            </a:solidFill>
          </p:spPr>
          <p:txBody>
            <a:bodyPr vert="horz" wrap="square" lIns="0" tIns="44450" rIns="0" bIns="0" rtlCol="0">
              <a:spAutoFit/>
            </a:bodyPr>
            <a:lstStyle/>
            <a:p>
              <a:pPr marL="464184" defTabSz="914079">
                <a:spcBef>
                  <a:spcPts val="350"/>
                </a:spcBef>
              </a:pPr>
              <a:r>
                <a:rPr sz="2400" spc="-5" dirty="0">
                  <a:solidFill>
                    <a:prstClr val="black"/>
                  </a:solidFill>
                  <a:latin typeface="Arial"/>
                  <a:cs typeface="Arial"/>
                </a:rPr>
                <a:t>Application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1691680" y="3082897"/>
              <a:ext cx="3465829" cy="3162300"/>
              <a:chOff x="1845701" y="2312172"/>
              <a:chExt cx="3465829" cy="2371725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3218230" y="2465462"/>
                <a:ext cx="1377556" cy="74119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612277" y="2312172"/>
                <a:ext cx="698952" cy="584108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3507117" y="4415791"/>
                <a:ext cx="1083945" cy="255904"/>
              </a:xfrm>
              <a:custGeom>
                <a:avLst/>
                <a:gdLst/>
                <a:ahLst/>
                <a:cxnLst/>
                <a:rect l="l" t="t" r="r" b="b"/>
                <a:pathLst>
                  <a:path w="1083945" h="255904">
                    <a:moveTo>
                      <a:pt x="1083905" y="0"/>
                    </a:moveTo>
                    <a:lnTo>
                      <a:pt x="1033535" y="15381"/>
                    </a:lnTo>
                    <a:lnTo>
                      <a:pt x="950974" y="23937"/>
                    </a:lnTo>
                    <a:lnTo>
                      <a:pt x="897514" y="27536"/>
                    </a:lnTo>
                    <a:lnTo>
                      <a:pt x="837052" y="30607"/>
                    </a:lnTo>
                    <a:lnTo>
                      <a:pt x="770426" y="33094"/>
                    </a:lnTo>
                    <a:lnTo>
                      <a:pt x="698476" y="34941"/>
                    </a:lnTo>
                    <a:lnTo>
                      <a:pt x="622039" y="36090"/>
                    </a:lnTo>
                    <a:lnTo>
                      <a:pt x="541953" y="36485"/>
                    </a:lnTo>
                    <a:lnTo>
                      <a:pt x="461867" y="36090"/>
                    </a:lnTo>
                    <a:lnTo>
                      <a:pt x="385430" y="34941"/>
                    </a:lnTo>
                    <a:lnTo>
                      <a:pt x="313479" y="33094"/>
                    </a:lnTo>
                    <a:lnTo>
                      <a:pt x="246854" y="30607"/>
                    </a:lnTo>
                    <a:lnTo>
                      <a:pt x="186392" y="27536"/>
                    </a:lnTo>
                    <a:lnTo>
                      <a:pt x="132932" y="23937"/>
                    </a:lnTo>
                    <a:lnTo>
                      <a:pt x="87312" y="19866"/>
                    </a:lnTo>
                    <a:lnTo>
                      <a:pt x="22945" y="10537"/>
                    </a:lnTo>
                    <a:lnTo>
                      <a:pt x="0" y="0"/>
                    </a:lnTo>
                    <a:lnTo>
                      <a:pt x="0" y="218913"/>
                    </a:lnTo>
                    <a:lnTo>
                      <a:pt x="50370" y="234295"/>
                    </a:lnTo>
                    <a:lnTo>
                      <a:pt x="132932" y="242851"/>
                    </a:lnTo>
                    <a:lnTo>
                      <a:pt x="186392" y="246450"/>
                    </a:lnTo>
                    <a:lnTo>
                      <a:pt x="246854" y="249521"/>
                    </a:lnTo>
                    <a:lnTo>
                      <a:pt x="313479" y="252008"/>
                    </a:lnTo>
                    <a:lnTo>
                      <a:pt x="385430" y="253855"/>
                    </a:lnTo>
                    <a:lnTo>
                      <a:pt x="461867" y="255004"/>
                    </a:lnTo>
                    <a:lnTo>
                      <a:pt x="541953" y="255399"/>
                    </a:lnTo>
                    <a:lnTo>
                      <a:pt x="622039" y="255004"/>
                    </a:lnTo>
                    <a:lnTo>
                      <a:pt x="698476" y="253855"/>
                    </a:lnTo>
                    <a:lnTo>
                      <a:pt x="770426" y="252008"/>
                    </a:lnTo>
                    <a:lnTo>
                      <a:pt x="837052" y="249521"/>
                    </a:lnTo>
                    <a:lnTo>
                      <a:pt x="897514" y="246450"/>
                    </a:lnTo>
                    <a:lnTo>
                      <a:pt x="950974" y="242851"/>
                    </a:lnTo>
                    <a:lnTo>
                      <a:pt x="996593" y="238780"/>
                    </a:lnTo>
                    <a:lnTo>
                      <a:pt x="1060959" y="229451"/>
                    </a:lnTo>
                    <a:lnTo>
                      <a:pt x="1083905" y="218913"/>
                    </a:lnTo>
                    <a:lnTo>
                      <a:pt x="1083905" y="0"/>
                    </a:lnTo>
                    <a:close/>
                  </a:path>
                </a:pathLst>
              </a:custGeom>
              <a:solidFill>
                <a:srgbClr val="FDDDC2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507117" y="4379305"/>
                <a:ext cx="108394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1083945" h="73025">
                    <a:moveTo>
                      <a:pt x="541953" y="0"/>
                    </a:moveTo>
                    <a:lnTo>
                      <a:pt x="461867" y="395"/>
                    </a:lnTo>
                    <a:lnTo>
                      <a:pt x="385430" y="1544"/>
                    </a:lnTo>
                    <a:lnTo>
                      <a:pt x="313479" y="3391"/>
                    </a:lnTo>
                    <a:lnTo>
                      <a:pt x="246854" y="5878"/>
                    </a:lnTo>
                    <a:lnTo>
                      <a:pt x="186392" y="8949"/>
                    </a:lnTo>
                    <a:lnTo>
                      <a:pt x="132932" y="12548"/>
                    </a:lnTo>
                    <a:lnTo>
                      <a:pt x="87312" y="16618"/>
                    </a:lnTo>
                    <a:lnTo>
                      <a:pt x="22945" y="25948"/>
                    </a:lnTo>
                    <a:lnTo>
                      <a:pt x="0" y="36485"/>
                    </a:lnTo>
                    <a:lnTo>
                      <a:pt x="5876" y="41877"/>
                    </a:lnTo>
                    <a:lnTo>
                      <a:pt x="50370" y="51867"/>
                    </a:lnTo>
                    <a:lnTo>
                      <a:pt x="132932" y="60423"/>
                    </a:lnTo>
                    <a:lnTo>
                      <a:pt x="186392" y="64022"/>
                    </a:lnTo>
                    <a:lnTo>
                      <a:pt x="246854" y="67093"/>
                    </a:lnTo>
                    <a:lnTo>
                      <a:pt x="313479" y="69580"/>
                    </a:lnTo>
                    <a:lnTo>
                      <a:pt x="385430" y="71427"/>
                    </a:lnTo>
                    <a:lnTo>
                      <a:pt x="461867" y="72576"/>
                    </a:lnTo>
                    <a:lnTo>
                      <a:pt x="541953" y="72971"/>
                    </a:lnTo>
                    <a:lnTo>
                      <a:pt x="622039" y="72576"/>
                    </a:lnTo>
                    <a:lnTo>
                      <a:pt x="698476" y="71427"/>
                    </a:lnTo>
                    <a:lnTo>
                      <a:pt x="770426" y="69580"/>
                    </a:lnTo>
                    <a:lnTo>
                      <a:pt x="837052" y="67093"/>
                    </a:lnTo>
                    <a:lnTo>
                      <a:pt x="897514" y="64022"/>
                    </a:lnTo>
                    <a:lnTo>
                      <a:pt x="950974" y="60423"/>
                    </a:lnTo>
                    <a:lnTo>
                      <a:pt x="996593" y="56352"/>
                    </a:lnTo>
                    <a:lnTo>
                      <a:pt x="1060959" y="47023"/>
                    </a:lnTo>
                    <a:lnTo>
                      <a:pt x="1083905" y="36485"/>
                    </a:lnTo>
                    <a:lnTo>
                      <a:pt x="1078029" y="31094"/>
                    </a:lnTo>
                    <a:lnTo>
                      <a:pt x="1033535" y="21104"/>
                    </a:lnTo>
                    <a:lnTo>
                      <a:pt x="950974" y="12548"/>
                    </a:lnTo>
                    <a:lnTo>
                      <a:pt x="897514" y="8949"/>
                    </a:lnTo>
                    <a:lnTo>
                      <a:pt x="837052" y="5878"/>
                    </a:lnTo>
                    <a:lnTo>
                      <a:pt x="770426" y="3391"/>
                    </a:lnTo>
                    <a:lnTo>
                      <a:pt x="698476" y="1544"/>
                    </a:lnTo>
                    <a:lnTo>
                      <a:pt x="622039" y="395"/>
                    </a:lnTo>
                    <a:lnTo>
                      <a:pt x="541953" y="0"/>
                    </a:lnTo>
                    <a:close/>
                  </a:path>
                </a:pathLst>
              </a:custGeom>
              <a:solidFill>
                <a:srgbClr val="FEEBDB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507117" y="4379305"/>
                <a:ext cx="108394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1083945" h="292100">
                    <a:moveTo>
                      <a:pt x="1083905" y="36485"/>
                    </a:moveTo>
                    <a:lnTo>
                      <a:pt x="1033535" y="51867"/>
                    </a:lnTo>
                    <a:lnTo>
                      <a:pt x="950973" y="60423"/>
                    </a:lnTo>
                    <a:lnTo>
                      <a:pt x="897513" y="64022"/>
                    </a:lnTo>
                    <a:lnTo>
                      <a:pt x="837051" y="67093"/>
                    </a:lnTo>
                    <a:lnTo>
                      <a:pt x="770426" y="69580"/>
                    </a:lnTo>
                    <a:lnTo>
                      <a:pt x="698476" y="71427"/>
                    </a:lnTo>
                    <a:lnTo>
                      <a:pt x="622038" y="72576"/>
                    </a:lnTo>
                    <a:lnTo>
                      <a:pt x="541952" y="72971"/>
                    </a:lnTo>
                    <a:lnTo>
                      <a:pt x="461867" y="72576"/>
                    </a:lnTo>
                    <a:lnTo>
                      <a:pt x="385429" y="71427"/>
                    </a:lnTo>
                    <a:lnTo>
                      <a:pt x="313479" y="69580"/>
                    </a:lnTo>
                    <a:lnTo>
                      <a:pt x="246853" y="67093"/>
                    </a:lnTo>
                    <a:lnTo>
                      <a:pt x="186392" y="64022"/>
                    </a:lnTo>
                    <a:lnTo>
                      <a:pt x="132931" y="60423"/>
                    </a:lnTo>
                    <a:lnTo>
                      <a:pt x="87311" y="56353"/>
                    </a:lnTo>
                    <a:lnTo>
                      <a:pt x="22945" y="47023"/>
                    </a:lnTo>
                    <a:lnTo>
                      <a:pt x="0" y="36485"/>
                    </a:lnTo>
                    <a:lnTo>
                      <a:pt x="5876" y="31094"/>
                    </a:lnTo>
                    <a:lnTo>
                      <a:pt x="50370" y="21104"/>
                    </a:lnTo>
                    <a:lnTo>
                      <a:pt x="132931" y="12548"/>
                    </a:lnTo>
                    <a:lnTo>
                      <a:pt x="186392" y="8949"/>
                    </a:lnTo>
                    <a:lnTo>
                      <a:pt x="246853" y="5878"/>
                    </a:lnTo>
                    <a:lnTo>
                      <a:pt x="313479" y="3391"/>
                    </a:lnTo>
                    <a:lnTo>
                      <a:pt x="385429" y="1544"/>
                    </a:lnTo>
                    <a:lnTo>
                      <a:pt x="461867" y="395"/>
                    </a:lnTo>
                    <a:lnTo>
                      <a:pt x="541952" y="0"/>
                    </a:lnTo>
                    <a:lnTo>
                      <a:pt x="622038" y="395"/>
                    </a:lnTo>
                    <a:lnTo>
                      <a:pt x="698476" y="1544"/>
                    </a:lnTo>
                    <a:lnTo>
                      <a:pt x="770426" y="3391"/>
                    </a:lnTo>
                    <a:lnTo>
                      <a:pt x="837051" y="5878"/>
                    </a:lnTo>
                    <a:lnTo>
                      <a:pt x="897513" y="8949"/>
                    </a:lnTo>
                    <a:lnTo>
                      <a:pt x="950973" y="12548"/>
                    </a:lnTo>
                    <a:lnTo>
                      <a:pt x="996593" y="16618"/>
                    </a:lnTo>
                    <a:lnTo>
                      <a:pt x="1060959" y="25948"/>
                    </a:lnTo>
                    <a:lnTo>
                      <a:pt x="1083905" y="36485"/>
                    </a:lnTo>
                    <a:close/>
                  </a:path>
                  <a:path w="1083945" h="292100">
                    <a:moveTo>
                      <a:pt x="1083905" y="255399"/>
                    </a:moveTo>
                    <a:lnTo>
                      <a:pt x="1033535" y="270781"/>
                    </a:lnTo>
                    <a:lnTo>
                      <a:pt x="950973" y="279337"/>
                    </a:lnTo>
                    <a:lnTo>
                      <a:pt x="897513" y="282936"/>
                    </a:lnTo>
                    <a:lnTo>
                      <a:pt x="837051" y="286007"/>
                    </a:lnTo>
                    <a:lnTo>
                      <a:pt x="770426" y="288494"/>
                    </a:lnTo>
                    <a:lnTo>
                      <a:pt x="698476" y="290341"/>
                    </a:lnTo>
                    <a:lnTo>
                      <a:pt x="622038" y="291490"/>
                    </a:lnTo>
                    <a:lnTo>
                      <a:pt x="541952" y="291885"/>
                    </a:lnTo>
                    <a:lnTo>
                      <a:pt x="461867" y="291490"/>
                    </a:lnTo>
                    <a:lnTo>
                      <a:pt x="385429" y="290341"/>
                    </a:lnTo>
                    <a:lnTo>
                      <a:pt x="313479" y="288494"/>
                    </a:lnTo>
                    <a:lnTo>
                      <a:pt x="246853" y="286007"/>
                    </a:lnTo>
                    <a:lnTo>
                      <a:pt x="186392" y="282936"/>
                    </a:lnTo>
                    <a:lnTo>
                      <a:pt x="132931" y="279337"/>
                    </a:lnTo>
                    <a:lnTo>
                      <a:pt x="87311" y="275266"/>
                    </a:lnTo>
                    <a:lnTo>
                      <a:pt x="22945" y="265937"/>
                    </a:lnTo>
                    <a:lnTo>
                      <a:pt x="0" y="255399"/>
                    </a:lnTo>
                    <a:lnTo>
                      <a:pt x="0" y="36485"/>
                    </a:lnTo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990116" y="4258621"/>
                <a:ext cx="117908" cy="193655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1845701" y="2637979"/>
                <a:ext cx="698950" cy="584108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2417540" y="2918962"/>
                <a:ext cx="1915795" cy="283210"/>
              </a:xfrm>
              <a:custGeom>
                <a:avLst/>
                <a:gdLst/>
                <a:ahLst/>
                <a:cxnLst/>
                <a:rect l="l" t="t" r="r" b="b"/>
                <a:pathLst>
                  <a:path w="1915795" h="283210">
                    <a:moveTo>
                      <a:pt x="0" y="0"/>
                    </a:moveTo>
                    <a:lnTo>
                      <a:pt x="1911849" y="0"/>
                    </a:lnTo>
                    <a:lnTo>
                      <a:pt x="1911849" y="282930"/>
                    </a:lnTo>
                    <a:lnTo>
                      <a:pt x="1915258" y="282930"/>
                    </a:lnTo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3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9552" y="722313"/>
            <a:ext cx="465010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5" dirty="0" smtClean="0"/>
              <a:t>Evolution des SI</a:t>
            </a:r>
            <a:endParaRPr spc="-5" dirty="0">
              <a:solidFill>
                <a:srgbClr val="FF0000"/>
              </a:solidFill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486625" y="6578557"/>
            <a:ext cx="23177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pPr marL="38100">
                <a:lnSpc>
                  <a:spcPts val="1315"/>
                </a:lnSpc>
              </a:pPr>
              <a:t>6</a:t>
            </a:fld>
            <a:endParaRPr dirty="0"/>
          </a:p>
        </p:txBody>
      </p:sp>
      <p:grpSp>
        <p:nvGrpSpPr>
          <p:cNvPr id="25" name="Groupe 24"/>
          <p:cNvGrpSpPr/>
          <p:nvPr/>
        </p:nvGrpSpPr>
        <p:grpSpPr>
          <a:xfrm>
            <a:off x="5853707" y="980728"/>
            <a:ext cx="3290293" cy="3816424"/>
            <a:chOff x="620657" y="1632418"/>
            <a:chExt cx="3290293" cy="4358392"/>
          </a:xfrm>
        </p:grpSpPr>
        <p:sp>
          <p:nvSpPr>
            <p:cNvPr id="8" name="object 8"/>
            <p:cNvSpPr/>
            <p:nvPr/>
          </p:nvSpPr>
          <p:spPr>
            <a:xfrm>
              <a:off x="620657" y="1649350"/>
              <a:ext cx="1236345" cy="750147"/>
            </a:xfrm>
            <a:custGeom>
              <a:avLst/>
              <a:gdLst/>
              <a:ahLst/>
              <a:cxnLst/>
              <a:rect l="l" t="t" r="r" b="b"/>
              <a:pathLst>
                <a:path w="1236345" h="562610">
                  <a:moveTo>
                    <a:pt x="1235844" y="0"/>
                  </a:moveTo>
                  <a:lnTo>
                    <a:pt x="0" y="0"/>
                  </a:lnTo>
                  <a:lnTo>
                    <a:pt x="0" y="562479"/>
                  </a:lnTo>
                  <a:lnTo>
                    <a:pt x="1235844" y="562479"/>
                  </a:lnTo>
                  <a:lnTo>
                    <a:pt x="1235844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20657" y="1649350"/>
              <a:ext cx="1236345" cy="492443"/>
            </a:xfrm>
            <a:prstGeom prst="rect">
              <a:avLst/>
            </a:prstGeom>
            <a:ln w="25399">
              <a:solidFill>
                <a:srgbClr val="134165"/>
              </a:solidFill>
            </a:ln>
          </p:spPr>
          <p:txBody>
            <a:bodyPr vert="horz" wrap="square" lIns="0" tIns="121920" rIns="0" bIns="0" rtlCol="0">
              <a:spAutoFit/>
            </a:bodyPr>
            <a:lstStyle/>
            <a:p>
              <a:pPr marL="131445" defTabSz="914079">
                <a:spcBef>
                  <a:spcPts val="960"/>
                </a:spcBef>
              </a:pPr>
              <a:r>
                <a:rPr sz="2400" dirty="0">
                  <a:solidFill>
                    <a:prstClr val="black"/>
                  </a:solidFill>
                  <a:latin typeface="Arial"/>
                  <a:cs typeface="Arial"/>
                </a:rPr>
                <a:t>Appli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169399" y="3788361"/>
              <a:ext cx="2167890" cy="470000"/>
            </a:xfrm>
            <a:prstGeom prst="rect">
              <a:avLst/>
            </a:prstGeom>
            <a:solidFill>
              <a:srgbClr val="FDDDC2"/>
            </a:solidFill>
            <a:ln w="25399">
              <a:solidFill>
                <a:srgbClr val="134165"/>
              </a:solidFill>
            </a:ln>
          </p:spPr>
          <p:txBody>
            <a:bodyPr vert="horz" wrap="square" lIns="0" tIns="99695" rIns="0" bIns="0" rtlCol="0">
              <a:spAutoFit/>
            </a:bodyPr>
            <a:lstStyle/>
            <a:p>
              <a:pPr marL="670560" defTabSz="914079">
                <a:spcBef>
                  <a:spcPts val="785"/>
                </a:spcBef>
              </a:pPr>
              <a:r>
                <a:rPr sz="2400" spc="-5" dirty="0">
                  <a:solidFill>
                    <a:prstClr val="black"/>
                  </a:solidFill>
                  <a:latin typeface="Arial"/>
                  <a:cs typeface="Arial"/>
                </a:rPr>
                <a:t>SGBD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1682644" y="5055243"/>
              <a:ext cx="1080770" cy="935567"/>
              <a:chOff x="1682644" y="3791432"/>
              <a:chExt cx="1080770" cy="701675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1695344" y="3888604"/>
                <a:ext cx="1055370" cy="591820"/>
              </a:xfrm>
              <a:custGeom>
                <a:avLst/>
                <a:gdLst/>
                <a:ahLst/>
                <a:cxnLst/>
                <a:rect l="l" t="t" r="r" b="b"/>
                <a:pathLst>
                  <a:path w="1055370" h="591820">
                    <a:moveTo>
                      <a:pt x="1055256" y="0"/>
                    </a:moveTo>
                    <a:lnTo>
                      <a:pt x="1006217" y="35611"/>
                    </a:lnTo>
                    <a:lnTo>
                      <a:pt x="925838" y="55419"/>
                    </a:lnTo>
                    <a:lnTo>
                      <a:pt x="873791" y="63752"/>
                    </a:lnTo>
                    <a:lnTo>
                      <a:pt x="814927" y="70862"/>
                    </a:lnTo>
                    <a:lnTo>
                      <a:pt x="750063" y="76620"/>
                    </a:lnTo>
                    <a:lnTo>
                      <a:pt x="680014" y="80895"/>
                    </a:lnTo>
                    <a:lnTo>
                      <a:pt x="605597" y="83555"/>
                    </a:lnTo>
                    <a:lnTo>
                      <a:pt x="527629" y="84471"/>
                    </a:lnTo>
                    <a:lnTo>
                      <a:pt x="449659" y="83555"/>
                    </a:lnTo>
                    <a:lnTo>
                      <a:pt x="375242" y="80895"/>
                    </a:lnTo>
                    <a:lnTo>
                      <a:pt x="305194" y="76620"/>
                    </a:lnTo>
                    <a:lnTo>
                      <a:pt x="240329" y="70862"/>
                    </a:lnTo>
                    <a:lnTo>
                      <a:pt x="181466" y="63752"/>
                    </a:lnTo>
                    <a:lnTo>
                      <a:pt x="129419" y="55419"/>
                    </a:lnTo>
                    <a:lnTo>
                      <a:pt x="85005" y="45995"/>
                    </a:lnTo>
                    <a:lnTo>
                      <a:pt x="22340" y="24396"/>
                    </a:lnTo>
                    <a:lnTo>
                      <a:pt x="1" y="0"/>
                    </a:lnTo>
                    <a:lnTo>
                      <a:pt x="0" y="506828"/>
                    </a:lnTo>
                    <a:lnTo>
                      <a:pt x="49039" y="542440"/>
                    </a:lnTo>
                    <a:lnTo>
                      <a:pt x="129418" y="562248"/>
                    </a:lnTo>
                    <a:lnTo>
                      <a:pt x="181465" y="570581"/>
                    </a:lnTo>
                    <a:lnTo>
                      <a:pt x="240329" y="577691"/>
                    </a:lnTo>
                    <a:lnTo>
                      <a:pt x="305193" y="583449"/>
                    </a:lnTo>
                    <a:lnTo>
                      <a:pt x="375242" y="587724"/>
                    </a:lnTo>
                    <a:lnTo>
                      <a:pt x="449659" y="590384"/>
                    </a:lnTo>
                    <a:lnTo>
                      <a:pt x="527627" y="591300"/>
                    </a:lnTo>
                    <a:lnTo>
                      <a:pt x="605596" y="590384"/>
                    </a:lnTo>
                    <a:lnTo>
                      <a:pt x="680013" y="587724"/>
                    </a:lnTo>
                    <a:lnTo>
                      <a:pt x="750062" y="583449"/>
                    </a:lnTo>
                    <a:lnTo>
                      <a:pt x="814927" y="577691"/>
                    </a:lnTo>
                    <a:lnTo>
                      <a:pt x="873790" y="570581"/>
                    </a:lnTo>
                    <a:lnTo>
                      <a:pt x="925837" y="562248"/>
                    </a:lnTo>
                    <a:lnTo>
                      <a:pt x="970251" y="552824"/>
                    </a:lnTo>
                    <a:lnTo>
                      <a:pt x="1032916" y="531225"/>
                    </a:lnTo>
                    <a:lnTo>
                      <a:pt x="1055255" y="506828"/>
                    </a:lnTo>
                    <a:lnTo>
                      <a:pt x="1055256" y="0"/>
                    </a:lnTo>
                    <a:close/>
                  </a:path>
                </a:pathLst>
              </a:custGeom>
              <a:solidFill>
                <a:srgbClr val="FDDDC2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1695345" y="3804132"/>
                <a:ext cx="1055370" cy="169545"/>
              </a:xfrm>
              <a:custGeom>
                <a:avLst/>
                <a:gdLst/>
                <a:ahLst/>
                <a:cxnLst/>
                <a:rect l="l" t="t" r="r" b="b"/>
                <a:pathLst>
                  <a:path w="1055370" h="169545">
                    <a:moveTo>
                      <a:pt x="527627" y="0"/>
                    </a:moveTo>
                    <a:lnTo>
                      <a:pt x="449658" y="915"/>
                    </a:lnTo>
                    <a:lnTo>
                      <a:pt x="375241" y="3576"/>
                    </a:lnTo>
                    <a:lnTo>
                      <a:pt x="305192" y="7851"/>
                    </a:lnTo>
                    <a:lnTo>
                      <a:pt x="240328" y="13608"/>
                    </a:lnTo>
                    <a:lnTo>
                      <a:pt x="181464" y="20719"/>
                    </a:lnTo>
                    <a:lnTo>
                      <a:pt x="129417" y="29052"/>
                    </a:lnTo>
                    <a:lnTo>
                      <a:pt x="85003" y="38476"/>
                    </a:lnTo>
                    <a:lnTo>
                      <a:pt x="22339" y="60075"/>
                    </a:lnTo>
                    <a:lnTo>
                      <a:pt x="0" y="84471"/>
                    </a:lnTo>
                    <a:lnTo>
                      <a:pt x="5720" y="96954"/>
                    </a:lnTo>
                    <a:lnTo>
                      <a:pt x="49038" y="120082"/>
                    </a:lnTo>
                    <a:lnTo>
                      <a:pt x="129417" y="139891"/>
                    </a:lnTo>
                    <a:lnTo>
                      <a:pt x="181464" y="148224"/>
                    </a:lnTo>
                    <a:lnTo>
                      <a:pt x="240328" y="155334"/>
                    </a:lnTo>
                    <a:lnTo>
                      <a:pt x="305192" y="161092"/>
                    </a:lnTo>
                    <a:lnTo>
                      <a:pt x="375241" y="165367"/>
                    </a:lnTo>
                    <a:lnTo>
                      <a:pt x="449658" y="168027"/>
                    </a:lnTo>
                    <a:lnTo>
                      <a:pt x="527627" y="168943"/>
                    </a:lnTo>
                    <a:lnTo>
                      <a:pt x="605596" y="168027"/>
                    </a:lnTo>
                    <a:lnTo>
                      <a:pt x="680013" y="165367"/>
                    </a:lnTo>
                    <a:lnTo>
                      <a:pt x="750062" y="161092"/>
                    </a:lnTo>
                    <a:lnTo>
                      <a:pt x="814926" y="155334"/>
                    </a:lnTo>
                    <a:lnTo>
                      <a:pt x="873790" y="148224"/>
                    </a:lnTo>
                    <a:lnTo>
                      <a:pt x="925837" y="139891"/>
                    </a:lnTo>
                    <a:lnTo>
                      <a:pt x="970251" y="130467"/>
                    </a:lnTo>
                    <a:lnTo>
                      <a:pt x="1032916" y="108868"/>
                    </a:lnTo>
                    <a:lnTo>
                      <a:pt x="1055255" y="84471"/>
                    </a:lnTo>
                    <a:lnTo>
                      <a:pt x="1049534" y="71989"/>
                    </a:lnTo>
                    <a:lnTo>
                      <a:pt x="1006216" y="48860"/>
                    </a:lnTo>
                    <a:lnTo>
                      <a:pt x="925837" y="29052"/>
                    </a:lnTo>
                    <a:lnTo>
                      <a:pt x="873790" y="20719"/>
                    </a:lnTo>
                    <a:lnTo>
                      <a:pt x="814926" y="13608"/>
                    </a:lnTo>
                    <a:lnTo>
                      <a:pt x="750062" y="7851"/>
                    </a:lnTo>
                    <a:lnTo>
                      <a:pt x="680013" y="3576"/>
                    </a:lnTo>
                    <a:lnTo>
                      <a:pt x="605596" y="915"/>
                    </a:lnTo>
                    <a:lnTo>
                      <a:pt x="527627" y="0"/>
                    </a:lnTo>
                    <a:close/>
                  </a:path>
                </a:pathLst>
              </a:custGeom>
              <a:solidFill>
                <a:srgbClr val="FEEBDB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1695344" y="3804132"/>
                <a:ext cx="1055370" cy="676275"/>
              </a:xfrm>
              <a:custGeom>
                <a:avLst/>
                <a:gdLst/>
                <a:ahLst/>
                <a:cxnLst/>
                <a:rect l="l" t="t" r="r" b="b"/>
                <a:pathLst>
                  <a:path w="1055370" h="676275">
                    <a:moveTo>
                      <a:pt x="1055255" y="84471"/>
                    </a:moveTo>
                    <a:lnTo>
                      <a:pt x="1006216" y="120083"/>
                    </a:lnTo>
                    <a:lnTo>
                      <a:pt x="925837" y="139891"/>
                    </a:lnTo>
                    <a:lnTo>
                      <a:pt x="873790" y="148224"/>
                    </a:lnTo>
                    <a:lnTo>
                      <a:pt x="814926" y="155334"/>
                    </a:lnTo>
                    <a:lnTo>
                      <a:pt x="750062" y="161092"/>
                    </a:lnTo>
                    <a:lnTo>
                      <a:pt x="680013" y="165367"/>
                    </a:lnTo>
                    <a:lnTo>
                      <a:pt x="605596" y="168028"/>
                    </a:lnTo>
                    <a:lnTo>
                      <a:pt x="527627" y="168943"/>
                    </a:lnTo>
                    <a:lnTo>
                      <a:pt x="449658" y="168028"/>
                    </a:lnTo>
                    <a:lnTo>
                      <a:pt x="375241" y="165367"/>
                    </a:lnTo>
                    <a:lnTo>
                      <a:pt x="305193" y="161092"/>
                    </a:lnTo>
                    <a:lnTo>
                      <a:pt x="240328" y="155334"/>
                    </a:lnTo>
                    <a:lnTo>
                      <a:pt x="181465" y="148224"/>
                    </a:lnTo>
                    <a:lnTo>
                      <a:pt x="129418" y="139891"/>
                    </a:lnTo>
                    <a:lnTo>
                      <a:pt x="85004" y="130467"/>
                    </a:lnTo>
                    <a:lnTo>
                      <a:pt x="22339" y="108868"/>
                    </a:lnTo>
                    <a:lnTo>
                      <a:pt x="0" y="84471"/>
                    </a:lnTo>
                    <a:lnTo>
                      <a:pt x="5720" y="71989"/>
                    </a:lnTo>
                    <a:lnTo>
                      <a:pt x="49039" y="48860"/>
                    </a:lnTo>
                    <a:lnTo>
                      <a:pt x="129418" y="29052"/>
                    </a:lnTo>
                    <a:lnTo>
                      <a:pt x="181465" y="20719"/>
                    </a:lnTo>
                    <a:lnTo>
                      <a:pt x="240328" y="13608"/>
                    </a:lnTo>
                    <a:lnTo>
                      <a:pt x="305193" y="7851"/>
                    </a:lnTo>
                    <a:lnTo>
                      <a:pt x="375241" y="3576"/>
                    </a:lnTo>
                    <a:lnTo>
                      <a:pt x="449658" y="915"/>
                    </a:lnTo>
                    <a:lnTo>
                      <a:pt x="527627" y="0"/>
                    </a:lnTo>
                    <a:lnTo>
                      <a:pt x="605596" y="915"/>
                    </a:lnTo>
                    <a:lnTo>
                      <a:pt x="680013" y="3576"/>
                    </a:lnTo>
                    <a:lnTo>
                      <a:pt x="750062" y="7851"/>
                    </a:lnTo>
                    <a:lnTo>
                      <a:pt x="814926" y="13608"/>
                    </a:lnTo>
                    <a:lnTo>
                      <a:pt x="873790" y="20719"/>
                    </a:lnTo>
                    <a:lnTo>
                      <a:pt x="925837" y="29052"/>
                    </a:lnTo>
                    <a:lnTo>
                      <a:pt x="970251" y="38476"/>
                    </a:lnTo>
                    <a:lnTo>
                      <a:pt x="1032916" y="60075"/>
                    </a:lnTo>
                    <a:lnTo>
                      <a:pt x="1055255" y="84471"/>
                    </a:lnTo>
                    <a:close/>
                  </a:path>
                  <a:path w="1055370" h="676275">
                    <a:moveTo>
                      <a:pt x="1055255" y="591300"/>
                    </a:moveTo>
                    <a:lnTo>
                      <a:pt x="1006216" y="626912"/>
                    </a:lnTo>
                    <a:lnTo>
                      <a:pt x="925837" y="646720"/>
                    </a:lnTo>
                    <a:lnTo>
                      <a:pt x="873790" y="655053"/>
                    </a:lnTo>
                    <a:lnTo>
                      <a:pt x="814926" y="662163"/>
                    </a:lnTo>
                    <a:lnTo>
                      <a:pt x="750062" y="667921"/>
                    </a:lnTo>
                    <a:lnTo>
                      <a:pt x="680013" y="672196"/>
                    </a:lnTo>
                    <a:lnTo>
                      <a:pt x="605596" y="674856"/>
                    </a:lnTo>
                    <a:lnTo>
                      <a:pt x="527627" y="675772"/>
                    </a:lnTo>
                    <a:lnTo>
                      <a:pt x="449658" y="674856"/>
                    </a:lnTo>
                    <a:lnTo>
                      <a:pt x="375241" y="672196"/>
                    </a:lnTo>
                    <a:lnTo>
                      <a:pt x="305193" y="667921"/>
                    </a:lnTo>
                    <a:lnTo>
                      <a:pt x="240328" y="662163"/>
                    </a:lnTo>
                    <a:lnTo>
                      <a:pt x="181465" y="655053"/>
                    </a:lnTo>
                    <a:lnTo>
                      <a:pt x="129418" y="646720"/>
                    </a:lnTo>
                    <a:lnTo>
                      <a:pt x="85004" y="637296"/>
                    </a:lnTo>
                    <a:lnTo>
                      <a:pt x="22339" y="615697"/>
                    </a:lnTo>
                    <a:lnTo>
                      <a:pt x="0" y="591300"/>
                    </a:lnTo>
                    <a:lnTo>
                      <a:pt x="0" y="84471"/>
                    </a:lnTo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5" name="object 15"/>
            <p:cNvSpPr txBox="1"/>
            <p:nvPr/>
          </p:nvSpPr>
          <p:spPr>
            <a:xfrm>
              <a:off x="1956227" y="5277592"/>
              <a:ext cx="539115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079">
                <a:spcBef>
                  <a:spcPts val="100"/>
                </a:spcBef>
              </a:pPr>
              <a:r>
                <a:rPr sz="2800" b="1" dirty="0">
                  <a:solidFill>
                    <a:srgbClr val="FF0000"/>
                  </a:solidFill>
                  <a:latin typeface="Arial"/>
                  <a:cs typeface="Arial"/>
                </a:rPr>
                <a:t>BD</a:t>
              </a:r>
              <a:endParaRPr sz="28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16" name="object 16"/>
            <p:cNvGrpSpPr/>
            <p:nvPr/>
          </p:nvGrpSpPr>
          <p:grpSpPr>
            <a:xfrm>
              <a:off x="2171835" y="4539141"/>
              <a:ext cx="132715" cy="533400"/>
              <a:chOff x="2171834" y="3404356"/>
              <a:chExt cx="132715" cy="400050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2224880" y="3429489"/>
                <a:ext cx="2667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349885">
                    <a:moveTo>
                      <a:pt x="13259" y="-9524"/>
                    </a:moveTo>
                    <a:lnTo>
                      <a:pt x="13259" y="359035"/>
                    </a:lnTo>
                  </a:path>
                </a:pathLst>
              </a:custGeom>
              <a:ln w="45569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186875" y="3404356"/>
                <a:ext cx="117570" cy="11896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2171834" y="3685166"/>
                <a:ext cx="117570" cy="118965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0" name="object 20"/>
            <p:cNvSpPr/>
            <p:nvPr/>
          </p:nvSpPr>
          <p:spPr>
            <a:xfrm>
              <a:off x="802022" y="1632418"/>
              <a:ext cx="3108928" cy="21813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100760" y="1773341"/>
              <a:ext cx="70358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079">
                <a:spcBef>
                  <a:spcPts val="100"/>
                </a:spcBef>
              </a:pPr>
              <a:r>
                <a:rPr sz="2400" dirty="0">
                  <a:solidFill>
                    <a:prstClr val="black"/>
                  </a:solidFill>
                  <a:latin typeface="Arial"/>
                  <a:cs typeface="Arial"/>
                </a:rPr>
                <a:t>Appli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821134" y="2977700"/>
              <a:ext cx="915669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079">
                <a:spcBef>
                  <a:spcPts val="100"/>
                </a:spcBef>
              </a:pPr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requêtes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2826911" y="3296226"/>
              <a:ext cx="889635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079">
                <a:spcBef>
                  <a:spcPts val="100"/>
                </a:spcBef>
              </a:pPr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résultats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251520" y="1268760"/>
            <a:ext cx="8172400" cy="5491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C4C4C"/>
                </a:solidFill>
                <a:latin typeface="+mj-lt"/>
                <a:cs typeface="Arial"/>
              </a:rPr>
              <a:t>Architecture </a:t>
            </a:r>
            <a:r>
              <a:rPr lang="fr-FR" sz="2000" b="1" dirty="0" err="1">
                <a:solidFill>
                  <a:srgbClr val="4C4C4C"/>
                </a:solidFill>
                <a:latin typeface="+mj-lt"/>
                <a:cs typeface="Arial"/>
              </a:rPr>
              <a:t>Client-Serveur</a:t>
            </a:r>
            <a:endParaRPr lang="fr-FR" sz="2000" b="1" dirty="0">
              <a:solidFill>
                <a:srgbClr val="4C4C4C"/>
              </a:solidFill>
              <a:latin typeface="+mj-lt"/>
              <a:cs typeface="Arial"/>
            </a:endParaRPr>
          </a:p>
          <a:p>
            <a:pPr marL="12700" defTabSz="914079">
              <a:spcBef>
                <a:spcPts val="765"/>
              </a:spcBef>
            </a:pPr>
            <a:r>
              <a:rPr lang="fr-FR" sz="1600" u="sng" spc="-5" dirty="0" smtClean="0">
                <a:solidFill>
                  <a:srgbClr val="4C4C4C"/>
                </a:solidFill>
                <a:latin typeface="+mj-lt"/>
                <a:cs typeface="Arial"/>
              </a:rPr>
              <a:t>Client</a:t>
            </a:r>
            <a:endParaRPr lang="fr-FR" sz="1600" u="sng" dirty="0" smtClean="0">
              <a:solidFill>
                <a:prstClr val="black"/>
              </a:solidFill>
              <a:latin typeface="+mj-lt"/>
              <a:cs typeface="Arial"/>
            </a:endParaRPr>
          </a:p>
          <a:p>
            <a:pPr marL="12700" defTabSz="914079">
              <a:spcBef>
                <a:spcPts val="765"/>
              </a:spcBef>
              <a:buFont typeface="Arial" pitchFamily="34" charset="0"/>
              <a:buChar char="•"/>
            </a:pPr>
            <a:r>
              <a:rPr lang="fr-FR" sz="1400" spc="-5" dirty="0" smtClean="0">
                <a:solidFill>
                  <a:srgbClr val="4C4C4C"/>
                </a:solidFill>
                <a:latin typeface="+mj-lt"/>
                <a:cs typeface="Arial"/>
              </a:rPr>
              <a:t>Application</a:t>
            </a:r>
          </a:p>
          <a:p>
            <a:pPr marL="12700" defTabSz="914079">
              <a:spcBef>
                <a:spcPts val="765"/>
              </a:spcBef>
              <a:buFont typeface="Arial" pitchFamily="34" charset="0"/>
              <a:buChar char="•"/>
            </a:pPr>
            <a:r>
              <a:rPr lang="fr-FR" sz="1400" spc="-5" dirty="0">
                <a:solidFill>
                  <a:srgbClr val="4C4C4C"/>
                </a:solidFill>
                <a:latin typeface="+mj-lt"/>
                <a:cs typeface="Arial"/>
              </a:rPr>
              <a:t> Interface graphique</a:t>
            </a:r>
          </a:p>
          <a:p>
            <a:pPr marL="12700" defTabSz="914079">
              <a:spcBef>
                <a:spcPts val="765"/>
              </a:spcBef>
            </a:pPr>
            <a:r>
              <a:rPr lang="fr-FR" sz="1600" u="sng" spc="-5" dirty="0">
                <a:solidFill>
                  <a:srgbClr val="4C4C4C"/>
                </a:solidFill>
                <a:latin typeface="+mj-lt"/>
                <a:cs typeface="Arial"/>
              </a:rPr>
              <a:t>Serveur</a:t>
            </a:r>
          </a:p>
          <a:p>
            <a:pPr marL="12700" defTabSz="914079">
              <a:spcBef>
                <a:spcPts val="765"/>
              </a:spcBef>
              <a:buFont typeface="Arial" pitchFamily="34" charset="0"/>
              <a:buChar char="•"/>
            </a:pPr>
            <a:r>
              <a:rPr lang="fr-FR" sz="1400" spc="-5" dirty="0">
                <a:solidFill>
                  <a:srgbClr val="4C4C4C"/>
                </a:solidFill>
                <a:latin typeface="+mj-lt"/>
                <a:cs typeface="Arial"/>
              </a:rPr>
              <a:t> Gestion des requêtes</a:t>
            </a:r>
          </a:p>
          <a:p>
            <a:pPr marL="12700" defTabSz="914079">
              <a:spcBef>
                <a:spcPts val="765"/>
              </a:spcBef>
              <a:buFont typeface="Arial" pitchFamily="34" charset="0"/>
              <a:buChar char="•"/>
            </a:pPr>
            <a:r>
              <a:rPr lang="fr-FR" sz="1400" spc="-5" dirty="0">
                <a:solidFill>
                  <a:srgbClr val="4C4C4C"/>
                </a:solidFill>
                <a:latin typeface="+mj-lt"/>
                <a:cs typeface="Arial"/>
              </a:rPr>
              <a:t>Gestion des transactions</a:t>
            </a:r>
          </a:p>
          <a:p>
            <a:pPr marL="12700" defTabSz="914079">
              <a:spcBef>
                <a:spcPts val="765"/>
              </a:spcBef>
              <a:buFont typeface="Arial" pitchFamily="34" charset="0"/>
              <a:buChar char="•"/>
            </a:pPr>
            <a:r>
              <a:rPr lang="fr-FR" sz="1400" spc="-5" dirty="0">
                <a:solidFill>
                  <a:srgbClr val="4C4C4C"/>
                </a:solidFill>
                <a:latin typeface="+mj-lt"/>
                <a:cs typeface="Arial"/>
              </a:rPr>
              <a:t> Gestion des pannes</a:t>
            </a:r>
            <a:r>
              <a:rPr lang="fr-FR" sz="1400" spc="-5" dirty="0" smtClean="0">
                <a:solidFill>
                  <a:srgbClr val="4C4C4C"/>
                </a:solidFill>
                <a:latin typeface="+mj-lt"/>
                <a:cs typeface="Arial"/>
              </a:rPr>
              <a:t>…</a:t>
            </a:r>
          </a:p>
          <a:p>
            <a:endParaRPr lang="fr-FR" sz="1600" b="1" dirty="0" smtClean="0"/>
          </a:p>
          <a:p>
            <a:r>
              <a:rPr lang="fr-FR" sz="1600" b="1" dirty="0" smtClean="0"/>
              <a:t>Avantages: </a:t>
            </a:r>
          </a:p>
          <a:p>
            <a:pPr lvl="1"/>
            <a:r>
              <a:rPr lang="fr-FR" sz="1400" dirty="0" smtClean="0"/>
              <a:t>plus de graphisme et plus de sophistication en terme d’ergonomie.</a:t>
            </a:r>
          </a:p>
          <a:p>
            <a:pPr lvl="1"/>
            <a:r>
              <a:rPr lang="fr-FR" sz="1400" dirty="0" smtClean="0"/>
              <a:t>faible coût</a:t>
            </a:r>
          </a:p>
          <a:p>
            <a:r>
              <a:rPr lang="fr-FR" sz="1600" b="1" dirty="0" smtClean="0"/>
              <a:t>Inconvénients:</a:t>
            </a:r>
          </a:p>
          <a:p>
            <a:pPr lvl="1"/>
            <a:r>
              <a:rPr lang="fr-FR" sz="1400" dirty="0" smtClean="0"/>
              <a:t>L’absence de gouvernance de cette croissance a souvent abouti à des duplications d’informations, saisies et gérées de manière autonome par ces différents services.</a:t>
            </a:r>
          </a:p>
          <a:p>
            <a:pPr lvl="1"/>
            <a:r>
              <a:rPr lang="fr-FR" sz="1400" dirty="0" smtClean="0"/>
              <a:t>Les applications client/serveur ont engorgé les </a:t>
            </a:r>
            <a:r>
              <a:rPr lang="fr-FR" sz="1400" dirty="0" err="1" smtClean="0"/>
              <a:t>PCs</a:t>
            </a:r>
            <a:r>
              <a:rPr lang="fr-FR" sz="1400" dirty="0" smtClean="0"/>
              <a:t> de multiples exécutables difficiles à maintenir et dotés d’interfaces incohérentes. </a:t>
            </a:r>
          </a:p>
          <a:p>
            <a:pPr lvl="1">
              <a:buNone/>
            </a:pPr>
            <a:r>
              <a:rPr lang="fr-FR" sz="1400" dirty="0" smtClean="0">
                <a:sym typeface="Wingdings" pitchFamily="2" charset="2"/>
              </a:rPr>
              <a:t></a:t>
            </a:r>
            <a:r>
              <a:rPr lang="fr-FR" sz="1400" dirty="0" smtClean="0"/>
              <a:t>Cette multiplication s’est révélée complexe à maîtriser et donc improductive pour l’utilisateur</a:t>
            </a:r>
            <a:endParaRPr lang="fr-FR" sz="900" spc="-5" dirty="0">
              <a:solidFill>
                <a:srgbClr val="4C4C4C"/>
              </a:solidFill>
              <a:latin typeface="+mj-lt"/>
              <a:cs typeface="Arial"/>
            </a:endParaRPr>
          </a:p>
          <a:p>
            <a:pPr marL="190500" defTabSz="914079">
              <a:spcBef>
                <a:spcPts val="540"/>
              </a:spcBef>
            </a:pPr>
            <a:endParaRPr lang="fr-FR" sz="900" dirty="0">
              <a:solidFill>
                <a:prstClr val="black"/>
              </a:solidFill>
              <a:latin typeface="+mj-lt"/>
              <a:cs typeface="Arial"/>
            </a:endParaRPr>
          </a:p>
          <a:p>
            <a:endParaRPr lang="fr-FR" sz="9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3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38" y="353797"/>
            <a:ext cx="384175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5" dirty="0" smtClean="0"/>
              <a:t>Evolution des SI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38" y="1989608"/>
            <a:ext cx="4756142" cy="3180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lang="fr-FR" sz="2000" b="1" spc="-5" dirty="0" smtClean="0">
                <a:latin typeface="+mj-lt"/>
              </a:rPr>
              <a:t>Architecture </a:t>
            </a:r>
            <a:r>
              <a:rPr sz="2000" b="1" spc="-5" dirty="0" smtClean="0">
                <a:solidFill>
                  <a:srgbClr val="4C4C4C"/>
                </a:solidFill>
                <a:latin typeface="+mj-lt"/>
                <a:cs typeface="Arial"/>
              </a:rPr>
              <a:t>3-tier</a:t>
            </a:r>
            <a:r>
              <a:rPr lang="fr-FR" sz="2000" b="1" spc="-5" dirty="0" smtClean="0">
                <a:solidFill>
                  <a:srgbClr val="4C4C4C"/>
                </a:solidFill>
                <a:latin typeface="+mj-lt"/>
                <a:cs typeface="Arial"/>
              </a:rPr>
              <a:t>s</a:t>
            </a:r>
          </a:p>
          <a:p>
            <a:pPr marL="12700" defTabSz="914079">
              <a:spcBef>
                <a:spcPts val="100"/>
              </a:spcBef>
            </a:pPr>
            <a:r>
              <a:rPr lang="fr-FR" sz="2000" dirty="0" smtClean="0">
                <a:solidFill>
                  <a:srgbClr val="3366FF"/>
                </a:solidFill>
                <a:latin typeface="+mj-lt"/>
                <a:cs typeface="Arial"/>
              </a:rPr>
              <a:t>Le niveau client </a:t>
            </a: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:</a:t>
            </a:r>
          </a:p>
          <a:p>
            <a:pPr marL="12700" defTabSz="914079"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 un </a:t>
            </a:r>
            <a:r>
              <a:rPr lang="fr-FR" sz="2000" spc="-5" dirty="0" smtClean="0">
                <a:solidFill>
                  <a:srgbClr val="4C4C4C"/>
                </a:solidFill>
                <a:latin typeface="+mj-lt"/>
                <a:cs typeface="Arial"/>
              </a:rPr>
              <a:t>navigateur</a:t>
            </a:r>
            <a:r>
              <a:rPr lang="fr-FR" sz="2000" spc="-55" dirty="0" smtClean="0">
                <a:solidFill>
                  <a:srgbClr val="4C4C4C"/>
                </a:solidFill>
                <a:latin typeface="+mj-lt"/>
                <a:cs typeface="Arial"/>
              </a:rPr>
              <a:t> </a:t>
            </a:r>
            <a:r>
              <a:rPr lang="fr-FR" sz="2000" spc="-5" dirty="0" smtClean="0">
                <a:solidFill>
                  <a:srgbClr val="4C4C4C"/>
                </a:solidFill>
                <a:latin typeface="+mj-lt"/>
                <a:cs typeface="Arial"/>
              </a:rPr>
              <a:t>Web</a:t>
            </a:r>
          </a:p>
          <a:p>
            <a:pPr marL="12700" defTabSz="914079"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dirty="0">
                <a:solidFill>
                  <a:srgbClr val="4C4C4C"/>
                </a:solidFill>
                <a:latin typeface="+mj-lt"/>
                <a:cs typeface="Arial"/>
              </a:rPr>
              <a:t> Présente du contenu, par ex HTML</a:t>
            </a:r>
          </a:p>
          <a:p>
            <a:pPr marL="12700" defTabSz="914079">
              <a:spcBef>
                <a:spcPts val="20"/>
              </a:spcBef>
            </a:pPr>
            <a:r>
              <a:rPr lang="fr-FR" sz="2000" dirty="0" smtClean="0">
                <a:solidFill>
                  <a:srgbClr val="3366FF"/>
                </a:solidFill>
                <a:latin typeface="+mj-lt"/>
                <a:cs typeface="Arial"/>
              </a:rPr>
              <a:t>Le niveau</a:t>
            </a:r>
            <a:r>
              <a:rPr lang="fr-FR" sz="2000" spc="-5" dirty="0" smtClean="0">
                <a:solidFill>
                  <a:srgbClr val="3366FF"/>
                </a:solidFill>
                <a:latin typeface="+mj-lt"/>
                <a:cs typeface="Arial"/>
              </a:rPr>
              <a:t> intermédiaire</a:t>
            </a:r>
            <a:endParaRPr lang="fr-FR" sz="2000" dirty="0">
              <a:solidFill>
                <a:prstClr val="black"/>
              </a:solidFill>
              <a:latin typeface="+mj-lt"/>
              <a:cs typeface="Arial"/>
            </a:endParaRPr>
          </a:p>
          <a:p>
            <a:pPr marL="12700" defTabSz="914079"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Communique </a:t>
            </a:r>
            <a:r>
              <a:rPr lang="fr-FR" sz="2000" dirty="0">
                <a:solidFill>
                  <a:srgbClr val="4C4C4C"/>
                </a:solidFill>
                <a:latin typeface="+mj-lt"/>
                <a:cs typeface="Arial"/>
              </a:rPr>
              <a:t>avec le SGBD</a:t>
            </a:r>
          </a:p>
          <a:p>
            <a:pPr marL="12700" defTabSz="914079"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Gère </a:t>
            </a:r>
            <a:r>
              <a:rPr lang="fr-FR" sz="2000" dirty="0">
                <a:solidFill>
                  <a:srgbClr val="4C4C4C"/>
                </a:solidFill>
                <a:latin typeface="+mj-lt"/>
                <a:cs typeface="Arial"/>
              </a:rPr>
              <a:t>l’application (Java, C++, C# …)</a:t>
            </a:r>
          </a:p>
          <a:p>
            <a:pPr marL="12700" defTabSz="914079"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Génère </a:t>
            </a:r>
            <a:r>
              <a:rPr lang="fr-FR" sz="2000" dirty="0">
                <a:solidFill>
                  <a:srgbClr val="4C4C4C"/>
                </a:solidFill>
                <a:latin typeface="+mj-lt"/>
                <a:cs typeface="Arial"/>
              </a:rPr>
              <a:t>le contenu pour le client</a:t>
            </a:r>
          </a:p>
          <a:p>
            <a:pPr marL="12700" defTabSz="914079">
              <a:spcBef>
                <a:spcPts val="20"/>
              </a:spcBef>
            </a:pPr>
            <a:r>
              <a:rPr lang="fr-FR" sz="2000" dirty="0" smtClean="0">
                <a:solidFill>
                  <a:srgbClr val="3366FF"/>
                </a:solidFill>
                <a:latin typeface="+mj-lt"/>
                <a:cs typeface="Arial"/>
              </a:rPr>
              <a:t>Le niveau serveur </a:t>
            </a: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: base de</a:t>
            </a:r>
            <a:r>
              <a:rPr lang="fr-FR" sz="2000" spc="-110" dirty="0" smtClean="0">
                <a:solidFill>
                  <a:srgbClr val="4C4C4C"/>
                </a:solidFill>
                <a:latin typeface="+mj-lt"/>
                <a:cs typeface="Arial"/>
              </a:rPr>
              <a:t> </a:t>
            </a:r>
            <a:r>
              <a:rPr lang="fr-FR" sz="2000" dirty="0" smtClean="0">
                <a:solidFill>
                  <a:srgbClr val="4C4C4C"/>
                </a:solidFill>
                <a:latin typeface="+mj-lt"/>
                <a:cs typeface="Arial"/>
              </a:rPr>
              <a:t>données</a:t>
            </a:r>
            <a:endParaRPr lang="fr-FR" sz="2000" dirty="0">
              <a:solidFill>
                <a:prstClr val="black"/>
              </a:solidFill>
              <a:latin typeface="+mj-lt"/>
              <a:cs typeface="Arial"/>
            </a:endParaRPr>
          </a:p>
          <a:p>
            <a:pPr marL="12700" defTabSz="914079">
              <a:spcBef>
                <a:spcPts val="100"/>
              </a:spcBef>
            </a:pPr>
            <a:endParaRPr sz="2000" dirty="0">
              <a:solidFill>
                <a:prstClr val="black"/>
              </a:solidFill>
              <a:latin typeface="+mj-lt"/>
              <a:cs typeface="Arial"/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5940152" y="1530745"/>
            <a:ext cx="2524971" cy="3698455"/>
            <a:chOff x="6451235" y="160523"/>
            <a:chExt cx="2524971" cy="3698455"/>
          </a:xfrm>
        </p:grpSpPr>
        <p:sp>
          <p:nvSpPr>
            <p:cNvPr id="8" name="object 8"/>
            <p:cNvSpPr txBox="1"/>
            <p:nvPr/>
          </p:nvSpPr>
          <p:spPr>
            <a:xfrm>
              <a:off x="6451235" y="1523268"/>
              <a:ext cx="2162810" cy="432811"/>
            </a:xfrm>
            <a:prstGeom prst="rect">
              <a:avLst/>
            </a:prstGeom>
            <a:solidFill>
              <a:srgbClr val="D4FEFF"/>
            </a:solidFill>
            <a:ln w="25399">
              <a:solidFill>
                <a:srgbClr val="134165"/>
              </a:solidFill>
            </a:ln>
          </p:spPr>
          <p:txBody>
            <a:bodyPr vert="horz" wrap="square" lIns="0" tIns="62865" rIns="0" bIns="0" rtlCol="0">
              <a:spAutoFit/>
            </a:bodyPr>
            <a:lstStyle/>
            <a:p>
              <a:pPr marL="324485" defTabSz="914079">
                <a:spcBef>
                  <a:spcPts val="495"/>
                </a:spcBef>
              </a:pPr>
              <a:r>
                <a:rPr sz="2400" spc="-5" dirty="0">
                  <a:solidFill>
                    <a:prstClr val="black"/>
                  </a:solidFill>
                  <a:latin typeface="Arial"/>
                  <a:cs typeface="Arial"/>
                </a:rPr>
                <a:t>Application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51235" y="2756042"/>
              <a:ext cx="2162810" cy="333425"/>
            </a:xfrm>
            <a:prstGeom prst="rect">
              <a:avLst/>
            </a:prstGeom>
            <a:solidFill>
              <a:srgbClr val="FDDDC2"/>
            </a:solidFill>
            <a:ln w="25399">
              <a:solidFill>
                <a:srgbClr val="134165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647700" defTabSz="914079">
                <a:lnSpc>
                  <a:spcPts val="2585"/>
                </a:lnSpc>
              </a:pPr>
              <a:r>
                <a:rPr sz="2400" spc="-5" dirty="0">
                  <a:solidFill>
                    <a:prstClr val="black"/>
                  </a:solidFill>
                  <a:latin typeface="Arial"/>
                  <a:cs typeface="Arial"/>
                </a:rPr>
                <a:t>SGBD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10" name="object 10"/>
            <p:cNvGrpSpPr/>
            <p:nvPr/>
          </p:nvGrpSpPr>
          <p:grpSpPr>
            <a:xfrm>
              <a:off x="7475142" y="2274753"/>
              <a:ext cx="119380" cy="481753"/>
              <a:chOff x="7475142" y="1706064"/>
              <a:chExt cx="119380" cy="361315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7533595" y="1731268"/>
                <a:ext cx="254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11150">
                    <a:moveTo>
                      <a:pt x="0" y="0"/>
                    </a:moveTo>
                    <a:lnTo>
                      <a:pt x="2049" y="310747"/>
                    </a:lnTo>
                  </a:path>
                </a:pathLst>
              </a:custGeom>
              <a:ln w="19049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7475142" y="1706064"/>
                <a:ext cx="117906" cy="11620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7476192" y="1951018"/>
                <a:ext cx="117905" cy="11620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4" name="object 14"/>
            <p:cNvGrpSpPr/>
            <p:nvPr/>
          </p:nvGrpSpPr>
          <p:grpSpPr>
            <a:xfrm>
              <a:off x="6965337" y="3193499"/>
              <a:ext cx="1109345" cy="665479"/>
              <a:chOff x="6965336" y="2395124"/>
              <a:chExt cx="1109345" cy="499109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6978036" y="2625779"/>
                <a:ext cx="1083945" cy="255904"/>
              </a:xfrm>
              <a:custGeom>
                <a:avLst/>
                <a:gdLst/>
                <a:ahLst/>
                <a:cxnLst/>
                <a:rect l="l" t="t" r="r" b="b"/>
                <a:pathLst>
                  <a:path w="1083945" h="255905">
                    <a:moveTo>
                      <a:pt x="1083905" y="0"/>
                    </a:moveTo>
                    <a:lnTo>
                      <a:pt x="1033535" y="15381"/>
                    </a:lnTo>
                    <a:lnTo>
                      <a:pt x="950973" y="23937"/>
                    </a:lnTo>
                    <a:lnTo>
                      <a:pt x="897513" y="27536"/>
                    </a:lnTo>
                    <a:lnTo>
                      <a:pt x="837051" y="30607"/>
                    </a:lnTo>
                    <a:lnTo>
                      <a:pt x="770425" y="33094"/>
                    </a:lnTo>
                    <a:lnTo>
                      <a:pt x="698475" y="34941"/>
                    </a:lnTo>
                    <a:lnTo>
                      <a:pt x="622038" y="36090"/>
                    </a:lnTo>
                    <a:lnTo>
                      <a:pt x="541952" y="36485"/>
                    </a:lnTo>
                    <a:lnTo>
                      <a:pt x="461866" y="36090"/>
                    </a:lnTo>
                    <a:lnTo>
                      <a:pt x="385429" y="34941"/>
                    </a:lnTo>
                    <a:lnTo>
                      <a:pt x="313478" y="33094"/>
                    </a:lnTo>
                    <a:lnTo>
                      <a:pt x="246853" y="30607"/>
                    </a:lnTo>
                    <a:lnTo>
                      <a:pt x="186391" y="27536"/>
                    </a:lnTo>
                    <a:lnTo>
                      <a:pt x="132931" y="23937"/>
                    </a:lnTo>
                    <a:lnTo>
                      <a:pt x="87311" y="19867"/>
                    </a:lnTo>
                    <a:lnTo>
                      <a:pt x="22945" y="10537"/>
                    </a:lnTo>
                    <a:lnTo>
                      <a:pt x="0" y="0"/>
                    </a:lnTo>
                    <a:lnTo>
                      <a:pt x="0" y="218913"/>
                    </a:lnTo>
                    <a:lnTo>
                      <a:pt x="50370" y="234295"/>
                    </a:lnTo>
                    <a:lnTo>
                      <a:pt x="132931" y="242851"/>
                    </a:lnTo>
                    <a:lnTo>
                      <a:pt x="186391" y="246450"/>
                    </a:lnTo>
                    <a:lnTo>
                      <a:pt x="246853" y="249521"/>
                    </a:lnTo>
                    <a:lnTo>
                      <a:pt x="313478" y="252008"/>
                    </a:lnTo>
                    <a:lnTo>
                      <a:pt x="385429" y="253854"/>
                    </a:lnTo>
                    <a:lnTo>
                      <a:pt x="461866" y="255003"/>
                    </a:lnTo>
                    <a:lnTo>
                      <a:pt x="541952" y="255399"/>
                    </a:lnTo>
                    <a:lnTo>
                      <a:pt x="622038" y="255003"/>
                    </a:lnTo>
                    <a:lnTo>
                      <a:pt x="698475" y="253854"/>
                    </a:lnTo>
                    <a:lnTo>
                      <a:pt x="770425" y="252008"/>
                    </a:lnTo>
                    <a:lnTo>
                      <a:pt x="837051" y="249521"/>
                    </a:lnTo>
                    <a:lnTo>
                      <a:pt x="897513" y="246450"/>
                    </a:lnTo>
                    <a:lnTo>
                      <a:pt x="950973" y="242851"/>
                    </a:lnTo>
                    <a:lnTo>
                      <a:pt x="996593" y="238780"/>
                    </a:lnTo>
                    <a:lnTo>
                      <a:pt x="1060959" y="229451"/>
                    </a:lnTo>
                    <a:lnTo>
                      <a:pt x="1083905" y="218913"/>
                    </a:lnTo>
                    <a:lnTo>
                      <a:pt x="1083905" y="0"/>
                    </a:lnTo>
                    <a:close/>
                  </a:path>
                </a:pathLst>
              </a:custGeom>
              <a:solidFill>
                <a:srgbClr val="E4E5E9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6978036" y="2589293"/>
                <a:ext cx="108394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1083945" h="73025">
                    <a:moveTo>
                      <a:pt x="541952" y="0"/>
                    </a:moveTo>
                    <a:lnTo>
                      <a:pt x="461866" y="395"/>
                    </a:lnTo>
                    <a:lnTo>
                      <a:pt x="385429" y="1544"/>
                    </a:lnTo>
                    <a:lnTo>
                      <a:pt x="313478" y="3391"/>
                    </a:lnTo>
                    <a:lnTo>
                      <a:pt x="246853" y="5877"/>
                    </a:lnTo>
                    <a:lnTo>
                      <a:pt x="186391" y="8949"/>
                    </a:lnTo>
                    <a:lnTo>
                      <a:pt x="132931" y="12548"/>
                    </a:lnTo>
                    <a:lnTo>
                      <a:pt x="87311" y="16618"/>
                    </a:lnTo>
                    <a:lnTo>
                      <a:pt x="22945" y="25948"/>
                    </a:lnTo>
                    <a:lnTo>
                      <a:pt x="0" y="36485"/>
                    </a:lnTo>
                    <a:lnTo>
                      <a:pt x="5876" y="41877"/>
                    </a:lnTo>
                    <a:lnTo>
                      <a:pt x="50370" y="51867"/>
                    </a:lnTo>
                    <a:lnTo>
                      <a:pt x="132931" y="60423"/>
                    </a:lnTo>
                    <a:lnTo>
                      <a:pt x="186391" y="64022"/>
                    </a:lnTo>
                    <a:lnTo>
                      <a:pt x="246853" y="67093"/>
                    </a:lnTo>
                    <a:lnTo>
                      <a:pt x="313478" y="69580"/>
                    </a:lnTo>
                    <a:lnTo>
                      <a:pt x="385429" y="71426"/>
                    </a:lnTo>
                    <a:lnTo>
                      <a:pt x="461866" y="72576"/>
                    </a:lnTo>
                    <a:lnTo>
                      <a:pt x="541952" y="72971"/>
                    </a:lnTo>
                    <a:lnTo>
                      <a:pt x="622038" y="72576"/>
                    </a:lnTo>
                    <a:lnTo>
                      <a:pt x="698475" y="71426"/>
                    </a:lnTo>
                    <a:lnTo>
                      <a:pt x="770425" y="69580"/>
                    </a:lnTo>
                    <a:lnTo>
                      <a:pt x="837051" y="67093"/>
                    </a:lnTo>
                    <a:lnTo>
                      <a:pt x="897513" y="64022"/>
                    </a:lnTo>
                    <a:lnTo>
                      <a:pt x="950973" y="60423"/>
                    </a:lnTo>
                    <a:lnTo>
                      <a:pt x="996593" y="56352"/>
                    </a:lnTo>
                    <a:lnTo>
                      <a:pt x="1060959" y="47023"/>
                    </a:lnTo>
                    <a:lnTo>
                      <a:pt x="1083905" y="36485"/>
                    </a:lnTo>
                    <a:lnTo>
                      <a:pt x="1078029" y="31094"/>
                    </a:lnTo>
                    <a:lnTo>
                      <a:pt x="1033535" y="21104"/>
                    </a:lnTo>
                    <a:lnTo>
                      <a:pt x="950973" y="12548"/>
                    </a:lnTo>
                    <a:lnTo>
                      <a:pt x="897513" y="8949"/>
                    </a:lnTo>
                    <a:lnTo>
                      <a:pt x="837051" y="5877"/>
                    </a:lnTo>
                    <a:lnTo>
                      <a:pt x="770425" y="3391"/>
                    </a:lnTo>
                    <a:lnTo>
                      <a:pt x="698475" y="1544"/>
                    </a:lnTo>
                    <a:lnTo>
                      <a:pt x="622038" y="395"/>
                    </a:lnTo>
                    <a:lnTo>
                      <a:pt x="541952" y="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6978036" y="2589293"/>
                <a:ext cx="108394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1083945" h="292100">
                    <a:moveTo>
                      <a:pt x="1083906" y="36485"/>
                    </a:moveTo>
                    <a:lnTo>
                      <a:pt x="1033535" y="51867"/>
                    </a:lnTo>
                    <a:lnTo>
                      <a:pt x="950973" y="60423"/>
                    </a:lnTo>
                    <a:lnTo>
                      <a:pt x="897513" y="64022"/>
                    </a:lnTo>
                    <a:lnTo>
                      <a:pt x="837051" y="67093"/>
                    </a:lnTo>
                    <a:lnTo>
                      <a:pt x="770426" y="69580"/>
                    </a:lnTo>
                    <a:lnTo>
                      <a:pt x="698475" y="71427"/>
                    </a:lnTo>
                    <a:lnTo>
                      <a:pt x="622038" y="72576"/>
                    </a:lnTo>
                    <a:lnTo>
                      <a:pt x="541952" y="72971"/>
                    </a:lnTo>
                    <a:lnTo>
                      <a:pt x="461866" y="72576"/>
                    </a:lnTo>
                    <a:lnTo>
                      <a:pt x="385429" y="71427"/>
                    </a:lnTo>
                    <a:lnTo>
                      <a:pt x="313479" y="69580"/>
                    </a:lnTo>
                    <a:lnTo>
                      <a:pt x="246853" y="67093"/>
                    </a:lnTo>
                    <a:lnTo>
                      <a:pt x="186391" y="64022"/>
                    </a:lnTo>
                    <a:lnTo>
                      <a:pt x="132931" y="60423"/>
                    </a:lnTo>
                    <a:lnTo>
                      <a:pt x="87311" y="56352"/>
                    </a:lnTo>
                    <a:lnTo>
                      <a:pt x="22945" y="47023"/>
                    </a:lnTo>
                    <a:lnTo>
                      <a:pt x="0" y="36485"/>
                    </a:lnTo>
                    <a:lnTo>
                      <a:pt x="5876" y="31094"/>
                    </a:lnTo>
                    <a:lnTo>
                      <a:pt x="50370" y="21104"/>
                    </a:lnTo>
                    <a:lnTo>
                      <a:pt x="132931" y="12548"/>
                    </a:lnTo>
                    <a:lnTo>
                      <a:pt x="186391" y="8949"/>
                    </a:lnTo>
                    <a:lnTo>
                      <a:pt x="246853" y="5878"/>
                    </a:lnTo>
                    <a:lnTo>
                      <a:pt x="313479" y="3391"/>
                    </a:lnTo>
                    <a:lnTo>
                      <a:pt x="385429" y="1544"/>
                    </a:lnTo>
                    <a:lnTo>
                      <a:pt x="461866" y="395"/>
                    </a:lnTo>
                    <a:lnTo>
                      <a:pt x="541952" y="0"/>
                    </a:lnTo>
                    <a:lnTo>
                      <a:pt x="622038" y="395"/>
                    </a:lnTo>
                    <a:lnTo>
                      <a:pt x="698475" y="1544"/>
                    </a:lnTo>
                    <a:lnTo>
                      <a:pt x="770426" y="3391"/>
                    </a:lnTo>
                    <a:lnTo>
                      <a:pt x="837051" y="5878"/>
                    </a:lnTo>
                    <a:lnTo>
                      <a:pt x="897513" y="8949"/>
                    </a:lnTo>
                    <a:lnTo>
                      <a:pt x="950973" y="12548"/>
                    </a:lnTo>
                    <a:lnTo>
                      <a:pt x="996593" y="16618"/>
                    </a:lnTo>
                    <a:lnTo>
                      <a:pt x="1060960" y="25948"/>
                    </a:lnTo>
                    <a:lnTo>
                      <a:pt x="1083906" y="36485"/>
                    </a:lnTo>
                    <a:close/>
                  </a:path>
                  <a:path w="1083945" h="292100">
                    <a:moveTo>
                      <a:pt x="1083906" y="255399"/>
                    </a:moveTo>
                    <a:lnTo>
                      <a:pt x="1033535" y="270781"/>
                    </a:lnTo>
                    <a:lnTo>
                      <a:pt x="950973" y="279337"/>
                    </a:lnTo>
                    <a:lnTo>
                      <a:pt x="897513" y="282936"/>
                    </a:lnTo>
                    <a:lnTo>
                      <a:pt x="837051" y="286007"/>
                    </a:lnTo>
                    <a:lnTo>
                      <a:pt x="770426" y="288494"/>
                    </a:lnTo>
                    <a:lnTo>
                      <a:pt x="698475" y="290341"/>
                    </a:lnTo>
                    <a:lnTo>
                      <a:pt x="622038" y="291490"/>
                    </a:lnTo>
                    <a:lnTo>
                      <a:pt x="541952" y="291885"/>
                    </a:lnTo>
                    <a:lnTo>
                      <a:pt x="461866" y="291490"/>
                    </a:lnTo>
                    <a:lnTo>
                      <a:pt x="385429" y="290341"/>
                    </a:lnTo>
                    <a:lnTo>
                      <a:pt x="313479" y="288494"/>
                    </a:lnTo>
                    <a:lnTo>
                      <a:pt x="246853" y="286007"/>
                    </a:lnTo>
                    <a:lnTo>
                      <a:pt x="186391" y="282936"/>
                    </a:lnTo>
                    <a:lnTo>
                      <a:pt x="132931" y="279337"/>
                    </a:lnTo>
                    <a:lnTo>
                      <a:pt x="87311" y="275266"/>
                    </a:lnTo>
                    <a:lnTo>
                      <a:pt x="22945" y="265937"/>
                    </a:lnTo>
                    <a:lnTo>
                      <a:pt x="0" y="255399"/>
                    </a:lnTo>
                    <a:lnTo>
                      <a:pt x="0" y="36485"/>
                    </a:lnTo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461036" y="2395124"/>
                <a:ext cx="117908" cy="267139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9" name="object 19"/>
            <p:cNvSpPr/>
            <p:nvPr/>
          </p:nvSpPr>
          <p:spPr>
            <a:xfrm>
              <a:off x="6452093" y="160523"/>
              <a:ext cx="2152015" cy="843280"/>
            </a:xfrm>
            <a:custGeom>
              <a:avLst/>
              <a:gdLst/>
              <a:ahLst/>
              <a:cxnLst/>
              <a:rect l="l" t="t" r="r" b="b"/>
              <a:pathLst>
                <a:path w="2152015" h="632460">
                  <a:moveTo>
                    <a:pt x="2151804" y="0"/>
                  </a:moveTo>
                  <a:lnTo>
                    <a:pt x="0" y="0"/>
                  </a:lnTo>
                  <a:lnTo>
                    <a:pt x="0" y="632381"/>
                  </a:lnTo>
                  <a:lnTo>
                    <a:pt x="2151804" y="632381"/>
                  </a:lnTo>
                  <a:lnTo>
                    <a:pt x="2151804" y="0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451235" y="160523"/>
              <a:ext cx="2162810" cy="503984"/>
            </a:xfrm>
            <a:prstGeom prst="rect">
              <a:avLst/>
            </a:prstGeom>
            <a:ln w="25399">
              <a:solidFill>
                <a:srgbClr val="134165"/>
              </a:solidFill>
            </a:ln>
          </p:spPr>
          <p:txBody>
            <a:bodyPr vert="horz" wrap="square" lIns="0" tIns="133350" rIns="0" bIns="0" rtlCol="0">
              <a:spAutoFit/>
            </a:bodyPr>
            <a:lstStyle/>
            <a:p>
              <a:pPr marL="520700" defTabSz="914079">
                <a:spcBef>
                  <a:spcPts val="1050"/>
                </a:spcBef>
              </a:pPr>
              <a:r>
                <a:rPr sz="2400" dirty="0">
                  <a:solidFill>
                    <a:prstClr val="black"/>
                  </a:solidFill>
                  <a:latin typeface="Arial"/>
                  <a:cs typeface="Arial"/>
                </a:rPr>
                <a:t>Browser</a:t>
              </a:r>
              <a:endParaRPr sz="24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21" name="object 21"/>
            <p:cNvGrpSpPr/>
            <p:nvPr/>
          </p:nvGrpSpPr>
          <p:grpSpPr>
            <a:xfrm>
              <a:off x="7470488" y="1003698"/>
              <a:ext cx="120650" cy="519853"/>
              <a:chOff x="7470488" y="752773"/>
              <a:chExt cx="120650" cy="389890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7528354" y="777975"/>
                <a:ext cx="5080" cy="339725"/>
              </a:xfrm>
              <a:custGeom>
                <a:avLst/>
                <a:gdLst/>
                <a:ahLst/>
                <a:cxnLst/>
                <a:rect l="l" t="t" r="r" b="b"/>
                <a:pathLst>
                  <a:path w="5079" h="339725">
                    <a:moveTo>
                      <a:pt x="0" y="0"/>
                    </a:moveTo>
                    <a:lnTo>
                      <a:pt x="4836" y="339326"/>
                    </a:lnTo>
                  </a:path>
                </a:pathLst>
              </a:custGeom>
              <a:ln w="19049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7470488" y="752773"/>
                <a:ext cx="117896" cy="11653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7473161" y="1025969"/>
                <a:ext cx="117896" cy="116535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5" name="object 25"/>
            <p:cNvSpPr txBox="1"/>
            <p:nvPr/>
          </p:nvSpPr>
          <p:spPr>
            <a:xfrm>
              <a:off x="7606734" y="1121327"/>
              <a:ext cx="55626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079">
                <a:spcBef>
                  <a:spcPts val="100"/>
                </a:spcBef>
              </a:pPr>
              <a:r>
                <a:rPr sz="1600" dirty="0">
                  <a:solidFill>
                    <a:prstClr val="black"/>
                  </a:solidFill>
                  <a:latin typeface="Arial"/>
                  <a:cs typeface="Arial"/>
                </a:rPr>
                <a:t>HTTP</a:t>
              </a:r>
              <a:endParaRPr sz="16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148229" y="161690"/>
              <a:ext cx="827977" cy="84056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6870331" y="2343988"/>
              <a:ext cx="1459865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079">
                <a:spcBef>
                  <a:spcPts val="100"/>
                </a:spcBef>
              </a:pPr>
              <a:r>
                <a:rPr sz="1600" spc="-5" dirty="0">
                  <a:solidFill>
                    <a:prstClr val="black"/>
                  </a:solidFill>
                  <a:latin typeface="Arial"/>
                  <a:cs typeface="Arial"/>
                </a:rPr>
                <a:t>ODBC,</a:t>
              </a:r>
              <a:r>
                <a:rPr sz="1600" spc="-70" dirty="0">
                  <a:solidFill>
                    <a:prstClr val="black"/>
                  </a:solidFill>
                  <a:latin typeface="Arial"/>
                  <a:cs typeface="Arial"/>
                </a:rPr>
                <a:t> </a:t>
              </a:r>
              <a:r>
                <a:rPr sz="1600" dirty="0">
                  <a:solidFill>
                    <a:prstClr val="black"/>
                  </a:solidFill>
                  <a:latin typeface="Arial"/>
                  <a:cs typeface="Arial"/>
                </a:rPr>
                <a:t>JDBC…</a:t>
              </a:r>
              <a:endParaRPr sz="160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4294967295"/>
          </p:nvPr>
        </p:nvSpPr>
        <p:spPr>
          <a:xfrm>
            <a:off x="486625" y="6578557"/>
            <a:ext cx="23177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pPr marL="38100">
                <a:lnSpc>
                  <a:spcPts val="1315"/>
                </a:lnSpc>
              </a:pPr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3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38" y="323614"/>
            <a:ext cx="78422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spc="-5" dirty="0" smtClean="0"/>
              <a:t>Evolution des SI</a:t>
            </a:r>
            <a:endParaRPr sz="2500" dirty="0"/>
          </a:p>
        </p:txBody>
      </p:sp>
      <p:grpSp>
        <p:nvGrpSpPr>
          <p:cNvPr id="38" name="Groupe 37"/>
          <p:cNvGrpSpPr/>
          <p:nvPr/>
        </p:nvGrpSpPr>
        <p:grpSpPr>
          <a:xfrm>
            <a:off x="731772" y="2435655"/>
            <a:ext cx="6360508" cy="3585633"/>
            <a:chOff x="87581" y="1558401"/>
            <a:chExt cx="6360508" cy="3585633"/>
          </a:xfrm>
        </p:grpSpPr>
        <p:sp>
          <p:nvSpPr>
            <p:cNvPr id="6" name="object 6"/>
            <p:cNvSpPr/>
            <p:nvPr/>
          </p:nvSpPr>
          <p:spPr>
            <a:xfrm>
              <a:off x="4767879" y="4264395"/>
              <a:ext cx="1680210" cy="343747"/>
            </a:xfrm>
            <a:custGeom>
              <a:avLst/>
              <a:gdLst/>
              <a:ahLst/>
              <a:cxnLst/>
              <a:rect l="l" t="t" r="r" b="b"/>
              <a:pathLst>
                <a:path w="1680210" h="257810">
                  <a:moveTo>
                    <a:pt x="1679735" y="0"/>
                  </a:moveTo>
                  <a:lnTo>
                    <a:pt x="0" y="0"/>
                  </a:lnTo>
                  <a:lnTo>
                    <a:pt x="0" y="257667"/>
                  </a:lnTo>
                  <a:lnTo>
                    <a:pt x="1679735" y="257667"/>
                  </a:lnTo>
                  <a:lnTo>
                    <a:pt x="1679735" y="0"/>
                  </a:lnTo>
                  <a:close/>
                </a:path>
              </a:pathLst>
            </a:custGeom>
            <a:solidFill>
              <a:srgbClr val="DEE8C9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767879" y="4264395"/>
              <a:ext cx="1680210" cy="256480"/>
            </a:xfrm>
            <a:prstGeom prst="rect">
              <a:avLst/>
            </a:prstGeom>
            <a:ln w="25399">
              <a:solidFill>
                <a:srgbClr val="134165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464184" defTabSz="914079">
                <a:lnSpc>
                  <a:spcPts val="2030"/>
                </a:lnSpc>
              </a:pPr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SGBD3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8" name="object 8"/>
            <p:cNvGrpSpPr/>
            <p:nvPr/>
          </p:nvGrpSpPr>
          <p:grpSpPr>
            <a:xfrm>
              <a:off x="2326806" y="1558401"/>
              <a:ext cx="3701415" cy="3585633"/>
              <a:chOff x="2326805" y="1168800"/>
              <a:chExt cx="3701415" cy="2689225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3212653" y="2648377"/>
                <a:ext cx="2358390" cy="541655"/>
              </a:xfrm>
              <a:custGeom>
                <a:avLst/>
                <a:gdLst/>
                <a:ahLst/>
                <a:cxnLst/>
                <a:rect l="l" t="t" r="r" b="b"/>
                <a:pathLst>
                  <a:path w="2358390" h="541655">
                    <a:moveTo>
                      <a:pt x="0" y="0"/>
                    </a:moveTo>
                    <a:lnTo>
                      <a:pt x="2358349" y="541096"/>
                    </a:lnTo>
                  </a:path>
                </a:pathLst>
              </a:custGeom>
              <a:ln w="38099">
                <a:solidFill>
                  <a:srgbClr val="CBCBCB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5425722" y="3079886"/>
                <a:ext cx="182130" cy="167977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175408" y="3644248"/>
                <a:ext cx="840105" cy="200660"/>
              </a:xfrm>
              <a:custGeom>
                <a:avLst/>
                <a:gdLst/>
                <a:ahLst/>
                <a:cxnLst/>
                <a:rect l="l" t="t" r="r" b="b"/>
                <a:pathLst>
                  <a:path w="840104" h="200660">
                    <a:moveTo>
                      <a:pt x="839868" y="0"/>
                    </a:moveTo>
                    <a:lnTo>
                      <a:pt x="782535" y="14462"/>
                    </a:lnTo>
                    <a:lnTo>
                      <a:pt x="741105" y="18461"/>
                    </a:lnTo>
                    <a:lnTo>
                      <a:pt x="690492" y="21914"/>
                    </a:lnTo>
                    <a:lnTo>
                      <a:pt x="631883" y="24741"/>
                    </a:lnTo>
                    <a:lnTo>
                      <a:pt x="566463" y="26861"/>
                    </a:lnTo>
                    <a:lnTo>
                      <a:pt x="495418" y="28192"/>
                    </a:lnTo>
                    <a:lnTo>
                      <a:pt x="419934" y="28653"/>
                    </a:lnTo>
                    <a:lnTo>
                      <a:pt x="344450" y="28192"/>
                    </a:lnTo>
                    <a:lnTo>
                      <a:pt x="273406" y="26861"/>
                    </a:lnTo>
                    <a:lnTo>
                      <a:pt x="207985" y="24741"/>
                    </a:lnTo>
                    <a:lnTo>
                      <a:pt x="149376" y="21914"/>
                    </a:lnTo>
                    <a:lnTo>
                      <a:pt x="98763" y="18461"/>
                    </a:lnTo>
                    <a:lnTo>
                      <a:pt x="57333" y="14462"/>
                    </a:lnTo>
                    <a:lnTo>
                      <a:pt x="6765" y="5150"/>
                    </a:lnTo>
                    <a:lnTo>
                      <a:pt x="0" y="0"/>
                    </a:lnTo>
                    <a:lnTo>
                      <a:pt x="0" y="171923"/>
                    </a:lnTo>
                    <a:lnTo>
                      <a:pt x="57333" y="186385"/>
                    </a:lnTo>
                    <a:lnTo>
                      <a:pt x="98763" y="190385"/>
                    </a:lnTo>
                    <a:lnTo>
                      <a:pt x="149375" y="193838"/>
                    </a:lnTo>
                    <a:lnTo>
                      <a:pt x="207984" y="196665"/>
                    </a:lnTo>
                    <a:lnTo>
                      <a:pt x="273404" y="198784"/>
                    </a:lnTo>
                    <a:lnTo>
                      <a:pt x="344449" y="200115"/>
                    </a:lnTo>
                    <a:lnTo>
                      <a:pt x="419933" y="200577"/>
                    </a:lnTo>
                    <a:lnTo>
                      <a:pt x="495416" y="200115"/>
                    </a:lnTo>
                    <a:lnTo>
                      <a:pt x="566461" y="198784"/>
                    </a:lnTo>
                    <a:lnTo>
                      <a:pt x="631882" y="196665"/>
                    </a:lnTo>
                    <a:lnTo>
                      <a:pt x="690491" y="193838"/>
                    </a:lnTo>
                    <a:lnTo>
                      <a:pt x="741104" y="190385"/>
                    </a:lnTo>
                    <a:lnTo>
                      <a:pt x="782534" y="186385"/>
                    </a:lnTo>
                    <a:lnTo>
                      <a:pt x="833101" y="177074"/>
                    </a:lnTo>
                    <a:lnTo>
                      <a:pt x="839867" y="171923"/>
                    </a:lnTo>
                    <a:lnTo>
                      <a:pt x="839868" y="0"/>
                    </a:lnTo>
                    <a:close/>
                  </a:path>
                </a:pathLst>
              </a:custGeom>
              <a:solidFill>
                <a:srgbClr val="DEE8C9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175408" y="3615594"/>
                <a:ext cx="840105" cy="57785"/>
              </a:xfrm>
              <a:custGeom>
                <a:avLst/>
                <a:gdLst/>
                <a:ahLst/>
                <a:cxnLst/>
                <a:rect l="l" t="t" r="r" b="b"/>
                <a:pathLst>
                  <a:path w="840104" h="57785">
                    <a:moveTo>
                      <a:pt x="419934" y="0"/>
                    </a:moveTo>
                    <a:lnTo>
                      <a:pt x="344450" y="461"/>
                    </a:lnTo>
                    <a:lnTo>
                      <a:pt x="273406" y="1792"/>
                    </a:lnTo>
                    <a:lnTo>
                      <a:pt x="207985" y="3911"/>
                    </a:lnTo>
                    <a:lnTo>
                      <a:pt x="149376" y="6738"/>
                    </a:lnTo>
                    <a:lnTo>
                      <a:pt x="98763" y="10192"/>
                    </a:lnTo>
                    <a:lnTo>
                      <a:pt x="57333" y="14191"/>
                    </a:lnTo>
                    <a:lnTo>
                      <a:pt x="6765" y="23503"/>
                    </a:lnTo>
                    <a:lnTo>
                      <a:pt x="0" y="28653"/>
                    </a:lnTo>
                    <a:lnTo>
                      <a:pt x="6765" y="33804"/>
                    </a:lnTo>
                    <a:lnTo>
                      <a:pt x="57333" y="43116"/>
                    </a:lnTo>
                    <a:lnTo>
                      <a:pt x="98763" y="47115"/>
                    </a:lnTo>
                    <a:lnTo>
                      <a:pt x="149376" y="50568"/>
                    </a:lnTo>
                    <a:lnTo>
                      <a:pt x="207985" y="53395"/>
                    </a:lnTo>
                    <a:lnTo>
                      <a:pt x="273406" y="55514"/>
                    </a:lnTo>
                    <a:lnTo>
                      <a:pt x="344450" y="56845"/>
                    </a:lnTo>
                    <a:lnTo>
                      <a:pt x="419934" y="57307"/>
                    </a:lnTo>
                    <a:lnTo>
                      <a:pt x="495418" y="56845"/>
                    </a:lnTo>
                    <a:lnTo>
                      <a:pt x="566463" y="55514"/>
                    </a:lnTo>
                    <a:lnTo>
                      <a:pt x="631883" y="53395"/>
                    </a:lnTo>
                    <a:lnTo>
                      <a:pt x="690492" y="50568"/>
                    </a:lnTo>
                    <a:lnTo>
                      <a:pt x="741105" y="47115"/>
                    </a:lnTo>
                    <a:lnTo>
                      <a:pt x="782535" y="43116"/>
                    </a:lnTo>
                    <a:lnTo>
                      <a:pt x="833103" y="33804"/>
                    </a:lnTo>
                    <a:lnTo>
                      <a:pt x="839868" y="28653"/>
                    </a:lnTo>
                    <a:lnTo>
                      <a:pt x="833103" y="23503"/>
                    </a:lnTo>
                    <a:lnTo>
                      <a:pt x="782535" y="14191"/>
                    </a:lnTo>
                    <a:lnTo>
                      <a:pt x="741105" y="10192"/>
                    </a:lnTo>
                    <a:lnTo>
                      <a:pt x="690492" y="6738"/>
                    </a:lnTo>
                    <a:lnTo>
                      <a:pt x="631883" y="3911"/>
                    </a:lnTo>
                    <a:lnTo>
                      <a:pt x="566463" y="1792"/>
                    </a:lnTo>
                    <a:lnTo>
                      <a:pt x="495418" y="461"/>
                    </a:lnTo>
                    <a:lnTo>
                      <a:pt x="419934" y="0"/>
                    </a:lnTo>
                    <a:close/>
                  </a:path>
                </a:pathLst>
              </a:custGeom>
              <a:solidFill>
                <a:srgbClr val="ECF2DF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175407" y="3615594"/>
                <a:ext cx="840105" cy="229235"/>
              </a:xfrm>
              <a:custGeom>
                <a:avLst/>
                <a:gdLst/>
                <a:ahLst/>
                <a:cxnLst/>
                <a:rect l="l" t="t" r="r" b="b"/>
                <a:pathLst>
                  <a:path w="840104" h="229235">
                    <a:moveTo>
                      <a:pt x="839868" y="28653"/>
                    </a:moveTo>
                    <a:lnTo>
                      <a:pt x="782534" y="43116"/>
                    </a:lnTo>
                    <a:lnTo>
                      <a:pt x="741104" y="47115"/>
                    </a:lnTo>
                    <a:lnTo>
                      <a:pt x="690492" y="50568"/>
                    </a:lnTo>
                    <a:lnTo>
                      <a:pt x="631882" y="53395"/>
                    </a:lnTo>
                    <a:lnTo>
                      <a:pt x="566462" y="55515"/>
                    </a:lnTo>
                    <a:lnTo>
                      <a:pt x="495417" y="56846"/>
                    </a:lnTo>
                    <a:lnTo>
                      <a:pt x="419934" y="57308"/>
                    </a:lnTo>
                    <a:lnTo>
                      <a:pt x="344450" y="56846"/>
                    </a:lnTo>
                    <a:lnTo>
                      <a:pt x="273405" y="55515"/>
                    </a:lnTo>
                    <a:lnTo>
                      <a:pt x="207985" y="53395"/>
                    </a:lnTo>
                    <a:lnTo>
                      <a:pt x="149375" y="50568"/>
                    </a:lnTo>
                    <a:lnTo>
                      <a:pt x="98763" y="47115"/>
                    </a:lnTo>
                    <a:lnTo>
                      <a:pt x="57333" y="43116"/>
                    </a:lnTo>
                    <a:lnTo>
                      <a:pt x="6765" y="33804"/>
                    </a:lnTo>
                    <a:lnTo>
                      <a:pt x="0" y="28653"/>
                    </a:lnTo>
                    <a:lnTo>
                      <a:pt x="6765" y="23503"/>
                    </a:lnTo>
                    <a:lnTo>
                      <a:pt x="57333" y="14191"/>
                    </a:lnTo>
                    <a:lnTo>
                      <a:pt x="98763" y="10192"/>
                    </a:lnTo>
                    <a:lnTo>
                      <a:pt x="149375" y="6739"/>
                    </a:lnTo>
                    <a:lnTo>
                      <a:pt x="207985" y="3912"/>
                    </a:lnTo>
                    <a:lnTo>
                      <a:pt x="273405" y="1792"/>
                    </a:lnTo>
                    <a:lnTo>
                      <a:pt x="344450" y="461"/>
                    </a:lnTo>
                    <a:lnTo>
                      <a:pt x="419934" y="0"/>
                    </a:lnTo>
                    <a:lnTo>
                      <a:pt x="495417" y="461"/>
                    </a:lnTo>
                    <a:lnTo>
                      <a:pt x="566462" y="1792"/>
                    </a:lnTo>
                    <a:lnTo>
                      <a:pt x="631882" y="3912"/>
                    </a:lnTo>
                    <a:lnTo>
                      <a:pt x="690492" y="6739"/>
                    </a:lnTo>
                    <a:lnTo>
                      <a:pt x="741104" y="10192"/>
                    </a:lnTo>
                    <a:lnTo>
                      <a:pt x="782534" y="14191"/>
                    </a:lnTo>
                    <a:lnTo>
                      <a:pt x="833102" y="23503"/>
                    </a:lnTo>
                    <a:lnTo>
                      <a:pt x="839868" y="28653"/>
                    </a:lnTo>
                    <a:close/>
                  </a:path>
                  <a:path w="840104" h="229235">
                    <a:moveTo>
                      <a:pt x="839868" y="200577"/>
                    </a:moveTo>
                    <a:lnTo>
                      <a:pt x="782534" y="215040"/>
                    </a:lnTo>
                    <a:lnTo>
                      <a:pt x="741104" y="219039"/>
                    </a:lnTo>
                    <a:lnTo>
                      <a:pt x="690492" y="222492"/>
                    </a:lnTo>
                    <a:lnTo>
                      <a:pt x="631882" y="225319"/>
                    </a:lnTo>
                    <a:lnTo>
                      <a:pt x="566462" y="227439"/>
                    </a:lnTo>
                    <a:lnTo>
                      <a:pt x="495417" y="228770"/>
                    </a:lnTo>
                    <a:lnTo>
                      <a:pt x="419934" y="229231"/>
                    </a:lnTo>
                    <a:lnTo>
                      <a:pt x="344450" y="228770"/>
                    </a:lnTo>
                    <a:lnTo>
                      <a:pt x="273405" y="227439"/>
                    </a:lnTo>
                    <a:lnTo>
                      <a:pt x="207985" y="225319"/>
                    </a:lnTo>
                    <a:lnTo>
                      <a:pt x="149375" y="222492"/>
                    </a:lnTo>
                    <a:lnTo>
                      <a:pt x="98763" y="219039"/>
                    </a:lnTo>
                    <a:lnTo>
                      <a:pt x="57333" y="215040"/>
                    </a:lnTo>
                    <a:lnTo>
                      <a:pt x="6765" y="205728"/>
                    </a:lnTo>
                    <a:lnTo>
                      <a:pt x="0" y="200577"/>
                    </a:lnTo>
                    <a:lnTo>
                      <a:pt x="1" y="28653"/>
                    </a:lnTo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5536389" y="3463103"/>
                <a:ext cx="117908" cy="209797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2326805" y="1168800"/>
                <a:ext cx="1964946" cy="1589165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2650561" y="1706612"/>
              <a:ext cx="1144270" cy="125162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18745" defTabSz="914079">
                <a:spcBef>
                  <a:spcPts val="100"/>
                </a:spcBef>
              </a:pPr>
              <a:r>
                <a:rPr dirty="0">
                  <a:solidFill>
                    <a:prstClr val="black"/>
                  </a:solidFill>
                  <a:latin typeface="Arial"/>
                  <a:cs typeface="Arial"/>
                </a:rPr>
                <a:t>Browser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  <a:p>
              <a:pPr defTabSz="914079"/>
              <a:endParaRPr sz="2000">
                <a:solidFill>
                  <a:prstClr val="black"/>
                </a:solidFill>
                <a:latin typeface="Arial"/>
                <a:cs typeface="Arial"/>
              </a:endParaRPr>
            </a:p>
            <a:p>
              <a:pPr defTabSz="914079"/>
              <a:endParaRPr sz="2450">
                <a:solidFill>
                  <a:prstClr val="black"/>
                </a:solidFill>
                <a:latin typeface="Arial"/>
                <a:cs typeface="Arial"/>
              </a:endParaRPr>
            </a:p>
            <a:p>
              <a:pPr marL="12700" defTabSz="914079"/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Application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7581" y="4273071"/>
              <a:ext cx="1680210" cy="343747"/>
            </a:xfrm>
            <a:custGeom>
              <a:avLst/>
              <a:gdLst/>
              <a:ahLst/>
              <a:cxnLst/>
              <a:rect l="l" t="t" r="r" b="b"/>
              <a:pathLst>
                <a:path w="1680210" h="257810">
                  <a:moveTo>
                    <a:pt x="1679733" y="0"/>
                  </a:moveTo>
                  <a:lnTo>
                    <a:pt x="0" y="0"/>
                  </a:lnTo>
                  <a:lnTo>
                    <a:pt x="0" y="257667"/>
                  </a:lnTo>
                  <a:lnTo>
                    <a:pt x="1679733" y="257667"/>
                  </a:lnTo>
                  <a:lnTo>
                    <a:pt x="1679733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87581" y="4273071"/>
              <a:ext cx="1680210" cy="256480"/>
            </a:xfrm>
            <a:prstGeom prst="rect">
              <a:avLst/>
            </a:prstGeom>
            <a:ln w="25399">
              <a:solidFill>
                <a:srgbClr val="134165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464184" defTabSz="914079">
                <a:lnSpc>
                  <a:spcPts val="2000"/>
                </a:lnSpc>
              </a:pPr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SGBD1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19" name="object 19"/>
            <p:cNvGrpSpPr/>
            <p:nvPr/>
          </p:nvGrpSpPr>
          <p:grpSpPr>
            <a:xfrm>
              <a:off x="482411" y="3457274"/>
              <a:ext cx="2719705" cy="1685713"/>
              <a:chOff x="482410" y="2592955"/>
              <a:chExt cx="2719705" cy="1264285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964142" y="2649037"/>
                <a:ext cx="2200910" cy="546735"/>
              </a:xfrm>
              <a:custGeom>
                <a:avLst/>
                <a:gdLst/>
                <a:ahLst/>
                <a:cxnLst/>
                <a:rect l="l" t="t" r="r" b="b"/>
                <a:pathLst>
                  <a:path w="2200910" h="546735">
                    <a:moveTo>
                      <a:pt x="2200712" y="0"/>
                    </a:moveTo>
                    <a:lnTo>
                      <a:pt x="0" y="546651"/>
                    </a:lnTo>
                  </a:path>
                </a:pathLst>
              </a:custGeom>
              <a:ln w="38099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3018923" y="2592955"/>
                <a:ext cx="182623" cy="167393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927449" y="3084378"/>
                <a:ext cx="182623" cy="167394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495110" y="3643614"/>
                <a:ext cx="840105" cy="200660"/>
              </a:xfrm>
              <a:custGeom>
                <a:avLst/>
                <a:gdLst/>
                <a:ahLst/>
                <a:cxnLst/>
                <a:rect l="l" t="t" r="r" b="b"/>
                <a:pathLst>
                  <a:path w="840105" h="200660">
                    <a:moveTo>
                      <a:pt x="839868" y="0"/>
                    </a:moveTo>
                    <a:lnTo>
                      <a:pt x="782535" y="14462"/>
                    </a:lnTo>
                    <a:lnTo>
                      <a:pt x="741105" y="18461"/>
                    </a:lnTo>
                    <a:lnTo>
                      <a:pt x="690492" y="21915"/>
                    </a:lnTo>
                    <a:lnTo>
                      <a:pt x="631883" y="24742"/>
                    </a:lnTo>
                    <a:lnTo>
                      <a:pt x="566463" y="26862"/>
                    </a:lnTo>
                    <a:lnTo>
                      <a:pt x="495418" y="28193"/>
                    </a:lnTo>
                    <a:lnTo>
                      <a:pt x="419935" y="28655"/>
                    </a:lnTo>
                    <a:lnTo>
                      <a:pt x="344451" y="28193"/>
                    </a:lnTo>
                    <a:lnTo>
                      <a:pt x="273406" y="26862"/>
                    </a:lnTo>
                    <a:lnTo>
                      <a:pt x="207986" y="24742"/>
                    </a:lnTo>
                    <a:lnTo>
                      <a:pt x="149376" y="21915"/>
                    </a:lnTo>
                    <a:lnTo>
                      <a:pt x="98764" y="18461"/>
                    </a:lnTo>
                    <a:lnTo>
                      <a:pt x="57334" y="14462"/>
                    </a:lnTo>
                    <a:lnTo>
                      <a:pt x="6766" y="5150"/>
                    </a:lnTo>
                    <a:lnTo>
                      <a:pt x="1" y="0"/>
                    </a:lnTo>
                    <a:lnTo>
                      <a:pt x="0" y="171924"/>
                    </a:lnTo>
                    <a:lnTo>
                      <a:pt x="57333" y="186386"/>
                    </a:lnTo>
                    <a:lnTo>
                      <a:pt x="98763" y="190385"/>
                    </a:lnTo>
                    <a:lnTo>
                      <a:pt x="149375" y="193839"/>
                    </a:lnTo>
                    <a:lnTo>
                      <a:pt x="207985" y="196666"/>
                    </a:lnTo>
                    <a:lnTo>
                      <a:pt x="273405" y="198785"/>
                    </a:lnTo>
                    <a:lnTo>
                      <a:pt x="344450" y="200117"/>
                    </a:lnTo>
                    <a:lnTo>
                      <a:pt x="419933" y="200578"/>
                    </a:lnTo>
                    <a:lnTo>
                      <a:pt x="495417" y="200117"/>
                    </a:lnTo>
                    <a:lnTo>
                      <a:pt x="566462" y="198785"/>
                    </a:lnTo>
                    <a:lnTo>
                      <a:pt x="631882" y="196666"/>
                    </a:lnTo>
                    <a:lnTo>
                      <a:pt x="690491" y="193839"/>
                    </a:lnTo>
                    <a:lnTo>
                      <a:pt x="741104" y="190385"/>
                    </a:lnTo>
                    <a:lnTo>
                      <a:pt x="782534" y="186386"/>
                    </a:lnTo>
                    <a:lnTo>
                      <a:pt x="833101" y="177075"/>
                    </a:lnTo>
                    <a:lnTo>
                      <a:pt x="839867" y="171924"/>
                    </a:lnTo>
                    <a:lnTo>
                      <a:pt x="839868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495111" y="3614961"/>
                <a:ext cx="840105" cy="57785"/>
              </a:xfrm>
              <a:custGeom>
                <a:avLst/>
                <a:gdLst/>
                <a:ahLst/>
                <a:cxnLst/>
                <a:rect l="l" t="t" r="r" b="b"/>
                <a:pathLst>
                  <a:path w="840105" h="57785">
                    <a:moveTo>
                      <a:pt x="419934" y="0"/>
                    </a:moveTo>
                    <a:lnTo>
                      <a:pt x="344450" y="461"/>
                    </a:lnTo>
                    <a:lnTo>
                      <a:pt x="273405" y="1792"/>
                    </a:lnTo>
                    <a:lnTo>
                      <a:pt x="207985" y="3912"/>
                    </a:lnTo>
                    <a:lnTo>
                      <a:pt x="149375" y="6739"/>
                    </a:lnTo>
                    <a:lnTo>
                      <a:pt x="98763" y="10192"/>
                    </a:lnTo>
                    <a:lnTo>
                      <a:pt x="57333" y="14192"/>
                    </a:lnTo>
                    <a:lnTo>
                      <a:pt x="6765" y="23503"/>
                    </a:lnTo>
                    <a:lnTo>
                      <a:pt x="0" y="28653"/>
                    </a:lnTo>
                    <a:lnTo>
                      <a:pt x="6765" y="33804"/>
                    </a:lnTo>
                    <a:lnTo>
                      <a:pt x="57333" y="43116"/>
                    </a:lnTo>
                    <a:lnTo>
                      <a:pt x="98763" y="47115"/>
                    </a:lnTo>
                    <a:lnTo>
                      <a:pt x="149375" y="50569"/>
                    </a:lnTo>
                    <a:lnTo>
                      <a:pt x="207985" y="53396"/>
                    </a:lnTo>
                    <a:lnTo>
                      <a:pt x="273405" y="55515"/>
                    </a:lnTo>
                    <a:lnTo>
                      <a:pt x="344450" y="56847"/>
                    </a:lnTo>
                    <a:lnTo>
                      <a:pt x="419934" y="57308"/>
                    </a:lnTo>
                    <a:lnTo>
                      <a:pt x="495417" y="56847"/>
                    </a:lnTo>
                    <a:lnTo>
                      <a:pt x="566462" y="55515"/>
                    </a:lnTo>
                    <a:lnTo>
                      <a:pt x="631882" y="53396"/>
                    </a:lnTo>
                    <a:lnTo>
                      <a:pt x="690491" y="50569"/>
                    </a:lnTo>
                    <a:lnTo>
                      <a:pt x="741104" y="47115"/>
                    </a:lnTo>
                    <a:lnTo>
                      <a:pt x="782534" y="43116"/>
                    </a:lnTo>
                    <a:lnTo>
                      <a:pt x="833101" y="33804"/>
                    </a:lnTo>
                    <a:lnTo>
                      <a:pt x="839867" y="28653"/>
                    </a:lnTo>
                    <a:lnTo>
                      <a:pt x="833101" y="23503"/>
                    </a:lnTo>
                    <a:lnTo>
                      <a:pt x="782534" y="14192"/>
                    </a:lnTo>
                    <a:lnTo>
                      <a:pt x="741104" y="10192"/>
                    </a:lnTo>
                    <a:lnTo>
                      <a:pt x="690491" y="6739"/>
                    </a:lnTo>
                    <a:lnTo>
                      <a:pt x="631882" y="3912"/>
                    </a:lnTo>
                    <a:lnTo>
                      <a:pt x="566462" y="1792"/>
                    </a:lnTo>
                    <a:lnTo>
                      <a:pt x="495417" y="461"/>
                    </a:lnTo>
                    <a:lnTo>
                      <a:pt x="419934" y="0"/>
                    </a:lnTo>
                    <a:close/>
                  </a:path>
                </a:pathLst>
              </a:custGeom>
              <a:solidFill>
                <a:srgbClr val="FF7E79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95110" y="3614961"/>
                <a:ext cx="840105" cy="229235"/>
              </a:xfrm>
              <a:custGeom>
                <a:avLst/>
                <a:gdLst/>
                <a:ahLst/>
                <a:cxnLst/>
                <a:rect l="l" t="t" r="r" b="b"/>
                <a:pathLst>
                  <a:path w="840105" h="229235">
                    <a:moveTo>
                      <a:pt x="839867" y="28653"/>
                    </a:moveTo>
                    <a:lnTo>
                      <a:pt x="782534" y="43116"/>
                    </a:lnTo>
                    <a:lnTo>
                      <a:pt x="741104" y="47115"/>
                    </a:lnTo>
                    <a:lnTo>
                      <a:pt x="690491" y="50568"/>
                    </a:lnTo>
                    <a:lnTo>
                      <a:pt x="631882" y="53395"/>
                    </a:lnTo>
                    <a:lnTo>
                      <a:pt x="566462" y="55515"/>
                    </a:lnTo>
                    <a:lnTo>
                      <a:pt x="495417" y="56846"/>
                    </a:lnTo>
                    <a:lnTo>
                      <a:pt x="419933" y="57308"/>
                    </a:lnTo>
                    <a:lnTo>
                      <a:pt x="344450" y="56846"/>
                    </a:lnTo>
                    <a:lnTo>
                      <a:pt x="273405" y="55515"/>
                    </a:lnTo>
                    <a:lnTo>
                      <a:pt x="207985" y="53395"/>
                    </a:lnTo>
                    <a:lnTo>
                      <a:pt x="149375" y="50568"/>
                    </a:lnTo>
                    <a:lnTo>
                      <a:pt x="98763" y="47115"/>
                    </a:lnTo>
                    <a:lnTo>
                      <a:pt x="57333" y="43116"/>
                    </a:lnTo>
                    <a:lnTo>
                      <a:pt x="6765" y="33804"/>
                    </a:lnTo>
                    <a:lnTo>
                      <a:pt x="0" y="28653"/>
                    </a:lnTo>
                    <a:lnTo>
                      <a:pt x="6765" y="23503"/>
                    </a:lnTo>
                    <a:lnTo>
                      <a:pt x="57333" y="14191"/>
                    </a:lnTo>
                    <a:lnTo>
                      <a:pt x="98763" y="10192"/>
                    </a:lnTo>
                    <a:lnTo>
                      <a:pt x="149375" y="6739"/>
                    </a:lnTo>
                    <a:lnTo>
                      <a:pt x="207985" y="3912"/>
                    </a:lnTo>
                    <a:lnTo>
                      <a:pt x="273405" y="1792"/>
                    </a:lnTo>
                    <a:lnTo>
                      <a:pt x="344450" y="461"/>
                    </a:lnTo>
                    <a:lnTo>
                      <a:pt x="419933" y="0"/>
                    </a:lnTo>
                    <a:lnTo>
                      <a:pt x="495417" y="461"/>
                    </a:lnTo>
                    <a:lnTo>
                      <a:pt x="566462" y="1792"/>
                    </a:lnTo>
                    <a:lnTo>
                      <a:pt x="631882" y="3912"/>
                    </a:lnTo>
                    <a:lnTo>
                      <a:pt x="690491" y="6739"/>
                    </a:lnTo>
                    <a:lnTo>
                      <a:pt x="741104" y="10192"/>
                    </a:lnTo>
                    <a:lnTo>
                      <a:pt x="782534" y="14191"/>
                    </a:lnTo>
                    <a:lnTo>
                      <a:pt x="833102" y="23503"/>
                    </a:lnTo>
                    <a:lnTo>
                      <a:pt x="839867" y="28653"/>
                    </a:lnTo>
                    <a:close/>
                  </a:path>
                  <a:path w="840105" h="229235">
                    <a:moveTo>
                      <a:pt x="839867" y="200577"/>
                    </a:moveTo>
                    <a:lnTo>
                      <a:pt x="782534" y="215040"/>
                    </a:lnTo>
                    <a:lnTo>
                      <a:pt x="741104" y="219039"/>
                    </a:lnTo>
                    <a:lnTo>
                      <a:pt x="690491" y="222492"/>
                    </a:lnTo>
                    <a:lnTo>
                      <a:pt x="631882" y="225319"/>
                    </a:lnTo>
                    <a:lnTo>
                      <a:pt x="566462" y="227439"/>
                    </a:lnTo>
                    <a:lnTo>
                      <a:pt x="495417" y="228770"/>
                    </a:lnTo>
                    <a:lnTo>
                      <a:pt x="419933" y="229231"/>
                    </a:lnTo>
                    <a:lnTo>
                      <a:pt x="344450" y="228770"/>
                    </a:lnTo>
                    <a:lnTo>
                      <a:pt x="273405" y="227439"/>
                    </a:lnTo>
                    <a:lnTo>
                      <a:pt x="207985" y="225319"/>
                    </a:lnTo>
                    <a:lnTo>
                      <a:pt x="149375" y="222492"/>
                    </a:lnTo>
                    <a:lnTo>
                      <a:pt x="98763" y="219039"/>
                    </a:lnTo>
                    <a:lnTo>
                      <a:pt x="57333" y="215040"/>
                    </a:lnTo>
                    <a:lnTo>
                      <a:pt x="6765" y="205728"/>
                    </a:lnTo>
                    <a:lnTo>
                      <a:pt x="0" y="200577"/>
                    </a:lnTo>
                    <a:lnTo>
                      <a:pt x="1" y="28653"/>
                    </a:lnTo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856092" y="3462470"/>
                <a:ext cx="117907" cy="209797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2351907" y="4264395"/>
              <a:ext cx="1680210" cy="256480"/>
            </a:xfrm>
            <a:prstGeom prst="rect">
              <a:avLst/>
            </a:prstGeom>
            <a:solidFill>
              <a:srgbClr val="FFFB00"/>
            </a:solidFill>
            <a:ln w="25399">
              <a:solidFill>
                <a:srgbClr val="134165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464184" defTabSz="914079">
                <a:lnSpc>
                  <a:spcPts val="2000"/>
                </a:lnSpc>
              </a:pPr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SGBD2</a:t>
              </a:r>
              <a:endParaRPr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2746737" y="3519897"/>
              <a:ext cx="865505" cy="1614593"/>
              <a:chOff x="2746736" y="2639922"/>
              <a:chExt cx="865505" cy="121094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3186004" y="2677727"/>
                <a:ext cx="5715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482600">
                    <a:moveTo>
                      <a:pt x="0" y="0"/>
                    </a:moveTo>
                    <a:lnTo>
                      <a:pt x="5489" y="482396"/>
                    </a:lnTo>
                  </a:path>
                </a:pathLst>
              </a:custGeom>
              <a:ln w="38099">
                <a:solidFill>
                  <a:srgbClr val="FFFB00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3101710" y="2639922"/>
                <a:ext cx="171135" cy="17178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3104653" y="3026148"/>
                <a:ext cx="171135" cy="171780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2759435" y="3637109"/>
                <a:ext cx="840105" cy="200660"/>
              </a:xfrm>
              <a:custGeom>
                <a:avLst/>
                <a:gdLst/>
                <a:ahLst/>
                <a:cxnLst/>
                <a:rect l="l" t="t" r="r" b="b"/>
                <a:pathLst>
                  <a:path w="840104" h="200660">
                    <a:moveTo>
                      <a:pt x="839868" y="0"/>
                    </a:moveTo>
                    <a:lnTo>
                      <a:pt x="782535" y="14461"/>
                    </a:lnTo>
                    <a:lnTo>
                      <a:pt x="741105" y="18460"/>
                    </a:lnTo>
                    <a:lnTo>
                      <a:pt x="690492" y="21914"/>
                    </a:lnTo>
                    <a:lnTo>
                      <a:pt x="631883" y="24741"/>
                    </a:lnTo>
                    <a:lnTo>
                      <a:pt x="566463" y="26860"/>
                    </a:lnTo>
                    <a:lnTo>
                      <a:pt x="495418" y="28192"/>
                    </a:lnTo>
                    <a:lnTo>
                      <a:pt x="419934" y="28653"/>
                    </a:lnTo>
                    <a:lnTo>
                      <a:pt x="344450" y="28192"/>
                    </a:lnTo>
                    <a:lnTo>
                      <a:pt x="273406" y="26860"/>
                    </a:lnTo>
                    <a:lnTo>
                      <a:pt x="207986" y="24741"/>
                    </a:lnTo>
                    <a:lnTo>
                      <a:pt x="149376" y="21914"/>
                    </a:lnTo>
                    <a:lnTo>
                      <a:pt x="98764" y="18460"/>
                    </a:lnTo>
                    <a:lnTo>
                      <a:pt x="57334" y="14461"/>
                    </a:lnTo>
                    <a:lnTo>
                      <a:pt x="6766" y="5150"/>
                    </a:lnTo>
                    <a:lnTo>
                      <a:pt x="1" y="0"/>
                    </a:lnTo>
                    <a:lnTo>
                      <a:pt x="0" y="171923"/>
                    </a:lnTo>
                    <a:lnTo>
                      <a:pt x="57333" y="186385"/>
                    </a:lnTo>
                    <a:lnTo>
                      <a:pt x="98763" y="190385"/>
                    </a:lnTo>
                    <a:lnTo>
                      <a:pt x="149375" y="193838"/>
                    </a:lnTo>
                    <a:lnTo>
                      <a:pt x="207985" y="196665"/>
                    </a:lnTo>
                    <a:lnTo>
                      <a:pt x="273405" y="198784"/>
                    </a:lnTo>
                    <a:lnTo>
                      <a:pt x="344450" y="200115"/>
                    </a:lnTo>
                    <a:lnTo>
                      <a:pt x="419934" y="200577"/>
                    </a:lnTo>
                    <a:lnTo>
                      <a:pt x="495417" y="200115"/>
                    </a:lnTo>
                    <a:lnTo>
                      <a:pt x="566462" y="198784"/>
                    </a:lnTo>
                    <a:lnTo>
                      <a:pt x="631882" y="196665"/>
                    </a:lnTo>
                    <a:lnTo>
                      <a:pt x="690491" y="193838"/>
                    </a:lnTo>
                    <a:lnTo>
                      <a:pt x="741104" y="190385"/>
                    </a:lnTo>
                    <a:lnTo>
                      <a:pt x="782534" y="186385"/>
                    </a:lnTo>
                    <a:lnTo>
                      <a:pt x="833101" y="177074"/>
                    </a:lnTo>
                    <a:lnTo>
                      <a:pt x="839867" y="171923"/>
                    </a:lnTo>
                    <a:lnTo>
                      <a:pt x="839868" y="0"/>
                    </a:lnTo>
                    <a:close/>
                  </a:path>
                </a:pathLst>
              </a:custGeom>
              <a:solidFill>
                <a:srgbClr val="FFFB0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2759436" y="3608454"/>
                <a:ext cx="840105" cy="57785"/>
              </a:xfrm>
              <a:custGeom>
                <a:avLst/>
                <a:gdLst/>
                <a:ahLst/>
                <a:cxnLst/>
                <a:rect l="l" t="t" r="r" b="b"/>
                <a:pathLst>
                  <a:path w="840104" h="57785">
                    <a:moveTo>
                      <a:pt x="419933" y="0"/>
                    </a:moveTo>
                    <a:lnTo>
                      <a:pt x="344449" y="461"/>
                    </a:lnTo>
                    <a:lnTo>
                      <a:pt x="273404" y="1792"/>
                    </a:lnTo>
                    <a:lnTo>
                      <a:pt x="207984" y="3912"/>
                    </a:lnTo>
                    <a:lnTo>
                      <a:pt x="149375" y="6739"/>
                    </a:lnTo>
                    <a:lnTo>
                      <a:pt x="98763" y="10193"/>
                    </a:lnTo>
                    <a:lnTo>
                      <a:pt x="57333" y="14192"/>
                    </a:lnTo>
                    <a:lnTo>
                      <a:pt x="6765" y="23504"/>
                    </a:lnTo>
                    <a:lnTo>
                      <a:pt x="0" y="28655"/>
                    </a:lnTo>
                    <a:lnTo>
                      <a:pt x="6765" y="33805"/>
                    </a:lnTo>
                    <a:lnTo>
                      <a:pt x="57333" y="43116"/>
                    </a:lnTo>
                    <a:lnTo>
                      <a:pt x="98763" y="47115"/>
                    </a:lnTo>
                    <a:lnTo>
                      <a:pt x="149375" y="50569"/>
                    </a:lnTo>
                    <a:lnTo>
                      <a:pt x="207984" y="53396"/>
                    </a:lnTo>
                    <a:lnTo>
                      <a:pt x="273404" y="55516"/>
                    </a:lnTo>
                    <a:lnTo>
                      <a:pt x="344449" y="56847"/>
                    </a:lnTo>
                    <a:lnTo>
                      <a:pt x="419933" y="57308"/>
                    </a:lnTo>
                    <a:lnTo>
                      <a:pt x="495416" y="56847"/>
                    </a:lnTo>
                    <a:lnTo>
                      <a:pt x="566461" y="55516"/>
                    </a:lnTo>
                    <a:lnTo>
                      <a:pt x="631882" y="53396"/>
                    </a:lnTo>
                    <a:lnTo>
                      <a:pt x="690491" y="50569"/>
                    </a:lnTo>
                    <a:lnTo>
                      <a:pt x="741104" y="47115"/>
                    </a:lnTo>
                    <a:lnTo>
                      <a:pt x="782534" y="43116"/>
                    </a:lnTo>
                    <a:lnTo>
                      <a:pt x="833101" y="33805"/>
                    </a:lnTo>
                    <a:lnTo>
                      <a:pt x="839867" y="28655"/>
                    </a:lnTo>
                    <a:lnTo>
                      <a:pt x="833101" y="23504"/>
                    </a:lnTo>
                    <a:lnTo>
                      <a:pt x="782534" y="14192"/>
                    </a:lnTo>
                    <a:lnTo>
                      <a:pt x="741104" y="10193"/>
                    </a:lnTo>
                    <a:lnTo>
                      <a:pt x="690491" y="6739"/>
                    </a:lnTo>
                    <a:lnTo>
                      <a:pt x="631882" y="3912"/>
                    </a:lnTo>
                    <a:lnTo>
                      <a:pt x="566461" y="1792"/>
                    </a:lnTo>
                    <a:lnTo>
                      <a:pt x="495416" y="461"/>
                    </a:lnTo>
                    <a:lnTo>
                      <a:pt x="419933" y="0"/>
                    </a:lnTo>
                    <a:close/>
                  </a:path>
                </a:pathLst>
              </a:custGeom>
              <a:solidFill>
                <a:srgbClr val="FFFC78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2759436" y="3608454"/>
                <a:ext cx="840105" cy="229235"/>
              </a:xfrm>
              <a:custGeom>
                <a:avLst/>
                <a:gdLst/>
                <a:ahLst/>
                <a:cxnLst/>
                <a:rect l="l" t="t" r="r" b="b"/>
                <a:pathLst>
                  <a:path w="840104" h="229235">
                    <a:moveTo>
                      <a:pt x="839867" y="28653"/>
                    </a:moveTo>
                    <a:lnTo>
                      <a:pt x="782534" y="43116"/>
                    </a:lnTo>
                    <a:lnTo>
                      <a:pt x="741104" y="47115"/>
                    </a:lnTo>
                    <a:lnTo>
                      <a:pt x="690491" y="50568"/>
                    </a:lnTo>
                    <a:lnTo>
                      <a:pt x="631882" y="53395"/>
                    </a:lnTo>
                    <a:lnTo>
                      <a:pt x="566462" y="55515"/>
                    </a:lnTo>
                    <a:lnTo>
                      <a:pt x="495417" y="56846"/>
                    </a:lnTo>
                    <a:lnTo>
                      <a:pt x="419933" y="57308"/>
                    </a:lnTo>
                    <a:lnTo>
                      <a:pt x="344450" y="56846"/>
                    </a:lnTo>
                    <a:lnTo>
                      <a:pt x="273405" y="55515"/>
                    </a:lnTo>
                    <a:lnTo>
                      <a:pt x="207985" y="53395"/>
                    </a:lnTo>
                    <a:lnTo>
                      <a:pt x="149375" y="50568"/>
                    </a:lnTo>
                    <a:lnTo>
                      <a:pt x="98763" y="47115"/>
                    </a:lnTo>
                    <a:lnTo>
                      <a:pt x="57333" y="43116"/>
                    </a:lnTo>
                    <a:lnTo>
                      <a:pt x="6765" y="33804"/>
                    </a:lnTo>
                    <a:lnTo>
                      <a:pt x="0" y="28653"/>
                    </a:lnTo>
                    <a:lnTo>
                      <a:pt x="6765" y="23503"/>
                    </a:lnTo>
                    <a:lnTo>
                      <a:pt x="57333" y="14191"/>
                    </a:lnTo>
                    <a:lnTo>
                      <a:pt x="98763" y="10192"/>
                    </a:lnTo>
                    <a:lnTo>
                      <a:pt x="149375" y="6739"/>
                    </a:lnTo>
                    <a:lnTo>
                      <a:pt x="207985" y="3912"/>
                    </a:lnTo>
                    <a:lnTo>
                      <a:pt x="273405" y="1792"/>
                    </a:lnTo>
                    <a:lnTo>
                      <a:pt x="344450" y="461"/>
                    </a:lnTo>
                    <a:lnTo>
                      <a:pt x="419933" y="0"/>
                    </a:lnTo>
                    <a:lnTo>
                      <a:pt x="495417" y="461"/>
                    </a:lnTo>
                    <a:lnTo>
                      <a:pt x="566462" y="1792"/>
                    </a:lnTo>
                    <a:lnTo>
                      <a:pt x="631882" y="3912"/>
                    </a:lnTo>
                    <a:lnTo>
                      <a:pt x="690491" y="6739"/>
                    </a:lnTo>
                    <a:lnTo>
                      <a:pt x="741104" y="10192"/>
                    </a:lnTo>
                    <a:lnTo>
                      <a:pt x="782534" y="14191"/>
                    </a:lnTo>
                    <a:lnTo>
                      <a:pt x="833102" y="23503"/>
                    </a:lnTo>
                    <a:lnTo>
                      <a:pt x="839867" y="28653"/>
                    </a:lnTo>
                    <a:close/>
                  </a:path>
                  <a:path w="840104" h="229235">
                    <a:moveTo>
                      <a:pt x="839867" y="200577"/>
                    </a:moveTo>
                    <a:lnTo>
                      <a:pt x="782534" y="215040"/>
                    </a:lnTo>
                    <a:lnTo>
                      <a:pt x="741104" y="219039"/>
                    </a:lnTo>
                    <a:lnTo>
                      <a:pt x="690491" y="222492"/>
                    </a:lnTo>
                    <a:lnTo>
                      <a:pt x="631882" y="225319"/>
                    </a:lnTo>
                    <a:lnTo>
                      <a:pt x="566462" y="227439"/>
                    </a:lnTo>
                    <a:lnTo>
                      <a:pt x="495417" y="228770"/>
                    </a:lnTo>
                    <a:lnTo>
                      <a:pt x="419933" y="229231"/>
                    </a:lnTo>
                    <a:lnTo>
                      <a:pt x="344450" y="228770"/>
                    </a:lnTo>
                    <a:lnTo>
                      <a:pt x="273405" y="227439"/>
                    </a:lnTo>
                    <a:lnTo>
                      <a:pt x="207985" y="225319"/>
                    </a:lnTo>
                    <a:lnTo>
                      <a:pt x="149375" y="222492"/>
                    </a:lnTo>
                    <a:lnTo>
                      <a:pt x="98763" y="219039"/>
                    </a:lnTo>
                    <a:lnTo>
                      <a:pt x="57333" y="215040"/>
                    </a:lnTo>
                    <a:lnTo>
                      <a:pt x="6765" y="205728"/>
                    </a:lnTo>
                    <a:lnTo>
                      <a:pt x="0" y="200577"/>
                    </a:lnTo>
                    <a:lnTo>
                      <a:pt x="0" y="28653"/>
                    </a:lnTo>
                  </a:path>
                </a:pathLst>
              </a:custGeom>
              <a:ln w="25399">
                <a:solidFill>
                  <a:srgbClr val="13416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3120418" y="3455965"/>
                <a:ext cx="117907" cy="209797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6" name="object 36"/>
          <p:cNvSpPr txBox="1">
            <a:spLocks noGrp="1"/>
          </p:cNvSpPr>
          <p:nvPr>
            <p:ph type="sldNum" sz="quarter" idx="4294967295"/>
          </p:nvPr>
        </p:nvSpPr>
        <p:spPr>
          <a:xfrm>
            <a:off x="486625" y="6578557"/>
            <a:ext cx="23177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pPr marL="38100">
                <a:lnSpc>
                  <a:spcPts val="1315"/>
                </a:lnSpc>
              </a:pPr>
              <a:t>8</a:t>
            </a:fld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611560" y="908720"/>
            <a:ext cx="75608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spc="-35" dirty="0" smtClean="0"/>
              <a:t>Vers </a:t>
            </a:r>
            <a:r>
              <a:rPr lang="fr-FR" sz="2000" spc="-5" dirty="0" smtClean="0"/>
              <a:t>la distribution </a:t>
            </a:r>
            <a:r>
              <a:rPr lang="fr-FR" sz="2000" dirty="0" smtClean="0"/>
              <a:t>: </a:t>
            </a:r>
            <a:r>
              <a:rPr lang="fr-FR" sz="2000" spc="-5" dirty="0" smtClean="0"/>
              <a:t>plusieurs serveurs de</a:t>
            </a:r>
            <a:r>
              <a:rPr lang="fr-FR" sz="2000" spc="45" dirty="0" smtClean="0"/>
              <a:t> </a:t>
            </a:r>
            <a:r>
              <a:rPr lang="fr-FR" sz="2000" spc="-5" dirty="0" smtClean="0"/>
              <a:t>données</a:t>
            </a:r>
            <a:endParaRPr lang="fr-FR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504" y="-315416"/>
            <a:ext cx="7467600" cy="1143000"/>
          </a:xfrm>
        </p:spPr>
        <p:txBody>
          <a:bodyPr/>
          <a:lstStyle/>
          <a:p>
            <a:r>
              <a:rPr lang="fr-FR" dirty="0" smtClean="0"/>
              <a:t>Pourquoi distribuer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8435280" cy="4873752"/>
          </a:xfrm>
        </p:spPr>
        <p:txBody>
          <a:bodyPr/>
          <a:lstStyle/>
          <a:p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améliorer les</a:t>
            </a:r>
            <a:r>
              <a:rPr lang="fr-FR" spc="30" dirty="0" smtClean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</a:rPr>
              <a:t>performances</a:t>
            </a:r>
            <a:r>
              <a:rPr lang="fr-FR" spc="-5" dirty="0" smtClean="0">
                <a:solidFill>
                  <a:srgbClr val="4C4C4C"/>
                </a:solidFill>
                <a:latin typeface="Arial"/>
                <a:cs typeface="Arial"/>
                <a:sym typeface="Wingdings" pitchFamily="2" charset="2"/>
              </a:rPr>
              <a:t>BD Réparties (fragmentées)</a:t>
            </a:r>
          </a:p>
          <a:p>
            <a:endParaRPr lang="fr-FR" dirty="0"/>
          </a:p>
        </p:txBody>
      </p:sp>
      <p:grpSp>
        <p:nvGrpSpPr>
          <p:cNvPr id="4" name="Groupe 58"/>
          <p:cNvGrpSpPr/>
          <p:nvPr/>
        </p:nvGrpSpPr>
        <p:grpSpPr>
          <a:xfrm>
            <a:off x="395536" y="3645024"/>
            <a:ext cx="4824536" cy="2952328"/>
            <a:chOff x="8316" y="1668087"/>
            <a:chExt cx="4625292" cy="4661288"/>
          </a:xfrm>
        </p:grpSpPr>
        <p:grpSp>
          <p:nvGrpSpPr>
            <p:cNvPr id="5" name="object 60"/>
            <p:cNvGrpSpPr/>
            <p:nvPr/>
          </p:nvGrpSpPr>
          <p:grpSpPr>
            <a:xfrm>
              <a:off x="303418" y="4843549"/>
              <a:ext cx="4318635" cy="770467"/>
              <a:chOff x="303414" y="3632661"/>
              <a:chExt cx="4318635" cy="577850"/>
            </a:xfrm>
          </p:grpSpPr>
          <p:sp>
            <p:nvSpPr>
              <p:cNvPr id="170" name="object 61"/>
              <p:cNvSpPr/>
              <p:nvPr/>
            </p:nvSpPr>
            <p:spPr>
              <a:xfrm>
                <a:off x="303414" y="3965170"/>
                <a:ext cx="922712" cy="245225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1" name="object 62"/>
              <p:cNvSpPr/>
              <p:nvPr/>
            </p:nvSpPr>
            <p:spPr>
              <a:xfrm>
                <a:off x="354884" y="3992930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79">
                    <a:moveTo>
                      <a:pt x="821797" y="0"/>
                    </a:moveTo>
                    <a:lnTo>
                      <a:pt x="0" y="0"/>
                    </a:lnTo>
                    <a:lnTo>
                      <a:pt x="0" y="144778"/>
                    </a:lnTo>
                    <a:lnTo>
                      <a:pt x="821797" y="144778"/>
                    </a:lnTo>
                    <a:lnTo>
                      <a:pt x="821797" y="0"/>
                    </a:lnTo>
                    <a:close/>
                  </a:path>
                </a:pathLst>
              </a:custGeom>
              <a:solidFill>
                <a:srgbClr val="D4FDD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2" name="object 63"/>
              <p:cNvSpPr/>
              <p:nvPr/>
            </p:nvSpPr>
            <p:spPr>
              <a:xfrm>
                <a:off x="354884" y="3992930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79">
                    <a:moveTo>
                      <a:pt x="0" y="0"/>
                    </a:moveTo>
                    <a:lnTo>
                      <a:pt x="821797" y="0"/>
                    </a:lnTo>
                    <a:lnTo>
                      <a:pt x="821797" y="144778"/>
                    </a:lnTo>
                    <a:lnTo>
                      <a:pt x="0" y="144778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object 64"/>
              <p:cNvSpPr/>
              <p:nvPr/>
            </p:nvSpPr>
            <p:spPr>
              <a:xfrm>
                <a:off x="361603" y="3703319"/>
                <a:ext cx="4260272" cy="245225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object 65"/>
              <p:cNvSpPr/>
              <p:nvPr/>
            </p:nvSpPr>
            <p:spPr>
              <a:xfrm>
                <a:off x="2057399" y="3632661"/>
                <a:ext cx="881148" cy="399010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object 66"/>
              <p:cNvSpPr/>
              <p:nvPr/>
            </p:nvSpPr>
            <p:spPr>
              <a:xfrm>
                <a:off x="412588" y="3732283"/>
                <a:ext cx="415861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4158615" h="144779">
                    <a:moveTo>
                      <a:pt x="2160945" y="0"/>
                    </a:moveTo>
                    <a:lnTo>
                      <a:pt x="1916802" y="163"/>
                    </a:lnTo>
                    <a:lnTo>
                      <a:pt x="1679616" y="1281"/>
                    </a:lnTo>
                    <a:lnTo>
                      <a:pt x="1451686" y="3301"/>
                    </a:lnTo>
                    <a:lnTo>
                      <a:pt x="1234573" y="6168"/>
                    </a:lnTo>
                    <a:lnTo>
                      <a:pt x="1029836" y="9828"/>
                    </a:lnTo>
                    <a:lnTo>
                      <a:pt x="839036" y="14227"/>
                    </a:lnTo>
                    <a:lnTo>
                      <a:pt x="663733" y="19310"/>
                    </a:lnTo>
                    <a:lnTo>
                      <a:pt x="556244" y="23052"/>
                    </a:lnTo>
                    <a:lnTo>
                      <a:pt x="456798" y="27058"/>
                    </a:lnTo>
                    <a:lnTo>
                      <a:pt x="365858" y="31312"/>
                    </a:lnTo>
                    <a:lnTo>
                      <a:pt x="283885" y="35797"/>
                    </a:lnTo>
                    <a:lnTo>
                      <a:pt x="211342" y="40499"/>
                    </a:lnTo>
                    <a:lnTo>
                      <a:pt x="148691" y="45399"/>
                    </a:lnTo>
                    <a:lnTo>
                      <a:pt x="96395" y="50484"/>
                    </a:lnTo>
                    <a:lnTo>
                      <a:pt x="54915" y="55735"/>
                    </a:lnTo>
                    <a:lnTo>
                      <a:pt x="13988" y="63891"/>
                    </a:lnTo>
                    <a:lnTo>
                      <a:pt x="0" y="72333"/>
                    </a:lnTo>
                    <a:lnTo>
                      <a:pt x="1573" y="75176"/>
                    </a:lnTo>
                    <a:lnTo>
                      <a:pt x="38376" y="86249"/>
                    </a:lnTo>
                    <a:lnTo>
                      <a:pt x="96395" y="94184"/>
                    </a:lnTo>
                    <a:lnTo>
                      <a:pt x="148691" y="99268"/>
                    </a:lnTo>
                    <a:lnTo>
                      <a:pt x="246406" y="106546"/>
                    </a:lnTo>
                    <a:lnTo>
                      <a:pt x="323721" y="111141"/>
                    </a:lnTo>
                    <a:lnTo>
                      <a:pt x="410236" y="115513"/>
                    </a:lnTo>
                    <a:lnTo>
                      <a:pt x="505487" y="119645"/>
                    </a:lnTo>
                    <a:lnTo>
                      <a:pt x="609012" y="123522"/>
                    </a:lnTo>
                    <a:lnTo>
                      <a:pt x="720349" y="127126"/>
                    </a:lnTo>
                    <a:lnTo>
                      <a:pt x="900991" y="131987"/>
                    </a:lnTo>
                    <a:lnTo>
                      <a:pt x="1096610" y="136146"/>
                    </a:lnTo>
                    <a:lnTo>
                      <a:pt x="1305646" y="139547"/>
                    </a:lnTo>
                    <a:lnTo>
                      <a:pt x="1526538" y="142138"/>
                    </a:lnTo>
                    <a:lnTo>
                      <a:pt x="1757727" y="143864"/>
                    </a:lnTo>
                    <a:lnTo>
                      <a:pt x="1997651" y="144669"/>
                    </a:lnTo>
                    <a:lnTo>
                      <a:pt x="2241794" y="144506"/>
                    </a:lnTo>
                    <a:lnTo>
                      <a:pt x="2478980" y="143388"/>
                    </a:lnTo>
                    <a:lnTo>
                      <a:pt x="2706910" y="141368"/>
                    </a:lnTo>
                    <a:lnTo>
                      <a:pt x="2924023" y="138501"/>
                    </a:lnTo>
                    <a:lnTo>
                      <a:pt x="3128760" y="134841"/>
                    </a:lnTo>
                    <a:lnTo>
                      <a:pt x="3319560" y="130442"/>
                    </a:lnTo>
                    <a:lnTo>
                      <a:pt x="3494863" y="125359"/>
                    </a:lnTo>
                    <a:lnTo>
                      <a:pt x="3602352" y="121616"/>
                    </a:lnTo>
                    <a:lnTo>
                      <a:pt x="3701798" y="117610"/>
                    </a:lnTo>
                    <a:lnTo>
                      <a:pt x="3792739" y="113356"/>
                    </a:lnTo>
                    <a:lnTo>
                      <a:pt x="3874711" y="108871"/>
                    </a:lnTo>
                    <a:lnTo>
                      <a:pt x="3947254" y="104169"/>
                    </a:lnTo>
                    <a:lnTo>
                      <a:pt x="4009905" y="99268"/>
                    </a:lnTo>
                    <a:lnTo>
                      <a:pt x="4062201" y="94184"/>
                    </a:lnTo>
                    <a:lnTo>
                      <a:pt x="4103681" y="88932"/>
                    </a:lnTo>
                    <a:lnTo>
                      <a:pt x="4144608" y="80776"/>
                    </a:lnTo>
                    <a:lnTo>
                      <a:pt x="4158596" y="72333"/>
                    </a:lnTo>
                    <a:lnTo>
                      <a:pt x="4157023" y="69491"/>
                    </a:lnTo>
                    <a:lnTo>
                      <a:pt x="4120220" y="58419"/>
                    </a:lnTo>
                    <a:lnTo>
                      <a:pt x="4062201" y="50484"/>
                    </a:lnTo>
                    <a:lnTo>
                      <a:pt x="4009905" y="45399"/>
                    </a:lnTo>
                    <a:lnTo>
                      <a:pt x="3912191" y="38122"/>
                    </a:lnTo>
                    <a:lnTo>
                      <a:pt x="3834875" y="33527"/>
                    </a:lnTo>
                    <a:lnTo>
                      <a:pt x="3748360" y="29155"/>
                    </a:lnTo>
                    <a:lnTo>
                      <a:pt x="3653110" y="25023"/>
                    </a:lnTo>
                    <a:lnTo>
                      <a:pt x="3549584" y="21147"/>
                    </a:lnTo>
                    <a:lnTo>
                      <a:pt x="3438247" y="17543"/>
                    </a:lnTo>
                    <a:lnTo>
                      <a:pt x="3257605" y="12682"/>
                    </a:lnTo>
                    <a:lnTo>
                      <a:pt x="3061986" y="8523"/>
                    </a:lnTo>
                    <a:lnTo>
                      <a:pt x="2852950" y="5121"/>
                    </a:lnTo>
                    <a:lnTo>
                      <a:pt x="2632058" y="2530"/>
                    </a:lnTo>
                    <a:lnTo>
                      <a:pt x="2400869" y="805"/>
                    </a:lnTo>
                    <a:lnTo>
                      <a:pt x="2160945" y="0"/>
                    </a:lnTo>
                    <a:close/>
                  </a:path>
                </a:pathLst>
              </a:custGeom>
              <a:solidFill>
                <a:srgbClr val="CEE1F3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object 67"/>
              <p:cNvSpPr/>
              <p:nvPr/>
            </p:nvSpPr>
            <p:spPr>
              <a:xfrm>
                <a:off x="412588" y="3732228"/>
                <a:ext cx="415861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4158615" h="144779">
                    <a:moveTo>
                      <a:pt x="0" y="72389"/>
                    </a:moveTo>
                    <a:lnTo>
                      <a:pt x="38376" y="58475"/>
                    </a:lnTo>
                    <a:lnTo>
                      <a:pt x="96395" y="50539"/>
                    </a:lnTo>
                    <a:lnTo>
                      <a:pt x="148691" y="45455"/>
                    </a:lnTo>
                    <a:lnTo>
                      <a:pt x="211342" y="40554"/>
                    </a:lnTo>
                    <a:lnTo>
                      <a:pt x="283885" y="35853"/>
                    </a:lnTo>
                    <a:lnTo>
                      <a:pt x="323721" y="33582"/>
                    </a:lnTo>
                    <a:lnTo>
                      <a:pt x="365858" y="31367"/>
                    </a:lnTo>
                    <a:lnTo>
                      <a:pt x="410236" y="29210"/>
                    </a:lnTo>
                    <a:lnTo>
                      <a:pt x="456798" y="27113"/>
                    </a:lnTo>
                    <a:lnTo>
                      <a:pt x="505487" y="25078"/>
                    </a:lnTo>
                    <a:lnTo>
                      <a:pt x="556244" y="23107"/>
                    </a:lnTo>
                    <a:lnTo>
                      <a:pt x="609012" y="21202"/>
                    </a:lnTo>
                    <a:lnTo>
                      <a:pt x="663733" y="19365"/>
                    </a:lnTo>
                    <a:lnTo>
                      <a:pt x="720349" y="17598"/>
                    </a:lnTo>
                    <a:lnTo>
                      <a:pt x="778803" y="15903"/>
                    </a:lnTo>
                    <a:lnTo>
                      <a:pt x="839036" y="14282"/>
                    </a:lnTo>
                    <a:lnTo>
                      <a:pt x="900991" y="12737"/>
                    </a:lnTo>
                    <a:lnTo>
                      <a:pt x="964611" y="11270"/>
                    </a:lnTo>
                    <a:lnTo>
                      <a:pt x="1029836" y="9883"/>
                    </a:lnTo>
                    <a:lnTo>
                      <a:pt x="1096610" y="8578"/>
                    </a:lnTo>
                    <a:lnTo>
                      <a:pt x="1164875" y="7357"/>
                    </a:lnTo>
                    <a:lnTo>
                      <a:pt x="1234573" y="6223"/>
                    </a:lnTo>
                    <a:lnTo>
                      <a:pt x="1305646" y="5176"/>
                    </a:lnTo>
                    <a:lnTo>
                      <a:pt x="1378036" y="4220"/>
                    </a:lnTo>
                    <a:lnTo>
                      <a:pt x="1451686" y="3355"/>
                    </a:lnTo>
                    <a:lnTo>
                      <a:pt x="1526538" y="2585"/>
                    </a:lnTo>
                    <a:lnTo>
                      <a:pt x="1602534" y="1911"/>
                    </a:lnTo>
                    <a:lnTo>
                      <a:pt x="1679616" y="1336"/>
                    </a:lnTo>
                    <a:lnTo>
                      <a:pt x="1757727" y="860"/>
                    </a:lnTo>
                    <a:lnTo>
                      <a:pt x="1836808" y="487"/>
                    </a:lnTo>
                    <a:lnTo>
                      <a:pt x="1916802" y="217"/>
                    </a:lnTo>
                    <a:lnTo>
                      <a:pt x="1997651" y="54"/>
                    </a:lnTo>
                    <a:lnTo>
                      <a:pt x="2079298" y="0"/>
                    </a:lnTo>
                    <a:lnTo>
                      <a:pt x="2160945" y="54"/>
                    </a:lnTo>
                    <a:lnTo>
                      <a:pt x="2241794" y="217"/>
                    </a:lnTo>
                    <a:lnTo>
                      <a:pt x="2321788" y="487"/>
                    </a:lnTo>
                    <a:lnTo>
                      <a:pt x="2400869" y="860"/>
                    </a:lnTo>
                    <a:lnTo>
                      <a:pt x="2478980" y="1336"/>
                    </a:lnTo>
                    <a:lnTo>
                      <a:pt x="2556062" y="1911"/>
                    </a:lnTo>
                    <a:lnTo>
                      <a:pt x="2632058" y="2585"/>
                    </a:lnTo>
                    <a:lnTo>
                      <a:pt x="2706910" y="3355"/>
                    </a:lnTo>
                    <a:lnTo>
                      <a:pt x="2780560" y="4220"/>
                    </a:lnTo>
                    <a:lnTo>
                      <a:pt x="2852950" y="5176"/>
                    </a:lnTo>
                    <a:lnTo>
                      <a:pt x="2924023" y="6223"/>
                    </a:lnTo>
                    <a:lnTo>
                      <a:pt x="2993721" y="7357"/>
                    </a:lnTo>
                    <a:lnTo>
                      <a:pt x="3061986" y="8578"/>
                    </a:lnTo>
                    <a:lnTo>
                      <a:pt x="3128760" y="9883"/>
                    </a:lnTo>
                    <a:lnTo>
                      <a:pt x="3193985" y="11270"/>
                    </a:lnTo>
                    <a:lnTo>
                      <a:pt x="3257605" y="12737"/>
                    </a:lnTo>
                    <a:lnTo>
                      <a:pt x="3319560" y="14282"/>
                    </a:lnTo>
                    <a:lnTo>
                      <a:pt x="3379793" y="15903"/>
                    </a:lnTo>
                    <a:lnTo>
                      <a:pt x="3438247" y="17598"/>
                    </a:lnTo>
                    <a:lnTo>
                      <a:pt x="3494863" y="19365"/>
                    </a:lnTo>
                    <a:lnTo>
                      <a:pt x="3549584" y="21202"/>
                    </a:lnTo>
                    <a:lnTo>
                      <a:pt x="3602352" y="23107"/>
                    </a:lnTo>
                    <a:lnTo>
                      <a:pt x="3653109" y="25078"/>
                    </a:lnTo>
                    <a:lnTo>
                      <a:pt x="3701798" y="27113"/>
                    </a:lnTo>
                    <a:lnTo>
                      <a:pt x="3748360" y="29210"/>
                    </a:lnTo>
                    <a:lnTo>
                      <a:pt x="3792738" y="31367"/>
                    </a:lnTo>
                    <a:lnTo>
                      <a:pt x="3834875" y="33582"/>
                    </a:lnTo>
                    <a:lnTo>
                      <a:pt x="3874711" y="35853"/>
                    </a:lnTo>
                    <a:lnTo>
                      <a:pt x="3947254" y="40554"/>
                    </a:lnTo>
                    <a:lnTo>
                      <a:pt x="4009905" y="45455"/>
                    </a:lnTo>
                    <a:lnTo>
                      <a:pt x="4062201" y="50539"/>
                    </a:lnTo>
                    <a:lnTo>
                      <a:pt x="4103681" y="55791"/>
                    </a:lnTo>
                    <a:lnTo>
                      <a:pt x="4144607" y="63947"/>
                    </a:lnTo>
                    <a:lnTo>
                      <a:pt x="4158596" y="72389"/>
                    </a:lnTo>
                    <a:lnTo>
                      <a:pt x="4157023" y="75232"/>
                    </a:lnTo>
                    <a:lnTo>
                      <a:pt x="4120220" y="86304"/>
                    </a:lnTo>
                    <a:lnTo>
                      <a:pt x="4062201" y="94240"/>
                    </a:lnTo>
                    <a:lnTo>
                      <a:pt x="4009905" y="99324"/>
                    </a:lnTo>
                    <a:lnTo>
                      <a:pt x="3947254" y="104225"/>
                    </a:lnTo>
                    <a:lnTo>
                      <a:pt x="3874711" y="108926"/>
                    </a:lnTo>
                    <a:lnTo>
                      <a:pt x="3834875" y="111197"/>
                    </a:lnTo>
                    <a:lnTo>
                      <a:pt x="3792738" y="113412"/>
                    </a:lnTo>
                    <a:lnTo>
                      <a:pt x="3748360" y="115569"/>
                    </a:lnTo>
                    <a:lnTo>
                      <a:pt x="3701798" y="117666"/>
                    </a:lnTo>
                    <a:lnTo>
                      <a:pt x="3653109" y="119701"/>
                    </a:lnTo>
                    <a:lnTo>
                      <a:pt x="3602352" y="121672"/>
                    </a:lnTo>
                    <a:lnTo>
                      <a:pt x="3549584" y="123577"/>
                    </a:lnTo>
                    <a:lnTo>
                      <a:pt x="3494863" y="125414"/>
                    </a:lnTo>
                    <a:lnTo>
                      <a:pt x="3438247" y="127181"/>
                    </a:lnTo>
                    <a:lnTo>
                      <a:pt x="3379793" y="128876"/>
                    </a:lnTo>
                    <a:lnTo>
                      <a:pt x="3319560" y="130497"/>
                    </a:lnTo>
                    <a:lnTo>
                      <a:pt x="3257605" y="132042"/>
                    </a:lnTo>
                    <a:lnTo>
                      <a:pt x="3193985" y="133509"/>
                    </a:lnTo>
                    <a:lnTo>
                      <a:pt x="3128760" y="134896"/>
                    </a:lnTo>
                    <a:lnTo>
                      <a:pt x="3061986" y="136201"/>
                    </a:lnTo>
                    <a:lnTo>
                      <a:pt x="2993721" y="137422"/>
                    </a:lnTo>
                    <a:lnTo>
                      <a:pt x="2924023" y="138556"/>
                    </a:lnTo>
                    <a:lnTo>
                      <a:pt x="2852950" y="139603"/>
                    </a:lnTo>
                    <a:lnTo>
                      <a:pt x="2780560" y="140559"/>
                    </a:lnTo>
                    <a:lnTo>
                      <a:pt x="2706910" y="141424"/>
                    </a:lnTo>
                    <a:lnTo>
                      <a:pt x="2632058" y="142194"/>
                    </a:lnTo>
                    <a:lnTo>
                      <a:pt x="2556062" y="142868"/>
                    </a:lnTo>
                    <a:lnTo>
                      <a:pt x="2478980" y="143443"/>
                    </a:lnTo>
                    <a:lnTo>
                      <a:pt x="2400869" y="143919"/>
                    </a:lnTo>
                    <a:lnTo>
                      <a:pt x="2321788" y="144292"/>
                    </a:lnTo>
                    <a:lnTo>
                      <a:pt x="2241794" y="144562"/>
                    </a:lnTo>
                    <a:lnTo>
                      <a:pt x="2160945" y="144725"/>
                    </a:lnTo>
                    <a:lnTo>
                      <a:pt x="2079298" y="144780"/>
                    </a:lnTo>
                    <a:lnTo>
                      <a:pt x="1997651" y="144725"/>
                    </a:lnTo>
                    <a:lnTo>
                      <a:pt x="1916802" y="144562"/>
                    </a:lnTo>
                    <a:lnTo>
                      <a:pt x="1836808" y="144292"/>
                    </a:lnTo>
                    <a:lnTo>
                      <a:pt x="1757727" y="143919"/>
                    </a:lnTo>
                    <a:lnTo>
                      <a:pt x="1679616" y="143443"/>
                    </a:lnTo>
                    <a:lnTo>
                      <a:pt x="1602534" y="142868"/>
                    </a:lnTo>
                    <a:lnTo>
                      <a:pt x="1526538" y="142194"/>
                    </a:lnTo>
                    <a:lnTo>
                      <a:pt x="1451686" y="141424"/>
                    </a:lnTo>
                    <a:lnTo>
                      <a:pt x="1378036" y="140559"/>
                    </a:lnTo>
                    <a:lnTo>
                      <a:pt x="1305646" y="139603"/>
                    </a:lnTo>
                    <a:lnTo>
                      <a:pt x="1234573" y="138556"/>
                    </a:lnTo>
                    <a:lnTo>
                      <a:pt x="1164875" y="137422"/>
                    </a:lnTo>
                    <a:lnTo>
                      <a:pt x="1096610" y="136201"/>
                    </a:lnTo>
                    <a:lnTo>
                      <a:pt x="1029836" y="134896"/>
                    </a:lnTo>
                    <a:lnTo>
                      <a:pt x="964611" y="133509"/>
                    </a:lnTo>
                    <a:lnTo>
                      <a:pt x="900991" y="132042"/>
                    </a:lnTo>
                    <a:lnTo>
                      <a:pt x="839036" y="130497"/>
                    </a:lnTo>
                    <a:lnTo>
                      <a:pt x="778803" y="128876"/>
                    </a:lnTo>
                    <a:lnTo>
                      <a:pt x="720349" y="127181"/>
                    </a:lnTo>
                    <a:lnTo>
                      <a:pt x="663733" y="125414"/>
                    </a:lnTo>
                    <a:lnTo>
                      <a:pt x="609012" y="123577"/>
                    </a:lnTo>
                    <a:lnTo>
                      <a:pt x="556244" y="121672"/>
                    </a:lnTo>
                    <a:lnTo>
                      <a:pt x="505487" y="119701"/>
                    </a:lnTo>
                    <a:lnTo>
                      <a:pt x="456798" y="117666"/>
                    </a:lnTo>
                    <a:lnTo>
                      <a:pt x="410236" y="115569"/>
                    </a:lnTo>
                    <a:lnTo>
                      <a:pt x="365858" y="113412"/>
                    </a:lnTo>
                    <a:lnTo>
                      <a:pt x="323721" y="111197"/>
                    </a:lnTo>
                    <a:lnTo>
                      <a:pt x="283885" y="108926"/>
                    </a:lnTo>
                    <a:lnTo>
                      <a:pt x="211342" y="104225"/>
                    </a:lnTo>
                    <a:lnTo>
                      <a:pt x="148691" y="99324"/>
                    </a:lnTo>
                    <a:lnTo>
                      <a:pt x="96395" y="94240"/>
                    </a:lnTo>
                    <a:lnTo>
                      <a:pt x="54915" y="88988"/>
                    </a:lnTo>
                    <a:lnTo>
                      <a:pt x="13988" y="80832"/>
                    </a:lnTo>
                    <a:lnTo>
                      <a:pt x="0" y="72389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" name="object 69"/>
            <p:cNvGrpSpPr/>
            <p:nvPr/>
          </p:nvGrpSpPr>
          <p:grpSpPr>
            <a:xfrm>
              <a:off x="8316" y="4959930"/>
              <a:ext cx="2444115" cy="1352973"/>
              <a:chOff x="8312" y="3719945"/>
              <a:chExt cx="2444115" cy="1014730"/>
            </a:xfrm>
          </p:grpSpPr>
          <p:sp>
            <p:nvSpPr>
              <p:cNvPr id="152" name="object 70"/>
              <p:cNvSpPr/>
              <p:nvPr/>
            </p:nvSpPr>
            <p:spPr>
              <a:xfrm>
                <a:off x="619298" y="3719945"/>
                <a:ext cx="295101" cy="336665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3" name="object 71"/>
              <p:cNvSpPr/>
              <p:nvPr/>
            </p:nvSpPr>
            <p:spPr>
              <a:xfrm>
                <a:off x="765783" y="3873672"/>
                <a:ext cx="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h="119379">
                    <a:moveTo>
                      <a:pt x="0" y="119257"/>
                    </a:move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4" name="object 72"/>
              <p:cNvSpPr/>
              <p:nvPr/>
            </p:nvSpPr>
            <p:spPr>
              <a:xfrm>
                <a:off x="706829" y="3848468"/>
                <a:ext cx="11811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18109" h="116204">
                    <a:moveTo>
                      <a:pt x="58954" y="0"/>
                    </a:moveTo>
                    <a:lnTo>
                      <a:pt x="0" y="101063"/>
                    </a:lnTo>
                    <a:lnTo>
                      <a:pt x="2046" y="108840"/>
                    </a:lnTo>
                    <a:lnTo>
                      <a:pt x="14163" y="115908"/>
                    </a:lnTo>
                    <a:lnTo>
                      <a:pt x="21940" y="113861"/>
                    </a:lnTo>
                    <a:lnTo>
                      <a:pt x="58954" y="50409"/>
                    </a:lnTo>
                    <a:lnTo>
                      <a:pt x="88359" y="50409"/>
                    </a:lnTo>
                    <a:lnTo>
                      <a:pt x="58954" y="0"/>
                    </a:lnTo>
                    <a:close/>
                  </a:path>
                  <a:path w="118109" h="116204">
                    <a:moveTo>
                      <a:pt x="88359" y="50409"/>
                    </a:moveTo>
                    <a:lnTo>
                      <a:pt x="58954" y="50409"/>
                    </a:lnTo>
                    <a:lnTo>
                      <a:pt x="95968" y="113861"/>
                    </a:lnTo>
                    <a:lnTo>
                      <a:pt x="103744" y="115908"/>
                    </a:lnTo>
                    <a:lnTo>
                      <a:pt x="115861" y="108840"/>
                    </a:lnTo>
                    <a:lnTo>
                      <a:pt x="117908" y="101063"/>
                    </a:lnTo>
                    <a:lnTo>
                      <a:pt x="88359" y="50409"/>
                    </a:lnTo>
                    <a:close/>
                  </a:path>
                </a:pathLst>
              </a:custGeom>
              <a:solidFill>
                <a:srgbClr val="23598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5" name="object 73"/>
              <p:cNvSpPr/>
              <p:nvPr/>
            </p:nvSpPr>
            <p:spPr>
              <a:xfrm>
                <a:off x="2157152" y="3744883"/>
                <a:ext cx="295101" cy="336665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6" name="object 74"/>
              <p:cNvSpPr/>
              <p:nvPr/>
            </p:nvSpPr>
            <p:spPr>
              <a:xfrm>
                <a:off x="2304647" y="3895686"/>
                <a:ext cx="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h="119379">
                    <a:moveTo>
                      <a:pt x="0" y="119257"/>
                    </a:move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7" name="object 75"/>
              <p:cNvSpPr/>
              <p:nvPr/>
            </p:nvSpPr>
            <p:spPr>
              <a:xfrm>
                <a:off x="2245693" y="3870481"/>
                <a:ext cx="11811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18110" h="116204">
                    <a:moveTo>
                      <a:pt x="58953" y="0"/>
                    </a:moveTo>
                    <a:lnTo>
                      <a:pt x="0" y="101064"/>
                    </a:lnTo>
                    <a:lnTo>
                      <a:pt x="2045" y="108841"/>
                    </a:lnTo>
                    <a:lnTo>
                      <a:pt x="14163" y="115909"/>
                    </a:lnTo>
                    <a:lnTo>
                      <a:pt x="21939" y="113863"/>
                    </a:lnTo>
                    <a:lnTo>
                      <a:pt x="58953" y="50410"/>
                    </a:lnTo>
                    <a:lnTo>
                      <a:pt x="88359" y="50410"/>
                    </a:lnTo>
                    <a:lnTo>
                      <a:pt x="58953" y="0"/>
                    </a:lnTo>
                    <a:close/>
                  </a:path>
                  <a:path w="118110" h="116204">
                    <a:moveTo>
                      <a:pt x="88359" y="50410"/>
                    </a:moveTo>
                    <a:lnTo>
                      <a:pt x="58953" y="50410"/>
                    </a:lnTo>
                    <a:lnTo>
                      <a:pt x="95967" y="113863"/>
                    </a:lnTo>
                    <a:lnTo>
                      <a:pt x="103743" y="115909"/>
                    </a:lnTo>
                    <a:lnTo>
                      <a:pt x="115860" y="108841"/>
                    </a:lnTo>
                    <a:lnTo>
                      <a:pt x="117908" y="101064"/>
                    </a:lnTo>
                    <a:lnTo>
                      <a:pt x="88359" y="50410"/>
                    </a:lnTo>
                    <a:close/>
                  </a:path>
                </a:pathLst>
              </a:custGeom>
              <a:solidFill>
                <a:srgbClr val="23598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8" name="object 76"/>
              <p:cNvSpPr/>
              <p:nvPr/>
            </p:nvSpPr>
            <p:spPr>
              <a:xfrm>
                <a:off x="95596" y="4114800"/>
                <a:ext cx="727363" cy="428105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9" name="object 77"/>
              <p:cNvSpPr/>
              <p:nvPr/>
            </p:nvSpPr>
            <p:spPr>
              <a:xfrm>
                <a:off x="263987" y="4151964"/>
                <a:ext cx="508000" cy="213995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13995">
                    <a:moveTo>
                      <a:pt x="507756" y="0"/>
                    </a:moveTo>
                    <a:lnTo>
                      <a:pt x="0" y="21395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0" name="object 78"/>
              <p:cNvSpPr/>
              <p:nvPr/>
            </p:nvSpPr>
            <p:spPr>
              <a:xfrm>
                <a:off x="240759" y="4280996"/>
                <a:ext cx="124206" cy="109789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1" name="object 79"/>
              <p:cNvSpPr/>
              <p:nvPr/>
            </p:nvSpPr>
            <p:spPr>
              <a:xfrm>
                <a:off x="8312" y="4347556"/>
                <a:ext cx="440574" cy="386541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2" name="object 80"/>
              <p:cNvSpPr/>
              <p:nvPr/>
            </p:nvSpPr>
            <p:spPr>
              <a:xfrm>
                <a:off x="58827" y="4375701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3"/>
                    </a:lnTo>
                    <a:lnTo>
                      <a:pt x="46471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3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6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3" name="object 81"/>
              <p:cNvSpPr/>
              <p:nvPr/>
            </p:nvSpPr>
            <p:spPr>
              <a:xfrm>
                <a:off x="58827" y="4375701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30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1"/>
                    </a:lnTo>
                    <a:lnTo>
                      <a:pt x="11933" y="247602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4" name="object 82"/>
              <p:cNvSpPr/>
              <p:nvPr/>
            </p:nvSpPr>
            <p:spPr>
              <a:xfrm>
                <a:off x="1093123" y="4347556"/>
                <a:ext cx="440574" cy="386541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5" name="object 83"/>
              <p:cNvSpPr/>
              <p:nvPr/>
            </p:nvSpPr>
            <p:spPr>
              <a:xfrm>
                <a:off x="1143740" y="4375701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3"/>
                    </a:lnTo>
                    <a:lnTo>
                      <a:pt x="46471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2" y="285118"/>
                    </a:lnTo>
                    <a:lnTo>
                      <a:pt x="280019" y="277893"/>
                    </a:lnTo>
                    <a:lnTo>
                      <a:pt x="316264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6" y="37622"/>
                    </a:lnTo>
                    <a:lnTo>
                      <a:pt x="294547" y="20514"/>
                    </a:lnTo>
                    <a:lnTo>
                      <a:pt x="242630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object 84"/>
              <p:cNvSpPr/>
              <p:nvPr/>
            </p:nvSpPr>
            <p:spPr>
              <a:xfrm>
                <a:off x="1143740" y="4375701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30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1"/>
                    </a:lnTo>
                    <a:lnTo>
                      <a:pt x="11933" y="247603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object 85"/>
              <p:cNvSpPr/>
              <p:nvPr/>
            </p:nvSpPr>
            <p:spPr>
              <a:xfrm>
                <a:off x="723207" y="4114800"/>
                <a:ext cx="748145" cy="428105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8" name="object 86"/>
              <p:cNvSpPr/>
              <p:nvPr/>
            </p:nvSpPr>
            <p:spPr>
              <a:xfrm>
                <a:off x="771743" y="4151964"/>
                <a:ext cx="53086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530860" h="214629">
                    <a:moveTo>
                      <a:pt x="0" y="0"/>
                    </a:moveTo>
                    <a:lnTo>
                      <a:pt x="530667" y="214395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object 87"/>
              <p:cNvSpPr/>
              <p:nvPr/>
            </p:nvSpPr>
            <p:spPr>
              <a:xfrm>
                <a:off x="1201533" y="4282266"/>
                <a:ext cx="124247" cy="110338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7" name="object 89"/>
            <p:cNvGrpSpPr/>
            <p:nvPr/>
          </p:nvGrpSpPr>
          <p:grpSpPr>
            <a:xfrm>
              <a:off x="1533698" y="5503028"/>
              <a:ext cx="1525905" cy="826347"/>
              <a:chOff x="1533697" y="4127269"/>
              <a:chExt cx="1525905" cy="619760"/>
            </a:xfrm>
          </p:grpSpPr>
          <p:sp>
            <p:nvSpPr>
              <p:cNvPr id="140" name="object 90"/>
              <p:cNvSpPr/>
              <p:nvPr/>
            </p:nvSpPr>
            <p:spPr>
              <a:xfrm>
                <a:off x="1620982" y="4127269"/>
                <a:ext cx="727363" cy="428105"/>
              </a:xfrm>
              <a:prstGeom prst="rect">
                <a:avLst/>
              </a:prstGeom>
              <a:blipFill>
                <a:blip r:embed="rId1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object 91"/>
              <p:cNvSpPr/>
              <p:nvPr/>
            </p:nvSpPr>
            <p:spPr>
              <a:xfrm>
                <a:off x="1789748" y="4164252"/>
                <a:ext cx="508000" cy="213995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13995">
                    <a:moveTo>
                      <a:pt x="507756" y="0"/>
                    </a:moveTo>
                    <a:lnTo>
                      <a:pt x="0" y="21395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object 92"/>
              <p:cNvSpPr/>
              <p:nvPr/>
            </p:nvSpPr>
            <p:spPr>
              <a:xfrm>
                <a:off x="1766520" y="4293284"/>
                <a:ext cx="124206" cy="109789"/>
              </a:xfrm>
              <a:prstGeom prst="rect">
                <a:avLst/>
              </a:prstGeom>
              <a:blipFill>
                <a:blip r:embed="rId1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object 93"/>
              <p:cNvSpPr/>
              <p:nvPr/>
            </p:nvSpPr>
            <p:spPr>
              <a:xfrm>
                <a:off x="1533697" y="4360025"/>
                <a:ext cx="440574" cy="386541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object 94"/>
              <p:cNvSpPr/>
              <p:nvPr/>
            </p:nvSpPr>
            <p:spPr>
              <a:xfrm>
                <a:off x="1584587" y="438799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3"/>
                    </a:lnTo>
                    <a:lnTo>
                      <a:pt x="46472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4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object 95"/>
              <p:cNvSpPr/>
              <p:nvPr/>
            </p:nvSpPr>
            <p:spPr>
              <a:xfrm>
                <a:off x="1584587" y="438799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5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30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1"/>
                    </a:lnTo>
                    <a:lnTo>
                      <a:pt x="11933" y="247602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object 96"/>
              <p:cNvSpPr/>
              <p:nvPr/>
            </p:nvSpPr>
            <p:spPr>
              <a:xfrm>
                <a:off x="2618508" y="4360025"/>
                <a:ext cx="440574" cy="386541"/>
              </a:xfrm>
              <a:prstGeom prst="rect">
                <a:avLst/>
              </a:prstGeom>
              <a:blipFill>
                <a:blip r:embed="rId1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7" name="object 97"/>
              <p:cNvSpPr/>
              <p:nvPr/>
            </p:nvSpPr>
            <p:spPr>
              <a:xfrm>
                <a:off x="2669500" y="438799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3"/>
                    </a:lnTo>
                    <a:lnTo>
                      <a:pt x="46472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4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object 98"/>
              <p:cNvSpPr/>
              <p:nvPr/>
            </p:nvSpPr>
            <p:spPr>
              <a:xfrm>
                <a:off x="2669500" y="438799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30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30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5" y="37622"/>
                    </a:lnTo>
                    <a:lnTo>
                      <a:pt x="341019" y="56859"/>
                    </a:lnTo>
                    <a:lnTo>
                      <a:pt x="330285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1"/>
                    </a:lnTo>
                    <a:lnTo>
                      <a:pt x="11933" y="247603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object 99"/>
              <p:cNvSpPr/>
              <p:nvPr/>
            </p:nvSpPr>
            <p:spPr>
              <a:xfrm>
                <a:off x="2248592" y="4127269"/>
                <a:ext cx="748145" cy="428105"/>
              </a:xfrm>
              <a:prstGeom prst="rect">
                <a:avLst/>
              </a:prstGeom>
              <a:blipFill>
                <a:blip r:embed="rId1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object 100"/>
              <p:cNvSpPr/>
              <p:nvPr/>
            </p:nvSpPr>
            <p:spPr>
              <a:xfrm>
                <a:off x="2297505" y="4164252"/>
                <a:ext cx="53086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530860" h="214629">
                    <a:moveTo>
                      <a:pt x="0" y="0"/>
                    </a:moveTo>
                    <a:lnTo>
                      <a:pt x="530667" y="214395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51" name="object 101"/>
              <p:cNvSpPr/>
              <p:nvPr/>
            </p:nvSpPr>
            <p:spPr>
              <a:xfrm>
                <a:off x="2727294" y="4294554"/>
                <a:ext cx="124247" cy="110338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8" name="object 103"/>
            <p:cNvGrpSpPr/>
            <p:nvPr/>
          </p:nvGrpSpPr>
          <p:grpSpPr>
            <a:xfrm>
              <a:off x="1824647" y="4976552"/>
              <a:ext cx="2760345" cy="1336040"/>
              <a:chOff x="1824643" y="3732414"/>
              <a:chExt cx="2760345" cy="1002030"/>
            </a:xfrm>
          </p:grpSpPr>
          <p:sp>
            <p:nvSpPr>
              <p:cNvPr id="122" name="object 104"/>
              <p:cNvSpPr/>
              <p:nvPr/>
            </p:nvSpPr>
            <p:spPr>
              <a:xfrm>
                <a:off x="1824643" y="3985953"/>
                <a:ext cx="922712" cy="245225"/>
              </a:xfrm>
              <a:prstGeom prst="rect">
                <a:avLst/>
              </a:prstGeom>
              <a:blipFill>
                <a:blip r:embed="rId1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3" name="object 105"/>
              <p:cNvSpPr/>
              <p:nvPr/>
            </p:nvSpPr>
            <p:spPr>
              <a:xfrm>
                <a:off x="1876722" y="4014944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79">
                    <a:moveTo>
                      <a:pt x="821797" y="0"/>
                    </a:moveTo>
                    <a:lnTo>
                      <a:pt x="0" y="0"/>
                    </a:lnTo>
                    <a:lnTo>
                      <a:pt x="0" y="144778"/>
                    </a:lnTo>
                    <a:lnTo>
                      <a:pt x="821797" y="144778"/>
                    </a:lnTo>
                    <a:lnTo>
                      <a:pt x="821797" y="0"/>
                    </a:lnTo>
                    <a:close/>
                  </a:path>
                </a:pathLst>
              </a:custGeom>
              <a:solidFill>
                <a:srgbClr val="D4FDD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object 106"/>
              <p:cNvSpPr/>
              <p:nvPr/>
            </p:nvSpPr>
            <p:spPr>
              <a:xfrm>
                <a:off x="1876722" y="4014944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79">
                    <a:moveTo>
                      <a:pt x="0" y="0"/>
                    </a:moveTo>
                    <a:lnTo>
                      <a:pt x="821797" y="0"/>
                    </a:lnTo>
                    <a:lnTo>
                      <a:pt x="821797" y="144778"/>
                    </a:lnTo>
                    <a:lnTo>
                      <a:pt x="0" y="144778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5" name="object 107"/>
              <p:cNvSpPr/>
              <p:nvPr/>
            </p:nvSpPr>
            <p:spPr>
              <a:xfrm>
                <a:off x="3682537" y="3732414"/>
                <a:ext cx="295101" cy="336665"/>
              </a:xfrm>
              <a:prstGeom prst="rect">
                <a:avLst/>
              </a:prstGeom>
              <a:blipFill>
                <a:blip r:embed="rId1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object 108"/>
              <p:cNvSpPr/>
              <p:nvPr/>
            </p:nvSpPr>
            <p:spPr>
              <a:xfrm>
                <a:off x="3829461" y="3884232"/>
                <a:ext cx="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h="119379">
                    <a:moveTo>
                      <a:pt x="0" y="119257"/>
                    </a:move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object 109"/>
              <p:cNvSpPr/>
              <p:nvPr/>
            </p:nvSpPr>
            <p:spPr>
              <a:xfrm>
                <a:off x="3770508" y="3859027"/>
                <a:ext cx="11811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18110" h="116204">
                    <a:moveTo>
                      <a:pt x="58953" y="0"/>
                    </a:moveTo>
                    <a:lnTo>
                      <a:pt x="0" y="101064"/>
                    </a:lnTo>
                    <a:lnTo>
                      <a:pt x="2045" y="108841"/>
                    </a:lnTo>
                    <a:lnTo>
                      <a:pt x="14163" y="115909"/>
                    </a:lnTo>
                    <a:lnTo>
                      <a:pt x="21939" y="113863"/>
                    </a:lnTo>
                    <a:lnTo>
                      <a:pt x="58953" y="50410"/>
                    </a:lnTo>
                    <a:lnTo>
                      <a:pt x="88359" y="50410"/>
                    </a:lnTo>
                    <a:lnTo>
                      <a:pt x="58953" y="0"/>
                    </a:lnTo>
                    <a:close/>
                  </a:path>
                  <a:path w="118110" h="116204">
                    <a:moveTo>
                      <a:pt x="88359" y="50410"/>
                    </a:moveTo>
                    <a:lnTo>
                      <a:pt x="58953" y="50410"/>
                    </a:lnTo>
                    <a:lnTo>
                      <a:pt x="95967" y="113863"/>
                    </a:lnTo>
                    <a:lnTo>
                      <a:pt x="103743" y="115909"/>
                    </a:lnTo>
                    <a:lnTo>
                      <a:pt x="115860" y="108841"/>
                    </a:lnTo>
                    <a:lnTo>
                      <a:pt x="117908" y="101064"/>
                    </a:lnTo>
                    <a:lnTo>
                      <a:pt x="88359" y="50410"/>
                    </a:lnTo>
                    <a:close/>
                  </a:path>
                </a:pathLst>
              </a:custGeom>
              <a:solidFill>
                <a:srgbClr val="23598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object 110"/>
              <p:cNvSpPr/>
              <p:nvPr/>
            </p:nvSpPr>
            <p:spPr>
              <a:xfrm>
                <a:off x="3146366" y="4114800"/>
                <a:ext cx="727363" cy="428105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object 111"/>
              <p:cNvSpPr/>
              <p:nvPr/>
            </p:nvSpPr>
            <p:spPr>
              <a:xfrm>
                <a:off x="3314560" y="4152798"/>
                <a:ext cx="508000" cy="213995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13995">
                    <a:moveTo>
                      <a:pt x="507756" y="0"/>
                    </a:moveTo>
                    <a:lnTo>
                      <a:pt x="0" y="21395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object 112"/>
              <p:cNvSpPr/>
              <p:nvPr/>
            </p:nvSpPr>
            <p:spPr>
              <a:xfrm>
                <a:off x="3291333" y="4281831"/>
                <a:ext cx="124205" cy="109790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1" name="object 113"/>
              <p:cNvSpPr/>
              <p:nvPr/>
            </p:nvSpPr>
            <p:spPr>
              <a:xfrm>
                <a:off x="3059083" y="4347556"/>
                <a:ext cx="440574" cy="386541"/>
              </a:xfrm>
              <a:prstGeom prst="rect">
                <a:avLst/>
              </a:prstGeom>
              <a:blipFill>
                <a:blip r:embed="rId2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2" name="object 114"/>
              <p:cNvSpPr/>
              <p:nvPr/>
            </p:nvSpPr>
            <p:spPr>
              <a:xfrm>
                <a:off x="3109400" y="4376536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3"/>
                    </a:lnTo>
                    <a:lnTo>
                      <a:pt x="46472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4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object 115"/>
              <p:cNvSpPr/>
              <p:nvPr/>
            </p:nvSpPr>
            <p:spPr>
              <a:xfrm>
                <a:off x="3109400" y="4376536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9" y="56859"/>
                    </a:moveTo>
                    <a:lnTo>
                      <a:pt x="326996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4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29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5" y="37622"/>
                    </a:lnTo>
                    <a:lnTo>
                      <a:pt x="341019" y="56859"/>
                    </a:lnTo>
                    <a:lnTo>
                      <a:pt x="330285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1"/>
                    </a:lnTo>
                    <a:lnTo>
                      <a:pt x="11933" y="247603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object 116"/>
              <p:cNvSpPr/>
              <p:nvPr/>
            </p:nvSpPr>
            <p:spPr>
              <a:xfrm>
                <a:off x="4143894" y="4347556"/>
                <a:ext cx="440574" cy="386541"/>
              </a:xfrm>
              <a:prstGeom prst="rect">
                <a:avLst/>
              </a:prstGeom>
              <a:blipFill>
                <a:blip r:embed="rId2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object 117"/>
              <p:cNvSpPr/>
              <p:nvPr/>
            </p:nvSpPr>
            <p:spPr>
              <a:xfrm>
                <a:off x="4194314" y="4376536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3"/>
                    </a:lnTo>
                    <a:lnTo>
                      <a:pt x="46471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4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object 118"/>
              <p:cNvSpPr/>
              <p:nvPr/>
            </p:nvSpPr>
            <p:spPr>
              <a:xfrm>
                <a:off x="4194314" y="4376536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29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09"/>
                    </a:lnTo>
                    <a:lnTo>
                      <a:pt x="316264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2" y="264711"/>
                    </a:lnTo>
                    <a:lnTo>
                      <a:pt x="11933" y="247602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object 119"/>
              <p:cNvSpPr/>
              <p:nvPr/>
            </p:nvSpPr>
            <p:spPr>
              <a:xfrm>
                <a:off x="3769821" y="4114800"/>
                <a:ext cx="752301" cy="428105"/>
              </a:xfrm>
              <a:prstGeom prst="rect">
                <a:avLst/>
              </a:prstGeom>
              <a:blipFill>
                <a:blip r:embed="rId2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object 120"/>
              <p:cNvSpPr/>
              <p:nvPr/>
            </p:nvSpPr>
            <p:spPr>
              <a:xfrm>
                <a:off x="3822317" y="4152798"/>
                <a:ext cx="53086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530860" h="214629">
                    <a:moveTo>
                      <a:pt x="0" y="0"/>
                    </a:moveTo>
                    <a:lnTo>
                      <a:pt x="530667" y="214395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39" name="object 121"/>
              <p:cNvSpPr/>
              <p:nvPr/>
            </p:nvSpPr>
            <p:spPr>
              <a:xfrm>
                <a:off x="4252107" y="4283100"/>
                <a:ext cx="124246" cy="110338"/>
              </a:xfrm>
              <a:prstGeom prst="rect">
                <a:avLst/>
              </a:prstGeom>
              <a:blipFill>
                <a:blip r:embed="rId2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6" name="object 123"/>
            <p:cNvSpPr txBox="1"/>
            <p:nvPr/>
          </p:nvSpPr>
          <p:spPr>
            <a:xfrm>
              <a:off x="4232288" y="5967170"/>
              <a:ext cx="401320" cy="228263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400" spc="-5" dirty="0">
                  <a:solidFill>
                    <a:prstClr val="black"/>
                  </a:solidFill>
                  <a:latin typeface="Arial"/>
                  <a:cs typeface="Arial"/>
                </a:rPr>
                <a:t>1OG</a:t>
              </a:r>
              <a:endParaRPr sz="14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9" name="Groupe 129"/>
            <p:cNvGrpSpPr/>
            <p:nvPr/>
          </p:nvGrpSpPr>
          <p:grpSpPr>
            <a:xfrm>
              <a:off x="95658" y="1668087"/>
              <a:ext cx="4309321" cy="4536391"/>
              <a:chOff x="95658" y="1668087"/>
              <a:chExt cx="4309321" cy="4536391"/>
            </a:xfrm>
          </p:grpSpPr>
          <p:grpSp>
            <p:nvGrpSpPr>
              <p:cNvPr id="10" name="object 15"/>
              <p:cNvGrpSpPr/>
              <p:nvPr/>
            </p:nvGrpSpPr>
            <p:grpSpPr>
              <a:xfrm>
                <a:off x="602672" y="1961806"/>
                <a:ext cx="3570604" cy="970280"/>
                <a:chOff x="602672" y="1471353"/>
                <a:chExt cx="3570604" cy="727710"/>
              </a:xfrm>
            </p:grpSpPr>
            <p:sp>
              <p:nvSpPr>
                <p:cNvPr id="116" name="object 16"/>
                <p:cNvSpPr/>
                <p:nvPr/>
              </p:nvSpPr>
              <p:spPr>
                <a:xfrm>
                  <a:off x="602672" y="1803862"/>
                  <a:ext cx="3570316" cy="394854"/>
                </a:xfrm>
                <a:prstGeom prst="rect">
                  <a:avLst/>
                </a:prstGeom>
                <a:blipFill>
                  <a:blip r:embed="rId2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7" name="object 17"/>
                <p:cNvSpPr/>
                <p:nvPr/>
              </p:nvSpPr>
              <p:spPr>
                <a:xfrm>
                  <a:off x="653062" y="1831223"/>
                  <a:ext cx="3468370" cy="2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8370" h="295275">
                      <a:moveTo>
                        <a:pt x="1815819" y="0"/>
                      </a:moveTo>
                      <a:lnTo>
                        <a:pt x="1571883" y="158"/>
                      </a:lnTo>
                      <a:lnTo>
                        <a:pt x="1336551" y="1245"/>
                      </a:lnTo>
                      <a:lnTo>
                        <a:pt x="1112960" y="3195"/>
                      </a:lnTo>
                      <a:lnTo>
                        <a:pt x="903359" y="5946"/>
                      </a:lnTo>
                      <a:lnTo>
                        <a:pt x="709997" y="9433"/>
                      </a:lnTo>
                      <a:lnTo>
                        <a:pt x="535121" y="13594"/>
                      </a:lnTo>
                      <a:lnTo>
                        <a:pt x="429918" y="16710"/>
                      </a:lnTo>
                      <a:lnTo>
                        <a:pt x="334596" y="20078"/>
                      </a:lnTo>
                      <a:lnTo>
                        <a:pt x="249823" y="23679"/>
                      </a:lnTo>
                      <a:lnTo>
                        <a:pt x="176264" y="27494"/>
                      </a:lnTo>
                      <a:lnTo>
                        <a:pt x="114585" y="31504"/>
                      </a:lnTo>
                      <a:lnTo>
                        <a:pt x="65453" y="35690"/>
                      </a:lnTo>
                      <a:lnTo>
                        <a:pt x="16738" y="42259"/>
                      </a:lnTo>
                      <a:lnTo>
                        <a:pt x="0" y="49118"/>
                      </a:lnTo>
                      <a:lnTo>
                        <a:pt x="0" y="245808"/>
                      </a:lnTo>
                      <a:lnTo>
                        <a:pt x="45800" y="257082"/>
                      </a:lnTo>
                      <a:lnTo>
                        <a:pt x="88409" y="261350"/>
                      </a:lnTo>
                      <a:lnTo>
                        <a:pt x="143898" y="265450"/>
                      </a:lnTo>
                      <a:lnTo>
                        <a:pt x="211600" y="269365"/>
                      </a:lnTo>
                      <a:lnTo>
                        <a:pt x="290849" y="273075"/>
                      </a:lnTo>
                      <a:lnTo>
                        <a:pt x="380980" y="276562"/>
                      </a:lnTo>
                      <a:lnTo>
                        <a:pt x="481326" y="279806"/>
                      </a:lnTo>
                      <a:lnTo>
                        <a:pt x="591220" y="282789"/>
                      </a:lnTo>
                      <a:lnTo>
                        <a:pt x="772508" y="286733"/>
                      </a:lnTo>
                      <a:lnTo>
                        <a:pt x="971533" y="289982"/>
                      </a:lnTo>
                      <a:lnTo>
                        <a:pt x="1186047" y="292473"/>
                      </a:lnTo>
                      <a:lnTo>
                        <a:pt x="1413801" y="294142"/>
                      </a:lnTo>
                      <a:lnTo>
                        <a:pt x="1652547" y="294926"/>
                      </a:lnTo>
                      <a:lnTo>
                        <a:pt x="1896484" y="294767"/>
                      </a:lnTo>
                      <a:lnTo>
                        <a:pt x="2131816" y="293681"/>
                      </a:lnTo>
                      <a:lnTo>
                        <a:pt x="2355406" y="291731"/>
                      </a:lnTo>
                      <a:lnTo>
                        <a:pt x="2565007" y="288980"/>
                      </a:lnTo>
                      <a:lnTo>
                        <a:pt x="2758370" y="285492"/>
                      </a:lnTo>
                      <a:lnTo>
                        <a:pt x="2933246" y="281332"/>
                      </a:lnTo>
                      <a:lnTo>
                        <a:pt x="3038449" y="278216"/>
                      </a:lnTo>
                      <a:lnTo>
                        <a:pt x="3133770" y="274848"/>
                      </a:lnTo>
                      <a:lnTo>
                        <a:pt x="3218544" y="271247"/>
                      </a:lnTo>
                      <a:lnTo>
                        <a:pt x="3292103" y="267432"/>
                      </a:lnTo>
                      <a:lnTo>
                        <a:pt x="3353781" y="263422"/>
                      </a:lnTo>
                      <a:lnTo>
                        <a:pt x="3402913" y="259236"/>
                      </a:lnTo>
                      <a:lnTo>
                        <a:pt x="3451629" y="252667"/>
                      </a:lnTo>
                      <a:lnTo>
                        <a:pt x="3468367" y="245808"/>
                      </a:lnTo>
                      <a:lnTo>
                        <a:pt x="3468367" y="49118"/>
                      </a:lnTo>
                      <a:lnTo>
                        <a:pt x="3422566" y="37843"/>
                      </a:lnTo>
                      <a:lnTo>
                        <a:pt x="3379957" y="33576"/>
                      </a:lnTo>
                      <a:lnTo>
                        <a:pt x="3324469" y="29475"/>
                      </a:lnTo>
                      <a:lnTo>
                        <a:pt x="3256767" y="25560"/>
                      </a:lnTo>
                      <a:lnTo>
                        <a:pt x="3177517" y="21850"/>
                      </a:lnTo>
                      <a:lnTo>
                        <a:pt x="3087386" y="18364"/>
                      </a:lnTo>
                      <a:lnTo>
                        <a:pt x="2987041" y="15119"/>
                      </a:lnTo>
                      <a:lnTo>
                        <a:pt x="2877147" y="12136"/>
                      </a:lnTo>
                      <a:lnTo>
                        <a:pt x="2695859" y="8193"/>
                      </a:lnTo>
                      <a:lnTo>
                        <a:pt x="2496833" y="4944"/>
                      </a:lnTo>
                      <a:lnTo>
                        <a:pt x="2282320" y="2453"/>
                      </a:lnTo>
                      <a:lnTo>
                        <a:pt x="2054565" y="783"/>
                      </a:lnTo>
                      <a:lnTo>
                        <a:pt x="1815819" y="0"/>
                      </a:lnTo>
                      <a:close/>
                    </a:path>
                  </a:pathLst>
                </a:custGeom>
                <a:solidFill>
                  <a:srgbClr val="F1D3F0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8" name="object 18"/>
                <p:cNvSpPr/>
                <p:nvPr/>
              </p:nvSpPr>
              <p:spPr>
                <a:xfrm>
                  <a:off x="653062" y="1831169"/>
                  <a:ext cx="3468370" cy="2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8370" h="295275">
                      <a:moveTo>
                        <a:pt x="3468367" y="49172"/>
                      </a:moveTo>
                      <a:lnTo>
                        <a:pt x="3422566" y="60447"/>
                      </a:lnTo>
                      <a:lnTo>
                        <a:pt x="3379957" y="64714"/>
                      </a:lnTo>
                      <a:lnTo>
                        <a:pt x="3324468" y="68815"/>
                      </a:lnTo>
                      <a:lnTo>
                        <a:pt x="3256766" y="72730"/>
                      </a:lnTo>
                      <a:lnTo>
                        <a:pt x="3218543" y="74611"/>
                      </a:lnTo>
                      <a:lnTo>
                        <a:pt x="3177516" y="76440"/>
                      </a:lnTo>
                      <a:lnTo>
                        <a:pt x="3133770" y="78212"/>
                      </a:lnTo>
                      <a:lnTo>
                        <a:pt x="3087386" y="79927"/>
                      </a:lnTo>
                      <a:lnTo>
                        <a:pt x="3038448" y="81580"/>
                      </a:lnTo>
                      <a:lnTo>
                        <a:pt x="2987040" y="83171"/>
                      </a:lnTo>
                      <a:lnTo>
                        <a:pt x="2933245" y="84696"/>
                      </a:lnTo>
                      <a:lnTo>
                        <a:pt x="2877146" y="86154"/>
                      </a:lnTo>
                      <a:lnTo>
                        <a:pt x="2818826" y="87541"/>
                      </a:lnTo>
                      <a:lnTo>
                        <a:pt x="2758369" y="88857"/>
                      </a:lnTo>
                      <a:lnTo>
                        <a:pt x="2695858" y="90097"/>
                      </a:lnTo>
                      <a:lnTo>
                        <a:pt x="2631376" y="91260"/>
                      </a:lnTo>
                      <a:lnTo>
                        <a:pt x="2565007" y="92344"/>
                      </a:lnTo>
                      <a:lnTo>
                        <a:pt x="2496833" y="93346"/>
                      </a:lnTo>
                      <a:lnTo>
                        <a:pt x="2426938" y="94264"/>
                      </a:lnTo>
                      <a:lnTo>
                        <a:pt x="2355406" y="95095"/>
                      </a:lnTo>
                      <a:lnTo>
                        <a:pt x="2282319" y="95837"/>
                      </a:lnTo>
                      <a:lnTo>
                        <a:pt x="2207761" y="96488"/>
                      </a:lnTo>
                      <a:lnTo>
                        <a:pt x="2131815" y="97045"/>
                      </a:lnTo>
                      <a:lnTo>
                        <a:pt x="2054565" y="97507"/>
                      </a:lnTo>
                      <a:lnTo>
                        <a:pt x="1976093" y="97869"/>
                      </a:lnTo>
                      <a:lnTo>
                        <a:pt x="1896483" y="98132"/>
                      </a:lnTo>
                      <a:lnTo>
                        <a:pt x="1815819" y="98291"/>
                      </a:lnTo>
                      <a:lnTo>
                        <a:pt x="1734183" y="98344"/>
                      </a:lnTo>
                      <a:lnTo>
                        <a:pt x="1652547" y="98291"/>
                      </a:lnTo>
                      <a:lnTo>
                        <a:pt x="1571883" y="98132"/>
                      </a:lnTo>
                      <a:lnTo>
                        <a:pt x="1492273" y="97869"/>
                      </a:lnTo>
                      <a:lnTo>
                        <a:pt x="1413801" y="97507"/>
                      </a:lnTo>
                      <a:lnTo>
                        <a:pt x="1336551" y="97045"/>
                      </a:lnTo>
                      <a:lnTo>
                        <a:pt x="1260605" y="96488"/>
                      </a:lnTo>
                      <a:lnTo>
                        <a:pt x="1186047" y="95837"/>
                      </a:lnTo>
                      <a:lnTo>
                        <a:pt x="1112960" y="95095"/>
                      </a:lnTo>
                      <a:lnTo>
                        <a:pt x="1041428" y="94264"/>
                      </a:lnTo>
                      <a:lnTo>
                        <a:pt x="971533" y="93346"/>
                      </a:lnTo>
                      <a:lnTo>
                        <a:pt x="903359" y="92344"/>
                      </a:lnTo>
                      <a:lnTo>
                        <a:pt x="836990" y="91260"/>
                      </a:lnTo>
                      <a:lnTo>
                        <a:pt x="772508" y="90097"/>
                      </a:lnTo>
                      <a:lnTo>
                        <a:pt x="709997" y="88857"/>
                      </a:lnTo>
                      <a:lnTo>
                        <a:pt x="649540" y="87541"/>
                      </a:lnTo>
                      <a:lnTo>
                        <a:pt x="591220" y="86154"/>
                      </a:lnTo>
                      <a:lnTo>
                        <a:pt x="535121" y="84696"/>
                      </a:lnTo>
                      <a:lnTo>
                        <a:pt x="481326" y="83171"/>
                      </a:lnTo>
                      <a:lnTo>
                        <a:pt x="429918" y="81580"/>
                      </a:lnTo>
                      <a:lnTo>
                        <a:pt x="380980" y="79927"/>
                      </a:lnTo>
                      <a:lnTo>
                        <a:pt x="334596" y="78212"/>
                      </a:lnTo>
                      <a:lnTo>
                        <a:pt x="290849" y="76440"/>
                      </a:lnTo>
                      <a:lnTo>
                        <a:pt x="249823" y="74611"/>
                      </a:lnTo>
                      <a:lnTo>
                        <a:pt x="211600" y="72730"/>
                      </a:lnTo>
                      <a:lnTo>
                        <a:pt x="143898" y="68815"/>
                      </a:lnTo>
                      <a:lnTo>
                        <a:pt x="88409" y="64714"/>
                      </a:lnTo>
                      <a:lnTo>
                        <a:pt x="45801" y="60447"/>
                      </a:lnTo>
                      <a:lnTo>
                        <a:pt x="7494" y="53774"/>
                      </a:lnTo>
                      <a:lnTo>
                        <a:pt x="1887" y="51486"/>
                      </a:lnTo>
                      <a:lnTo>
                        <a:pt x="0" y="49172"/>
                      </a:lnTo>
                    </a:path>
                    <a:path w="3468370" h="295275">
                      <a:moveTo>
                        <a:pt x="0" y="245861"/>
                      </a:moveTo>
                      <a:lnTo>
                        <a:pt x="0" y="49172"/>
                      </a:lnTo>
                      <a:lnTo>
                        <a:pt x="1887" y="46857"/>
                      </a:lnTo>
                      <a:lnTo>
                        <a:pt x="45801" y="37897"/>
                      </a:lnTo>
                      <a:lnTo>
                        <a:pt x="88409" y="33630"/>
                      </a:lnTo>
                      <a:lnTo>
                        <a:pt x="143898" y="29529"/>
                      </a:lnTo>
                      <a:lnTo>
                        <a:pt x="211600" y="25614"/>
                      </a:lnTo>
                      <a:lnTo>
                        <a:pt x="249823" y="23732"/>
                      </a:lnTo>
                      <a:lnTo>
                        <a:pt x="290849" y="21904"/>
                      </a:lnTo>
                      <a:lnTo>
                        <a:pt x="334596" y="20131"/>
                      </a:lnTo>
                      <a:lnTo>
                        <a:pt x="380980" y="18417"/>
                      </a:lnTo>
                      <a:lnTo>
                        <a:pt x="429918" y="16763"/>
                      </a:lnTo>
                      <a:lnTo>
                        <a:pt x="481326" y="15173"/>
                      </a:lnTo>
                      <a:lnTo>
                        <a:pt x="535121" y="13647"/>
                      </a:lnTo>
                      <a:lnTo>
                        <a:pt x="591220" y="12190"/>
                      </a:lnTo>
                      <a:lnTo>
                        <a:pt x="649540" y="10802"/>
                      </a:lnTo>
                      <a:lnTo>
                        <a:pt x="709997" y="9487"/>
                      </a:lnTo>
                      <a:lnTo>
                        <a:pt x="772508" y="8246"/>
                      </a:lnTo>
                      <a:lnTo>
                        <a:pt x="836990" y="7083"/>
                      </a:lnTo>
                      <a:lnTo>
                        <a:pt x="903359" y="5999"/>
                      </a:lnTo>
                      <a:lnTo>
                        <a:pt x="971533" y="4997"/>
                      </a:lnTo>
                      <a:lnTo>
                        <a:pt x="1041428" y="4080"/>
                      </a:lnTo>
                      <a:lnTo>
                        <a:pt x="1112960" y="3249"/>
                      </a:lnTo>
                      <a:lnTo>
                        <a:pt x="1186047" y="2506"/>
                      </a:lnTo>
                      <a:lnTo>
                        <a:pt x="1260605" y="1855"/>
                      </a:lnTo>
                      <a:lnTo>
                        <a:pt x="1336551" y="1298"/>
                      </a:lnTo>
                      <a:lnTo>
                        <a:pt x="1413801" y="837"/>
                      </a:lnTo>
                      <a:lnTo>
                        <a:pt x="1492273" y="474"/>
                      </a:lnTo>
                      <a:lnTo>
                        <a:pt x="1571883" y="212"/>
                      </a:lnTo>
                      <a:lnTo>
                        <a:pt x="1652547" y="53"/>
                      </a:lnTo>
                      <a:lnTo>
                        <a:pt x="1734183" y="0"/>
                      </a:lnTo>
                      <a:lnTo>
                        <a:pt x="1815819" y="53"/>
                      </a:lnTo>
                      <a:lnTo>
                        <a:pt x="1896483" y="212"/>
                      </a:lnTo>
                      <a:lnTo>
                        <a:pt x="1976093" y="474"/>
                      </a:lnTo>
                      <a:lnTo>
                        <a:pt x="2054565" y="837"/>
                      </a:lnTo>
                      <a:lnTo>
                        <a:pt x="2131815" y="1298"/>
                      </a:lnTo>
                      <a:lnTo>
                        <a:pt x="2207761" y="1855"/>
                      </a:lnTo>
                      <a:lnTo>
                        <a:pt x="2282319" y="2506"/>
                      </a:lnTo>
                      <a:lnTo>
                        <a:pt x="2355406" y="3249"/>
                      </a:lnTo>
                      <a:lnTo>
                        <a:pt x="2426938" y="4080"/>
                      </a:lnTo>
                      <a:lnTo>
                        <a:pt x="2496833" y="4997"/>
                      </a:lnTo>
                      <a:lnTo>
                        <a:pt x="2565007" y="5999"/>
                      </a:lnTo>
                      <a:lnTo>
                        <a:pt x="2631376" y="7083"/>
                      </a:lnTo>
                      <a:lnTo>
                        <a:pt x="2695858" y="8246"/>
                      </a:lnTo>
                      <a:lnTo>
                        <a:pt x="2758369" y="9487"/>
                      </a:lnTo>
                      <a:lnTo>
                        <a:pt x="2818826" y="10802"/>
                      </a:lnTo>
                      <a:lnTo>
                        <a:pt x="2877146" y="12190"/>
                      </a:lnTo>
                      <a:lnTo>
                        <a:pt x="2933245" y="13647"/>
                      </a:lnTo>
                      <a:lnTo>
                        <a:pt x="2987040" y="15173"/>
                      </a:lnTo>
                      <a:lnTo>
                        <a:pt x="3038448" y="16763"/>
                      </a:lnTo>
                      <a:lnTo>
                        <a:pt x="3087386" y="18417"/>
                      </a:lnTo>
                      <a:lnTo>
                        <a:pt x="3133770" y="20131"/>
                      </a:lnTo>
                      <a:lnTo>
                        <a:pt x="3177516" y="21904"/>
                      </a:lnTo>
                      <a:lnTo>
                        <a:pt x="3218543" y="23732"/>
                      </a:lnTo>
                      <a:lnTo>
                        <a:pt x="3256766" y="25614"/>
                      </a:lnTo>
                      <a:lnTo>
                        <a:pt x="3324468" y="29529"/>
                      </a:lnTo>
                      <a:lnTo>
                        <a:pt x="3379957" y="33630"/>
                      </a:lnTo>
                      <a:lnTo>
                        <a:pt x="3422566" y="37897"/>
                      </a:lnTo>
                      <a:lnTo>
                        <a:pt x="3460872" y="44570"/>
                      </a:lnTo>
                      <a:lnTo>
                        <a:pt x="3468367" y="49172"/>
                      </a:lnTo>
                      <a:lnTo>
                        <a:pt x="3468367" y="245861"/>
                      </a:lnTo>
                      <a:lnTo>
                        <a:pt x="3422566" y="257136"/>
                      </a:lnTo>
                      <a:lnTo>
                        <a:pt x="3379957" y="261403"/>
                      </a:lnTo>
                      <a:lnTo>
                        <a:pt x="3324468" y="265504"/>
                      </a:lnTo>
                      <a:lnTo>
                        <a:pt x="3256766" y="269419"/>
                      </a:lnTo>
                      <a:lnTo>
                        <a:pt x="3218543" y="271301"/>
                      </a:lnTo>
                      <a:lnTo>
                        <a:pt x="3177516" y="273129"/>
                      </a:lnTo>
                      <a:lnTo>
                        <a:pt x="3133770" y="274902"/>
                      </a:lnTo>
                      <a:lnTo>
                        <a:pt x="3087386" y="276616"/>
                      </a:lnTo>
                      <a:lnTo>
                        <a:pt x="3038448" y="278270"/>
                      </a:lnTo>
                      <a:lnTo>
                        <a:pt x="2987040" y="279860"/>
                      </a:lnTo>
                      <a:lnTo>
                        <a:pt x="2933245" y="281386"/>
                      </a:lnTo>
                      <a:lnTo>
                        <a:pt x="2877146" y="282843"/>
                      </a:lnTo>
                      <a:lnTo>
                        <a:pt x="2818826" y="284231"/>
                      </a:lnTo>
                      <a:lnTo>
                        <a:pt x="2758369" y="285546"/>
                      </a:lnTo>
                      <a:lnTo>
                        <a:pt x="2695858" y="286786"/>
                      </a:lnTo>
                      <a:lnTo>
                        <a:pt x="2631376" y="287950"/>
                      </a:lnTo>
                      <a:lnTo>
                        <a:pt x="2565007" y="289034"/>
                      </a:lnTo>
                      <a:lnTo>
                        <a:pt x="2496833" y="290035"/>
                      </a:lnTo>
                      <a:lnTo>
                        <a:pt x="2426938" y="290953"/>
                      </a:lnTo>
                      <a:lnTo>
                        <a:pt x="2355406" y="291784"/>
                      </a:lnTo>
                      <a:lnTo>
                        <a:pt x="2282319" y="292527"/>
                      </a:lnTo>
                      <a:lnTo>
                        <a:pt x="2207761" y="293177"/>
                      </a:lnTo>
                      <a:lnTo>
                        <a:pt x="2131815" y="293735"/>
                      </a:lnTo>
                      <a:lnTo>
                        <a:pt x="2054565" y="294196"/>
                      </a:lnTo>
                      <a:lnTo>
                        <a:pt x="1976093" y="294559"/>
                      </a:lnTo>
                      <a:lnTo>
                        <a:pt x="1896483" y="294821"/>
                      </a:lnTo>
                      <a:lnTo>
                        <a:pt x="1815819" y="294980"/>
                      </a:lnTo>
                      <a:lnTo>
                        <a:pt x="1734183" y="295033"/>
                      </a:lnTo>
                      <a:lnTo>
                        <a:pt x="1652547" y="294980"/>
                      </a:lnTo>
                      <a:lnTo>
                        <a:pt x="1571883" y="294821"/>
                      </a:lnTo>
                      <a:lnTo>
                        <a:pt x="1492273" y="294559"/>
                      </a:lnTo>
                      <a:lnTo>
                        <a:pt x="1413801" y="294196"/>
                      </a:lnTo>
                      <a:lnTo>
                        <a:pt x="1336551" y="293735"/>
                      </a:lnTo>
                      <a:lnTo>
                        <a:pt x="1260605" y="293177"/>
                      </a:lnTo>
                      <a:lnTo>
                        <a:pt x="1186047" y="292527"/>
                      </a:lnTo>
                      <a:lnTo>
                        <a:pt x="1112960" y="291784"/>
                      </a:lnTo>
                      <a:lnTo>
                        <a:pt x="1041428" y="290953"/>
                      </a:lnTo>
                      <a:lnTo>
                        <a:pt x="971533" y="290035"/>
                      </a:lnTo>
                      <a:lnTo>
                        <a:pt x="903359" y="289034"/>
                      </a:lnTo>
                      <a:lnTo>
                        <a:pt x="836990" y="287950"/>
                      </a:lnTo>
                      <a:lnTo>
                        <a:pt x="772508" y="286786"/>
                      </a:lnTo>
                      <a:lnTo>
                        <a:pt x="709997" y="285546"/>
                      </a:lnTo>
                      <a:lnTo>
                        <a:pt x="649540" y="284231"/>
                      </a:lnTo>
                      <a:lnTo>
                        <a:pt x="591220" y="282843"/>
                      </a:lnTo>
                      <a:lnTo>
                        <a:pt x="535121" y="281386"/>
                      </a:lnTo>
                      <a:lnTo>
                        <a:pt x="481326" y="279860"/>
                      </a:lnTo>
                      <a:lnTo>
                        <a:pt x="429918" y="278270"/>
                      </a:lnTo>
                      <a:lnTo>
                        <a:pt x="380980" y="276616"/>
                      </a:lnTo>
                      <a:lnTo>
                        <a:pt x="334596" y="274902"/>
                      </a:lnTo>
                      <a:lnTo>
                        <a:pt x="290849" y="273129"/>
                      </a:lnTo>
                      <a:lnTo>
                        <a:pt x="249823" y="271301"/>
                      </a:lnTo>
                      <a:lnTo>
                        <a:pt x="211600" y="269419"/>
                      </a:lnTo>
                      <a:lnTo>
                        <a:pt x="143898" y="265504"/>
                      </a:lnTo>
                      <a:lnTo>
                        <a:pt x="88409" y="261403"/>
                      </a:lnTo>
                      <a:lnTo>
                        <a:pt x="45801" y="257136"/>
                      </a:lnTo>
                      <a:lnTo>
                        <a:pt x="7494" y="250463"/>
                      </a:lnTo>
                      <a:lnTo>
                        <a:pt x="0" y="245861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9" name="object 19"/>
                <p:cNvSpPr/>
                <p:nvPr/>
              </p:nvSpPr>
              <p:spPr>
                <a:xfrm>
                  <a:off x="2240280" y="1471353"/>
                  <a:ext cx="295101" cy="527858"/>
                </a:xfrm>
                <a:prstGeom prst="rect">
                  <a:avLst/>
                </a:prstGeom>
                <a:blipFill>
                  <a:blip r:embed="rId2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0" name="object 20"/>
                <p:cNvSpPr/>
                <p:nvPr/>
              </p:nvSpPr>
              <p:spPr>
                <a:xfrm>
                  <a:off x="2379969" y="1496533"/>
                  <a:ext cx="6985" cy="30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309880">
                      <a:moveTo>
                        <a:pt x="0" y="0"/>
                      </a:moveTo>
                      <a:lnTo>
                        <a:pt x="6606" y="309763"/>
                      </a:lnTo>
                    </a:path>
                  </a:pathLst>
                </a:custGeom>
                <a:ln w="25399">
                  <a:solidFill>
                    <a:srgbClr val="235985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1" name="object 21"/>
                <p:cNvSpPr/>
                <p:nvPr/>
              </p:nvSpPr>
              <p:spPr>
                <a:xfrm>
                  <a:off x="2326017" y="1714658"/>
                  <a:ext cx="117881" cy="116837"/>
                </a:xfrm>
                <a:prstGeom prst="rect">
                  <a:avLst/>
                </a:prstGeom>
                <a:blipFill>
                  <a:blip r:embed="rId2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69" name="object 22"/>
              <p:cNvSpPr txBox="1"/>
              <p:nvPr/>
            </p:nvSpPr>
            <p:spPr>
              <a:xfrm>
                <a:off x="2530721" y="2039404"/>
                <a:ext cx="927735" cy="289823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</a:pPr>
                <a:r>
                  <a:rPr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100MB/s</a:t>
                </a:r>
                <a:endParaRPr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grpSp>
            <p:nvGrpSpPr>
              <p:cNvPr id="11" name="object 23"/>
              <p:cNvGrpSpPr/>
              <p:nvPr/>
            </p:nvGrpSpPr>
            <p:grpSpPr>
              <a:xfrm>
                <a:off x="1753988" y="1668087"/>
                <a:ext cx="1251585" cy="426720"/>
                <a:chOff x="1753985" y="1251065"/>
                <a:chExt cx="1251585" cy="320040"/>
              </a:xfrm>
            </p:grpSpPr>
            <p:sp>
              <p:nvSpPr>
                <p:cNvPr id="113" name="object 24"/>
                <p:cNvSpPr/>
                <p:nvPr/>
              </p:nvSpPr>
              <p:spPr>
                <a:xfrm>
                  <a:off x="1753985" y="1251065"/>
                  <a:ext cx="1251065" cy="320039"/>
                </a:xfrm>
                <a:prstGeom prst="rect">
                  <a:avLst/>
                </a:prstGeom>
                <a:blipFill>
                  <a:blip r:embed="rId2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4" name="object 25"/>
                <p:cNvSpPr/>
                <p:nvPr/>
              </p:nvSpPr>
              <p:spPr>
                <a:xfrm>
                  <a:off x="1803905" y="1280509"/>
                  <a:ext cx="1152525" cy="216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25" h="216534">
                      <a:moveTo>
                        <a:pt x="1152127" y="0"/>
                      </a:moveTo>
                      <a:lnTo>
                        <a:pt x="0" y="0"/>
                      </a:lnTo>
                      <a:lnTo>
                        <a:pt x="0" y="216024"/>
                      </a:lnTo>
                      <a:lnTo>
                        <a:pt x="1152127" y="216024"/>
                      </a:lnTo>
                      <a:lnTo>
                        <a:pt x="1152127" y="0"/>
                      </a:lnTo>
                      <a:close/>
                    </a:path>
                  </a:pathLst>
                </a:custGeom>
                <a:solidFill>
                  <a:srgbClr val="D4FDD5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5" name="object 26"/>
                <p:cNvSpPr/>
                <p:nvPr/>
              </p:nvSpPr>
              <p:spPr>
                <a:xfrm>
                  <a:off x="1803905" y="1280509"/>
                  <a:ext cx="1152525" cy="216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25" h="216534">
                      <a:moveTo>
                        <a:pt x="0" y="0"/>
                      </a:moveTo>
                      <a:lnTo>
                        <a:pt x="1152127" y="0"/>
                      </a:lnTo>
                      <a:lnTo>
                        <a:pt x="1152127" y="216024"/>
                      </a:lnTo>
                      <a:lnTo>
                        <a:pt x="0" y="2160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1" name="object 27"/>
              <p:cNvSpPr txBox="1"/>
              <p:nvPr/>
            </p:nvSpPr>
            <p:spPr>
              <a:xfrm>
                <a:off x="2243611" y="2533195"/>
                <a:ext cx="292735" cy="289823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</a:pPr>
                <a:r>
                  <a:rPr dirty="0">
                    <a:solidFill>
                      <a:prstClr val="black"/>
                    </a:solidFill>
                    <a:latin typeface="Arial"/>
                    <a:cs typeface="Arial"/>
                  </a:rPr>
                  <a:t>1T</a:t>
                </a:r>
              </a:p>
            </p:txBody>
          </p:sp>
          <p:grpSp>
            <p:nvGrpSpPr>
              <p:cNvPr id="12" name="object 28"/>
              <p:cNvGrpSpPr/>
              <p:nvPr/>
            </p:nvGrpSpPr>
            <p:grpSpPr>
              <a:xfrm>
                <a:off x="502920" y="3219799"/>
                <a:ext cx="3766185" cy="1435947"/>
                <a:chOff x="502919" y="2414847"/>
                <a:chExt cx="3766185" cy="1076960"/>
              </a:xfrm>
            </p:grpSpPr>
            <p:sp>
              <p:nvSpPr>
                <p:cNvPr id="98" name="object 29"/>
                <p:cNvSpPr/>
                <p:nvPr/>
              </p:nvSpPr>
              <p:spPr>
                <a:xfrm>
                  <a:off x="502919" y="2951018"/>
                  <a:ext cx="577734" cy="527858"/>
                </a:xfrm>
                <a:prstGeom prst="rect">
                  <a:avLst/>
                </a:prstGeom>
                <a:blipFill>
                  <a:blip r:embed="rId2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9" name="object 30"/>
                <p:cNvSpPr/>
                <p:nvPr/>
              </p:nvSpPr>
              <p:spPr>
                <a:xfrm>
                  <a:off x="553089" y="2977621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178158" y="0"/>
                      </a:moveTo>
                      <a:lnTo>
                        <a:pt x="114035" y="6481"/>
                      </a:lnTo>
                      <a:lnTo>
                        <a:pt x="63050" y="19007"/>
                      </a:lnTo>
                      <a:lnTo>
                        <a:pt x="29083" y="36623"/>
                      </a:lnTo>
                      <a:lnTo>
                        <a:pt x="0" y="342098"/>
                      </a:lnTo>
                      <a:lnTo>
                        <a:pt x="10537" y="365184"/>
                      </a:lnTo>
                      <a:lnTo>
                        <a:pt x="42306" y="386511"/>
                      </a:lnTo>
                      <a:lnTo>
                        <a:pt x="91557" y="404694"/>
                      </a:lnTo>
                      <a:lnTo>
                        <a:pt x="154544" y="418351"/>
                      </a:lnTo>
                      <a:lnTo>
                        <a:pt x="227520" y="426097"/>
                      </a:lnTo>
                      <a:lnTo>
                        <a:pt x="300903" y="426612"/>
                      </a:lnTo>
                      <a:lnTo>
                        <a:pt x="365027" y="420130"/>
                      </a:lnTo>
                      <a:lnTo>
                        <a:pt x="416012" y="407605"/>
                      </a:lnTo>
                      <a:lnTo>
                        <a:pt x="449979" y="389989"/>
                      </a:lnTo>
                      <a:lnTo>
                        <a:pt x="463047" y="368236"/>
                      </a:lnTo>
                      <a:lnTo>
                        <a:pt x="479062" y="84513"/>
                      </a:lnTo>
                      <a:lnTo>
                        <a:pt x="468524" y="61428"/>
                      </a:lnTo>
                      <a:lnTo>
                        <a:pt x="436756" y="40101"/>
                      </a:lnTo>
                      <a:lnTo>
                        <a:pt x="387505" y="21918"/>
                      </a:lnTo>
                      <a:lnTo>
                        <a:pt x="324517" y="8261"/>
                      </a:lnTo>
                      <a:lnTo>
                        <a:pt x="251542" y="514"/>
                      </a:lnTo>
                      <a:lnTo>
                        <a:pt x="178158" y="0"/>
                      </a:lnTo>
                      <a:close/>
                    </a:path>
                  </a:pathLst>
                </a:custGeom>
                <a:solidFill>
                  <a:srgbClr val="F1D3F0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0" name="object 31"/>
                <p:cNvSpPr/>
                <p:nvPr/>
              </p:nvSpPr>
              <p:spPr>
                <a:xfrm>
                  <a:off x="553089" y="2977621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479062" y="84513"/>
                      </a:moveTo>
                      <a:lnTo>
                        <a:pt x="465993" y="106266"/>
                      </a:lnTo>
                      <a:lnTo>
                        <a:pt x="432027" y="123882"/>
                      </a:lnTo>
                      <a:lnTo>
                        <a:pt x="381042" y="136408"/>
                      </a:lnTo>
                      <a:lnTo>
                        <a:pt x="316918" y="142890"/>
                      </a:lnTo>
                      <a:lnTo>
                        <a:pt x="243535" y="142375"/>
                      </a:lnTo>
                      <a:lnTo>
                        <a:pt x="170559" y="134628"/>
                      </a:lnTo>
                      <a:lnTo>
                        <a:pt x="107572" y="120972"/>
                      </a:lnTo>
                      <a:lnTo>
                        <a:pt x="58321" y="102788"/>
                      </a:lnTo>
                      <a:lnTo>
                        <a:pt x="26552" y="81462"/>
                      </a:lnTo>
                      <a:lnTo>
                        <a:pt x="16014" y="58376"/>
                      </a:lnTo>
                    </a:path>
                    <a:path w="479425" h="426720">
                      <a:moveTo>
                        <a:pt x="0" y="342098"/>
                      </a:moveTo>
                      <a:lnTo>
                        <a:pt x="16014" y="58376"/>
                      </a:lnTo>
                      <a:lnTo>
                        <a:pt x="63050" y="19007"/>
                      </a:lnTo>
                      <a:lnTo>
                        <a:pt x="114034" y="6481"/>
                      </a:lnTo>
                      <a:lnTo>
                        <a:pt x="178158" y="0"/>
                      </a:lnTo>
                      <a:lnTo>
                        <a:pt x="251542" y="514"/>
                      </a:lnTo>
                      <a:lnTo>
                        <a:pt x="324517" y="8261"/>
                      </a:lnTo>
                      <a:lnTo>
                        <a:pt x="387504" y="21918"/>
                      </a:lnTo>
                      <a:lnTo>
                        <a:pt x="436756" y="40101"/>
                      </a:lnTo>
                      <a:lnTo>
                        <a:pt x="468524" y="61427"/>
                      </a:lnTo>
                      <a:lnTo>
                        <a:pt x="479062" y="84513"/>
                      </a:lnTo>
                      <a:lnTo>
                        <a:pt x="463047" y="368235"/>
                      </a:lnTo>
                      <a:lnTo>
                        <a:pt x="449979" y="389989"/>
                      </a:lnTo>
                      <a:lnTo>
                        <a:pt x="416012" y="407605"/>
                      </a:lnTo>
                      <a:lnTo>
                        <a:pt x="365027" y="420130"/>
                      </a:lnTo>
                      <a:lnTo>
                        <a:pt x="300903" y="426612"/>
                      </a:lnTo>
                      <a:lnTo>
                        <a:pt x="227520" y="426098"/>
                      </a:lnTo>
                      <a:lnTo>
                        <a:pt x="154544" y="418351"/>
                      </a:lnTo>
                      <a:lnTo>
                        <a:pt x="91557" y="404694"/>
                      </a:lnTo>
                      <a:lnTo>
                        <a:pt x="42306" y="386511"/>
                      </a:lnTo>
                      <a:lnTo>
                        <a:pt x="10537" y="365184"/>
                      </a:lnTo>
                      <a:lnTo>
                        <a:pt x="0" y="342098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1" name="object 32"/>
                <p:cNvSpPr/>
                <p:nvPr/>
              </p:nvSpPr>
              <p:spPr>
                <a:xfrm>
                  <a:off x="1799705" y="2414847"/>
                  <a:ext cx="1251065" cy="315883"/>
                </a:xfrm>
                <a:prstGeom prst="rect">
                  <a:avLst/>
                </a:prstGeom>
                <a:blipFill>
                  <a:blip r:embed="rId3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2" name="object 33"/>
                <p:cNvSpPr/>
                <p:nvPr/>
              </p:nvSpPr>
              <p:spPr>
                <a:xfrm>
                  <a:off x="1850063" y="2441413"/>
                  <a:ext cx="1152525" cy="216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25" h="216535">
                      <a:moveTo>
                        <a:pt x="1152127" y="0"/>
                      </a:moveTo>
                      <a:lnTo>
                        <a:pt x="0" y="0"/>
                      </a:lnTo>
                      <a:lnTo>
                        <a:pt x="0" y="216024"/>
                      </a:lnTo>
                      <a:lnTo>
                        <a:pt x="1152127" y="216024"/>
                      </a:lnTo>
                      <a:lnTo>
                        <a:pt x="1152127" y="0"/>
                      </a:lnTo>
                      <a:close/>
                    </a:path>
                  </a:pathLst>
                </a:custGeom>
                <a:solidFill>
                  <a:srgbClr val="D4FDD5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3" name="object 34"/>
                <p:cNvSpPr/>
                <p:nvPr/>
              </p:nvSpPr>
              <p:spPr>
                <a:xfrm>
                  <a:off x="1850063" y="2441413"/>
                  <a:ext cx="1152525" cy="216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25" h="216535">
                      <a:moveTo>
                        <a:pt x="0" y="0"/>
                      </a:moveTo>
                      <a:lnTo>
                        <a:pt x="1152127" y="0"/>
                      </a:lnTo>
                      <a:lnTo>
                        <a:pt x="1152127" y="216023"/>
                      </a:lnTo>
                      <a:lnTo>
                        <a:pt x="0" y="21602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4" name="object 35"/>
                <p:cNvSpPr/>
                <p:nvPr/>
              </p:nvSpPr>
              <p:spPr>
                <a:xfrm>
                  <a:off x="660861" y="2618509"/>
                  <a:ext cx="1812174" cy="527858"/>
                </a:xfrm>
                <a:prstGeom prst="rect">
                  <a:avLst/>
                </a:prstGeom>
                <a:blipFill>
                  <a:blip r:embed="rId3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5" name="object 36"/>
                <p:cNvSpPr/>
                <p:nvPr/>
              </p:nvSpPr>
              <p:spPr>
                <a:xfrm>
                  <a:off x="833360" y="2657437"/>
                  <a:ext cx="1593215" cy="316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214" h="316230">
                      <a:moveTo>
                        <a:pt x="1592767" y="0"/>
                      </a:moveTo>
                      <a:lnTo>
                        <a:pt x="0" y="315796"/>
                      </a:lnTo>
                    </a:path>
                  </a:pathLst>
                </a:custGeom>
                <a:ln w="25399">
                  <a:solidFill>
                    <a:srgbClr val="235985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6" name="object 37"/>
                <p:cNvSpPr/>
                <p:nvPr/>
              </p:nvSpPr>
              <p:spPr>
                <a:xfrm>
                  <a:off x="808636" y="2900652"/>
                  <a:ext cx="122406" cy="115657"/>
                </a:xfrm>
                <a:prstGeom prst="rect">
                  <a:avLst/>
                </a:prstGeom>
                <a:blipFill>
                  <a:blip r:embed="rId3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7" name="object 38"/>
                <p:cNvSpPr/>
                <p:nvPr/>
              </p:nvSpPr>
              <p:spPr>
                <a:xfrm>
                  <a:off x="3686694" y="2963487"/>
                  <a:ext cx="581890" cy="527858"/>
                </a:xfrm>
                <a:prstGeom prst="rect">
                  <a:avLst/>
                </a:prstGeom>
                <a:blipFill>
                  <a:blip r:embed="rId3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8" name="object 39"/>
                <p:cNvSpPr/>
                <p:nvPr/>
              </p:nvSpPr>
              <p:spPr>
                <a:xfrm>
                  <a:off x="3739255" y="2990762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178158" y="0"/>
                      </a:moveTo>
                      <a:lnTo>
                        <a:pt x="114034" y="6481"/>
                      </a:lnTo>
                      <a:lnTo>
                        <a:pt x="63049" y="19007"/>
                      </a:lnTo>
                      <a:lnTo>
                        <a:pt x="29083" y="36622"/>
                      </a:lnTo>
                      <a:lnTo>
                        <a:pt x="0" y="342098"/>
                      </a:lnTo>
                      <a:lnTo>
                        <a:pt x="10537" y="365184"/>
                      </a:lnTo>
                      <a:lnTo>
                        <a:pt x="42306" y="386510"/>
                      </a:lnTo>
                      <a:lnTo>
                        <a:pt x="91557" y="404694"/>
                      </a:lnTo>
                      <a:lnTo>
                        <a:pt x="154545" y="418351"/>
                      </a:lnTo>
                      <a:lnTo>
                        <a:pt x="227520" y="426097"/>
                      </a:lnTo>
                      <a:lnTo>
                        <a:pt x="300904" y="426612"/>
                      </a:lnTo>
                      <a:lnTo>
                        <a:pt x="365028" y="420130"/>
                      </a:lnTo>
                      <a:lnTo>
                        <a:pt x="416013" y="407604"/>
                      </a:lnTo>
                      <a:lnTo>
                        <a:pt x="449979" y="389988"/>
                      </a:lnTo>
                      <a:lnTo>
                        <a:pt x="463048" y="368235"/>
                      </a:lnTo>
                      <a:lnTo>
                        <a:pt x="479063" y="84513"/>
                      </a:lnTo>
                      <a:lnTo>
                        <a:pt x="468525" y="61427"/>
                      </a:lnTo>
                      <a:lnTo>
                        <a:pt x="436756" y="40101"/>
                      </a:lnTo>
                      <a:lnTo>
                        <a:pt x="387505" y="21917"/>
                      </a:lnTo>
                      <a:lnTo>
                        <a:pt x="324518" y="8261"/>
                      </a:lnTo>
                      <a:lnTo>
                        <a:pt x="251542" y="514"/>
                      </a:lnTo>
                      <a:lnTo>
                        <a:pt x="178158" y="0"/>
                      </a:lnTo>
                      <a:close/>
                    </a:path>
                  </a:pathLst>
                </a:custGeom>
                <a:solidFill>
                  <a:srgbClr val="F1D3F0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9" name="object 40"/>
                <p:cNvSpPr/>
                <p:nvPr/>
              </p:nvSpPr>
              <p:spPr>
                <a:xfrm>
                  <a:off x="3739256" y="2990762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479062" y="84513"/>
                      </a:moveTo>
                      <a:lnTo>
                        <a:pt x="465993" y="106266"/>
                      </a:lnTo>
                      <a:lnTo>
                        <a:pt x="432027" y="123882"/>
                      </a:lnTo>
                      <a:lnTo>
                        <a:pt x="381042" y="136408"/>
                      </a:lnTo>
                      <a:lnTo>
                        <a:pt x="316918" y="142890"/>
                      </a:lnTo>
                      <a:lnTo>
                        <a:pt x="243535" y="142375"/>
                      </a:lnTo>
                      <a:lnTo>
                        <a:pt x="170559" y="134628"/>
                      </a:lnTo>
                      <a:lnTo>
                        <a:pt x="107572" y="120972"/>
                      </a:lnTo>
                      <a:lnTo>
                        <a:pt x="58321" y="102788"/>
                      </a:lnTo>
                      <a:lnTo>
                        <a:pt x="26552" y="81462"/>
                      </a:lnTo>
                      <a:lnTo>
                        <a:pt x="16014" y="58376"/>
                      </a:lnTo>
                    </a:path>
                    <a:path w="479425" h="426720">
                      <a:moveTo>
                        <a:pt x="0" y="342098"/>
                      </a:moveTo>
                      <a:lnTo>
                        <a:pt x="16014" y="58376"/>
                      </a:lnTo>
                      <a:lnTo>
                        <a:pt x="63050" y="19007"/>
                      </a:lnTo>
                      <a:lnTo>
                        <a:pt x="114035" y="6481"/>
                      </a:lnTo>
                      <a:lnTo>
                        <a:pt x="178159" y="0"/>
                      </a:lnTo>
                      <a:lnTo>
                        <a:pt x="251542" y="514"/>
                      </a:lnTo>
                      <a:lnTo>
                        <a:pt x="324518" y="8261"/>
                      </a:lnTo>
                      <a:lnTo>
                        <a:pt x="387505" y="21918"/>
                      </a:lnTo>
                      <a:lnTo>
                        <a:pt x="436756" y="40101"/>
                      </a:lnTo>
                      <a:lnTo>
                        <a:pt x="468524" y="61427"/>
                      </a:lnTo>
                      <a:lnTo>
                        <a:pt x="479062" y="84513"/>
                      </a:lnTo>
                      <a:lnTo>
                        <a:pt x="463047" y="368235"/>
                      </a:lnTo>
                      <a:lnTo>
                        <a:pt x="449979" y="389989"/>
                      </a:lnTo>
                      <a:lnTo>
                        <a:pt x="416012" y="407605"/>
                      </a:lnTo>
                      <a:lnTo>
                        <a:pt x="365027" y="420130"/>
                      </a:lnTo>
                      <a:lnTo>
                        <a:pt x="300903" y="426612"/>
                      </a:lnTo>
                      <a:lnTo>
                        <a:pt x="227520" y="426098"/>
                      </a:lnTo>
                      <a:lnTo>
                        <a:pt x="154544" y="418351"/>
                      </a:lnTo>
                      <a:lnTo>
                        <a:pt x="91557" y="404694"/>
                      </a:lnTo>
                      <a:lnTo>
                        <a:pt x="42306" y="386511"/>
                      </a:lnTo>
                      <a:lnTo>
                        <a:pt x="10537" y="365184"/>
                      </a:lnTo>
                      <a:lnTo>
                        <a:pt x="0" y="342098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0" name="object 41"/>
                <p:cNvSpPr/>
                <p:nvPr/>
              </p:nvSpPr>
              <p:spPr>
                <a:xfrm>
                  <a:off x="2377440" y="2618509"/>
                  <a:ext cx="1762297" cy="540327"/>
                </a:xfrm>
                <a:prstGeom prst="rect">
                  <a:avLst/>
                </a:prstGeom>
                <a:blipFill>
                  <a:blip r:embed="rId3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1" name="object 42"/>
                <p:cNvSpPr/>
                <p:nvPr/>
              </p:nvSpPr>
              <p:spPr>
                <a:xfrm>
                  <a:off x="2426127" y="2657437"/>
                  <a:ext cx="1544320" cy="328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4320" h="328930">
                      <a:moveTo>
                        <a:pt x="0" y="0"/>
                      </a:moveTo>
                      <a:lnTo>
                        <a:pt x="1543797" y="328916"/>
                      </a:lnTo>
                    </a:path>
                  </a:pathLst>
                </a:custGeom>
                <a:ln w="25399">
                  <a:solidFill>
                    <a:srgbClr val="235985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2" name="object 43"/>
                <p:cNvSpPr/>
                <p:nvPr/>
              </p:nvSpPr>
              <p:spPr>
                <a:xfrm>
                  <a:off x="3871879" y="2912886"/>
                  <a:ext cx="122698" cy="115321"/>
                </a:xfrm>
                <a:prstGeom prst="rect">
                  <a:avLst/>
                </a:prstGeom>
                <a:blipFill>
                  <a:blip r:embed="rId3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3" name="object 44"/>
              <p:cNvSpPr txBox="1"/>
              <p:nvPr/>
            </p:nvSpPr>
            <p:spPr>
              <a:xfrm>
                <a:off x="540347" y="4163343"/>
                <a:ext cx="508634" cy="289823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</a:pPr>
                <a:r>
                  <a:rPr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1OG</a:t>
                </a:r>
                <a:endParaRPr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grpSp>
            <p:nvGrpSpPr>
              <p:cNvPr id="13" name="object 45"/>
              <p:cNvGrpSpPr/>
              <p:nvPr/>
            </p:nvGrpSpPr>
            <p:grpSpPr>
              <a:xfrm>
                <a:off x="1375759" y="3485805"/>
                <a:ext cx="2099310" cy="1170092"/>
                <a:chOff x="1375756" y="2614353"/>
                <a:chExt cx="2099310" cy="877569"/>
              </a:xfrm>
            </p:grpSpPr>
            <p:sp>
              <p:nvSpPr>
                <p:cNvPr id="86" name="object 46"/>
                <p:cNvSpPr/>
                <p:nvPr/>
              </p:nvSpPr>
              <p:spPr>
                <a:xfrm>
                  <a:off x="1533697" y="2614353"/>
                  <a:ext cx="943494" cy="544483"/>
                </a:xfrm>
                <a:prstGeom prst="rect">
                  <a:avLst/>
                </a:prstGeom>
                <a:blipFill>
                  <a:blip r:embed="rId3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7" name="object 47"/>
                <p:cNvSpPr/>
                <p:nvPr/>
              </p:nvSpPr>
              <p:spPr>
                <a:xfrm>
                  <a:off x="1704649" y="2652316"/>
                  <a:ext cx="721995" cy="328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994" h="328930">
                      <a:moveTo>
                        <a:pt x="721478" y="0"/>
                      </a:moveTo>
                      <a:lnTo>
                        <a:pt x="0" y="328513"/>
                      </a:lnTo>
                    </a:path>
                  </a:pathLst>
                </a:custGeom>
                <a:ln w="25399">
                  <a:solidFill>
                    <a:srgbClr val="235985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8" name="object 48"/>
                <p:cNvSpPr/>
                <p:nvPr/>
              </p:nvSpPr>
              <p:spPr>
                <a:xfrm>
                  <a:off x="1681709" y="2894380"/>
                  <a:ext cx="124049" cy="108667"/>
                </a:xfrm>
                <a:prstGeom prst="rect">
                  <a:avLst/>
                </a:prstGeom>
                <a:blipFill>
                  <a:blip r:embed="rId3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9" name="object 49"/>
                <p:cNvSpPr/>
                <p:nvPr/>
              </p:nvSpPr>
              <p:spPr>
                <a:xfrm>
                  <a:off x="1375756" y="2963487"/>
                  <a:ext cx="581890" cy="527858"/>
                </a:xfrm>
                <a:prstGeom prst="rect">
                  <a:avLst/>
                </a:prstGeom>
                <a:blipFill>
                  <a:blip r:embed="rId3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0" name="object 50"/>
                <p:cNvSpPr/>
                <p:nvPr/>
              </p:nvSpPr>
              <p:spPr>
                <a:xfrm>
                  <a:off x="1426163" y="2990762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178158" y="0"/>
                      </a:moveTo>
                      <a:lnTo>
                        <a:pt x="114034" y="6481"/>
                      </a:lnTo>
                      <a:lnTo>
                        <a:pt x="63049" y="19007"/>
                      </a:lnTo>
                      <a:lnTo>
                        <a:pt x="29083" y="36622"/>
                      </a:lnTo>
                      <a:lnTo>
                        <a:pt x="0" y="342098"/>
                      </a:lnTo>
                      <a:lnTo>
                        <a:pt x="10537" y="365184"/>
                      </a:lnTo>
                      <a:lnTo>
                        <a:pt x="42306" y="386510"/>
                      </a:lnTo>
                      <a:lnTo>
                        <a:pt x="91557" y="404694"/>
                      </a:lnTo>
                      <a:lnTo>
                        <a:pt x="154545" y="418351"/>
                      </a:lnTo>
                      <a:lnTo>
                        <a:pt x="227520" y="426097"/>
                      </a:lnTo>
                      <a:lnTo>
                        <a:pt x="300904" y="426612"/>
                      </a:lnTo>
                      <a:lnTo>
                        <a:pt x="365027" y="420130"/>
                      </a:lnTo>
                      <a:lnTo>
                        <a:pt x="416012" y="407604"/>
                      </a:lnTo>
                      <a:lnTo>
                        <a:pt x="449979" y="389988"/>
                      </a:lnTo>
                      <a:lnTo>
                        <a:pt x="463048" y="368235"/>
                      </a:lnTo>
                      <a:lnTo>
                        <a:pt x="479063" y="84513"/>
                      </a:lnTo>
                      <a:lnTo>
                        <a:pt x="468525" y="61427"/>
                      </a:lnTo>
                      <a:lnTo>
                        <a:pt x="436756" y="40101"/>
                      </a:lnTo>
                      <a:lnTo>
                        <a:pt x="387505" y="21917"/>
                      </a:lnTo>
                      <a:lnTo>
                        <a:pt x="324518" y="8261"/>
                      </a:lnTo>
                      <a:lnTo>
                        <a:pt x="251542" y="514"/>
                      </a:lnTo>
                      <a:lnTo>
                        <a:pt x="178158" y="0"/>
                      </a:lnTo>
                      <a:close/>
                    </a:path>
                  </a:pathLst>
                </a:custGeom>
                <a:solidFill>
                  <a:srgbClr val="F1D3F0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1" name="object 51"/>
                <p:cNvSpPr/>
                <p:nvPr/>
              </p:nvSpPr>
              <p:spPr>
                <a:xfrm>
                  <a:off x="1426162" y="2990762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479062" y="84513"/>
                      </a:moveTo>
                      <a:lnTo>
                        <a:pt x="465993" y="106266"/>
                      </a:lnTo>
                      <a:lnTo>
                        <a:pt x="432027" y="123882"/>
                      </a:lnTo>
                      <a:lnTo>
                        <a:pt x="381042" y="136408"/>
                      </a:lnTo>
                      <a:lnTo>
                        <a:pt x="316918" y="142890"/>
                      </a:lnTo>
                      <a:lnTo>
                        <a:pt x="243535" y="142375"/>
                      </a:lnTo>
                      <a:lnTo>
                        <a:pt x="170559" y="134628"/>
                      </a:lnTo>
                      <a:lnTo>
                        <a:pt x="107572" y="120972"/>
                      </a:lnTo>
                      <a:lnTo>
                        <a:pt x="58321" y="102788"/>
                      </a:lnTo>
                      <a:lnTo>
                        <a:pt x="26552" y="81462"/>
                      </a:lnTo>
                      <a:lnTo>
                        <a:pt x="16014" y="58376"/>
                      </a:lnTo>
                    </a:path>
                    <a:path w="479425" h="426720">
                      <a:moveTo>
                        <a:pt x="0" y="342098"/>
                      </a:moveTo>
                      <a:lnTo>
                        <a:pt x="16014" y="58376"/>
                      </a:lnTo>
                      <a:lnTo>
                        <a:pt x="63050" y="19007"/>
                      </a:lnTo>
                      <a:lnTo>
                        <a:pt x="114034" y="6481"/>
                      </a:lnTo>
                      <a:lnTo>
                        <a:pt x="178158" y="0"/>
                      </a:lnTo>
                      <a:lnTo>
                        <a:pt x="251542" y="514"/>
                      </a:lnTo>
                      <a:lnTo>
                        <a:pt x="324517" y="8261"/>
                      </a:lnTo>
                      <a:lnTo>
                        <a:pt x="387505" y="21918"/>
                      </a:lnTo>
                      <a:lnTo>
                        <a:pt x="436756" y="40101"/>
                      </a:lnTo>
                      <a:lnTo>
                        <a:pt x="468524" y="61427"/>
                      </a:lnTo>
                      <a:lnTo>
                        <a:pt x="479062" y="84513"/>
                      </a:lnTo>
                      <a:lnTo>
                        <a:pt x="463047" y="368235"/>
                      </a:lnTo>
                      <a:lnTo>
                        <a:pt x="449979" y="389989"/>
                      </a:lnTo>
                      <a:lnTo>
                        <a:pt x="416012" y="407605"/>
                      </a:lnTo>
                      <a:lnTo>
                        <a:pt x="365027" y="420130"/>
                      </a:lnTo>
                      <a:lnTo>
                        <a:pt x="300903" y="426612"/>
                      </a:lnTo>
                      <a:lnTo>
                        <a:pt x="227520" y="426098"/>
                      </a:lnTo>
                      <a:lnTo>
                        <a:pt x="154544" y="418351"/>
                      </a:lnTo>
                      <a:lnTo>
                        <a:pt x="91557" y="404694"/>
                      </a:lnTo>
                      <a:lnTo>
                        <a:pt x="42306" y="386511"/>
                      </a:lnTo>
                      <a:lnTo>
                        <a:pt x="10537" y="365184"/>
                      </a:lnTo>
                      <a:lnTo>
                        <a:pt x="0" y="342098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2" name="object 52"/>
                <p:cNvSpPr/>
                <p:nvPr/>
              </p:nvSpPr>
              <p:spPr>
                <a:xfrm>
                  <a:off x="2896985" y="2963487"/>
                  <a:ext cx="577734" cy="527858"/>
                </a:xfrm>
                <a:prstGeom prst="rect">
                  <a:avLst/>
                </a:prstGeom>
                <a:blipFill>
                  <a:blip r:embed="rId3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3" name="object 53"/>
                <p:cNvSpPr/>
                <p:nvPr/>
              </p:nvSpPr>
              <p:spPr>
                <a:xfrm>
                  <a:off x="2947168" y="2990762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178158" y="0"/>
                      </a:moveTo>
                      <a:lnTo>
                        <a:pt x="114035" y="6481"/>
                      </a:lnTo>
                      <a:lnTo>
                        <a:pt x="63050" y="19007"/>
                      </a:lnTo>
                      <a:lnTo>
                        <a:pt x="29083" y="36622"/>
                      </a:lnTo>
                      <a:lnTo>
                        <a:pt x="0" y="342098"/>
                      </a:lnTo>
                      <a:lnTo>
                        <a:pt x="10537" y="365184"/>
                      </a:lnTo>
                      <a:lnTo>
                        <a:pt x="42306" y="386510"/>
                      </a:lnTo>
                      <a:lnTo>
                        <a:pt x="91557" y="404694"/>
                      </a:lnTo>
                      <a:lnTo>
                        <a:pt x="154545" y="418351"/>
                      </a:lnTo>
                      <a:lnTo>
                        <a:pt x="227520" y="426097"/>
                      </a:lnTo>
                      <a:lnTo>
                        <a:pt x="300904" y="426612"/>
                      </a:lnTo>
                      <a:lnTo>
                        <a:pt x="365028" y="420130"/>
                      </a:lnTo>
                      <a:lnTo>
                        <a:pt x="416013" y="407604"/>
                      </a:lnTo>
                      <a:lnTo>
                        <a:pt x="449979" y="389988"/>
                      </a:lnTo>
                      <a:lnTo>
                        <a:pt x="463048" y="368235"/>
                      </a:lnTo>
                      <a:lnTo>
                        <a:pt x="479063" y="84513"/>
                      </a:lnTo>
                      <a:lnTo>
                        <a:pt x="468525" y="61427"/>
                      </a:lnTo>
                      <a:lnTo>
                        <a:pt x="436756" y="40101"/>
                      </a:lnTo>
                      <a:lnTo>
                        <a:pt x="387505" y="21917"/>
                      </a:lnTo>
                      <a:lnTo>
                        <a:pt x="324518" y="8261"/>
                      </a:lnTo>
                      <a:lnTo>
                        <a:pt x="251542" y="514"/>
                      </a:lnTo>
                      <a:lnTo>
                        <a:pt x="178158" y="0"/>
                      </a:lnTo>
                      <a:close/>
                    </a:path>
                  </a:pathLst>
                </a:custGeom>
                <a:solidFill>
                  <a:srgbClr val="F1D3F0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4" name="object 54"/>
                <p:cNvSpPr/>
                <p:nvPr/>
              </p:nvSpPr>
              <p:spPr>
                <a:xfrm>
                  <a:off x="2947168" y="2990762"/>
                  <a:ext cx="479425" cy="42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 h="426720">
                      <a:moveTo>
                        <a:pt x="479062" y="84513"/>
                      </a:moveTo>
                      <a:lnTo>
                        <a:pt x="465993" y="106266"/>
                      </a:lnTo>
                      <a:lnTo>
                        <a:pt x="432027" y="123882"/>
                      </a:lnTo>
                      <a:lnTo>
                        <a:pt x="381042" y="136408"/>
                      </a:lnTo>
                      <a:lnTo>
                        <a:pt x="316918" y="142890"/>
                      </a:lnTo>
                      <a:lnTo>
                        <a:pt x="243535" y="142375"/>
                      </a:lnTo>
                      <a:lnTo>
                        <a:pt x="170559" y="134628"/>
                      </a:lnTo>
                      <a:lnTo>
                        <a:pt x="107572" y="120972"/>
                      </a:lnTo>
                      <a:lnTo>
                        <a:pt x="58321" y="102788"/>
                      </a:lnTo>
                      <a:lnTo>
                        <a:pt x="26552" y="81462"/>
                      </a:lnTo>
                      <a:lnTo>
                        <a:pt x="16014" y="58376"/>
                      </a:lnTo>
                    </a:path>
                    <a:path w="479425" h="426720">
                      <a:moveTo>
                        <a:pt x="0" y="342098"/>
                      </a:moveTo>
                      <a:lnTo>
                        <a:pt x="16014" y="58376"/>
                      </a:lnTo>
                      <a:lnTo>
                        <a:pt x="63050" y="19007"/>
                      </a:lnTo>
                      <a:lnTo>
                        <a:pt x="114035" y="6481"/>
                      </a:lnTo>
                      <a:lnTo>
                        <a:pt x="178158" y="0"/>
                      </a:lnTo>
                      <a:lnTo>
                        <a:pt x="251542" y="514"/>
                      </a:lnTo>
                      <a:lnTo>
                        <a:pt x="324517" y="8261"/>
                      </a:lnTo>
                      <a:lnTo>
                        <a:pt x="387505" y="21918"/>
                      </a:lnTo>
                      <a:lnTo>
                        <a:pt x="436756" y="40101"/>
                      </a:lnTo>
                      <a:lnTo>
                        <a:pt x="468524" y="61427"/>
                      </a:lnTo>
                      <a:lnTo>
                        <a:pt x="479062" y="84513"/>
                      </a:lnTo>
                      <a:lnTo>
                        <a:pt x="463048" y="368235"/>
                      </a:lnTo>
                      <a:lnTo>
                        <a:pt x="449979" y="389989"/>
                      </a:lnTo>
                      <a:lnTo>
                        <a:pt x="416012" y="407605"/>
                      </a:lnTo>
                      <a:lnTo>
                        <a:pt x="365027" y="420130"/>
                      </a:lnTo>
                      <a:lnTo>
                        <a:pt x="300903" y="426612"/>
                      </a:lnTo>
                      <a:lnTo>
                        <a:pt x="227520" y="426098"/>
                      </a:lnTo>
                      <a:lnTo>
                        <a:pt x="154544" y="418351"/>
                      </a:lnTo>
                      <a:lnTo>
                        <a:pt x="91557" y="404694"/>
                      </a:lnTo>
                      <a:lnTo>
                        <a:pt x="42306" y="386511"/>
                      </a:lnTo>
                      <a:lnTo>
                        <a:pt x="10537" y="365184"/>
                      </a:lnTo>
                      <a:lnTo>
                        <a:pt x="0" y="342098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5" name="object 55"/>
                <p:cNvSpPr/>
                <p:nvPr/>
              </p:nvSpPr>
              <p:spPr>
                <a:xfrm>
                  <a:off x="2373283" y="2614353"/>
                  <a:ext cx="976745" cy="544483"/>
                </a:xfrm>
                <a:prstGeom prst="rect">
                  <a:avLst/>
                </a:prstGeom>
                <a:blipFill>
                  <a:blip r:embed="rId4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6" name="object 56"/>
                <p:cNvSpPr/>
                <p:nvPr/>
              </p:nvSpPr>
              <p:spPr>
                <a:xfrm>
                  <a:off x="2426128" y="2652316"/>
                  <a:ext cx="753745" cy="328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44" h="328930">
                      <a:moveTo>
                        <a:pt x="0" y="0"/>
                      </a:moveTo>
                      <a:lnTo>
                        <a:pt x="753188" y="328845"/>
                      </a:lnTo>
                    </a:path>
                  </a:pathLst>
                </a:custGeom>
                <a:ln w="25399">
                  <a:solidFill>
                    <a:srgbClr val="235985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7" name="object 57"/>
                <p:cNvSpPr/>
                <p:nvPr/>
              </p:nvSpPr>
              <p:spPr>
                <a:xfrm>
                  <a:off x="3078267" y="2895544"/>
                  <a:ext cx="124147" cy="109293"/>
                </a:xfrm>
                <a:prstGeom prst="rect">
                  <a:avLst/>
                </a:prstGeom>
                <a:blipFill>
                  <a:blip r:embed="rId4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5" name="object 58"/>
              <p:cNvSpPr txBox="1"/>
              <p:nvPr/>
            </p:nvSpPr>
            <p:spPr>
              <a:xfrm>
                <a:off x="1505028" y="4154050"/>
                <a:ext cx="508634" cy="289823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</a:pPr>
                <a:r>
                  <a:rPr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1OG</a:t>
                </a:r>
                <a:endParaRPr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6" name="object 59"/>
              <p:cNvSpPr txBox="1"/>
              <p:nvPr/>
            </p:nvSpPr>
            <p:spPr>
              <a:xfrm>
                <a:off x="2969244" y="3376972"/>
                <a:ext cx="1435735" cy="879668"/>
              </a:xfrm>
              <a:prstGeom prst="rect">
                <a:avLst/>
              </a:prstGeom>
            </p:spPr>
            <p:txBody>
              <a:bodyPr vert="horz" wrap="square" lIns="0" tIns="170121" rIns="0" bIns="0" rtlCol="0">
                <a:spAutoFit/>
              </a:bodyPr>
              <a:lstStyle/>
              <a:p>
                <a:pPr marL="519882" defTabSz="914079">
                  <a:spcBef>
                    <a:spcPts val="1340"/>
                  </a:spcBef>
                </a:pPr>
                <a:r>
                  <a:rPr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100MB/s</a:t>
                </a:r>
                <a:endParaRPr dirty="0">
                  <a:solidFill>
                    <a:prstClr val="black"/>
                  </a:solidFill>
                  <a:latin typeface="Arial"/>
                  <a:cs typeface="Arial"/>
                </a:endParaRPr>
              </a:p>
              <a:p>
                <a:pPr marL="12695" defTabSz="914079">
                  <a:spcBef>
                    <a:spcPts val="1240"/>
                  </a:spcBef>
                  <a:tabLst>
                    <a:tab pos="875993" algn="l"/>
                  </a:tabLst>
                </a:pPr>
                <a:r>
                  <a:rPr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1OG	1OG</a:t>
                </a:r>
                <a:endParaRPr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7" name="object 68"/>
              <p:cNvSpPr txBox="1"/>
              <p:nvPr/>
            </p:nvSpPr>
            <p:spPr>
              <a:xfrm>
                <a:off x="2126515" y="3891265"/>
                <a:ext cx="737235" cy="1046435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15529" defTabSz="914079">
                  <a:spcBef>
                    <a:spcPts val="100"/>
                  </a:spcBef>
                </a:pPr>
                <a:r>
                  <a:rPr sz="3200" b="1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endParaRPr sz="3200" dirty="0">
                  <a:solidFill>
                    <a:prstClr val="black"/>
                  </a:solidFill>
                  <a:latin typeface="Arial"/>
                  <a:cs typeface="Arial"/>
                </a:endParaRPr>
              </a:p>
              <a:p>
                <a:pPr marL="12695" defTabSz="914079">
                  <a:spcBef>
                    <a:spcPts val="2075"/>
                  </a:spcBef>
                </a:pPr>
                <a:r>
                  <a:rPr sz="1600"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network</a:t>
                </a:r>
                <a:endParaRPr sz="16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8" name="object 88"/>
              <p:cNvSpPr txBox="1"/>
              <p:nvPr/>
            </p:nvSpPr>
            <p:spPr>
              <a:xfrm>
                <a:off x="95658" y="5790497"/>
                <a:ext cx="889000" cy="382151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  <a:tabLst>
                    <a:tab pos="570664" algn="l"/>
                  </a:tabLst>
                </a:pPr>
                <a:r>
                  <a:rPr sz="1400"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1O</a:t>
                </a:r>
                <a:r>
                  <a:rPr sz="1400" dirty="0">
                    <a:solidFill>
                      <a:prstClr val="black"/>
                    </a:solidFill>
                    <a:latin typeface="Arial"/>
                    <a:cs typeface="Arial"/>
                  </a:rPr>
                  <a:t>G	</a:t>
                </a:r>
                <a:r>
                  <a:rPr sz="3600" b="1" baseline="1157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endParaRPr sz="3600" baseline="1157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9" name="object 102"/>
              <p:cNvSpPr txBox="1"/>
              <p:nvPr/>
            </p:nvSpPr>
            <p:spPr>
              <a:xfrm>
                <a:off x="1181714" y="5976215"/>
                <a:ext cx="840740" cy="228263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</a:pPr>
                <a:r>
                  <a:rPr sz="2100" spc="-7" baseline="1984" dirty="0">
                    <a:solidFill>
                      <a:prstClr val="black"/>
                    </a:solidFill>
                    <a:latin typeface="Arial"/>
                    <a:cs typeface="Arial"/>
                  </a:rPr>
                  <a:t>1OG</a:t>
                </a:r>
                <a:r>
                  <a:rPr sz="2100" spc="52" baseline="1984" dirty="0">
                    <a:solidFill>
                      <a:prstClr val="black"/>
                    </a:solidFill>
                    <a:latin typeface="Arial"/>
                    <a:cs typeface="Arial"/>
                  </a:rPr>
                  <a:t> </a:t>
                </a:r>
                <a:r>
                  <a:rPr sz="1400"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1OG</a:t>
                </a:r>
                <a:endParaRPr sz="1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0" name="object 122"/>
              <p:cNvSpPr txBox="1"/>
              <p:nvPr/>
            </p:nvSpPr>
            <p:spPr>
              <a:xfrm>
                <a:off x="2180077" y="5813107"/>
                <a:ext cx="1356995" cy="382151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  <a:tabLst>
                    <a:tab pos="539560" algn="l"/>
                  </a:tabLst>
                </a:pPr>
                <a:r>
                  <a:rPr sz="3600" b="1" baseline="2314" dirty="0">
                    <a:solidFill>
                      <a:prstClr val="black"/>
                    </a:solidFill>
                    <a:latin typeface="Arial"/>
                    <a:cs typeface="Arial"/>
                  </a:rPr>
                  <a:t>…	</a:t>
                </a:r>
                <a:r>
                  <a:rPr sz="1400" spc="-5" dirty="0">
                    <a:solidFill>
                      <a:prstClr val="black"/>
                    </a:solidFill>
                    <a:latin typeface="Arial"/>
                    <a:cs typeface="Arial"/>
                  </a:rPr>
                  <a:t>1OG</a:t>
                </a:r>
                <a:r>
                  <a:rPr sz="1400" spc="-50" dirty="0">
                    <a:solidFill>
                      <a:prstClr val="black"/>
                    </a:solidFill>
                    <a:latin typeface="Arial"/>
                    <a:cs typeface="Arial"/>
                  </a:rPr>
                  <a:t> </a:t>
                </a:r>
                <a:r>
                  <a:rPr sz="2100" spc="-7" baseline="5952" dirty="0">
                    <a:solidFill>
                      <a:prstClr val="black"/>
                    </a:solidFill>
                    <a:latin typeface="Arial"/>
                    <a:cs typeface="Arial"/>
                  </a:rPr>
                  <a:t>1OG</a:t>
                </a:r>
                <a:endParaRPr sz="2100" baseline="5952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1" name="object 124"/>
              <p:cNvSpPr txBox="1"/>
              <p:nvPr/>
            </p:nvSpPr>
            <p:spPr>
              <a:xfrm>
                <a:off x="3748733" y="5774989"/>
                <a:ext cx="330200" cy="382156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defTabSz="914079">
                  <a:spcBef>
                    <a:spcPts val="100"/>
                  </a:spcBef>
                </a:pPr>
                <a:r>
                  <a:rPr sz="2400" b="1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endParaRPr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grpSp>
            <p:nvGrpSpPr>
              <p:cNvPr id="14" name="object 125"/>
              <p:cNvGrpSpPr/>
              <p:nvPr/>
            </p:nvGrpSpPr>
            <p:grpSpPr>
              <a:xfrm>
                <a:off x="3350030" y="5303521"/>
                <a:ext cx="923290" cy="327660"/>
                <a:chOff x="3350028" y="3977640"/>
                <a:chExt cx="923290" cy="245745"/>
              </a:xfrm>
            </p:grpSpPr>
            <p:sp>
              <p:nvSpPr>
                <p:cNvPr id="83" name="object 126"/>
                <p:cNvSpPr/>
                <p:nvPr/>
              </p:nvSpPr>
              <p:spPr>
                <a:xfrm>
                  <a:off x="3350028" y="3977640"/>
                  <a:ext cx="922712" cy="245225"/>
                </a:xfrm>
                <a:prstGeom prst="rect">
                  <a:avLst/>
                </a:prstGeom>
                <a:blipFill>
                  <a:blip r:embed="rId4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4" name="object 127"/>
                <p:cNvSpPr/>
                <p:nvPr/>
              </p:nvSpPr>
              <p:spPr>
                <a:xfrm>
                  <a:off x="3401534" y="4003490"/>
                  <a:ext cx="822325" cy="14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325" h="144779">
                      <a:moveTo>
                        <a:pt x="821797" y="0"/>
                      </a:moveTo>
                      <a:lnTo>
                        <a:pt x="0" y="0"/>
                      </a:lnTo>
                      <a:lnTo>
                        <a:pt x="0" y="144778"/>
                      </a:lnTo>
                      <a:lnTo>
                        <a:pt x="821797" y="144778"/>
                      </a:lnTo>
                      <a:lnTo>
                        <a:pt x="821797" y="0"/>
                      </a:lnTo>
                      <a:close/>
                    </a:path>
                  </a:pathLst>
                </a:custGeom>
                <a:solidFill>
                  <a:srgbClr val="D4FDD5"/>
                </a:solidFill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5" name="object 128"/>
                <p:cNvSpPr/>
                <p:nvPr/>
              </p:nvSpPr>
              <p:spPr>
                <a:xfrm>
                  <a:off x="3401534" y="4003490"/>
                  <a:ext cx="822325" cy="14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325" h="144779">
                      <a:moveTo>
                        <a:pt x="0" y="0"/>
                      </a:moveTo>
                      <a:lnTo>
                        <a:pt x="821797" y="0"/>
                      </a:lnTo>
                      <a:lnTo>
                        <a:pt x="821797" y="144778"/>
                      </a:lnTo>
                      <a:lnTo>
                        <a:pt x="0" y="1447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4">
                  <a:solidFill>
                    <a:srgbClr val="1F578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914079"/>
                  <a:endParaRPr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15" name="Groupe 190"/>
          <p:cNvGrpSpPr/>
          <p:nvPr/>
        </p:nvGrpSpPr>
        <p:grpSpPr>
          <a:xfrm>
            <a:off x="5242758" y="1916832"/>
            <a:ext cx="3361690" cy="3587984"/>
            <a:chOff x="5041791" y="161114"/>
            <a:chExt cx="3361690" cy="3587984"/>
          </a:xfrm>
        </p:grpSpPr>
        <p:sp>
          <p:nvSpPr>
            <p:cNvPr id="184" name="object 6"/>
            <p:cNvSpPr txBox="1"/>
            <p:nvPr/>
          </p:nvSpPr>
          <p:spPr>
            <a:xfrm>
              <a:off x="5041791" y="161114"/>
              <a:ext cx="2869565" cy="305207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900" dirty="0">
                  <a:solidFill>
                    <a:srgbClr val="FF0000"/>
                  </a:solidFill>
                  <a:latin typeface="Arial"/>
                  <a:cs typeface="Arial"/>
                </a:rPr>
                <a:t>Un </a:t>
              </a:r>
              <a:r>
                <a:rPr sz="1900" spc="-5" dirty="0">
                  <a:solidFill>
                    <a:srgbClr val="FF0000"/>
                  </a:solidFill>
                  <a:latin typeface="Arial"/>
                  <a:cs typeface="Arial"/>
                </a:rPr>
                <a:t>ordinateur </a:t>
              </a:r>
              <a:r>
                <a:rPr sz="1900" dirty="0">
                  <a:solidFill>
                    <a:srgbClr val="FF0000"/>
                  </a:solidFill>
                  <a:latin typeface="Arial"/>
                  <a:cs typeface="Arial"/>
                </a:rPr>
                <a:t>et un</a:t>
              </a:r>
              <a:r>
                <a:rPr sz="1900" spc="-6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900" dirty="0">
                  <a:solidFill>
                    <a:srgbClr val="FF0000"/>
                  </a:solidFill>
                  <a:latin typeface="Arial"/>
                  <a:cs typeface="Arial"/>
                </a:rPr>
                <a:t>disque</a:t>
              </a:r>
              <a:endParaRPr sz="19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85" name="object 7"/>
            <p:cNvSpPr txBox="1"/>
            <p:nvPr/>
          </p:nvSpPr>
          <p:spPr>
            <a:xfrm>
              <a:off x="5333895" y="529921"/>
              <a:ext cx="94615" cy="901487"/>
            </a:xfrm>
            <a:prstGeom prst="rect">
              <a:avLst/>
            </a:prstGeom>
          </p:spPr>
          <p:txBody>
            <a:bodyPr vert="horz" wrap="square" lIns="0" tIns="115529" rIns="0" bIns="0" rtlCol="0">
              <a:spAutoFit/>
            </a:bodyPr>
            <a:lstStyle/>
            <a:p>
              <a:pPr marL="12695" defTabSz="914079">
                <a:spcBef>
                  <a:spcPts val="910"/>
                </a:spcBef>
              </a:pPr>
              <a:r>
                <a:rPr sz="1200" spc="-254" dirty="0">
                  <a:solidFill>
                    <a:srgbClr val="E1001A"/>
                  </a:solidFill>
                  <a:latin typeface="Wingdings"/>
                  <a:cs typeface="Wingdings"/>
                </a:rPr>
                <a:t></a:t>
              </a:r>
              <a:endParaRPr sz="1200" dirty="0">
                <a:solidFill>
                  <a:prstClr val="black"/>
                </a:solidFill>
                <a:latin typeface="Wingdings"/>
                <a:cs typeface="Wingdings"/>
              </a:endParaRPr>
            </a:p>
            <a:p>
              <a:pPr marL="12695" defTabSz="914079">
                <a:spcBef>
                  <a:spcPts val="819"/>
                </a:spcBef>
              </a:pPr>
              <a:r>
                <a:rPr sz="1200" spc="-254" dirty="0">
                  <a:solidFill>
                    <a:srgbClr val="E1001A"/>
                  </a:solidFill>
                  <a:latin typeface="Wingdings"/>
                  <a:cs typeface="Wingdings"/>
                </a:rPr>
                <a:t></a:t>
              </a:r>
              <a:endParaRPr sz="1200" dirty="0">
                <a:solidFill>
                  <a:prstClr val="black"/>
                </a:solidFill>
                <a:latin typeface="Wingdings"/>
                <a:cs typeface="Wingdings"/>
              </a:endParaRPr>
            </a:p>
            <a:p>
              <a:pPr marL="12695" defTabSz="914079">
                <a:spcBef>
                  <a:spcPts val="819"/>
                </a:spcBef>
              </a:pPr>
              <a:r>
                <a:rPr sz="1200" spc="-254" dirty="0">
                  <a:solidFill>
                    <a:srgbClr val="E1001A"/>
                  </a:solidFill>
                  <a:latin typeface="Wingdings"/>
                  <a:cs typeface="Wingdings"/>
                </a:rPr>
                <a:t></a:t>
              </a:r>
              <a:endParaRPr sz="1200" dirty="0">
                <a:solidFill>
                  <a:prstClr val="black"/>
                </a:solidFill>
                <a:latin typeface="Wingdings"/>
                <a:cs typeface="Wingdings"/>
              </a:endParaRPr>
            </a:p>
          </p:txBody>
        </p:sp>
        <p:sp>
          <p:nvSpPr>
            <p:cNvPr id="186" name="object 8"/>
            <p:cNvSpPr txBox="1"/>
            <p:nvPr/>
          </p:nvSpPr>
          <p:spPr>
            <a:xfrm>
              <a:off x="5791091" y="547193"/>
              <a:ext cx="2612390" cy="865104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marR="1054366" defTabSz="914079">
                <a:lnSpc>
                  <a:spcPct val="107800"/>
                </a:lnSpc>
                <a:spcBef>
                  <a:spcPts val="100"/>
                </a:spcBef>
              </a:pP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1 </a:t>
              </a:r>
              <a:r>
                <a:rPr sz="1700" spc="-5" dirty="0">
                  <a:solidFill>
                    <a:srgbClr val="4C4C4C"/>
                  </a:solidFill>
                  <a:latin typeface="Arial"/>
                  <a:cs typeface="Arial"/>
                </a:rPr>
                <a:t>téraoctet  </a:t>
              </a: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Scan</a:t>
              </a:r>
              <a:r>
                <a:rPr sz="1700" spc="-55" dirty="0">
                  <a:solidFill>
                    <a:srgbClr val="4C4C4C"/>
                  </a:solidFill>
                  <a:latin typeface="Arial"/>
                  <a:cs typeface="Arial"/>
                </a:rPr>
                <a:t> </a:t>
              </a:r>
              <a:r>
                <a:rPr sz="1700" spc="-5" dirty="0">
                  <a:solidFill>
                    <a:srgbClr val="4C4C4C"/>
                  </a:solidFill>
                  <a:latin typeface="Arial"/>
                  <a:cs typeface="Arial"/>
                </a:rPr>
                <a:t>séquentiel</a:t>
              </a:r>
              <a:endParaRPr sz="1700" dirty="0">
                <a:solidFill>
                  <a:prstClr val="black"/>
                </a:solidFill>
                <a:latin typeface="Arial"/>
                <a:cs typeface="Arial"/>
              </a:endParaRPr>
            </a:p>
            <a:p>
              <a:pPr marL="12695" defTabSz="914079">
                <a:spcBef>
                  <a:spcPts val="160"/>
                </a:spcBef>
              </a:pP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166 </a:t>
              </a:r>
              <a:r>
                <a:rPr sz="1700" spc="-5" dirty="0">
                  <a:solidFill>
                    <a:srgbClr val="4C4C4C"/>
                  </a:solidFill>
                  <a:latin typeface="Arial"/>
                  <a:cs typeface="Arial"/>
                </a:rPr>
                <a:t>minutes </a:t>
              </a: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(&gt; </a:t>
              </a:r>
              <a:r>
                <a:rPr sz="1700" spc="-5" dirty="0">
                  <a:solidFill>
                    <a:srgbClr val="4C4C4C"/>
                  </a:solidFill>
                  <a:latin typeface="Arial"/>
                  <a:cs typeface="Arial"/>
                </a:rPr>
                <a:t>2.5</a:t>
              </a:r>
              <a:r>
                <a:rPr sz="1700" spc="-65" dirty="0">
                  <a:solidFill>
                    <a:srgbClr val="4C4C4C"/>
                  </a:solidFill>
                  <a:latin typeface="Arial"/>
                  <a:cs typeface="Arial"/>
                </a:rPr>
                <a:t> </a:t>
              </a: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heures)</a:t>
              </a:r>
              <a:endParaRPr sz="17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87" name="object 9"/>
            <p:cNvSpPr txBox="1"/>
            <p:nvPr/>
          </p:nvSpPr>
          <p:spPr>
            <a:xfrm>
              <a:off x="5041794" y="1702045"/>
              <a:ext cx="2642235" cy="305207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900" dirty="0">
                  <a:solidFill>
                    <a:srgbClr val="FF0000"/>
                  </a:solidFill>
                  <a:latin typeface="Arial"/>
                  <a:cs typeface="Arial"/>
                </a:rPr>
                <a:t>100 disques en</a:t>
              </a:r>
              <a:r>
                <a:rPr sz="1900" spc="-10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900" dirty="0">
                  <a:solidFill>
                    <a:srgbClr val="FF0000"/>
                  </a:solidFill>
                  <a:latin typeface="Arial"/>
                  <a:cs typeface="Arial"/>
                </a:rPr>
                <a:t>parallèle</a:t>
              </a:r>
              <a:endParaRPr sz="19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88" name="object 11"/>
            <p:cNvSpPr txBox="1"/>
            <p:nvPr/>
          </p:nvSpPr>
          <p:spPr>
            <a:xfrm>
              <a:off x="5791091" y="2115219"/>
              <a:ext cx="1381760" cy="274429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moins de</a:t>
              </a:r>
              <a:r>
                <a:rPr sz="1700" spc="-95" dirty="0">
                  <a:solidFill>
                    <a:srgbClr val="4C4C4C"/>
                  </a:solidFill>
                  <a:latin typeface="Arial"/>
                  <a:cs typeface="Arial"/>
                </a:rPr>
                <a:t> </a:t>
              </a: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2mn</a:t>
              </a:r>
              <a:endParaRPr sz="17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89" name="object 12"/>
            <p:cNvSpPr txBox="1"/>
            <p:nvPr/>
          </p:nvSpPr>
          <p:spPr>
            <a:xfrm>
              <a:off x="5041794" y="2480979"/>
              <a:ext cx="2802255" cy="305207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900" dirty="0">
                  <a:solidFill>
                    <a:srgbClr val="FF0000"/>
                  </a:solidFill>
                  <a:latin typeface="Arial"/>
                  <a:cs typeface="Arial"/>
                </a:rPr>
                <a:t>100 </a:t>
              </a:r>
              <a:r>
                <a:rPr sz="1900" spc="-5" dirty="0">
                  <a:solidFill>
                    <a:srgbClr val="FF0000"/>
                  </a:solidFill>
                  <a:latin typeface="Arial"/>
                  <a:cs typeface="Arial"/>
                </a:rPr>
                <a:t>ordinateurs</a:t>
              </a:r>
              <a:r>
                <a:rPr sz="1900" spc="-1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900" spc="-5" dirty="0">
                  <a:solidFill>
                    <a:srgbClr val="FF0000"/>
                  </a:solidFill>
                  <a:latin typeface="Arial"/>
                  <a:cs typeface="Arial"/>
                </a:rPr>
                <a:t>distribués</a:t>
              </a:r>
              <a:endParaRPr sz="19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190" name="object 14"/>
            <p:cNvSpPr txBox="1"/>
            <p:nvPr/>
          </p:nvSpPr>
          <p:spPr>
            <a:xfrm>
              <a:off x="5791095" y="2883994"/>
              <a:ext cx="2378075" cy="865104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marR="5077" defTabSz="914079">
                <a:lnSpc>
                  <a:spcPct val="107800"/>
                </a:lnSpc>
                <a:spcBef>
                  <a:spcPts val="100"/>
                </a:spcBef>
              </a:pP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Chacun son propre</a:t>
              </a:r>
              <a:r>
                <a:rPr sz="1700" spc="-100" dirty="0">
                  <a:solidFill>
                    <a:srgbClr val="4C4C4C"/>
                  </a:solidFill>
                  <a:latin typeface="Arial"/>
                  <a:cs typeface="Arial"/>
                </a:rPr>
                <a:t> </a:t>
              </a: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CPU  Chacun son</a:t>
              </a:r>
              <a:r>
                <a:rPr sz="1700" spc="-20" dirty="0">
                  <a:solidFill>
                    <a:srgbClr val="4C4C4C"/>
                  </a:solidFill>
                  <a:latin typeface="Arial"/>
                  <a:cs typeface="Arial"/>
                </a:rPr>
                <a:t> </a:t>
              </a:r>
              <a:r>
                <a:rPr sz="1700" dirty="0">
                  <a:solidFill>
                    <a:srgbClr val="4C4C4C"/>
                  </a:solidFill>
                  <a:latin typeface="Arial"/>
                  <a:cs typeface="Arial"/>
                </a:rPr>
                <a:t>disque</a:t>
              </a:r>
              <a:endParaRPr sz="1700" dirty="0">
                <a:solidFill>
                  <a:prstClr val="black"/>
                </a:solidFill>
                <a:latin typeface="Arial"/>
                <a:cs typeface="Arial"/>
              </a:endParaRPr>
            </a:p>
            <a:p>
              <a:pPr marL="12695" defTabSz="914079">
                <a:spcBef>
                  <a:spcPts val="160"/>
                </a:spcBef>
              </a:pPr>
              <a:r>
                <a:rPr sz="1700" b="1" spc="-5" dirty="0">
                  <a:solidFill>
                    <a:srgbClr val="3366FF"/>
                  </a:solidFill>
                  <a:latin typeface="Arial"/>
                  <a:cs typeface="Arial"/>
                </a:rPr>
                <a:t>Ça </a:t>
              </a:r>
              <a:r>
                <a:rPr sz="1700" b="1" dirty="0">
                  <a:solidFill>
                    <a:srgbClr val="3366FF"/>
                  </a:solidFill>
                  <a:latin typeface="Arial"/>
                  <a:cs typeface="Arial"/>
                </a:rPr>
                <a:t>passe à</a:t>
              </a:r>
              <a:r>
                <a:rPr sz="1700" b="1" spc="-30" dirty="0">
                  <a:solidFill>
                    <a:srgbClr val="3366FF"/>
                  </a:solidFill>
                  <a:latin typeface="Arial"/>
                  <a:cs typeface="Arial"/>
                </a:rPr>
                <a:t> </a:t>
              </a:r>
              <a:r>
                <a:rPr sz="1700" b="1" dirty="0">
                  <a:solidFill>
                    <a:srgbClr val="3366FF"/>
                  </a:solidFill>
                  <a:latin typeface="Arial"/>
                  <a:cs typeface="Arial"/>
                </a:rPr>
                <a:t>l’échelle</a:t>
              </a:r>
              <a:endParaRPr sz="17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92" name="Rectangle 191"/>
          <p:cNvSpPr/>
          <p:nvPr/>
        </p:nvSpPr>
        <p:spPr>
          <a:xfrm>
            <a:off x="251520" y="1772816"/>
            <a:ext cx="4572000" cy="16183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90434" defTabSz="914079">
              <a:spcBef>
                <a:spcPts val="600"/>
              </a:spcBef>
            </a:pPr>
            <a:r>
              <a:rPr lang="fr-FR" sz="1300" spc="-285" dirty="0">
                <a:solidFill>
                  <a:srgbClr val="E1001A"/>
                </a:solidFill>
                <a:latin typeface="Wingdings"/>
                <a:cs typeface="Wingdings"/>
              </a:rPr>
              <a:t></a:t>
            </a:r>
            <a:r>
              <a:rPr lang="fr-FR" sz="1300" spc="-285" dirty="0">
                <a:solidFill>
                  <a:srgbClr val="E1001A"/>
                </a:solidFill>
                <a:latin typeface="Times New Roman"/>
                <a:cs typeface="Times New Roman"/>
              </a:rPr>
              <a:t> </a:t>
            </a:r>
            <a:r>
              <a:rPr lang="fr-FR" spc="-5" dirty="0">
                <a:solidFill>
                  <a:prstClr val="black"/>
                </a:solidFill>
                <a:latin typeface="Arial"/>
                <a:cs typeface="Arial"/>
              </a:rPr>
              <a:t>On </a:t>
            </a:r>
            <a:r>
              <a:rPr lang="fr-FR" dirty="0">
                <a:solidFill>
                  <a:prstClr val="black"/>
                </a:solidFill>
                <a:latin typeface="Arial"/>
                <a:cs typeface="Arial"/>
              </a:rPr>
              <a:t>part d’une grosse </a:t>
            </a:r>
            <a:r>
              <a:rPr lang="fr-FR" dirty="0">
                <a:solidFill>
                  <a:srgbClr val="4C4C4C"/>
                </a:solidFill>
                <a:latin typeface="Arial"/>
                <a:cs typeface="Arial"/>
              </a:rPr>
              <a:t>base de</a:t>
            </a:r>
            <a:r>
              <a:rPr lang="fr-FR" spc="-25" dirty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dirty="0">
                <a:solidFill>
                  <a:srgbClr val="4C4C4C"/>
                </a:solidFill>
                <a:latin typeface="Arial"/>
                <a:cs typeface="Arial"/>
              </a:rPr>
              <a:t>données</a:t>
            </a:r>
            <a:endParaRPr lang="fr-FR" dirty="0">
              <a:solidFill>
                <a:prstClr val="black"/>
              </a:solidFill>
              <a:latin typeface="Arial"/>
              <a:cs typeface="Arial"/>
            </a:endParaRPr>
          </a:p>
          <a:p>
            <a:pPr marL="190434" defTabSz="914079">
              <a:spcBef>
                <a:spcPts val="540"/>
              </a:spcBef>
            </a:pPr>
            <a:r>
              <a:rPr lang="fr-FR" sz="1300" spc="-285" dirty="0">
                <a:solidFill>
                  <a:srgbClr val="E1001A"/>
                </a:solidFill>
                <a:latin typeface="Wingdings"/>
                <a:cs typeface="Wingdings"/>
              </a:rPr>
              <a:t></a:t>
            </a:r>
            <a:r>
              <a:rPr lang="fr-FR" sz="1300" spc="-285" dirty="0">
                <a:solidFill>
                  <a:srgbClr val="E1001A"/>
                </a:solidFill>
                <a:latin typeface="Times New Roman"/>
                <a:cs typeface="Times New Roman"/>
              </a:rPr>
              <a:t> </a:t>
            </a:r>
            <a:r>
              <a:rPr lang="fr-FR" spc="-5" dirty="0">
                <a:solidFill>
                  <a:srgbClr val="4C4C4C"/>
                </a:solidFill>
                <a:latin typeface="Arial"/>
                <a:cs typeface="Arial"/>
              </a:rPr>
              <a:t>On </a:t>
            </a:r>
            <a:r>
              <a:rPr lang="fr-FR" dirty="0">
                <a:solidFill>
                  <a:srgbClr val="4C4C4C"/>
                </a:solidFill>
                <a:latin typeface="Arial"/>
                <a:cs typeface="Arial"/>
              </a:rPr>
              <a:t>la </a:t>
            </a:r>
            <a:r>
              <a:rPr lang="fr-FR" spc="-5" dirty="0">
                <a:solidFill>
                  <a:srgbClr val="4C4C4C"/>
                </a:solidFill>
                <a:latin typeface="Arial"/>
                <a:cs typeface="Arial"/>
              </a:rPr>
              <a:t>distribue </a:t>
            </a:r>
            <a:r>
              <a:rPr lang="fr-FR" dirty="0">
                <a:solidFill>
                  <a:srgbClr val="4C4C4C"/>
                </a:solidFill>
                <a:latin typeface="Arial"/>
                <a:cs typeface="Arial"/>
              </a:rPr>
              <a:t>en </a:t>
            </a:r>
            <a:r>
              <a:rPr lang="fr-FR" spc="-5" dirty="0">
                <a:solidFill>
                  <a:srgbClr val="4C4C4C"/>
                </a:solidFill>
                <a:latin typeface="Arial"/>
                <a:cs typeface="Arial"/>
              </a:rPr>
              <a:t>fragments </a:t>
            </a:r>
            <a:r>
              <a:rPr lang="fr-FR" dirty="0">
                <a:solidFill>
                  <a:srgbClr val="4C4C4C"/>
                </a:solidFill>
                <a:latin typeface="Arial"/>
                <a:cs typeface="Arial"/>
              </a:rPr>
              <a:t>pour améliorer les</a:t>
            </a:r>
            <a:r>
              <a:rPr lang="fr-FR" spc="30" dirty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spc="-5" dirty="0">
                <a:solidFill>
                  <a:srgbClr val="4C4C4C"/>
                </a:solidFill>
                <a:latin typeface="Arial"/>
                <a:cs typeface="Arial"/>
              </a:rPr>
              <a:t>performances</a:t>
            </a:r>
            <a:endParaRPr lang="fr-FR" dirty="0">
              <a:solidFill>
                <a:prstClr val="black"/>
              </a:solidFill>
              <a:latin typeface="Arial"/>
              <a:cs typeface="Arial"/>
            </a:endParaRPr>
          </a:p>
          <a:p>
            <a:pPr marL="190434" defTabSz="914079">
              <a:spcBef>
                <a:spcPts val="640"/>
              </a:spcBef>
            </a:pPr>
            <a:r>
              <a:rPr lang="fr-FR" sz="1300" spc="-285" dirty="0">
                <a:solidFill>
                  <a:srgbClr val="E1001A"/>
                </a:solidFill>
                <a:latin typeface="Wingdings"/>
                <a:cs typeface="Wingdings"/>
              </a:rPr>
              <a:t></a:t>
            </a:r>
            <a:r>
              <a:rPr lang="fr-FR" sz="1300" spc="-285" dirty="0">
                <a:solidFill>
                  <a:srgbClr val="E1001A"/>
                </a:solidFill>
                <a:latin typeface="Times New Roman"/>
                <a:cs typeface="Times New Roman"/>
              </a:rPr>
              <a:t> </a:t>
            </a:r>
            <a:r>
              <a:rPr lang="fr-FR" spc="-5" dirty="0">
                <a:solidFill>
                  <a:srgbClr val="4C4C4C"/>
                </a:solidFill>
                <a:latin typeface="Arial"/>
                <a:cs typeface="Arial"/>
              </a:rPr>
              <a:t>On obtient </a:t>
            </a:r>
            <a:r>
              <a:rPr lang="fr-FR" dirty="0">
                <a:solidFill>
                  <a:srgbClr val="4C4C4C"/>
                </a:solidFill>
                <a:latin typeface="Arial"/>
                <a:cs typeface="Arial"/>
              </a:rPr>
              <a:t>une base de données</a:t>
            </a:r>
            <a:r>
              <a:rPr lang="fr-FR" spc="-5" dirty="0">
                <a:solidFill>
                  <a:srgbClr val="4C4C4C"/>
                </a:solidFill>
                <a:latin typeface="Arial"/>
                <a:cs typeface="Arial"/>
              </a:rPr>
              <a:t> distribuées</a:t>
            </a:r>
            <a:endParaRPr lang="fr-FR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7" name="Espace réservé du numéro de diapositive 17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6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82138" y="4883727"/>
              <a:ext cx="220287" cy="2597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3528" y="-99392"/>
            <a:ext cx="7467600" cy="1143000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</a:pPr>
            <a:r>
              <a:rPr spc="-5" dirty="0" err="1"/>
              <a:t>Pourquoi</a:t>
            </a:r>
            <a:r>
              <a:rPr spc="-5" dirty="0"/>
              <a:t> </a:t>
            </a:r>
            <a:r>
              <a:rPr lang="fr-FR" spc="-5" dirty="0" smtClean="0"/>
              <a:t>Distribuer</a:t>
            </a:r>
            <a:r>
              <a:rPr spc="-5" dirty="0" smtClean="0"/>
              <a:t> </a:t>
            </a:r>
            <a:endParaRPr spc="-5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147248" cy="2116832"/>
          </a:xfrm>
        </p:spPr>
        <p:txBody>
          <a:bodyPr>
            <a:normAutofit fontScale="70000" lnSpcReduction="20000"/>
          </a:bodyPr>
          <a:lstStyle/>
          <a:p>
            <a:pPr marL="12695" marR="1630741" algn="just">
              <a:lnSpc>
                <a:spcPct val="125000"/>
              </a:lnSpc>
              <a:spcBef>
                <a:spcPts val="100"/>
              </a:spcBef>
            </a:pP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Conserver l’autonomie des différents systèmes (BD Fédérées) :</a:t>
            </a:r>
          </a:p>
          <a:p>
            <a:pPr marL="368171" marR="5077" indent="-355476">
              <a:spcBef>
                <a:spcPts val="640"/>
              </a:spcBef>
            </a:pP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Tendance dans l’industrie : des structures de  moins en moins hiérarchiques, de plus en plus  autonomes</a:t>
            </a:r>
          </a:p>
          <a:p>
            <a:pPr marL="190434"/>
            <a:r>
              <a:rPr lang="fr-FR" sz="1800" spc="-285" dirty="0" smtClean="0">
                <a:solidFill>
                  <a:srgbClr val="E1001A"/>
                </a:solidFill>
                <a:latin typeface="+mj-lt"/>
                <a:cs typeface="Times New Roman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On </a:t>
            </a: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part de bases de données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existantes</a:t>
            </a:r>
            <a:r>
              <a:rPr lang="fr-FR" spc="480" dirty="0" smtClean="0">
                <a:solidFill>
                  <a:srgbClr val="4C4C4C"/>
                </a:solidFill>
                <a:latin typeface="+mj-lt"/>
                <a:cs typeface="Arial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(autonomes)</a:t>
            </a:r>
            <a:endParaRPr lang="fr-FR" dirty="0" smtClean="0">
              <a:latin typeface="+mj-lt"/>
              <a:cs typeface="Arial"/>
            </a:endParaRPr>
          </a:p>
          <a:p>
            <a:pPr marL="190434">
              <a:spcBef>
                <a:spcPts val="640"/>
              </a:spcBef>
            </a:pP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On </a:t>
            </a: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les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intègre </a:t>
            </a: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pour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obtenir </a:t>
            </a: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un point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d’entrée </a:t>
            </a: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unique</a:t>
            </a:r>
            <a:endParaRPr lang="fr-FR" dirty="0" smtClean="0">
              <a:latin typeface="+mj-lt"/>
              <a:cs typeface="Arial"/>
            </a:endParaRPr>
          </a:p>
          <a:p>
            <a:pPr marL="190434">
              <a:spcBef>
                <a:spcPts val="640"/>
              </a:spcBef>
            </a:pPr>
            <a:r>
              <a:rPr lang="fr-FR" sz="1800" spc="-285" dirty="0" smtClean="0">
                <a:solidFill>
                  <a:srgbClr val="E1001A"/>
                </a:solidFill>
                <a:latin typeface="+mj-lt"/>
                <a:cs typeface="Times New Roman"/>
              </a:rPr>
              <a:t> 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On obtient </a:t>
            </a:r>
            <a:r>
              <a:rPr lang="fr-FR" dirty="0" smtClean="0">
                <a:solidFill>
                  <a:srgbClr val="4C4C4C"/>
                </a:solidFill>
                <a:latin typeface="+mj-lt"/>
                <a:cs typeface="Arial"/>
              </a:rPr>
              <a:t>une base de données</a:t>
            </a:r>
            <a:r>
              <a:rPr lang="fr-FR" spc="-5" dirty="0" smtClean="0">
                <a:solidFill>
                  <a:srgbClr val="4C4C4C"/>
                </a:solidFill>
                <a:latin typeface="+mj-lt"/>
                <a:cs typeface="Arial"/>
              </a:rPr>
              <a:t> distribuées</a:t>
            </a:r>
            <a:endParaRPr lang="fr-FR" dirty="0" smtClean="0">
              <a:latin typeface="+mj-lt"/>
              <a:cs typeface="Arial"/>
            </a:endParaRPr>
          </a:p>
          <a:p>
            <a:pPr marL="368171" marR="5077" indent="-355476">
              <a:spcBef>
                <a:spcPts val="640"/>
              </a:spcBef>
            </a:pPr>
            <a:endParaRPr lang="fr-FR" dirty="0" smtClean="0">
              <a:solidFill>
                <a:srgbClr val="4C4C4C"/>
              </a:solidFill>
              <a:latin typeface="+mj-lt"/>
              <a:cs typeface="Arial"/>
            </a:endParaRPr>
          </a:p>
          <a:p>
            <a:endParaRPr lang="fr-FR" dirty="0">
              <a:latin typeface="+mj-l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87">
              <a:lnSpc>
                <a:spcPts val="1315"/>
              </a:lnSpc>
            </a:pPr>
            <a:fld id="{81D60167-4931-47E6-BA6A-407CBD079E47}" type="slidenum">
              <a:rPr dirty="0"/>
              <a:pPr marL="38087">
                <a:lnSpc>
                  <a:spcPts val="1315"/>
                </a:lnSpc>
              </a:pPr>
              <a:t>10</a:t>
            </a:fld>
            <a:endParaRPr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9" y="3254352"/>
            <a:ext cx="4752527" cy="3603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object 2"/>
          <p:cNvSpPr txBox="1"/>
          <p:nvPr/>
        </p:nvSpPr>
        <p:spPr>
          <a:xfrm>
            <a:off x="5652120" y="3429918"/>
            <a:ext cx="3384376" cy="2218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marR="188595" indent="-177800" defTabSz="914079">
              <a:spcBef>
                <a:spcPts val="10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endParaRPr lang="fr-FR" sz="2000" dirty="0">
              <a:solidFill>
                <a:srgbClr val="606060"/>
              </a:solidFill>
              <a:latin typeface="Arial"/>
              <a:cs typeface="Arial"/>
            </a:endParaRPr>
          </a:p>
          <a:p>
            <a:pPr marL="189865" marR="188595" indent="-177800" defTabSz="914079">
              <a:spcBef>
                <a:spcPts val="10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r>
              <a:rPr lang="fr-FR" sz="2000" dirty="0">
                <a:solidFill>
                  <a:srgbClr val="606060"/>
                </a:solidFill>
                <a:latin typeface="Arial"/>
                <a:cs typeface="Arial"/>
              </a:rPr>
              <a:t>La médiation p</a:t>
            </a:r>
            <a:r>
              <a:rPr sz="2000" dirty="0" err="1">
                <a:solidFill>
                  <a:srgbClr val="606060"/>
                </a:solidFill>
                <a:latin typeface="Arial"/>
                <a:cs typeface="Arial"/>
              </a:rPr>
              <a:t>ermet</a:t>
            </a:r>
            <a:r>
              <a:rPr sz="2000" dirty="0">
                <a:solidFill>
                  <a:srgbClr val="606060"/>
                </a:solidFill>
                <a:latin typeface="Arial"/>
                <a:cs typeface="Arial"/>
              </a:rPr>
              <a:t> d’accéder simplement à</a:t>
            </a:r>
            <a:r>
              <a:rPr sz="2000" spc="-114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06060"/>
                </a:solidFill>
                <a:latin typeface="Arial"/>
                <a:cs typeface="Arial"/>
              </a:rPr>
              <a:t>des  données</a:t>
            </a:r>
            <a:r>
              <a:rPr sz="2000" spc="-1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606060"/>
                </a:solidFill>
                <a:latin typeface="Arial"/>
                <a:cs typeface="Arial"/>
              </a:rPr>
              <a:t>hétérogènes</a:t>
            </a:r>
            <a:endParaRPr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89865" marR="5080" indent="-177800" defTabSz="914079">
              <a:lnSpc>
                <a:spcPts val="2320"/>
              </a:lnSpc>
              <a:spcBef>
                <a:spcPts val="620"/>
              </a:spcBef>
              <a:buClr>
                <a:srgbClr val="D3001C"/>
              </a:buClr>
              <a:buFontTx/>
              <a:buChar char="•"/>
              <a:tabLst>
                <a:tab pos="193675" algn="l"/>
              </a:tabLst>
            </a:pPr>
            <a:r>
              <a:rPr sz="2000" dirty="0">
                <a:solidFill>
                  <a:srgbClr val="606060"/>
                </a:solidFill>
                <a:latin typeface="Arial"/>
                <a:cs typeface="Arial"/>
              </a:rPr>
              <a:t>Sans </a:t>
            </a:r>
            <a:r>
              <a:rPr sz="2000" spc="-5" dirty="0">
                <a:solidFill>
                  <a:srgbClr val="606060"/>
                </a:solidFill>
                <a:latin typeface="Arial"/>
                <a:cs typeface="Arial"/>
              </a:rPr>
              <a:t>perturber </a:t>
            </a:r>
            <a:r>
              <a:rPr sz="2000" dirty="0">
                <a:solidFill>
                  <a:srgbClr val="606060"/>
                </a:solidFill>
                <a:latin typeface="Arial"/>
                <a:cs typeface="Arial"/>
              </a:rPr>
              <a:t>le </a:t>
            </a:r>
            <a:r>
              <a:rPr sz="2000" spc="-5" dirty="0">
                <a:solidFill>
                  <a:srgbClr val="606060"/>
                </a:solidFill>
                <a:latin typeface="Arial"/>
                <a:cs typeface="Arial"/>
              </a:rPr>
              <a:t>fonctionnement </a:t>
            </a:r>
            <a:r>
              <a:rPr sz="2000" dirty="0">
                <a:solidFill>
                  <a:srgbClr val="606060"/>
                </a:solidFill>
                <a:latin typeface="Arial"/>
                <a:cs typeface="Arial"/>
              </a:rPr>
              <a:t>des  </a:t>
            </a:r>
            <a:r>
              <a:rPr sz="2000" spc="-5" dirty="0">
                <a:solidFill>
                  <a:srgbClr val="606060"/>
                </a:solidFill>
                <a:latin typeface="Arial"/>
                <a:cs typeface="Arial"/>
              </a:rPr>
              <a:t>SGBD opérationnels</a:t>
            </a:r>
            <a:endParaRPr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6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9512" y="0"/>
            <a:ext cx="7467600" cy="1143000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</a:pPr>
            <a:r>
              <a:rPr lang="fr-FR" spc="-5" dirty="0" smtClean="0"/>
              <a:t>Pourquoi Distribuer </a:t>
            </a:r>
            <a:endParaRPr spc="-5" dirty="0"/>
          </a:p>
        </p:txBody>
      </p:sp>
      <p:sp>
        <p:nvSpPr>
          <p:cNvPr id="93" name="Espace réservé du contenu 92"/>
          <p:cNvSpPr>
            <a:spLocks noGrp="1"/>
          </p:cNvSpPr>
          <p:nvPr>
            <p:ph sz="quarter" idx="1"/>
          </p:nvPr>
        </p:nvSpPr>
        <p:spPr>
          <a:xfrm>
            <a:off x="323528" y="1916832"/>
            <a:ext cx="7467600" cy="4873752"/>
          </a:xfrm>
        </p:spPr>
        <p:txBody>
          <a:bodyPr>
            <a:normAutofit/>
          </a:bodyPr>
          <a:lstStyle/>
          <a:p>
            <a:pPr marL="12695">
              <a:spcBef>
                <a:spcPts val="480"/>
              </a:spcBef>
            </a:pPr>
            <a:r>
              <a:rPr lang="fr-FR" dirty="0" smtClean="0">
                <a:solidFill>
                  <a:srgbClr val="4C4C4C"/>
                </a:solidFill>
                <a:latin typeface="Arial"/>
                <a:cs typeface="Arial"/>
              </a:rPr>
              <a:t>Pour plus de sûreté (BD répliquées)</a:t>
            </a:r>
          </a:p>
          <a:p>
            <a:pPr marL="12695">
              <a:spcBef>
                <a:spcPts val="480"/>
              </a:spcBef>
            </a:pPr>
            <a:r>
              <a:rPr lang="fr-FR" sz="2200" b="1" dirty="0" smtClean="0">
                <a:solidFill>
                  <a:srgbClr val="4C4C4C"/>
                </a:solidFill>
                <a:latin typeface="Arial"/>
                <a:cs typeface="Arial"/>
              </a:rPr>
              <a:t>Mono-serveur</a:t>
            </a:r>
            <a:endParaRPr lang="fr-FR" sz="2200" b="1" dirty="0" smtClean="0">
              <a:latin typeface="Arial"/>
              <a:cs typeface="Arial"/>
            </a:endParaRPr>
          </a:p>
          <a:p>
            <a:pPr marL="556066" lvl="1">
              <a:spcBef>
                <a:spcPts val="340"/>
              </a:spcBef>
            </a:pP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Panne du processeur ou du</a:t>
            </a:r>
            <a:r>
              <a:rPr lang="fr-FR" sz="1600" spc="-40" dirty="0" smtClean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disque</a:t>
            </a:r>
            <a:endParaRPr lang="fr-FR" sz="1600" dirty="0" smtClean="0">
              <a:latin typeface="Arial"/>
              <a:cs typeface="Arial"/>
            </a:endParaRPr>
          </a:p>
          <a:p>
            <a:pPr marL="556066" lvl="1">
              <a:spcBef>
                <a:spcPts val="359"/>
              </a:spcBef>
            </a:pP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Arrêt du service</a:t>
            </a:r>
            <a:endParaRPr lang="fr-FR" sz="1600" dirty="0" smtClean="0">
              <a:latin typeface="Arial"/>
              <a:cs typeface="Arial"/>
            </a:endParaRPr>
          </a:p>
          <a:p>
            <a:pPr marL="556066" lvl="1">
              <a:spcBef>
                <a:spcPts val="459"/>
              </a:spcBef>
            </a:pPr>
            <a:r>
              <a:rPr lang="fr-FR" sz="1600" spc="-5" dirty="0" smtClean="0">
                <a:solidFill>
                  <a:srgbClr val="4C4C4C"/>
                </a:solidFill>
                <a:latin typeface="Arial"/>
                <a:cs typeface="Arial"/>
              </a:rPr>
              <a:t>Perte </a:t>
            </a: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des</a:t>
            </a:r>
            <a:r>
              <a:rPr lang="fr-FR" sz="1600" spc="5" dirty="0" smtClean="0">
                <a:solidFill>
                  <a:srgbClr val="4C4C4C"/>
                </a:solidFill>
                <a:latin typeface="Arial"/>
                <a:cs typeface="Arial"/>
              </a:rPr>
              <a:t> </a:t>
            </a: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données</a:t>
            </a:r>
            <a:endParaRPr lang="fr-FR" sz="1600" dirty="0" smtClean="0">
              <a:latin typeface="Arial"/>
              <a:cs typeface="Arial"/>
            </a:endParaRPr>
          </a:p>
          <a:p>
            <a:pPr marL="63478">
              <a:spcBef>
                <a:spcPts val="340"/>
              </a:spcBef>
            </a:pPr>
            <a:r>
              <a:rPr lang="fr-FR" sz="2200" b="1" spc="-5" dirty="0" smtClean="0">
                <a:solidFill>
                  <a:srgbClr val="4C4C4C"/>
                </a:solidFill>
                <a:latin typeface="Arial"/>
                <a:cs typeface="Arial"/>
              </a:rPr>
              <a:t>Multiserveurs</a:t>
            </a:r>
            <a:endParaRPr lang="fr-FR" sz="2200" b="1" dirty="0" smtClean="0">
              <a:latin typeface="Arial"/>
              <a:cs typeface="Arial"/>
            </a:endParaRPr>
          </a:p>
          <a:p>
            <a:pPr marL="556066" lvl="1">
              <a:spcBef>
                <a:spcPts val="439"/>
              </a:spcBef>
            </a:pP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 Panne d’un processeur ou d’un disque</a:t>
            </a:r>
          </a:p>
          <a:p>
            <a:pPr marL="556066" lvl="1">
              <a:spcBef>
                <a:spcPts val="459"/>
              </a:spcBef>
            </a:pP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Le service continue</a:t>
            </a:r>
          </a:p>
          <a:p>
            <a:pPr marL="556066" lvl="1">
              <a:spcBef>
                <a:spcPts val="359"/>
              </a:spcBef>
            </a:pP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 Grâce à la réplication,</a:t>
            </a:r>
          </a:p>
          <a:p>
            <a:pPr marL="556066" lvl="1">
              <a:spcBef>
                <a:spcPts val="459"/>
              </a:spcBef>
            </a:pPr>
            <a:r>
              <a:rPr lang="fr-FR" sz="1600" dirty="0" smtClean="0">
                <a:solidFill>
                  <a:srgbClr val="4C4C4C"/>
                </a:solidFill>
                <a:latin typeface="Arial"/>
                <a:cs typeface="Arial"/>
              </a:rPr>
              <a:t>pas de perte des données</a:t>
            </a:r>
          </a:p>
          <a:p>
            <a:pPr marL="190434">
              <a:spcBef>
                <a:spcPts val="439"/>
              </a:spcBef>
            </a:pPr>
            <a:endParaRPr lang="fr-FR" dirty="0" smtClean="0">
              <a:latin typeface="Arial"/>
              <a:cs typeface="Arial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87">
              <a:lnSpc>
                <a:spcPts val="1315"/>
              </a:lnSpc>
            </a:pPr>
            <a:fld id="{81D60167-4931-47E6-BA6A-407CBD079E47}" type="slidenum">
              <a:rPr dirty="0"/>
              <a:pPr marL="38087">
                <a:lnSpc>
                  <a:spcPts val="1315"/>
                </a:lnSpc>
              </a:pPr>
              <a:t>11</a:t>
            </a:fld>
            <a:endParaRPr dirty="0"/>
          </a:p>
        </p:txBody>
      </p:sp>
      <p:grpSp>
        <p:nvGrpSpPr>
          <p:cNvPr id="5" name="Groupe 94"/>
          <p:cNvGrpSpPr/>
          <p:nvPr/>
        </p:nvGrpSpPr>
        <p:grpSpPr>
          <a:xfrm>
            <a:off x="4139952" y="2219200"/>
            <a:ext cx="4667880" cy="3370040"/>
            <a:chOff x="4368341" y="936571"/>
            <a:chExt cx="4667880" cy="3370040"/>
          </a:xfrm>
        </p:grpSpPr>
        <p:grpSp>
          <p:nvGrpSpPr>
            <p:cNvPr id="9" name="object 5"/>
            <p:cNvGrpSpPr/>
            <p:nvPr/>
          </p:nvGrpSpPr>
          <p:grpSpPr>
            <a:xfrm>
              <a:off x="7485611" y="3773978"/>
              <a:ext cx="440690" cy="515620"/>
              <a:chOff x="7485611" y="2830483"/>
              <a:chExt cx="440690" cy="386715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7485611" y="2830483"/>
                <a:ext cx="440574" cy="386541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7536529" y="285752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2"/>
                    </a:lnTo>
                    <a:lnTo>
                      <a:pt x="46471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4" y="264781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6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7536529" y="2857519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8" y="56859"/>
                    </a:moveTo>
                    <a:lnTo>
                      <a:pt x="326996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4" y="74560"/>
                    </a:lnTo>
                    <a:lnTo>
                      <a:pt x="22665" y="57452"/>
                    </a:lnTo>
                    <a:lnTo>
                      <a:pt x="10732" y="38216"/>
                    </a:lnTo>
                  </a:path>
                  <a:path w="341629" h="285750">
                    <a:moveTo>
                      <a:pt x="0" y="228366"/>
                    </a:moveTo>
                    <a:lnTo>
                      <a:pt x="10732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6" y="20514"/>
                    </a:lnTo>
                    <a:lnTo>
                      <a:pt x="329085" y="37622"/>
                    </a:lnTo>
                    <a:lnTo>
                      <a:pt x="341018" y="56859"/>
                    </a:lnTo>
                    <a:lnTo>
                      <a:pt x="330286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0"/>
                    </a:lnTo>
                    <a:lnTo>
                      <a:pt x="11933" y="247602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4" name="object 9"/>
            <p:cNvGrpSpPr/>
            <p:nvPr/>
          </p:nvGrpSpPr>
          <p:grpSpPr>
            <a:xfrm>
              <a:off x="5947758" y="3785064"/>
              <a:ext cx="440690" cy="521547"/>
              <a:chOff x="5947755" y="2838796"/>
              <a:chExt cx="440690" cy="39116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5947755" y="2838796"/>
                <a:ext cx="440574" cy="390698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997083" y="286874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6"/>
                    </a:lnTo>
                    <a:lnTo>
                      <a:pt x="11933" y="247602"/>
                    </a:lnTo>
                    <a:lnTo>
                      <a:pt x="46471" y="264710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9" y="277893"/>
                    </a:lnTo>
                    <a:lnTo>
                      <a:pt x="316264" y="264780"/>
                    </a:lnTo>
                    <a:lnTo>
                      <a:pt x="330286" y="247009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997083" y="286874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29" h="285750">
                    <a:moveTo>
                      <a:pt x="0" y="228366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09"/>
                    </a:lnTo>
                    <a:lnTo>
                      <a:pt x="316264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2" y="264711"/>
                    </a:lnTo>
                    <a:lnTo>
                      <a:pt x="11933" y="247602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5" name="object 16"/>
            <p:cNvGrpSpPr/>
            <p:nvPr/>
          </p:nvGrpSpPr>
          <p:grpSpPr>
            <a:xfrm>
              <a:off x="5465617" y="1224741"/>
              <a:ext cx="3570604" cy="975360"/>
              <a:chOff x="5465617" y="918556"/>
              <a:chExt cx="3570604" cy="731520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5465617" y="1255222"/>
                <a:ext cx="3570316" cy="394854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517456" y="1281153"/>
                <a:ext cx="346837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468370" h="295275">
                    <a:moveTo>
                      <a:pt x="1815819" y="0"/>
                    </a:moveTo>
                    <a:lnTo>
                      <a:pt x="1571883" y="158"/>
                    </a:lnTo>
                    <a:lnTo>
                      <a:pt x="1336551" y="1245"/>
                    </a:lnTo>
                    <a:lnTo>
                      <a:pt x="1112960" y="3195"/>
                    </a:lnTo>
                    <a:lnTo>
                      <a:pt x="903359" y="5946"/>
                    </a:lnTo>
                    <a:lnTo>
                      <a:pt x="709996" y="9433"/>
                    </a:lnTo>
                    <a:lnTo>
                      <a:pt x="535121" y="13594"/>
                    </a:lnTo>
                    <a:lnTo>
                      <a:pt x="429917" y="16710"/>
                    </a:lnTo>
                    <a:lnTo>
                      <a:pt x="334596" y="20078"/>
                    </a:lnTo>
                    <a:lnTo>
                      <a:pt x="249823" y="23679"/>
                    </a:lnTo>
                    <a:lnTo>
                      <a:pt x="176264" y="27494"/>
                    </a:lnTo>
                    <a:lnTo>
                      <a:pt x="114585" y="31504"/>
                    </a:lnTo>
                    <a:lnTo>
                      <a:pt x="65453" y="35690"/>
                    </a:lnTo>
                    <a:lnTo>
                      <a:pt x="16738" y="42259"/>
                    </a:lnTo>
                    <a:lnTo>
                      <a:pt x="0" y="49118"/>
                    </a:lnTo>
                    <a:lnTo>
                      <a:pt x="0" y="245808"/>
                    </a:lnTo>
                    <a:lnTo>
                      <a:pt x="45800" y="257082"/>
                    </a:lnTo>
                    <a:lnTo>
                      <a:pt x="88409" y="261350"/>
                    </a:lnTo>
                    <a:lnTo>
                      <a:pt x="143898" y="265450"/>
                    </a:lnTo>
                    <a:lnTo>
                      <a:pt x="211600" y="269365"/>
                    </a:lnTo>
                    <a:lnTo>
                      <a:pt x="290849" y="273075"/>
                    </a:lnTo>
                    <a:lnTo>
                      <a:pt x="380980" y="276562"/>
                    </a:lnTo>
                    <a:lnTo>
                      <a:pt x="481325" y="279806"/>
                    </a:lnTo>
                    <a:lnTo>
                      <a:pt x="591220" y="282789"/>
                    </a:lnTo>
                    <a:lnTo>
                      <a:pt x="772508" y="286733"/>
                    </a:lnTo>
                    <a:lnTo>
                      <a:pt x="971533" y="289982"/>
                    </a:lnTo>
                    <a:lnTo>
                      <a:pt x="1186047" y="292473"/>
                    </a:lnTo>
                    <a:lnTo>
                      <a:pt x="1413801" y="294142"/>
                    </a:lnTo>
                    <a:lnTo>
                      <a:pt x="1652547" y="294926"/>
                    </a:lnTo>
                    <a:lnTo>
                      <a:pt x="1896484" y="294767"/>
                    </a:lnTo>
                    <a:lnTo>
                      <a:pt x="2131816" y="293681"/>
                    </a:lnTo>
                    <a:lnTo>
                      <a:pt x="2355406" y="291731"/>
                    </a:lnTo>
                    <a:lnTo>
                      <a:pt x="2565007" y="288980"/>
                    </a:lnTo>
                    <a:lnTo>
                      <a:pt x="2758369" y="285492"/>
                    </a:lnTo>
                    <a:lnTo>
                      <a:pt x="2933245" y="281332"/>
                    </a:lnTo>
                    <a:lnTo>
                      <a:pt x="3038449" y="278216"/>
                    </a:lnTo>
                    <a:lnTo>
                      <a:pt x="3133770" y="274848"/>
                    </a:lnTo>
                    <a:lnTo>
                      <a:pt x="3218543" y="271247"/>
                    </a:lnTo>
                    <a:lnTo>
                      <a:pt x="3292102" y="267432"/>
                    </a:lnTo>
                    <a:lnTo>
                      <a:pt x="3353781" y="263422"/>
                    </a:lnTo>
                    <a:lnTo>
                      <a:pt x="3402913" y="259236"/>
                    </a:lnTo>
                    <a:lnTo>
                      <a:pt x="3451629" y="252667"/>
                    </a:lnTo>
                    <a:lnTo>
                      <a:pt x="3468367" y="245808"/>
                    </a:lnTo>
                    <a:lnTo>
                      <a:pt x="3468367" y="49118"/>
                    </a:lnTo>
                    <a:lnTo>
                      <a:pt x="3422566" y="37843"/>
                    </a:lnTo>
                    <a:lnTo>
                      <a:pt x="3379957" y="33576"/>
                    </a:lnTo>
                    <a:lnTo>
                      <a:pt x="3324468" y="29475"/>
                    </a:lnTo>
                    <a:lnTo>
                      <a:pt x="3256766" y="25560"/>
                    </a:lnTo>
                    <a:lnTo>
                      <a:pt x="3177517" y="21850"/>
                    </a:lnTo>
                    <a:lnTo>
                      <a:pt x="3087386" y="18364"/>
                    </a:lnTo>
                    <a:lnTo>
                      <a:pt x="2987041" y="15119"/>
                    </a:lnTo>
                    <a:lnTo>
                      <a:pt x="2877146" y="12136"/>
                    </a:lnTo>
                    <a:lnTo>
                      <a:pt x="2695858" y="8193"/>
                    </a:lnTo>
                    <a:lnTo>
                      <a:pt x="2496833" y="4944"/>
                    </a:lnTo>
                    <a:lnTo>
                      <a:pt x="2282319" y="2453"/>
                    </a:lnTo>
                    <a:lnTo>
                      <a:pt x="2054565" y="783"/>
                    </a:lnTo>
                    <a:lnTo>
                      <a:pt x="181581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5517456" y="1281099"/>
                <a:ext cx="3468370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468370" h="295275">
                    <a:moveTo>
                      <a:pt x="3468366" y="49172"/>
                    </a:moveTo>
                    <a:lnTo>
                      <a:pt x="3422565" y="60447"/>
                    </a:lnTo>
                    <a:lnTo>
                      <a:pt x="3379957" y="64714"/>
                    </a:lnTo>
                    <a:lnTo>
                      <a:pt x="3324468" y="68815"/>
                    </a:lnTo>
                    <a:lnTo>
                      <a:pt x="3256766" y="72730"/>
                    </a:lnTo>
                    <a:lnTo>
                      <a:pt x="3218543" y="74612"/>
                    </a:lnTo>
                    <a:lnTo>
                      <a:pt x="3177516" y="76440"/>
                    </a:lnTo>
                    <a:lnTo>
                      <a:pt x="3133770" y="78212"/>
                    </a:lnTo>
                    <a:lnTo>
                      <a:pt x="3087386" y="79927"/>
                    </a:lnTo>
                    <a:lnTo>
                      <a:pt x="3038448" y="81580"/>
                    </a:lnTo>
                    <a:lnTo>
                      <a:pt x="2987040" y="83171"/>
                    </a:lnTo>
                    <a:lnTo>
                      <a:pt x="2933245" y="84696"/>
                    </a:lnTo>
                    <a:lnTo>
                      <a:pt x="2877146" y="86154"/>
                    </a:lnTo>
                    <a:lnTo>
                      <a:pt x="2818826" y="87542"/>
                    </a:lnTo>
                    <a:lnTo>
                      <a:pt x="2758369" y="88857"/>
                    </a:lnTo>
                    <a:lnTo>
                      <a:pt x="2695858" y="90097"/>
                    </a:lnTo>
                    <a:lnTo>
                      <a:pt x="2631376" y="91261"/>
                    </a:lnTo>
                    <a:lnTo>
                      <a:pt x="2565007" y="92344"/>
                    </a:lnTo>
                    <a:lnTo>
                      <a:pt x="2496833" y="93346"/>
                    </a:lnTo>
                    <a:lnTo>
                      <a:pt x="2426938" y="94264"/>
                    </a:lnTo>
                    <a:lnTo>
                      <a:pt x="2355406" y="95095"/>
                    </a:lnTo>
                    <a:lnTo>
                      <a:pt x="2282319" y="95837"/>
                    </a:lnTo>
                    <a:lnTo>
                      <a:pt x="2207761" y="96488"/>
                    </a:lnTo>
                    <a:lnTo>
                      <a:pt x="2131815" y="97046"/>
                    </a:lnTo>
                    <a:lnTo>
                      <a:pt x="2054565" y="97507"/>
                    </a:lnTo>
                    <a:lnTo>
                      <a:pt x="1976093" y="97870"/>
                    </a:lnTo>
                    <a:lnTo>
                      <a:pt x="1896483" y="98132"/>
                    </a:lnTo>
                    <a:lnTo>
                      <a:pt x="1815819" y="98291"/>
                    </a:lnTo>
                    <a:lnTo>
                      <a:pt x="1734183" y="98344"/>
                    </a:lnTo>
                    <a:lnTo>
                      <a:pt x="1652547" y="98291"/>
                    </a:lnTo>
                    <a:lnTo>
                      <a:pt x="1571882" y="98132"/>
                    </a:lnTo>
                    <a:lnTo>
                      <a:pt x="1492273" y="97870"/>
                    </a:lnTo>
                    <a:lnTo>
                      <a:pt x="1413801" y="97507"/>
                    </a:lnTo>
                    <a:lnTo>
                      <a:pt x="1336551" y="97046"/>
                    </a:lnTo>
                    <a:lnTo>
                      <a:pt x="1260605" y="96488"/>
                    </a:lnTo>
                    <a:lnTo>
                      <a:pt x="1186047" y="95837"/>
                    </a:lnTo>
                    <a:lnTo>
                      <a:pt x="1112960" y="95095"/>
                    </a:lnTo>
                    <a:lnTo>
                      <a:pt x="1041428" y="94264"/>
                    </a:lnTo>
                    <a:lnTo>
                      <a:pt x="971533" y="93346"/>
                    </a:lnTo>
                    <a:lnTo>
                      <a:pt x="903359" y="92344"/>
                    </a:lnTo>
                    <a:lnTo>
                      <a:pt x="836990" y="91261"/>
                    </a:lnTo>
                    <a:lnTo>
                      <a:pt x="772508" y="90097"/>
                    </a:lnTo>
                    <a:lnTo>
                      <a:pt x="709997" y="88857"/>
                    </a:lnTo>
                    <a:lnTo>
                      <a:pt x="649540" y="87542"/>
                    </a:lnTo>
                    <a:lnTo>
                      <a:pt x="591220" y="86154"/>
                    </a:lnTo>
                    <a:lnTo>
                      <a:pt x="535121" y="84696"/>
                    </a:lnTo>
                    <a:lnTo>
                      <a:pt x="481326" y="83171"/>
                    </a:lnTo>
                    <a:lnTo>
                      <a:pt x="429918" y="81580"/>
                    </a:lnTo>
                    <a:lnTo>
                      <a:pt x="380980" y="79927"/>
                    </a:lnTo>
                    <a:lnTo>
                      <a:pt x="334596" y="78212"/>
                    </a:lnTo>
                    <a:lnTo>
                      <a:pt x="290849" y="76440"/>
                    </a:lnTo>
                    <a:lnTo>
                      <a:pt x="249823" y="74612"/>
                    </a:lnTo>
                    <a:lnTo>
                      <a:pt x="211600" y="72730"/>
                    </a:lnTo>
                    <a:lnTo>
                      <a:pt x="143898" y="68815"/>
                    </a:lnTo>
                    <a:lnTo>
                      <a:pt x="88409" y="64714"/>
                    </a:lnTo>
                    <a:lnTo>
                      <a:pt x="45801" y="60447"/>
                    </a:lnTo>
                    <a:lnTo>
                      <a:pt x="7494" y="53774"/>
                    </a:lnTo>
                    <a:lnTo>
                      <a:pt x="1887" y="51486"/>
                    </a:lnTo>
                    <a:lnTo>
                      <a:pt x="0" y="49172"/>
                    </a:lnTo>
                  </a:path>
                  <a:path w="3468370" h="295275">
                    <a:moveTo>
                      <a:pt x="0" y="245861"/>
                    </a:moveTo>
                    <a:lnTo>
                      <a:pt x="0" y="49172"/>
                    </a:lnTo>
                    <a:lnTo>
                      <a:pt x="1887" y="46857"/>
                    </a:lnTo>
                    <a:lnTo>
                      <a:pt x="45801" y="37897"/>
                    </a:lnTo>
                    <a:lnTo>
                      <a:pt x="88409" y="33630"/>
                    </a:lnTo>
                    <a:lnTo>
                      <a:pt x="143898" y="29529"/>
                    </a:lnTo>
                    <a:lnTo>
                      <a:pt x="211600" y="25614"/>
                    </a:lnTo>
                    <a:lnTo>
                      <a:pt x="249823" y="23732"/>
                    </a:lnTo>
                    <a:lnTo>
                      <a:pt x="290849" y="21904"/>
                    </a:lnTo>
                    <a:lnTo>
                      <a:pt x="334596" y="20131"/>
                    </a:lnTo>
                    <a:lnTo>
                      <a:pt x="380980" y="18417"/>
                    </a:lnTo>
                    <a:lnTo>
                      <a:pt x="429918" y="16763"/>
                    </a:lnTo>
                    <a:lnTo>
                      <a:pt x="481326" y="15173"/>
                    </a:lnTo>
                    <a:lnTo>
                      <a:pt x="535121" y="13647"/>
                    </a:lnTo>
                    <a:lnTo>
                      <a:pt x="591220" y="12190"/>
                    </a:lnTo>
                    <a:lnTo>
                      <a:pt x="649540" y="10802"/>
                    </a:lnTo>
                    <a:lnTo>
                      <a:pt x="709997" y="9487"/>
                    </a:lnTo>
                    <a:lnTo>
                      <a:pt x="772508" y="8246"/>
                    </a:lnTo>
                    <a:lnTo>
                      <a:pt x="836990" y="7083"/>
                    </a:lnTo>
                    <a:lnTo>
                      <a:pt x="903359" y="5999"/>
                    </a:lnTo>
                    <a:lnTo>
                      <a:pt x="971533" y="4997"/>
                    </a:lnTo>
                    <a:lnTo>
                      <a:pt x="1041428" y="4080"/>
                    </a:lnTo>
                    <a:lnTo>
                      <a:pt x="1112960" y="3249"/>
                    </a:lnTo>
                    <a:lnTo>
                      <a:pt x="1186047" y="2506"/>
                    </a:lnTo>
                    <a:lnTo>
                      <a:pt x="1260605" y="1855"/>
                    </a:lnTo>
                    <a:lnTo>
                      <a:pt x="1336551" y="1298"/>
                    </a:lnTo>
                    <a:lnTo>
                      <a:pt x="1413801" y="837"/>
                    </a:lnTo>
                    <a:lnTo>
                      <a:pt x="1492273" y="474"/>
                    </a:lnTo>
                    <a:lnTo>
                      <a:pt x="1571882" y="212"/>
                    </a:lnTo>
                    <a:lnTo>
                      <a:pt x="1652547" y="53"/>
                    </a:lnTo>
                    <a:lnTo>
                      <a:pt x="1734183" y="0"/>
                    </a:lnTo>
                    <a:lnTo>
                      <a:pt x="1815819" y="53"/>
                    </a:lnTo>
                    <a:lnTo>
                      <a:pt x="1896483" y="212"/>
                    </a:lnTo>
                    <a:lnTo>
                      <a:pt x="1976093" y="474"/>
                    </a:lnTo>
                    <a:lnTo>
                      <a:pt x="2054565" y="837"/>
                    </a:lnTo>
                    <a:lnTo>
                      <a:pt x="2131815" y="1298"/>
                    </a:lnTo>
                    <a:lnTo>
                      <a:pt x="2207761" y="1855"/>
                    </a:lnTo>
                    <a:lnTo>
                      <a:pt x="2282319" y="2506"/>
                    </a:lnTo>
                    <a:lnTo>
                      <a:pt x="2355406" y="3249"/>
                    </a:lnTo>
                    <a:lnTo>
                      <a:pt x="2426938" y="4080"/>
                    </a:lnTo>
                    <a:lnTo>
                      <a:pt x="2496833" y="4997"/>
                    </a:lnTo>
                    <a:lnTo>
                      <a:pt x="2565007" y="5999"/>
                    </a:lnTo>
                    <a:lnTo>
                      <a:pt x="2631376" y="7083"/>
                    </a:lnTo>
                    <a:lnTo>
                      <a:pt x="2695858" y="8246"/>
                    </a:lnTo>
                    <a:lnTo>
                      <a:pt x="2758369" y="9487"/>
                    </a:lnTo>
                    <a:lnTo>
                      <a:pt x="2818826" y="10802"/>
                    </a:lnTo>
                    <a:lnTo>
                      <a:pt x="2877146" y="12190"/>
                    </a:lnTo>
                    <a:lnTo>
                      <a:pt x="2933245" y="13647"/>
                    </a:lnTo>
                    <a:lnTo>
                      <a:pt x="2987040" y="15173"/>
                    </a:lnTo>
                    <a:lnTo>
                      <a:pt x="3038448" y="16763"/>
                    </a:lnTo>
                    <a:lnTo>
                      <a:pt x="3087386" y="18417"/>
                    </a:lnTo>
                    <a:lnTo>
                      <a:pt x="3133770" y="20131"/>
                    </a:lnTo>
                    <a:lnTo>
                      <a:pt x="3177516" y="21904"/>
                    </a:lnTo>
                    <a:lnTo>
                      <a:pt x="3218543" y="23732"/>
                    </a:lnTo>
                    <a:lnTo>
                      <a:pt x="3256766" y="25614"/>
                    </a:lnTo>
                    <a:lnTo>
                      <a:pt x="3324468" y="29529"/>
                    </a:lnTo>
                    <a:lnTo>
                      <a:pt x="3379957" y="33630"/>
                    </a:lnTo>
                    <a:lnTo>
                      <a:pt x="3422565" y="37897"/>
                    </a:lnTo>
                    <a:lnTo>
                      <a:pt x="3460872" y="44570"/>
                    </a:lnTo>
                    <a:lnTo>
                      <a:pt x="3468366" y="49172"/>
                    </a:lnTo>
                    <a:lnTo>
                      <a:pt x="3468366" y="245861"/>
                    </a:lnTo>
                    <a:lnTo>
                      <a:pt x="3422565" y="257136"/>
                    </a:lnTo>
                    <a:lnTo>
                      <a:pt x="3379957" y="261403"/>
                    </a:lnTo>
                    <a:lnTo>
                      <a:pt x="3324468" y="265504"/>
                    </a:lnTo>
                    <a:lnTo>
                      <a:pt x="3256766" y="269419"/>
                    </a:lnTo>
                    <a:lnTo>
                      <a:pt x="3218543" y="271301"/>
                    </a:lnTo>
                    <a:lnTo>
                      <a:pt x="3177516" y="273129"/>
                    </a:lnTo>
                    <a:lnTo>
                      <a:pt x="3133770" y="274902"/>
                    </a:lnTo>
                    <a:lnTo>
                      <a:pt x="3087386" y="276616"/>
                    </a:lnTo>
                    <a:lnTo>
                      <a:pt x="3038448" y="278269"/>
                    </a:lnTo>
                    <a:lnTo>
                      <a:pt x="2987040" y="279860"/>
                    </a:lnTo>
                    <a:lnTo>
                      <a:pt x="2933245" y="281386"/>
                    </a:lnTo>
                    <a:lnTo>
                      <a:pt x="2877146" y="282843"/>
                    </a:lnTo>
                    <a:lnTo>
                      <a:pt x="2818826" y="284231"/>
                    </a:lnTo>
                    <a:lnTo>
                      <a:pt x="2758369" y="285546"/>
                    </a:lnTo>
                    <a:lnTo>
                      <a:pt x="2695858" y="286786"/>
                    </a:lnTo>
                    <a:lnTo>
                      <a:pt x="2631376" y="287950"/>
                    </a:lnTo>
                    <a:lnTo>
                      <a:pt x="2565007" y="289034"/>
                    </a:lnTo>
                    <a:lnTo>
                      <a:pt x="2496833" y="290035"/>
                    </a:lnTo>
                    <a:lnTo>
                      <a:pt x="2426938" y="290953"/>
                    </a:lnTo>
                    <a:lnTo>
                      <a:pt x="2355406" y="291784"/>
                    </a:lnTo>
                    <a:lnTo>
                      <a:pt x="2282319" y="292527"/>
                    </a:lnTo>
                    <a:lnTo>
                      <a:pt x="2207761" y="293177"/>
                    </a:lnTo>
                    <a:lnTo>
                      <a:pt x="2131815" y="293735"/>
                    </a:lnTo>
                    <a:lnTo>
                      <a:pt x="2054565" y="294196"/>
                    </a:lnTo>
                    <a:lnTo>
                      <a:pt x="1976093" y="294559"/>
                    </a:lnTo>
                    <a:lnTo>
                      <a:pt x="1896483" y="294821"/>
                    </a:lnTo>
                    <a:lnTo>
                      <a:pt x="1815819" y="294980"/>
                    </a:lnTo>
                    <a:lnTo>
                      <a:pt x="1734183" y="295033"/>
                    </a:lnTo>
                    <a:lnTo>
                      <a:pt x="1652547" y="294980"/>
                    </a:lnTo>
                    <a:lnTo>
                      <a:pt x="1571882" y="294821"/>
                    </a:lnTo>
                    <a:lnTo>
                      <a:pt x="1492273" y="294559"/>
                    </a:lnTo>
                    <a:lnTo>
                      <a:pt x="1413801" y="294196"/>
                    </a:lnTo>
                    <a:lnTo>
                      <a:pt x="1336551" y="293735"/>
                    </a:lnTo>
                    <a:lnTo>
                      <a:pt x="1260605" y="293177"/>
                    </a:lnTo>
                    <a:lnTo>
                      <a:pt x="1186047" y="292527"/>
                    </a:lnTo>
                    <a:lnTo>
                      <a:pt x="1112960" y="291784"/>
                    </a:lnTo>
                    <a:lnTo>
                      <a:pt x="1041428" y="290953"/>
                    </a:lnTo>
                    <a:lnTo>
                      <a:pt x="971533" y="290035"/>
                    </a:lnTo>
                    <a:lnTo>
                      <a:pt x="903359" y="289034"/>
                    </a:lnTo>
                    <a:lnTo>
                      <a:pt x="836990" y="287950"/>
                    </a:lnTo>
                    <a:lnTo>
                      <a:pt x="772508" y="286786"/>
                    </a:lnTo>
                    <a:lnTo>
                      <a:pt x="709997" y="285546"/>
                    </a:lnTo>
                    <a:lnTo>
                      <a:pt x="649540" y="284231"/>
                    </a:lnTo>
                    <a:lnTo>
                      <a:pt x="591220" y="282843"/>
                    </a:lnTo>
                    <a:lnTo>
                      <a:pt x="535121" y="281386"/>
                    </a:lnTo>
                    <a:lnTo>
                      <a:pt x="481326" y="279860"/>
                    </a:lnTo>
                    <a:lnTo>
                      <a:pt x="429918" y="278269"/>
                    </a:lnTo>
                    <a:lnTo>
                      <a:pt x="380980" y="276616"/>
                    </a:lnTo>
                    <a:lnTo>
                      <a:pt x="334596" y="274902"/>
                    </a:lnTo>
                    <a:lnTo>
                      <a:pt x="290849" y="273129"/>
                    </a:lnTo>
                    <a:lnTo>
                      <a:pt x="249823" y="271301"/>
                    </a:lnTo>
                    <a:lnTo>
                      <a:pt x="211600" y="269419"/>
                    </a:lnTo>
                    <a:lnTo>
                      <a:pt x="143898" y="265504"/>
                    </a:lnTo>
                    <a:lnTo>
                      <a:pt x="88409" y="261403"/>
                    </a:lnTo>
                    <a:lnTo>
                      <a:pt x="45801" y="257136"/>
                    </a:lnTo>
                    <a:lnTo>
                      <a:pt x="7494" y="250463"/>
                    </a:lnTo>
                    <a:lnTo>
                      <a:pt x="0" y="245861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7103224" y="918556"/>
                <a:ext cx="295101" cy="527858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7244361" y="946462"/>
                <a:ext cx="6985" cy="309880"/>
              </a:xfrm>
              <a:custGeom>
                <a:avLst/>
                <a:gdLst/>
                <a:ahLst/>
                <a:cxnLst/>
                <a:rect l="l" t="t" r="r" b="b"/>
                <a:pathLst>
                  <a:path w="6984" h="309880">
                    <a:moveTo>
                      <a:pt x="0" y="0"/>
                    </a:moveTo>
                    <a:lnTo>
                      <a:pt x="6606" y="309763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7190410" y="1164587"/>
                <a:ext cx="117881" cy="116837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3" name="object 23"/>
            <p:cNvSpPr txBox="1"/>
            <p:nvPr/>
          </p:nvSpPr>
          <p:spPr>
            <a:xfrm>
              <a:off x="7395113" y="1305979"/>
              <a:ext cx="927735" cy="289823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pc="-5" dirty="0">
                  <a:solidFill>
                    <a:prstClr val="black"/>
                  </a:solidFill>
                  <a:latin typeface="Arial"/>
                  <a:cs typeface="Arial"/>
                </a:rPr>
                <a:t>100MB/s</a:t>
              </a:r>
              <a:endParaRPr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16" name="object 24"/>
            <p:cNvGrpSpPr/>
            <p:nvPr/>
          </p:nvGrpSpPr>
          <p:grpSpPr>
            <a:xfrm>
              <a:off x="6616932" y="936571"/>
              <a:ext cx="1255395" cy="421640"/>
              <a:chOff x="6616930" y="702426"/>
              <a:chExt cx="1255395" cy="316230"/>
            </a:xfrm>
          </p:grpSpPr>
          <p:sp>
            <p:nvSpPr>
              <p:cNvPr id="25" name="object 25"/>
              <p:cNvSpPr/>
              <p:nvPr/>
            </p:nvSpPr>
            <p:spPr>
              <a:xfrm>
                <a:off x="6616930" y="702426"/>
                <a:ext cx="1255221" cy="315883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6668299" y="730439"/>
                <a:ext cx="1152525" cy="216535"/>
              </a:xfrm>
              <a:custGeom>
                <a:avLst/>
                <a:gdLst/>
                <a:ahLst/>
                <a:cxnLst/>
                <a:rect l="l" t="t" r="r" b="b"/>
                <a:pathLst>
                  <a:path w="1152525" h="216534">
                    <a:moveTo>
                      <a:pt x="1152127" y="0"/>
                    </a:moveTo>
                    <a:lnTo>
                      <a:pt x="0" y="0"/>
                    </a:lnTo>
                    <a:lnTo>
                      <a:pt x="0" y="216023"/>
                    </a:lnTo>
                    <a:lnTo>
                      <a:pt x="1152127" y="216023"/>
                    </a:lnTo>
                    <a:lnTo>
                      <a:pt x="1152127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6668299" y="730439"/>
                <a:ext cx="1152525" cy="216535"/>
              </a:xfrm>
              <a:custGeom>
                <a:avLst/>
                <a:gdLst/>
                <a:ahLst/>
                <a:cxnLst/>
                <a:rect l="l" t="t" r="r" b="b"/>
                <a:pathLst>
                  <a:path w="1152525" h="216534">
                    <a:moveTo>
                      <a:pt x="0" y="0"/>
                    </a:moveTo>
                    <a:lnTo>
                      <a:pt x="1152127" y="0"/>
                    </a:lnTo>
                    <a:lnTo>
                      <a:pt x="1152127" y="216023"/>
                    </a:lnTo>
                    <a:lnTo>
                      <a:pt x="0" y="216023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8" name="object 28"/>
            <p:cNvSpPr txBox="1"/>
            <p:nvPr/>
          </p:nvSpPr>
          <p:spPr>
            <a:xfrm>
              <a:off x="7096120" y="1752160"/>
              <a:ext cx="292735" cy="289823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dirty="0">
                  <a:solidFill>
                    <a:prstClr val="black"/>
                  </a:solidFill>
                  <a:latin typeface="Arial"/>
                  <a:cs typeface="Arial"/>
                </a:rPr>
                <a:t>1T</a:t>
              </a:r>
            </a:p>
          </p:txBody>
        </p:sp>
        <p:grpSp>
          <p:nvGrpSpPr>
            <p:cNvPr id="24" name="object 29"/>
            <p:cNvGrpSpPr/>
            <p:nvPr/>
          </p:nvGrpSpPr>
          <p:grpSpPr>
            <a:xfrm>
              <a:off x="4667598" y="2826327"/>
              <a:ext cx="4314825" cy="770467"/>
              <a:chOff x="4667596" y="2119745"/>
              <a:chExt cx="4314825" cy="577850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4667596" y="2448098"/>
                <a:ext cx="922712" cy="249381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4716740" y="2477617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80">
                    <a:moveTo>
                      <a:pt x="821797" y="0"/>
                    </a:moveTo>
                    <a:lnTo>
                      <a:pt x="0" y="0"/>
                    </a:lnTo>
                    <a:lnTo>
                      <a:pt x="0" y="144780"/>
                    </a:lnTo>
                    <a:lnTo>
                      <a:pt x="821797" y="144780"/>
                    </a:lnTo>
                    <a:lnTo>
                      <a:pt x="821797" y="0"/>
                    </a:lnTo>
                    <a:close/>
                  </a:path>
                </a:pathLst>
              </a:custGeom>
              <a:solidFill>
                <a:srgbClr val="D4FDD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4716740" y="2477617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80">
                    <a:moveTo>
                      <a:pt x="0" y="0"/>
                    </a:moveTo>
                    <a:lnTo>
                      <a:pt x="821797" y="0"/>
                    </a:lnTo>
                    <a:lnTo>
                      <a:pt x="821797" y="144779"/>
                    </a:lnTo>
                    <a:lnTo>
                      <a:pt x="0" y="144779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4725785" y="2190403"/>
                <a:ext cx="4256116" cy="245225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6421581" y="2119745"/>
                <a:ext cx="876992" cy="394854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4774444" y="2216970"/>
                <a:ext cx="415861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4158615" h="144780">
                    <a:moveTo>
                      <a:pt x="2160945" y="0"/>
                    </a:moveTo>
                    <a:lnTo>
                      <a:pt x="1916802" y="163"/>
                    </a:lnTo>
                    <a:lnTo>
                      <a:pt x="1679616" y="1281"/>
                    </a:lnTo>
                    <a:lnTo>
                      <a:pt x="1451687" y="3301"/>
                    </a:lnTo>
                    <a:lnTo>
                      <a:pt x="1234573" y="6168"/>
                    </a:lnTo>
                    <a:lnTo>
                      <a:pt x="1029836" y="9828"/>
                    </a:lnTo>
                    <a:lnTo>
                      <a:pt x="839036" y="14227"/>
                    </a:lnTo>
                    <a:lnTo>
                      <a:pt x="663733" y="19310"/>
                    </a:lnTo>
                    <a:lnTo>
                      <a:pt x="556244" y="23052"/>
                    </a:lnTo>
                    <a:lnTo>
                      <a:pt x="456798" y="27058"/>
                    </a:lnTo>
                    <a:lnTo>
                      <a:pt x="365858" y="31312"/>
                    </a:lnTo>
                    <a:lnTo>
                      <a:pt x="283885" y="35798"/>
                    </a:lnTo>
                    <a:lnTo>
                      <a:pt x="211342" y="40499"/>
                    </a:lnTo>
                    <a:lnTo>
                      <a:pt x="148691" y="45400"/>
                    </a:lnTo>
                    <a:lnTo>
                      <a:pt x="96395" y="50484"/>
                    </a:lnTo>
                    <a:lnTo>
                      <a:pt x="54915" y="55736"/>
                    </a:lnTo>
                    <a:lnTo>
                      <a:pt x="13988" y="63892"/>
                    </a:lnTo>
                    <a:lnTo>
                      <a:pt x="0" y="72335"/>
                    </a:lnTo>
                    <a:lnTo>
                      <a:pt x="1573" y="75177"/>
                    </a:lnTo>
                    <a:lnTo>
                      <a:pt x="38376" y="86249"/>
                    </a:lnTo>
                    <a:lnTo>
                      <a:pt x="96395" y="94185"/>
                    </a:lnTo>
                    <a:lnTo>
                      <a:pt x="148691" y="99269"/>
                    </a:lnTo>
                    <a:lnTo>
                      <a:pt x="246406" y="106546"/>
                    </a:lnTo>
                    <a:lnTo>
                      <a:pt x="323721" y="111142"/>
                    </a:lnTo>
                    <a:lnTo>
                      <a:pt x="410236" y="115514"/>
                    </a:lnTo>
                    <a:lnTo>
                      <a:pt x="505487" y="119646"/>
                    </a:lnTo>
                    <a:lnTo>
                      <a:pt x="609012" y="123522"/>
                    </a:lnTo>
                    <a:lnTo>
                      <a:pt x="720349" y="127126"/>
                    </a:lnTo>
                    <a:lnTo>
                      <a:pt x="900992" y="131987"/>
                    </a:lnTo>
                    <a:lnTo>
                      <a:pt x="1096611" y="136146"/>
                    </a:lnTo>
                    <a:lnTo>
                      <a:pt x="1305646" y="139548"/>
                    </a:lnTo>
                    <a:lnTo>
                      <a:pt x="1526538" y="142139"/>
                    </a:lnTo>
                    <a:lnTo>
                      <a:pt x="1757727" y="143864"/>
                    </a:lnTo>
                    <a:lnTo>
                      <a:pt x="1997651" y="144670"/>
                    </a:lnTo>
                    <a:lnTo>
                      <a:pt x="2241794" y="144507"/>
                    </a:lnTo>
                    <a:lnTo>
                      <a:pt x="2478980" y="143389"/>
                    </a:lnTo>
                    <a:lnTo>
                      <a:pt x="2706910" y="141369"/>
                    </a:lnTo>
                    <a:lnTo>
                      <a:pt x="2924024" y="138502"/>
                    </a:lnTo>
                    <a:lnTo>
                      <a:pt x="3128760" y="134841"/>
                    </a:lnTo>
                    <a:lnTo>
                      <a:pt x="3319560" y="130442"/>
                    </a:lnTo>
                    <a:lnTo>
                      <a:pt x="3494864" y="125359"/>
                    </a:lnTo>
                    <a:lnTo>
                      <a:pt x="3602353" y="121617"/>
                    </a:lnTo>
                    <a:lnTo>
                      <a:pt x="3701798" y="117611"/>
                    </a:lnTo>
                    <a:lnTo>
                      <a:pt x="3792739" y="113357"/>
                    </a:lnTo>
                    <a:lnTo>
                      <a:pt x="3874712" y="108871"/>
                    </a:lnTo>
                    <a:lnTo>
                      <a:pt x="3947255" y="104170"/>
                    </a:lnTo>
                    <a:lnTo>
                      <a:pt x="4009905" y="99269"/>
                    </a:lnTo>
                    <a:lnTo>
                      <a:pt x="4062201" y="94185"/>
                    </a:lnTo>
                    <a:lnTo>
                      <a:pt x="4103681" y="88933"/>
                    </a:lnTo>
                    <a:lnTo>
                      <a:pt x="4144608" y="80777"/>
                    </a:lnTo>
                    <a:lnTo>
                      <a:pt x="4158597" y="72335"/>
                    </a:lnTo>
                    <a:lnTo>
                      <a:pt x="4157023" y="69492"/>
                    </a:lnTo>
                    <a:lnTo>
                      <a:pt x="4120220" y="58420"/>
                    </a:lnTo>
                    <a:lnTo>
                      <a:pt x="4062201" y="50484"/>
                    </a:lnTo>
                    <a:lnTo>
                      <a:pt x="4009905" y="45400"/>
                    </a:lnTo>
                    <a:lnTo>
                      <a:pt x="3912191" y="38122"/>
                    </a:lnTo>
                    <a:lnTo>
                      <a:pt x="3834875" y="33527"/>
                    </a:lnTo>
                    <a:lnTo>
                      <a:pt x="3748361" y="29155"/>
                    </a:lnTo>
                    <a:lnTo>
                      <a:pt x="3653110" y="25023"/>
                    </a:lnTo>
                    <a:lnTo>
                      <a:pt x="3549585" y="21147"/>
                    </a:lnTo>
                    <a:lnTo>
                      <a:pt x="3438247" y="17543"/>
                    </a:lnTo>
                    <a:lnTo>
                      <a:pt x="3257605" y="12682"/>
                    </a:lnTo>
                    <a:lnTo>
                      <a:pt x="3061986" y="8523"/>
                    </a:lnTo>
                    <a:lnTo>
                      <a:pt x="2852951" y="5121"/>
                    </a:lnTo>
                    <a:lnTo>
                      <a:pt x="2632058" y="2530"/>
                    </a:lnTo>
                    <a:lnTo>
                      <a:pt x="2400870" y="805"/>
                    </a:lnTo>
                    <a:lnTo>
                      <a:pt x="2160945" y="0"/>
                    </a:lnTo>
                    <a:close/>
                  </a:path>
                </a:pathLst>
              </a:custGeom>
              <a:solidFill>
                <a:srgbClr val="CEE1F3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4774444" y="2216915"/>
                <a:ext cx="415861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4158615" h="144780">
                    <a:moveTo>
                      <a:pt x="0" y="72389"/>
                    </a:moveTo>
                    <a:lnTo>
                      <a:pt x="38376" y="58475"/>
                    </a:lnTo>
                    <a:lnTo>
                      <a:pt x="96395" y="50539"/>
                    </a:lnTo>
                    <a:lnTo>
                      <a:pt x="148691" y="45455"/>
                    </a:lnTo>
                    <a:lnTo>
                      <a:pt x="211342" y="40554"/>
                    </a:lnTo>
                    <a:lnTo>
                      <a:pt x="283885" y="35853"/>
                    </a:lnTo>
                    <a:lnTo>
                      <a:pt x="323721" y="33582"/>
                    </a:lnTo>
                    <a:lnTo>
                      <a:pt x="365858" y="31367"/>
                    </a:lnTo>
                    <a:lnTo>
                      <a:pt x="410236" y="29210"/>
                    </a:lnTo>
                    <a:lnTo>
                      <a:pt x="456798" y="27113"/>
                    </a:lnTo>
                    <a:lnTo>
                      <a:pt x="505487" y="25078"/>
                    </a:lnTo>
                    <a:lnTo>
                      <a:pt x="556244" y="23107"/>
                    </a:lnTo>
                    <a:lnTo>
                      <a:pt x="609012" y="21202"/>
                    </a:lnTo>
                    <a:lnTo>
                      <a:pt x="663733" y="19365"/>
                    </a:lnTo>
                    <a:lnTo>
                      <a:pt x="720349" y="17598"/>
                    </a:lnTo>
                    <a:lnTo>
                      <a:pt x="778803" y="15903"/>
                    </a:lnTo>
                    <a:lnTo>
                      <a:pt x="839036" y="14282"/>
                    </a:lnTo>
                    <a:lnTo>
                      <a:pt x="900991" y="12737"/>
                    </a:lnTo>
                    <a:lnTo>
                      <a:pt x="964610" y="11270"/>
                    </a:lnTo>
                    <a:lnTo>
                      <a:pt x="1029836" y="9883"/>
                    </a:lnTo>
                    <a:lnTo>
                      <a:pt x="1096610" y="8578"/>
                    </a:lnTo>
                    <a:lnTo>
                      <a:pt x="1164875" y="7357"/>
                    </a:lnTo>
                    <a:lnTo>
                      <a:pt x="1234573" y="6223"/>
                    </a:lnTo>
                    <a:lnTo>
                      <a:pt x="1305646" y="5176"/>
                    </a:lnTo>
                    <a:lnTo>
                      <a:pt x="1378036" y="4220"/>
                    </a:lnTo>
                    <a:lnTo>
                      <a:pt x="1451686" y="3355"/>
                    </a:lnTo>
                    <a:lnTo>
                      <a:pt x="1526538" y="2585"/>
                    </a:lnTo>
                    <a:lnTo>
                      <a:pt x="1602533" y="1911"/>
                    </a:lnTo>
                    <a:lnTo>
                      <a:pt x="1679615" y="1336"/>
                    </a:lnTo>
                    <a:lnTo>
                      <a:pt x="1757726" y="860"/>
                    </a:lnTo>
                    <a:lnTo>
                      <a:pt x="1836807" y="487"/>
                    </a:lnTo>
                    <a:lnTo>
                      <a:pt x="1916801" y="217"/>
                    </a:lnTo>
                    <a:lnTo>
                      <a:pt x="1997651" y="54"/>
                    </a:lnTo>
                    <a:lnTo>
                      <a:pt x="2079297" y="0"/>
                    </a:lnTo>
                    <a:lnTo>
                      <a:pt x="2160944" y="54"/>
                    </a:lnTo>
                    <a:lnTo>
                      <a:pt x="2241793" y="217"/>
                    </a:lnTo>
                    <a:lnTo>
                      <a:pt x="2321787" y="487"/>
                    </a:lnTo>
                    <a:lnTo>
                      <a:pt x="2400869" y="860"/>
                    </a:lnTo>
                    <a:lnTo>
                      <a:pt x="2478979" y="1336"/>
                    </a:lnTo>
                    <a:lnTo>
                      <a:pt x="2556061" y="1911"/>
                    </a:lnTo>
                    <a:lnTo>
                      <a:pt x="2632057" y="2585"/>
                    </a:lnTo>
                    <a:lnTo>
                      <a:pt x="2706909" y="3355"/>
                    </a:lnTo>
                    <a:lnTo>
                      <a:pt x="2780559" y="4220"/>
                    </a:lnTo>
                    <a:lnTo>
                      <a:pt x="2852950" y="5176"/>
                    </a:lnTo>
                    <a:lnTo>
                      <a:pt x="2924023" y="6223"/>
                    </a:lnTo>
                    <a:lnTo>
                      <a:pt x="2993720" y="7357"/>
                    </a:lnTo>
                    <a:lnTo>
                      <a:pt x="3061985" y="8578"/>
                    </a:lnTo>
                    <a:lnTo>
                      <a:pt x="3128759" y="9883"/>
                    </a:lnTo>
                    <a:lnTo>
                      <a:pt x="3193985" y="11270"/>
                    </a:lnTo>
                    <a:lnTo>
                      <a:pt x="3257604" y="12737"/>
                    </a:lnTo>
                    <a:lnTo>
                      <a:pt x="3319560" y="14282"/>
                    </a:lnTo>
                    <a:lnTo>
                      <a:pt x="3379793" y="15903"/>
                    </a:lnTo>
                    <a:lnTo>
                      <a:pt x="3438247" y="17598"/>
                    </a:lnTo>
                    <a:lnTo>
                      <a:pt x="3494863" y="19365"/>
                    </a:lnTo>
                    <a:lnTo>
                      <a:pt x="3549584" y="21202"/>
                    </a:lnTo>
                    <a:lnTo>
                      <a:pt x="3602352" y="23107"/>
                    </a:lnTo>
                    <a:lnTo>
                      <a:pt x="3653109" y="25078"/>
                    </a:lnTo>
                    <a:lnTo>
                      <a:pt x="3701798" y="27113"/>
                    </a:lnTo>
                    <a:lnTo>
                      <a:pt x="3748360" y="29210"/>
                    </a:lnTo>
                    <a:lnTo>
                      <a:pt x="3792738" y="31367"/>
                    </a:lnTo>
                    <a:lnTo>
                      <a:pt x="3834875" y="33582"/>
                    </a:lnTo>
                    <a:lnTo>
                      <a:pt x="3874711" y="35853"/>
                    </a:lnTo>
                    <a:lnTo>
                      <a:pt x="3947254" y="40554"/>
                    </a:lnTo>
                    <a:lnTo>
                      <a:pt x="4009905" y="45455"/>
                    </a:lnTo>
                    <a:lnTo>
                      <a:pt x="4062201" y="50539"/>
                    </a:lnTo>
                    <a:lnTo>
                      <a:pt x="4103681" y="55791"/>
                    </a:lnTo>
                    <a:lnTo>
                      <a:pt x="4144608" y="63947"/>
                    </a:lnTo>
                    <a:lnTo>
                      <a:pt x="4158597" y="72389"/>
                    </a:lnTo>
                    <a:lnTo>
                      <a:pt x="4157023" y="75232"/>
                    </a:lnTo>
                    <a:lnTo>
                      <a:pt x="4120220" y="86304"/>
                    </a:lnTo>
                    <a:lnTo>
                      <a:pt x="4062201" y="94240"/>
                    </a:lnTo>
                    <a:lnTo>
                      <a:pt x="4009905" y="99324"/>
                    </a:lnTo>
                    <a:lnTo>
                      <a:pt x="3947254" y="104225"/>
                    </a:lnTo>
                    <a:lnTo>
                      <a:pt x="3874711" y="108926"/>
                    </a:lnTo>
                    <a:lnTo>
                      <a:pt x="3834875" y="111197"/>
                    </a:lnTo>
                    <a:lnTo>
                      <a:pt x="3792738" y="113412"/>
                    </a:lnTo>
                    <a:lnTo>
                      <a:pt x="3748360" y="115569"/>
                    </a:lnTo>
                    <a:lnTo>
                      <a:pt x="3701798" y="117666"/>
                    </a:lnTo>
                    <a:lnTo>
                      <a:pt x="3653109" y="119701"/>
                    </a:lnTo>
                    <a:lnTo>
                      <a:pt x="3602352" y="121672"/>
                    </a:lnTo>
                    <a:lnTo>
                      <a:pt x="3549584" y="123577"/>
                    </a:lnTo>
                    <a:lnTo>
                      <a:pt x="3494863" y="125414"/>
                    </a:lnTo>
                    <a:lnTo>
                      <a:pt x="3438247" y="127181"/>
                    </a:lnTo>
                    <a:lnTo>
                      <a:pt x="3379793" y="128876"/>
                    </a:lnTo>
                    <a:lnTo>
                      <a:pt x="3319560" y="130497"/>
                    </a:lnTo>
                    <a:lnTo>
                      <a:pt x="3257604" y="132042"/>
                    </a:lnTo>
                    <a:lnTo>
                      <a:pt x="3193985" y="133509"/>
                    </a:lnTo>
                    <a:lnTo>
                      <a:pt x="3128759" y="134896"/>
                    </a:lnTo>
                    <a:lnTo>
                      <a:pt x="3061985" y="136201"/>
                    </a:lnTo>
                    <a:lnTo>
                      <a:pt x="2993720" y="137422"/>
                    </a:lnTo>
                    <a:lnTo>
                      <a:pt x="2924023" y="138556"/>
                    </a:lnTo>
                    <a:lnTo>
                      <a:pt x="2852950" y="139603"/>
                    </a:lnTo>
                    <a:lnTo>
                      <a:pt x="2780559" y="140559"/>
                    </a:lnTo>
                    <a:lnTo>
                      <a:pt x="2706909" y="141423"/>
                    </a:lnTo>
                    <a:lnTo>
                      <a:pt x="2632057" y="142194"/>
                    </a:lnTo>
                    <a:lnTo>
                      <a:pt x="2556061" y="142868"/>
                    </a:lnTo>
                    <a:lnTo>
                      <a:pt x="2478979" y="143443"/>
                    </a:lnTo>
                    <a:lnTo>
                      <a:pt x="2400869" y="143919"/>
                    </a:lnTo>
                    <a:lnTo>
                      <a:pt x="2321787" y="144292"/>
                    </a:lnTo>
                    <a:lnTo>
                      <a:pt x="2241793" y="144562"/>
                    </a:lnTo>
                    <a:lnTo>
                      <a:pt x="2160944" y="144725"/>
                    </a:lnTo>
                    <a:lnTo>
                      <a:pt x="2079297" y="144779"/>
                    </a:lnTo>
                    <a:lnTo>
                      <a:pt x="1997651" y="144725"/>
                    </a:lnTo>
                    <a:lnTo>
                      <a:pt x="1916801" y="144562"/>
                    </a:lnTo>
                    <a:lnTo>
                      <a:pt x="1836807" y="144292"/>
                    </a:lnTo>
                    <a:lnTo>
                      <a:pt x="1757726" y="143919"/>
                    </a:lnTo>
                    <a:lnTo>
                      <a:pt x="1679615" y="143443"/>
                    </a:lnTo>
                    <a:lnTo>
                      <a:pt x="1602533" y="142868"/>
                    </a:lnTo>
                    <a:lnTo>
                      <a:pt x="1526538" y="142194"/>
                    </a:lnTo>
                    <a:lnTo>
                      <a:pt x="1451686" y="141423"/>
                    </a:lnTo>
                    <a:lnTo>
                      <a:pt x="1378036" y="140559"/>
                    </a:lnTo>
                    <a:lnTo>
                      <a:pt x="1305646" y="139603"/>
                    </a:lnTo>
                    <a:lnTo>
                      <a:pt x="1234573" y="138556"/>
                    </a:lnTo>
                    <a:lnTo>
                      <a:pt x="1164875" y="137422"/>
                    </a:lnTo>
                    <a:lnTo>
                      <a:pt x="1096610" y="136201"/>
                    </a:lnTo>
                    <a:lnTo>
                      <a:pt x="1029836" y="134896"/>
                    </a:lnTo>
                    <a:lnTo>
                      <a:pt x="964610" y="133509"/>
                    </a:lnTo>
                    <a:lnTo>
                      <a:pt x="900991" y="132042"/>
                    </a:lnTo>
                    <a:lnTo>
                      <a:pt x="839036" y="130497"/>
                    </a:lnTo>
                    <a:lnTo>
                      <a:pt x="778803" y="128876"/>
                    </a:lnTo>
                    <a:lnTo>
                      <a:pt x="720349" y="127181"/>
                    </a:lnTo>
                    <a:lnTo>
                      <a:pt x="663733" y="125414"/>
                    </a:lnTo>
                    <a:lnTo>
                      <a:pt x="609012" y="123577"/>
                    </a:lnTo>
                    <a:lnTo>
                      <a:pt x="556244" y="121672"/>
                    </a:lnTo>
                    <a:lnTo>
                      <a:pt x="505487" y="119701"/>
                    </a:lnTo>
                    <a:lnTo>
                      <a:pt x="456798" y="117666"/>
                    </a:lnTo>
                    <a:lnTo>
                      <a:pt x="410236" y="115569"/>
                    </a:lnTo>
                    <a:lnTo>
                      <a:pt x="365858" y="113412"/>
                    </a:lnTo>
                    <a:lnTo>
                      <a:pt x="323721" y="111197"/>
                    </a:lnTo>
                    <a:lnTo>
                      <a:pt x="283885" y="108926"/>
                    </a:lnTo>
                    <a:lnTo>
                      <a:pt x="211342" y="104225"/>
                    </a:lnTo>
                    <a:lnTo>
                      <a:pt x="148691" y="99324"/>
                    </a:lnTo>
                    <a:lnTo>
                      <a:pt x="96395" y="94240"/>
                    </a:lnTo>
                    <a:lnTo>
                      <a:pt x="54915" y="88988"/>
                    </a:lnTo>
                    <a:lnTo>
                      <a:pt x="13988" y="80832"/>
                    </a:lnTo>
                    <a:lnTo>
                      <a:pt x="0" y="72389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7" name="object 37"/>
            <p:cNvSpPr txBox="1"/>
            <p:nvPr/>
          </p:nvSpPr>
          <p:spPr>
            <a:xfrm>
              <a:off x="6488371" y="2872915"/>
              <a:ext cx="737235" cy="259045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600" spc="-5" dirty="0">
                  <a:solidFill>
                    <a:prstClr val="black"/>
                  </a:solidFill>
                  <a:latin typeface="Arial"/>
                  <a:cs typeface="Arial"/>
                </a:rPr>
                <a:t>network</a:t>
              </a:r>
              <a:endParaRPr sz="16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29" name="object 38"/>
            <p:cNvGrpSpPr/>
            <p:nvPr/>
          </p:nvGrpSpPr>
          <p:grpSpPr>
            <a:xfrm>
              <a:off x="4368341" y="2942709"/>
              <a:ext cx="2444115" cy="1352973"/>
              <a:chOff x="4368337" y="2207029"/>
              <a:chExt cx="2444115" cy="1014730"/>
            </a:xfrm>
          </p:grpSpPr>
          <p:sp>
            <p:nvSpPr>
              <p:cNvPr id="39" name="object 39"/>
              <p:cNvSpPr/>
              <p:nvPr/>
            </p:nvSpPr>
            <p:spPr>
              <a:xfrm>
                <a:off x="4979323" y="2207029"/>
                <a:ext cx="295101" cy="336665"/>
              </a:xfrm>
              <a:prstGeom prst="rect">
                <a:avLst/>
              </a:prstGeom>
              <a:blipFill>
                <a:blip r:embed="rId1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5127639" y="2358361"/>
                <a:ext cx="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h="119380">
                    <a:moveTo>
                      <a:pt x="0" y="119257"/>
                    </a:move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5068685" y="2333156"/>
                <a:ext cx="11811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18110" h="116205">
                    <a:moveTo>
                      <a:pt x="58953" y="0"/>
                    </a:moveTo>
                    <a:lnTo>
                      <a:pt x="0" y="101064"/>
                    </a:lnTo>
                    <a:lnTo>
                      <a:pt x="2045" y="108840"/>
                    </a:lnTo>
                    <a:lnTo>
                      <a:pt x="14163" y="115909"/>
                    </a:lnTo>
                    <a:lnTo>
                      <a:pt x="21939" y="113861"/>
                    </a:lnTo>
                    <a:lnTo>
                      <a:pt x="58953" y="50408"/>
                    </a:lnTo>
                    <a:lnTo>
                      <a:pt x="88358" y="50408"/>
                    </a:lnTo>
                    <a:lnTo>
                      <a:pt x="58953" y="0"/>
                    </a:lnTo>
                    <a:close/>
                  </a:path>
                  <a:path w="118110" h="116205">
                    <a:moveTo>
                      <a:pt x="88358" y="50408"/>
                    </a:moveTo>
                    <a:lnTo>
                      <a:pt x="58953" y="50408"/>
                    </a:lnTo>
                    <a:lnTo>
                      <a:pt x="95967" y="113861"/>
                    </a:lnTo>
                    <a:lnTo>
                      <a:pt x="103745" y="115909"/>
                    </a:lnTo>
                    <a:lnTo>
                      <a:pt x="115862" y="108840"/>
                    </a:lnTo>
                    <a:lnTo>
                      <a:pt x="117908" y="101064"/>
                    </a:lnTo>
                    <a:lnTo>
                      <a:pt x="88358" y="50408"/>
                    </a:lnTo>
                    <a:close/>
                  </a:path>
                </a:pathLst>
              </a:custGeom>
              <a:solidFill>
                <a:srgbClr val="23598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6521334" y="2227811"/>
                <a:ext cx="290945" cy="336665"/>
              </a:xfrm>
              <a:prstGeom prst="rect">
                <a:avLst/>
              </a:prstGeom>
              <a:blipFill>
                <a:blip r:embed="rId1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6666502" y="2380375"/>
                <a:ext cx="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h="119380">
                    <a:moveTo>
                      <a:pt x="0" y="119257"/>
                    </a:move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6607549" y="2355170"/>
                <a:ext cx="11811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18109" h="116205">
                    <a:moveTo>
                      <a:pt x="58953" y="0"/>
                    </a:moveTo>
                    <a:lnTo>
                      <a:pt x="0" y="101064"/>
                    </a:lnTo>
                    <a:lnTo>
                      <a:pt x="2045" y="108840"/>
                    </a:lnTo>
                    <a:lnTo>
                      <a:pt x="14163" y="115909"/>
                    </a:lnTo>
                    <a:lnTo>
                      <a:pt x="21939" y="113861"/>
                    </a:lnTo>
                    <a:lnTo>
                      <a:pt x="58953" y="50408"/>
                    </a:lnTo>
                    <a:lnTo>
                      <a:pt x="88358" y="50408"/>
                    </a:lnTo>
                    <a:lnTo>
                      <a:pt x="58953" y="0"/>
                    </a:lnTo>
                    <a:close/>
                  </a:path>
                  <a:path w="118109" h="116205">
                    <a:moveTo>
                      <a:pt x="88358" y="50408"/>
                    </a:moveTo>
                    <a:lnTo>
                      <a:pt x="58953" y="50408"/>
                    </a:lnTo>
                    <a:lnTo>
                      <a:pt x="95967" y="113861"/>
                    </a:lnTo>
                    <a:lnTo>
                      <a:pt x="103743" y="115909"/>
                    </a:lnTo>
                    <a:lnTo>
                      <a:pt x="115860" y="108840"/>
                    </a:lnTo>
                    <a:lnTo>
                      <a:pt x="117906" y="101064"/>
                    </a:lnTo>
                    <a:lnTo>
                      <a:pt x="88358" y="50408"/>
                    </a:lnTo>
                    <a:close/>
                  </a:path>
                </a:pathLst>
              </a:custGeom>
              <a:solidFill>
                <a:srgbClr val="23598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455622" y="2597728"/>
                <a:ext cx="727363" cy="428105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4625841" y="2636652"/>
                <a:ext cx="508000" cy="213995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13994">
                    <a:moveTo>
                      <a:pt x="507756" y="0"/>
                    </a:moveTo>
                    <a:lnTo>
                      <a:pt x="0" y="21395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4602614" y="2765685"/>
                <a:ext cx="124207" cy="109790"/>
              </a:xfrm>
              <a:prstGeom prst="rect">
                <a:avLst/>
              </a:prstGeom>
              <a:blipFill>
                <a:blip r:embed="rId1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4368337" y="2830484"/>
                <a:ext cx="444730" cy="390698"/>
              </a:xfrm>
              <a:prstGeom prst="rect">
                <a:avLst/>
              </a:prstGeom>
              <a:blipFill>
                <a:blip r:embed="rId1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4420681" y="286039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5"/>
                    </a:lnTo>
                    <a:lnTo>
                      <a:pt x="0" y="228367"/>
                    </a:lnTo>
                    <a:lnTo>
                      <a:pt x="11933" y="247604"/>
                    </a:lnTo>
                    <a:lnTo>
                      <a:pt x="46471" y="264712"/>
                    </a:lnTo>
                    <a:lnTo>
                      <a:pt x="98389" y="277863"/>
                    </a:lnTo>
                    <a:lnTo>
                      <a:pt x="162459" y="285226"/>
                    </a:lnTo>
                    <a:lnTo>
                      <a:pt x="226951" y="285119"/>
                    </a:lnTo>
                    <a:lnTo>
                      <a:pt x="280019" y="277895"/>
                    </a:lnTo>
                    <a:lnTo>
                      <a:pt x="316264" y="264782"/>
                    </a:lnTo>
                    <a:lnTo>
                      <a:pt x="330286" y="247011"/>
                    </a:lnTo>
                    <a:lnTo>
                      <a:pt x="341019" y="56860"/>
                    </a:lnTo>
                    <a:lnTo>
                      <a:pt x="329085" y="37623"/>
                    </a:lnTo>
                    <a:lnTo>
                      <a:pt x="294547" y="20515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4420681" y="2860391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5" y="94968"/>
                    </a:lnTo>
                    <a:lnTo>
                      <a:pt x="173193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29" h="285750">
                    <a:moveTo>
                      <a:pt x="0" y="228367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10"/>
                    </a:lnTo>
                    <a:lnTo>
                      <a:pt x="316264" y="264782"/>
                    </a:lnTo>
                    <a:lnTo>
                      <a:pt x="280019" y="277894"/>
                    </a:lnTo>
                    <a:lnTo>
                      <a:pt x="226951" y="285119"/>
                    </a:lnTo>
                    <a:lnTo>
                      <a:pt x="162459" y="285226"/>
                    </a:lnTo>
                    <a:lnTo>
                      <a:pt x="98389" y="277862"/>
                    </a:lnTo>
                    <a:lnTo>
                      <a:pt x="46472" y="264711"/>
                    </a:lnTo>
                    <a:lnTo>
                      <a:pt x="11933" y="247603"/>
                    </a:lnTo>
                    <a:lnTo>
                      <a:pt x="0" y="228367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5453148" y="2830484"/>
                <a:ext cx="444730" cy="390698"/>
              </a:xfrm>
              <a:prstGeom prst="rect">
                <a:avLst/>
              </a:prstGeom>
              <a:blipFill>
                <a:blip r:embed="rId1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5505595" y="2860390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5"/>
                    </a:lnTo>
                    <a:lnTo>
                      <a:pt x="0" y="228367"/>
                    </a:lnTo>
                    <a:lnTo>
                      <a:pt x="11933" y="247604"/>
                    </a:lnTo>
                    <a:lnTo>
                      <a:pt x="46471" y="264712"/>
                    </a:lnTo>
                    <a:lnTo>
                      <a:pt x="98389" y="277863"/>
                    </a:lnTo>
                    <a:lnTo>
                      <a:pt x="162459" y="285226"/>
                    </a:lnTo>
                    <a:lnTo>
                      <a:pt x="226951" y="285119"/>
                    </a:lnTo>
                    <a:lnTo>
                      <a:pt x="280019" y="277895"/>
                    </a:lnTo>
                    <a:lnTo>
                      <a:pt x="316264" y="264782"/>
                    </a:lnTo>
                    <a:lnTo>
                      <a:pt x="330286" y="247011"/>
                    </a:lnTo>
                    <a:lnTo>
                      <a:pt x="341019" y="56860"/>
                    </a:lnTo>
                    <a:lnTo>
                      <a:pt x="329085" y="37623"/>
                    </a:lnTo>
                    <a:lnTo>
                      <a:pt x="294547" y="20515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5505595" y="2860391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5" y="94968"/>
                    </a:lnTo>
                    <a:lnTo>
                      <a:pt x="173193" y="95075"/>
                    </a:lnTo>
                    <a:lnTo>
                      <a:pt x="109122" y="87711"/>
                    </a:lnTo>
                    <a:lnTo>
                      <a:pt x="57205" y="74560"/>
                    </a:lnTo>
                    <a:lnTo>
                      <a:pt x="22666" y="57452"/>
                    </a:lnTo>
                    <a:lnTo>
                      <a:pt x="10733" y="38216"/>
                    </a:lnTo>
                  </a:path>
                  <a:path w="341629" h="285750">
                    <a:moveTo>
                      <a:pt x="0" y="228367"/>
                    </a:moveTo>
                    <a:lnTo>
                      <a:pt x="10733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6" y="37622"/>
                    </a:lnTo>
                    <a:lnTo>
                      <a:pt x="341019" y="56859"/>
                    </a:lnTo>
                    <a:lnTo>
                      <a:pt x="330286" y="247010"/>
                    </a:lnTo>
                    <a:lnTo>
                      <a:pt x="316264" y="264782"/>
                    </a:lnTo>
                    <a:lnTo>
                      <a:pt x="280019" y="277894"/>
                    </a:lnTo>
                    <a:lnTo>
                      <a:pt x="226951" y="285119"/>
                    </a:lnTo>
                    <a:lnTo>
                      <a:pt x="162459" y="285226"/>
                    </a:lnTo>
                    <a:lnTo>
                      <a:pt x="98389" y="277862"/>
                    </a:lnTo>
                    <a:lnTo>
                      <a:pt x="46472" y="264711"/>
                    </a:lnTo>
                    <a:lnTo>
                      <a:pt x="11933" y="247603"/>
                    </a:lnTo>
                    <a:lnTo>
                      <a:pt x="0" y="228367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5083232" y="2597728"/>
                <a:ext cx="752301" cy="428105"/>
              </a:xfrm>
              <a:prstGeom prst="rect">
                <a:avLst/>
              </a:prstGeom>
              <a:blipFill>
                <a:blip r:embed="rId1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5133598" y="2636652"/>
                <a:ext cx="53086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530860" h="214630">
                    <a:moveTo>
                      <a:pt x="0" y="0"/>
                    </a:moveTo>
                    <a:lnTo>
                      <a:pt x="530667" y="214395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5563388" y="2766954"/>
                <a:ext cx="124247" cy="110338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7" name="object 57"/>
            <p:cNvSpPr txBox="1"/>
            <p:nvPr/>
          </p:nvSpPr>
          <p:spPr>
            <a:xfrm>
              <a:off x="4457514" y="3770080"/>
              <a:ext cx="889000" cy="382151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  <a:tabLst>
                  <a:tab pos="570664" algn="l"/>
                </a:tabLst>
              </a:pPr>
              <a:r>
                <a:rPr sz="1400" spc="-5" dirty="0">
                  <a:solidFill>
                    <a:prstClr val="black"/>
                  </a:solidFill>
                  <a:latin typeface="Arial"/>
                  <a:cs typeface="Arial"/>
                </a:rPr>
                <a:t>1O</a:t>
              </a:r>
              <a:r>
                <a:rPr sz="1400" dirty="0">
                  <a:solidFill>
                    <a:prstClr val="black"/>
                  </a:solidFill>
                  <a:latin typeface="Arial"/>
                  <a:cs typeface="Arial"/>
                </a:rPr>
                <a:t>G	</a:t>
              </a:r>
              <a:r>
                <a:rPr sz="3600" b="1" baseline="1157" dirty="0">
                  <a:solidFill>
                    <a:prstClr val="black"/>
                  </a:solidFill>
                  <a:latin typeface="Arial"/>
                  <a:cs typeface="Arial"/>
                </a:rPr>
                <a:t>…</a:t>
              </a:r>
              <a:endParaRPr sz="3600" baseline="1157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38" name="object 58"/>
            <p:cNvGrpSpPr/>
            <p:nvPr/>
          </p:nvGrpSpPr>
          <p:grpSpPr>
            <a:xfrm>
              <a:off x="5943601" y="3474721"/>
              <a:ext cx="1513205" cy="820420"/>
              <a:chOff x="5943600" y="2606040"/>
              <a:chExt cx="1513205" cy="615315"/>
            </a:xfrm>
          </p:grpSpPr>
          <p:sp>
            <p:nvSpPr>
              <p:cNvPr id="59" name="object 59"/>
              <p:cNvSpPr/>
              <p:nvPr/>
            </p:nvSpPr>
            <p:spPr>
              <a:xfrm>
                <a:off x="5943600" y="2606040"/>
                <a:ext cx="727363" cy="428105"/>
              </a:xfrm>
              <a:prstGeom prst="rect">
                <a:avLst/>
              </a:prstGeom>
              <a:blipFill>
                <a:blip r:embed="rId2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6113469" y="2643852"/>
                <a:ext cx="508000" cy="213995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13994">
                    <a:moveTo>
                      <a:pt x="507756" y="0"/>
                    </a:moveTo>
                    <a:lnTo>
                      <a:pt x="0" y="21395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6090241" y="2772886"/>
                <a:ext cx="124205" cy="109790"/>
              </a:xfrm>
              <a:prstGeom prst="rect">
                <a:avLst/>
              </a:prstGeom>
              <a:blipFill>
                <a:blip r:embed="rId2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7015941" y="2830484"/>
                <a:ext cx="440574" cy="390698"/>
              </a:xfrm>
              <a:prstGeom prst="rect">
                <a:avLst/>
              </a:prstGeom>
              <a:blipFill>
                <a:blip r:embed="rId2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7065742" y="2859796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5"/>
                    </a:lnTo>
                    <a:lnTo>
                      <a:pt x="0" y="228366"/>
                    </a:lnTo>
                    <a:lnTo>
                      <a:pt x="11933" y="247602"/>
                    </a:lnTo>
                    <a:lnTo>
                      <a:pt x="46471" y="264711"/>
                    </a:lnTo>
                    <a:lnTo>
                      <a:pt x="98389" y="277861"/>
                    </a:lnTo>
                    <a:lnTo>
                      <a:pt x="162459" y="285225"/>
                    </a:lnTo>
                    <a:lnTo>
                      <a:pt x="226951" y="285118"/>
                    </a:lnTo>
                    <a:lnTo>
                      <a:pt x="280018" y="277893"/>
                    </a:lnTo>
                    <a:lnTo>
                      <a:pt x="316263" y="264781"/>
                    </a:lnTo>
                    <a:lnTo>
                      <a:pt x="330285" y="247009"/>
                    </a:lnTo>
                    <a:lnTo>
                      <a:pt x="341017" y="56859"/>
                    </a:lnTo>
                    <a:lnTo>
                      <a:pt x="329084" y="37623"/>
                    </a:lnTo>
                    <a:lnTo>
                      <a:pt x="294546" y="20515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7065742" y="2859797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8" y="56859"/>
                    </a:moveTo>
                    <a:lnTo>
                      <a:pt x="326996" y="74630"/>
                    </a:lnTo>
                    <a:lnTo>
                      <a:pt x="290752" y="87743"/>
                    </a:lnTo>
                    <a:lnTo>
                      <a:pt x="237684" y="94967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4" y="74560"/>
                    </a:lnTo>
                    <a:lnTo>
                      <a:pt x="22665" y="57452"/>
                    </a:lnTo>
                    <a:lnTo>
                      <a:pt x="10732" y="38216"/>
                    </a:lnTo>
                  </a:path>
                  <a:path w="341629" h="285750">
                    <a:moveTo>
                      <a:pt x="0" y="228366"/>
                    </a:moveTo>
                    <a:lnTo>
                      <a:pt x="10732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6" y="20514"/>
                    </a:lnTo>
                    <a:lnTo>
                      <a:pt x="329085" y="37622"/>
                    </a:lnTo>
                    <a:lnTo>
                      <a:pt x="341018" y="56859"/>
                    </a:lnTo>
                    <a:lnTo>
                      <a:pt x="330285" y="247009"/>
                    </a:lnTo>
                    <a:lnTo>
                      <a:pt x="316263" y="264781"/>
                    </a:lnTo>
                    <a:lnTo>
                      <a:pt x="280019" y="277893"/>
                    </a:lnTo>
                    <a:lnTo>
                      <a:pt x="226951" y="285118"/>
                    </a:lnTo>
                    <a:lnTo>
                      <a:pt x="162459" y="285225"/>
                    </a:lnTo>
                    <a:lnTo>
                      <a:pt x="98389" y="277861"/>
                    </a:lnTo>
                    <a:lnTo>
                      <a:pt x="46471" y="264710"/>
                    </a:lnTo>
                    <a:lnTo>
                      <a:pt x="11933" y="247602"/>
                    </a:lnTo>
                    <a:lnTo>
                      <a:pt x="0" y="228366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6608617" y="2610196"/>
                <a:ext cx="752301" cy="428105"/>
              </a:xfrm>
              <a:prstGeom prst="rect">
                <a:avLst/>
              </a:prstGeom>
              <a:blipFill>
                <a:blip r:embed="rId2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6659360" y="2648940"/>
                <a:ext cx="53086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530859" h="214630">
                    <a:moveTo>
                      <a:pt x="0" y="0"/>
                    </a:moveTo>
                    <a:lnTo>
                      <a:pt x="530667" y="214395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7089148" y="2779242"/>
                <a:ext cx="124249" cy="110338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8" name="object 68"/>
            <p:cNvSpPr txBox="1"/>
            <p:nvPr/>
          </p:nvSpPr>
          <p:spPr>
            <a:xfrm>
              <a:off x="5543574" y="3786467"/>
              <a:ext cx="1329055" cy="382151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  <a:tabLst>
                  <a:tab pos="1010564" algn="l"/>
                </a:tabLst>
              </a:pPr>
              <a:r>
                <a:rPr sz="2100" spc="-7" baseline="1984" dirty="0">
                  <a:solidFill>
                    <a:prstClr val="black"/>
                  </a:solidFill>
                  <a:latin typeface="Arial"/>
                  <a:cs typeface="Arial"/>
                </a:rPr>
                <a:t>1O</a:t>
              </a:r>
              <a:r>
                <a:rPr sz="2100" baseline="1984" dirty="0">
                  <a:solidFill>
                    <a:prstClr val="black"/>
                  </a:solidFill>
                  <a:latin typeface="Arial"/>
                  <a:cs typeface="Arial"/>
                </a:rPr>
                <a:t>G</a:t>
              </a:r>
              <a:r>
                <a:rPr sz="2100" spc="172" baseline="1984" dirty="0">
                  <a:solidFill>
                    <a:prstClr val="black"/>
                  </a:solidFill>
                  <a:latin typeface="Arial"/>
                  <a:cs typeface="Arial"/>
                </a:rPr>
                <a:t> </a:t>
              </a:r>
              <a:r>
                <a:rPr sz="1400" spc="-5" dirty="0">
                  <a:solidFill>
                    <a:prstClr val="black"/>
                  </a:solidFill>
                  <a:latin typeface="Arial"/>
                  <a:cs typeface="Arial"/>
                </a:rPr>
                <a:t>1O</a:t>
              </a:r>
              <a:r>
                <a:rPr sz="1400" dirty="0">
                  <a:solidFill>
                    <a:prstClr val="black"/>
                  </a:solidFill>
                  <a:latin typeface="Arial"/>
                  <a:cs typeface="Arial"/>
                </a:rPr>
                <a:t>G	</a:t>
              </a:r>
              <a:r>
                <a:rPr sz="3600" b="1" baseline="1157" dirty="0">
                  <a:solidFill>
                    <a:prstClr val="black"/>
                  </a:solidFill>
                  <a:latin typeface="Arial"/>
                  <a:cs typeface="Arial"/>
                </a:rPr>
                <a:t>…</a:t>
              </a:r>
              <a:endParaRPr sz="3600" baseline="1157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58" name="object 69"/>
            <p:cNvGrpSpPr/>
            <p:nvPr/>
          </p:nvGrpSpPr>
          <p:grpSpPr>
            <a:xfrm>
              <a:off x="6188828" y="2953789"/>
              <a:ext cx="2760345" cy="1341120"/>
              <a:chOff x="6188825" y="2215342"/>
              <a:chExt cx="2760345" cy="1005840"/>
            </a:xfrm>
          </p:grpSpPr>
          <p:sp>
            <p:nvSpPr>
              <p:cNvPr id="70" name="object 70"/>
              <p:cNvSpPr/>
              <p:nvPr/>
            </p:nvSpPr>
            <p:spPr>
              <a:xfrm>
                <a:off x="6188825" y="2473036"/>
                <a:ext cx="922712" cy="245225"/>
              </a:xfrm>
              <a:prstGeom prst="rect">
                <a:avLst/>
              </a:prstGeom>
              <a:blipFill>
                <a:blip r:embed="rId2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6238577" y="2499633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80">
                    <a:moveTo>
                      <a:pt x="821797" y="0"/>
                    </a:moveTo>
                    <a:lnTo>
                      <a:pt x="0" y="0"/>
                    </a:lnTo>
                    <a:lnTo>
                      <a:pt x="0" y="144780"/>
                    </a:lnTo>
                    <a:lnTo>
                      <a:pt x="821797" y="144780"/>
                    </a:lnTo>
                    <a:lnTo>
                      <a:pt x="821797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6238577" y="2499633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80">
                    <a:moveTo>
                      <a:pt x="0" y="0"/>
                    </a:moveTo>
                    <a:lnTo>
                      <a:pt x="821797" y="0"/>
                    </a:lnTo>
                    <a:lnTo>
                      <a:pt x="821797" y="144779"/>
                    </a:lnTo>
                    <a:lnTo>
                      <a:pt x="0" y="144779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8046720" y="2215342"/>
                <a:ext cx="290945" cy="336665"/>
              </a:xfrm>
              <a:prstGeom prst="rect">
                <a:avLst/>
              </a:prstGeom>
              <a:blipFill>
                <a:blip r:embed="rId2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8191317" y="2368921"/>
                <a:ext cx="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h="119380">
                    <a:moveTo>
                      <a:pt x="0" y="119257"/>
                    </a:moveTo>
                    <a:lnTo>
                      <a:pt x="0" y="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8132363" y="2343716"/>
                <a:ext cx="11811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18109" h="116205">
                    <a:moveTo>
                      <a:pt x="58953" y="0"/>
                    </a:moveTo>
                    <a:lnTo>
                      <a:pt x="0" y="101064"/>
                    </a:lnTo>
                    <a:lnTo>
                      <a:pt x="2045" y="108840"/>
                    </a:lnTo>
                    <a:lnTo>
                      <a:pt x="14163" y="115909"/>
                    </a:lnTo>
                    <a:lnTo>
                      <a:pt x="21939" y="113861"/>
                    </a:lnTo>
                    <a:lnTo>
                      <a:pt x="58953" y="50408"/>
                    </a:lnTo>
                    <a:lnTo>
                      <a:pt x="88358" y="50408"/>
                    </a:lnTo>
                    <a:lnTo>
                      <a:pt x="58953" y="0"/>
                    </a:lnTo>
                    <a:close/>
                  </a:path>
                  <a:path w="118109" h="116205">
                    <a:moveTo>
                      <a:pt x="88358" y="50408"/>
                    </a:moveTo>
                    <a:lnTo>
                      <a:pt x="58953" y="50408"/>
                    </a:lnTo>
                    <a:lnTo>
                      <a:pt x="95967" y="113861"/>
                    </a:lnTo>
                    <a:lnTo>
                      <a:pt x="103743" y="115909"/>
                    </a:lnTo>
                    <a:lnTo>
                      <a:pt x="115860" y="108840"/>
                    </a:lnTo>
                    <a:lnTo>
                      <a:pt x="117906" y="101064"/>
                    </a:lnTo>
                    <a:lnTo>
                      <a:pt x="88358" y="50408"/>
                    </a:lnTo>
                    <a:close/>
                  </a:path>
                </a:pathLst>
              </a:custGeom>
              <a:solidFill>
                <a:srgbClr val="23598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7506392" y="2601884"/>
                <a:ext cx="727363" cy="423949"/>
              </a:xfrm>
              <a:prstGeom prst="rect">
                <a:avLst/>
              </a:prstGeom>
              <a:blipFill>
                <a:blip r:embed="rId2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7676415" y="2637486"/>
                <a:ext cx="508000" cy="213995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13994">
                    <a:moveTo>
                      <a:pt x="507756" y="0"/>
                    </a:moveTo>
                    <a:lnTo>
                      <a:pt x="0" y="213950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7653189" y="2766518"/>
                <a:ext cx="124205" cy="109790"/>
              </a:xfrm>
              <a:prstGeom prst="rect">
                <a:avLst/>
              </a:prstGeom>
              <a:blipFill>
                <a:blip r:embed="rId2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8503920" y="2834640"/>
                <a:ext cx="444730" cy="386541"/>
              </a:xfrm>
              <a:prstGeom prst="rect">
                <a:avLst/>
              </a:prstGeom>
              <a:blipFill>
                <a:blip r:embed="rId2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8556171" y="2861225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178559" y="0"/>
                    </a:moveTo>
                    <a:lnTo>
                      <a:pt x="114067" y="107"/>
                    </a:lnTo>
                    <a:lnTo>
                      <a:pt x="60999" y="7332"/>
                    </a:lnTo>
                    <a:lnTo>
                      <a:pt x="24755" y="20444"/>
                    </a:lnTo>
                    <a:lnTo>
                      <a:pt x="0" y="228367"/>
                    </a:lnTo>
                    <a:lnTo>
                      <a:pt x="11933" y="247604"/>
                    </a:lnTo>
                    <a:lnTo>
                      <a:pt x="46471" y="264711"/>
                    </a:lnTo>
                    <a:lnTo>
                      <a:pt x="98389" y="277862"/>
                    </a:lnTo>
                    <a:lnTo>
                      <a:pt x="162459" y="285226"/>
                    </a:lnTo>
                    <a:lnTo>
                      <a:pt x="226951" y="285119"/>
                    </a:lnTo>
                    <a:lnTo>
                      <a:pt x="280019" y="277894"/>
                    </a:lnTo>
                    <a:lnTo>
                      <a:pt x="316264" y="264782"/>
                    </a:lnTo>
                    <a:lnTo>
                      <a:pt x="330286" y="247011"/>
                    </a:lnTo>
                    <a:lnTo>
                      <a:pt x="341019" y="56859"/>
                    </a:lnTo>
                    <a:lnTo>
                      <a:pt x="329085" y="37622"/>
                    </a:lnTo>
                    <a:lnTo>
                      <a:pt x="294547" y="20514"/>
                    </a:lnTo>
                    <a:lnTo>
                      <a:pt x="242629" y="7364"/>
                    </a:lnTo>
                    <a:lnTo>
                      <a:pt x="178559" y="0"/>
                    </a:lnTo>
                    <a:close/>
                  </a:path>
                </a:pathLst>
              </a:custGeom>
              <a:solidFill>
                <a:srgbClr val="F1D3F0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8556171" y="2861224"/>
                <a:ext cx="34163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85750">
                    <a:moveTo>
                      <a:pt x="341019" y="56859"/>
                    </a:moveTo>
                    <a:lnTo>
                      <a:pt x="326997" y="74630"/>
                    </a:lnTo>
                    <a:lnTo>
                      <a:pt x="290752" y="87743"/>
                    </a:lnTo>
                    <a:lnTo>
                      <a:pt x="237684" y="94968"/>
                    </a:lnTo>
                    <a:lnTo>
                      <a:pt x="173192" y="95075"/>
                    </a:lnTo>
                    <a:lnTo>
                      <a:pt x="109122" y="87711"/>
                    </a:lnTo>
                    <a:lnTo>
                      <a:pt x="57204" y="74560"/>
                    </a:lnTo>
                    <a:lnTo>
                      <a:pt x="22666" y="57452"/>
                    </a:lnTo>
                    <a:lnTo>
                      <a:pt x="10732" y="38216"/>
                    </a:lnTo>
                  </a:path>
                  <a:path w="341629" h="285750">
                    <a:moveTo>
                      <a:pt x="0" y="228367"/>
                    </a:moveTo>
                    <a:lnTo>
                      <a:pt x="10732" y="38216"/>
                    </a:lnTo>
                    <a:lnTo>
                      <a:pt x="60999" y="7332"/>
                    </a:lnTo>
                    <a:lnTo>
                      <a:pt x="114067" y="107"/>
                    </a:lnTo>
                    <a:lnTo>
                      <a:pt x="178559" y="0"/>
                    </a:lnTo>
                    <a:lnTo>
                      <a:pt x="242629" y="7364"/>
                    </a:lnTo>
                    <a:lnTo>
                      <a:pt x="294547" y="20514"/>
                    </a:lnTo>
                    <a:lnTo>
                      <a:pt x="329085" y="37622"/>
                    </a:lnTo>
                    <a:lnTo>
                      <a:pt x="341019" y="56859"/>
                    </a:lnTo>
                    <a:lnTo>
                      <a:pt x="330286" y="247010"/>
                    </a:lnTo>
                    <a:lnTo>
                      <a:pt x="316263" y="264782"/>
                    </a:lnTo>
                    <a:lnTo>
                      <a:pt x="280019" y="277894"/>
                    </a:lnTo>
                    <a:lnTo>
                      <a:pt x="226951" y="285119"/>
                    </a:lnTo>
                    <a:lnTo>
                      <a:pt x="162459" y="285226"/>
                    </a:lnTo>
                    <a:lnTo>
                      <a:pt x="98389" y="277862"/>
                    </a:lnTo>
                    <a:lnTo>
                      <a:pt x="46471" y="264711"/>
                    </a:lnTo>
                    <a:lnTo>
                      <a:pt x="11933" y="247603"/>
                    </a:lnTo>
                    <a:lnTo>
                      <a:pt x="0" y="228367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8134003" y="2601884"/>
                <a:ext cx="752301" cy="423949"/>
              </a:xfrm>
              <a:prstGeom prst="rect">
                <a:avLst/>
              </a:prstGeom>
              <a:blipFill>
                <a:blip r:embed="rId2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8184172" y="2637486"/>
                <a:ext cx="53086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530859" h="214630">
                    <a:moveTo>
                      <a:pt x="0" y="0"/>
                    </a:moveTo>
                    <a:lnTo>
                      <a:pt x="530667" y="214395"/>
                    </a:lnTo>
                  </a:path>
                </a:pathLst>
              </a:custGeom>
              <a:ln w="25399">
                <a:solidFill>
                  <a:srgbClr val="235985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8613961" y="2767788"/>
                <a:ext cx="124247" cy="110338"/>
              </a:xfrm>
              <a:prstGeom prst="rect">
                <a:avLst/>
              </a:prstGeom>
              <a:blipFill>
                <a:blip r:embed="rId2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85" name="object 85"/>
            <p:cNvSpPr txBox="1"/>
            <p:nvPr/>
          </p:nvSpPr>
          <p:spPr>
            <a:xfrm>
              <a:off x="7069332" y="3923541"/>
              <a:ext cx="829310" cy="228263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400" spc="-5" dirty="0">
                  <a:solidFill>
                    <a:prstClr val="black"/>
                  </a:solidFill>
                  <a:latin typeface="Arial"/>
                  <a:cs typeface="Arial"/>
                </a:rPr>
                <a:t>1OG</a:t>
              </a:r>
              <a:r>
                <a:rPr sz="1400" spc="-50" dirty="0">
                  <a:solidFill>
                    <a:prstClr val="black"/>
                  </a:solidFill>
                  <a:latin typeface="Arial"/>
                  <a:cs typeface="Arial"/>
                </a:rPr>
                <a:t> </a:t>
              </a:r>
              <a:r>
                <a:rPr sz="2100" spc="-7" baseline="-3968" dirty="0">
                  <a:solidFill>
                    <a:prstClr val="black"/>
                  </a:solidFill>
                  <a:latin typeface="Arial"/>
                  <a:cs typeface="Arial"/>
                </a:rPr>
                <a:t>1OG</a:t>
              </a:r>
              <a:endParaRPr sz="2100" baseline="-3968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86" name="object 86"/>
            <p:cNvSpPr txBox="1"/>
            <p:nvPr/>
          </p:nvSpPr>
          <p:spPr>
            <a:xfrm>
              <a:off x="8594143" y="3946755"/>
              <a:ext cx="401320" cy="228263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1400" spc="-5" dirty="0">
                  <a:solidFill>
                    <a:prstClr val="black"/>
                  </a:solidFill>
                  <a:latin typeface="Arial"/>
                  <a:cs typeface="Arial"/>
                </a:rPr>
                <a:t>1OG</a:t>
              </a:r>
              <a:endParaRPr sz="14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87" name="object 87"/>
            <p:cNvSpPr txBox="1"/>
            <p:nvPr/>
          </p:nvSpPr>
          <p:spPr>
            <a:xfrm>
              <a:off x="8066742" y="3764409"/>
              <a:ext cx="330200" cy="382156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defTabSz="914079">
                <a:spcBef>
                  <a:spcPts val="100"/>
                </a:spcBef>
              </a:pPr>
              <a:r>
                <a:rPr sz="2400" b="1" dirty="0">
                  <a:solidFill>
                    <a:prstClr val="black"/>
                  </a:solidFill>
                  <a:latin typeface="Arial"/>
                  <a:cs typeface="Arial"/>
                </a:rPr>
                <a:t>…</a:t>
              </a:r>
              <a:endParaRPr sz="24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grpSp>
          <p:nvGrpSpPr>
            <p:cNvPr id="69" name="object 88"/>
            <p:cNvGrpSpPr/>
            <p:nvPr/>
          </p:nvGrpSpPr>
          <p:grpSpPr>
            <a:xfrm>
              <a:off x="7714211" y="3280758"/>
              <a:ext cx="923290" cy="327660"/>
              <a:chOff x="7714211" y="2460568"/>
              <a:chExt cx="923290" cy="245745"/>
            </a:xfrm>
          </p:grpSpPr>
          <p:sp>
            <p:nvSpPr>
              <p:cNvPr id="89" name="object 89"/>
              <p:cNvSpPr/>
              <p:nvPr/>
            </p:nvSpPr>
            <p:spPr>
              <a:xfrm>
                <a:off x="7714211" y="2460568"/>
                <a:ext cx="922712" cy="245225"/>
              </a:xfrm>
              <a:prstGeom prst="rect">
                <a:avLst/>
              </a:prstGeom>
              <a:blipFill>
                <a:blip r:embed="rId3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object 90"/>
              <p:cNvSpPr/>
              <p:nvPr/>
            </p:nvSpPr>
            <p:spPr>
              <a:xfrm>
                <a:off x="7763390" y="2488178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80">
                    <a:moveTo>
                      <a:pt x="821797" y="0"/>
                    </a:moveTo>
                    <a:lnTo>
                      <a:pt x="0" y="0"/>
                    </a:lnTo>
                    <a:lnTo>
                      <a:pt x="0" y="144780"/>
                    </a:lnTo>
                    <a:lnTo>
                      <a:pt x="821797" y="144780"/>
                    </a:lnTo>
                    <a:lnTo>
                      <a:pt x="821797" y="0"/>
                    </a:lnTo>
                    <a:close/>
                  </a:path>
                </a:pathLst>
              </a:custGeom>
              <a:solidFill>
                <a:srgbClr val="D4FDD5"/>
              </a:solidFill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object 91"/>
              <p:cNvSpPr/>
              <p:nvPr/>
            </p:nvSpPr>
            <p:spPr>
              <a:xfrm>
                <a:off x="7763390" y="2488179"/>
                <a:ext cx="82232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822325" h="144780">
                    <a:moveTo>
                      <a:pt x="0" y="0"/>
                    </a:moveTo>
                    <a:lnTo>
                      <a:pt x="821797" y="0"/>
                    </a:lnTo>
                    <a:lnTo>
                      <a:pt x="821797" y="144779"/>
                    </a:lnTo>
                    <a:lnTo>
                      <a:pt x="0" y="144779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1F5784"/>
                </a:solidFill>
              </a:ln>
            </p:spPr>
            <p:txBody>
              <a:bodyPr wrap="square" lIns="0" tIns="0" rIns="0" bIns="0" rtlCol="0"/>
              <a:lstStyle/>
              <a:p>
                <a:pPr defTabSz="914079"/>
                <a:endParaRPr>
                  <a:solidFill>
                    <a:prstClr val="black"/>
                  </a:solidFill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404664"/>
            <a:ext cx="7467600" cy="443706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</a:pPr>
            <a:r>
              <a:rPr lang="fr-FR" sz="2700" dirty="0" smtClean="0"/>
              <a:t>Principes fondamentaux</a:t>
            </a:r>
          </a:p>
        </p:txBody>
      </p:sp>
      <p:sp>
        <p:nvSpPr>
          <p:cNvPr id="16" name="Espace réservé du contenu 15"/>
          <p:cNvSpPr>
            <a:spLocks noGrp="1"/>
          </p:cNvSpPr>
          <p:nvPr>
            <p:ph sz="quarter" idx="1"/>
          </p:nvPr>
        </p:nvSpPr>
        <p:spPr>
          <a:xfrm>
            <a:off x="755576" y="1412776"/>
            <a:ext cx="7169224" cy="487375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« To the user, a distributed system should look exactly like a  </a:t>
            </a:r>
            <a:r>
              <a:rPr lang="en-US" dirty="0" err="1" smtClean="0"/>
              <a:t>nondistributed</a:t>
            </a:r>
            <a:r>
              <a:rPr lang="en-US" dirty="0" smtClean="0"/>
              <a:t> system. » (C. Date, Introduction to Database Systems)</a:t>
            </a:r>
          </a:p>
          <a:p>
            <a:r>
              <a:rPr lang="fr-FR" b="1" dirty="0" smtClean="0"/>
              <a:t>Autonomie Locale</a:t>
            </a:r>
          </a:p>
          <a:p>
            <a:pPr lvl="1"/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La BD </a:t>
            </a:r>
            <a:r>
              <a:rPr lang="fr-FR" sz="2000" spc="-10" dirty="0" smtClean="0">
                <a:solidFill>
                  <a:srgbClr val="282828"/>
                </a:solidFill>
                <a:latin typeface="Arial"/>
                <a:cs typeface="Arial"/>
              </a:rPr>
              <a:t>locale </a:t>
            </a:r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est complète et autonome  (intégrité, sécurité, gestion), elle </a:t>
            </a:r>
            <a:r>
              <a:rPr lang="fr-FR" sz="2000" spc="-10" dirty="0" smtClean="0">
                <a:solidFill>
                  <a:srgbClr val="282828"/>
                </a:solidFill>
                <a:latin typeface="Arial"/>
                <a:cs typeface="Arial"/>
              </a:rPr>
              <a:t>peut </a:t>
            </a:r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évoluer  </a:t>
            </a:r>
            <a:r>
              <a:rPr lang="fr-FR" sz="2000" spc="-10" dirty="0" smtClean="0">
                <a:solidFill>
                  <a:srgbClr val="282828"/>
                </a:solidFill>
                <a:latin typeface="Arial"/>
                <a:cs typeface="Arial"/>
              </a:rPr>
              <a:t>indépendamment </a:t>
            </a:r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des autres</a:t>
            </a:r>
            <a:r>
              <a:rPr lang="fr-FR" sz="2000" spc="15" dirty="0" smtClean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(upgrades…)</a:t>
            </a:r>
          </a:p>
          <a:p>
            <a:pPr marL="274224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fr-FR" sz="2400" b="1" dirty="0" smtClean="0"/>
              <a:t>Egalité entre sites</a:t>
            </a:r>
          </a:p>
          <a:p>
            <a:pPr marR="5077" lvl="1">
              <a:lnSpc>
                <a:spcPts val="2590"/>
              </a:lnSpc>
            </a:pPr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Un site en panne ne doit pas empêcher le  fonctionnement des autres sites (mais  perturbations possibles)</a:t>
            </a:r>
          </a:p>
          <a:p>
            <a:pPr marL="274224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fr-FR" sz="2400" b="1" dirty="0" smtClean="0"/>
              <a:t>Fonctionnement continu</a:t>
            </a:r>
          </a:p>
          <a:p>
            <a:pPr marR="5077" lvl="1">
              <a:lnSpc>
                <a:spcPts val="2590"/>
              </a:lnSpc>
            </a:pPr>
            <a:r>
              <a:rPr lang="fr-FR" sz="2000" spc="-5" dirty="0" smtClean="0">
                <a:solidFill>
                  <a:srgbClr val="282828"/>
                </a:solidFill>
                <a:latin typeface="Arial"/>
                <a:cs typeface="Arial"/>
              </a:rPr>
              <a:t>La distribution permet une résistance aux fautes et aux  pannes (en théorie)</a:t>
            </a:r>
          </a:p>
          <a:p>
            <a:pPr marL="274224" lvl="1">
              <a:spcBef>
                <a:spcPts val="600"/>
              </a:spcBef>
              <a:buSzPct val="70000"/>
              <a:buFont typeface="Wingdings"/>
              <a:buChar char=""/>
            </a:pPr>
            <a:endParaRPr lang="fr-FR" sz="2400" dirty="0" smtClean="0"/>
          </a:p>
          <a:p>
            <a:pPr marL="548447" lvl="2">
              <a:spcBef>
                <a:spcPts val="600"/>
              </a:spcBef>
              <a:buSzPct val="70000"/>
            </a:pPr>
            <a:endParaRPr lang="fr-FR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391">
              <a:spcBef>
                <a:spcPts val="5"/>
              </a:spcBef>
            </a:pPr>
            <a:fld id="{81D60167-4931-47E6-BA6A-407CBD079E47}" type="slidenum">
              <a:rPr dirty="0"/>
              <a:pPr marL="25391">
                <a:spcBef>
                  <a:spcPts val="5"/>
                </a:spcBef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692696"/>
            <a:ext cx="7467600" cy="428317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</a:pPr>
            <a:r>
              <a:rPr lang="fr-FR" sz="2700" dirty="0" smtClean="0"/>
              <a:t>Principes fondamentaux</a:t>
            </a:r>
          </a:p>
        </p:txBody>
      </p:sp>
      <p:sp>
        <p:nvSpPr>
          <p:cNvPr id="15" name="Espace réservé du contenu 14"/>
          <p:cNvSpPr>
            <a:spLocks noGrp="1"/>
          </p:cNvSpPr>
          <p:nvPr>
            <p:ph sz="quarter" idx="1"/>
          </p:nvPr>
        </p:nvSpPr>
        <p:spPr>
          <a:xfrm>
            <a:off x="323528" y="1600200"/>
            <a:ext cx="8136904" cy="4873752"/>
          </a:xfrm>
        </p:spPr>
        <p:txBody>
          <a:bodyPr>
            <a:noAutofit/>
          </a:bodyPr>
          <a:lstStyle/>
          <a:p>
            <a:pPr marL="12695">
              <a:spcBef>
                <a:spcPts val="275"/>
              </a:spcBef>
            </a:pPr>
            <a:r>
              <a:rPr lang="fr-FR" sz="1600" b="1" dirty="0" smtClean="0">
                <a:latin typeface="+mj-lt"/>
              </a:rPr>
              <a:t>Transparence de localisation</a:t>
            </a:r>
          </a:p>
          <a:p>
            <a:pPr marR="5077" lvl="1"/>
            <a:r>
              <a:rPr lang="fr-FR" sz="1800" spc="-5" dirty="0" smtClean="0">
                <a:solidFill>
                  <a:srgbClr val="282828"/>
                </a:solidFill>
                <a:latin typeface="+mj-lt"/>
                <a:cs typeface="Arial"/>
              </a:rPr>
              <a:t>l’utilisateur n’a pas savoir où sont les données</a:t>
            </a:r>
          </a:p>
          <a:p>
            <a:pPr marR="5077" lvl="1"/>
            <a:r>
              <a:rPr lang="fr-FR" sz="1800" spc="-5" dirty="0" smtClean="0">
                <a:solidFill>
                  <a:srgbClr val="282828"/>
                </a:solidFill>
                <a:latin typeface="+mj-lt"/>
                <a:cs typeface="Arial"/>
              </a:rPr>
              <a:t>Accès uniforme aux données quel que  soit leur site de stockage</a:t>
            </a:r>
          </a:p>
          <a:p>
            <a:pPr marL="12695" marR="5077" lvl="1">
              <a:lnSpc>
                <a:spcPts val="3020"/>
              </a:lnSpc>
              <a:spcBef>
                <a:spcPts val="275"/>
              </a:spcBef>
              <a:buSzPct val="70000"/>
              <a:buFont typeface="Wingdings"/>
              <a:buChar char=""/>
            </a:pPr>
            <a:r>
              <a:rPr lang="fr-FR" sz="1600" b="1" dirty="0" smtClean="0">
                <a:latin typeface="+mj-lt"/>
              </a:rPr>
              <a:t>Transparence de réseau/système</a:t>
            </a:r>
            <a:endParaRPr lang="fr-FR" sz="1600" dirty="0" smtClean="0">
              <a:latin typeface="+mj-lt"/>
            </a:endParaRPr>
          </a:p>
          <a:p>
            <a:pPr marR="5077" lvl="1">
              <a:lnSpc>
                <a:spcPts val="3020"/>
              </a:lnSpc>
            </a:pPr>
            <a:r>
              <a:rPr lang="fr-FR" sz="1600" dirty="0" smtClean="0">
                <a:latin typeface="+mj-lt"/>
              </a:rPr>
              <a:t>Il n’a pas à connaître les aspects techniques du réseau</a:t>
            </a:r>
          </a:p>
          <a:p>
            <a:pPr marR="5077" lvl="1">
              <a:lnSpc>
                <a:spcPts val="3020"/>
              </a:lnSpc>
            </a:pPr>
            <a:r>
              <a:rPr lang="fr-FR" sz="1600" dirty="0" smtClean="0">
                <a:latin typeface="+mj-lt"/>
              </a:rPr>
              <a:t>Le SGBD est accessible à travers les  différents types de réseau utilisés</a:t>
            </a:r>
          </a:p>
          <a:p>
            <a:pPr marL="12695" marR="5077" lvl="1">
              <a:lnSpc>
                <a:spcPts val="3020"/>
              </a:lnSpc>
              <a:spcBef>
                <a:spcPts val="275"/>
              </a:spcBef>
              <a:buSzPct val="70000"/>
              <a:buFont typeface="Wingdings"/>
              <a:buChar char=""/>
            </a:pPr>
            <a:r>
              <a:rPr lang="fr-FR" sz="1600" b="1" dirty="0" smtClean="0">
                <a:latin typeface="+mj-lt"/>
              </a:rPr>
              <a:t>Transparence de fragmentation</a:t>
            </a:r>
          </a:p>
          <a:p>
            <a:pPr marR="5077" lvl="1">
              <a:lnSpc>
                <a:spcPts val="3020"/>
              </a:lnSpc>
            </a:pPr>
            <a:r>
              <a:rPr lang="fr-FR" sz="1600" dirty="0" smtClean="0">
                <a:latin typeface="+mj-lt"/>
              </a:rPr>
              <a:t> il n’a pas à connaître comment les données sont fragmentées</a:t>
            </a:r>
          </a:p>
          <a:p>
            <a:pPr marR="5077" lvl="1">
              <a:lnSpc>
                <a:spcPts val="3020"/>
              </a:lnSpc>
            </a:pPr>
            <a:r>
              <a:rPr lang="fr-FR" sz="1600" dirty="0" smtClean="0">
                <a:latin typeface="+mj-lt"/>
              </a:rPr>
              <a:t>Des données (d’une même table)  éparpillées doivent être vues comme un  tout</a:t>
            </a:r>
          </a:p>
          <a:p>
            <a:pPr marL="12695" marR="5077" lvl="1">
              <a:lnSpc>
                <a:spcPts val="3020"/>
              </a:lnSpc>
              <a:spcBef>
                <a:spcPts val="275"/>
              </a:spcBef>
              <a:buSzPct val="70000"/>
              <a:buFont typeface="Wingdings"/>
              <a:buChar char=""/>
            </a:pPr>
            <a:r>
              <a:rPr lang="fr-FR" sz="1600" b="1" dirty="0" smtClean="0">
                <a:latin typeface="+mj-lt"/>
              </a:rPr>
              <a:t>Transparence de réplication</a:t>
            </a:r>
          </a:p>
          <a:p>
            <a:pPr marR="5077" lvl="1">
              <a:lnSpc>
                <a:spcPts val="3020"/>
              </a:lnSpc>
            </a:pPr>
            <a:r>
              <a:rPr lang="fr-FR" sz="1600" dirty="0" smtClean="0">
                <a:latin typeface="+mj-lt"/>
              </a:rPr>
              <a:t>Les données répliquées doivent être  maintenues en cohérence (délai possible)</a:t>
            </a:r>
          </a:p>
          <a:p>
            <a:pPr marR="5077" lvl="1">
              <a:lnSpc>
                <a:spcPts val="3020"/>
              </a:lnSpc>
            </a:pPr>
            <a:r>
              <a:rPr lang="fr-FR" sz="1600" dirty="0" smtClean="0">
                <a:latin typeface="+mj-lt"/>
              </a:rPr>
              <a:t>il n’a pas à savoir comment/si elles sont répliquées</a:t>
            </a:r>
          </a:p>
          <a:p>
            <a:pPr marL="190434">
              <a:spcBef>
                <a:spcPts val="160"/>
              </a:spcBef>
            </a:pPr>
            <a:endParaRPr lang="fr-FR" sz="1600" dirty="0" smtClean="0">
              <a:latin typeface="+mj-lt"/>
              <a:cs typeface="Arial"/>
            </a:endParaRPr>
          </a:p>
          <a:p>
            <a:endParaRPr lang="fr-FR" sz="1600" b="1" dirty="0" smtClean="0">
              <a:latin typeface="+mj-lt"/>
            </a:endParaRPr>
          </a:p>
          <a:p>
            <a:pPr marL="12695">
              <a:spcBef>
                <a:spcPts val="365"/>
              </a:spcBef>
            </a:pPr>
            <a:endParaRPr lang="fr-FR" sz="2000" dirty="0" smtClean="0">
              <a:latin typeface="+mj-lt"/>
              <a:cs typeface="Arial"/>
            </a:endParaRPr>
          </a:p>
          <a:p>
            <a:pPr marL="12695">
              <a:spcBef>
                <a:spcPts val="380"/>
              </a:spcBef>
            </a:pPr>
            <a:endParaRPr lang="fr-FR" sz="1800" dirty="0" smtClean="0">
              <a:latin typeface="+mj-lt"/>
              <a:cs typeface="Arial"/>
            </a:endParaRPr>
          </a:p>
          <a:p>
            <a:endParaRPr lang="fr-FR" sz="1600" dirty="0">
              <a:latin typeface="+mj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2950" y="6282691"/>
            <a:ext cx="167640" cy="166710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 defTabSz="914079">
              <a:spcBef>
                <a:spcPts val="100"/>
              </a:spcBef>
            </a:pPr>
            <a:r>
              <a:rPr sz="1000" dirty="0">
                <a:solidFill>
                  <a:srgbClr val="282828"/>
                </a:solidFill>
                <a:latin typeface="Arial"/>
                <a:cs typeface="Arial"/>
              </a:rPr>
              <a:t>40</a:t>
            </a:r>
            <a:endParaRPr sz="1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543045"/>
            <a:ext cx="7467600" cy="874593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 lvl="0">
              <a:spcBef>
                <a:spcPts val="100"/>
              </a:spcBef>
            </a:pPr>
            <a:r>
              <a:rPr lang="fr-FR" sz="2700" dirty="0" smtClean="0"/>
              <a:t>Principes fondamentaux</a:t>
            </a:r>
            <a:br>
              <a:rPr lang="fr-FR" sz="2700" dirty="0" smtClean="0"/>
            </a:br>
            <a:endParaRPr lang="fr-FR" sz="2700" dirty="0" smtClean="0"/>
          </a:p>
        </p:txBody>
      </p:sp>
      <p:sp>
        <p:nvSpPr>
          <p:cNvPr id="16" name="Espace réservé du contenu 15"/>
          <p:cNvSpPr>
            <a:spLocks noGrp="1"/>
          </p:cNvSpPr>
          <p:nvPr>
            <p:ph sz="quarter" idx="1"/>
          </p:nvPr>
        </p:nvSpPr>
        <p:spPr>
          <a:xfrm>
            <a:off x="683568" y="1600200"/>
            <a:ext cx="7241232" cy="4873752"/>
          </a:xfrm>
        </p:spPr>
        <p:txBody>
          <a:bodyPr/>
          <a:lstStyle/>
          <a:p>
            <a:r>
              <a:rPr lang="fr-FR" sz="1800" b="1" dirty="0" smtClean="0"/>
              <a:t>Requêtes distribuées</a:t>
            </a:r>
          </a:p>
          <a:p>
            <a:pPr marR="5077" lvl="1">
              <a:lnSpc>
                <a:spcPts val="3020"/>
              </a:lnSpc>
            </a:pPr>
            <a:r>
              <a:rPr lang="fr-FR" sz="2000" spc="-5" dirty="0" smtClean="0">
                <a:solidFill>
                  <a:srgbClr val="282828"/>
                </a:solidFill>
                <a:cs typeface="Arial"/>
              </a:rPr>
              <a:t>L’exécution d’une requête peut être répartie  (automatiquement) entre plusieurs sites (si les  données sont réparties)</a:t>
            </a:r>
          </a:p>
          <a:p>
            <a:r>
              <a:rPr lang="fr-FR" sz="1800" b="1" dirty="0" smtClean="0"/>
              <a:t>Transactions réparties</a:t>
            </a:r>
          </a:p>
          <a:p>
            <a:pPr marR="5077" lvl="1">
              <a:lnSpc>
                <a:spcPts val="3020"/>
              </a:lnSpc>
            </a:pPr>
            <a:r>
              <a:rPr lang="fr-FR" sz="2000" spc="-5" dirty="0" smtClean="0">
                <a:solidFill>
                  <a:srgbClr val="282828"/>
                </a:solidFill>
                <a:cs typeface="Arial"/>
              </a:rPr>
              <a:t>Le mécanisme de transactions peut être réparti  entre plusieurs sites</a:t>
            </a:r>
            <a:endParaRPr lang="fr-FR" sz="1600" b="1" spc="-5" dirty="0" smtClean="0">
              <a:solidFill>
                <a:srgbClr val="282828"/>
              </a:solidFill>
              <a:cs typeface="Arial"/>
            </a:endParaRPr>
          </a:p>
          <a:p>
            <a:r>
              <a:rPr lang="fr-FR" sz="1800" b="1" dirty="0" smtClean="0"/>
              <a:t>Indépendance vis-à-vis du matériel</a:t>
            </a:r>
          </a:p>
          <a:p>
            <a:pPr marR="5077" lvl="1">
              <a:lnSpc>
                <a:spcPts val="3020"/>
              </a:lnSpc>
            </a:pPr>
            <a:r>
              <a:rPr lang="fr-FR" sz="2000" spc="-5" dirty="0" smtClean="0">
                <a:solidFill>
                  <a:srgbClr val="282828"/>
                </a:solidFill>
                <a:cs typeface="Arial"/>
              </a:rPr>
              <a:t>Le SGBD fonctionne sur les différentes  plateformes utilisées</a:t>
            </a:r>
          </a:p>
          <a:p>
            <a:pPr marL="12695">
              <a:spcBef>
                <a:spcPts val="690"/>
              </a:spcBef>
            </a:pPr>
            <a:endParaRPr lang="fr-FR" sz="2800" dirty="0" smtClean="0">
              <a:cs typeface="Arial"/>
            </a:endParaRPr>
          </a:p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2950" y="6282691"/>
            <a:ext cx="167640" cy="166710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 defTabSz="914079">
              <a:spcBef>
                <a:spcPts val="100"/>
              </a:spcBef>
            </a:pPr>
            <a:r>
              <a:rPr sz="1000" dirty="0">
                <a:solidFill>
                  <a:srgbClr val="282828"/>
                </a:solidFill>
                <a:latin typeface="Arial"/>
                <a:cs typeface="Arial"/>
              </a:rPr>
              <a:t>41</a:t>
            </a:r>
            <a:endParaRPr sz="1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573822"/>
            <a:ext cx="7467600" cy="843816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</a:pPr>
            <a:r>
              <a:rPr lang="fr-FR" sz="2700" dirty="0" smtClean="0"/>
              <a:t>Principes fondamentaux</a:t>
            </a:r>
            <a:br>
              <a:rPr lang="fr-FR" sz="2700" dirty="0" smtClean="0"/>
            </a:br>
            <a:endParaRPr lang="fr-FR" sz="2700" dirty="0" smtClean="0"/>
          </a:p>
        </p:txBody>
      </p:sp>
      <p:sp>
        <p:nvSpPr>
          <p:cNvPr id="16" name="Espace réservé du contenu 15"/>
          <p:cNvSpPr>
            <a:spLocks noGrp="1"/>
          </p:cNvSpPr>
          <p:nvPr>
            <p:ph sz="quarter" idx="1"/>
          </p:nvPr>
        </p:nvSpPr>
        <p:spPr>
          <a:xfrm>
            <a:off x="467544" y="1600200"/>
            <a:ext cx="7457256" cy="4873752"/>
          </a:xfrm>
        </p:spPr>
        <p:txBody>
          <a:bodyPr/>
          <a:lstStyle/>
          <a:p>
            <a:r>
              <a:rPr lang="fr-FR" sz="1800" b="1" dirty="0" smtClean="0">
                <a:latin typeface="+mj-lt"/>
              </a:rPr>
              <a:t>Indépendance vis-à-vis du SE</a:t>
            </a:r>
          </a:p>
          <a:p>
            <a:pPr marR="5077" lvl="1">
              <a:lnSpc>
                <a:spcPts val="3020"/>
              </a:lnSpc>
            </a:pPr>
            <a:r>
              <a:rPr lang="fr-FR" sz="2000" spc="-5" dirty="0" smtClean="0">
                <a:solidFill>
                  <a:srgbClr val="282828"/>
                </a:solidFill>
                <a:latin typeface="+mj-lt"/>
                <a:cs typeface="Arial"/>
              </a:rPr>
              <a:t>Le SGBD fonctionne sur les différents  SE…</a:t>
            </a:r>
          </a:p>
          <a:p>
            <a:r>
              <a:rPr lang="fr-FR" sz="1800" b="1" dirty="0" smtClean="0">
                <a:latin typeface="+mj-lt"/>
              </a:rPr>
              <a:t>Indépendance vis-à-vis du SGBD</a:t>
            </a:r>
          </a:p>
          <a:p>
            <a:pPr marR="5077" lvl="1">
              <a:lnSpc>
                <a:spcPts val="3020"/>
              </a:lnSpc>
            </a:pPr>
            <a:r>
              <a:rPr lang="fr-FR" sz="2000" spc="-5" dirty="0" smtClean="0">
                <a:solidFill>
                  <a:srgbClr val="282828"/>
                </a:solidFill>
                <a:latin typeface="+mj-lt"/>
                <a:cs typeface="Arial"/>
              </a:rPr>
              <a:t>La base peut être </a:t>
            </a:r>
            <a:r>
              <a:rPr lang="fr-FR" sz="2000" spc="-5" dirty="0" err="1" smtClean="0">
                <a:solidFill>
                  <a:srgbClr val="282828"/>
                </a:solidFill>
                <a:latin typeface="+mj-lt"/>
                <a:cs typeface="Arial"/>
              </a:rPr>
              <a:t>distibuée</a:t>
            </a:r>
            <a:r>
              <a:rPr lang="fr-FR" sz="2000" spc="-5" dirty="0" smtClean="0">
                <a:solidFill>
                  <a:srgbClr val="282828"/>
                </a:solidFill>
                <a:latin typeface="+mj-lt"/>
                <a:cs typeface="Arial"/>
              </a:rPr>
              <a:t> sur des  SGBD hétérogènes (En théorie)…</a:t>
            </a:r>
          </a:p>
          <a:p>
            <a:pPr marL="12695">
              <a:spcBef>
                <a:spcPts val="365"/>
              </a:spcBef>
            </a:pPr>
            <a:endParaRPr lang="fr-FR" sz="2800" dirty="0" smtClean="0">
              <a:latin typeface="+mj-lt"/>
              <a:cs typeface="Arial"/>
            </a:endParaRPr>
          </a:p>
          <a:p>
            <a:endParaRPr lang="fr-FR" dirty="0" smtClean="0">
              <a:latin typeface="+mj-lt"/>
              <a:cs typeface="Arial"/>
            </a:endParaRPr>
          </a:p>
          <a:p>
            <a:endParaRPr lang="fr-FR" dirty="0" smtClean="0">
              <a:latin typeface="+mj-lt"/>
              <a:cs typeface="Arial"/>
            </a:endParaRPr>
          </a:p>
          <a:p>
            <a:endParaRPr lang="fr-FR" dirty="0">
              <a:latin typeface="+mj-lt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Avantages de la répartition des bases de données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Architecture plus adaptée à l’organisation des entreprises décentralisées.</a:t>
            </a:r>
          </a:p>
          <a:p>
            <a:r>
              <a:rPr lang="fr-FR" sz="2000" dirty="0" smtClean="0"/>
              <a:t> Plus de fiabilité : les bases de données réparties ont souvent des données répliquées. </a:t>
            </a:r>
          </a:p>
          <a:p>
            <a:pPr lvl="1"/>
            <a:r>
              <a:rPr lang="fr-FR" sz="1800" dirty="0" smtClean="0"/>
              <a:t>La panne d’un site n’est pas très importante pour l’utilisateur, qui s’adressera à autre site.</a:t>
            </a:r>
          </a:p>
          <a:p>
            <a:r>
              <a:rPr lang="fr-FR" sz="2000" dirty="0" smtClean="0"/>
              <a:t> Meilleures performances : </a:t>
            </a:r>
          </a:p>
          <a:p>
            <a:pPr lvl="1"/>
            <a:r>
              <a:rPr lang="fr-FR" sz="1800" dirty="0" smtClean="0"/>
              <a:t>réduire le trafic sur le réseau est une possibilité d’accroître les performances. </a:t>
            </a:r>
          </a:p>
          <a:p>
            <a:pPr lvl="1"/>
            <a:r>
              <a:rPr lang="fr-FR" sz="1800" dirty="0" smtClean="0"/>
              <a:t>rapprocher les données de l’endroit où elles sont accédées. </a:t>
            </a:r>
          </a:p>
          <a:p>
            <a:r>
              <a:rPr lang="fr-FR" sz="2000" dirty="0" smtClean="0"/>
              <a:t>Répartir la charge sur les processeurs et sur les entrées/ sorties.</a:t>
            </a:r>
          </a:p>
          <a:p>
            <a:r>
              <a:rPr lang="fr-FR" sz="2000" dirty="0" smtClean="0"/>
              <a:t> Faciliter l’accroissement: l’accroissement se fait par l’ajout de machines sur le réseau.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6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7467600" cy="474484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</a:pPr>
            <a:r>
              <a:rPr lang="fr-FR" dirty="0" smtClean="0"/>
              <a:t>Inconvénients</a:t>
            </a:r>
            <a:endParaRPr spc="-5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2900" spc="-5" dirty="0" smtClean="0">
                <a:solidFill>
                  <a:srgbClr val="3366FF"/>
                </a:solidFill>
                <a:latin typeface="+mj-lt"/>
                <a:cs typeface="Arial"/>
              </a:rPr>
              <a:t> Coût : </a:t>
            </a:r>
          </a:p>
          <a:p>
            <a:pPr lvl="1"/>
            <a:r>
              <a:rPr lang="fr-FR" sz="2500" dirty="0" smtClean="0">
                <a:latin typeface="+mj-lt"/>
              </a:rPr>
              <a:t>la distribution entraîne des coûts supplémentaires en terme de communication, et en gestion des communications (hardware et software à installer pour gérer les communications et la distribution).</a:t>
            </a:r>
          </a:p>
          <a:p>
            <a:r>
              <a:rPr lang="fr-FR" sz="2800" dirty="0" smtClean="0">
                <a:latin typeface="+mj-lt"/>
              </a:rPr>
              <a:t> </a:t>
            </a:r>
            <a:r>
              <a:rPr lang="fr-FR" sz="2800" spc="-5" dirty="0" smtClean="0">
                <a:solidFill>
                  <a:srgbClr val="3366FF"/>
                </a:solidFill>
                <a:latin typeface="+mj-lt"/>
                <a:cs typeface="Arial"/>
              </a:rPr>
              <a:t>Sécurité :</a:t>
            </a:r>
          </a:p>
          <a:p>
            <a:pPr lvl="1"/>
            <a:r>
              <a:rPr lang="fr-FR" sz="2500" spc="-5" dirty="0" smtClean="0">
                <a:solidFill>
                  <a:srgbClr val="3366FF"/>
                </a:solidFill>
                <a:latin typeface="+mj-lt"/>
                <a:cs typeface="Arial"/>
              </a:rPr>
              <a:t> </a:t>
            </a:r>
            <a:r>
              <a:rPr lang="fr-FR" sz="2500" dirty="0" smtClean="0">
                <a:latin typeface="+mj-lt"/>
              </a:rPr>
              <a:t>la sécurité est un problème plus complexe dans le cas des bases de données réparties que dans le cas des bases de données centralisées.</a:t>
            </a:r>
          </a:p>
          <a:p>
            <a:pPr marL="12695">
              <a:spcBef>
                <a:spcPts val="765"/>
              </a:spcBef>
            </a:pPr>
            <a:r>
              <a:rPr lang="fr-FR" sz="2800" spc="-5" dirty="0" smtClean="0">
                <a:solidFill>
                  <a:srgbClr val="3366FF"/>
                </a:solidFill>
                <a:latin typeface="+mj-lt"/>
                <a:cs typeface="Arial"/>
              </a:rPr>
              <a:t>Complexité</a:t>
            </a:r>
          </a:p>
          <a:p>
            <a:pPr marL="378327" lvl="1">
              <a:spcBef>
                <a:spcPts val="765"/>
              </a:spcBef>
            </a:pPr>
            <a:r>
              <a:rPr lang="fr-FR" sz="2200" dirty="0" smtClean="0">
                <a:latin typeface="+mj-lt"/>
              </a:rPr>
              <a:t> Rajoute des couches de logiciel</a:t>
            </a:r>
          </a:p>
          <a:p>
            <a:pPr marL="378327" lvl="1">
              <a:spcBef>
                <a:spcPts val="765"/>
              </a:spcBef>
            </a:pPr>
            <a:r>
              <a:rPr lang="fr-FR" sz="2500" dirty="0" smtClean="0">
                <a:latin typeface="+mj-lt"/>
              </a:rPr>
              <a:t> Communication</a:t>
            </a:r>
          </a:p>
          <a:p>
            <a:pPr marL="378327" lvl="1">
              <a:spcBef>
                <a:spcPts val="765"/>
              </a:spcBef>
            </a:pPr>
            <a:r>
              <a:rPr lang="fr-FR" sz="2500" dirty="0" smtClean="0">
                <a:latin typeface="+mj-lt"/>
              </a:rPr>
              <a:t> Distribution du contrôle</a:t>
            </a:r>
          </a:p>
          <a:p>
            <a:pPr marL="378327" lvl="1">
              <a:spcBef>
                <a:spcPts val="765"/>
              </a:spcBef>
            </a:pPr>
            <a:r>
              <a:rPr lang="fr-FR" sz="2500" dirty="0" smtClean="0">
                <a:latin typeface="+mj-lt"/>
              </a:rPr>
              <a:t>Conception de la base de données</a:t>
            </a:r>
          </a:p>
          <a:p>
            <a:pPr marL="12695">
              <a:spcBef>
                <a:spcPts val="765"/>
              </a:spcBef>
            </a:pPr>
            <a:r>
              <a:rPr lang="fr-FR" sz="2800" spc="-5" dirty="0" smtClean="0">
                <a:solidFill>
                  <a:srgbClr val="3366FF"/>
                </a:solidFill>
                <a:latin typeface="+mj-lt"/>
                <a:cs typeface="Arial"/>
              </a:rPr>
              <a:t>Incohérence</a:t>
            </a:r>
          </a:p>
          <a:p>
            <a:pPr marL="378327" lvl="1">
              <a:spcBef>
                <a:spcPts val="765"/>
              </a:spcBef>
            </a:pPr>
            <a:r>
              <a:rPr lang="fr-FR" sz="2200" dirty="0" smtClean="0">
                <a:latin typeface="+mj-lt"/>
              </a:rPr>
              <a:t> Gestion des contraintes d’intégrité et de cohérence</a:t>
            </a:r>
          </a:p>
          <a:p>
            <a:pPr marL="190434">
              <a:spcBef>
                <a:spcPts val="640"/>
              </a:spcBef>
            </a:pPr>
            <a:endParaRPr lang="fr-FR" dirty="0" smtClean="0">
              <a:solidFill>
                <a:prstClr val="black"/>
              </a:solidFill>
              <a:latin typeface="+mj-lt"/>
              <a:cs typeface="Arial"/>
            </a:endParaRPr>
          </a:p>
          <a:p>
            <a:endParaRPr lang="fr-FR" dirty="0">
              <a:latin typeface="+mj-l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fld id="{81D60167-4931-47E6-BA6A-407CBD079E47}" type="slidenum">
              <a:rPr dirty="0"/>
              <a:pPr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7544" y="493173"/>
            <a:ext cx="6008370" cy="474484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>
              <a:spcBef>
                <a:spcPts val="100"/>
              </a:spcBef>
              <a:tabLst>
                <a:tab pos="4270780" algn="l"/>
              </a:tabLst>
            </a:pPr>
            <a:r>
              <a:rPr lang="fr-FR" dirty="0" smtClean="0"/>
              <a:t>Conception de BD réparties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7547" y="1268760"/>
            <a:ext cx="8136901" cy="7005740"/>
          </a:xfrm>
          <a:prstGeom prst="rect">
            <a:avLst/>
          </a:prstGeom>
        </p:spPr>
        <p:txBody>
          <a:bodyPr vert="horz" wrap="square" lIns="0" tIns="67286" rIns="0" bIns="0" rtlCol="0">
            <a:spAutoFit/>
          </a:bodyPr>
          <a:lstStyle/>
          <a:p>
            <a:pPr marL="12695" marR="5077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sz="2400" dirty="0">
                <a:solidFill>
                  <a:srgbClr val="282828"/>
                </a:solidFill>
                <a:latin typeface="+mj-lt"/>
                <a:cs typeface="Arial"/>
              </a:rPr>
              <a:t>On ne met en place une BD </a:t>
            </a:r>
            <a:r>
              <a:rPr sz="2400" spc="-5" dirty="0">
                <a:solidFill>
                  <a:srgbClr val="282828"/>
                </a:solidFill>
                <a:latin typeface="+mj-lt"/>
                <a:cs typeface="Arial"/>
              </a:rPr>
              <a:t>répartie  </a:t>
            </a:r>
            <a:r>
              <a:rPr sz="2400" dirty="0">
                <a:solidFill>
                  <a:srgbClr val="282828"/>
                </a:solidFill>
                <a:latin typeface="+mj-lt"/>
                <a:cs typeface="Arial"/>
              </a:rPr>
              <a:t>qu’en cas </a:t>
            </a:r>
            <a:r>
              <a:rPr sz="2400" spc="-5" dirty="0">
                <a:solidFill>
                  <a:srgbClr val="282828"/>
                </a:solidFill>
                <a:latin typeface="+mj-lt"/>
                <a:cs typeface="Arial"/>
              </a:rPr>
              <a:t>de </a:t>
            </a:r>
            <a:r>
              <a:rPr sz="2400" dirty="0" err="1">
                <a:solidFill>
                  <a:srgbClr val="282828"/>
                </a:solidFill>
                <a:latin typeface="+mj-lt"/>
                <a:cs typeface="Arial"/>
              </a:rPr>
              <a:t>réel</a:t>
            </a:r>
            <a:r>
              <a:rPr sz="2400" dirty="0">
                <a:solidFill>
                  <a:srgbClr val="282828"/>
                </a:solidFill>
                <a:latin typeface="+mj-lt"/>
                <a:cs typeface="Arial"/>
              </a:rPr>
              <a:t> </a:t>
            </a:r>
            <a:r>
              <a:rPr sz="2400" dirty="0" err="1">
                <a:solidFill>
                  <a:srgbClr val="282828"/>
                </a:solidFill>
                <a:latin typeface="+mj-lt"/>
                <a:cs typeface="Arial"/>
              </a:rPr>
              <a:t>besoin</a:t>
            </a:r>
            <a:endParaRPr lang="fr-FR" sz="2400" dirty="0">
              <a:solidFill>
                <a:srgbClr val="282828"/>
              </a:solidFill>
              <a:latin typeface="+mj-lt"/>
              <a:cs typeface="Arial"/>
            </a:endParaRPr>
          </a:p>
          <a:p>
            <a:pPr marL="469734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000" spc="-5" dirty="0">
                <a:solidFill>
                  <a:prstClr val="black"/>
                </a:solidFill>
                <a:latin typeface="+mj-lt"/>
              </a:rPr>
              <a:t>Démarche </a:t>
            </a:r>
            <a:r>
              <a:rPr lang="fr-FR" sz="2000" dirty="0">
                <a:solidFill>
                  <a:prstClr val="black"/>
                </a:solidFill>
                <a:latin typeface="+mj-lt"/>
              </a:rPr>
              <a:t>de conception délicate  </a:t>
            </a:r>
          </a:p>
          <a:p>
            <a:pPr marL="469734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000" dirty="0">
                <a:solidFill>
                  <a:prstClr val="black"/>
                </a:solidFill>
                <a:latin typeface="+mj-lt"/>
              </a:rPr>
              <a:t>Gestion complexe</a:t>
            </a:r>
          </a:p>
          <a:p>
            <a:pPr marL="469734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000" dirty="0">
                <a:solidFill>
                  <a:prstClr val="black"/>
                </a:solidFill>
                <a:latin typeface="+mj-lt"/>
              </a:rPr>
              <a:t>L’évolution du </a:t>
            </a:r>
            <a:r>
              <a:rPr lang="fr-FR" sz="2000" spc="-5" dirty="0">
                <a:solidFill>
                  <a:prstClr val="black"/>
                </a:solidFill>
                <a:latin typeface="+mj-lt"/>
              </a:rPr>
              <a:t>SI </a:t>
            </a:r>
            <a:r>
              <a:rPr lang="fr-FR" sz="2000" dirty="0">
                <a:solidFill>
                  <a:prstClr val="black"/>
                </a:solidFill>
                <a:latin typeface="+mj-lt"/>
              </a:rPr>
              <a:t>peut invalider </a:t>
            </a:r>
            <a:r>
              <a:rPr lang="fr-FR" sz="2000" spc="-5" dirty="0">
                <a:solidFill>
                  <a:prstClr val="black"/>
                </a:solidFill>
                <a:latin typeface="+mj-lt"/>
              </a:rPr>
              <a:t>la </a:t>
            </a:r>
            <a:r>
              <a:rPr lang="fr-FR" sz="2000" dirty="0">
                <a:solidFill>
                  <a:prstClr val="black"/>
                </a:solidFill>
                <a:latin typeface="+mj-lt"/>
              </a:rPr>
              <a:t>solution  retenue…</a:t>
            </a:r>
          </a:p>
          <a:p>
            <a:pPr marL="12695" marR="5077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400" dirty="0">
                <a:solidFill>
                  <a:srgbClr val="282828"/>
                </a:solidFill>
                <a:latin typeface="+mj-lt"/>
                <a:cs typeface="Arial"/>
              </a:rPr>
              <a:t>Des raisons valables :</a:t>
            </a:r>
          </a:p>
          <a:p>
            <a:pPr marL="469734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000" spc="-5" dirty="0">
                <a:solidFill>
                  <a:srgbClr val="282828"/>
                </a:solidFill>
                <a:latin typeface="+mj-lt"/>
                <a:cs typeface="Arial"/>
              </a:rPr>
              <a:t>Volumes </a:t>
            </a:r>
            <a:r>
              <a:rPr lang="fr-FR" sz="2000" dirty="0">
                <a:solidFill>
                  <a:srgbClr val="282828"/>
                </a:solidFill>
                <a:latin typeface="+mj-lt"/>
                <a:cs typeface="Arial"/>
              </a:rPr>
              <a:t>de données, </a:t>
            </a:r>
          </a:p>
          <a:p>
            <a:pPr marL="469734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000" dirty="0">
                <a:solidFill>
                  <a:srgbClr val="282828"/>
                </a:solidFill>
                <a:latin typeface="+mj-lt"/>
                <a:cs typeface="Arial"/>
              </a:rPr>
              <a:t>sites distants, etc. </a:t>
            </a:r>
          </a:p>
          <a:p>
            <a:pPr marL="469734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sz="2000" dirty="0">
                <a:solidFill>
                  <a:srgbClr val="282828"/>
                </a:solidFill>
                <a:latin typeface="+mj-lt"/>
                <a:cs typeface="Arial"/>
              </a:rPr>
              <a:t> Fusions de </a:t>
            </a:r>
            <a:r>
              <a:rPr lang="fr-FR" sz="2000" spc="-5" dirty="0">
                <a:solidFill>
                  <a:srgbClr val="282828"/>
                </a:solidFill>
                <a:latin typeface="+mj-lt"/>
                <a:cs typeface="Arial"/>
              </a:rPr>
              <a:t>SI</a:t>
            </a:r>
          </a:p>
          <a:p>
            <a:pPr marL="1412379" marR="5077" defTabSz="914079">
              <a:lnSpc>
                <a:spcPts val="3020"/>
              </a:lnSpc>
              <a:spcBef>
                <a:spcPts val="745"/>
              </a:spcBef>
            </a:pPr>
            <a:endParaRPr lang="fr-FR" sz="2000" dirty="0">
              <a:solidFill>
                <a:prstClr val="black"/>
              </a:solidFill>
              <a:latin typeface="+mj-lt"/>
              <a:cs typeface="Arial"/>
            </a:endParaRPr>
          </a:p>
          <a:p>
            <a:pPr marL="1412379" marR="5077" defTabSz="914079">
              <a:lnSpc>
                <a:spcPts val="3020"/>
              </a:lnSpc>
              <a:spcBef>
                <a:spcPts val="745"/>
              </a:spcBef>
            </a:pPr>
            <a:endParaRPr lang="fr-FR" sz="2000" dirty="0">
              <a:solidFill>
                <a:prstClr val="black"/>
              </a:solidFill>
              <a:latin typeface="+mj-lt"/>
            </a:endParaRPr>
          </a:p>
          <a:p>
            <a:pPr marL="1412379" marR="5077" defTabSz="914079">
              <a:lnSpc>
                <a:spcPts val="3020"/>
              </a:lnSpc>
              <a:spcBef>
                <a:spcPts val="745"/>
              </a:spcBef>
            </a:pPr>
            <a:endParaRPr lang="fr-FR" sz="2000" dirty="0">
              <a:solidFill>
                <a:prstClr val="black"/>
              </a:solidFill>
              <a:latin typeface="+mj-lt"/>
            </a:endParaRPr>
          </a:p>
          <a:p>
            <a:pPr marL="469735" marR="5077" lvl="1" defTabSz="914079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endParaRPr lang="fr-FR" sz="2400" dirty="0">
              <a:solidFill>
                <a:srgbClr val="282828"/>
              </a:solidFill>
              <a:latin typeface="+mj-lt"/>
              <a:cs typeface="Arial"/>
            </a:endParaRPr>
          </a:p>
          <a:p>
            <a:pPr marL="12695" marR="5077" defTabSz="914079">
              <a:lnSpc>
                <a:spcPts val="3459"/>
              </a:lnSpc>
              <a:spcBef>
                <a:spcPts val="530"/>
              </a:spcBef>
            </a:pPr>
            <a:endParaRPr sz="2400" dirty="0">
              <a:solidFill>
                <a:prstClr val="black"/>
              </a:solidFill>
              <a:latin typeface="+mj-lt"/>
              <a:cs typeface="Arial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467600" cy="850106"/>
          </a:xfrm>
        </p:spPr>
        <p:txBody>
          <a:bodyPr>
            <a:normAutofit/>
          </a:bodyPr>
          <a:lstStyle/>
          <a:p>
            <a:r>
              <a:rPr lang="fr-FR" dirty="0" smtClean="0"/>
              <a:t>Conception de BD répartie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69734" marR="5077" lvl="1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endParaRPr lang="fr-FR" sz="2000" spc="-5" dirty="0" smtClean="0">
              <a:solidFill>
                <a:srgbClr val="282828"/>
              </a:solidFill>
              <a:latin typeface="+mj-lt"/>
              <a:cs typeface="Arial"/>
            </a:endParaRPr>
          </a:p>
          <a:p>
            <a:pPr marL="12695" marR="5077">
              <a:lnSpc>
                <a:spcPts val="3459"/>
              </a:lnSpc>
              <a:spcBef>
                <a:spcPts val="530"/>
              </a:spcBef>
              <a:buFont typeface="Courier New" pitchFamily="49" charset="0"/>
              <a:buChar char="o"/>
            </a:pPr>
            <a:r>
              <a:rPr lang="fr-FR" dirty="0" smtClean="0">
                <a:solidFill>
                  <a:srgbClr val="282828"/>
                </a:solidFill>
                <a:latin typeface="+mj-lt"/>
                <a:cs typeface="Arial"/>
              </a:rPr>
              <a:t>Décision à prendre  en fonction de critères techniques et organisationnels :</a:t>
            </a:r>
          </a:p>
          <a:p>
            <a:pPr marL="1412379" marR="5077">
              <a:lnSpc>
                <a:spcPts val="3020"/>
              </a:lnSpc>
              <a:spcBef>
                <a:spcPts val="745"/>
              </a:spcBef>
              <a:buFontTx/>
              <a:buChar char="-"/>
            </a:pPr>
            <a:r>
              <a:rPr lang="fr-FR" sz="2000" dirty="0" smtClean="0">
                <a:latin typeface="+mj-lt"/>
              </a:rPr>
              <a:t>minimiser le nombre de transferts entre sites, </a:t>
            </a:r>
          </a:p>
          <a:p>
            <a:pPr marL="1412379" marR="5077">
              <a:lnSpc>
                <a:spcPts val="3020"/>
              </a:lnSpc>
              <a:spcBef>
                <a:spcPts val="745"/>
              </a:spcBef>
              <a:buFontTx/>
              <a:buChar char="-"/>
            </a:pPr>
            <a:r>
              <a:rPr lang="fr-FR" sz="2000" dirty="0" smtClean="0">
                <a:latin typeface="+mj-lt"/>
              </a:rPr>
              <a:t>Minimiser les temps de transfert, </a:t>
            </a:r>
          </a:p>
          <a:p>
            <a:pPr marL="1412379" marR="5077">
              <a:lnSpc>
                <a:spcPts val="3020"/>
              </a:lnSpc>
              <a:spcBef>
                <a:spcPts val="745"/>
              </a:spcBef>
              <a:buFontTx/>
              <a:buChar char="-"/>
            </a:pPr>
            <a:r>
              <a:rPr lang="fr-FR" sz="2000" dirty="0" smtClean="0">
                <a:latin typeface="+mj-lt"/>
              </a:rPr>
              <a:t>Minimiser le volume de données transférées,</a:t>
            </a:r>
          </a:p>
          <a:p>
            <a:endParaRPr lang="fr-FR" dirty="0">
              <a:latin typeface="+mj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7467600" cy="1143000"/>
          </a:xfrm>
        </p:spPr>
        <p:txBody>
          <a:bodyPr/>
          <a:lstStyle/>
          <a:p>
            <a:r>
              <a:rPr lang="fr-FR" dirty="0" smtClean="0"/>
              <a:t>Conception de BD répartie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 smtClean="0"/>
              <a:t>Schéma local</a:t>
            </a:r>
          </a:p>
          <a:p>
            <a:r>
              <a:rPr lang="fr-FR" dirty="0" smtClean="0"/>
              <a:t>Une base de données locale comporte un schéma géré par le SGBD local.</a:t>
            </a:r>
          </a:p>
          <a:p>
            <a:r>
              <a:rPr lang="fr-FR" dirty="0" smtClean="0"/>
              <a:t>Lors de la constitution d‘une base de données repartie, chaque base locale rend visible une partie de la base aux sites clients.</a:t>
            </a:r>
          </a:p>
          <a:p>
            <a:r>
              <a:rPr lang="fr-FR" b="1" dirty="0" smtClean="0"/>
              <a:t>Schéma global</a:t>
            </a:r>
          </a:p>
          <a:p>
            <a:r>
              <a:rPr lang="fr-FR" dirty="0" smtClean="0"/>
              <a:t>Comme toute base de données, une base de données repartie possède un schéma appelé schéma global qui permet de définir l'ensemble des types de  données de la base. </a:t>
            </a:r>
          </a:p>
          <a:p>
            <a:r>
              <a:rPr lang="fr-FR" dirty="0" smtClean="0"/>
              <a:t>Le schéma global ignore les concepts d'implémentation. </a:t>
            </a:r>
          </a:p>
          <a:p>
            <a:pPr lvl="1"/>
            <a:r>
              <a:rPr lang="fr-FR" dirty="0" smtClean="0"/>
              <a:t>il est souvent appelé schéma conceptuel. </a:t>
            </a:r>
          </a:p>
          <a:p>
            <a:r>
              <a:rPr lang="fr-FR" dirty="0" smtClean="0"/>
              <a:t>Dans une base de données repartie, le schéma global n'est pas forcement matérialisé. </a:t>
            </a:r>
          </a:p>
          <a:p>
            <a:r>
              <a:rPr lang="fr-FR" dirty="0" smtClean="0"/>
              <a:t>Chaque base locale en implémente une partie. Ces parties locales sont les seules matérialisées sur les disques.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Conception d’une base de données</a:t>
            </a:r>
            <a:br>
              <a:rPr lang="fr-FR" dirty="0" smtClean="0"/>
            </a:br>
            <a:r>
              <a:rPr lang="fr-FR" dirty="0" smtClean="0"/>
              <a:t>répartie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435280" cy="4873752"/>
          </a:xfrm>
        </p:spPr>
        <p:txBody>
          <a:bodyPr>
            <a:normAutofit/>
          </a:bodyPr>
          <a:lstStyle/>
          <a:p>
            <a:r>
              <a:rPr lang="fr-FR" b="1" dirty="0" smtClean="0"/>
              <a:t>Méthode de conception </a:t>
            </a:r>
          </a:p>
          <a:p>
            <a:r>
              <a:rPr lang="fr-FR" dirty="0" smtClean="0"/>
              <a:t>Il existe deux approches pour la conception d’une base de données repartie selon la relation schéma global, schéma local. : </a:t>
            </a:r>
          </a:p>
          <a:p>
            <a:pPr lvl="1"/>
            <a:r>
              <a:rPr lang="fr-FR" b="1" dirty="0" smtClean="0"/>
              <a:t>Conception ascendante (</a:t>
            </a:r>
            <a:r>
              <a:rPr lang="fr-FR" b="1" i="1" dirty="0" err="1" smtClean="0"/>
              <a:t>bottom</a:t>
            </a:r>
            <a:r>
              <a:rPr lang="fr-FR" b="1" i="1" dirty="0" smtClean="0"/>
              <a:t> up design)</a:t>
            </a:r>
          </a:p>
          <a:p>
            <a:pPr lvl="1"/>
            <a:endParaRPr lang="fr-FR" dirty="0" smtClean="0"/>
          </a:p>
          <a:p>
            <a:pPr lvl="1"/>
            <a:r>
              <a:rPr lang="fr-FR" b="1" dirty="0" smtClean="0"/>
              <a:t>Conception descendante (</a:t>
            </a:r>
            <a:r>
              <a:rPr lang="fr-FR" b="1" i="1" dirty="0" smtClean="0"/>
              <a:t>top down design)</a:t>
            </a:r>
          </a:p>
          <a:p>
            <a:pPr lvl="1">
              <a:buNone/>
            </a:pPr>
            <a:endParaRPr lang="fr-FR" b="1" i="1" dirty="0" smtClean="0"/>
          </a:p>
          <a:p>
            <a:pPr lvl="1"/>
            <a:endParaRPr lang="fr-FR" b="1" i="1" dirty="0" smtClean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Conception d’une base de données</a:t>
            </a:r>
            <a:br>
              <a:rPr lang="fr-FR" dirty="0" smtClean="0"/>
            </a:br>
            <a:r>
              <a:rPr lang="fr-FR" dirty="0" smtClean="0"/>
              <a:t>répartie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3196952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 smtClean="0"/>
              <a:t>Conception (Approche) ascendante : (</a:t>
            </a:r>
            <a:r>
              <a:rPr lang="fr-FR" b="1" dirty="0" err="1" smtClean="0"/>
              <a:t>Bottom</a:t>
            </a:r>
            <a:r>
              <a:rPr lang="fr-FR" b="1" dirty="0" smtClean="0"/>
              <a:t> up design)</a:t>
            </a:r>
          </a:p>
          <a:p>
            <a:pPr>
              <a:buNone/>
            </a:pPr>
            <a:r>
              <a:rPr lang="fr-FR" b="1" dirty="0" smtClean="0"/>
              <a:t> </a:t>
            </a:r>
          </a:p>
          <a:p>
            <a:r>
              <a:rPr lang="fr-FR" dirty="0" smtClean="0"/>
              <a:t>on part de l’existant (Distribution </a:t>
            </a:r>
            <a:r>
              <a:rPr lang="fr-FR" dirty="0" err="1" smtClean="0"/>
              <a:t>pré-existante</a:t>
            </a:r>
            <a:r>
              <a:rPr lang="fr-FR" dirty="0" smtClean="0"/>
              <a:t>). </a:t>
            </a:r>
          </a:p>
          <a:p>
            <a:endParaRPr lang="fr-FR" dirty="0" smtClean="0"/>
          </a:p>
          <a:p>
            <a:r>
              <a:rPr lang="fr-FR" dirty="0" smtClean="0"/>
              <a:t>L’objectif principal est d’intégrer les bases locales dans schéma global. </a:t>
            </a:r>
          </a:p>
          <a:p>
            <a:r>
              <a:rPr lang="fr-FR" dirty="0" smtClean="0"/>
              <a:t>Elle nécessite une consolidation, uniformisation :</a:t>
            </a:r>
          </a:p>
          <a:p>
            <a:pPr lvl="1"/>
            <a:r>
              <a:rPr lang="fr-FR" sz="2400" b="1" dirty="0" smtClean="0"/>
              <a:t>1 Réconciliation sémantique </a:t>
            </a:r>
          </a:p>
          <a:p>
            <a:pPr lvl="1"/>
            <a:r>
              <a:rPr lang="fr-FR" sz="2400" b="1" dirty="0" smtClean="0"/>
              <a:t>2 Identifier les données semblables </a:t>
            </a:r>
          </a:p>
          <a:p>
            <a:pPr lvl="1"/>
            <a:r>
              <a:rPr lang="fr-FR" sz="2400" b="1" dirty="0" smtClean="0"/>
              <a:t>3 Accorder leurs types, gérer leur cohérence… </a:t>
            </a:r>
          </a:p>
          <a:p>
            <a:pPr lvl="1"/>
            <a:r>
              <a:rPr lang="fr-FR" sz="2400" b="1" dirty="0" smtClean="0"/>
              <a:t>4 Interfacer ou adapter les SGBD… </a:t>
            </a:r>
          </a:p>
          <a:p>
            <a:endParaRPr lang="fr-FR" dirty="0"/>
          </a:p>
        </p:txBody>
      </p:sp>
      <p:grpSp>
        <p:nvGrpSpPr>
          <p:cNvPr id="4" name="Groupe 3"/>
          <p:cNvGrpSpPr/>
          <p:nvPr/>
        </p:nvGrpSpPr>
        <p:grpSpPr>
          <a:xfrm>
            <a:off x="4788024" y="4509120"/>
            <a:ext cx="3026410" cy="1943100"/>
            <a:chOff x="5651500" y="1772920"/>
            <a:chExt cx="3026410" cy="1943100"/>
          </a:xfrm>
        </p:grpSpPr>
        <p:sp>
          <p:nvSpPr>
            <p:cNvPr id="5" name="object 15"/>
            <p:cNvSpPr/>
            <p:nvPr/>
          </p:nvSpPr>
          <p:spPr>
            <a:xfrm>
              <a:off x="6516369" y="1772920"/>
              <a:ext cx="1800860" cy="792480"/>
            </a:xfrm>
            <a:custGeom>
              <a:avLst/>
              <a:gdLst/>
              <a:ahLst/>
              <a:cxnLst/>
              <a:rect l="l" t="t" r="r" b="b"/>
              <a:pathLst>
                <a:path w="1800859" h="792480">
                  <a:moveTo>
                    <a:pt x="900429" y="0"/>
                  </a:moveTo>
                  <a:lnTo>
                    <a:pt x="836059" y="997"/>
                  </a:lnTo>
                  <a:lnTo>
                    <a:pt x="772921" y="3943"/>
                  </a:lnTo>
                  <a:lnTo>
                    <a:pt x="711166" y="8770"/>
                  </a:lnTo>
                  <a:lnTo>
                    <a:pt x="650946" y="15411"/>
                  </a:lnTo>
                  <a:lnTo>
                    <a:pt x="592413" y="23798"/>
                  </a:lnTo>
                  <a:lnTo>
                    <a:pt x="535718" y="33864"/>
                  </a:lnTo>
                  <a:lnTo>
                    <a:pt x="481012" y="45540"/>
                  </a:lnTo>
                  <a:lnTo>
                    <a:pt x="428448" y="58760"/>
                  </a:lnTo>
                  <a:lnTo>
                    <a:pt x="378177" y="73455"/>
                  </a:lnTo>
                  <a:lnTo>
                    <a:pt x="330350" y="89558"/>
                  </a:lnTo>
                  <a:lnTo>
                    <a:pt x="285119" y="107001"/>
                  </a:lnTo>
                  <a:lnTo>
                    <a:pt x="242636" y="125717"/>
                  </a:lnTo>
                  <a:lnTo>
                    <a:pt x="203051" y="145638"/>
                  </a:lnTo>
                  <a:lnTo>
                    <a:pt x="166518" y="166696"/>
                  </a:lnTo>
                  <a:lnTo>
                    <a:pt x="133186" y="188824"/>
                  </a:lnTo>
                  <a:lnTo>
                    <a:pt x="76736" y="236018"/>
                  </a:lnTo>
                  <a:lnTo>
                    <a:pt x="34913" y="286680"/>
                  </a:lnTo>
                  <a:lnTo>
                    <a:pt x="8930" y="340267"/>
                  </a:lnTo>
                  <a:lnTo>
                    <a:pt x="0" y="396239"/>
                  </a:lnTo>
                  <a:lnTo>
                    <a:pt x="2257" y="424641"/>
                  </a:lnTo>
                  <a:lnTo>
                    <a:pt x="19866" y="479713"/>
                  </a:lnTo>
                  <a:lnTo>
                    <a:pt x="53920" y="532037"/>
                  </a:lnTo>
                  <a:lnTo>
                    <a:pt x="103208" y="581086"/>
                  </a:lnTo>
                  <a:lnTo>
                    <a:pt x="166518" y="626335"/>
                  </a:lnTo>
                  <a:lnTo>
                    <a:pt x="203051" y="647370"/>
                  </a:lnTo>
                  <a:lnTo>
                    <a:pt x="242636" y="667258"/>
                  </a:lnTo>
                  <a:lnTo>
                    <a:pt x="285119" y="685932"/>
                  </a:lnTo>
                  <a:lnTo>
                    <a:pt x="330350" y="703328"/>
                  </a:lnTo>
                  <a:lnTo>
                    <a:pt x="378177" y="719379"/>
                  </a:lnTo>
                  <a:lnTo>
                    <a:pt x="428448" y="734020"/>
                  </a:lnTo>
                  <a:lnTo>
                    <a:pt x="481012" y="747184"/>
                  </a:lnTo>
                  <a:lnTo>
                    <a:pt x="535718" y="758807"/>
                  </a:lnTo>
                  <a:lnTo>
                    <a:pt x="592413" y="768822"/>
                  </a:lnTo>
                  <a:lnTo>
                    <a:pt x="650946" y="777163"/>
                  </a:lnTo>
                  <a:lnTo>
                    <a:pt x="711166" y="783765"/>
                  </a:lnTo>
                  <a:lnTo>
                    <a:pt x="772921" y="788563"/>
                  </a:lnTo>
                  <a:lnTo>
                    <a:pt x="836059" y="791489"/>
                  </a:lnTo>
                  <a:lnTo>
                    <a:pt x="900429" y="792479"/>
                  </a:lnTo>
                  <a:lnTo>
                    <a:pt x="964648" y="791489"/>
                  </a:lnTo>
                  <a:lnTo>
                    <a:pt x="1027662" y="788563"/>
                  </a:lnTo>
                  <a:lnTo>
                    <a:pt x="1089317" y="783765"/>
                  </a:lnTo>
                  <a:lnTo>
                    <a:pt x="1149461" y="777163"/>
                  </a:lnTo>
                  <a:lnTo>
                    <a:pt x="1207939" y="768822"/>
                  </a:lnTo>
                  <a:lnTo>
                    <a:pt x="1264598" y="758807"/>
                  </a:lnTo>
                  <a:lnTo>
                    <a:pt x="1319285" y="747184"/>
                  </a:lnTo>
                  <a:lnTo>
                    <a:pt x="1371847" y="734020"/>
                  </a:lnTo>
                  <a:lnTo>
                    <a:pt x="1422130" y="719379"/>
                  </a:lnTo>
                  <a:lnTo>
                    <a:pt x="1469980" y="703328"/>
                  </a:lnTo>
                  <a:lnTo>
                    <a:pt x="1515244" y="685932"/>
                  </a:lnTo>
                  <a:lnTo>
                    <a:pt x="1557769" y="667258"/>
                  </a:lnTo>
                  <a:lnTo>
                    <a:pt x="1597401" y="647370"/>
                  </a:lnTo>
                  <a:lnTo>
                    <a:pt x="1633986" y="626335"/>
                  </a:lnTo>
                  <a:lnTo>
                    <a:pt x="1667372" y="604218"/>
                  </a:lnTo>
                  <a:lnTo>
                    <a:pt x="1723932" y="557004"/>
                  </a:lnTo>
                  <a:lnTo>
                    <a:pt x="1765851" y="506251"/>
                  </a:lnTo>
                  <a:lnTo>
                    <a:pt x="1791903" y="452488"/>
                  </a:lnTo>
                  <a:lnTo>
                    <a:pt x="1800859" y="396239"/>
                  </a:lnTo>
                  <a:lnTo>
                    <a:pt x="1798595" y="367989"/>
                  </a:lnTo>
                  <a:lnTo>
                    <a:pt x="1780937" y="313142"/>
                  </a:lnTo>
                  <a:lnTo>
                    <a:pt x="1746798" y="260950"/>
                  </a:lnTo>
                  <a:lnTo>
                    <a:pt x="1697405" y="211954"/>
                  </a:lnTo>
                  <a:lnTo>
                    <a:pt x="1633986" y="166696"/>
                  </a:lnTo>
                  <a:lnTo>
                    <a:pt x="1597401" y="145638"/>
                  </a:lnTo>
                  <a:lnTo>
                    <a:pt x="1557769" y="125717"/>
                  </a:lnTo>
                  <a:lnTo>
                    <a:pt x="1515244" y="107001"/>
                  </a:lnTo>
                  <a:lnTo>
                    <a:pt x="1469980" y="89558"/>
                  </a:lnTo>
                  <a:lnTo>
                    <a:pt x="1422130" y="73455"/>
                  </a:lnTo>
                  <a:lnTo>
                    <a:pt x="1371847" y="58760"/>
                  </a:lnTo>
                  <a:lnTo>
                    <a:pt x="1319285" y="45540"/>
                  </a:lnTo>
                  <a:lnTo>
                    <a:pt x="1264598" y="33864"/>
                  </a:lnTo>
                  <a:lnTo>
                    <a:pt x="1207939" y="23798"/>
                  </a:lnTo>
                  <a:lnTo>
                    <a:pt x="1149461" y="15411"/>
                  </a:lnTo>
                  <a:lnTo>
                    <a:pt x="1089317" y="8770"/>
                  </a:lnTo>
                  <a:lnTo>
                    <a:pt x="1027662" y="3943"/>
                  </a:lnTo>
                  <a:lnTo>
                    <a:pt x="964648" y="997"/>
                  </a:lnTo>
                  <a:lnTo>
                    <a:pt x="90042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16"/>
            <p:cNvSpPr/>
            <p:nvPr/>
          </p:nvSpPr>
          <p:spPr>
            <a:xfrm>
              <a:off x="6516369" y="1772920"/>
              <a:ext cx="1800860" cy="792480"/>
            </a:xfrm>
            <a:custGeom>
              <a:avLst/>
              <a:gdLst/>
              <a:ahLst/>
              <a:cxnLst/>
              <a:rect l="l" t="t" r="r" b="b"/>
              <a:pathLst>
                <a:path w="1800859" h="792480">
                  <a:moveTo>
                    <a:pt x="900429" y="792479"/>
                  </a:moveTo>
                  <a:lnTo>
                    <a:pt x="836059" y="791489"/>
                  </a:lnTo>
                  <a:lnTo>
                    <a:pt x="772921" y="788563"/>
                  </a:lnTo>
                  <a:lnTo>
                    <a:pt x="711166" y="783765"/>
                  </a:lnTo>
                  <a:lnTo>
                    <a:pt x="650946" y="777163"/>
                  </a:lnTo>
                  <a:lnTo>
                    <a:pt x="592413" y="768822"/>
                  </a:lnTo>
                  <a:lnTo>
                    <a:pt x="535718" y="758807"/>
                  </a:lnTo>
                  <a:lnTo>
                    <a:pt x="481012" y="747184"/>
                  </a:lnTo>
                  <a:lnTo>
                    <a:pt x="428448" y="734020"/>
                  </a:lnTo>
                  <a:lnTo>
                    <a:pt x="378177" y="719379"/>
                  </a:lnTo>
                  <a:lnTo>
                    <a:pt x="330350" y="703328"/>
                  </a:lnTo>
                  <a:lnTo>
                    <a:pt x="285119" y="685932"/>
                  </a:lnTo>
                  <a:lnTo>
                    <a:pt x="242636" y="667258"/>
                  </a:lnTo>
                  <a:lnTo>
                    <a:pt x="203051" y="647370"/>
                  </a:lnTo>
                  <a:lnTo>
                    <a:pt x="166518" y="626335"/>
                  </a:lnTo>
                  <a:lnTo>
                    <a:pt x="133186" y="604218"/>
                  </a:lnTo>
                  <a:lnTo>
                    <a:pt x="76736" y="557004"/>
                  </a:lnTo>
                  <a:lnTo>
                    <a:pt x="34913" y="506251"/>
                  </a:lnTo>
                  <a:lnTo>
                    <a:pt x="8930" y="452488"/>
                  </a:lnTo>
                  <a:lnTo>
                    <a:pt x="0" y="396239"/>
                  </a:lnTo>
                  <a:lnTo>
                    <a:pt x="2257" y="367989"/>
                  </a:lnTo>
                  <a:lnTo>
                    <a:pt x="19866" y="313142"/>
                  </a:lnTo>
                  <a:lnTo>
                    <a:pt x="53920" y="260950"/>
                  </a:lnTo>
                  <a:lnTo>
                    <a:pt x="103208" y="211954"/>
                  </a:lnTo>
                  <a:lnTo>
                    <a:pt x="166518" y="166696"/>
                  </a:lnTo>
                  <a:lnTo>
                    <a:pt x="203051" y="145638"/>
                  </a:lnTo>
                  <a:lnTo>
                    <a:pt x="242636" y="125717"/>
                  </a:lnTo>
                  <a:lnTo>
                    <a:pt x="285119" y="107001"/>
                  </a:lnTo>
                  <a:lnTo>
                    <a:pt x="330350" y="89558"/>
                  </a:lnTo>
                  <a:lnTo>
                    <a:pt x="378177" y="73455"/>
                  </a:lnTo>
                  <a:lnTo>
                    <a:pt x="428448" y="58760"/>
                  </a:lnTo>
                  <a:lnTo>
                    <a:pt x="481012" y="45540"/>
                  </a:lnTo>
                  <a:lnTo>
                    <a:pt x="535718" y="33864"/>
                  </a:lnTo>
                  <a:lnTo>
                    <a:pt x="592413" y="23798"/>
                  </a:lnTo>
                  <a:lnTo>
                    <a:pt x="650946" y="15411"/>
                  </a:lnTo>
                  <a:lnTo>
                    <a:pt x="711166" y="8770"/>
                  </a:lnTo>
                  <a:lnTo>
                    <a:pt x="772921" y="3943"/>
                  </a:lnTo>
                  <a:lnTo>
                    <a:pt x="836059" y="997"/>
                  </a:lnTo>
                  <a:lnTo>
                    <a:pt x="900429" y="0"/>
                  </a:lnTo>
                  <a:lnTo>
                    <a:pt x="964648" y="997"/>
                  </a:lnTo>
                  <a:lnTo>
                    <a:pt x="1027662" y="3943"/>
                  </a:lnTo>
                  <a:lnTo>
                    <a:pt x="1089317" y="8770"/>
                  </a:lnTo>
                  <a:lnTo>
                    <a:pt x="1149461" y="15411"/>
                  </a:lnTo>
                  <a:lnTo>
                    <a:pt x="1207939" y="23798"/>
                  </a:lnTo>
                  <a:lnTo>
                    <a:pt x="1264598" y="33864"/>
                  </a:lnTo>
                  <a:lnTo>
                    <a:pt x="1319285" y="45540"/>
                  </a:lnTo>
                  <a:lnTo>
                    <a:pt x="1371847" y="58760"/>
                  </a:lnTo>
                  <a:lnTo>
                    <a:pt x="1422130" y="73455"/>
                  </a:lnTo>
                  <a:lnTo>
                    <a:pt x="1469980" y="89558"/>
                  </a:lnTo>
                  <a:lnTo>
                    <a:pt x="1515244" y="107001"/>
                  </a:lnTo>
                  <a:lnTo>
                    <a:pt x="1557769" y="125717"/>
                  </a:lnTo>
                  <a:lnTo>
                    <a:pt x="1597401" y="145638"/>
                  </a:lnTo>
                  <a:lnTo>
                    <a:pt x="1633986" y="166696"/>
                  </a:lnTo>
                  <a:lnTo>
                    <a:pt x="1667372" y="188824"/>
                  </a:lnTo>
                  <a:lnTo>
                    <a:pt x="1723932" y="236018"/>
                  </a:lnTo>
                  <a:lnTo>
                    <a:pt x="1765851" y="286680"/>
                  </a:lnTo>
                  <a:lnTo>
                    <a:pt x="1791903" y="340267"/>
                  </a:lnTo>
                  <a:lnTo>
                    <a:pt x="1800859" y="396239"/>
                  </a:lnTo>
                  <a:lnTo>
                    <a:pt x="1798595" y="424641"/>
                  </a:lnTo>
                  <a:lnTo>
                    <a:pt x="1780937" y="479713"/>
                  </a:lnTo>
                  <a:lnTo>
                    <a:pt x="1746798" y="532037"/>
                  </a:lnTo>
                  <a:lnTo>
                    <a:pt x="1697405" y="581086"/>
                  </a:lnTo>
                  <a:lnTo>
                    <a:pt x="1633986" y="626335"/>
                  </a:lnTo>
                  <a:lnTo>
                    <a:pt x="1597401" y="647370"/>
                  </a:lnTo>
                  <a:lnTo>
                    <a:pt x="1557769" y="667258"/>
                  </a:lnTo>
                  <a:lnTo>
                    <a:pt x="1515244" y="685932"/>
                  </a:lnTo>
                  <a:lnTo>
                    <a:pt x="1469980" y="703328"/>
                  </a:lnTo>
                  <a:lnTo>
                    <a:pt x="1422130" y="719379"/>
                  </a:lnTo>
                  <a:lnTo>
                    <a:pt x="1371847" y="734020"/>
                  </a:lnTo>
                  <a:lnTo>
                    <a:pt x="1319285" y="747184"/>
                  </a:lnTo>
                  <a:lnTo>
                    <a:pt x="1264598" y="758807"/>
                  </a:lnTo>
                  <a:lnTo>
                    <a:pt x="1207939" y="768822"/>
                  </a:lnTo>
                  <a:lnTo>
                    <a:pt x="1149461" y="777163"/>
                  </a:lnTo>
                  <a:lnTo>
                    <a:pt x="1089317" y="783765"/>
                  </a:lnTo>
                  <a:lnTo>
                    <a:pt x="1027662" y="788563"/>
                  </a:lnTo>
                  <a:lnTo>
                    <a:pt x="964648" y="791489"/>
                  </a:lnTo>
                  <a:lnTo>
                    <a:pt x="900429" y="792479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17"/>
            <p:cNvSpPr/>
            <p:nvPr/>
          </p:nvSpPr>
          <p:spPr>
            <a:xfrm>
              <a:off x="5651500" y="3284220"/>
              <a:ext cx="721360" cy="431800"/>
            </a:xfrm>
            <a:custGeom>
              <a:avLst/>
              <a:gdLst/>
              <a:ahLst/>
              <a:cxnLst/>
              <a:rect l="l" t="t" r="r" b="b"/>
              <a:pathLst>
                <a:path w="721360" h="431800">
                  <a:moveTo>
                    <a:pt x="360679" y="0"/>
                  </a:moveTo>
                  <a:lnTo>
                    <a:pt x="302129" y="2821"/>
                  </a:lnTo>
                  <a:lnTo>
                    <a:pt x="246603" y="10993"/>
                  </a:lnTo>
                  <a:lnTo>
                    <a:pt x="194842" y="24071"/>
                  </a:lnTo>
                  <a:lnTo>
                    <a:pt x="147584" y="41615"/>
                  </a:lnTo>
                  <a:lnTo>
                    <a:pt x="105568" y="63182"/>
                  </a:lnTo>
                  <a:lnTo>
                    <a:pt x="69535" y="88331"/>
                  </a:lnTo>
                  <a:lnTo>
                    <a:pt x="40222" y="116619"/>
                  </a:lnTo>
                  <a:lnTo>
                    <a:pt x="4715" y="180845"/>
                  </a:lnTo>
                  <a:lnTo>
                    <a:pt x="0" y="215900"/>
                  </a:lnTo>
                  <a:lnTo>
                    <a:pt x="4715" y="250954"/>
                  </a:lnTo>
                  <a:lnTo>
                    <a:pt x="40222" y="315180"/>
                  </a:lnTo>
                  <a:lnTo>
                    <a:pt x="69535" y="343468"/>
                  </a:lnTo>
                  <a:lnTo>
                    <a:pt x="105568" y="368617"/>
                  </a:lnTo>
                  <a:lnTo>
                    <a:pt x="147584" y="390184"/>
                  </a:lnTo>
                  <a:lnTo>
                    <a:pt x="194842" y="407728"/>
                  </a:lnTo>
                  <a:lnTo>
                    <a:pt x="246603" y="420806"/>
                  </a:lnTo>
                  <a:lnTo>
                    <a:pt x="302129" y="428978"/>
                  </a:lnTo>
                  <a:lnTo>
                    <a:pt x="360679" y="431799"/>
                  </a:lnTo>
                  <a:lnTo>
                    <a:pt x="419230" y="428978"/>
                  </a:lnTo>
                  <a:lnTo>
                    <a:pt x="474756" y="420806"/>
                  </a:lnTo>
                  <a:lnTo>
                    <a:pt x="526517" y="407728"/>
                  </a:lnTo>
                  <a:lnTo>
                    <a:pt x="573775" y="390184"/>
                  </a:lnTo>
                  <a:lnTo>
                    <a:pt x="615791" y="368617"/>
                  </a:lnTo>
                  <a:lnTo>
                    <a:pt x="651824" y="343468"/>
                  </a:lnTo>
                  <a:lnTo>
                    <a:pt x="681137" y="315180"/>
                  </a:lnTo>
                  <a:lnTo>
                    <a:pt x="716644" y="250954"/>
                  </a:lnTo>
                  <a:lnTo>
                    <a:pt x="721360" y="215900"/>
                  </a:lnTo>
                  <a:lnTo>
                    <a:pt x="716644" y="180845"/>
                  </a:lnTo>
                  <a:lnTo>
                    <a:pt x="681137" y="116619"/>
                  </a:lnTo>
                  <a:lnTo>
                    <a:pt x="651824" y="88331"/>
                  </a:lnTo>
                  <a:lnTo>
                    <a:pt x="615791" y="63182"/>
                  </a:lnTo>
                  <a:lnTo>
                    <a:pt x="573775" y="41615"/>
                  </a:lnTo>
                  <a:lnTo>
                    <a:pt x="526517" y="24071"/>
                  </a:lnTo>
                  <a:lnTo>
                    <a:pt x="474756" y="10993"/>
                  </a:lnTo>
                  <a:lnTo>
                    <a:pt x="419230" y="2821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18"/>
            <p:cNvSpPr/>
            <p:nvPr/>
          </p:nvSpPr>
          <p:spPr>
            <a:xfrm>
              <a:off x="5651500" y="3284220"/>
              <a:ext cx="721360" cy="431800"/>
            </a:xfrm>
            <a:custGeom>
              <a:avLst/>
              <a:gdLst/>
              <a:ahLst/>
              <a:cxnLst/>
              <a:rect l="l" t="t" r="r" b="b"/>
              <a:pathLst>
                <a:path w="721360" h="431800">
                  <a:moveTo>
                    <a:pt x="360679" y="431799"/>
                  </a:moveTo>
                  <a:lnTo>
                    <a:pt x="302129" y="428978"/>
                  </a:lnTo>
                  <a:lnTo>
                    <a:pt x="246603" y="420806"/>
                  </a:lnTo>
                  <a:lnTo>
                    <a:pt x="194842" y="407728"/>
                  </a:lnTo>
                  <a:lnTo>
                    <a:pt x="147584" y="390184"/>
                  </a:lnTo>
                  <a:lnTo>
                    <a:pt x="105568" y="368617"/>
                  </a:lnTo>
                  <a:lnTo>
                    <a:pt x="69535" y="343468"/>
                  </a:lnTo>
                  <a:lnTo>
                    <a:pt x="40222" y="315180"/>
                  </a:lnTo>
                  <a:lnTo>
                    <a:pt x="4715" y="250954"/>
                  </a:lnTo>
                  <a:lnTo>
                    <a:pt x="0" y="215900"/>
                  </a:lnTo>
                  <a:lnTo>
                    <a:pt x="4715" y="180845"/>
                  </a:lnTo>
                  <a:lnTo>
                    <a:pt x="40222" y="116619"/>
                  </a:lnTo>
                  <a:lnTo>
                    <a:pt x="69535" y="88331"/>
                  </a:lnTo>
                  <a:lnTo>
                    <a:pt x="105568" y="63182"/>
                  </a:lnTo>
                  <a:lnTo>
                    <a:pt x="147584" y="41615"/>
                  </a:lnTo>
                  <a:lnTo>
                    <a:pt x="194842" y="24071"/>
                  </a:lnTo>
                  <a:lnTo>
                    <a:pt x="246603" y="10993"/>
                  </a:lnTo>
                  <a:lnTo>
                    <a:pt x="302129" y="2821"/>
                  </a:lnTo>
                  <a:lnTo>
                    <a:pt x="360679" y="0"/>
                  </a:lnTo>
                  <a:lnTo>
                    <a:pt x="419230" y="2821"/>
                  </a:lnTo>
                  <a:lnTo>
                    <a:pt x="474756" y="10993"/>
                  </a:lnTo>
                  <a:lnTo>
                    <a:pt x="526517" y="24071"/>
                  </a:lnTo>
                  <a:lnTo>
                    <a:pt x="573775" y="41615"/>
                  </a:lnTo>
                  <a:lnTo>
                    <a:pt x="615791" y="63182"/>
                  </a:lnTo>
                  <a:lnTo>
                    <a:pt x="651824" y="88331"/>
                  </a:lnTo>
                  <a:lnTo>
                    <a:pt x="681137" y="116619"/>
                  </a:lnTo>
                  <a:lnTo>
                    <a:pt x="716644" y="180845"/>
                  </a:lnTo>
                  <a:lnTo>
                    <a:pt x="721360" y="215900"/>
                  </a:lnTo>
                  <a:lnTo>
                    <a:pt x="716644" y="250954"/>
                  </a:lnTo>
                  <a:lnTo>
                    <a:pt x="681137" y="315180"/>
                  </a:lnTo>
                  <a:lnTo>
                    <a:pt x="651824" y="343468"/>
                  </a:lnTo>
                  <a:lnTo>
                    <a:pt x="615791" y="368617"/>
                  </a:lnTo>
                  <a:lnTo>
                    <a:pt x="573775" y="390184"/>
                  </a:lnTo>
                  <a:lnTo>
                    <a:pt x="526517" y="407728"/>
                  </a:lnTo>
                  <a:lnTo>
                    <a:pt x="474756" y="420806"/>
                  </a:lnTo>
                  <a:lnTo>
                    <a:pt x="419230" y="428978"/>
                  </a:lnTo>
                  <a:lnTo>
                    <a:pt x="360679" y="431799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19"/>
            <p:cNvSpPr/>
            <p:nvPr/>
          </p:nvSpPr>
          <p:spPr>
            <a:xfrm>
              <a:off x="6587490" y="3284220"/>
              <a:ext cx="721360" cy="431800"/>
            </a:xfrm>
            <a:custGeom>
              <a:avLst/>
              <a:gdLst/>
              <a:ahLst/>
              <a:cxnLst/>
              <a:rect l="l" t="t" r="r" b="b"/>
              <a:pathLst>
                <a:path w="721359" h="431800">
                  <a:moveTo>
                    <a:pt x="360679" y="0"/>
                  </a:moveTo>
                  <a:lnTo>
                    <a:pt x="302129" y="2821"/>
                  </a:lnTo>
                  <a:lnTo>
                    <a:pt x="246603" y="10993"/>
                  </a:lnTo>
                  <a:lnTo>
                    <a:pt x="194842" y="24071"/>
                  </a:lnTo>
                  <a:lnTo>
                    <a:pt x="147584" y="41615"/>
                  </a:lnTo>
                  <a:lnTo>
                    <a:pt x="105568" y="63182"/>
                  </a:lnTo>
                  <a:lnTo>
                    <a:pt x="69535" y="88331"/>
                  </a:lnTo>
                  <a:lnTo>
                    <a:pt x="40222" y="116619"/>
                  </a:lnTo>
                  <a:lnTo>
                    <a:pt x="4715" y="180845"/>
                  </a:lnTo>
                  <a:lnTo>
                    <a:pt x="0" y="215900"/>
                  </a:lnTo>
                  <a:lnTo>
                    <a:pt x="4715" y="250954"/>
                  </a:lnTo>
                  <a:lnTo>
                    <a:pt x="40222" y="315180"/>
                  </a:lnTo>
                  <a:lnTo>
                    <a:pt x="69535" y="343468"/>
                  </a:lnTo>
                  <a:lnTo>
                    <a:pt x="105568" y="368617"/>
                  </a:lnTo>
                  <a:lnTo>
                    <a:pt x="147584" y="390184"/>
                  </a:lnTo>
                  <a:lnTo>
                    <a:pt x="194842" y="407728"/>
                  </a:lnTo>
                  <a:lnTo>
                    <a:pt x="246603" y="420806"/>
                  </a:lnTo>
                  <a:lnTo>
                    <a:pt x="302129" y="428978"/>
                  </a:lnTo>
                  <a:lnTo>
                    <a:pt x="360679" y="431799"/>
                  </a:lnTo>
                  <a:lnTo>
                    <a:pt x="419230" y="428978"/>
                  </a:lnTo>
                  <a:lnTo>
                    <a:pt x="474756" y="420806"/>
                  </a:lnTo>
                  <a:lnTo>
                    <a:pt x="526517" y="407728"/>
                  </a:lnTo>
                  <a:lnTo>
                    <a:pt x="573775" y="390184"/>
                  </a:lnTo>
                  <a:lnTo>
                    <a:pt x="615791" y="368617"/>
                  </a:lnTo>
                  <a:lnTo>
                    <a:pt x="651824" y="343468"/>
                  </a:lnTo>
                  <a:lnTo>
                    <a:pt x="681137" y="315180"/>
                  </a:lnTo>
                  <a:lnTo>
                    <a:pt x="716644" y="250954"/>
                  </a:lnTo>
                  <a:lnTo>
                    <a:pt x="721359" y="215900"/>
                  </a:lnTo>
                  <a:lnTo>
                    <a:pt x="716644" y="180845"/>
                  </a:lnTo>
                  <a:lnTo>
                    <a:pt x="681137" y="116619"/>
                  </a:lnTo>
                  <a:lnTo>
                    <a:pt x="651824" y="88331"/>
                  </a:lnTo>
                  <a:lnTo>
                    <a:pt x="615791" y="63182"/>
                  </a:lnTo>
                  <a:lnTo>
                    <a:pt x="573775" y="41615"/>
                  </a:lnTo>
                  <a:lnTo>
                    <a:pt x="526517" y="24071"/>
                  </a:lnTo>
                  <a:lnTo>
                    <a:pt x="474756" y="10993"/>
                  </a:lnTo>
                  <a:lnTo>
                    <a:pt x="419230" y="2821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20"/>
            <p:cNvSpPr/>
            <p:nvPr/>
          </p:nvSpPr>
          <p:spPr>
            <a:xfrm>
              <a:off x="6587490" y="3284220"/>
              <a:ext cx="721360" cy="431800"/>
            </a:xfrm>
            <a:custGeom>
              <a:avLst/>
              <a:gdLst/>
              <a:ahLst/>
              <a:cxnLst/>
              <a:rect l="l" t="t" r="r" b="b"/>
              <a:pathLst>
                <a:path w="721359" h="431800">
                  <a:moveTo>
                    <a:pt x="360679" y="431799"/>
                  </a:moveTo>
                  <a:lnTo>
                    <a:pt x="302129" y="428978"/>
                  </a:lnTo>
                  <a:lnTo>
                    <a:pt x="246603" y="420806"/>
                  </a:lnTo>
                  <a:lnTo>
                    <a:pt x="194842" y="407728"/>
                  </a:lnTo>
                  <a:lnTo>
                    <a:pt x="147584" y="390184"/>
                  </a:lnTo>
                  <a:lnTo>
                    <a:pt x="105568" y="368617"/>
                  </a:lnTo>
                  <a:lnTo>
                    <a:pt x="69535" y="343468"/>
                  </a:lnTo>
                  <a:lnTo>
                    <a:pt x="40222" y="315180"/>
                  </a:lnTo>
                  <a:lnTo>
                    <a:pt x="4715" y="250954"/>
                  </a:lnTo>
                  <a:lnTo>
                    <a:pt x="0" y="215900"/>
                  </a:lnTo>
                  <a:lnTo>
                    <a:pt x="4715" y="180845"/>
                  </a:lnTo>
                  <a:lnTo>
                    <a:pt x="40222" y="116619"/>
                  </a:lnTo>
                  <a:lnTo>
                    <a:pt x="69535" y="88331"/>
                  </a:lnTo>
                  <a:lnTo>
                    <a:pt x="105568" y="63182"/>
                  </a:lnTo>
                  <a:lnTo>
                    <a:pt x="147584" y="41615"/>
                  </a:lnTo>
                  <a:lnTo>
                    <a:pt x="194842" y="24071"/>
                  </a:lnTo>
                  <a:lnTo>
                    <a:pt x="246603" y="10993"/>
                  </a:lnTo>
                  <a:lnTo>
                    <a:pt x="302129" y="2821"/>
                  </a:lnTo>
                  <a:lnTo>
                    <a:pt x="360679" y="0"/>
                  </a:lnTo>
                  <a:lnTo>
                    <a:pt x="419230" y="2821"/>
                  </a:lnTo>
                  <a:lnTo>
                    <a:pt x="474756" y="10993"/>
                  </a:lnTo>
                  <a:lnTo>
                    <a:pt x="526517" y="24071"/>
                  </a:lnTo>
                  <a:lnTo>
                    <a:pt x="573775" y="41615"/>
                  </a:lnTo>
                  <a:lnTo>
                    <a:pt x="615791" y="63182"/>
                  </a:lnTo>
                  <a:lnTo>
                    <a:pt x="651824" y="88331"/>
                  </a:lnTo>
                  <a:lnTo>
                    <a:pt x="681137" y="116619"/>
                  </a:lnTo>
                  <a:lnTo>
                    <a:pt x="716644" y="180845"/>
                  </a:lnTo>
                  <a:lnTo>
                    <a:pt x="721359" y="215900"/>
                  </a:lnTo>
                  <a:lnTo>
                    <a:pt x="716644" y="250954"/>
                  </a:lnTo>
                  <a:lnTo>
                    <a:pt x="681137" y="315180"/>
                  </a:lnTo>
                  <a:lnTo>
                    <a:pt x="651824" y="343468"/>
                  </a:lnTo>
                  <a:lnTo>
                    <a:pt x="615791" y="368617"/>
                  </a:lnTo>
                  <a:lnTo>
                    <a:pt x="573775" y="390184"/>
                  </a:lnTo>
                  <a:lnTo>
                    <a:pt x="526517" y="407728"/>
                  </a:lnTo>
                  <a:lnTo>
                    <a:pt x="474756" y="420806"/>
                  </a:lnTo>
                  <a:lnTo>
                    <a:pt x="419230" y="428978"/>
                  </a:lnTo>
                  <a:lnTo>
                    <a:pt x="360679" y="431799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21"/>
            <p:cNvSpPr/>
            <p:nvPr/>
          </p:nvSpPr>
          <p:spPr>
            <a:xfrm>
              <a:off x="7956550" y="3284220"/>
              <a:ext cx="721360" cy="431800"/>
            </a:xfrm>
            <a:custGeom>
              <a:avLst/>
              <a:gdLst/>
              <a:ahLst/>
              <a:cxnLst/>
              <a:rect l="l" t="t" r="r" b="b"/>
              <a:pathLst>
                <a:path w="721359" h="431800">
                  <a:moveTo>
                    <a:pt x="360679" y="0"/>
                  </a:moveTo>
                  <a:lnTo>
                    <a:pt x="302129" y="2821"/>
                  </a:lnTo>
                  <a:lnTo>
                    <a:pt x="246603" y="10993"/>
                  </a:lnTo>
                  <a:lnTo>
                    <a:pt x="194842" y="24071"/>
                  </a:lnTo>
                  <a:lnTo>
                    <a:pt x="147584" y="41615"/>
                  </a:lnTo>
                  <a:lnTo>
                    <a:pt x="105568" y="63182"/>
                  </a:lnTo>
                  <a:lnTo>
                    <a:pt x="69535" y="88331"/>
                  </a:lnTo>
                  <a:lnTo>
                    <a:pt x="40222" y="116619"/>
                  </a:lnTo>
                  <a:lnTo>
                    <a:pt x="4715" y="180845"/>
                  </a:lnTo>
                  <a:lnTo>
                    <a:pt x="0" y="215900"/>
                  </a:lnTo>
                  <a:lnTo>
                    <a:pt x="4715" y="250954"/>
                  </a:lnTo>
                  <a:lnTo>
                    <a:pt x="40222" y="315180"/>
                  </a:lnTo>
                  <a:lnTo>
                    <a:pt x="69535" y="343468"/>
                  </a:lnTo>
                  <a:lnTo>
                    <a:pt x="105568" y="368617"/>
                  </a:lnTo>
                  <a:lnTo>
                    <a:pt x="147584" y="390184"/>
                  </a:lnTo>
                  <a:lnTo>
                    <a:pt x="194842" y="407728"/>
                  </a:lnTo>
                  <a:lnTo>
                    <a:pt x="246603" y="420806"/>
                  </a:lnTo>
                  <a:lnTo>
                    <a:pt x="302129" y="428978"/>
                  </a:lnTo>
                  <a:lnTo>
                    <a:pt x="360679" y="431799"/>
                  </a:lnTo>
                  <a:lnTo>
                    <a:pt x="419230" y="428978"/>
                  </a:lnTo>
                  <a:lnTo>
                    <a:pt x="474756" y="420806"/>
                  </a:lnTo>
                  <a:lnTo>
                    <a:pt x="526517" y="407728"/>
                  </a:lnTo>
                  <a:lnTo>
                    <a:pt x="573775" y="390184"/>
                  </a:lnTo>
                  <a:lnTo>
                    <a:pt x="615791" y="368617"/>
                  </a:lnTo>
                  <a:lnTo>
                    <a:pt x="651824" y="343468"/>
                  </a:lnTo>
                  <a:lnTo>
                    <a:pt x="681137" y="315180"/>
                  </a:lnTo>
                  <a:lnTo>
                    <a:pt x="716644" y="250954"/>
                  </a:lnTo>
                  <a:lnTo>
                    <a:pt x="721359" y="215900"/>
                  </a:lnTo>
                  <a:lnTo>
                    <a:pt x="716644" y="180845"/>
                  </a:lnTo>
                  <a:lnTo>
                    <a:pt x="681137" y="116619"/>
                  </a:lnTo>
                  <a:lnTo>
                    <a:pt x="651824" y="88331"/>
                  </a:lnTo>
                  <a:lnTo>
                    <a:pt x="615791" y="63182"/>
                  </a:lnTo>
                  <a:lnTo>
                    <a:pt x="573775" y="41615"/>
                  </a:lnTo>
                  <a:lnTo>
                    <a:pt x="526517" y="24071"/>
                  </a:lnTo>
                  <a:lnTo>
                    <a:pt x="474756" y="10993"/>
                  </a:lnTo>
                  <a:lnTo>
                    <a:pt x="419230" y="2821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22"/>
            <p:cNvSpPr/>
            <p:nvPr/>
          </p:nvSpPr>
          <p:spPr>
            <a:xfrm>
              <a:off x="7956550" y="3284220"/>
              <a:ext cx="721360" cy="431800"/>
            </a:xfrm>
            <a:custGeom>
              <a:avLst/>
              <a:gdLst/>
              <a:ahLst/>
              <a:cxnLst/>
              <a:rect l="l" t="t" r="r" b="b"/>
              <a:pathLst>
                <a:path w="721359" h="431800">
                  <a:moveTo>
                    <a:pt x="360679" y="431799"/>
                  </a:moveTo>
                  <a:lnTo>
                    <a:pt x="302129" y="428978"/>
                  </a:lnTo>
                  <a:lnTo>
                    <a:pt x="246603" y="420806"/>
                  </a:lnTo>
                  <a:lnTo>
                    <a:pt x="194842" y="407728"/>
                  </a:lnTo>
                  <a:lnTo>
                    <a:pt x="147584" y="390184"/>
                  </a:lnTo>
                  <a:lnTo>
                    <a:pt x="105568" y="368617"/>
                  </a:lnTo>
                  <a:lnTo>
                    <a:pt x="69535" y="343468"/>
                  </a:lnTo>
                  <a:lnTo>
                    <a:pt x="40222" y="315180"/>
                  </a:lnTo>
                  <a:lnTo>
                    <a:pt x="4715" y="250954"/>
                  </a:lnTo>
                  <a:lnTo>
                    <a:pt x="0" y="215900"/>
                  </a:lnTo>
                  <a:lnTo>
                    <a:pt x="4715" y="180845"/>
                  </a:lnTo>
                  <a:lnTo>
                    <a:pt x="40222" y="116619"/>
                  </a:lnTo>
                  <a:lnTo>
                    <a:pt x="69535" y="88331"/>
                  </a:lnTo>
                  <a:lnTo>
                    <a:pt x="105568" y="63182"/>
                  </a:lnTo>
                  <a:lnTo>
                    <a:pt x="147584" y="41615"/>
                  </a:lnTo>
                  <a:lnTo>
                    <a:pt x="194842" y="24071"/>
                  </a:lnTo>
                  <a:lnTo>
                    <a:pt x="246603" y="10993"/>
                  </a:lnTo>
                  <a:lnTo>
                    <a:pt x="302129" y="2821"/>
                  </a:lnTo>
                  <a:lnTo>
                    <a:pt x="360679" y="0"/>
                  </a:lnTo>
                  <a:lnTo>
                    <a:pt x="419230" y="2821"/>
                  </a:lnTo>
                  <a:lnTo>
                    <a:pt x="474756" y="10993"/>
                  </a:lnTo>
                  <a:lnTo>
                    <a:pt x="526517" y="24071"/>
                  </a:lnTo>
                  <a:lnTo>
                    <a:pt x="573775" y="41615"/>
                  </a:lnTo>
                  <a:lnTo>
                    <a:pt x="615791" y="63182"/>
                  </a:lnTo>
                  <a:lnTo>
                    <a:pt x="651824" y="88331"/>
                  </a:lnTo>
                  <a:lnTo>
                    <a:pt x="681137" y="116619"/>
                  </a:lnTo>
                  <a:lnTo>
                    <a:pt x="716644" y="180845"/>
                  </a:lnTo>
                  <a:lnTo>
                    <a:pt x="721359" y="215900"/>
                  </a:lnTo>
                  <a:lnTo>
                    <a:pt x="716644" y="250954"/>
                  </a:lnTo>
                  <a:lnTo>
                    <a:pt x="681137" y="315180"/>
                  </a:lnTo>
                  <a:lnTo>
                    <a:pt x="651824" y="343468"/>
                  </a:lnTo>
                  <a:lnTo>
                    <a:pt x="615791" y="368617"/>
                  </a:lnTo>
                  <a:lnTo>
                    <a:pt x="573775" y="390184"/>
                  </a:lnTo>
                  <a:lnTo>
                    <a:pt x="526517" y="407728"/>
                  </a:lnTo>
                  <a:lnTo>
                    <a:pt x="474756" y="420806"/>
                  </a:lnTo>
                  <a:lnTo>
                    <a:pt x="419230" y="428978"/>
                  </a:lnTo>
                  <a:lnTo>
                    <a:pt x="360679" y="431799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23"/>
            <p:cNvSpPr/>
            <p:nvPr/>
          </p:nvSpPr>
          <p:spPr>
            <a:xfrm>
              <a:off x="7451090" y="3495040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59" y="0"/>
                  </a:lnTo>
                  <a:lnTo>
                    <a:pt x="1015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4" name="object 24"/>
            <p:cNvSpPr/>
            <p:nvPr/>
          </p:nvSpPr>
          <p:spPr>
            <a:xfrm>
              <a:off x="7471409" y="3495040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90" y="0"/>
                  </a:lnTo>
                  <a:lnTo>
                    <a:pt x="889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25"/>
            <p:cNvSpPr/>
            <p:nvPr/>
          </p:nvSpPr>
          <p:spPr>
            <a:xfrm>
              <a:off x="7490459" y="3495040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0" y="10160"/>
                  </a:lnTo>
                  <a:lnTo>
                    <a:pt x="10160" y="10160"/>
                  </a:lnTo>
                  <a:lnTo>
                    <a:pt x="10160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26"/>
            <p:cNvSpPr/>
            <p:nvPr/>
          </p:nvSpPr>
          <p:spPr>
            <a:xfrm>
              <a:off x="7509509" y="349630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7" name="object 27"/>
            <p:cNvSpPr/>
            <p:nvPr/>
          </p:nvSpPr>
          <p:spPr>
            <a:xfrm>
              <a:off x="7529830" y="3496309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90" y="0"/>
                  </a:lnTo>
                  <a:lnTo>
                    <a:pt x="8890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8" name="object 28"/>
            <p:cNvSpPr/>
            <p:nvPr/>
          </p:nvSpPr>
          <p:spPr>
            <a:xfrm>
              <a:off x="7548880" y="349630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10160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8890" y="888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9" name="object 29"/>
            <p:cNvSpPr/>
            <p:nvPr/>
          </p:nvSpPr>
          <p:spPr>
            <a:xfrm>
              <a:off x="7567930" y="349630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0" name="object 30"/>
            <p:cNvSpPr/>
            <p:nvPr/>
          </p:nvSpPr>
          <p:spPr>
            <a:xfrm>
              <a:off x="7586980" y="349630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31"/>
            <p:cNvSpPr/>
            <p:nvPr/>
          </p:nvSpPr>
          <p:spPr>
            <a:xfrm>
              <a:off x="7607300" y="3496309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90" y="0"/>
                  </a:lnTo>
                  <a:lnTo>
                    <a:pt x="8890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2" name="object 32"/>
            <p:cNvSpPr/>
            <p:nvPr/>
          </p:nvSpPr>
          <p:spPr>
            <a:xfrm>
              <a:off x="7626350" y="349630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3" name="object 33"/>
            <p:cNvSpPr/>
            <p:nvPr/>
          </p:nvSpPr>
          <p:spPr>
            <a:xfrm>
              <a:off x="7645400" y="349630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89"/>
                  </a:lnTo>
                  <a:lnTo>
                    <a:pt x="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4" name="object 34"/>
            <p:cNvSpPr/>
            <p:nvPr/>
          </p:nvSpPr>
          <p:spPr>
            <a:xfrm>
              <a:off x="7665719" y="349630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8889" y="0"/>
                  </a:moveTo>
                  <a:lnTo>
                    <a:pt x="0" y="0"/>
                  </a:lnTo>
                  <a:lnTo>
                    <a:pt x="0" y="8889"/>
                  </a:lnTo>
                  <a:lnTo>
                    <a:pt x="8889" y="1016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5" name="object 35"/>
            <p:cNvSpPr/>
            <p:nvPr/>
          </p:nvSpPr>
          <p:spPr>
            <a:xfrm>
              <a:off x="7684769" y="349630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89" y="0"/>
                  </a:lnTo>
                  <a:lnTo>
                    <a:pt x="888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6" name="object 36"/>
            <p:cNvSpPr/>
            <p:nvPr/>
          </p:nvSpPr>
          <p:spPr>
            <a:xfrm>
              <a:off x="7703819" y="349630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59" y="0"/>
                  </a:lnTo>
                  <a:lnTo>
                    <a:pt x="1015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37"/>
            <p:cNvSpPr/>
            <p:nvPr/>
          </p:nvSpPr>
          <p:spPr>
            <a:xfrm>
              <a:off x="7722869" y="349630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59" y="0"/>
                  </a:lnTo>
                  <a:lnTo>
                    <a:pt x="1015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38"/>
            <p:cNvSpPr/>
            <p:nvPr/>
          </p:nvSpPr>
          <p:spPr>
            <a:xfrm>
              <a:off x="7741919" y="349630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10159" y="0"/>
                  </a:moveTo>
                  <a:lnTo>
                    <a:pt x="1270" y="0"/>
                  </a:lnTo>
                  <a:lnTo>
                    <a:pt x="0" y="10160"/>
                  </a:lnTo>
                  <a:lnTo>
                    <a:pt x="10159" y="1016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39"/>
            <p:cNvSpPr/>
            <p:nvPr/>
          </p:nvSpPr>
          <p:spPr>
            <a:xfrm>
              <a:off x="7762240" y="3497579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89" y="0"/>
                  </a:lnTo>
                  <a:lnTo>
                    <a:pt x="888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40"/>
            <p:cNvSpPr/>
            <p:nvPr/>
          </p:nvSpPr>
          <p:spPr>
            <a:xfrm>
              <a:off x="7781290" y="349757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41"/>
            <p:cNvSpPr/>
            <p:nvPr/>
          </p:nvSpPr>
          <p:spPr>
            <a:xfrm>
              <a:off x="7800340" y="349757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42"/>
            <p:cNvSpPr/>
            <p:nvPr/>
          </p:nvSpPr>
          <p:spPr>
            <a:xfrm>
              <a:off x="7820659" y="3497579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90" y="0"/>
                  </a:lnTo>
                  <a:lnTo>
                    <a:pt x="889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3" name="object 43"/>
            <p:cNvSpPr/>
            <p:nvPr/>
          </p:nvSpPr>
          <p:spPr>
            <a:xfrm>
              <a:off x="7839709" y="349757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4" name="object 44"/>
            <p:cNvSpPr/>
            <p:nvPr/>
          </p:nvSpPr>
          <p:spPr>
            <a:xfrm>
              <a:off x="7858759" y="349757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5" name="object 45"/>
            <p:cNvSpPr/>
            <p:nvPr/>
          </p:nvSpPr>
          <p:spPr>
            <a:xfrm>
              <a:off x="7879080" y="3497579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350" y="0"/>
                  </a:lnTo>
                  <a:lnTo>
                    <a:pt x="635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6" name="object 46"/>
            <p:cNvSpPr/>
            <p:nvPr/>
          </p:nvSpPr>
          <p:spPr>
            <a:xfrm>
              <a:off x="6724650" y="2560320"/>
              <a:ext cx="78740" cy="80010"/>
            </a:xfrm>
            <a:custGeom>
              <a:avLst/>
              <a:gdLst/>
              <a:ahLst/>
              <a:cxnLst/>
              <a:rect l="l" t="t" r="r" b="b"/>
              <a:pathLst>
                <a:path w="78740" h="80010">
                  <a:moveTo>
                    <a:pt x="78740" y="0"/>
                  </a:moveTo>
                  <a:lnTo>
                    <a:pt x="0" y="27939"/>
                  </a:lnTo>
                  <a:lnTo>
                    <a:pt x="53340" y="80009"/>
                  </a:lnTo>
                  <a:lnTo>
                    <a:pt x="7874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7" name="object 47"/>
            <p:cNvSpPr/>
            <p:nvPr/>
          </p:nvSpPr>
          <p:spPr>
            <a:xfrm>
              <a:off x="6153150" y="2600960"/>
              <a:ext cx="612140" cy="619760"/>
            </a:xfrm>
            <a:custGeom>
              <a:avLst/>
              <a:gdLst/>
              <a:ahLst/>
              <a:cxnLst/>
              <a:rect l="l" t="t" r="r" b="b"/>
              <a:pathLst>
                <a:path w="612140" h="619760">
                  <a:moveTo>
                    <a:pt x="604520" y="0"/>
                  </a:moveTo>
                  <a:lnTo>
                    <a:pt x="0" y="613410"/>
                  </a:lnTo>
                  <a:lnTo>
                    <a:pt x="6350" y="619760"/>
                  </a:lnTo>
                  <a:lnTo>
                    <a:pt x="612140" y="6350"/>
                  </a:lnTo>
                  <a:lnTo>
                    <a:pt x="60452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8" name="object 48"/>
            <p:cNvSpPr/>
            <p:nvPr/>
          </p:nvSpPr>
          <p:spPr>
            <a:xfrm>
              <a:off x="7110730" y="2631439"/>
              <a:ext cx="74930" cy="82550"/>
            </a:xfrm>
            <a:custGeom>
              <a:avLst/>
              <a:gdLst/>
              <a:ahLst/>
              <a:cxnLst/>
              <a:rect l="l" t="t" r="r" b="b"/>
              <a:pathLst>
                <a:path w="74929" h="82550">
                  <a:moveTo>
                    <a:pt x="53340" y="0"/>
                  </a:moveTo>
                  <a:lnTo>
                    <a:pt x="0" y="66039"/>
                  </a:lnTo>
                  <a:lnTo>
                    <a:pt x="74929" y="82550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9" name="object 49"/>
            <p:cNvSpPr/>
            <p:nvPr/>
          </p:nvSpPr>
          <p:spPr>
            <a:xfrm>
              <a:off x="7015480" y="2689860"/>
              <a:ext cx="140970" cy="600710"/>
            </a:xfrm>
            <a:custGeom>
              <a:avLst/>
              <a:gdLst/>
              <a:ahLst/>
              <a:cxnLst/>
              <a:rect l="l" t="t" r="r" b="b"/>
              <a:pathLst>
                <a:path w="140970" h="600710">
                  <a:moveTo>
                    <a:pt x="130810" y="0"/>
                  </a:moveTo>
                  <a:lnTo>
                    <a:pt x="0" y="598169"/>
                  </a:lnTo>
                  <a:lnTo>
                    <a:pt x="8890" y="600710"/>
                  </a:lnTo>
                  <a:lnTo>
                    <a:pt x="140970" y="2539"/>
                  </a:lnTo>
                  <a:lnTo>
                    <a:pt x="1308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0" name="object 50"/>
            <p:cNvSpPr/>
            <p:nvPr/>
          </p:nvSpPr>
          <p:spPr>
            <a:xfrm>
              <a:off x="7806690" y="2560320"/>
              <a:ext cx="68580" cy="85090"/>
            </a:xfrm>
            <a:custGeom>
              <a:avLst/>
              <a:gdLst/>
              <a:ahLst/>
              <a:cxnLst/>
              <a:rect l="l" t="t" r="r" b="b"/>
              <a:pathLst>
                <a:path w="68579" h="85089">
                  <a:moveTo>
                    <a:pt x="0" y="0"/>
                  </a:moveTo>
                  <a:lnTo>
                    <a:pt x="0" y="85089"/>
                  </a:lnTo>
                  <a:lnTo>
                    <a:pt x="68579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1" name="object 51"/>
            <p:cNvSpPr/>
            <p:nvPr/>
          </p:nvSpPr>
          <p:spPr>
            <a:xfrm>
              <a:off x="7829550" y="2612389"/>
              <a:ext cx="351790" cy="679450"/>
            </a:xfrm>
            <a:custGeom>
              <a:avLst/>
              <a:gdLst/>
              <a:ahLst/>
              <a:cxnLst/>
              <a:rect l="l" t="t" r="r" b="b"/>
              <a:pathLst>
                <a:path w="351790" h="679450">
                  <a:moveTo>
                    <a:pt x="8890" y="0"/>
                  </a:moveTo>
                  <a:lnTo>
                    <a:pt x="0" y="5080"/>
                  </a:lnTo>
                  <a:lnTo>
                    <a:pt x="342900" y="679450"/>
                  </a:lnTo>
                  <a:lnTo>
                    <a:pt x="351790" y="674370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42" name="Espace réservé du numéro de diapositive 4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Conception d’une base de données</a:t>
            </a:r>
            <a:br>
              <a:rPr lang="fr-FR" dirty="0" smtClean="0"/>
            </a:br>
            <a:r>
              <a:rPr lang="fr-FR" dirty="0" smtClean="0"/>
              <a:t>répartie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1" dirty="0" smtClean="0"/>
              <a:t>Conception descendante : (Top down design) </a:t>
            </a:r>
          </a:p>
          <a:p>
            <a:pPr marL="12695" marR="975018">
              <a:lnSpc>
                <a:spcPts val="3020"/>
              </a:lnSpc>
              <a:spcBef>
                <a:spcPts val="484"/>
              </a:spcBef>
            </a:pPr>
            <a:r>
              <a:rPr lang="fr-FR" dirty="0" smtClean="0"/>
              <a:t>On part du schéma  global</a:t>
            </a:r>
          </a:p>
          <a:p>
            <a:pPr marL="12695" marR="5077">
              <a:lnSpc>
                <a:spcPts val="3020"/>
              </a:lnSpc>
              <a:spcBef>
                <a:spcPts val="700"/>
              </a:spcBef>
            </a:pPr>
            <a:r>
              <a:rPr lang="fr-FR" dirty="0" smtClean="0"/>
              <a:t>On le scinde en schémas  locaux</a:t>
            </a:r>
          </a:p>
          <a:p>
            <a:pPr marL="12695">
              <a:spcBef>
                <a:spcPts val="359"/>
              </a:spcBef>
            </a:pPr>
            <a:r>
              <a:rPr lang="fr-FR" dirty="0" smtClean="0"/>
              <a:t>On part de zéro (nouvelle base)</a:t>
            </a:r>
          </a:p>
          <a:p>
            <a:pPr marL="12695" marR="5077">
              <a:lnSpc>
                <a:spcPts val="2160"/>
              </a:lnSpc>
              <a:spcBef>
                <a:spcPts val="530"/>
              </a:spcBef>
            </a:pPr>
            <a:r>
              <a:rPr lang="fr-FR" dirty="0" smtClean="0"/>
              <a:t>Recherche de performance (pas forcément de répartition  géographique)</a:t>
            </a:r>
          </a:p>
          <a:p>
            <a:r>
              <a:rPr lang="fr-FR" dirty="0" smtClean="0"/>
              <a:t>L’approche </a:t>
            </a:r>
            <a:r>
              <a:rPr lang="fr-FR" i="1" dirty="0" smtClean="0"/>
              <a:t>top down est intéressante quand on part du néant. Si les </a:t>
            </a:r>
            <a:r>
              <a:rPr lang="fr-FR" i="1" dirty="0" err="1" smtClean="0"/>
              <a:t>BDs</a:t>
            </a:r>
            <a:r>
              <a:rPr lang="fr-FR" i="1" dirty="0" smtClean="0"/>
              <a:t> existent déjà </a:t>
            </a:r>
            <a:r>
              <a:rPr lang="fr-FR" dirty="0" smtClean="0"/>
              <a:t>la méthode </a:t>
            </a:r>
            <a:r>
              <a:rPr lang="fr-FR" i="1" dirty="0" err="1" smtClean="0"/>
              <a:t>bottom</a:t>
            </a:r>
            <a:r>
              <a:rPr lang="fr-FR" i="1" dirty="0" smtClean="0"/>
              <a:t> up est utilisée</a:t>
            </a:r>
            <a:endParaRPr lang="fr-FR" dirty="0" smtClean="0">
              <a:latin typeface="Arial"/>
              <a:cs typeface="Arial"/>
            </a:endParaRPr>
          </a:p>
          <a:p>
            <a:endParaRPr lang="fr-FR" dirty="0" smtClean="0"/>
          </a:p>
          <a:p>
            <a:r>
              <a:rPr lang="fr-FR" dirty="0" smtClean="0"/>
              <a:t>Les points suivants sont présents dans cette approche : </a:t>
            </a:r>
          </a:p>
          <a:p>
            <a:pPr>
              <a:buNone/>
            </a:pPr>
            <a:r>
              <a:rPr lang="fr-FR" b="1" dirty="0" smtClean="0"/>
              <a:t>1 Conception du schéma conceptuel global </a:t>
            </a:r>
          </a:p>
          <a:p>
            <a:pPr>
              <a:buNone/>
            </a:pPr>
            <a:r>
              <a:rPr lang="fr-FR" b="1" dirty="0" smtClean="0"/>
              <a:t>2 Distribution pour obtenir des schémas conceptuels locaux </a:t>
            </a:r>
          </a:p>
          <a:p>
            <a:pPr>
              <a:buNone/>
            </a:pPr>
            <a:r>
              <a:rPr lang="fr-FR" b="1" dirty="0" smtClean="0"/>
              <a:t>3 Les tables du schéma global sont fragmentées (processus de fragmentation) </a:t>
            </a:r>
          </a:p>
          <a:p>
            <a:pPr>
              <a:buNone/>
            </a:pPr>
            <a:r>
              <a:rPr lang="fr-FR" b="1" dirty="0" smtClean="0"/>
              <a:t>4 Les fragments sont donc placés sur des sites (processus d’allocation) </a:t>
            </a:r>
          </a:p>
          <a:p>
            <a:endParaRPr lang="fr-FR" dirty="0" smtClean="0"/>
          </a:p>
        </p:txBody>
      </p:sp>
      <p:grpSp>
        <p:nvGrpSpPr>
          <p:cNvPr id="4" name="Groupe 3"/>
          <p:cNvGrpSpPr/>
          <p:nvPr/>
        </p:nvGrpSpPr>
        <p:grpSpPr>
          <a:xfrm>
            <a:off x="5796139" y="764706"/>
            <a:ext cx="3026410" cy="1944370"/>
            <a:chOff x="5651500" y="4149090"/>
            <a:chExt cx="3026410" cy="1944370"/>
          </a:xfrm>
        </p:grpSpPr>
        <p:sp>
          <p:nvSpPr>
            <p:cNvPr id="5" name="object 52"/>
            <p:cNvSpPr/>
            <p:nvPr/>
          </p:nvSpPr>
          <p:spPr>
            <a:xfrm>
              <a:off x="6516369" y="4149090"/>
              <a:ext cx="1800860" cy="792480"/>
            </a:xfrm>
            <a:custGeom>
              <a:avLst/>
              <a:gdLst/>
              <a:ahLst/>
              <a:cxnLst/>
              <a:rect l="l" t="t" r="r" b="b"/>
              <a:pathLst>
                <a:path w="1800859" h="792479">
                  <a:moveTo>
                    <a:pt x="900429" y="0"/>
                  </a:moveTo>
                  <a:lnTo>
                    <a:pt x="836059" y="997"/>
                  </a:lnTo>
                  <a:lnTo>
                    <a:pt x="772921" y="3943"/>
                  </a:lnTo>
                  <a:lnTo>
                    <a:pt x="711166" y="8770"/>
                  </a:lnTo>
                  <a:lnTo>
                    <a:pt x="650946" y="15411"/>
                  </a:lnTo>
                  <a:lnTo>
                    <a:pt x="592413" y="23798"/>
                  </a:lnTo>
                  <a:lnTo>
                    <a:pt x="535718" y="33864"/>
                  </a:lnTo>
                  <a:lnTo>
                    <a:pt x="481012" y="45540"/>
                  </a:lnTo>
                  <a:lnTo>
                    <a:pt x="428448" y="58760"/>
                  </a:lnTo>
                  <a:lnTo>
                    <a:pt x="378177" y="73455"/>
                  </a:lnTo>
                  <a:lnTo>
                    <a:pt x="330350" y="89558"/>
                  </a:lnTo>
                  <a:lnTo>
                    <a:pt x="285119" y="107001"/>
                  </a:lnTo>
                  <a:lnTo>
                    <a:pt x="242636" y="125717"/>
                  </a:lnTo>
                  <a:lnTo>
                    <a:pt x="203051" y="145638"/>
                  </a:lnTo>
                  <a:lnTo>
                    <a:pt x="166518" y="166696"/>
                  </a:lnTo>
                  <a:lnTo>
                    <a:pt x="133186" y="188824"/>
                  </a:lnTo>
                  <a:lnTo>
                    <a:pt x="76736" y="236018"/>
                  </a:lnTo>
                  <a:lnTo>
                    <a:pt x="34913" y="286680"/>
                  </a:lnTo>
                  <a:lnTo>
                    <a:pt x="8930" y="340267"/>
                  </a:lnTo>
                  <a:lnTo>
                    <a:pt x="0" y="396240"/>
                  </a:lnTo>
                  <a:lnTo>
                    <a:pt x="2257" y="424641"/>
                  </a:lnTo>
                  <a:lnTo>
                    <a:pt x="19866" y="479713"/>
                  </a:lnTo>
                  <a:lnTo>
                    <a:pt x="53920" y="532037"/>
                  </a:lnTo>
                  <a:lnTo>
                    <a:pt x="103208" y="581086"/>
                  </a:lnTo>
                  <a:lnTo>
                    <a:pt x="166518" y="626335"/>
                  </a:lnTo>
                  <a:lnTo>
                    <a:pt x="203051" y="647370"/>
                  </a:lnTo>
                  <a:lnTo>
                    <a:pt x="242636" y="667258"/>
                  </a:lnTo>
                  <a:lnTo>
                    <a:pt x="285119" y="685932"/>
                  </a:lnTo>
                  <a:lnTo>
                    <a:pt x="330350" y="703328"/>
                  </a:lnTo>
                  <a:lnTo>
                    <a:pt x="378177" y="719379"/>
                  </a:lnTo>
                  <a:lnTo>
                    <a:pt x="428448" y="734020"/>
                  </a:lnTo>
                  <a:lnTo>
                    <a:pt x="481012" y="747184"/>
                  </a:lnTo>
                  <a:lnTo>
                    <a:pt x="535718" y="758807"/>
                  </a:lnTo>
                  <a:lnTo>
                    <a:pt x="592413" y="768822"/>
                  </a:lnTo>
                  <a:lnTo>
                    <a:pt x="650946" y="777163"/>
                  </a:lnTo>
                  <a:lnTo>
                    <a:pt x="711166" y="783765"/>
                  </a:lnTo>
                  <a:lnTo>
                    <a:pt x="772921" y="788563"/>
                  </a:lnTo>
                  <a:lnTo>
                    <a:pt x="836059" y="791489"/>
                  </a:lnTo>
                  <a:lnTo>
                    <a:pt x="900429" y="792480"/>
                  </a:lnTo>
                  <a:lnTo>
                    <a:pt x="964648" y="791489"/>
                  </a:lnTo>
                  <a:lnTo>
                    <a:pt x="1027662" y="788563"/>
                  </a:lnTo>
                  <a:lnTo>
                    <a:pt x="1089317" y="783765"/>
                  </a:lnTo>
                  <a:lnTo>
                    <a:pt x="1149461" y="777163"/>
                  </a:lnTo>
                  <a:lnTo>
                    <a:pt x="1207939" y="768822"/>
                  </a:lnTo>
                  <a:lnTo>
                    <a:pt x="1264598" y="758807"/>
                  </a:lnTo>
                  <a:lnTo>
                    <a:pt x="1319285" y="747184"/>
                  </a:lnTo>
                  <a:lnTo>
                    <a:pt x="1371847" y="734020"/>
                  </a:lnTo>
                  <a:lnTo>
                    <a:pt x="1422130" y="719379"/>
                  </a:lnTo>
                  <a:lnTo>
                    <a:pt x="1469980" y="703328"/>
                  </a:lnTo>
                  <a:lnTo>
                    <a:pt x="1515244" y="685932"/>
                  </a:lnTo>
                  <a:lnTo>
                    <a:pt x="1557769" y="667258"/>
                  </a:lnTo>
                  <a:lnTo>
                    <a:pt x="1597401" y="647370"/>
                  </a:lnTo>
                  <a:lnTo>
                    <a:pt x="1633986" y="626335"/>
                  </a:lnTo>
                  <a:lnTo>
                    <a:pt x="1667372" y="604218"/>
                  </a:lnTo>
                  <a:lnTo>
                    <a:pt x="1723932" y="557004"/>
                  </a:lnTo>
                  <a:lnTo>
                    <a:pt x="1765851" y="506251"/>
                  </a:lnTo>
                  <a:lnTo>
                    <a:pt x="1791903" y="452488"/>
                  </a:lnTo>
                  <a:lnTo>
                    <a:pt x="1800859" y="396240"/>
                  </a:lnTo>
                  <a:lnTo>
                    <a:pt x="1798595" y="367989"/>
                  </a:lnTo>
                  <a:lnTo>
                    <a:pt x="1780937" y="313142"/>
                  </a:lnTo>
                  <a:lnTo>
                    <a:pt x="1746798" y="260950"/>
                  </a:lnTo>
                  <a:lnTo>
                    <a:pt x="1697405" y="211954"/>
                  </a:lnTo>
                  <a:lnTo>
                    <a:pt x="1633986" y="166696"/>
                  </a:lnTo>
                  <a:lnTo>
                    <a:pt x="1597401" y="145638"/>
                  </a:lnTo>
                  <a:lnTo>
                    <a:pt x="1557769" y="125717"/>
                  </a:lnTo>
                  <a:lnTo>
                    <a:pt x="1515244" y="107001"/>
                  </a:lnTo>
                  <a:lnTo>
                    <a:pt x="1469980" y="89558"/>
                  </a:lnTo>
                  <a:lnTo>
                    <a:pt x="1422130" y="73455"/>
                  </a:lnTo>
                  <a:lnTo>
                    <a:pt x="1371847" y="58760"/>
                  </a:lnTo>
                  <a:lnTo>
                    <a:pt x="1319285" y="45540"/>
                  </a:lnTo>
                  <a:lnTo>
                    <a:pt x="1264598" y="33864"/>
                  </a:lnTo>
                  <a:lnTo>
                    <a:pt x="1207939" y="23798"/>
                  </a:lnTo>
                  <a:lnTo>
                    <a:pt x="1149461" y="15411"/>
                  </a:lnTo>
                  <a:lnTo>
                    <a:pt x="1089317" y="8770"/>
                  </a:lnTo>
                  <a:lnTo>
                    <a:pt x="1027662" y="3943"/>
                  </a:lnTo>
                  <a:lnTo>
                    <a:pt x="964648" y="997"/>
                  </a:lnTo>
                  <a:lnTo>
                    <a:pt x="90042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6" name="object 53"/>
            <p:cNvSpPr/>
            <p:nvPr/>
          </p:nvSpPr>
          <p:spPr>
            <a:xfrm>
              <a:off x="6516369" y="4149090"/>
              <a:ext cx="1800860" cy="792480"/>
            </a:xfrm>
            <a:custGeom>
              <a:avLst/>
              <a:gdLst/>
              <a:ahLst/>
              <a:cxnLst/>
              <a:rect l="l" t="t" r="r" b="b"/>
              <a:pathLst>
                <a:path w="1800859" h="792479">
                  <a:moveTo>
                    <a:pt x="900429" y="792480"/>
                  </a:moveTo>
                  <a:lnTo>
                    <a:pt x="836059" y="791489"/>
                  </a:lnTo>
                  <a:lnTo>
                    <a:pt x="772921" y="788563"/>
                  </a:lnTo>
                  <a:lnTo>
                    <a:pt x="711166" y="783765"/>
                  </a:lnTo>
                  <a:lnTo>
                    <a:pt x="650946" y="777163"/>
                  </a:lnTo>
                  <a:lnTo>
                    <a:pt x="592413" y="768822"/>
                  </a:lnTo>
                  <a:lnTo>
                    <a:pt x="535718" y="758807"/>
                  </a:lnTo>
                  <a:lnTo>
                    <a:pt x="481012" y="747184"/>
                  </a:lnTo>
                  <a:lnTo>
                    <a:pt x="428448" y="734020"/>
                  </a:lnTo>
                  <a:lnTo>
                    <a:pt x="378177" y="719379"/>
                  </a:lnTo>
                  <a:lnTo>
                    <a:pt x="330350" y="703328"/>
                  </a:lnTo>
                  <a:lnTo>
                    <a:pt x="285119" y="685932"/>
                  </a:lnTo>
                  <a:lnTo>
                    <a:pt x="242636" y="667258"/>
                  </a:lnTo>
                  <a:lnTo>
                    <a:pt x="203051" y="647370"/>
                  </a:lnTo>
                  <a:lnTo>
                    <a:pt x="166518" y="626335"/>
                  </a:lnTo>
                  <a:lnTo>
                    <a:pt x="133186" y="604218"/>
                  </a:lnTo>
                  <a:lnTo>
                    <a:pt x="76736" y="557004"/>
                  </a:lnTo>
                  <a:lnTo>
                    <a:pt x="34913" y="506251"/>
                  </a:lnTo>
                  <a:lnTo>
                    <a:pt x="8930" y="452488"/>
                  </a:lnTo>
                  <a:lnTo>
                    <a:pt x="0" y="396240"/>
                  </a:lnTo>
                  <a:lnTo>
                    <a:pt x="2257" y="367989"/>
                  </a:lnTo>
                  <a:lnTo>
                    <a:pt x="19866" y="313142"/>
                  </a:lnTo>
                  <a:lnTo>
                    <a:pt x="53920" y="260950"/>
                  </a:lnTo>
                  <a:lnTo>
                    <a:pt x="103208" y="211954"/>
                  </a:lnTo>
                  <a:lnTo>
                    <a:pt x="166518" y="166696"/>
                  </a:lnTo>
                  <a:lnTo>
                    <a:pt x="203051" y="145638"/>
                  </a:lnTo>
                  <a:lnTo>
                    <a:pt x="242636" y="125717"/>
                  </a:lnTo>
                  <a:lnTo>
                    <a:pt x="285119" y="107001"/>
                  </a:lnTo>
                  <a:lnTo>
                    <a:pt x="330350" y="89558"/>
                  </a:lnTo>
                  <a:lnTo>
                    <a:pt x="378177" y="73455"/>
                  </a:lnTo>
                  <a:lnTo>
                    <a:pt x="428448" y="58760"/>
                  </a:lnTo>
                  <a:lnTo>
                    <a:pt x="481012" y="45540"/>
                  </a:lnTo>
                  <a:lnTo>
                    <a:pt x="535718" y="33864"/>
                  </a:lnTo>
                  <a:lnTo>
                    <a:pt x="592413" y="23798"/>
                  </a:lnTo>
                  <a:lnTo>
                    <a:pt x="650946" y="15411"/>
                  </a:lnTo>
                  <a:lnTo>
                    <a:pt x="711166" y="8770"/>
                  </a:lnTo>
                  <a:lnTo>
                    <a:pt x="772921" y="3943"/>
                  </a:lnTo>
                  <a:lnTo>
                    <a:pt x="836059" y="997"/>
                  </a:lnTo>
                  <a:lnTo>
                    <a:pt x="900429" y="0"/>
                  </a:lnTo>
                  <a:lnTo>
                    <a:pt x="964648" y="997"/>
                  </a:lnTo>
                  <a:lnTo>
                    <a:pt x="1027662" y="3943"/>
                  </a:lnTo>
                  <a:lnTo>
                    <a:pt x="1089317" y="8770"/>
                  </a:lnTo>
                  <a:lnTo>
                    <a:pt x="1149461" y="15411"/>
                  </a:lnTo>
                  <a:lnTo>
                    <a:pt x="1207939" y="23798"/>
                  </a:lnTo>
                  <a:lnTo>
                    <a:pt x="1264598" y="33864"/>
                  </a:lnTo>
                  <a:lnTo>
                    <a:pt x="1319285" y="45540"/>
                  </a:lnTo>
                  <a:lnTo>
                    <a:pt x="1371847" y="58760"/>
                  </a:lnTo>
                  <a:lnTo>
                    <a:pt x="1422130" y="73455"/>
                  </a:lnTo>
                  <a:lnTo>
                    <a:pt x="1469980" y="89558"/>
                  </a:lnTo>
                  <a:lnTo>
                    <a:pt x="1515244" y="107001"/>
                  </a:lnTo>
                  <a:lnTo>
                    <a:pt x="1557769" y="125717"/>
                  </a:lnTo>
                  <a:lnTo>
                    <a:pt x="1597401" y="145638"/>
                  </a:lnTo>
                  <a:lnTo>
                    <a:pt x="1633986" y="166696"/>
                  </a:lnTo>
                  <a:lnTo>
                    <a:pt x="1667372" y="188824"/>
                  </a:lnTo>
                  <a:lnTo>
                    <a:pt x="1723932" y="236018"/>
                  </a:lnTo>
                  <a:lnTo>
                    <a:pt x="1765851" y="286680"/>
                  </a:lnTo>
                  <a:lnTo>
                    <a:pt x="1791903" y="340267"/>
                  </a:lnTo>
                  <a:lnTo>
                    <a:pt x="1800859" y="396240"/>
                  </a:lnTo>
                  <a:lnTo>
                    <a:pt x="1798595" y="424641"/>
                  </a:lnTo>
                  <a:lnTo>
                    <a:pt x="1780937" y="479713"/>
                  </a:lnTo>
                  <a:lnTo>
                    <a:pt x="1746798" y="532037"/>
                  </a:lnTo>
                  <a:lnTo>
                    <a:pt x="1697405" y="581086"/>
                  </a:lnTo>
                  <a:lnTo>
                    <a:pt x="1633986" y="626335"/>
                  </a:lnTo>
                  <a:lnTo>
                    <a:pt x="1597401" y="647370"/>
                  </a:lnTo>
                  <a:lnTo>
                    <a:pt x="1557769" y="667258"/>
                  </a:lnTo>
                  <a:lnTo>
                    <a:pt x="1515244" y="685932"/>
                  </a:lnTo>
                  <a:lnTo>
                    <a:pt x="1469980" y="703328"/>
                  </a:lnTo>
                  <a:lnTo>
                    <a:pt x="1422130" y="719379"/>
                  </a:lnTo>
                  <a:lnTo>
                    <a:pt x="1371847" y="734020"/>
                  </a:lnTo>
                  <a:lnTo>
                    <a:pt x="1319285" y="747184"/>
                  </a:lnTo>
                  <a:lnTo>
                    <a:pt x="1264598" y="758807"/>
                  </a:lnTo>
                  <a:lnTo>
                    <a:pt x="1207939" y="768822"/>
                  </a:lnTo>
                  <a:lnTo>
                    <a:pt x="1149461" y="777163"/>
                  </a:lnTo>
                  <a:lnTo>
                    <a:pt x="1089317" y="783765"/>
                  </a:lnTo>
                  <a:lnTo>
                    <a:pt x="1027662" y="788563"/>
                  </a:lnTo>
                  <a:lnTo>
                    <a:pt x="964648" y="791489"/>
                  </a:lnTo>
                  <a:lnTo>
                    <a:pt x="900429" y="792480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7" name="object 54"/>
            <p:cNvSpPr/>
            <p:nvPr/>
          </p:nvSpPr>
          <p:spPr>
            <a:xfrm>
              <a:off x="5651500" y="5660390"/>
              <a:ext cx="721360" cy="433070"/>
            </a:xfrm>
            <a:custGeom>
              <a:avLst/>
              <a:gdLst/>
              <a:ahLst/>
              <a:cxnLst/>
              <a:rect l="l" t="t" r="r" b="b"/>
              <a:pathLst>
                <a:path w="721360" h="433070">
                  <a:moveTo>
                    <a:pt x="360679" y="0"/>
                  </a:moveTo>
                  <a:lnTo>
                    <a:pt x="302129" y="2857"/>
                  </a:lnTo>
                  <a:lnTo>
                    <a:pt x="246603" y="11125"/>
                  </a:lnTo>
                  <a:lnTo>
                    <a:pt x="194842" y="24345"/>
                  </a:lnTo>
                  <a:lnTo>
                    <a:pt x="147584" y="42062"/>
                  </a:lnTo>
                  <a:lnTo>
                    <a:pt x="105568" y="63817"/>
                  </a:lnTo>
                  <a:lnTo>
                    <a:pt x="69535" y="89154"/>
                  </a:lnTo>
                  <a:lnTo>
                    <a:pt x="40222" y="117614"/>
                  </a:lnTo>
                  <a:lnTo>
                    <a:pt x="4715" y="182079"/>
                  </a:lnTo>
                  <a:lnTo>
                    <a:pt x="0" y="217170"/>
                  </a:lnTo>
                  <a:lnTo>
                    <a:pt x="4715" y="251915"/>
                  </a:lnTo>
                  <a:lnTo>
                    <a:pt x="40222" y="315890"/>
                  </a:lnTo>
                  <a:lnTo>
                    <a:pt x="69535" y="344190"/>
                  </a:lnTo>
                  <a:lnTo>
                    <a:pt x="105568" y="369411"/>
                  </a:lnTo>
                  <a:lnTo>
                    <a:pt x="147584" y="391088"/>
                  </a:lnTo>
                  <a:lnTo>
                    <a:pt x="194842" y="408758"/>
                  </a:lnTo>
                  <a:lnTo>
                    <a:pt x="246603" y="421954"/>
                  </a:lnTo>
                  <a:lnTo>
                    <a:pt x="302129" y="430213"/>
                  </a:lnTo>
                  <a:lnTo>
                    <a:pt x="360679" y="433070"/>
                  </a:lnTo>
                  <a:lnTo>
                    <a:pt x="419230" y="430213"/>
                  </a:lnTo>
                  <a:lnTo>
                    <a:pt x="474756" y="421954"/>
                  </a:lnTo>
                  <a:lnTo>
                    <a:pt x="526517" y="408758"/>
                  </a:lnTo>
                  <a:lnTo>
                    <a:pt x="573775" y="391088"/>
                  </a:lnTo>
                  <a:lnTo>
                    <a:pt x="615791" y="369411"/>
                  </a:lnTo>
                  <a:lnTo>
                    <a:pt x="651824" y="344190"/>
                  </a:lnTo>
                  <a:lnTo>
                    <a:pt x="681137" y="315890"/>
                  </a:lnTo>
                  <a:lnTo>
                    <a:pt x="716644" y="251915"/>
                  </a:lnTo>
                  <a:lnTo>
                    <a:pt x="721360" y="217170"/>
                  </a:lnTo>
                  <a:lnTo>
                    <a:pt x="716644" y="182079"/>
                  </a:lnTo>
                  <a:lnTo>
                    <a:pt x="681137" y="117614"/>
                  </a:lnTo>
                  <a:lnTo>
                    <a:pt x="651824" y="89154"/>
                  </a:lnTo>
                  <a:lnTo>
                    <a:pt x="615791" y="63817"/>
                  </a:lnTo>
                  <a:lnTo>
                    <a:pt x="573775" y="42062"/>
                  </a:lnTo>
                  <a:lnTo>
                    <a:pt x="526517" y="24345"/>
                  </a:lnTo>
                  <a:lnTo>
                    <a:pt x="474756" y="11125"/>
                  </a:lnTo>
                  <a:lnTo>
                    <a:pt x="419230" y="2857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8" name="object 55"/>
            <p:cNvSpPr/>
            <p:nvPr/>
          </p:nvSpPr>
          <p:spPr>
            <a:xfrm>
              <a:off x="5651500" y="5660390"/>
              <a:ext cx="721360" cy="433070"/>
            </a:xfrm>
            <a:custGeom>
              <a:avLst/>
              <a:gdLst/>
              <a:ahLst/>
              <a:cxnLst/>
              <a:rect l="l" t="t" r="r" b="b"/>
              <a:pathLst>
                <a:path w="721360" h="433070">
                  <a:moveTo>
                    <a:pt x="360679" y="433070"/>
                  </a:moveTo>
                  <a:lnTo>
                    <a:pt x="302129" y="430213"/>
                  </a:lnTo>
                  <a:lnTo>
                    <a:pt x="246603" y="421954"/>
                  </a:lnTo>
                  <a:lnTo>
                    <a:pt x="194842" y="408758"/>
                  </a:lnTo>
                  <a:lnTo>
                    <a:pt x="147584" y="391088"/>
                  </a:lnTo>
                  <a:lnTo>
                    <a:pt x="105568" y="369411"/>
                  </a:lnTo>
                  <a:lnTo>
                    <a:pt x="69535" y="344190"/>
                  </a:lnTo>
                  <a:lnTo>
                    <a:pt x="40222" y="315890"/>
                  </a:lnTo>
                  <a:lnTo>
                    <a:pt x="4715" y="251915"/>
                  </a:lnTo>
                  <a:lnTo>
                    <a:pt x="0" y="217170"/>
                  </a:lnTo>
                  <a:lnTo>
                    <a:pt x="4715" y="182079"/>
                  </a:lnTo>
                  <a:lnTo>
                    <a:pt x="40222" y="117614"/>
                  </a:lnTo>
                  <a:lnTo>
                    <a:pt x="69535" y="89154"/>
                  </a:lnTo>
                  <a:lnTo>
                    <a:pt x="105568" y="63817"/>
                  </a:lnTo>
                  <a:lnTo>
                    <a:pt x="147584" y="42062"/>
                  </a:lnTo>
                  <a:lnTo>
                    <a:pt x="194842" y="24345"/>
                  </a:lnTo>
                  <a:lnTo>
                    <a:pt x="246603" y="11125"/>
                  </a:lnTo>
                  <a:lnTo>
                    <a:pt x="302129" y="2857"/>
                  </a:lnTo>
                  <a:lnTo>
                    <a:pt x="360679" y="0"/>
                  </a:lnTo>
                  <a:lnTo>
                    <a:pt x="419230" y="2857"/>
                  </a:lnTo>
                  <a:lnTo>
                    <a:pt x="474756" y="11125"/>
                  </a:lnTo>
                  <a:lnTo>
                    <a:pt x="526517" y="24345"/>
                  </a:lnTo>
                  <a:lnTo>
                    <a:pt x="573775" y="42062"/>
                  </a:lnTo>
                  <a:lnTo>
                    <a:pt x="615791" y="63817"/>
                  </a:lnTo>
                  <a:lnTo>
                    <a:pt x="651824" y="89153"/>
                  </a:lnTo>
                  <a:lnTo>
                    <a:pt x="681137" y="117614"/>
                  </a:lnTo>
                  <a:lnTo>
                    <a:pt x="716644" y="182079"/>
                  </a:lnTo>
                  <a:lnTo>
                    <a:pt x="721360" y="217170"/>
                  </a:lnTo>
                  <a:lnTo>
                    <a:pt x="716644" y="251915"/>
                  </a:lnTo>
                  <a:lnTo>
                    <a:pt x="681137" y="315890"/>
                  </a:lnTo>
                  <a:lnTo>
                    <a:pt x="651824" y="344190"/>
                  </a:lnTo>
                  <a:lnTo>
                    <a:pt x="615791" y="369411"/>
                  </a:lnTo>
                  <a:lnTo>
                    <a:pt x="573775" y="391088"/>
                  </a:lnTo>
                  <a:lnTo>
                    <a:pt x="526517" y="408758"/>
                  </a:lnTo>
                  <a:lnTo>
                    <a:pt x="474756" y="421954"/>
                  </a:lnTo>
                  <a:lnTo>
                    <a:pt x="419230" y="430213"/>
                  </a:lnTo>
                  <a:lnTo>
                    <a:pt x="360679" y="433070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9" name="object 56"/>
            <p:cNvSpPr/>
            <p:nvPr/>
          </p:nvSpPr>
          <p:spPr>
            <a:xfrm>
              <a:off x="6587490" y="5660390"/>
              <a:ext cx="721360" cy="433070"/>
            </a:xfrm>
            <a:custGeom>
              <a:avLst/>
              <a:gdLst/>
              <a:ahLst/>
              <a:cxnLst/>
              <a:rect l="l" t="t" r="r" b="b"/>
              <a:pathLst>
                <a:path w="721359" h="433070">
                  <a:moveTo>
                    <a:pt x="360679" y="0"/>
                  </a:moveTo>
                  <a:lnTo>
                    <a:pt x="302129" y="2857"/>
                  </a:lnTo>
                  <a:lnTo>
                    <a:pt x="246603" y="11125"/>
                  </a:lnTo>
                  <a:lnTo>
                    <a:pt x="194842" y="24345"/>
                  </a:lnTo>
                  <a:lnTo>
                    <a:pt x="147584" y="42062"/>
                  </a:lnTo>
                  <a:lnTo>
                    <a:pt x="105568" y="63817"/>
                  </a:lnTo>
                  <a:lnTo>
                    <a:pt x="69535" y="89154"/>
                  </a:lnTo>
                  <a:lnTo>
                    <a:pt x="40222" y="117614"/>
                  </a:lnTo>
                  <a:lnTo>
                    <a:pt x="4715" y="182079"/>
                  </a:lnTo>
                  <a:lnTo>
                    <a:pt x="0" y="217170"/>
                  </a:lnTo>
                  <a:lnTo>
                    <a:pt x="4715" y="251915"/>
                  </a:lnTo>
                  <a:lnTo>
                    <a:pt x="40222" y="315890"/>
                  </a:lnTo>
                  <a:lnTo>
                    <a:pt x="69535" y="344190"/>
                  </a:lnTo>
                  <a:lnTo>
                    <a:pt x="105568" y="369411"/>
                  </a:lnTo>
                  <a:lnTo>
                    <a:pt x="147584" y="391088"/>
                  </a:lnTo>
                  <a:lnTo>
                    <a:pt x="194842" y="408758"/>
                  </a:lnTo>
                  <a:lnTo>
                    <a:pt x="246603" y="421954"/>
                  </a:lnTo>
                  <a:lnTo>
                    <a:pt x="302129" y="430213"/>
                  </a:lnTo>
                  <a:lnTo>
                    <a:pt x="360679" y="433070"/>
                  </a:lnTo>
                  <a:lnTo>
                    <a:pt x="419230" y="430213"/>
                  </a:lnTo>
                  <a:lnTo>
                    <a:pt x="474756" y="421954"/>
                  </a:lnTo>
                  <a:lnTo>
                    <a:pt x="526517" y="408758"/>
                  </a:lnTo>
                  <a:lnTo>
                    <a:pt x="573775" y="391088"/>
                  </a:lnTo>
                  <a:lnTo>
                    <a:pt x="615791" y="369411"/>
                  </a:lnTo>
                  <a:lnTo>
                    <a:pt x="651824" y="344190"/>
                  </a:lnTo>
                  <a:lnTo>
                    <a:pt x="681137" y="315890"/>
                  </a:lnTo>
                  <a:lnTo>
                    <a:pt x="716644" y="251915"/>
                  </a:lnTo>
                  <a:lnTo>
                    <a:pt x="721359" y="217170"/>
                  </a:lnTo>
                  <a:lnTo>
                    <a:pt x="716644" y="182079"/>
                  </a:lnTo>
                  <a:lnTo>
                    <a:pt x="681137" y="117614"/>
                  </a:lnTo>
                  <a:lnTo>
                    <a:pt x="651824" y="89154"/>
                  </a:lnTo>
                  <a:lnTo>
                    <a:pt x="615791" y="63817"/>
                  </a:lnTo>
                  <a:lnTo>
                    <a:pt x="573775" y="42062"/>
                  </a:lnTo>
                  <a:lnTo>
                    <a:pt x="526517" y="24345"/>
                  </a:lnTo>
                  <a:lnTo>
                    <a:pt x="474756" y="11125"/>
                  </a:lnTo>
                  <a:lnTo>
                    <a:pt x="419230" y="2857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0" name="object 57"/>
            <p:cNvSpPr/>
            <p:nvPr/>
          </p:nvSpPr>
          <p:spPr>
            <a:xfrm>
              <a:off x="6587490" y="5660390"/>
              <a:ext cx="721360" cy="433070"/>
            </a:xfrm>
            <a:custGeom>
              <a:avLst/>
              <a:gdLst/>
              <a:ahLst/>
              <a:cxnLst/>
              <a:rect l="l" t="t" r="r" b="b"/>
              <a:pathLst>
                <a:path w="721359" h="433070">
                  <a:moveTo>
                    <a:pt x="360679" y="433070"/>
                  </a:moveTo>
                  <a:lnTo>
                    <a:pt x="302129" y="430213"/>
                  </a:lnTo>
                  <a:lnTo>
                    <a:pt x="246603" y="421954"/>
                  </a:lnTo>
                  <a:lnTo>
                    <a:pt x="194842" y="408758"/>
                  </a:lnTo>
                  <a:lnTo>
                    <a:pt x="147584" y="391088"/>
                  </a:lnTo>
                  <a:lnTo>
                    <a:pt x="105568" y="369411"/>
                  </a:lnTo>
                  <a:lnTo>
                    <a:pt x="69535" y="344190"/>
                  </a:lnTo>
                  <a:lnTo>
                    <a:pt x="40222" y="315890"/>
                  </a:lnTo>
                  <a:lnTo>
                    <a:pt x="4715" y="251915"/>
                  </a:lnTo>
                  <a:lnTo>
                    <a:pt x="0" y="217170"/>
                  </a:lnTo>
                  <a:lnTo>
                    <a:pt x="4715" y="182079"/>
                  </a:lnTo>
                  <a:lnTo>
                    <a:pt x="40222" y="117614"/>
                  </a:lnTo>
                  <a:lnTo>
                    <a:pt x="69535" y="89154"/>
                  </a:lnTo>
                  <a:lnTo>
                    <a:pt x="105568" y="63817"/>
                  </a:lnTo>
                  <a:lnTo>
                    <a:pt x="147584" y="42062"/>
                  </a:lnTo>
                  <a:lnTo>
                    <a:pt x="194842" y="24345"/>
                  </a:lnTo>
                  <a:lnTo>
                    <a:pt x="246603" y="11125"/>
                  </a:lnTo>
                  <a:lnTo>
                    <a:pt x="302129" y="2857"/>
                  </a:lnTo>
                  <a:lnTo>
                    <a:pt x="360679" y="0"/>
                  </a:lnTo>
                  <a:lnTo>
                    <a:pt x="419230" y="2857"/>
                  </a:lnTo>
                  <a:lnTo>
                    <a:pt x="474756" y="11125"/>
                  </a:lnTo>
                  <a:lnTo>
                    <a:pt x="526517" y="24345"/>
                  </a:lnTo>
                  <a:lnTo>
                    <a:pt x="573775" y="42062"/>
                  </a:lnTo>
                  <a:lnTo>
                    <a:pt x="615791" y="63817"/>
                  </a:lnTo>
                  <a:lnTo>
                    <a:pt x="651824" y="89153"/>
                  </a:lnTo>
                  <a:lnTo>
                    <a:pt x="681137" y="117614"/>
                  </a:lnTo>
                  <a:lnTo>
                    <a:pt x="716644" y="182079"/>
                  </a:lnTo>
                  <a:lnTo>
                    <a:pt x="721359" y="217170"/>
                  </a:lnTo>
                  <a:lnTo>
                    <a:pt x="716644" y="251915"/>
                  </a:lnTo>
                  <a:lnTo>
                    <a:pt x="681137" y="315890"/>
                  </a:lnTo>
                  <a:lnTo>
                    <a:pt x="651824" y="344190"/>
                  </a:lnTo>
                  <a:lnTo>
                    <a:pt x="615791" y="369411"/>
                  </a:lnTo>
                  <a:lnTo>
                    <a:pt x="573775" y="391088"/>
                  </a:lnTo>
                  <a:lnTo>
                    <a:pt x="526517" y="408758"/>
                  </a:lnTo>
                  <a:lnTo>
                    <a:pt x="474756" y="421954"/>
                  </a:lnTo>
                  <a:lnTo>
                    <a:pt x="419230" y="430213"/>
                  </a:lnTo>
                  <a:lnTo>
                    <a:pt x="360679" y="433070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1" name="object 58"/>
            <p:cNvSpPr/>
            <p:nvPr/>
          </p:nvSpPr>
          <p:spPr>
            <a:xfrm>
              <a:off x="7956550" y="5660390"/>
              <a:ext cx="721360" cy="433070"/>
            </a:xfrm>
            <a:custGeom>
              <a:avLst/>
              <a:gdLst/>
              <a:ahLst/>
              <a:cxnLst/>
              <a:rect l="l" t="t" r="r" b="b"/>
              <a:pathLst>
                <a:path w="721359" h="433070">
                  <a:moveTo>
                    <a:pt x="360679" y="0"/>
                  </a:moveTo>
                  <a:lnTo>
                    <a:pt x="302129" y="2857"/>
                  </a:lnTo>
                  <a:lnTo>
                    <a:pt x="246603" y="11125"/>
                  </a:lnTo>
                  <a:lnTo>
                    <a:pt x="194842" y="24345"/>
                  </a:lnTo>
                  <a:lnTo>
                    <a:pt x="147584" y="42062"/>
                  </a:lnTo>
                  <a:lnTo>
                    <a:pt x="105568" y="63817"/>
                  </a:lnTo>
                  <a:lnTo>
                    <a:pt x="69535" y="89154"/>
                  </a:lnTo>
                  <a:lnTo>
                    <a:pt x="40222" y="117614"/>
                  </a:lnTo>
                  <a:lnTo>
                    <a:pt x="4715" y="182079"/>
                  </a:lnTo>
                  <a:lnTo>
                    <a:pt x="0" y="217170"/>
                  </a:lnTo>
                  <a:lnTo>
                    <a:pt x="4715" y="251915"/>
                  </a:lnTo>
                  <a:lnTo>
                    <a:pt x="40222" y="315890"/>
                  </a:lnTo>
                  <a:lnTo>
                    <a:pt x="69535" y="344190"/>
                  </a:lnTo>
                  <a:lnTo>
                    <a:pt x="105568" y="369411"/>
                  </a:lnTo>
                  <a:lnTo>
                    <a:pt x="147584" y="391088"/>
                  </a:lnTo>
                  <a:lnTo>
                    <a:pt x="194842" y="408758"/>
                  </a:lnTo>
                  <a:lnTo>
                    <a:pt x="246603" y="421954"/>
                  </a:lnTo>
                  <a:lnTo>
                    <a:pt x="302129" y="430213"/>
                  </a:lnTo>
                  <a:lnTo>
                    <a:pt x="360679" y="433070"/>
                  </a:lnTo>
                  <a:lnTo>
                    <a:pt x="419230" y="430213"/>
                  </a:lnTo>
                  <a:lnTo>
                    <a:pt x="474756" y="421954"/>
                  </a:lnTo>
                  <a:lnTo>
                    <a:pt x="526517" y="408758"/>
                  </a:lnTo>
                  <a:lnTo>
                    <a:pt x="573775" y="391088"/>
                  </a:lnTo>
                  <a:lnTo>
                    <a:pt x="615791" y="369411"/>
                  </a:lnTo>
                  <a:lnTo>
                    <a:pt x="651824" y="344190"/>
                  </a:lnTo>
                  <a:lnTo>
                    <a:pt x="681137" y="315890"/>
                  </a:lnTo>
                  <a:lnTo>
                    <a:pt x="716644" y="251915"/>
                  </a:lnTo>
                  <a:lnTo>
                    <a:pt x="721359" y="217170"/>
                  </a:lnTo>
                  <a:lnTo>
                    <a:pt x="716644" y="182079"/>
                  </a:lnTo>
                  <a:lnTo>
                    <a:pt x="681137" y="117614"/>
                  </a:lnTo>
                  <a:lnTo>
                    <a:pt x="651824" y="89154"/>
                  </a:lnTo>
                  <a:lnTo>
                    <a:pt x="615791" y="63817"/>
                  </a:lnTo>
                  <a:lnTo>
                    <a:pt x="573775" y="42062"/>
                  </a:lnTo>
                  <a:lnTo>
                    <a:pt x="526517" y="24345"/>
                  </a:lnTo>
                  <a:lnTo>
                    <a:pt x="474756" y="11125"/>
                  </a:lnTo>
                  <a:lnTo>
                    <a:pt x="419230" y="2857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CC9800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2" name="object 59"/>
            <p:cNvSpPr/>
            <p:nvPr/>
          </p:nvSpPr>
          <p:spPr>
            <a:xfrm>
              <a:off x="7956550" y="5660390"/>
              <a:ext cx="721360" cy="433070"/>
            </a:xfrm>
            <a:custGeom>
              <a:avLst/>
              <a:gdLst/>
              <a:ahLst/>
              <a:cxnLst/>
              <a:rect l="l" t="t" r="r" b="b"/>
              <a:pathLst>
                <a:path w="721359" h="433070">
                  <a:moveTo>
                    <a:pt x="360679" y="433070"/>
                  </a:moveTo>
                  <a:lnTo>
                    <a:pt x="302129" y="430213"/>
                  </a:lnTo>
                  <a:lnTo>
                    <a:pt x="246603" y="421954"/>
                  </a:lnTo>
                  <a:lnTo>
                    <a:pt x="194842" y="408758"/>
                  </a:lnTo>
                  <a:lnTo>
                    <a:pt x="147584" y="391088"/>
                  </a:lnTo>
                  <a:lnTo>
                    <a:pt x="105568" y="369411"/>
                  </a:lnTo>
                  <a:lnTo>
                    <a:pt x="69535" y="344190"/>
                  </a:lnTo>
                  <a:lnTo>
                    <a:pt x="40222" y="315890"/>
                  </a:lnTo>
                  <a:lnTo>
                    <a:pt x="4715" y="251915"/>
                  </a:lnTo>
                  <a:lnTo>
                    <a:pt x="0" y="217170"/>
                  </a:lnTo>
                  <a:lnTo>
                    <a:pt x="4715" y="182079"/>
                  </a:lnTo>
                  <a:lnTo>
                    <a:pt x="40222" y="117614"/>
                  </a:lnTo>
                  <a:lnTo>
                    <a:pt x="69535" y="89154"/>
                  </a:lnTo>
                  <a:lnTo>
                    <a:pt x="105568" y="63817"/>
                  </a:lnTo>
                  <a:lnTo>
                    <a:pt x="147584" y="42062"/>
                  </a:lnTo>
                  <a:lnTo>
                    <a:pt x="194842" y="24345"/>
                  </a:lnTo>
                  <a:lnTo>
                    <a:pt x="246603" y="11125"/>
                  </a:lnTo>
                  <a:lnTo>
                    <a:pt x="302129" y="2857"/>
                  </a:lnTo>
                  <a:lnTo>
                    <a:pt x="360679" y="0"/>
                  </a:lnTo>
                  <a:lnTo>
                    <a:pt x="419230" y="2857"/>
                  </a:lnTo>
                  <a:lnTo>
                    <a:pt x="474756" y="11125"/>
                  </a:lnTo>
                  <a:lnTo>
                    <a:pt x="526517" y="24345"/>
                  </a:lnTo>
                  <a:lnTo>
                    <a:pt x="573775" y="42062"/>
                  </a:lnTo>
                  <a:lnTo>
                    <a:pt x="615791" y="63817"/>
                  </a:lnTo>
                  <a:lnTo>
                    <a:pt x="651824" y="89153"/>
                  </a:lnTo>
                  <a:lnTo>
                    <a:pt x="681137" y="117614"/>
                  </a:lnTo>
                  <a:lnTo>
                    <a:pt x="716644" y="182079"/>
                  </a:lnTo>
                  <a:lnTo>
                    <a:pt x="721359" y="217170"/>
                  </a:lnTo>
                  <a:lnTo>
                    <a:pt x="716644" y="251915"/>
                  </a:lnTo>
                  <a:lnTo>
                    <a:pt x="681137" y="315890"/>
                  </a:lnTo>
                  <a:lnTo>
                    <a:pt x="651824" y="344190"/>
                  </a:lnTo>
                  <a:lnTo>
                    <a:pt x="615791" y="369411"/>
                  </a:lnTo>
                  <a:lnTo>
                    <a:pt x="573775" y="391088"/>
                  </a:lnTo>
                  <a:lnTo>
                    <a:pt x="526517" y="408758"/>
                  </a:lnTo>
                  <a:lnTo>
                    <a:pt x="474756" y="421954"/>
                  </a:lnTo>
                  <a:lnTo>
                    <a:pt x="419230" y="430213"/>
                  </a:lnTo>
                  <a:lnTo>
                    <a:pt x="360679" y="433070"/>
                  </a:lnTo>
                  <a:close/>
                </a:path>
              </a:pathLst>
            </a:custGeom>
            <a:ln w="9344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3" name="object 60"/>
            <p:cNvSpPr/>
            <p:nvPr/>
          </p:nvSpPr>
          <p:spPr>
            <a:xfrm>
              <a:off x="7451090" y="587247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4" name="object 61"/>
            <p:cNvSpPr/>
            <p:nvPr/>
          </p:nvSpPr>
          <p:spPr>
            <a:xfrm>
              <a:off x="7471409" y="5872479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90" y="0"/>
                  </a:lnTo>
                  <a:lnTo>
                    <a:pt x="889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5" name="object 62"/>
            <p:cNvSpPr/>
            <p:nvPr/>
          </p:nvSpPr>
          <p:spPr>
            <a:xfrm>
              <a:off x="7490459" y="5872479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6" name="object 63"/>
            <p:cNvSpPr/>
            <p:nvPr/>
          </p:nvSpPr>
          <p:spPr>
            <a:xfrm>
              <a:off x="7509509" y="587247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60" y="0"/>
                  </a:lnTo>
                  <a:lnTo>
                    <a:pt x="1016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7" name="object 64"/>
            <p:cNvSpPr/>
            <p:nvPr/>
          </p:nvSpPr>
          <p:spPr>
            <a:xfrm>
              <a:off x="7529830" y="587247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90" y="0"/>
                  </a:lnTo>
                  <a:lnTo>
                    <a:pt x="889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8" name="object 65"/>
            <p:cNvSpPr/>
            <p:nvPr/>
          </p:nvSpPr>
          <p:spPr>
            <a:xfrm>
              <a:off x="7548880" y="587247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90" y="0"/>
                  </a:lnTo>
                  <a:lnTo>
                    <a:pt x="889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19" name="object 66"/>
            <p:cNvSpPr/>
            <p:nvPr/>
          </p:nvSpPr>
          <p:spPr>
            <a:xfrm>
              <a:off x="7567930" y="587247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60" y="0"/>
                  </a:lnTo>
                  <a:lnTo>
                    <a:pt x="1016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0" name="object 67"/>
            <p:cNvSpPr/>
            <p:nvPr/>
          </p:nvSpPr>
          <p:spPr>
            <a:xfrm>
              <a:off x="7586980" y="587247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60" y="0"/>
                  </a:lnTo>
                  <a:lnTo>
                    <a:pt x="1016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1" name="object 68"/>
            <p:cNvSpPr/>
            <p:nvPr/>
          </p:nvSpPr>
          <p:spPr>
            <a:xfrm>
              <a:off x="7607300" y="587247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90" y="0"/>
                  </a:lnTo>
                  <a:lnTo>
                    <a:pt x="889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2" name="object 69"/>
            <p:cNvSpPr/>
            <p:nvPr/>
          </p:nvSpPr>
          <p:spPr>
            <a:xfrm>
              <a:off x="7626350" y="587247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59" y="0"/>
                  </a:lnTo>
                  <a:lnTo>
                    <a:pt x="1015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3" name="object 70"/>
            <p:cNvSpPr/>
            <p:nvPr/>
          </p:nvSpPr>
          <p:spPr>
            <a:xfrm>
              <a:off x="7645400" y="587247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59" y="0"/>
                  </a:lnTo>
                  <a:lnTo>
                    <a:pt x="1015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4" name="object 71"/>
            <p:cNvSpPr/>
            <p:nvPr/>
          </p:nvSpPr>
          <p:spPr>
            <a:xfrm>
              <a:off x="7665719" y="587247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89" y="0"/>
                  </a:lnTo>
                  <a:lnTo>
                    <a:pt x="888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5" name="object 72"/>
            <p:cNvSpPr/>
            <p:nvPr/>
          </p:nvSpPr>
          <p:spPr>
            <a:xfrm>
              <a:off x="7684769" y="5872479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90" h="10160">
                  <a:moveTo>
                    <a:pt x="0" y="0"/>
                  </a:moveTo>
                  <a:lnTo>
                    <a:pt x="8889" y="0"/>
                  </a:lnTo>
                  <a:lnTo>
                    <a:pt x="888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6" name="object 73"/>
            <p:cNvSpPr/>
            <p:nvPr/>
          </p:nvSpPr>
          <p:spPr>
            <a:xfrm>
              <a:off x="7703819" y="587247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0"/>
                  </a:moveTo>
                  <a:lnTo>
                    <a:pt x="10159" y="0"/>
                  </a:lnTo>
                  <a:lnTo>
                    <a:pt x="10159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74"/>
            <p:cNvSpPr/>
            <p:nvPr/>
          </p:nvSpPr>
          <p:spPr>
            <a:xfrm>
              <a:off x="7722869" y="5873750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75"/>
            <p:cNvSpPr/>
            <p:nvPr/>
          </p:nvSpPr>
          <p:spPr>
            <a:xfrm>
              <a:off x="7741919" y="5873750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10159" y="0"/>
                  </a:moveTo>
                  <a:lnTo>
                    <a:pt x="1270" y="0"/>
                  </a:lnTo>
                  <a:lnTo>
                    <a:pt x="0" y="8890"/>
                  </a:lnTo>
                  <a:lnTo>
                    <a:pt x="10159" y="889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76"/>
            <p:cNvSpPr/>
            <p:nvPr/>
          </p:nvSpPr>
          <p:spPr>
            <a:xfrm>
              <a:off x="7762240" y="5873750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89" y="0"/>
                  </a:lnTo>
                  <a:lnTo>
                    <a:pt x="888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77"/>
            <p:cNvSpPr/>
            <p:nvPr/>
          </p:nvSpPr>
          <p:spPr>
            <a:xfrm>
              <a:off x="7781290" y="5873750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78"/>
            <p:cNvSpPr/>
            <p:nvPr/>
          </p:nvSpPr>
          <p:spPr>
            <a:xfrm>
              <a:off x="7800340" y="5873750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59" y="0"/>
                  </a:lnTo>
                  <a:lnTo>
                    <a:pt x="10159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79"/>
            <p:cNvSpPr/>
            <p:nvPr/>
          </p:nvSpPr>
          <p:spPr>
            <a:xfrm>
              <a:off x="7820659" y="5873750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90" y="0"/>
                  </a:lnTo>
                  <a:lnTo>
                    <a:pt x="889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3" name="object 80"/>
            <p:cNvSpPr/>
            <p:nvPr/>
          </p:nvSpPr>
          <p:spPr>
            <a:xfrm>
              <a:off x="7839709" y="5873750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4" name="object 81"/>
            <p:cNvSpPr/>
            <p:nvPr/>
          </p:nvSpPr>
          <p:spPr>
            <a:xfrm>
              <a:off x="7858759" y="5873750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89">
                  <a:moveTo>
                    <a:pt x="0" y="0"/>
                  </a:moveTo>
                  <a:lnTo>
                    <a:pt x="10160" y="0"/>
                  </a:lnTo>
                  <a:lnTo>
                    <a:pt x="1016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5" name="object 82"/>
            <p:cNvSpPr/>
            <p:nvPr/>
          </p:nvSpPr>
          <p:spPr>
            <a:xfrm>
              <a:off x="7879080" y="5873750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0"/>
                  </a:moveTo>
                  <a:lnTo>
                    <a:pt x="6350" y="0"/>
                  </a:lnTo>
                  <a:lnTo>
                    <a:pt x="6350" y="8890"/>
                  </a:lnTo>
                  <a:lnTo>
                    <a:pt x="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6" name="object 83"/>
            <p:cNvSpPr/>
            <p:nvPr/>
          </p:nvSpPr>
          <p:spPr>
            <a:xfrm>
              <a:off x="6156959" y="5514340"/>
              <a:ext cx="78740" cy="80010"/>
            </a:xfrm>
            <a:custGeom>
              <a:avLst/>
              <a:gdLst/>
              <a:ahLst/>
              <a:cxnLst/>
              <a:rect l="l" t="t" r="r" b="b"/>
              <a:pathLst>
                <a:path w="78739" h="80010">
                  <a:moveTo>
                    <a:pt x="25400" y="0"/>
                  </a:moveTo>
                  <a:lnTo>
                    <a:pt x="0" y="80010"/>
                  </a:lnTo>
                  <a:lnTo>
                    <a:pt x="78739" y="52070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7" name="object 84"/>
            <p:cNvSpPr/>
            <p:nvPr/>
          </p:nvSpPr>
          <p:spPr>
            <a:xfrm>
              <a:off x="6195059" y="4933950"/>
              <a:ext cx="612140" cy="621030"/>
            </a:xfrm>
            <a:custGeom>
              <a:avLst/>
              <a:gdLst/>
              <a:ahLst/>
              <a:cxnLst/>
              <a:rect l="l" t="t" r="r" b="b"/>
              <a:pathLst>
                <a:path w="612140" h="621029">
                  <a:moveTo>
                    <a:pt x="605789" y="0"/>
                  </a:moveTo>
                  <a:lnTo>
                    <a:pt x="0" y="613410"/>
                  </a:lnTo>
                  <a:lnTo>
                    <a:pt x="7619" y="621030"/>
                  </a:lnTo>
                  <a:lnTo>
                    <a:pt x="612139" y="6350"/>
                  </a:lnTo>
                  <a:lnTo>
                    <a:pt x="60578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8" name="object 85"/>
            <p:cNvSpPr/>
            <p:nvPr/>
          </p:nvSpPr>
          <p:spPr>
            <a:xfrm>
              <a:off x="6803390" y="493649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9" name="object 86"/>
            <p:cNvSpPr/>
            <p:nvPr/>
          </p:nvSpPr>
          <p:spPr>
            <a:xfrm>
              <a:off x="6998969" y="5582920"/>
              <a:ext cx="74930" cy="82550"/>
            </a:xfrm>
            <a:custGeom>
              <a:avLst/>
              <a:gdLst/>
              <a:ahLst/>
              <a:cxnLst/>
              <a:rect l="l" t="t" r="r" b="b"/>
              <a:pathLst>
                <a:path w="74929" h="82550">
                  <a:moveTo>
                    <a:pt x="0" y="0"/>
                  </a:moveTo>
                  <a:lnTo>
                    <a:pt x="21589" y="82549"/>
                  </a:lnTo>
                  <a:lnTo>
                    <a:pt x="74929" y="16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0" name="object 87"/>
            <p:cNvSpPr/>
            <p:nvPr/>
          </p:nvSpPr>
          <p:spPr>
            <a:xfrm>
              <a:off x="7028180" y="5007609"/>
              <a:ext cx="140970" cy="599440"/>
            </a:xfrm>
            <a:custGeom>
              <a:avLst/>
              <a:gdLst/>
              <a:ahLst/>
              <a:cxnLst/>
              <a:rect l="l" t="t" r="r" b="b"/>
              <a:pathLst>
                <a:path w="140970" h="599439">
                  <a:moveTo>
                    <a:pt x="132079" y="0"/>
                  </a:moveTo>
                  <a:lnTo>
                    <a:pt x="0" y="598169"/>
                  </a:lnTo>
                  <a:lnTo>
                    <a:pt x="5079" y="598169"/>
                  </a:lnTo>
                  <a:lnTo>
                    <a:pt x="8890" y="599439"/>
                  </a:lnTo>
                  <a:lnTo>
                    <a:pt x="140970" y="1269"/>
                  </a:lnTo>
                  <a:lnTo>
                    <a:pt x="135890" y="1269"/>
                  </a:lnTo>
                  <a:lnTo>
                    <a:pt x="13207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1" name="object 88"/>
            <p:cNvSpPr/>
            <p:nvPr/>
          </p:nvSpPr>
          <p:spPr>
            <a:xfrm>
              <a:off x="7164069" y="50088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2" name="object 89"/>
            <p:cNvSpPr/>
            <p:nvPr/>
          </p:nvSpPr>
          <p:spPr>
            <a:xfrm>
              <a:off x="8108950" y="5581650"/>
              <a:ext cx="67310" cy="83820"/>
            </a:xfrm>
            <a:custGeom>
              <a:avLst/>
              <a:gdLst/>
              <a:ahLst/>
              <a:cxnLst/>
              <a:rect l="l" t="t" r="r" b="b"/>
              <a:pathLst>
                <a:path w="67309" h="83820">
                  <a:moveTo>
                    <a:pt x="67309" y="0"/>
                  </a:moveTo>
                  <a:lnTo>
                    <a:pt x="0" y="33019"/>
                  </a:lnTo>
                  <a:lnTo>
                    <a:pt x="67309" y="83819"/>
                  </a:lnTo>
                  <a:lnTo>
                    <a:pt x="6730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3" name="object 90"/>
            <p:cNvSpPr/>
            <p:nvPr/>
          </p:nvSpPr>
          <p:spPr>
            <a:xfrm>
              <a:off x="7802880" y="4935220"/>
              <a:ext cx="350520" cy="678180"/>
            </a:xfrm>
            <a:custGeom>
              <a:avLst/>
              <a:gdLst/>
              <a:ahLst/>
              <a:cxnLst/>
              <a:rect l="l" t="t" r="r" b="b"/>
              <a:pathLst>
                <a:path w="350520" h="678179">
                  <a:moveTo>
                    <a:pt x="8890" y="0"/>
                  </a:moveTo>
                  <a:lnTo>
                    <a:pt x="3810" y="1269"/>
                  </a:lnTo>
                  <a:lnTo>
                    <a:pt x="0" y="3809"/>
                  </a:lnTo>
                  <a:lnTo>
                    <a:pt x="341629" y="678179"/>
                  </a:lnTo>
                  <a:lnTo>
                    <a:pt x="346710" y="676909"/>
                  </a:lnTo>
                  <a:lnTo>
                    <a:pt x="350520" y="674369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4" name="object 91"/>
            <p:cNvSpPr/>
            <p:nvPr/>
          </p:nvSpPr>
          <p:spPr>
            <a:xfrm>
              <a:off x="7806690" y="493649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45" name="Espace réservé du numéro de diapositive 4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Conception d’une base de données</a:t>
            </a:r>
            <a:br>
              <a:rPr lang="fr-FR" dirty="0" smtClean="0"/>
            </a:br>
            <a:r>
              <a:rPr lang="fr-FR" dirty="0" smtClean="0"/>
              <a:t>répartie</a:t>
            </a:r>
            <a:br>
              <a:rPr lang="fr-FR" dirty="0" smtClean="0"/>
            </a:br>
            <a:endParaRPr lang="fr-F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0238" y="2708923"/>
            <a:ext cx="4581525" cy="371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11560" y="1772816"/>
            <a:ext cx="6624736" cy="369332"/>
          </a:xfrm>
          <a:prstGeom prst="rect">
            <a:avLst/>
          </a:prstGeom>
        </p:spPr>
        <p:txBody>
          <a:bodyPr wrap="square" lIns="91407" tIns="45704" rIns="91407" bIns="45704">
            <a:spAutoFit/>
          </a:bodyPr>
          <a:lstStyle/>
          <a:p>
            <a:pPr defTabSz="914079"/>
            <a:r>
              <a:rPr lang="fr-FR" b="1" dirty="0">
                <a:solidFill>
                  <a:prstClr val="black"/>
                </a:solidFill>
              </a:rPr>
              <a:t>Conception descendante (</a:t>
            </a:r>
            <a:r>
              <a:rPr lang="fr-FR" b="1" i="1" dirty="0">
                <a:solidFill>
                  <a:prstClr val="black"/>
                </a:solidFill>
              </a:rPr>
              <a:t>top down design)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AAE0E6-1385-44E0-8EAE-F204D7E7A5E9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80" y="5897371"/>
            <a:ext cx="473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7544" y="404664"/>
            <a:ext cx="5792904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700" dirty="0" smtClean="0"/>
              <a:t>Schémas d’une BD	répartie</a:t>
            </a:r>
            <a:endParaRPr lang="fr-FR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535940" y="1386078"/>
            <a:ext cx="4507230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 defTabSz="914079"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solidFill>
                  <a:prstClr val="black"/>
                </a:solidFill>
                <a:cs typeface="Century Schoolbook"/>
              </a:rPr>
              <a:t>Dans un contexte centralisé</a:t>
            </a:r>
            <a:r>
              <a:rPr sz="2400" spc="-13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:</a:t>
            </a:r>
            <a:endParaRPr sz="2400">
              <a:solidFill>
                <a:prstClr val="black"/>
              </a:solidFill>
              <a:cs typeface="Century Schoolbook"/>
            </a:endParaRPr>
          </a:p>
          <a:p>
            <a:pPr defTabSz="914079">
              <a:spcBef>
                <a:spcPts val="55"/>
              </a:spcBef>
            </a:pPr>
            <a:endParaRPr sz="3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692275" defTabSz="914079"/>
            <a:r>
              <a:rPr sz="2400" spc="-5" dirty="0">
                <a:solidFill>
                  <a:prstClr val="black"/>
                </a:solidFill>
                <a:cs typeface="Century Schoolbook"/>
              </a:rPr>
              <a:t>Analyse des</a:t>
            </a:r>
            <a:r>
              <a:rPr sz="2400" spc="-9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besoins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3933" y="3596385"/>
            <a:ext cx="425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2400" dirty="0">
                <a:solidFill>
                  <a:prstClr val="black"/>
                </a:solidFill>
                <a:cs typeface="Century Schoolbook"/>
              </a:rPr>
              <a:t>Modèle conceptuel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de</a:t>
            </a:r>
            <a:r>
              <a:rPr sz="2400" spc="-13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données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0066" y="5364581"/>
            <a:ext cx="214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2400" dirty="0">
                <a:solidFill>
                  <a:prstClr val="black"/>
                </a:solidFill>
                <a:cs typeface="Century Schoolbook"/>
              </a:rPr>
              <a:t>Modèle</a:t>
            </a:r>
            <a:r>
              <a:rPr sz="2400" spc="-8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logique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4247" y="6474663"/>
            <a:ext cx="229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1400" b="1" spc="-5" dirty="0">
                <a:solidFill>
                  <a:prstClr val="black"/>
                </a:solidFill>
                <a:cs typeface="Century Schoolbook"/>
              </a:rPr>
              <a:t>32</a:t>
            </a:r>
            <a:endParaRPr sz="1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08653" y="2782061"/>
            <a:ext cx="721360" cy="647700"/>
          </a:xfrm>
          <a:custGeom>
            <a:avLst/>
            <a:gdLst/>
            <a:ahLst/>
            <a:cxnLst/>
            <a:rect l="l" t="t" r="r" b="b"/>
            <a:pathLst>
              <a:path w="721360" h="647700">
                <a:moveTo>
                  <a:pt x="720851" y="323850"/>
                </a:moveTo>
                <a:lnTo>
                  <a:pt x="0" y="323850"/>
                </a:lnTo>
                <a:lnTo>
                  <a:pt x="360425" y="647700"/>
                </a:lnTo>
                <a:lnTo>
                  <a:pt x="720851" y="323850"/>
                </a:lnTo>
                <a:close/>
              </a:path>
              <a:path w="721360" h="647700">
                <a:moveTo>
                  <a:pt x="540638" y="0"/>
                </a:moveTo>
                <a:lnTo>
                  <a:pt x="180212" y="0"/>
                </a:lnTo>
                <a:lnTo>
                  <a:pt x="180212" y="323850"/>
                </a:lnTo>
                <a:lnTo>
                  <a:pt x="540638" y="323850"/>
                </a:lnTo>
                <a:lnTo>
                  <a:pt x="540638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08653" y="2782061"/>
            <a:ext cx="721360" cy="647700"/>
          </a:xfrm>
          <a:custGeom>
            <a:avLst/>
            <a:gdLst/>
            <a:ahLst/>
            <a:cxnLst/>
            <a:rect l="l" t="t" r="r" b="b"/>
            <a:pathLst>
              <a:path w="721360" h="647700">
                <a:moveTo>
                  <a:pt x="0" y="323850"/>
                </a:moveTo>
                <a:lnTo>
                  <a:pt x="180212" y="323850"/>
                </a:lnTo>
                <a:lnTo>
                  <a:pt x="180212" y="0"/>
                </a:lnTo>
                <a:lnTo>
                  <a:pt x="540638" y="0"/>
                </a:lnTo>
                <a:lnTo>
                  <a:pt x="540638" y="323850"/>
                </a:lnTo>
                <a:lnTo>
                  <a:pt x="720851" y="323850"/>
                </a:lnTo>
                <a:lnTo>
                  <a:pt x="360425" y="647700"/>
                </a:lnTo>
                <a:lnTo>
                  <a:pt x="0" y="323850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8653" y="4437126"/>
            <a:ext cx="721360" cy="649605"/>
          </a:xfrm>
          <a:custGeom>
            <a:avLst/>
            <a:gdLst/>
            <a:ahLst/>
            <a:cxnLst/>
            <a:rect l="l" t="t" r="r" b="b"/>
            <a:pathLst>
              <a:path w="721360" h="649604">
                <a:moveTo>
                  <a:pt x="720851" y="324612"/>
                </a:moveTo>
                <a:lnTo>
                  <a:pt x="0" y="324612"/>
                </a:lnTo>
                <a:lnTo>
                  <a:pt x="360425" y="649224"/>
                </a:lnTo>
                <a:lnTo>
                  <a:pt x="720851" y="324612"/>
                </a:lnTo>
                <a:close/>
              </a:path>
              <a:path w="721360" h="649604">
                <a:moveTo>
                  <a:pt x="540638" y="0"/>
                </a:moveTo>
                <a:lnTo>
                  <a:pt x="180212" y="0"/>
                </a:lnTo>
                <a:lnTo>
                  <a:pt x="180212" y="324612"/>
                </a:lnTo>
                <a:lnTo>
                  <a:pt x="540638" y="324612"/>
                </a:lnTo>
                <a:lnTo>
                  <a:pt x="540638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08653" y="4437126"/>
            <a:ext cx="721360" cy="649605"/>
          </a:xfrm>
          <a:custGeom>
            <a:avLst/>
            <a:gdLst/>
            <a:ahLst/>
            <a:cxnLst/>
            <a:rect l="l" t="t" r="r" b="b"/>
            <a:pathLst>
              <a:path w="721360" h="649604">
                <a:moveTo>
                  <a:pt x="0" y="324612"/>
                </a:moveTo>
                <a:lnTo>
                  <a:pt x="180212" y="324612"/>
                </a:lnTo>
                <a:lnTo>
                  <a:pt x="180212" y="0"/>
                </a:lnTo>
                <a:lnTo>
                  <a:pt x="540638" y="0"/>
                </a:lnTo>
                <a:lnTo>
                  <a:pt x="540638" y="324612"/>
                </a:lnTo>
                <a:lnTo>
                  <a:pt x="720851" y="324612"/>
                </a:lnTo>
                <a:lnTo>
                  <a:pt x="360425" y="649224"/>
                </a:lnTo>
                <a:lnTo>
                  <a:pt x="0" y="324612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04676" y="1917188"/>
            <a:ext cx="1039062" cy="9353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12179" y="3289892"/>
            <a:ext cx="2375916" cy="12154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59880" y="5012435"/>
            <a:ext cx="2153412" cy="16367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75450" y="4107941"/>
            <a:ext cx="2368550" cy="928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4840" defTabSz="914079">
              <a:spcBef>
                <a:spcPts val="100"/>
              </a:spcBef>
            </a:pPr>
            <a:r>
              <a:rPr sz="1400" dirty="0" err="1">
                <a:solidFill>
                  <a:prstClr val="black"/>
                </a:solidFill>
                <a:cs typeface="Century Schoolbook"/>
              </a:rPr>
              <a:t>Schéma</a:t>
            </a:r>
            <a:r>
              <a:rPr sz="1400" spc="-8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400" spc="-5" dirty="0" smtClean="0">
                <a:solidFill>
                  <a:prstClr val="black"/>
                </a:solidFill>
                <a:cs typeface="Century Schoolbook"/>
              </a:rPr>
              <a:t>E</a:t>
            </a:r>
            <a:r>
              <a:rPr lang="fr-FR" sz="1400" spc="-5" dirty="0" err="1" smtClean="0">
                <a:solidFill>
                  <a:prstClr val="black"/>
                </a:solidFill>
                <a:cs typeface="Century Schoolbook"/>
              </a:rPr>
              <a:t>ntité</a:t>
            </a:r>
            <a:r>
              <a:rPr sz="1400" spc="-5" dirty="0" smtClean="0">
                <a:solidFill>
                  <a:prstClr val="black"/>
                </a:solidFill>
                <a:cs typeface="Century Schoolbook"/>
              </a:rPr>
              <a:t>/A</a:t>
            </a:r>
            <a:r>
              <a:rPr lang="fr-FR" sz="1400" spc="-5" dirty="0" err="1" smtClean="0">
                <a:solidFill>
                  <a:prstClr val="black"/>
                </a:solidFill>
                <a:cs typeface="Century Schoolbook"/>
              </a:rPr>
              <a:t>ssociation</a:t>
            </a:r>
            <a:endParaRPr sz="1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914079">
              <a:spcBef>
                <a:spcPts val="25"/>
              </a:spcBef>
            </a:pPr>
            <a:endParaRPr sz="17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defTabSz="914079"/>
            <a:r>
              <a:rPr sz="1400" spc="-5" dirty="0">
                <a:solidFill>
                  <a:prstClr val="black"/>
                </a:solidFill>
                <a:cs typeface="Century Schoolbook"/>
              </a:rPr>
              <a:t>Modèle</a:t>
            </a:r>
            <a:r>
              <a:rPr sz="1400" spc="-5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400" dirty="0">
                <a:solidFill>
                  <a:prstClr val="black"/>
                </a:solidFill>
                <a:cs typeface="Century Schoolbook"/>
              </a:rPr>
              <a:t>relationnel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80" y="5897371"/>
            <a:ext cx="473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7288" y="621538"/>
            <a:ext cx="6090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smtClean="0"/>
              <a:t>CONTEXTE</a:t>
            </a:r>
            <a:r>
              <a:rPr spc="445" dirty="0" smtClean="0"/>
              <a:t> </a:t>
            </a:r>
            <a:r>
              <a:rPr spc="-5" dirty="0"/>
              <a:t>DÉCENTRALISÉ</a:t>
            </a:r>
            <a:endParaRPr sz="3000" dirty="0"/>
          </a:p>
        </p:txBody>
      </p:sp>
      <p:sp>
        <p:nvSpPr>
          <p:cNvPr id="5" name="object 5"/>
          <p:cNvSpPr txBox="1"/>
          <p:nvPr/>
        </p:nvSpPr>
        <p:spPr>
          <a:xfrm>
            <a:off x="8334247" y="6474663"/>
            <a:ext cx="229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1400" b="1" spc="-5" dirty="0">
                <a:solidFill>
                  <a:prstClr val="black"/>
                </a:solidFill>
                <a:cs typeface="Century Schoolbook"/>
              </a:rPr>
              <a:t>33</a:t>
            </a:r>
            <a:endParaRPr sz="1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4444" y="1372616"/>
            <a:ext cx="1190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defTabSz="914079">
              <a:spcBef>
                <a:spcPts val="95"/>
              </a:spcBef>
            </a:pPr>
            <a:r>
              <a:rPr sz="1000" spc="-5" dirty="0">
                <a:solidFill>
                  <a:prstClr val="black"/>
                </a:solidFill>
                <a:cs typeface="Century Schoolbook"/>
              </a:rPr>
              <a:t>Analyse des</a:t>
            </a:r>
            <a:r>
              <a:rPr sz="1000" spc="-6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000" spc="-5" dirty="0">
                <a:solidFill>
                  <a:prstClr val="black"/>
                </a:solidFill>
                <a:cs typeface="Century Schoolbook"/>
              </a:rPr>
              <a:t>besoins</a:t>
            </a:r>
            <a:endParaRPr sz="10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4216" y="2058416"/>
            <a:ext cx="17900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defTabSz="914079">
              <a:spcBef>
                <a:spcPts val="95"/>
              </a:spcBef>
            </a:pPr>
            <a:r>
              <a:rPr sz="1000" spc="-5" dirty="0">
                <a:solidFill>
                  <a:prstClr val="black"/>
                </a:solidFill>
                <a:cs typeface="Century Schoolbook"/>
              </a:rPr>
              <a:t>Modèle conceptuel de</a:t>
            </a:r>
            <a:r>
              <a:rPr sz="1000" spc="-2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000" dirty="0">
                <a:solidFill>
                  <a:prstClr val="black"/>
                </a:solidFill>
                <a:cs typeface="Century Schoolbook"/>
              </a:rPr>
              <a:t>données</a:t>
            </a:r>
            <a:endParaRPr sz="10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6429" y="2973069"/>
            <a:ext cx="9061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defTabSz="914079">
              <a:spcBef>
                <a:spcPts val="95"/>
              </a:spcBef>
            </a:pPr>
            <a:r>
              <a:rPr sz="1000" spc="-5" dirty="0">
                <a:solidFill>
                  <a:prstClr val="black"/>
                </a:solidFill>
                <a:cs typeface="Century Schoolbook"/>
              </a:rPr>
              <a:t>Modèle</a:t>
            </a:r>
            <a:r>
              <a:rPr sz="1000" spc="-4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000" spc="-5" dirty="0">
                <a:solidFill>
                  <a:prstClr val="black"/>
                </a:solidFill>
                <a:cs typeface="Century Schoolbook"/>
              </a:rPr>
              <a:t>logique</a:t>
            </a:r>
            <a:endParaRPr sz="10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0617" y="1773173"/>
            <a:ext cx="433070" cy="288290"/>
          </a:xfrm>
          <a:custGeom>
            <a:avLst/>
            <a:gdLst/>
            <a:ahLst/>
            <a:cxnLst/>
            <a:rect l="l" t="t" r="r" b="b"/>
            <a:pathLst>
              <a:path w="433070" h="288289">
                <a:moveTo>
                  <a:pt x="432816" y="144017"/>
                </a:moveTo>
                <a:lnTo>
                  <a:pt x="0" y="144017"/>
                </a:lnTo>
                <a:lnTo>
                  <a:pt x="216408" y="288036"/>
                </a:lnTo>
                <a:lnTo>
                  <a:pt x="432816" y="144017"/>
                </a:lnTo>
                <a:close/>
              </a:path>
              <a:path w="433070" h="288289">
                <a:moveTo>
                  <a:pt x="324612" y="0"/>
                </a:moveTo>
                <a:lnTo>
                  <a:pt x="108204" y="0"/>
                </a:lnTo>
                <a:lnTo>
                  <a:pt x="108204" y="144017"/>
                </a:lnTo>
                <a:lnTo>
                  <a:pt x="324612" y="144017"/>
                </a:lnTo>
                <a:lnTo>
                  <a:pt x="32461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20617" y="1773173"/>
            <a:ext cx="433070" cy="288290"/>
          </a:xfrm>
          <a:custGeom>
            <a:avLst/>
            <a:gdLst/>
            <a:ahLst/>
            <a:cxnLst/>
            <a:rect l="l" t="t" r="r" b="b"/>
            <a:pathLst>
              <a:path w="433070" h="288289">
                <a:moveTo>
                  <a:pt x="0" y="144017"/>
                </a:moveTo>
                <a:lnTo>
                  <a:pt x="108204" y="144017"/>
                </a:lnTo>
                <a:lnTo>
                  <a:pt x="108204" y="0"/>
                </a:lnTo>
                <a:lnTo>
                  <a:pt x="324612" y="0"/>
                </a:lnTo>
                <a:lnTo>
                  <a:pt x="324612" y="144017"/>
                </a:lnTo>
                <a:lnTo>
                  <a:pt x="432816" y="144017"/>
                </a:lnTo>
                <a:lnTo>
                  <a:pt x="216408" y="288036"/>
                </a:lnTo>
                <a:lnTo>
                  <a:pt x="0" y="144017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20617" y="2565654"/>
            <a:ext cx="433070" cy="288290"/>
          </a:xfrm>
          <a:custGeom>
            <a:avLst/>
            <a:gdLst/>
            <a:ahLst/>
            <a:cxnLst/>
            <a:rect l="l" t="t" r="r" b="b"/>
            <a:pathLst>
              <a:path w="433070" h="288289">
                <a:moveTo>
                  <a:pt x="432816" y="144018"/>
                </a:moveTo>
                <a:lnTo>
                  <a:pt x="0" y="144018"/>
                </a:lnTo>
                <a:lnTo>
                  <a:pt x="216408" y="288036"/>
                </a:lnTo>
                <a:lnTo>
                  <a:pt x="432816" y="144018"/>
                </a:lnTo>
                <a:close/>
              </a:path>
              <a:path w="433070" h="288289">
                <a:moveTo>
                  <a:pt x="324612" y="0"/>
                </a:moveTo>
                <a:lnTo>
                  <a:pt x="108204" y="0"/>
                </a:lnTo>
                <a:lnTo>
                  <a:pt x="108204" y="144018"/>
                </a:lnTo>
                <a:lnTo>
                  <a:pt x="324612" y="144018"/>
                </a:lnTo>
                <a:lnTo>
                  <a:pt x="32461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20617" y="2565654"/>
            <a:ext cx="433070" cy="288290"/>
          </a:xfrm>
          <a:custGeom>
            <a:avLst/>
            <a:gdLst/>
            <a:ahLst/>
            <a:cxnLst/>
            <a:rect l="l" t="t" r="r" b="b"/>
            <a:pathLst>
              <a:path w="433070" h="288289">
                <a:moveTo>
                  <a:pt x="0" y="144018"/>
                </a:moveTo>
                <a:lnTo>
                  <a:pt x="108204" y="144018"/>
                </a:lnTo>
                <a:lnTo>
                  <a:pt x="108204" y="0"/>
                </a:lnTo>
                <a:lnTo>
                  <a:pt x="324612" y="0"/>
                </a:lnTo>
                <a:lnTo>
                  <a:pt x="324612" y="144018"/>
                </a:lnTo>
                <a:lnTo>
                  <a:pt x="432816" y="144018"/>
                </a:lnTo>
                <a:lnTo>
                  <a:pt x="216408" y="288036"/>
                </a:lnTo>
                <a:lnTo>
                  <a:pt x="0" y="144018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00371" y="1341119"/>
            <a:ext cx="502920" cy="1871980"/>
          </a:xfrm>
          <a:custGeom>
            <a:avLst/>
            <a:gdLst/>
            <a:ahLst/>
            <a:cxnLst/>
            <a:rect l="l" t="t" r="r" b="b"/>
            <a:pathLst>
              <a:path w="502920" h="1871980">
                <a:moveTo>
                  <a:pt x="0" y="0"/>
                </a:moveTo>
                <a:lnTo>
                  <a:pt x="81574" y="549"/>
                </a:lnTo>
                <a:lnTo>
                  <a:pt x="158959" y="2139"/>
                </a:lnTo>
                <a:lnTo>
                  <a:pt x="231118" y="4684"/>
                </a:lnTo>
                <a:lnTo>
                  <a:pt x="297015" y="8095"/>
                </a:lnTo>
                <a:lnTo>
                  <a:pt x="355615" y="12287"/>
                </a:lnTo>
                <a:lnTo>
                  <a:pt x="405883" y="17172"/>
                </a:lnTo>
                <a:lnTo>
                  <a:pt x="446783" y="22664"/>
                </a:lnTo>
                <a:lnTo>
                  <a:pt x="496337" y="35119"/>
                </a:lnTo>
                <a:lnTo>
                  <a:pt x="502919" y="41909"/>
                </a:lnTo>
                <a:lnTo>
                  <a:pt x="502919" y="1829562"/>
                </a:lnTo>
                <a:lnTo>
                  <a:pt x="446783" y="1848807"/>
                </a:lnTo>
                <a:lnTo>
                  <a:pt x="405883" y="1854299"/>
                </a:lnTo>
                <a:lnTo>
                  <a:pt x="355615" y="1859184"/>
                </a:lnTo>
                <a:lnTo>
                  <a:pt x="297015" y="1863376"/>
                </a:lnTo>
                <a:lnTo>
                  <a:pt x="231118" y="1866787"/>
                </a:lnTo>
                <a:lnTo>
                  <a:pt x="158959" y="1869332"/>
                </a:lnTo>
                <a:lnTo>
                  <a:pt x="81574" y="1870922"/>
                </a:lnTo>
                <a:lnTo>
                  <a:pt x="0" y="1871471"/>
                </a:lnTo>
              </a:path>
            </a:pathLst>
          </a:custGeom>
          <a:ln w="9144">
            <a:solidFill>
              <a:srgbClr val="FC823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3473" y="1947164"/>
            <a:ext cx="18586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Processus de  </a:t>
            </a:r>
            <a:r>
              <a:rPr dirty="0">
                <a:solidFill>
                  <a:prstClr val="black"/>
                </a:solidFill>
                <a:cs typeface="Century Schoolbook"/>
              </a:rPr>
              <a:t>conception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de</a:t>
            </a:r>
            <a:r>
              <a:rPr spc="-9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BD  centralisé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04210" y="3429761"/>
            <a:ext cx="792480" cy="719455"/>
          </a:xfrm>
          <a:custGeom>
            <a:avLst/>
            <a:gdLst/>
            <a:ahLst/>
            <a:cxnLst/>
            <a:rect l="l" t="t" r="r" b="b"/>
            <a:pathLst>
              <a:path w="792479" h="719454">
                <a:moveTo>
                  <a:pt x="792479" y="359663"/>
                </a:moveTo>
                <a:lnTo>
                  <a:pt x="0" y="359663"/>
                </a:lnTo>
                <a:lnTo>
                  <a:pt x="396239" y="719327"/>
                </a:lnTo>
                <a:lnTo>
                  <a:pt x="792479" y="359663"/>
                </a:lnTo>
                <a:close/>
              </a:path>
              <a:path w="792479" h="719454">
                <a:moveTo>
                  <a:pt x="594360" y="0"/>
                </a:moveTo>
                <a:lnTo>
                  <a:pt x="198119" y="0"/>
                </a:lnTo>
                <a:lnTo>
                  <a:pt x="198119" y="359663"/>
                </a:lnTo>
                <a:lnTo>
                  <a:pt x="594360" y="359663"/>
                </a:lnTo>
                <a:lnTo>
                  <a:pt x="59436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04210" y="3429761"/>
            <a:ext cx="792480" cy="719455"/>
          </a:xfrm>
          <a:custGeom>
            <a:avLst/>
            <a:gdLst/>
            <a:ahLst/>
            <a:cxnLst/>
            <a:rect l="l" t="t" r="r" b="b"/>
            <a:pathLst>
              <a:path w="792479" h="719454">
                <a:moveTo>
                  <a:pt x="0" y="359663"/>
                </a:moveTo>
                <a:lnTo>
                  <a:pt x="198119" y="359663"/>
                </a:lnTo>
                <a:lnTo>
                  <a:pt x="198119" y="0"/>
                </a:lnTo>
                <a:lnTo>
                  <a:pt x="594360" y="0"/>
                </a:lnTo>
                <a:lnTo>
                  <a:pt x="594360" y="359663"/>
                </a:lnTo>
                <a:lnTo>
                  <a:pt x="792479" y="359663"/>
                </a:lnTo>
                <a:lnTo>
                  <a:pt x="396239" y="719327"/>
                </a:lnTo>
                <a:lnTo>
                  <a:pt x="0" y="359663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04210" y="4725161"/>
            <a:ext cx="792480" cy="721360"/>
          </a:xfrm>
          <a:custGeom>
            <a:avLst/>
            <a:gdLst/>
            <a:ahLst/>
            <a:cxnLst/>
            <a:rect l="l" t="t" r="r" b="b"/>
            <a:pathLst>
              <a:path w="792479" h="721360">
                <a:moveTo>
                  <a:pt x="792479" y="360425"/>
                </a:moveTo>
                <a:lnTo>
                  <a:pt x="0" y="360425"/>
                </a:lnTo>
                <a:lnTo>
                  <a:pt x="396239" y="720851"/>
                </a:lnTo>
                <a:lnTo>
                  <a:pt x="792479" y="360425"/>
                </a:lnTo>
                <a:close/>
              </a:path>
              <a:path w="792479" h="721360">
                <a:moveTo>
                  <a:pt x="594360" y="0"/>
                </a:moveTo>
                <a:lnTo>
                  <a:pt x="198119" y="0"/>
                </a:lnTo>
                <a:lnTo>
                  <a:pt x="198119" y="360425"/>
                </a:lnTo>
                <a:lnTo>
                  <a:pt x="594360" y="360425"/>
                </a:lnTo>
                <a:lnTo>
                  <a:pt x="59436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04210" y="4725161"/>
            <a:ext cx="792480" cy="721360"/>
          </a:xfrm>
          <a:custGeom>
            <a:avLst/>
            <a:gdLst/>
            <a:ahLst/>
            <a:cxnLst/>
            <a:rect l="l" t="t" r="r" b="b"/>
            <a:pathLst>
              <a:path w="792479" h="721360">
                <a:moveTo>
                  <a:pt x="0" y="360425"/>
                </a:moveTo>
                <a:lnTo>
                  <a:pt x="198119" y="360425"/>
                </a:lnTo>
                <a:lnTo>
                  <a:pt x="198119" y="0"/>
                </a:lnTo>
                <a:lnTo>
                  <a:pt x="594360" y="0"/>
                </a:lnTo>
                <a:lnTo>
                  <a:pt x="594360" y="360425"/>
                </a:lnTo>
                <a:lnTo>
                  <a:pt x="792479" y="360425"/>
                </a:lnTo>
                <a:lnTo>
                  <a:pt x="396239" y="720851"/>
                </a:lnTo>
                <a:lnTo>
                  <a:pt x="0" y="360425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07735" y="4148328"/>
            <a:ext cx="504825" cy="1873250"/>
          </a:xfrm>
          <a:custGeom>
            <a:avLst/>
            <a:gdLst/>
            <a:ahLst/>
            <a:cxnLst/>
            <a:rect l="l" t="t" r="r" b="b"/>
            <a:pathLst>
              <a:path w="504825" h="1873250">
                <a:moveTo>
                  <a:pt x="0" y="0"/>
                </a:moveTo>
                <a:lnTo>
                  <a:pt x="81833" y="549"/>
                </a:lnTo>
                <a:lnTo>
                  <a:pt x="159459" y="2140"/>
                </a:lnTo>
                <a:lnTo>
                  <a:pt x="231839" y="4687"/>
                </a:lnTo>
                <a:lnTo>
                  <a:pt x="297935" y="8103"/>
                </a:lnTo>
                <a:lnTo>
                  <a:pt x="356711" y="12303"/>
                </a:lnTo>
                <a:lnTo>
                  <a:pt x="407127" y="17199"/>
                </a:lnTo>
                <a:lnTo>
                  <a:pt x="448146" y="22707"/>
                </a:lnTo>
                <a:lnTo>
                  <a:pt x="497842" y="35212"/>
                </a:lnTo>
                <a:lnTo>
                  <a:pt x="504443" y="42037"/>
                </a:lnTo>
                <a:lnTo>
                  <a:pt x="504443" y="1830959"/>
                </a:lnTo>
                <a:lnTo>
                  <a:pt x="448146" y="1850277"/>
                </a:lnTo>
                <a:lnTo>
                  <a:pt x="407127" y="1855785"/>
                </a:lnTo>
                <a:lnTo>
                  <a:pt x="356711" y="1860683"/>
                </a:lnTo>
                <a:lnTo>
                  <a:pt x="297935" y="1864885"/>
                </a:lnTo>
                <a:lnTo>
                  <a:pt x="231839" y="1868303"/>
                </a:lnTo>
                <a:lnTo>
                  <a:pt x="159459" y="1870852"/>
                </a:lnTo>
                <a:lnTo>
                  <a:pt x="81833" y="1872445"/>
                </a:lnTo>
                <a:lnTo>
                  <a:pt x="0" y="1872996"/>
                </a:lnTo>
              </a:path>
            </a:pathLst>
          </a:custGeom>
          <a:ln w="9144">
            <a:solidFill>
              <a:srgbClr val="FC823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5533" y="4166489"/>
            <a:ext cx="6079490" cy="17538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defTabSz="914079">
              <a:spcBef>
                <a:spcPts val="77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Migration </a:t>
            </a:r>
            <a:r>
              <a:rPr dirty="0">
                <a:solidFill>
                  <a:prstClr val="black"/>
                </a:solidFill>
                <a:cs typeface="Century Schoolbook"/>
              </a:rPr>
              <a:t>/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Décomposition </a:t>
            </a:r>
            <a:r>
              <a:rPr dirty="0">
                <a:solidFill>
                  <a:prstClr val="black"/>
                </a:solidFill>
                <a:cs typeface="Century Schoolbook"/>
              </a:rPr>
              <a:t>/</a:t>
            </a:r>
            <a:r>
              <a:rPr spc="-1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Réplication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4714875" marR="5080" defTabSz="914079">
              <a:spcBef>
                <a:spcPts val="675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Processus</a:t>
            </a:r>
            <a:r>
              <a:rPr spc="-6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de  distribution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defTabSz="914079"/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797560" defTabSz="914079">
              <a:spcBef>
                <a:spcPts val="1205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Allocation (Placement)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80" y="5897371"/>
            <a:ext cx="473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7544" y="404664"/>
            <a:ext cx="626701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-5" dirty="0" smtClean="0"/>
              <a:t>CONTEXTE</a:t>
            </a:r>
            <a:r>
              <a:rPr lang="fr-FR" sz="2800" spc="445" dirty="0" smtClean="0"/>
              <a:t> </a:t>
            </a:r>
            <a:r>
              <a:rPr lang="fr-FR" sz="2800" spc="-5" dirty="0" smtClean="0"/>
              <a:t>DÉCENTRALISÉ</a:t>
            </a:r>
            <a:endParaRPr sz="2250" dirty="0"/>
          </a:p>
        </p:txBody>
      </p:sp>
      <p:sp>
        <p:nvSpPr>
          <p:cNvPr id="5" name="object 5"/>
          <p:cNvSpPr txBox="1"/>
          <p:nvPr/>
        </p:nvSpPr>
        <p:spPr>
          <a:xfrm>
            <a:off x="476199" y="1859025"/>
            <a:ext cx="7658734" cy="326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955" defTabSz="914079">
              <a:spcBef>
                <a:spcPts val="9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655" algn="l"/>
              </a:tabLst>
            </a:pPr>
            <a:r>
              <a:rPr sz="2800" spc="-5" dirty="0">
                <a:solidFill>
                  <a:prstClr val="black"/>
                </a:solidFill>
                <a:cs typeface="Century Schoolbook"/>
              </a:rPr>
              <a:t>Le schéma global est constitué</a:t>
            </a:r>
            <a:r>
              <a:rPr sz="2800" spc="4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800" spc="-5" dirty="0">
                <a:solidFill>
                  <a:prstClr val="black"/>
                </a:solidFill>
                <a:cs typeface="Century Schoolbook"/>
              </a:rPr>
              <a:t>:</a:t>
            </a:r>
            <a:endParaRPr sz="2800">
              <a:solidFill>
                <a:prstClr val="black"/>
              </a:solidFill>
              <a:cs typeface="Century Schoolbook"/>
            </a:endParaRPr>
          </a:p>
          <a:p>
            <a:pPr marL="652780" lvl="1" indent="-274955" defTabSz="914079">
              <a:spcBef>
                <a:spcPts val="5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spc="-5" dirty="0">
                <a:solidFill>
                  <a:prstClr val="black"/>
                </a:solidFill>
                <a:cs typeface="Century Schoolbook"/>
              </a:rPr>
              <a:t>d’un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schéma conceptuel</a:t>
            </a:r>
            <a:r>
              <a:rPr sz="2400" spc="-8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global</a:t>
            </a:r>
            <a:endParaRPr sz="2400">
              <a:solidFill>
                <a:prstClr val="black"/>
              </a:solidFill>
              <a:cs typeface="Century Schoolbook"/>
            </a:endParaRPr>
          </a:p>
          <a:p>
            <a:pPr marL="927100" marR="213995" lvl="2" indent="-182880" defTabSz="914079">
              <a:lnSpc>
                <a:spcPct val="80000"/>
              </a:lnSpc>
              <a:spcBef>
                <a:spcPts val="484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Contenant la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description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globale et unifiée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toutes</a:t>
            </a:r>
            <a:r>
              <a:rPr sz="2000" spc="-21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les  données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la</a:t>
            </a:r>
            <a:r>
              <a:rPr sz="2000" spc="-6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BDR</a:t>
            </a:r>
            <a:endParaRPr sz="2000">
              <a:solidFill>
                <a:prstClr val="black"/>
              </a:solidFill>
              <a:cs typeface="Century Schoolbook"/>
            </a:endParaRPr>
          </a:p>
          <a:p>
            <a:pPr marL="927100" lvl="2" indent="-183515" defTabSz="914079"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Indépendant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la répartition des</a:t>
            </a:r>
            <a:r>
              <a:rPr sz="2000" spc="-13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données</a:t>
            </a:r>
            <a:endParaRPr sz="2000">
              <a:solidFill>
                <a:prstClr val="black"/>
              </a:solidFill>
              <a:cs typeface="Century Schoolbook"/>
            </a:endParaRPr>
          </a:p>
          <a:p>
            <a:pPr marL="914079" lvl="2" defTabSz="914079">
              <a:spcBef>
                <a:spcPts val="25"/>
              </a:spcBef>
              <a:buClr>
                <a:srgbClr val="DF752E"/>
              </a:buClr>
              <a:buFont typeface="Wingdings"/>
              <a:buChar char=""/>
            </a:pPr>
            <a:endParaRPr sz="2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52780" lvl="1" indent="-274955" defTabSz="914079"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spc="-5" dirty="0">
                <a:solidFill>
                  <a:prstClr val="black"/>
                </a:solidFill>
                <a:cs typeface="Century Schoolbook"/>
              </a:rPr>
              <a:t>d’un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schéma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de placement</a:t>
            </a:r>
            <a:r>
              <a:rPr sz="2400" spc="-7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(d’allocation)</a:t>
            </a:r>
            <a:endParaRPr sz="2400">
              <a:solidFill>
                <a:prstClr val="black"/>
              </a:solidFill>
              <a:cs typeface="Century Schoolbook"/>
            </a:endParaRPr>
          </a:p>
          <a:p>
            <a:pPr marL="927100" marR="5080" lvl="2" indent="-182880" defTabSz="914079">
              <a:lnSpc>
                <a:spcPct val="80000"/>
              </a:lnSpc>
              <a:spcBef>
                <a:spcPts val="484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  <a:tab pos="3473450" algn="l"/>
              </a:tabLst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Contenant</a:t>
            </a:r>
            <a:r>
              <a:rPr sz="2000" spc="-2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les</a:t>
            </a:r>
            <a:r>
              <a:rPr sz="2000" spc="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règles	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correspondance avec les</a:t>
            </a:r>
            <a:r>
              <a:rPr sz="2000" spc="-14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données  locales</a:t>
            </a:r>
            <a:endParaRPr sz="2000">
              <a:solidFill>
                <a:prstClr val="black"/>
              </a:solidFill>
              <a:cs typeface="Century Schoolbook"/>
            </a:endParaRPr>
          </a:p>
          <a:p>
            <a:pPr marL="927100" lvl="2" indent="-183515" defTabSz="914079"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indépendant à la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fragmentation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et à la</a:t>
            </a:r>
            <a:r>
              <a:rPr sz="2000" spc="-16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réplication</a:t>
            </a:r>
            <a:endParaRPr sz="2000">
              <a:solidFill>
                <a:prstClr val="black"/>
              </a:solidFill>
              <a:cs typeface="Century Schoolbook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80" y="5897371"/>
            <a:ext cx="473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7288" y="621538"/>
            <a:ext cx="363266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</a:t>
            </a:r>
            <a:r>
              <a:rPr spc="-5" dirty="0"/>
              <a:t>IGR</a:t>
            </a:r>
            <a:r>
              <a:rPr spc="-15" dirty="0"/>
              <a:t>A</a:t>
            </a:r>
            <a:r>
              <a:rPr dirty="0"/>
              <a:t>T</a:t>
            </a:r>
            <a:r>
              <a:rPr spc="-10" dirty="0"/>
              <a:t>I</a:t>
            </a:r>
            <a:r>
              <a:rPr dirty="0"/>
              <a:t>ON</a:t>
            </a:r>
            <a:endParaRPr sz="3000" dirty="0"/>
          </a:p>
        </p:txBody>
      </p:sp>
      <p:sp>
        <p:nvSpPr>
          <p:cNvPr id="5" name="object 5"/>
          <p:cNvSpPr txBox="1"/>
          <p:nvPr/>
        </p:nvSpPr>
        <p:spPr>
          <a:xfrm>
            <a:off x="8334247" y="6474663"/>
            <a:ext cx="229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1400" b="1" spc="-5" dirty="0">
                <a:solidFill>
                  <a:prstClr val="black"/>
                </a:solidFill>
                <a:cs typeface="Century Schoolbook"/>
              </a:rPr>
              <a:t>35</a:t>
            </a:r>
            <a:endParaRPr sz="1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8294" y="2745994"/>
            <a:ext cx="2016760" cy="2340610"/>
          </a:xfrm>
          <a:custGeom>
            <a:avLst/>
            <a:gdLst/>
            <a:ahLst/>
            <a:cxnLst/>
            <a:rect l="l" t="t" r="r" b="b"/>
            <a:pathLst>
              <a:path w="2016760" h="2340610">
                <a:moveTo>
                  <a:pt x="0" y="0"/>
                </a:moveTo>
                <a:lnTo>
                  <a:pt x="0" y="2088260"/>
                </a:lnTo>
                <a:lnTo>
                  <a:pt x="2531" y="2106275"/>
                </a:lnTo>
                <a:lnTo>
                  <a:pt x="22269" y="2141231"/>
                </a:lnTo>
                <a:lnTo>
                  <a:pt x="60437" y="2174472"/>
                </a:lnTo>
                <a:lnTo>
                  <a:pt x="115672" y="2205658"/>
                </a:lnTo>
                <a:lnTo>
                  <a:pt x="186606" y="2234449"/>
                </a:lnTo>
                <a:lnTo>
                  <a:pt x="227535" y="2247841"/>
                </a:lnTo>
                <a:lnTo>
                  <a:pt x="271877" y="2260506"/>
                </a:lnTo>
                <a:lnTo>
                  <a:pt x="319462" y="2272402"/>
                </a:lnTo>
                <a:lnTo>
                  <a:pt x="370119" y="2283487"/>
                </a:lnTo>
                <a:lnTo>
                  <a:pt x="423677" y="2293718"/>
                </a:lnTo>
                <a:lnTo>
                  <a:pt x="479966" y="2303052"/>
                </a:lnTo>
                <a:lnTo>
                  <a:pt x="538816" y="2311448"/>
                </a:lnTo>
                <a:lnTo>
                  <a:pt x="600056" y="2318862"/>
                </a:lnTo>
                <a:lnTo>
                  <a:pt x="663515" y="2325252"/>
                </a:lnTo>
                <a:lnTo>
                  <a:pt x="729022" y="2330576"/>
                </a:lnTo>
                <a:lnTo>
                  <a:pt x="796408" y="2334791"/>
                </a:lnTo>
                <a:lnTo>
                  <a:pt x="865500" y="2337854"/>
                </a:lnTo>
                <a:lnTo>
                  <a:pt x="936130" y="2339723"/>
                </a:lnTo>
                <a:lnTo>
                  <a:pt x="1008126" y="2340355"/>
                </a:lnTo>
                <a:lnTo>
                  <a:pt x="1080121" y="2339723"/>
                </a:lnTo>
                <a:lnTo>
                  <a:pt x="1150751" y="2337854"/>
                </a:lnTo>
                <a:lnTo>
                  <a:pt x="1219843" y="2334791"/>
                </a:lnTo>
                <a:lnTo>
                  <a:pt x="1287229" y="2330576"/>
                </a:lnTo>
                <a:lnTo>
                  <a:pt x="1352736" y="2325252"/>
                </a:lnTo>
                <a:lnTo>
                  <a:pt x="1416195" y="2318862"/>
                </a:lnTo>
                <a:lnTo>
                  <a:pt x="1477435" y="2311448"/>
                </a:lnTo>
                <a:lnTo>
                  <a:pt x="1536285" y="2303052"/>
                </a:lnTo>
                <a:lnTo>
                  <a:pt x="1592574" y="2293718"/>
                </a:lnTo>
                <a:lnTo>
                  <a:pt x="1646132" y="2283487"/>
                </a:lnTo>
                <a:lnTo>
                  <a:pt x="1696789" y="2272402"/>
                </a:lnTo>
                <a:lnTo>
                  <a:pt x="1744374" y="2260506"/>
                </a:lnTo>
                <a:lnTo>
                  <a:pt x="1788716" y="2247841"/>
                </a:lnTo>
                <a:lnTo>
                  <a:pt x="1829645" y="2234449"/>
                </a:lnTo>
                <a:lnTo>
                  <a:pt x="1866989" y="2220374"/>
                </a:lnTo>
                <a:lnTo>
                  <a:pt x="1930244" y="2190343"/>
                </a:lnTo>
                <a:lnTo>
                  <a:pt x="1977116" y="2158087"/>
                </a:lnTo>
                <a:lnTo>
                  <a:pt x="2006240" y="2123946"/>
                </a:lnTo>
                <a:lnTo>
                  <a:pt x="2016252" y="2088260"/>
                </a:lnTo>
                <a:lnTo>
                  <a:pt x="2016252" y="252094"/>
                </a:lnTo>
                <a:lnTo>
                  <a:pt x="1008126" y="252094"/>
                </a:lnTo>
                <a:lnTo>
                  <a:pt x="936130" y="251462"/>
                </a:lnTo>
                <a:lnTo>
                  <a:pt x="865500" y="249593"/>
                </a:lnTo>
                <a:lnTo>
                  <a:pt x="796408" y="246530"/>
                </a:lnTo>
                <a:lnTo>
                  <a:pt x="729022" y="242315"/>
                </a:lnTo>
                <a:lnTo>
                  <a:pt x="663515" y="236991"/>
                </a:lnTo>
                <a:lnTo>
                  <a:pt x="600056" y="230601"/>
                </a:lnTo>
                <a:lnTo>
                  <a:pt x="538816" y="223187"/>
                </a:lnTo>
                <a:lnTo>
                  <a:pt x="479966" y="214791"/>
                </a:lnTo>
                <a:lnTo>
                  <a:pt x="423677" y="205457"/>
                </a:lnTo>
                <a:lnTo>
                  <a:pt x="370119" y="195226"/>
                </a:lnTo>
                <a:lnTo>
                  <a:pt x="319462" y="184141"/>
                </a:lnTo>
                <a:lnTo>
                  <a:pt x="271877" y="172245"/>
                </a:lnTo>
                <a:lnTo>
                  <a:pt x="227535" y="159580"/>
                </a:lnTo>
                <a:lnTo>
                  <a:pt x="186606" y="146188"/>
                </a:lnTo>
                <a:lnTo>
                  <a:pt x="149262" y="132113"/>
                </a:lnTo>
                <a:lnTo>
                  <a:pt x="86007" y="102082"/>
                </a:lnTo>
                <a:lnTo>
                  <a:pt x="39135" y="69826"/>
                </a:lnTo>
                <a:lnTo>
                  <a:pt x="10011" y="35685"/>
                </a:lnTo>
                <a:lnTo>
                  <a:pt x="2531" y="18014"/>
                </a:lnTo>
                <a:lnTo>
                  <a:pt x="0" y="0"/>
                </a:lnTo>
                <a:close/>
              </a:path>
              <a:path w="2016760" h="2340610">
                <a:moveTo>
                  <a:pt x="2016252" y="0"/>
                </a:moveTo>
                <a:lnTo>
                  <a:pt x="1993982" y="52970"/>
                </a:lnTo>
                <a:lnTo>
                  <a:pt x="1955814" y="86211"/>
                </a:lnTo>
                <a:lnTo>
                  <a:pt x="1900579" y="117397"/>
                </a:lnTo>
                <a:lnTo>
                  <a:pt x="1829645" y="146188"/>
                </a:lnTo>
                <a:lnTo>
                  <a:pt x="1788716" y="159580"/>
                </a:lnTo>
                <a:lnTo>
                  <a:pt x="1744374" y="172245"/>
                </a:lnTo>
                <a:lnTo>
                  <a:pt x="1696789" y="184141"/>
                </a:lnTo>
                <a:lnTo>
                  <a:pt x="1646132" y="195226"/>
                </a:lnTo>
                <a:lnTo>
                  <a:pt x="1592574" y="205457"/>
                </a:lnTo>
                <a:lnTo>
                  <a:pt x="1536285" y="214791"/>
                </a:lnTo>
                <a:lnTo>
                  <a:pt x="1477435" y="223187"/>
                </a:lnTo>
                <a:lnTo>
                  <a:pt x="1416195" y="230601"/>
                </a:lnTo>
                <a:lnTo>
                  <a:pt x="1352736" y="236991"/>
                </a:lnTo>
                <a:lnTo>
                  <a:pt x="1287229" y="242315"/>
                </a:lnTo>
                <a:lnTo>
                  <a:pt x="1219843" y="246530"/>
                </a:lnTo>
                <a:lnTo>
                  <a:pt x="1150751" y="249593"/>
                </a:lnTo>
                <a:lnTo>
                  <a:pt x="1080121" y="251462"/>
                </a:lnTo>
                <a:lnTo>
                  <a:pt x="1008126" y="252094"/>
                </a:lnTo>
                <a:lnTo>
                  <a:pt x="2016252" y="252094"/>
                </a:lnTo>
                <a:lnTo>
                  <a:pt x="201625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8294" y="2494026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60" h="504189">
                <a:moveTo>
                  <a:pt x="1008126" y="0"/>
                </a:moveTo>
                <a:lnTo>
                  <a:pt x="936130" y="632"/>
                </a:lnTo>
                <a:lnTo>
                  <a:pt x="865500" y="2501"/>
                </a:lnTo>
                <a:lnTo>
                  <a:pt x="796408" y="5564"/>
                </a:lnTo>
                <a:lnTo>
                  <a:pt x="729022" y="9778"/>
                </a:lnTo>
                <a:lnTo>
                  <a:pt x="663515" y="15101"/>
                </a:lnTo>
                <a:lnTo>
                  <a:pt x="600056" y="21491"/>
                </a:lnTo>
                <a:lnTo>
                  <a:pt x="538816" y="28903"/>
                </a:lnTo>
                <a:lnTo>
                  <a:pt x="479966" y="37297"/>
                </a:lnTo>
                <a:lnTo>
                  <a:pt x="423677" y="46630"/>
                </a:lnTo>
                <a:lnTo>
                  <a:pt x="370119" y="56858"/>
                </a:lnTo>
                <a:lnTo>
                  <a:pt x="319462" y="67939"/>
                </a:lnTo>
                <a:lnTo>
                  <a:pt x="271877" y="79831"/>
                </a:lnTo>
                <a:lnTo>
                  <a:pt x="227535" y="92491"/>
                </a:lnTo>
                <a:lnTo>
                  <a:pt x="186606" y="105877"/>
                </a:lnTo>
                <a:lnTo>
                  <a:pt x="149262" y="119945"/>
                </a:lnTo>
                <a:lnTo>
                  <a:pt x="86007" y="149961"/>
                </a:lnTo>
                <a:lnTo>
                  <a:pt x="39135" y="182197"/>
                </a:lnTo>
                <a:lnTo>
                  <a:pt x="10011" y="216313"/>
                </a:lnTo>
                <a:lnTo>
                  <a:pt x="0" y="251968"/>
                </a:lnTo>
                <a:lnTo>
                  <a:pt x="2531" y="269982"/>
                </a:lnTo>
                <a:lnTo>
                  <a:pt x="22269" y="304938"/>
                </a:lnTo>
                <a:lnTo>
                  <a:pt x="60437" y="338179"/>
                </a:lnTo>
                <a:lnTo>
                  <a:pt x="115672" y="369365"/>
                </a:lnTo>
                <a:lnTo>
                  <a:pt x="186606" y="398156"/>
                </a:lnTo>
                <a:lnTo>
                  <a:pt x="227535" y="411548"/>
                </a:lnTo>
                <a:lnTo>
                  <a:pt x="271877" y="424213"/>
                </a:lnTo>
                <a:lnTo>
                  <a:pt x="319462" y="436109"/>
                </a:lnTo>
                <a:lnTo>
                  <a:pt x="370119" y="447194"/>
                </a:lnTo>
                <a:lnTo>
                  <a:pt x="423677" y="457425"/>
                </a:lnTo>
                <a:lnTo>
                  <a:pt x="479966" y="466759"/>
                </a:lnTo>
                <a:lnTo>
                  <a:pt x="538816" y="475155"/>
                </a:lnTo>
                <a:lnTo>
                  <a:pt x="600056" y="482569"/>
                </a:lnTo>
                <a:lnTo>
                  <a:pt x="663515" y="488959"/>
                </a:lnTo>
                <a:lnTo>
                  <a:pt x="729022" y="494283"/>
                </a:lnTo>
                <a:lnTo>
                  <a:pt x="796408" y="498498"/>
                </a:lnTo>
                <a:lnTo>
                  <a:pt x="865500" y="501561"/>
                </a:lnTo>
                <a:lnTo>
                  <a:pt x="936130" y="503430"/>
                </a:lnTo>
                <a:lnTo>
                  <a:pt x="1008126" y="504063"/>
                </a:lnTo>
                <a:lnTo>
                  <a:pt x="1080121" y="503430"/>
                </a:lnTo>
                <a:lnTo>
                  <a:pt x="1150751" y="501561"/>
                </a:lnTo>
                <a:lnTo>
                  <a:pt x="1219843" y="498498"/>
                </a:lnTo>
                <a:lnTo>
                  <a:pt x="1287229" y="494283"/>
                </a:lnTo>
                <a:lnTo>
                  <a:pt x="1352736" y="488959"/>
                </a:lnTo>
                <a:lnTo>
                  <a:pt x="1416195" y="482569"/>
                </a:lnTo>
                <a:lnTo>
                  <a:pt x="1477435" y="475155"/>
                </a:lnTo>
                <a:lnTo>
                  <a:pt x="1536285" y="466759"/>
                </a:lnTo>
                <a:lnTo>
                  <a:pt x="1592574" y="457425"/>
                </a:lnTo>
                <a:lnTo>
                  <a:pt x="1646132" y="447194"/>
                </a:lnTo>
                <a:lnTo>
                  <a:pt x="1696789" y="436109"/>
                </a:lnTo>
                <a:lnTo>
                  <a:pt x="1744374" y="424213"/>
                </a:lnTo>
                <a:lnTo>
                  <a:pt x="1788716" y="411548"/>
                </a:lnTo>
                <a:lnTo>
                  <a:pt x="1829645" y="398156"/>
                </a:lnTo>
                <a:lnTo>
                  <a:pt x="1866989" y="384081"/>
                </a:lnTo>
                <a:lnTo>
                  <a:pt x="1930244" y="354050"/>
                </a:lnTo>
                <a:lnTo>
                  <a:pt x="1977116" y="321794"/>
                </a:lnTo>
                <a:lnTo>
                  <a:pt x="2006240" y="287653"/>
                </a:lnTo>
                <a:lnTo>
                  <a:pt x="2016252" y="251968"/>
                </a:lnTo>
                <a:lnTo>
                  <a:pt x="2013720" y="233969"/>
                </a:lnTo>
                <a:lnTo>
                  <a:pt x="1993982" y="199041"/>
                </a:lnTo>
                <a:lnTo>
                  <a:pt x="1955814" y="165823"/>
                </a:lnTo>
                <a:lnTo>
                  <a:pt x="1900579" y="134654"/>
                </a:lnTo>
                <a:lnTo>
                  <a:pt x="1829645" y="105877"/>
                </a:lnTo>
                <a:lnTo>
                  <a:pt x="1788716" y="92491"/>
                </a:lnTo>
                <a:lnTo>
                  <a:pt x="1744374" y="79831"/>
                </a:lnTo>
                <a:lnTo>
                  <a:pt x="1696789" y="67939"/>
                </a:lnTo>
                <a:lnTo>
                  <a:pt x="1646132" y="56858"/>
                </a:lnTo>
                <a:lnTo>
                  <a:pt x="1592574" y="46630"/>
                </a:lnTo>
                <a:lnTo>
                  <a:pt x="1536285" y="37297"/>
                </a:lnTo>
                <a:lnTo>
                  <a:pt x="1477435" y="28903"/>
                </a:lnTo>
                <a:lnTo>
                  <a:pt x="1416195" y="21491"/>
                </a:lnTo>
                <a:lnTo>
                  <a:pt x="1352736" y="15101"/>
                </a:lnTo>
                <a:lnTo>
                  <a:pt x="1287229" y="9778"/>
                </a:lnTo>
                <a:lnTo>
                  <a:pt x="1219843" y="5564"/>
                </a:lnTo>
                <a:lnTo>
                  <a:pt x="1150751" y="2501"/>
                </a:lnTo>
                <a:lnTo>
                  <a:pt x="1080121" y="632"/>
                </a:lnTo>
                <a:lnTo>
                  <a:pt x="1008126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8294" y="2494026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60" h="504189">
                <a:moveTo>
                  <a:pt x="2016252" y="251968"/>
                </a:moveTo>
                <a:lnTo>
                  <a:pt x="1993982" y="304938"/>
                </a:lnTo>
                <a:lnTo>
                  <a:pt x="1955814" y="338179"/>
                </a:lnTo>
                <a:lnTo>
                  <a:pt x="1900579" y="369365"/>
                </a:lnTo>
                <a:lnTo>
                  <a:pt x="1829645" y="398156"/>
                </a:lnTo>
                <a:lnTo>
                  <a:pt x="1788716" y="411548"/>
                </a:lnTo>
                <a:lnTo>
                  <a:pt x="1744374" y="424213"/>
                </a:lnTo>
                <a:lnTo>
                  <a:pt x="1696789" y="436109"/>
                </a:lnTo>
                <a:lnTo>
                  <a:pt x="1646132" y="447194"/>
                </a:lnTo>
                <a:lnTo>
                  <a:pt x="1592574" y="457425"/>
                </a:lnTo>
                <a:lnTo>
                  <a:pt x="1536285" y="466759"/>
                </a:lnTo>
                <a:lnTo>
                  <a:pt x="1477435" y="475155"/>
                </a:lnTo>
                <a:lnTo>
                  <a:pt x="1416195" y="482569"/>
                </a:lnTo>
                <a:lnTo>
                  <a:pt x="1352736" y="488959"/>
                </a:lnTo>
                <a:lnTo>
                  <a:pt x="1287229" y="494283"/>
                </a:lnTo>
                <a:lnTo>
                  <a:pt x="1219843" y="498498"/>
                </a:lnTo>
                <a:lnTo>
                  <a:pt x="1150751" y="501561"/>
                </a:lnTo>
                <a:lnTo>
                  <a:pt x="1080121" y="503430"/>
                </a:lnTo>
                <a:lnTo>
                  <a:pt x="1008126" y="504063"/>
                </a:lnTo>
                <a:lnTo>
                  <a:pt x="936130" y="503430"/>
                </a:lnTo>
                <a:lnTo>
                  <a:pt x="865500" y="501561"/>
                </a:lnTo>
                <a:lnTo>
                  <a:pt x="796408" y="498498"/>
                </a:lnTo>
                <a:lnTo>
                  <a:pt x="729022" y="494283"/>
                </a:lnTo>
                <a:lnTo>
                  <a:pt x="663515" y="488959"/>
                </a:lnTo>
                <a:lnTo>
                  <a:pt x="600056" y="482569"/>
                </a:lnTo>
                <a:lnTo>
                  <a:pt x="538816" y="475155"/>
                </a:lnTo>
                <a:lnTo>
                  <a:pt x="479966" y="466759"/>
                </a:lnTo>
                <a:lnTo>
                  <a:pt x="423677" y="457425"/>
                </a:lnTo>
                <a:lnTo>
                  <a:pt x="370119" y="447194"/>
                </a:lnTo>
                <a:lnTo>
                  <a:pt x="319462" y="436109"/>
                </a:lnTo>
                <a:lnTo>
                  <a:pt x="271877" y="424213"/>
                </a:lnTo>
                <a:lnTo>
                  <a:pt x="227535" y="411548"/>
                </a:lnTo>
                <a:lnTo>
                  <a:pt x="186606" y="398156"/>
                </a:lnTo>
                <a:lnTo>
                  <a:pt x="149262" y="384081"/>
                </a:lnTo>
                <a:lnTo>
                  <a:pt x="86007" y="354050"/>
                </a:lnTo>
                <a:lnTo>
                  <a:pt x="39135" y="321794"/>
                </a:lnTo>
                <a:lnTo>
                  <a:pt x="10011" y="287653"/>
                </a:lnTo>
                <a:lnTo>
                  <a:pt x="0" y="251968"/>
                </a:lnTo>
                <a:lnTo>
                  <a:pt x="2531" y="233969"/>
                </a:lnTo>
                <a:lnTo>
                  <a:pt x="22269" y="199041"/>
                </a:lnTo>
                <a:lnTo>
                  <a:pt x="60437" y="165823"/>
                </a:lnTo>
                <a:lnTo>
                  <a:pt x="115672" y="134654"/>
                </a:lnTo>
                <a:lnTo>
                  <a:pt x="186606" y="105877"/>
                </a:lnTo>
                <a:lnTo>
                  <a:pt x="227535" y="92491"/>
                </a:lnTo>
                <a:lnTo>
                  <a:pt x="271877" y="79831"/>
                </a:lnTo>
                <a:lnTo>
                  <a:pt x="319462" y="67939"/>
                </a:lnTo>
                <a:lnTo>
                  <a:pt x="370119" y="56858"/>
                </a:lnTo>
                <a:lnTo>
                  <a:pt x="423677" y="46630"/>
                </a:lnTo>
                <a:lnTo>
                  <a:pt x="479966" y="37297"/>
                </a:lnTo>
                <a:lnTo>
                  <a:pt x="538816" y="28903"/>
                </a:lnTo>
                <a:lnTo>
                  <a:pt x="600056" y="21491"/>
                </a:lnTo>
                <a:lnTo>
                  <a:pt x="663515" y="15101"/>
                </a:lnTo>
                <a:lnTo>
                  <a:pt x="729022" y="9778"/>
                </a:lnTo>
                <a:lnTo>
                  <a:pt x="796408" y="5564"/>
                </a:lnTo>
                <a:lnTo>
                  <a:pt x="865500" y="2501"/>
                </a:lnTo>
                <a:lnTo>
                  <a:pt x="936130" y="632"/>
                </a:lnTo>
                <a:lnTo>
                  <a:pt x="1008126" y="0"/>
                </a:lnTo>
                <a:lnTo>
                  <a:pt x="1080121" y="632"/>
                </a:lnTo>
                <a:lnTo>
                  <a:pt x="1150751" y="2501"/>
                </a:lnTo>
                <a:lnTo>
                  <a:pt x="1219843" y="5564"/>
                </a:lnTo>
                <a:lnTo>
                  <a:pt x="1287229" y="9778"/>
                </a:lnTo>
                <a:lnTo>
                  <a:pt x="1352736" y="15101"/>
                </a:lnTo>
                <a:lnTo>
                  <a:pt x="1416195" y="21491"/>
                </a:lnTo>
                <a:lnTo>
                  <a:pt x="1477435" y="28903"/>
                </a:lnTo>
                <a:lnTo>
                  <a:pt x="1536285" y="37297"/>
                </a:lnTo>
                <a:lnTo>
                  <a:pt x="1592574" y="46630"/>
                </a:lnTo>
                <a:lnTo>
                  <a:pt x="1646132" y="56858"/>
                </a:lnTo>
                <a:lnTo>
                  <a:pt x="1696789" y="67939"/>
                </a:lnTo>
                <a:lnTo>
                  <a:pt x="1744374" y="79831"/>
                </a:lnTo>
                <a:lnTo>
                  <a:pt x="1788716" y="92491"/>
                </a:lnTo>
                <a:lnTo>
                  <a:pt x="1829645" y="105877"/>
                </a:lnTo>
                <a:lnTo>
                  <a:pt x="1866989" y="119945"/>
                </a:lnTo>
                <a:lnTo>
                  <a:pt x="1930244" y="149961"/>
                </a:lnTo>
                <a:lnTo>
                  <a:pt x="1977116" y="182197"/>
                </a:lnTo>
                <a:lnTo>
                  <a:pt x="2006240" y="216313"/>
                </a:lnTo>
                <a:lnTo>
                  <a:pt x="2016252" y="251968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8294" y="2745994"/>
            <a:ext cx="2016760" cy="2340610"/>
          </a:xfrm>
          <a:custGeom>
            <a:avLst/>
            <a:gdLst/>
            <a:ahLst/>
            <a:cxnLst/>
            <a:rect l="l" t="t" r="r" b="b"/>
            <a:pathLst>
              <a:path w="2016760" h="2340610">
                <a:moveTo>
                  <a:pt x="2016252" y="0"/>
                </a:moveTo>
                <a:lnTo>
                  <a:pt x="2016252" y="2088260"/>
                </a:lnTo>
                <a:lnTo>
                  <a:pt x="2013720" y="2106275"/>
                </a:lnTo>
                <a:lnTo>
                  <a:pt x="1993982" y="2141231"/>
                </a:lnTo>
                <a:lnTo>
                  <a:pt x="1955814" y="2174472"/>
                </a:lnTo>
                <a:lnTo>
                  <a:pt x="1900579" y="2205658"/>
                </a:lnTo>
                <a:lnTo>
                  <a:pt x="1829645" y="2234449"/>
                </a:lnTo>
                <a:lnTo>
                  <a:pt x="1788716" y="2247841"/>
                </a:lnTo>
                <a:lnTo>
                  <a:pt x="1744374" y="2260506"/>
                </a:lnTo>
                <a:lnTo>
                  <a:pt x="1696789" y="2272402"/>
                </a:lnTo>
                <a:lnTo>
                  <a:pt x="1646132" y="2283487"/>
                </a:lnTo>
                <a:lnTo>
                  <a:pt x="1592574" y="2293718"/>
                </a:lnTo>
                <a:lnTo>
                  <a:pt x="1536285" y="2303052"/>
                </a:lnTo>
                <a:lnTo>
                  <a:pt x="1477435" y="2311448"/>
                </a:lnTo>
                <a:lnTo>
                  <a:pt x="1416195" y="2318862"/>
                </a:lnTo>
                <a:lnTo>
                  <a:pt x="1352736" y="2325252"/>
                </a:lnTo>
                <a:lnTo>
                  <a:pt x="1287229" y="2330576"/>
                </a:lnTo>
                <a:lnTo>
                  <a:pt x="1219843" y="2334791"/>
                </a:lnTo>
                <a:lnTo>
                  <a:pt x="1150751" y="2337854"/>
                </a:lnTo>
                <a:lnTo>
                  <a:pt x="1080121" y="2339723"/>
                </a:lnTo>
                <a:lnTo>
                  <a:pt x="1008126" y="2340355"/>
                </a:lnTo>
                <a:lnTo>
                  <a:pt x="936130" y="2339723"/>
                </a:lnTo>
                <a:lnTo>
                  <a:pt x="865500" y="2337854"/>
                </a:lnTo>
                <a:lnTo>
                  <a:pt x="796408" y="2334791"/>
                </a:lnTo>
                <a:lnTo>
                  <a:pt x="729022" y="2330576"/>
                </a:lnTo>
                <a:lnTo>
                  <a:pt x="663515" y="2325252"/>
                </a:lnTo>
                <a:lnTo>
                  <a:pt x="600056" y="2318862"/>
                </a:lnTo>
                <a:lnTo>
                  <a:pt x="538816" y="2311448"/>
                </a:lnTo>
                <a:lnTo>
                  <a:pt x="479966" y="2303052"/>
                </a:lnTo>
                <a:lnTo>
                  <a:pt x="423677" y="2293718"/>
                </a:lnTo>
                <a:lnTo>
                  <a:pt x="370119" y="2283487"/>
                </a:lnTo>
                <a:lnTo>
                  <a:pt x="319462" y="2272402"/>
                </a:lnTo>
                <a:lnTo>
                  <a:pt x="271877" y="2260506"/>
                </a:lnTo>
                <a:lnTo>
                  <a:pt x="227535" y="2247841"/>
                </a:lnTo>
                <a:lnTo>
                  <a:pt x="186606" y="2234449"/>
                </a:lnTo>
                <a:lnTo>
                  <a:pt x="149262" y="2220374"/>
                </a:lnTo>
                <a:lnTo>
                  <a:pt x="86007" y="2190343"/>
                </a:lnTo>
                <a:lnTo>
                  <a:pt x="39135" y="2158087"/>
                </a:lnTo>
                <a:lnTo>
                  <a:pt x="10011" y="2123946"/>
                </a:lnTo>
                <a:lnTo>
                  <a:pt x="0" y="2088260"/>
                </a:lnTo>
                <a:lnTo>
                  <a:pt x="0" y="0"/>
                </a:lnTo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7627" y="378904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59"/>
                </a:moveTo>
                <a:lnTo>
                  <a:pt x="288925" y="213359"/>
                </a:lnTo>
                <a:lnTo>
                  <a:pt x="288925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7597D9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6502" y="378904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59"/>
                </a:moveTo>
                <a:lnTo>
                  <a:pt x="288924" y="213359"/>
                </a:lnTo>
                <a:lnTo>
                  <a:pt x="288924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7597D9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65426" y="378904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59"/>
                </a:moveTo>
                <a:lnTo>
                  <a:pt x="288925" y="213359"/>
                </a:lnTo>
                <a:lnTo>
                  <a:pt x="288925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7597D9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54351" y="378904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59"/>
                </a:moveTo>
                <a:lnTo>
                  <a:pt x="288925" y="213359"/>
                </a:lnTo>
                <a:lnTo>
                  <a:pt x="288925" y="0"/>
                </a:lnTo>
                <a:lnTo>
                  <a:pt x="0" y="0"/>
                </a:lnTo>
                <a:lnTo>
                  <a:pt x="0" y="213359"/>
                </a:lnTo>
                <a:close/>
              </a:path>
            </a:pathLst>
          </a:custGeom>
          <a:solidFill>
            <a:srgbClr val="7597D9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7627" y="400240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76502" y="400240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4" y="213360"/>
                </a:lnTo>
                <a:lnTo>
                  <a:pt x="288924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65426" y="400240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54351" y="400240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7627" y="421576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76502" y="421576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4" y="213360"/>
                </a:lnTo>
                <a:lnTo>
                  <a:pt x="288924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65426" y="421576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54351" y="421576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87627" y="442912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76502" y="442912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4" y="213360"/>
                </a:lnTo>
                <a:lnTo>
                  <a:pt x="288924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65426" y="442912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54351" y="4429125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D5DDF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87627" y="464248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76502" y="464248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4" y="213360"/>
                </a:lnTo>
                <a:lnTo>
                  <a:pt x="288924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65426" y="464248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54351" y="4642484"/>
            <a:ext cx="288925" cy="213360"/>
          </a:xfrm>
          <a:custGeom>
            <a:avLst/>
            <a:gdLst/>
            <a:ahLst/>
            <a:cxnLst/>
            <a:rect l="l" t="t" r="r" b="b"/>
            <a:pathLst>
              <a:path w="288925" h="213360">
                <a:moveTo>
                  <a:pt x="0" y="213360"/>
                </a:moveTo>
                <a:lnTo>
                  <a:pt x="288925" y="213360"/>
                </a:lnTo>
                <a:lnTo>
                  <a:pt x="288925" y="0"/>
                </a:lnTo>
                <a:lnTo>
                  <a:pt x="0" y="0"/>
                </a:lnTo>
                <a:lnTo>
                  <a:pt x="0" y="213360"/>
                </a:lnTo>
                <a:close/>
              </a:path>
            </a:pathLst>
          </a:custGeom>
          <a:solidFill>
            <a:srgbClr val="EBEEF8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476502" y="3782695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49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765426" y="3782695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49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54351" y="3782695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49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81277" y="4002404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>
                <a:moveTo>
                  <a:pt x="0" y="0"/>
                </a:moveTo>
                <a:lnTo>
                  <a:pt x="1168349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81277" y="4215765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>
                <a:moveTo>
                  <a:pt x="0" y="0"/>
                </a:moveTo>
                <a:lnTo>
                  <a:pt x="116834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81277" y="4429125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>
                <a:moveTo>
                  <a:pt x="0" y="0"/>
                </a:moveTo>
                <a:lnTo>
                  <a:pt x="116834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81277" y="4642484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>
                <a:moveTo>
                  <a:pt x="0" y="0"/>
                </a:moveTo>
                <a:lnTo>
                  <a:pt x="116834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87627" y="3782695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49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43276" y="3782695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49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81277" y="3789045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>
                <a:moveTo>
                  <a:pt x="0" y="0"/>
                </a:moveTo>
                <a:lnTo>
                  <a:pt x="116834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81277" y="4855845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>
                <a:moveTo>
                  <a:pt x="0" y="0"/>
                </a:moveTo>
                <a:lnTo>
                  <a:pt x="116834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44600" y="3243834"/>
            <a:ext cx="1109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</a:t>
            </a:r>
            <a:r>
              <a:rPr spc="-8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source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292090" y="2674366"/>
            <a:ext cx="2016760" cy="2339340"/>
          </a:xfrm>
          <a:custGeom>
            <a:avLst/>
            <a:gdLst/>
            <a:ahLst/>
            <a:cxnLst/>
            <a:rect l="l" t="t" r="r" b="b"/>
            <a:pathLst>
              <a:path w="2016759" h="2339340">
                <a:moveTo>
                  <a:pt x="0" y="0"/>
                </a:moveTo>
                <a:lnTo>
                  <a:pt x="0" y="2086864"/>
                </a:lnTo>
                <a:lnTo>
                  <a:pt x="2531" y="2104862"/>
                </a:lnTo>
                <a:lnTo>
                  <a:pt x="22269" y="2139790"/>
                </a:lnTo>
                <a:lnTo>
                  <a:pt x="60437" y="2173008"/>
                </a:lnTo>
                <a:lnTo>
                  <a:pt x="115672" y="2204177"/>
                </a:lnTo>
                <a:lnTo>
                  <a:pt x="186606" y="2232954"/>
                </a:lnTo>
                <a:lnTo>
                  <a:pt x="227535" y="2246340"/>
                </a:lnTo>
                <a:lnTo>
                  <a:pt x="271877" y="2259000"/>
                </a:lnTo>
                <a:lnTo>
                  <a:pt x="319462" y="2270892"/>
                </a:lnTo>
                <a:lnTo>
                  <a:pt x="370119" y="2281973"/>
                </a:lnTo>
                <a:lnTo>
                  <a:pt x="423677" y="2292201"/>
                </a:lnTo>
                <a:lnTo>
                  <a:pt x="479966" y="2301534"/>
                </a:lnTo>
                <a:lnTo>
                  <a:pt x="538816" y="2309928"/>
                </a:lnTo>
                <a:lnTo>
                  <a:pt x="600056" y="2317340"/>
                </a:lnTo>
                <a:lnTo>
                  <a:pt x="663515" y="2323730"/>
                </a:lnTo>
                <a:lnTo>
                  <a:pt x="729022" y="2329053"/>
                </a:lnTo>
                <a:lnTo>
                  <a:pt x="796408" y="2333267"/>
                </a:lnTo>
                <a:lnTo>
                  <a:pt x="865500" y="2336330"/>
                </a:lnTo>
                <a:lnTo>
                  <a:pt x="936130" y="2338199"/>
                </a:lnTo>
                <a:lnTo>
                  <a:pt x="1008126" y="2338832"/>
                </a:lnTo>
                <a:lnTo>
                  <a:pt x="1080121" y="2338199"/>
                </a:lnTo>
                <a:lnTo>
                  <a:pt x="1150751" y="2336330"/>
                </a:lnTo>
                <a:lnTo>
                  <a:pt x="1219843" y="2333267"/>
                </a:lnTo>
                <a:lnTo>
                  <a:pt x="1287229" y="2329053"/>
                </a:lnTo>
                <a:lnTo>
                  <a:pt x="1352736" y="2323730"/>
                </a:lnTo>
                <a:lnTo>
                  <a:pt x="1416195" y="2317340"/>
                </a:lnTo>
                <a:lnTo>
                  <a:pt x="1477435" y="2309928"/>
                </a:lnTo>
                <a:lnTo>
                  <a:pt x="1536285" y="2301534"/>
                </a:lnTo>
                <a:lnTo>
                  <a:pt x="1592574" y="2292201"/>
                </a:lnTo>
                <a:lnTo>
                  <a:pt x="1646132" y="2281973"/>
                </a:lnTo>
                <a:lnTo>
                  <a:pt x="1696789" y="2270892"/>
                </a:lnTo>
                <a:lnTo>
                  <a:pt x="1744374" y="2259000"/>
                </a:lnTo>
                <a:lnTo>
                  <a:pt x="1788716" y="2246340"/>
                </a:lnTo>
                <a:lnTo>
                  <a:pt x="1829645" y="2232954"/>
                </a:lnTo>
                <a:lnTo>
                  <a:pt x="1866989" y="2218886"/>
                </a:lnTo>
                <a:lnTo>
                  <a:pt x="1930244" y="2188870"/>
                </a:lnTo>
                <a:lnTo>
                  <a:pt x="1977116" y="2156634"/>
                </a:lnTo>
                <a:lnTo>
                  <a:pt x="2006240" y="2122518"/>
                </a:lnTo>
                <a:lnTo>
                  <a:pt x="2016252" y="2086864"/>
                </a:lnTo>
                <a:lnTo>
                  <a:pt x="2016252" y="252095"/>
                </a:lnTo>
                <a:lnTo>
                  <a:pt x="1008126" y="252095"/>
                </a:lnTo>
                <a:lnTo>
                  <a:pt x="936130" y="251461"/>
                </a:lnTo>
                <a:lnTo>
                  <a:pt x="865500" y="249590"/>
                </a:lnTo>
                <a:lnTo>
                  <a:pt x="796408" y="246524"/>
                </a:lnTo>
                <a:lnTo>
                  <a:pt x="729022" y="242306"/>
                </a:lnTo>
                <a:lnTo>
                  <a:pt x="663515" y="236977"/>
                </a:lnTo>
                <a:lnTo>
                  <a:pt x="600056" y="230582"/>
                </a:lnTo>
                <a:lnTo>
                  <a:pt x="538816" y="223162"/>
                </a:lnTo>
                <a:lnTo>
                  <a:pt x="479966" y="214761"/>
                </a:lnTo>
                <a:lnTo>
                  <a:pt x="423677" y="205421"/>
                </a:lnTo>
                <a:lnTo>
                  <a:pt x="370119" y="195185"/>
                </a:lnTo>
                <a:lnTo>
                  <a:pt x="319462" y="184095"/>
                </a:lnTo>
                <a:lnTo>
                  <a:pt x="271877" y="172195"/>
                </a:lnTo>
                <a:lnTo>
                  <a:pt x="227535" y="159527"/>
                </a:lnTo>
                <a:lnTo>
                  <a:pt x="186606" y="146133"/>
                </a:lnTo>
                <a:lnTo>
                  <a:pt x="149262" y="132057"/>
                </a:lnTo>
                <a:lnTo>
                  <a:pt x="86007" y="102028"/>
                </a:lnTo>
                <a:lnTo>
                  <a:pt x="39135" y="69780"/>
                </a:lnTo>
                <a:lnTo>
                  <a:pt x="10011" y="35657"/>
                </a:lnTo>
                <a:lnTo>
                  <a:pt x="2531" y="17999"/>
                </a:lnTo>
                <a:lnTo>
                  <a:pt x="0" y="0"/>
                </a:lnTo>
                <a:close/>
              </a:path>
              <a:path w="2016759" h="2339340">
                <a:moveTo>
                  <a:pt x="2016252" y="0"/>
                </a:moveTo>
                <a:lnTo>
                  <a:pt x="1993982" y="52932"/>
                </a:lnTo>
                <a:lnTo>
                  <a:pt x="1955814" y="86160"/>
                </a:lnTo>
                <a:lnTo>
                  <a:pt x="1900579" y="117341"/>
                </a:lnTo>
                <a:lnTo>
                  <a:pt x="1829645" y="146133"/>
                </a:lnTo>
                <a:lnTo>
                  <a:pt x="1788716" y="159527"/>
                </a:lnTo>
                <a:lnTo>
                  <a:pt x="1744374" y="172195"/>
                </a:lnTo>
                <a:lnTo>
                  <a:pt x="1696789" y="184095"/>
                </a:lnTo>
                <a:lnTo>
                  <a:pt x="1646132" y="195185"/>
                </a:lnTo>
                <a:lnTo>
                  <a:pt x="1592574" y="205421"/>
                </a:lnTo>
                <a:lnTo>
                  <a:pt x="1536285" y="214761"/>
                </a:lnTo>
                <a:lnTo>
                  <a:pt x="1477435" y="223162"/>
                </a:lnTo>
                <a:lnTo>
                  <a:pt x="1416195" y="230582"/>
                </a:lnTo>
                <a:lnTo>
                  <a:pt x="1352736" y="236977"/>
                </a:lnTo>
                <a:lnTo>
                  <a:pt x="1287229" y="242306"/>
                </a:lnTo>
                <a:lnTo>
                  <a:pt x="1219843" y="246524"/>
                </a:lnTo>
                <a:lnTo>
                  <a:pt x="1150751" y="249590"/>
                </a:lnTo>
                <a:lnTo>
                  <a:pt x="1080121" y="251461"/>
                </a:lnTo>
                <a:lnTo>
                  <a:pt x="1008126" y="252095"/>
                </a:lnTo>
                <a:lnTo>
                  <a:pt x="2016252" y="252095"/>
                </a:lnTo>
                <a:lnTo>
                  <a:pt x="201625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92090" y="2422398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59" h="504189">
                <a:moveTo>
                  <a:pt x="1008126" y="0"/>
                </a:moveTo>
                <a:lnTo>
                  <a:pt x="936130" y="632"/>
                </a:lnTo>
                <a:lnTo>
                  <a:pt x="865500" y="2501"/>
                </a:lnTo>
                <a:lnTo>
                  <a:pt x="796408" y="5564"/>
                </a:lnTo>
                <a:lnTo>
                  <a:pt x="729022" y="9778"/>
                </a:lnTo>
                <a:lnTo>
                  <a:pt x="663515" y="15101"/>
                </a:lnTo>
                <a:lnTo>
                  <a:pt x="600056" y="21491"/>
                </a:lnTo>
                <a:lnTo>
                  <a:pt x="538816" y="28903"/>
                </a:lnTo>
                <a:lnTo>
                  <a:pt x="479966" y="37297"/>
                </a:lnTo>
                <a:lnTo>
                  <a:pt x="423677" y="46630"/>
                </a:lnTo>
                <a:lnTo>
                  <a:pt x="370119" y="56858"/>
                </a:lnTo>
                <a:lnTo>
                  <a:pt x="319462" y="67939"/>
                </a:lnTo>
                <a:lnTo>
                  <a:pt x="271877" y="79831"/>
                </a:lnTo>
                <a:lnTo>
                  <a:pt x="227535" y="92491"/>
                </a:lnTo>
                <a:lnTo>
                  <a:pt x="186606" y="105877"/>
                </a:lnTo>
                <a:lnTo>
                  <a:pt x="149262" y="119945"/>
                </a:lnTo>
                <a:lnTo>
                  <a:pt x="86007" y="149961"/>
                </a:lnTo>
                <a:lnTo>
                  <a:pt x="39135" y="182197"/>
                </a:lnTo>
                <a:lnTo>
                  <a:pt x="10011" y="216313"/>
                </a:lnTo>
                <a:lnTo>
                  <a:pt x="0" y="251967"/>
                </a:lnTo>
                <a:lnTo>
                  <a:pt x="2531" y="269967"/>
                </a:lnTo>
                <a:lnTo>
                  <a:pt x="22269" y="304900"/>
                </a:lnTo>
                <a:lnTo>
                  <a:pt x="60437" y="338128"/>
                </a:lnTo>
                <a:lnTo>
                  <a:pt x="115672" y="369309"/>
                </a:lnTo>
                <a:lnTo>
                  <a:pt x="186606" y="398101"/>
                </a:lnTo>
                <a:lnTo>
                  <a:pt x="227535" y="411495"/>
                </a:lnTo>
                <a:lnTo>
                  <a:pt x="271877" y="424163"/>
                </a:lnTo>
                <a:lnTo>
                  <a:pt x="319462" y="436063"/>
                </a:lnTo>
                <a:lnTo>
                  <a:pt x="370119" y="447153"/>
                </a:lnTo>
                <a:lnTo>
                  <a:pt x="423677" y="457389"/>
                </a:lnTo>
                <a:lnTo>
                  <a:pt x="479966" y="466729"/>
                </a:lnTo>
                <a:lnTo>
                  <a:pt x="538816" y="475130"/>
                </a:lnTo>
                <a:lnTo>
                  <a:pt x="600056" y="482550"/>
                </a:lnTo>
                <a:lnTo>
                  <a:pt x="663515" y="488945"/>
                </a:lnTo>
                <a:lnTo>
                  <a:pt x="729022" y="494274"/>
                </a:lnTo>
                <a:lnTo>
                  <a:pt x="796408" y="498492"/>
                </a:lnTo>
                <a:lnTo>
                  <a:pt x="865500" y="501558"/>
                </a:lnTo>
                <a:lnTo>
                  <a:pt x="936130" y="503429"/>
                </a:lnTo>
                <a:lnTo>
                  <a:pt x="1008126" y="504063"/>
                </a:lnTo>
                <a:lnTo>
                  <a:pt x="1080121" y="503429"/>
                </a:lnTo>
                <a:lnTo>
                  <a:pt x="1150751" y="501558"/>
                </a:lnTo>
                <a:lnTo>
                  <a:pt x="1219843" y="498492"/>
                </a:lnTo>
                <a:lnTo>
                  <a:pt x="1287229" y="494274"/>
                </a:lnTo>
                <a:lnTo>
                  <a:pt x="1352736" y="488945"/>
                </a:lnTo>
                <a:lnTo>
                  <a:pt x="1416195" y="482550"/>
                </a:lnTo>
                <a:lnTo>
                  <a:pt x="1477435" y="475130"/>
                </a:lnTo>
                <a:lnTo>
                  <a:pt x="1536285" y="466729"/>
                </a:lnTo>
                <a:lnTo>
                  <a:pt x="1592574" y="457389"/>
                </a:lnTo>
                <a:lnTo>
                  <a:pt x="1646132" y="447153"/>
                </a:lnTo>
                <a:lnTo>
                  <a:pt x="1696789" y="436063"/>
                </a:lnTo>
                <a:lnTo>
                  <a:pt x="1744374" y="424163"/>
                </a:lnTo>
                <a:lnTo>
                  <a:pt x="1788716" y="411495"/>
                </a:lnTo>
                <a:lnTo>
                  <a:pt x="1829645" y="398101"/>
                </a:lnTo>
                <a:lnTo>
                  <a:pt x="1866989" y="384025"/>
                </a:lnTo>
                <a:lnTo>
                  <a:pt x="1930244" y="353996"/>
                </a:lnTo>
                <a:lnTo>
                  <a:pt x="1977116" y="321748"/>
                </a:lnTo>
                <a:lnTo>
                  <a:pt x="2006240" y="287625"/>
                </a:lnTo>
                <a:lnTo>
                  <a:pt x="2016252" y="251967"/>
                </a:lnTo>
                <a:lnTo>
                  <a:pt x="2013720" y="233969"/>
                </a:lnTo>
                <a:lnTo>
                  <a:pt x="1993982" y="199041"/>
                </a:lnTo>
                <a:lnTo>
                  <a:pt x="1955814" y="165823"/>
                </a:lnTo>
                <a:lnTo>
                  <a:pt x="1900579" y="134654"/>
                </a:lnTo>
                <a:lnTo>
                  <a:pt x="1829645" y="105877"/>
                </a:lnTo>
                <a:lnTo>
                  <a:pt x="1788716" y="92491"/>
                </a:lnTo>
                <a:lnTo>
                  <a:pt x="1744374" y="79831"/>
                </a:lnTo>
                <a:lnTo>
                  <a:pt x="1696789" y="67939"/>
                </a:lnTo>
                <a:lnTo>
                  <a:pt x="1646132" y="56858"/>
                </a:lnTo>
                <a:lnTo>
                  <a:pt x="1592574" y="46630"/>
                </a:lnTo>
                <a:lnTo>
                  <a:pt x="1536285" y="37297"/>
                </a:lnTo>
                <a:lnTo>
                  <a:pt x="1477435" y="28903"/>
                </a:lnTo>
                <a:lnTo>
                  <a:pt x="1416195" y="21491"/>
                </a:lnTo>
                <a:lnTo>
                  <a:pt x="1352736" y="15101"/>
                </a:lnTo>
                <a:lnTo>
                  <a:pt x="1287229" y="9778"/>
                </a:lnTo>
                <a:lnTo>
                  <a:pt x="1219843" y="5564"/>
                </a:lnTo>
                <a:lnTo>
                  <a:pt x="1150751" y="2501"/>
                </a:lnTo>
                <a:lnTo>
                  <a:pt x="1080121" y="632"/>
                </a:lnTo>
                <a:lnTo>
                  <a:pt x="1008126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292090" y="2422398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59" h="504189">
                <a:moveTo>
                  <a:pt x="2016252" y="251967"/>
                </a:moveTo>
                <a:lnTo>
                  <a:pt x="1993982" y="304900"/>
                </a:lnTo>
                <a:lnTo>
                  <a:pt x="1955814" y="338128"/>
                </a:lnTo>
                <a:lnTo>
                  <a:pt x="1900579" y="369309"/>
                </a:lnTo>
                <a:lnTo>
                  <a:pt x="1829645" y="398101"/>
                </a:lnTo>
                <a:lnTo>
                  <a:pt x="1788716" y="411495"/>
                </a:lnTo>
                <a:lnTo>
                  <a:pt x="1744374" y="424163"/>
                </a:lnTo>
                <a:lnTo>
                  <a:pt x="1696789" y="436063"/>
                </a:lnTo>
                <a:lnTo>
                  <a:pt x="1646132" y="447153"/>
                </a:lnTo>
                <a:lnTo>
                  <a:pt x="1592574" y="457389"/>
                </a:lnTo>
                <a:lnTo>
                  <a:pt x="1536285" y="466729"/>
                </a:lnTo>
                <a:lnTo>
                  <a:pt x="1477435" y="475130"/>
                </a:lnTo>
                <a:lnTo>
                  <a:pt x="1416195" y="482550"/>
                </a:lnTo>
                <a:lnTo>
                  <a:pt x="1352736" y="488945"/>
                </a:lnTo>
                <a:lnTo>
                  <a:pt x="1287229" y="494274"/>
                </a:lnTo>
                <a:lnTo>
                  <a:pt x="1219843" y="498492"/>
                </a:lnTo>
                <a:lnTo>
                  <a:pt x="1150751" y="501558"/>
                </a:lnTo>
                <a:lnTo>
                  <a:pt x="1080121" y="503429"/>
                </a:lnTo>
                <a:lnTo>
                  <a:pt x="1008126" y="504063"/>
                </a:lnTo>
                <a:lnTo>
                  <a:pt x="936130" y="503429"/>
                </a:lnTo>
                <a:lnTo>
                  <a:pt x="865500" y="501558"/>
                </a:lnTo>
                <a:lnTo>
                  <a:pt x="796408" y="498492"/>
                </a:lnTo>
                <a:lnTo>
                  <a:pt x="729022" y="494274"/>
                </a:lnTo>
                <a:lnTo>
                  <a:pt x="663515" y="488945"/>
                </a:lnTo>
                <a:lnTo>
                  <a:pt x="600056" y="482550"/>
                </a:lnTo>
                <a:lnTo>
                  <a:pt x="538816" y="475130"/>
                </a:lnTo>
                <a:lnTo>
                  <a:pt x="479966" y="466729"/>
                </a:lnTo>
                <a:lnTo>
                  <a:pt x="423677" y="457389"/>
                </a:lnTo>
                <a:lnTo>
                  <a:pt x="370119" y="447153"/>
                </a:lnTo>
                <a:lnTo>
                  <a:pt x="319462" y="436063"/>
                </a:lnTo>
                <a:lnTo>
                  <a:pt x="271877" y="424163"/>
                </a:lnTo>
                <a:lnTo>
                  <a:pt x="227535" y="411495"/>
                </a:lnTo>
                <a:lnTo>
                  <a:pt x="186606" y="398101"/>
                </a:lnTo>
                <a:lnTo>
                  <a:pt x="149262" y="384025"/>
                </a:lnTo>
                <a:lnTo>
                  <a:pt x="86007" y="353996"/>
                </a:lnTo>
                <a:lnTo>
                  <a:pt x="39135" y="321748"/>
                </a:lnTo>
                <a:lnTo>
                  <a:pt x="10011" y="287625"/>
                </a:lnTo>
                <a:lnTo>
                  <a:pt x="0" y="251967"/>
                </a:lnTo>
                <a:lnTo>
                  <a:pt x="2531" y="233969"/>
                </a:lnTo>
                <a:lnTo>
                  <a:pt x="22269" y="199041"/>
                </a:lnTo>
                <a:lnTo>
                  <a:pt x="60437" y="165823"/>
                </a:lnTo>
                <a:lnTo>
                  <a:pt x="115672" y="134654"/>
                </a:lnTo>
                <a:lnTo>
                  <a:pt x="186606" y="105877"/>
                </a:lnTo>
                <a:lnTo>
                  <a:pt x="227535" y="92491"/>
                </a:lnTo>
                <a:lnTo>
                  <a:pt x="271877" y="79831"/>
                </a:lnTo>
                <a:lnTo>
                  <a:pt x="319462" y="67939"/>
                </a:lnTo>
                <a:lnTo>
                  <a:pt x="370119" y="56858"/>
                </a:lnTo>
                <a:lnTo>
                  <a:pt x="423677" y="46630"/>
                </a:lnTo>
                <a:lnTo>
                  <a:pt x="479966" y="37297"/>
                </a:lnTo>
                <a:lnTo>
                  <a:pt x="538816" y="28903"/>
                </a:lnTo>
                <a:lnTo>
                  <a:pt x="600056" y="21491"/>
                </a:lnTo>
                <a:lnTo>
                  <a:pt x="663515" y="15101"/>
                </a:lnTo>
                <a:lnTo>
                  <a:pt x="729022" y="9778"/>
                </a:lnTo>
                <a:lnTo>
                  <a:pt x="796408" y="5564"/>
                </a:lnTo>
                <a:lnTo>
                  <a:pt x="865500" y="2501"/>
                </a:lnTo>
                <a:lnTo>
                  <a:pt x="936130" y="632"/>
                </a:lnTo>
                <a:lnTo>
                  <a:pt x="1008126" y="0"/>
                </a:lnTo>
                <a:lnTo>
                  <a:pt x="1080121" y="632"/>
                </a:lnTo>
                <a:lnTo>
                  <a:pt x="1150751" y="2501"/>
                </a:lnTo>
                <a:lnTo>
                  <a:pt x="1219843" y="5564"/>
                </a:lnTo>
                <a:lnTo>
                  <a:pt x="1287229" y="9778"/>
                </a:lnTo>
                <a:lnTo>
                  <a:pt x="1352736" y="15101"/>
                </a:lnTo>
                <a:lnTo>
                  <a:pt x="1416195" y="21491"/>
                </a:lnTo>
                <a:lnTo>
                  <a:pt x="1477435" y="28903"/>
                </a:lnTo>
                <a:lnTo>
                  <a:pt x="1536285" y="37297"/>
                </a:lnTo>
                <a:lnTo>
                  <a:pt x="1592574" y="46630"/>
                </a:lnTo>
                <a:lnTo>
                  <a:pt x="1646132" y="56858"/>
                </a:lnTo>
                <a:lnTo>
                  <a:pt x="1696789" y="67939"/>
                </a:lnTo>
                <a:lnTo>
                  <a:pt x="1744374" y="79831"/>
                </a:lnTo>
                <a:lnTo>
                  <a:pt x="1788716" y="92491"/>
                </a:lnTo>
                <a:lnTo>
                  <a:pt x="1829645" y="105877"/>
                </a:lnTo>
                <a:lnTo>
                  <a:pt x="1866989" y="119945"/>
                </a:lnTo>
                <a:lnTo>
                  <a:pt x="1930244" y="149961"/>
                </a:lnTo>
                <a:lnTo>
                  <a:pt x="1977116" y="182197"/>
                </a:lnTo>
                <a:lnTo>
                  <a:pt x="2006240" y="216313"/>
                </a:lnTo>
                <a:lnTo>
                  <a:pt x="2016252" y="251967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292090" y="2674366"/>
            <a:ext cx="2016760" cy="2339340"/>
          </a:xfrm>
          <a:custGeom>
            <a:avLst/>
            <a:gdLst/>
            <a:ahLst/>
            <a:cxnLst/>
            <a:rect l="l" t="t" r="r" b="b"/>
            <a:pathLst>
              <a:path w="2016759" h="2339340">
                <a:moveTo>
                  <a:pt x="2016252" y="0"/>
                </a:moveTo>
                <a:lnTo>
                  <a:pt x="2016252" y="2086864"/>
                </a:lnTo>
                <a:lnTo>
                  <a:pt x="2013720" y="2104862"/>
                </a:lnTo>
                <a:lnTo>
                  <a:pt x="1993982" y="2139790"/>
                </a:lnTo>
                <a:lnTo>
                  <a:pt x="1955814" y="2173008"/>
                </a:lnTo>
                <a:lnTo>
                  <a:pt x="1900579" y="2204177"/>
                </a:lnTo>
                <a:lnTo>
                  <a:pt x="1829645" y="2232954"/>
                </a:lnTo>
                <a:lnTo>
                  <a:pt x="1788716" y="2246340"/>
                </a:lnTo>
                <a:lnTo>
                  <a:pt x="1744374" y="2259000"/>
                </a:lnTo>
                <a:lnTo>
                  <a:pt x="1696789" y="2270892"/>
                </a:lnTo>
                <a:lnTo>
                  <a:pt x="1646132" y="2281973"/>
                </a:lnTo>
                <a:lnTo>
                  <a:pt x="1592574" y="2292201"/>
                </a:lnTo>
                <a:lnTo>
                  <a:pt x="1536285" y="2301534"/>
                </a:lnTo>
                <a:lnTo>
                  <a:pt x="1477435" y="2309928"/>
                </a:lnTo>
                <a:lnTo>
                  <a:pt x="1416195" y="2317340"/>
                </a:lnTo>
                <a:lnTo>
                  <a:pt x="1352736" y="2323730"/>
                </a:lnTo>
                <a:lnTo>
                  <a:pt x="1287229" y="2329053"/>
                </a:lnTo>
                <a:lnTo>
                  <a:pt x="1219843" y="2333267"/>
                </a:lnTo>
                <a:lnTo>
                  <a:pt x="1150751" y="2336330"/>
                </a:lnTo>
                <a:lnTo>
                  <a:pt x="1080121" y="2338199"/>
                </a:lnTo>
                <a:lnTo>
                  <a:pt x="1008126" y="2338832"/>
                </a:lnTo>
                <a:lnTo>
                  <a:pt x="936130" y="2338199"/>
                </a:lnTo>
                <a:lnTo>
                  <a:pt x="865500" y="2336330"/>
                </a:lnTo>
                <a:lnTo>
                  <a:pt x="796408" y="2333267"/>
                </a:lnTo>
                <a:lnTo>
                  <a:pt x="729022" y="2329053"/>
                </a:lnTo>
                <a:lnTo>
                  <a:pt x="663515" y="2323730"/>
                </a:lnTo>
                <a:lnTo>
                  <a:pt x="600056" y="2317340"/>
                </a:lnTo>
                <a:lnTo>
                  <a:pt x="538816" y="2309928"/>
                </a:lnTo>
                <a:lnTo>
                  <a:pt x="479966" y="2301534"/>
                </a:lnTo>
                <a:lnTo>
                  <a:pt x="423677" y="2292201"/>
                </a:lnTo>
                <a:lnTo>
                  <a:pt x="370119" y="2281973"/>
                </a:lnTo>
                <a:lnTo>
                  <a:pt x="319462" y="2270892"/>
                </a:lnTo>
                <a:lnTo>
                  <a:pt x="271877" y="2259000"/>
                </a:lnTo>
                <a:lnTo>
                  <a:pt x="227535" y="2246340"/>
                </a:lnTo>
                <a:lnTo>
                  <a:pt x="186606" y="2232954"/>
                </a:lnTo>
                <a:lnTo>
                  <a:pt x="149262" y="2218886"/>
                </a:lnTo>
                <a:lnTo>
                  <a:pt x="86007" y="2188870"/>
                </a:lnTo>
                <a:lnTo>
                  <a:pt x="39135" y="2156634"/>
                </a:lnTo>
                <a:lnTo>
                  <a:pt x="10011" y="2122518"/>
                </a:lnTo>
                <a:lnTo>
                  <a:pt x="0" y="2086864"/>
                </a:lnTo>
                <a:lnTo>
                  <a:pt x="0" y="0"/>
                </a:lnTo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05932" y="3171571"/>
            <a:ext cx="9188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</a:t>
            </a:r>
            <a:r>
              <a:rPr spc="-7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cible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5717794" y="3710685"/>
          <a:ext cx="1155700" cy="1066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"/>
                <a:gridCol w="288925"/>
                <a:gridCol w="288925"/>
                <a:gridCol w="288925"/>
              </a:tblGrid>
              <a:tr h="213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</a:tr>
            </a:tbl>
          </a:graphicData>
        </a:graphic>
      </p:graphicFrame>
      <p:sp>
        <p:nvSpPr>
          <p:cNvPr id="48" name="object 48"/>
          <p:cNvSpPr/>
          <p:nvPr/>
        </p:nvSpPr>
        <p:spPr>
          <a:xfrm>
            <a:off x="3937634" y="3285744"/>
            <a:ext cx="1743075" cy="1079500"/>
          </a:xfrm>
          <a:custGeom>
            <a:avLst/>
            <a:gdLst/>
            <a:ahLst/>
            <a:cxnLst/>
            <a:rect l="l" t="t" r="r" b="b"/>
            <a:pathLst>
              <a:path w="1743075" h="1079500">
                <a:moveTo>
                  <a:pt x="1742566" y="809243"/>
                </a:moveTo>
                <a:lnTo>
                  <a:pt x="1203070" y="809243"/>
                </a:lnTo>
                <a:lnTo>
                  <a:pt x="1516761" y="1078991"/>
                </a:lnTo>
                <a:lnTo>
                  <a:pt x="1742566" y="809243"/>
                </a:lnTo>
                <a:close/>
              </a:path>
              <a:path w="1743075" h="1079500">
                <a:moveTo>
                  <a:pt x="269748" y="0"/>
                </a:moveTo>
                <a:lnTo>
                  <a:pt x="0" y="0"/>
                </a:lnTo>
                <a:lnTo>
                  <a:pt x="53811" y="810"/>
                </a:lnTo>
                <a:lnTo>
                  <a:pt x="107188" y="3225"/>
                </a:lnTo>
                <a:lnTo>
                  <a:pt x="160086" y="7217"/>
                </a:lnTo>
                <a:lnTo>
                  <a:pt x="212462" y="12760"/>
                </a:lnTo>
                <a:lnTo>
                  <a:pt x="264271" y="19827"/>
                </a:lnTo>
                <a:lnTo>
                  <a:pt x="315470" y="28392"/>
                </a:lnTo>
                <a:lnTo>
                  <a:pt x="366015" y="38429"/>
                </a:lnTo>
                <a:lnTo>
                  <a:pt x="415861" y="49910"/>
                </a:lnTo>
                <a:lnTo>
                  <a:pt x="464967" y="62810"/>
                </a:lnTo>
                <a:lnTo>
                  <a:pt x="513287" y="77101"/>
                </a:lnTo>
                <a:lnTo>
                  <a:pt x="560778" y="92758"/>
                </a:lnTo>
                <a:lnTo>
                  <a:pt x="607395" y="109754"/>
                </a:lnTo>
                <a:lnTo>
                  <a:pt x="653097" y="128063"/>
                </a:lnTo>
                <a:lnTo>
                  <a:pt x="697837" y="147657"/>
                </a:lnTo>
                <a:lnTo>
                  <a:pt x="741573" y="168510"/>
                </a:lnTo>
                <a:lnTo>
                  <a:pt x="784261" y="190597"/>
                </a:lnTo>
                <a:lnTo>
                  <a:pt x="825857" y="213890"/>
                </a:lnTo>
                <a:lnTo>
                  <a:pt x="866318" y="238362"/>
                </a:lnTo>
                <a:lnTo>
                  <a:pt x="905599" y="263988"/>
                </a:lnTo>
                <a:lnTo>
                  <a:pt x="943656" y="290741"/>
                </a:lnTo>
                <a:lnTo>
                  <a:pt x="980447" y="318595"/>
                </a:lnTo>
                <a:lnTo>
                  <a:pt x="1015926" y="347522"/>
                </a:lnTo>
                <a:lnTo>
                  <a:pt x="1050051" y="377497"/>
                </a:lnTo>
                <a:lnTo>
                  <a:pt x="1082777" y="408492"/>
                </a:lnTo>
                <a:lnTo>
                  <a:pt x="1114062" y="440482"/>
                </a:lnTo>
                <a:lnTo>
                  <a:pt x="1143860" y="473440"/>
                </a:lnTo>
                <a:lnTo>
                  <a:pt x="1172128" y="507339"/>
                </a:lnTo>
                <a:lnTo>
                  <a:pt x="1198823" y="542153"/>
                </a:lnTo>
                <a:lnTo>
                  <a:pt x="1223900" y="577856"/>
                </a:lnTo>
                <a:lnTo>
                  <a:pt x="1247316" y="614420"/>
                </a:lnTo>
                <a:lnTo>
                  <a:pt x="1269027" y="651820"/>
                </a:lnTo>
                <a:lnTo>
                  <a:pt x="1288989" y="690029"/>
                </a:lnTo>
                <a:lnTo>
                  <a:pt x="1307158" y="729020"/>
                </a:lnTo>
                <a:lnTo>
                  <a:pt x="1323492" y="768767"/>
                </a:lnTo>
                <a:lnTo>
                  <a:pt x="1337944" y="809243"/>
                </a:lnTo>
                <a:lnTo>
                  <a:pt x="1607692" y="809243"/>
                </a:lnTo>
                <a:lnTo>
                  <a:pt x="1593240" y="768767"/>
                </a:lnTo>
                <a:lnTo>
                  <a:pt x="1576906" y="729020"/>
                </a:lnTo>
                <a:lnTo>
                  <a:pt x="1558737" y="690029"/>
                </a:lnTo>
                <a:lnTo>
                  <a:pt x="1538775" y="651820"/>
                </a:lnTo>
                <a:lnTo>
                  <a:pt x="1517064" y="614420"/>
                </a:lnTo>
                <a:lnTo>
                  <a:pt x="1493648" y="577856"/>
                </a:lnTo>
                <a:lnTo>
                  <a:pt x="1468571" y="542153"/>
                </a:lnTo>
                <a:lnTo>
                  <a:pt x="1441876" y="507339"/>
                </a:lnTo>
                <a:lnTo>
                  <a:pt x="1413608" y="473440"/>
                </a:lnTo>
                <a:lnTo>
                  <a:pt x="1383810" y="440482"/>
                </a:lnTo>
                <a:lnTo>
                  <a:pt x="1352525" y="408492"/>
                </a:lnTo>
                <a:lnTo>
                  <a:pt x="1319799" y="377497"/>
                </a:lnTo>
                <a:lnTo>
                  <a:pt x="1285674" y="347522"/>
                </a:lnTo>
                <a:lnTo>
                  <a:pt x="1250195" y="318595"/>
                </a:lnTo>
                <a:lnTo>
                  <a:pt x="1213404" y="290741"/>
                </a:lnTo>
                <a:lnTo>
                  <a:pt x="1175347" y="263988"/>
                </a:lnTo>
                <a:lnTo>
                  <a:pt x="1136066" y="238362"/>
                </a:lnTo>
                <a:lnTo>
                  <a:pt x="1095605" y="213890"/>
                </a:lnTo>
                <a:lnTo>
                  <a:pt x="1054009" y="190597"/>
                </a:lnTo>
                <a:lnTo>
                  <a:pt x="1011321" y="168510"/>
                </a:lnTo>
                <a:lnTo>
                  <a:pt x="967585" y="147657"/>
                </a:lnTo>
                <a:lnTo>
                  <a:pt x="922845" y="128063"/>
                </a:lnTo>
                <a:lnTo>
                  <a:pt x="877143" y="109754"/>
                </a:lnTo>
                <a:lnTo>
                  <a:pt x="830526" y="92758"/>
                </a:lnTo>
                <a:lnTo>
                  <a:pt x="783035" y="77101"/>
                </a:lnTo>
                <a:lnTo>
                  <a:pt x="734715" y="62810"/>
                </a:lnTo>
                <a:lnTo>
                  <a:pt x="685609" y="49910"/>
                </a:lnTo>
                <a:lnTo>
                  <a:pt x="635763" y="38429"/>
                </a:lnTo>
                <a:lnTo>
                  <a:pt x="585218" y="28392"/>
                </a:lnTo>
                <a:lnTo>
                  <a:pt x="534019" y="19827"/>
                </a:lnTo>
                <a:lnTo>
                  <a:pt x="482210" y="12760"/>
                </a:lnTo>
                <a:lnTo>
                  <a:pt x="429834" y="7217"/>
                </a:lnTo>
                <a:lnTo>
                  <a:pt x="376936" y="3225"/>
                </a:lnTo>
                <a:lnTo>
                  <a:pt x="323559" y="810"/>
                </a:lnTo>
                <a:lnTo>
                  <a:pt x="2697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555748" y="3285744"/>
            <a:ext cx="1517015" cy="1079500"/>
          </a:xfrm>
          <a:custGeom>
            <a:avLst/>
            <a:gdLst/>
            <a:ahLst/>
            <a:cxnLst/>
            <a:rect l="l" t="t" r="r" b="b"/>
            <a:pathLst>
              <a:path w="1517014" h="1079500">
                <a:moveTo>
                  <a:pt x="1381887" y="0"/>
                </a:moveTo>
                <a:lnTo>
                  <a:pt x="1327628" y="816"/>
                </a:lnTo>
                <a:lnTo>
                  <a:pt x="1273900" y="3246"/>
                </a:lnTo>
                <a:lnTo>
                  <a:pt x="1220739" y="7259"/>
                </a:lnTo>
                <a:lnTo>
                  <a:pt x="1168185" y="12825"/>
                </a:lnTo>
                <a:lnTo>
                  <a:pt x="1116275" y="19915"/>
                </a:lnTo>
                <a:lnTo>
                  <a:pt x="1065049" y="28498"/>
                </a:lnTo>
                <a:lnTo>
                  <a:pt x="1014544" y="38544"/>
                </a:lnTo>
                <a:lnTo>
                  <a:pt x="964800" y="50023"/>
                </a:lnTo>
                <a:lnTo>
                  <a:pt x="915854" y="62906"/>
                </a:lnTo>
                <a:lnTo>
                  <a:pt x="867744" y="77162"/>
                </a:lnTo>
                <a:lnTo>
                  <a:pt x="820511" y="92762"/>
                </a:lnTo>
                <a:lnTo>
                  <a:pt x="774190" y="109674"/>
                </a:lnTo>
                <a:lnTo>
                  <a:pt x="728822" y="127870"/>
                </a:lnTo>
                <a:lnTo>
                  <a:pt x="684445" y="147319"/>
                </a:lnTo>
                <a:lnTo>
                  <a:pt x="641096" y="167992"/>
                </a:lnTo>
                <a:lnTo>
                  <a:pt x="598815" y="189858"/>
                </a:lnTo>
                <a:lnTo>
                  <a:pt x="557640" y="212888"/>
                </a:lnTo>
                <a:lnTo>
                  <a:pt x="517609" y="237050"/>
                </a:lnTo>
                <a:lnTo>
                  <a:pt x="478760" y="262317"/>
                </a:lnTo>
                <a:lnTo>
                  <a:pt x="441132" y="288656"/>
                </a:lnTo>
                <a:lnTo>
                  <a:pt x="404764" y="316039"/>
                </a:lnTo>
                <a:lnTo>
                  <a:pt x="369694" y="344435"/>
                </a:lnTo>
                <a:lnTo>
                  <a:pt x="335960" y="373815"/>
                </a:lnTo>
                <a:lnTo>
                  <a:pt x="303601" y="404148"/>
                </a:lnTo>
                <a:lnTo>
                  <a:pt x="272655" y="435405"/>
                </a:lnTo>
                <a:lnTo>
                  <a:pt x="243160" y="467555"/>
                </a:lnTo>
                <a:lnTo>
                  <a:pt x="215156" y="500569"/>
                </a:lnTo>
                <a:lnTo>
                  <a:pt x="188679" y="534415"/>
                </a:lnTo>
                <a:lnTo>
                  <a:pt x="163770" y="569066"/>
                </a:lnTo>
                <a:lnTo>
                  <a:pt x="140465" y="604490"/>
                </a:lnTo>
                <a:lnTo>
                  <a:pt x="118804" y="640657"/>
                </a:lnTo>
                <a:lnTo>
                  <a:pt x="98826" y="677538"/>
                </a:lnTo>
                <a:lnTo>
                  <a:pt x="80567" y="715103"/>
                </a:lnTo>
                <a:lnTo>
                  <a:pt x="64068" y="753321"/>
                </a:lnTo>
                <a:lnTo>
                  <a:pt x="49365" y="792162"/>
                </a:lnTo>
                <a:lnTo>
                  <a:pt x="36499" y="831597"/>
                </a:lnTo>
                <a:lnTo>
                  <a:pt x="25506" y="871596"/>
                </a:lnTo>
                <a:lnTo>
                  <a:pt x="16426" y="912128"/>
                </a:lnTo>
                <a:lnTo>
                  <a:pt x="9297" y="953163"/>
                </a:lnTo>
                <a:lnTo>
                  <a:pt x="4157" y="994672"/>
                </a:lnTo>
                <a:lnTo>
                  <a:pt x="1045" y="1036625"/>
                </a:lnTo>
                <a:lnTo>
                  <a:pt x="0" y="1078991"/>
                </a:lnTo>
                <a:lnTo>
                  <a:pt x="269747" y="1078991"/>
                </a:lnTo>
                <a:lnTo>
                  <a:pt x="270805" y="1036474"/>
                </a:lnTo>
                <a:lnTo>
                  <a:pt x="273954" y="994346"/>
                </a:lnTo>
                <a:lnTo>
                  <a:pt x="279155" y="952641"/>
                </a:lnTo>
                <a:lnTo>
                  <a:pt x="286372" y="911389"/>
                </a:lnTo>
                <a:lnTo>
                  <a:pt x="295567" y="870624"/>
                </a:lnTo>
                <a:lnTo>
                  <a:pt x="306702" y="830378"/>
                </a:lnTo>
                <a:lnTo>
                  <a:pt x="319740" y="790684"/>
                </a:lnTo>
                <a:lnTo>
                  <a:pt x="334643" y="751573"/>
                </a:lnTo>
                <a:lnTo>
                  <a:pt x="351374" y="713078"/>
                </a:lnTo>
                <a:lnTo>
                  <a:pt x="369895" y="675232"/>
                </a:lnTo>
                <a:lnTo>
                  <a:pt x="390168" y="638066"/>
                </a:lnTo>
                <a:lnTo>
                  <a:pt x="412156" y="601614"/>
                </a:lnTo>
                <a:lnTo>
                  <a:pt x="435821" y="565907"/>
                </a:lnTo>
                <a:lnTo>
                  <a:pt x="461126" y="530978"/>
                </a:lnTo>
                <a:lnTo>
                  <a:pt x="488033" y="496859"/>
                </a:lnTo>
                <a:lnTo>
                  <a:pt x="516505" y="463583"/>
                </a:lnTo>
                <a:lnTo>
                  <a:pt x="546504" y="431181"/>
                </a:lnTo>
                <a:lnTo>
                  <a:pt x="577992" y="399687"/>
                </a:lnTo>
                <a:lnTo>
                  <a:pt x="610932" y="369133"/>
                </a:lnTo>
                <a:lnTo>
                  <a:pt x="645287" y="339551"/>
                </a:lnTo>
                <a:lnTo>
                  <a:pt x="681018" y="310973"/>
                </a:lnTo>
                <a:lnTo>
                  <a:pt x="718088" y="283432"/>
                </a:lnTo>
                <a:lnTo>
                  <a:pt x="756460" y="256959"/>
                </a:lnTo>
                <a:lnTo>
                  <a:pt x="796096" y="231589"/>
                </a:lnTo>
                <a:lnTo>
                  <a:pt x="836958" y="207352"/>
                </a:lnTo>
                <a:lnTo>
                  <a:pt x="879009" y="184281"/>
                </a:lnTo>
                <a:lnTo>
                  <a:pt x="922211" y="162409"/>
                </a:lnTo>
                <a:lnTo>
                  <a:pt x="966527" y="141768"/>
                </a:lnTo>
                <a:lnTo>
                  <a:pt x="1011919" y="122390"/>
                </a:lnTo>
                <a:lnTo>
                  <a:pt x="1058350" y="104307"/>
                </a:lnTo>
                <a:lnTo>
                  <a:pt x="1105781" y="87553"/>
                </a:lnTo>
                <a:lnTo>
                  <a:pt x="1154177" y="72159"/>
                </a:lnTo>
                <a:lnTo>
                  <a:pt x="1203497" y="58157"/>
                </a:lnTo>
                <a:lnTo>
                  <a:pt x="1253706" y="45581"/>
                </a:lnTo>
                <a:lnTo>
                  <a:pt x="1304766" y="34462"/>
                </a:lnTo>
                <a:lnTo>
                  <a:pt x="1356639" y="24832"/>
                </a:lnTo>
                <a:lnTo>
                  <a:pt x="1409287" y="16725"/>
                </a:lnTo>
                <a:lnTo>
                  <a:pt x="1462674" y="10172"/>
                </a:lnTo>
                <a:lnTo>
                  <a:pt x="1516761" y="5206"/>
                </a:lnTo>
                <a:lnTo>
                  <a:pt x="1483113" y="2946"/>
                </a:lnTo>
                <a:lnTo>
                  <a:pt x="1449419" y="1317"/>
                </a:lnTo>
                <a:lnTo>
                  <a:pt x="1415676" y="331"/>
                </a:lnTo>
                <a:lnTo>
                  <a:pt x="1381887" y="0"/>
                </a:lnTo>
                <a:close/>
              </a:path>
            </a:pathLst>
          </a:custGeom>
          <a:solidFill>
            <a:srgbClr val="005A9A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5940" y="1386078"/>
            <a:ext cx="6640195" cy="1921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 defTabSz="914079"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 err="1" smtClean="0">
                <a:solidFill>
                  <a:prstClr val="black"/>
                </a:solidFill>
                <a:cs typeface="Century Schoolbook"/>
              </a:rPr>
              <a:t>Transf</a:t>
            </a:r>
            <a:r>
              <a:rPr lang="fr-FR" sz="2400" spc="-5" dirty="0" err="1" smtClean="0">
                <a:solidFill>
                  <a:prstClr val="black"/>
                </a:solidFill>
                <a:cs typeface="Century Schoolbook"/>
              </a:rPr>
              <a:t>ert</a:t>
            </a:r>
            <a:r>
              <a:rPr sz="2400" spc="-5" dirty="0" smtClean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d’une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relation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complète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sur un</a:t>
            </a:r>
            <a:r>
              <a:rPr sz="2400" spc="-114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site</a:t>
            </a:r>
          </a:p>
          <a:p>
            <a:pPr marL="286385" defTabSz="914079"/>
            <a:r>
              <a:rPr sz="2400" spc="-5" dirty="0">
                <a:solidFill>
                  <a:prstClr val="black"/>
                </a:solidFill>
                <a:cs typeface="Century Schoolbook"/>
              </a:rPr>
              <a:t>distant</a:t>
            </a:r>
            <a:endParaRPr sz="2400" dirty="0">
              <a:solidFill>
                <a:prstClr val="black"/>
              </a:solidFill>
              <a:cs typeface="Century Schoolbook"/>
            </a:endParaRPr>
          </a:p>
          <a:p>
            <a:pPr defTabSz="914079"/>
            <a:endParaRPr sz="29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914079">
              <a:spcBef>
                <a:spcPts val="25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07715" lvl="1" indent="-2747010" defTabSz="914079">
              <a:buSzPct val="95833"/>
              <a:buFontTx/>
              <a:buAutoNum type="arabicPeriod"/>
              <a:tabLst>
                <a:tab pos="3308350" algn="l"/>
              </a:tabLst>
            </a:pPr>
            <a:r>
              <a:rPr sz="2400" b="1" spc="-10" dirty="0">
                <a:solidFill>
                  <a:srgbClr val="006FC0"/>
                </a:solidFill>
                <a:cs typeface="Century Schoolbook"/>
              </a:rPr>
              <a:t>copie</a:t>
            </a:r>
            <a:endParaRPr sz="2400" dirty="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87196" y="3788664"/>
            <a:ext cx="1152525" cy="1080135"/>
          </a:xfrm>
          <a:custGeom>
            <a:avLst/>
            <a:gdLst/>
            <a:ahLst/>
            <a:cxnLst/>
            <a:rect l="l" t="t" r="r" b="b"/>
            <a:pathLst>
              <a:path w="1152525" h="1080135">
                <a:moveTo>
                  <a:pt x="0" y="0"/>
                </a:moveTo>
                <a:lnTo>
                  <a:pt x="1152143" y="1080135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87196" y="3788664"/>
            <a:ext cx="1152525" cy="1080135"/>
          </a:xfrm>
          <a:custGeom>
            <a:avLst/>
            <a:gdLst/>
            <a:ahLst/>
            <a:cxnLst/>
            <a:rect l="l" t="t" r="r" b="b"/>
            <a:pathLst>
              <a:path w="1152525" h="1080135">
                <a:moveTo>
                  <a:pt x="0" y="1080135"/>
                </a:moveTo>
                <a:lnTo>
                  <a:pt x="1152143" y="0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78509" y="5184724"/>
            <a:ext cx="2199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cs typeface="Century Schoolbook"/>
              </a:rPr>
              <a:t>2.suppression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62406" y="5744971"/>
            <a:ext cx="5774055" cy="91249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87020" indent="-274320" defTabSz="914079">
              <a:spcBef>
                <a:spcPts val="7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dirty="0">
                <a:solidFill>
                  <a:prstClr val="black"/>
                </a:solidFill>
                <a:cs typeface="Century Schoolbook"/>
              </a:rPr>
              <a:t>Intérêt</a:t>
            </a:r>
            <a:endParaRPr sz="2400">
              <a:solidFill>
                <a:prstClr val="black"/>
              </a:solidFill>
              <a:cs typeface="Century Schoolbook"/>
            </a:endParaRPr>
          </a:p>
          <a:p>
            <a:pPr marL="743585" lvl="1" indent="-274320" defTabSz="914079"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744220" algn="l"/>
              </a:tabLst>
            </a:pPr>
            <a:r>
              <a:rPr sz="2400" spc="-5" dirty="0">
                <a:solidFill>
                  <a:prstClr val="black"/>
                </a:solidFill>
                <a:cs typeface="Century Schoolbook"/>
              </a:rPr>
              <a:t>Rapprocher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les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données des</a:t>
            </a:r>
            <a:r>
              <a:rPr sz="2400" spc="-4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besoins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80" y="5897371"/>
            <a:ext cx="473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9552" y="404664"/>
            <a:ext cx="6945032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R</a:t>
            </a:r>
            <a:r>
              <a:rPr spc="-10" dirty="0"/>
              <a:t>ÉPLICATION</a:t>
            </a:r>
            <a:r>
              <a:rPr sz="3000" spc="-10" dirty="0"/>
              <a:t>/D</a:t>
            </a:r>
            <a:r>
              <a:rPr spc="-10" dirty="0"/>
              <a:t>UPLICATION</a:t>
            </a:r>
            <a:endParaRPr sz="3000" dirty="0"/>
          </a:p>
        </p:txBody>
      </p:sp>
      <p:sp>
        <p:nvSpPr>
          <p:cNvPr id="5" name="object 5"/>
          <p:cNvSpPr txBox="1"/>
          <p:nvPr/>
        </p:nvSpPr>
        <p:spPr>
          <a:xfrm>
            <a:off x="8334247" y="6474663"/>
            <a:ext cx="229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1400" b="1" spc="-5" dirty="0">
                <a:solidFill>
                  <a:prstClr val="black"/>
                </a:solidFill>
                <a:cs typeface="Century Schoolbook"/>
              </a:rPr>
              <a:t>36</a:t>
            </a:r>
            <a:endParaRPr sz="1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8294" y="2745994"/>
            <a:ext cx="2016760" cy="2340610"/>
          </a:xfrm>
          <a:custGeom>
            <a:avLst/>
            <a:gdLst/>
            <a:ahLst/>
            <a:cxnLst/>
            <a:rect l="l" t="t" r="r" b="b"/>
            <a:pathLst>
              <a:path w="2016760" h="2340610">
                <a:moveTo>
                  <a:pt x="0" y="0"/>
                </a:moveTo>
                <a:lnTo>
                  <a:pt x="0" y="2088260"/>
                </a:lnTo>
                <a:lnTo>
                  <a:pt x="2531" y="2106275"/>
                </a:lnTo>
                <a:lnTo>
                  <a:pt x="22269" y="2141231"/>
                </a:lnTo>
                <a:lnTo>
                  <a:pt x="60437" y="2174472"/>
                </a:lnTo>
                <a:lnTo>
                  <a:pt x="115672" y="2205658"/>
                </a:lnTo>
                <a:lnTo>
                  <a:pt x="186606" y="2234449"/>
                </a:lnTo>
                <a:lnTo>
                  <a:pt x="227535" y="2247841"/>
                </a:lnTo>
                <a:lnTo>
                  <a:pt x="271877" y="2260506"/>
                </a:lnTo>
                <a:lnTo>
                  <a:pt x="319462" y="2272402"/>
                </a:lnTo>
                <a:lnTo>
                  <a:pt x="370119" y="2283487"/>
                </a:lnTo>
                <a:lnTo>
                  <a:pt x="423677" y="2293718"/>
                </a:lnTo>
                <a:lnTo>
                  <a:pt x="479966" y="2303052"/>
                </a:lnTo>
                <a:lnTo>
                  <a:pt x="538816" y="2311448"/>
                </a:lnTo>
                <a:lnTo>
                  <a:pt x="600056" y="2318862"/>
                </a:lnTo>
                <a:lnTo>
                  <a:pt x="663515" y="2325252"/>
                </a:lnTo>
                <a:lnTo>
                  <a:pt x="729022" y="2330576"/>
                </a:lnTo>
                <a:lnTo>
                  <a:pt x="796408" y="2334791"/>
                </a:lnTo>
                <a:lnTo>
                  <a:pt x="865500" y="2337854"/>
                </a:lnTo>
                <a:lnTo>
                  <a:pt x="936130" y="2339723"/>
                </a:lnTo>
                <a:lnTo>
                  <a:pt x="1008126" y="2340355"/>
                </a:lnTo>
                <a:lnTo>
                  <a:pt x="1080121" y="2339723"/>
                </a:lnTo>
                <a:lnTo>
                  <a:pt x="1150751" y="2337854"/>
                </a:lnTo>
                <a:lnTo>
                  <a:pt x="1219843" y="2334791"/>
                </a:lnTo>
                <a:lnTo>
                  <a:pt x="1287229" y="2330576"/>
                </a:lnTo>
                <a:lnTo>
                  <a:pt x="1352736" y="2325252"/>
                </a:lnTo>
                <a:lnTo>
                  <a:pt x="1416195" y="2318862"/>
                </a:lnTo>
                <a:lnTo>
                  <a:pt x="1477435" y="2311448"/>
                </a:lnTo>
                <a:lnTo>
                  <a:pt x="1536285" y="2303052"/>
                </a:lnTo>
                <a:lnTo>
                  <a:pt x="1592574" y="2293718"/>
                </a:lnTo>
                <a:lnTo>
                  <a:pt x="1646132" y="2283487"/>
                </a:lnTo>
                <a:lnTo>
                  <a:pt x="1696789" y="2272402"/>
                </a:lnTo>
                <a:lnTo>
                  <a:pt x="1744374" y="2260506"/>
                </a:lnTo>
                <a:lnTo>
                  <a:pt x="1788716" y="2247841"/>
                </a:lnTo>
                <a:lnTo>
                  <a:pt x="1829645" y="2234449"/>
                </a:lnTo>
                <a:lnTo>
                  <a:pt x="1866989" y="2220374"/>
                </a:lnTo>
                <a:lnTo>
                  <a:pt x="1930244" y="2190343"/>
                </a:lnTo>
                <a:lnTo>
                  <a:pt x="1977116" y="2158087"/>
                </a:lnTo>
                <a:lnTo>
                  <a:pt x="2006240" y="2123946"/>
                </a:lnTo>
                <a:lnTo>
                  <a:pt x="2016252" y="2088260"/>
                </a:lnTo>
                <a:lnTo>
                  <a:pt x="2016252" y="252094"/>
                </a:lnTo>
                <a:lnTo>
                  <a:pt x="1008126" y="252094"/>
                </a:lnTo>
                <a:lnTo>
                  <a:pt x="936130" y="251462"/>
                </a:lnTo>
                <a:lnTo>
                  <a:pt x="865500" y="249593"/>
                </a:lnTo>
                <a:lnTo>
                  <a:pt x="796408" y="246530"/>
                </a:lnTo>
                <a:lnTo>
                  <a:pt x="729022" y="242315"/>
                </a:lnTo>
                <a:lnTo>
                  <a:pt x="663515" y="236991"/>
                </a:lnTo>
                <a:lnTo>
                  <a:pt x="600056" y="230601"/>
                </a:lnTo>
                <a:lnTo>
                  <a:pt x="538816" y="223187"/>
                </a:lnTo>
                <a:lnTo>
                  <a:pt x="479966" y="214791"/>
                </a:lnTo>
                <a:lnTo>
                  <a:pt x="423677" y="205457"/>
                </a:lnTo>
                <a:lnTo>
                  <a:pt x="370119" y="195226"/>
                </a:lnTo>
                <a:lnTo>
                  <a:pt x="319462" y="184141"/>
                </a:lnTo>
                <a:lnTo>
                  <a:pt x="271877" y="172245"/>
                </a:lnTo>
                <a:lnTo>
                  <a:pt x="227535" y="159580"/>
                </a:lnTo>
                <a:lnTo>
                  <a:pt x="186606" y="146188"/>
                </a:lnTo>
                <a:lnTo>
                  <a:pt x="149262" y="132113"/>
                </a:lnTo>
                <a:lnTo>
                  <a:pt x="86007" y="102082"/>
                </a:lnTo>
                <a:lnTo>
                  <a:pt x="39135" y="69826"/>
                </a:lnTo>
                <a:lnTo>
                  <a:pt x="10011" y="35685"/>
                </a:lnTo>
                <a:lnTo>
                  <a:pt x="2531" y="18014"/>
                </a:lnTo>
                <a:lnTo>
                  <a:pt x="0" y="0"/>
                </a:lnTo>
                <a:close/>
              </a:path>
              <a:path w="2016760" h="2340610">
                <a:moveTo>
                  <a:pt x="2016252" y="0"/>
                </a:moveTo>
                <a:lnTo>
                  <a:pt x="1993982" y="52970"/>
                </a:lnTo>
                <a:lnTo>
                  <a:pt x="1955814" y="86211"/>
                </a:lnTo>
                <a:lnTo>
                  <a:pt x="1900579" y="117397"/>
                </a:lnTo>
                <a:lnTo>
                  <a:pt x="1829645" y="146188"/>
                </a:lnTo>
                <a:lnTo>
                  <a:pt x="1788716" y="159580"/>
                </a:lnTo>
                <a:lnTo>
                  <a:pt x="1744374" y="172245"/>
                </a:lnTo>
                <a:lnTo>
                  <a:pt x="1696789" y="184141"/>
                </a:lnTo>
                <a:lnTo>
                  <a:pt x="1646132" y="195226"/>
                </a:lnTo>
                <a:lnTo>
                  <a:pt x="1592574" y="205457"/>
                </a:lnTo>
                <a:lnTo>
                  <a:pt x="1536285" y="214791"/>
                </a:lnTo>
                <a:lnTo>
                  <a:pt x="1477435" y="223187"/>
                </a:lnTo>
                <a:lnTo>
                  <a:pt x="1416195" y="230601"/>
                </a:lnTo>
                <a:lnTo>
                  <a:pt x="1352736" y="236991"/>
                </a:lnTo>
                <a:lnTo>
                  <a:pt x="1287229" y="242315"/>
                </a:lnTo>
                <a:lnTo>
                  <a:pt x="1219843" y="246530"/>
                </a:lnTo>
                <a:lnTo>
                  <a:pt x="1150751" y="249593"/>
                </a:lnTo>
                <a:lnTo>
                  <a:pt x="1080121" y="251462"/>
                </a:lnTo>
                <a:lnTo>
                  <a:pt x="1008126" y="252094"/>
                </a:lnTo>
                <a:lnTo>
                  <a:pt x="2016252" y="252094"/>
                </a:lnTo>
                <a:lnTo>
                  <a:pt x="201625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8294" y="2494026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60" h="504189">
                <a:moveTo>
                  <a:pt x="1008126" y="0"/>
                </a:moveTo>
                <a:lnTo>
                  <a:pt x="936130" y="632"/>
                </a:lnTo>
                <a:lnTo>
                  <a:pt x="865500" y="2501"/>
                </a:lnTo>
                <a:lnTo>
                  <a:pt x="796408" y="5564"/>
                </a:lnTo>
                <a:lnTo>
                  <a:pt x="729022" y="9778"/>
                </a:lnTo>
                <a:lnTo>
                  <a:pt x="663515" y="15101"/>
                </a:lnTo>
                <a:lnTo>
                  <a:pt x="600056" y="21491"/>
                </a:lnTo>
                <a:lnTo>
                  <a:pt x="538816" y="28903"/>
                </a:lnTo>
                <a:lnTo>
                  <a:pt x="479966" y="37297"/>
                </a:lnTo>
                <a:lnTo>
                  <a:pt x="423677" y="46630"/>
                </a:lnTo>
                <a:lnTo>
                  <a:pt x="370119" y="56858"/>
                </a:lnTo>
                <a:lnTo>
                  <a:pt x="319462" y="67939"/>
                </a:lnTo>
                <a:lnTo>
                  <a:pt x="271877" y="79831"/>
                </a:lnTo>
                <a:lnTo>
                  <a:pt x="227535" y="92491"/>
                </a:lnTo>
                <a:lnTo>
                  <a:pt x="186606" y="105877"/>
                </a:lnTo>
                <a:lnTo>
                  <a:pt x="149262" y="119945"/>
                </a:lnTo>
                <a:lnTo>
                  <a:pt x="86007" y="149961"/>
                </a:lnTo>
                <a:lnTo>
                  <a:pt x="39135" y="182197"/>
                </a:lnTo>
                <a:lnTo>
                  <a:pt x="10011" y="216313"/>
                </a:lnTo>
                <a:lnTo>
                  <a:pt x="0" y="251968"/>
                </a:lnTo>
                <a:lnTo>
                  <a:pt x="2531" y="269982"/>
                </a:lnTo>
                <a:lnTo>
                  <a:pt x="22269" y="304938"/>
                </a:lnTo>
                <a:lnTo>
                  <a:pt x="60437" y="338179"/>
                </a:lnTo>
                <a:lnTo>
                  <a:pt x="115672" y="369365"/>
                </a:lnTo>
                <a:lnTo>
                  <a:pt x="186606" y="398156"/>
                </a:lnTo>
                <a:lnTo>
                  <a:pt x="227535" y="411548"/>
                </a:lnTo>
                <a:lnTo>
                  <a:pt x="271877" y="424213"/>
                </a:lnTo>
                <a:lnTo>
                  <a:pt x="319462" y="436109"/>
                </a:lnTo>
                <a:lnTo>
                  <a:pt x="370119" y="447194"/>
                </a:lnTo>
                <a:lnTo>
                  <a:pt x="423677" y="457425"/>
                </a:lnTo>
                <a:lnTo>
                  <a:pt x="479966" y="466759"/>
                </a:lnTo>
                <a:lnTo>
                  <a:pt x="538816" y="475155"/>
                </a:lnTo>
                <a:lnTo>
                  <a:pt x="600056" y="482569"/>
                </a:lnTo>
                <a:lnTo>
                  <a:pt x="663515" y="488959"/>
                </a:lnTo>
                <a:lnTo>
                  <a:pt x="729022" y="494283"/>
                </a:lnTo>
                <a:lnTo>
                  <a:pt x="796408" y="498498"/>
                </a:lnTo>
                <a:lnTo>
                  <a:pt x="865500" y="501561"/>
                </a:lnTo>
                <a:lnTo>
                  <a:pt x="936130" y="503430"/>
                </a:lnTo>
                <a:lnTo>
                  <a:pt x="1008126" y="504063"/>
                </a:lnTo>
                <a:lnTo>
                  <a:pt x="1080121" y="503430"/>
                </a:lnTo>
                <a:lnTo>
                  <a:pt x="1150751" y="501561"/>
                </a:lnTo>
                <a:lnTo>
                  <a:pt x="1219843" y="498498"/>
                </a:lnTo>
                <a:lnTo>
                  <a:pt x="1287229" y="494283"/>
                </a:lnTo>
                <a:lnTo>
                  <a:pt x="1352736" y="488959"/>
                </a:lnTo>
                <a:lnTo>
                  <a:pt x="1416195" y="482569"/>
                </a:lnTo>
                <a:lnTo>
                  <a:pt x="1477435" y="475155"/>
                </a:lnTo>
                <a:lnTo>
                  <a:pt x="1536285" y="466759"/>
                </a:lnTo>
                <a:lnTo>
                  <a:pt x="1592574" y="457425"/>
                </a:lnTo>
                <a:lnTo>
                  <a:pt x="1646132" y="447194"/>
                </a:lnTo>
                <a:lnTo>
                  <a:pt x="1696789" y="436109"/>
                </a:lnTo>
                <a:lnTo>
                  <a:pt x="1744374" y="424213"/>
                </a:lnTo>
                <a:lnTo>
                  <a:pt x="1788716" y="411548"/>
                </a:lnTo>
                <a:lnTo>
                  <a:pt x="1829645" y="398156"/>
                </a:lnTo>
                <a:lnTo>
                  <a:pt x="1866989" y="384081"/>
                </a:lnTo>
                <a:lnTo>
                  <a:pt x="1930244" y="354050"/>
                </a:lnTo>
                <a:lnTo>
                  <a:pt x="1977116" y="321794"/>
                </a:lnTo>
                <a:lnTo>
                  <a:pt x="2006240" y="287653"/>
                </a:lnTo>
                <a:lnTo>
                  <a:pt x="2016252" y="251968"/>
                </a:lnTo>
                <a:lnTo>
                  <a:pt x="2013720" y="233969"/>
                </a:lnTo>
                <a:lnTo>
                  <a:pt x="1993982" y="199041"/>
                </a:lnTo>
                <a:lnTo>
                  <a:pt x="1955814" y="165823"/>
                </a:lnTo>
                <a:lnTo>
                  <a:pt x="1900579" y="134654"/>
                </a:lnTo>
                <a:lnTo>
                  <a:pt x="1829645" y="105877"/>
                </a:lnTo>
                <a:lnTo>
                  <a:pt x="1788716" y="92491"/>
                </a:lnTo>
                <a:lnTo>
                  <a:pt x="1744374" y="79831"/>
                </a:lnTo>
                <a:lnTo>
                  <a:pt x="1696789" y="67939"/>
                </a:lnTo>
                <a:lnTo>
                  <a:pt x="1646132" y="56858"/>
                </a:lnTo>
                <a:lnTo>
                  <a:pt x="1592574" y="46630"/>
                </a:lnTo>
                <a:lnTo>
                  <a:pt x="1536285" y="37297"/>
                </a:lnTo>
                <a:lnTo>
                  <a:pt x="1477435" y="28903"/>
                </a:lnTo>
                <a:lnTo>
                  <a:pt x="1416195" y="21491"/>
                </a:lnTo>
                <a:lnTo>
                  <a:pt x="1352736" y="15101"/>
                </a:lnTo>
                <a:lnTo>
                  <a:pt x="1287229" y="9778"/>
                </a:lnTo>
                <a:lnTo>
                  <a:pt x="1219843" y="5564"/>
                </a:lnTo>
                <a:lnTo>
                  <a:pt x="1150751" y="2501"/>
                </a:lnTo>
                <a:lnTo>
                  <a:pt x="1080121" y="632"/>
                </a:lnTo>
                <a:lnTo>
                  <a:pt x="1008126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8294" y="2494026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60" h="504189">
                <a:moveTo>
                  <a:pt x="2016252" y="251968"/>
                </a:moveTo>
                <a:lnTo>
                  <a:pt x="1993982" y="304938"/>
                </a:lnTo>
                <a:lnTo>
                  <a:pt x="1955814" y="338179"/>
                </a:lnTo>
                <a:lnTo>
                  <a:pt x="1900579" y="369365"/>
                </a:lnTo>
                <a:lnTo>
                  <a:pt x="1829645" y="398156"/>
                </a:lnTo>
                <a:lnTo>
                  <a:pt x="1788716" y="411548"/>
                </a:lnTo>
                <a:lnTo>
                  <a:pt x="1744374" y="424213"/>
                </a:lnTo>
                <a:lnTo>
                  <a:pt x="1696789" y="436109"/>
                </a:lnTo>
                <a:lnTo>
                  <a:pt x="1646132" y="447194"/>
                </a:lnTo>
                <a:lnTo>
                  <a:pt x="1592574" y="457425"/>
                </a:lnTo>
                <a:lnTo>
                  <a:pt x="1536285" y="466759"/>
                </a:lnTo>
                <a:lnTo>
                  <a:pt x="1477435" y="475155"/>
                </a:lnTo>
                <a:lnTo>
                  <a:pt x="1416195" y="482569"/>
                </a:lnTo>
                <a:lnTo>
                  <a:pt x="1352736" y="488959"/>
                </a:lnTo>
                <a:lnTo>
                  <a:pt x="1287229" y="494283"/>
                </a:lnTo>
                <a:lnTo>
                  <a:pt x="1219843" y="498498"/>
                </a:lnTo>
                <a:lnTo>
                  <a:pt x="1150751" y="501561"/>
                </a:lnTo>
                <a:lnTo>
                  <a:pt x="1080121" y="503430"/>
                </a:lnTo>
                <a:lnTo>
                  <a:pt x="1008126" y="504063"/>
                </a:lnTo>
                <a:lnTo>
                  <a:pt x="936130" y="503430"/>
                </a:lnTo>
                <a:lnTo>
                  <a:pt x="865500" y="501561"/>
                </a:lnTo>
                <a:lnTo>
                  <a:pt x="796408" y="498498"/>
                </a:lnTo>
                <a:lnTo>
                  <a:pt x="729022" y="494283"/>
                </a:lnTo>
                <a:lnTo>
                  <a:pt x="663515" y="488959"/>
                </a:lnTo>
                <a:lnTo>
                  <a:pt x="600056" y="482569"/>
                </a:lnTo>
                <a:lnTo>
                  <a:pt x="538816" y="475155"/>
                </a:lnTo>
                <a:lnTo>
                  <a:pt x="479966" y="466759"/>
                </a:lnTo>
                <a:lnTo>
                  <a:pt x="423677" y="457425"/>
                </a:lnTo>
                <a:lnTo>
                  <a:pt x="370119" y="447194"/>
                </a:lnTo>
                <a:lnTo>
                  <a:pt x="319462" y="436109"/>
                </a:lnTo>
                <a:lnTo>
                  <a:pt x="271877" y="424213"/>
                </a:lnTo>
                <a:lnTo>
                  <a:pt x="227535" y="411548"/>
                </a:lnTo>
                <a:lnTo>
                  <a:pt x="186606" y="398156"/>
                </a:lnTo>
                <a:lnTo>
                  <a:pt x="149262" y="384081"/>
                </a:lnTo>
                <a:lnTo>
                  <a:pt x="86007" y="354050"/>
                </a:lnTo>
                <a:lnTo>
                  <a:pt x="39135" y="321794"/>
                </a:lnTo>
                <a:lnTo>
                  <a:pt x="10011" y="287653"/>
                </a:lnTo>
                <a:lnTo>
                  <a:pt x="0" y="251968"/>
                </a:lnTo>
                <a:lnTo>
                  <a:pt x="2531" y="233969"/>
                </a:lnTo>
                <a:lnTo>
                  <a:pt x="22269" y="199041"/>
                </a:lnTo>
                <a:lnTo>
                  <a:pt x="60437" y="165823"/>
                </a:lnTo>
                <a:lnTo>
                  <a:pt x="115672" y="134654"/>
                </a:lnTo>
                <a:lnTo>
                  <a:pt x="186606" y="105877"/>
                </a:lnTo>
                <a:lnTo>
                  <a:pt x="227535" y="92491"/>
                </a:lnTo>
                <a:lnTo>
                  <a:pt x="271877" y="79831"/>
                </a:lnTo>
                <a:lnTo>
                  <a:pt x="319462" y="67939"/>
                </a:lnTo>
                <a:lnTo>
                  <a:pt x="370119" y="56858"/>
                </a:lnTo>
                <a:lnTo>
                  <a:pt x="423677" y="46630"/>
                </a:lnTo>
                <a:lnTo>
                  <a:pt x="479966" y="37297"/>
                </a:lnTo>
                <a:lnTo>
                  <a:pt x="538816" y="28903"/>
                </a:lnTo>
                <a:lnTo>
                  <a:pt x="600056" y="21491"/>
                </a:lnTo>
                <a:lnTo>
                  <a:pt x="663515" y="15101"/>
                </a:lnTo>
                <a:lnTo>
                  <a:pt x="729022" y="9778"/>
                </a:lnTo>
                <a:lnTo>
                  <a:pt x="796408" y="5564"/>
                </a:lnTo>
                <a:lnTo>
                  <a:pt x="865500" y="2501"/>
                </a:lnTo>
                <a:lnTo>
                  <a:pt x="936130" y="632"/>
                </a:lnTo>
                <a:lnTo>
                  <a:pt x="1008126" y="0"/>
                </a:lnTo>
                <a:lnTo>
                  <a:pt x="1080121" y="632"/>
                </a:lnTo>
                <a:lnTo>
                  <a:pt x="1150751" y="2501"/>
                </a:lnTo>
                <a:lnTo>
                  <a:pt x="1219843" y="5564"/>
                </a:lnTo>
                <a:lnTo>
                  <a:pt x="1287229" y="9778"/>
                </a:lnTo>
                <a:lnTo>
                  <a:pt x="1352736" y="15101"/>
                </a:lnTo>
                <a:lnTo>
                  <a:pt x="1416195" y="21491"/>
                </a:lnTo>
                <a:lnTo>
                  <a:pt x="1477435" y="28903"/>
                </a:lnTo>
                <a:lnTo>
                  <a:pt x="1536285" y="37297"/>
                </a:lnTo>
                <a:lnTo>
                  <a:pt x="1592574" y="46630"/>
                </a:lnTo>
                <a:lnTo>
                  <a:pt x="1646132" y="56858"/>
                </a:lnTo>
                <a:lnTo>
                  <a:pt x="1696789" y="67939"/>
                </a:lnTo>
                <a:lnTo>
                  <a:pt x="1744374" y="79831"/>
                </a:lnTo>
                <a:lnTo>
                  <a:pt x="1788716" y="92491"/>
                </a:lnTo>
                <a:lnTo>
                  <a:pt x="1829645" y="105877"/>
                </a:lnTo>
                <a:lnTo>
                  <a:pt x="1866989" y="119945"/>
                </a:lnTo>
                <a:lnTo>
                  <a:pt x="1930244" y="149961"/>
                </a:lnTo>
                <a:lnTo>
                  <a:pt x="1977116" y="182197"/>
                </a:lnTo>
                <a:lnTo>
                  <a:pt x="2006240" y="216313"/>
                </a:lnTo>
                <a:lnTo>
                  <a:pt x="2016252" y="251968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8294" y="2745994"/>
            <a:ext cx="2016760" cy="2340610"/>
          </a:xfrm>
          <a:custGeom>
            <a:avLst/>
            <a:gdLst/>
            <a:ahLst/>
            <a:cxnLst/>
            <a:rect l="l" t="t" r="r" b="b"/>
            <a:pathLst>
              <a:path w="2016760" h="2340610">
                <a:moveTo>
                  <a:pt x="2016252" y="0"/>
                </a:moveTo>
                <a:lnTo>
                  <a:pt x="2016252" y="2088260"/>
                </a:lnTo>
                <a:lnTo>
                  <a:pt x="2013720" y="2106275"/>
                </a:lnTo>
                <a:lnTo>
                  <a:pt x="1993982" y="2141231"/>
                </a:lnTo>
                <a:lnTo>
                  <a:pt x="1955814" y="2174472"/>
                </a:lnTo>
                <a:lnTo>
                  <a:pt x="1900579" y="2205658"/>
                </a:lnTo>
                <a:lnTo>
                  <a:pt x="1829645" y="2234449"/>
                </a:lnTo>
                <a:lnTo>
                  <a:pt x="1788716" y="2247841"/>
                </a:lnTo>
                <a:lnTo>
                  <a:pt x="1744374" y="2260506"/>
                </a:lnTo>
                <a:lnTo>
                  <a:pt x="1696789" y="2272402"/>
                </a:lnTo>
                <a:lnTo>
                  <a:pt x="1646132" y="2283487"/>
                </a:lnTo>
                <a:lnTo>
                  <a:pt x="1592574" y="2293718"/>
                </a:lnTo>
                <a:lnTo>
                  <a:pt x="1536285" y="2303052"/>
                </a:lnTo>
                <a:lnTo>
                  <a:pt x="1477435" y="2311448"/>
                </a:lnTo>
                <a:lnTo>
                  <a:pt x="1416195" y="2318862"/>
                </a:lnTo>
                <a:lnTo>
                  <a:pt x="1352736" y="2325252"/>
                </a:lnTo>
                <a:lnTo>
                  <a:pt x="1287229" y="2330576"/>
                </a:lnTo>
                <a:lnTo>
                  <a:pt x="1219843" y="2334791"/>
                </a:lnTo>
                <a:lnTo>
                  <a:pt x="1150751" y="2337854"/>
                </a:lnTo>
                <a:lnTo>
                  <a:pt x="1080121" y="2339723"/>
                </a:lnTo>
                <a:lnTo>
                  <a:pt x="1008126" y="2340355"/>
                </a:lnTo>
                <a:lnTo>
                  <a:pt x="936130" y="2339723"/>
                </a:lnTo>
                <a:lnTo>
                  <a:pt x="865500" y="2337854"/>
                </a:lnTo>
                <a:lnTo>
                  <a:pt x="796408" y="2334791"/>
                </a:lnTo>
                <a:lnTo>
                  <a:pt x="729022" y="2330576"/>
                </a:lnTo>
                <a:lnTo>
                  <a:pt x="663515" y="2325252"/>
                </a:lnTo>
                <a:lnTo>
                  <a:pt x="600056" y="2318862"/>
                </a:lnTo>
                <a:lnTo>
                  <a:pt x="538816" y="2311448"/>
                </a:lnTo>
                <a:lnTo>
                  <a:pt x="479966" y="2303052"/>
                </a:lnTo>
                <a:lnTo>
                  <a:pt x="423677" y="2293718"/>
                </a:lnTo>
                <a:lnTo>
                  <a:pt x="370119" y="2283487"/>
                </a:lnTo>
                <a:lnTo>
                  <a:pt x="319462" y="2272402"/>
                </a:lnTo>
                <a:lnTo>
                  <a:pt x="271877" y="2260506"/>
                </a:lnTo>
                <a:lnTo>
                  <a:pt x="227535" y="2247841"/>
                </a:lnTo>
                <a:lnTo>
                  <a:pt x="186606" y="2234449"/>
                </a:lnTo>
                <a:lnTo>
                  <a:pt x="149262" y="2220374"/>
                </a:lnTo>
                <a:lnTo>
                  <a:pt x="86007" y="2190343"/>
                </a:lnTo>
                <a:lnTo>
                  <a:pt x="39135" y="2158087"/>
                </a:lnTo>
                <a:lnTo>
                  <a:pt x="10011" y="2123946"/>
                </a:lnTo>
                <a:lnTo>
                  <a:pt x="0" y="2088260"/>
                </a:lnTo>
                <a:lnTo>
                  <a:pt x="0" y="0"/>
                </a:lnTo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81277" y="3782695"/>
          <a:ext cx="1155700" cy="1066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"/>
                <a:gridCol w="288925"/>
                <a:gridCol w="288925"/>
                <a:gridCol w="288925"/>
              </a:tblGrid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052575" y="3243834"/>
            <a:ext cx="149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</a:t>
            </a:r>
            <a:r>
              <a:rPr spc="-5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principale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92090" y="2674366"/>
            <a:ext cx="2016760" cy="2339340"/>
          </a:xfrm>
          <a:custGeom>
            <a:avLst/>
            <a:gdLst/>
            <a:ahLst/>
            <a:cxnLst/>
            <a:rect l="l" t="t" r="r" b="b"/>
            <a:pathLst>
              <a:path w="2016759" h="2339340">
                <a:moveTo>
                  <a:pt x="0" y="0"/>
                </a:moveTo>
                <a:lnTo>
                  <a:pt x="0" y="2086864"/>
                </a:lnTo>
                <a:lnTo>
                  <a:pt x="2531" y="2104862"/>
                </a:lnTo>
                <a:lnTo>
                  <a:pt x="22269" y="2139790"/>
                </a:lnTo>
                <a:lnTo>
                  <a:pt x="60437" y="2173008"/>
                </a:lnTo>
                <a:lnTo>
                  <a:pt x="115672" y="2204177"/>
                </a:lnTo>
                <a:lnTo>
                  <a:pt x="186606" y="2232954"/>
                </a:lnTo>
                <a:lnTo>
                  <a:pt x="227535" y="2246340"/>
                </a:lnTo>
                <a:lnTo>
                  <a:pt x="271877" y="2259000"/>
                </a:lnTo>
                <a:lnTo>
                  <a:pt x="319462" y="2270892"/>
                </a:lnTo>
                <a:lnTo>
                  <a:pt x="370119" y="2281973"/>
                </a:lnTo>
                <a:lnTo>
                  <a:pt x="423677" y="2292201"/>
                </a:lnTo>
                <a:lnTo>
                  <a:pt x="479966" y="2301534"/>
                </a:lnTo>
                <a:lnTo>
                  <a:pt x="538816" y="2309928"/>
                </a:lnTo>
                <a:lnTo>
                  <a:pt x="600056" y="2317340"/>
                </a:lnTo>
                <a:lnTo>
                  <a:pt x="663515" y="2323730"/>
                </a:lnTo>
                <a:lnTo>
                  <a:pt x="729022" y="2329053"/>
                </a:lnTo>
                <a:lnTo>
                  <a:pt x="796408" y="2333267"/>
                </a:lnTo>
                <a:lnTo>
                  <a:pt x="865500" y="2336330"/>
                </a:lnTo>
                <a:lnTo>
                  <a:pt x="936130" y="2338199"/>
                </a:lnTo>
                <a:lnTo>
                  <a:pt x="1008126" y="2338832"/>
                </a:lnTo>
                <a:lnTo>
                  <a:pt x="1080121" y="2338199"/>
                </a:lnTo>
                <a:lnTo>
                  <a:pt x="1150751" y="2336330"/>
                </a:lnTo>
                <a:lnTo>
                  <a:pt x="1219843" y="2333267"/>
                </a:lnTo>
                <a:lnTo>
                  <a:pt x="1287229" y="2329053"/>
                </a:lnTo>
                <a:lnTo>
                  <a:pt x="1352736" y="2323730"/>
                </a:lnTo>
                <a:lnTo>
                  <a:pt x="1416195" y="2317340"/>
                </a:lnTo>
                <a:lnTo>
                  <a:pt x="1477435" y="2309928"/>
                </a:lnTo>
                <a:lnTo>
                  <a:pt x="1536285" y="2301534"/>
                </a:lnTo>
                <a:lnTo>
                  <a:pt x="1592574" y="2292201"/>
                </a:lnTo>
                <a:lnTo>
                  <a:pt x="1646132" y="2281973"/>
                </a:lnTo>
                <a:lnTo>
                  <a:pt x="1696789" y="2270892"/>
                </a:lnTo>
                <a:lnTo>
                  <a:pt x="1744374" y="2259000"/>
                </a:lnTo>
                <a:lnTo>
                  <a:pt x="1788716" y="2246340"/>
                </a:lnTo>
                <a:lnTo>
                  <a:pt x="1829645" y="2232954"/>
                </a:lnTo>
                <a:lnTo>
                  <a:pt x="1866989" y="2218886"/>
                </a:lnTo>
                <a:lnTo>
                  <a:pt x="1930244" y="2188870"/>
                </a:lnTo>
                <a:lnTo>
                  <a:pt x="1977116" y="2156634"/>
                </a:lnTo>
                <a:lnTo>
                  <a:pt x="2006240" y="2122518"/>
                </a:lnTo>
                <a:lnTo>
                  <a:pt x="2016252" y="2086864"/>
                </a:lnTo>
                <a:lnTo>
                  <a:pt x="2016252" y="252095"/>
                </a:lnTo>
                <a:lnTo>
                  <a:pt x="1008126" y="252095"/>
                </a:lnTo>
                <a:lnTo>
                  <a:pt x="936130" y="251461"/>
                </a:lnTo>
                <a:lnTo>
                  <a:pt x="865500" y="249590"/>
                </a:lnTo>
                <a:lnTo>
                  <a:pt x="796408" y="246524"/>
                </a:lnTo>
                <a:lnTo>
                  <a:pt x="729022" y="242306"/>
                </a:lnTo>
                <a:lnTo>
                  <a:pt x="663515" y="236977"/>
                </a:lnTo>
                <a:lnTo>
                  <a:pt x="600056" y="230582"/>
                </a:lnTo>
                <a:lnTo>
                  <a:pt x="538816" y="223162"/>
                </a:lnTo>
                <a:lnTo>
                  <a:pt x="479966" y="214761"/>
                </a:lnTo>
                <a:lnTo>
                  <a:pt x="423677" y="205421"/>
                </a:lnTo>
                <a:lnTo>
                  <a:pt x="370119" y="195185"/>
                </a:lnTo>
                <a:lnTo>
                  <a:pt x="319462" y="184095"/>
                </a:lnTo>
                <a:lnTo>
                  <a:pt x="271877" y="172195"/>
                </a:lnTo>
                <a:lnTo>
                  <a:pt x="227535" y="159527"/>
                </a:lnTo>
                <a:lnTo>
                  <a:pt x="186606" y="146133"/>
                </a:lnTo>
                <a:lnTo>
                  <a:pt x="149262" y="132057"/>
                </a:lnTo>
                <a:lnTo>
                  <a:pt x="86007" y="102028"/>
                </a:lnTo>
                <a:lnTo>
                  <a:pt x="39135" y="69780"/>
                </a:lnTo>
                <a:lnTo>
                  <a:pt x="10011" y="35657"/>
                </a:lnTo>
                <a:lnTo>
                  <a:pt x="2531" y="17999"/>
                </a:lnTo>
                <a:lnTo>
                  <a:pt x="0" y="0"/>
                </a:lnTo>
                <a:close/>
              </a:path>
              <a:path w="2016759" h="2339340">
                <a:moveTo>
                  <a:pt x="2016252" y="0"/>
                </a:moveTo>
                <a:lnTo>
                  <a:pt x="1993982" y="52932"/>
                </a:lnTo>
                <a:lnTo>
                  <a:pt x="1955814" y="86160"/>
                </a:lnTo>
                <a:lnTo>
                  <a:pt x="1900579" y="117341"/>
                </a:lnTo>
                <a:lnTo>
                  <a:pt x="1829645" y="146133"/>
                </a:lnTo>
                <a:lnTo>
                  <a:pt x="1788716" y="159527"/>
                </a:lnTo>
                <a:lnTo>
                  <a:pt x="1744374" y="172195"/>
                </a:lnTo>
                <a:lnTo>
                  <a:pt x="1696789" y="184095"/>
                </a:lnTo>
                <a:lnTo>
                  <a:pt x="1646132" y="195185"/>
                </a:lnTo>
                <a:lnTo>
                  <a:pt x="1592574" y="205421"/>
                </a:lnTo>
                <a:lnTo>
                  <a:pt x="1536285" y="214761"/>
                </a:lnTo>
                <a:lnTo>
                  <a:pt x="1477435" y="223162"/>
                </a:lnTo>
                <a:lnTo>
                  <a:pt x="1416195" y="230582"/>
                </a:lnTo>
                <a:lnTo>
                  <a:pt x="1352736" y="236977"/>
                </a:lnTo>
                <a:lnTo>
                  <a:pt x="1287229" y="242306"/>
                </a:lnTo>
                <a:lnTo>
                  <a:pt x="1219843" y="246524"/>
                </a:lnTo>
                <a:lnTo>
                  <a:pt x="1150751" y="249590"/>
                </a:lnTo>
                <a:lnTo>
                  <a:pt x="1080121" y="251461"/>
                </a:lnTo>
                <a:lnTo>
                  <a:pt x="1008126" y="252095"/>
                </a:lnTo>
                <a:lnTo>
                  <a:pt x="2016252" y="252095"/>
                </a:lnTo>
                <a:lnTo>
                  <a:pt x="201625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92090" y="2422398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59" h="504189">
                <a:moveTo>
                  <a:pt x="1008126" y="0"/>
                </a:moveTo>
                <a:lnTo>
                  <a:pt x="936130" y="632"/>
                </a:lnTo>
                <a:lnTo>
                  <a:pt x="865500" y="2501"/>
                </a:lnTo>
                <a:lnTo>
                  <a:pt x="796408" y="5564"/>
                </a:lnTo>
                <a:lnTo>
                  <a:pt x="729022" y="9778"/>
                </a:lnTo>
                <a:lnTo>
                  <a:pt x="663515" y="15101"/>
                </a:lnTo>
                <a:lnTo>
                  <a:pt x="600056" y="21491"/>
                </a:lnTo>
                <a:lnTo>
                  <a:pt x="538816" y="28903"/>
                </a:lnTo>
                <a:lnTo>
                  <a:pt x="479966" y="37297"/>
                </a:lnTo>
                <a:lnTo>
                  <a:pt x="423677" y="46630"/>
                </a:lnTo>
                <a:lnTo>
                  <a:pt x="370119" y="56858"/>
                </a:lnTo>
                <a:lnTo>
                  <a:pt x="319462" y="67939"/>
                </a:lnTo>
                <a:lnTo>
                  <a:pt x="271877" y="79831"/>
                </a:lnTo>
                <a:lnTo>
                  <a:pt x="227535" y="92491"/>
                </a:lnTo>
                <a:lnTo>
                  <a:pt x="186606" y="105877"/>
                </a:lnTo>
                <a:lnTo>
                  <a:pt x="149262" y="119945"/>
                </a:lnTo>
                <a:lnTo>
                  <a:pt x="86007" y="149961"/>
                </a:lnTo>
                <a:lnTo>
                  <a:pt x="39135" y="182197"/>
                </a:lnTo>
                <a:lnTo>
                  <a:pt x="10011" y="216313"/>
                </a:lnTo>
                <a:lnTo>
                  <a:pt x="0" y="251967"/>
                </a:lnTo>
                <a:lnTo>
                  <a:pt x="2531" y="269967"/>
                </a:lnTo>
                <a:lnTo>
                  <a:pt x="22269" y="304900"/>
                </a:lnTo>
                <a:lnTo>
                  <a:pt x="60437" y="338128"/>
                </a:lnTo>
                <a:lnTo>
                  <a:pt x="115672" y="369309"/>
                </a:lnTo>
                <a:lnTo>
                  <a:pt x="186606" y="398101"/>
                </a:lnTo>
                <a:lnTo>
                  <a:pt x="227535" y="411495"/>
                </a:lnTo>
                <a:lnTo>
                  <a:pt x="271877" y="424163"/>
                </a:lnTo>
                <a:lnTo>
                  <a:pt x="319462" y="436063"/>
                </a:lnTo>
                <a:lnTo>
                  <a:pt x="370119" y="447153"/>
                </a:lnTo>
                <a:lnTo>
                  <a:pt x="423677" y="457389"/>
                </a:lnTo>
                <a:lnTo>
                  <a:pt x="479966" y="466729"/>
                </a:lnTo>
                <a:lnTo>
                  <a:pt x="538816" y="475130"/>
                </a:lnTo>
                <a:lnTo>
                  <a:pt x="600056" y="482550"/>
                </a:lnTo>
                <a:lnTo>
                  <a:pt x="663515" y="488945"/>
                </a:lnTo>
                <a:lnTo>
                  <a:pt x="729022" y="494274"/>
                </a:lnTo>
                <a:lnTo>
                  <a:pt x="796408" y="498492"/>
                </a:lnTo>
                <a:lnTo>
                  <a:pt x="865500" y="501558"/>
                </a:lnTo>
                <a:lnTo>
                  <a:pt x="936130" y="503429"/>
                </a:lnTo>
                <a:lnTo>
                  <a:pt x="1008126" y="504063"/>
                </a:lnTo>
                <a:lnTo>
                  <a:pt x="1080121" y="503429"/>
                </a:lnTo>
                <a:lnTo>
                  <a:pt x="1150751" y="501558"/>
                </a:lnTo>
                <a:lnTo>
                  <a:pt x="1219843" y="498492"/>
                </a:lnTo>
                <a:lnTo>
                  <a:pt x="1287229" y="494274"/>
                </a:lnTo>
                <a:lnTo>
                  <a:pt x="1352736" y="488945"/>
                </a:lnTo>
                <a:lnTo>
                  <a:pt x="1416195" y="482550"/>
                </a:lnTo>
                <a:lnTo>
                  <a:pt x="1477435" y="475130"/>
                </a:lnTo>
                <a:lnTo>
                  <a:pt x="1536285" y="466729"/>
                </a:lnTo>
                <a:lnTo>
                  <a:pt x="1592574" y="457389"/>
                </a:lnTo>
                <a:lnTo>
                  <a:pt x="1646132" y="447153"/>
                </a:lnTo>
                <a:lnTo>
                  <a:pt x="1696789" y="436063"/>
                </a:lnTo>
                <a:lnTo>
                  <a:pt x="1744374" y="424163"/>
                </a:lnTo>
                <a:lnTo>
                  <a:pt x="1788716" y="411495"/>
                </a:lnTo>
                <a:lnTo>
                  <a:pt x="1829645" y="398101"/>
                </a:lnTo>
                <a:lnTo>
                  <a:pt x="1866989" y="384025"/>
                </a:lnTo>
                <a:lnTo>
                  <a:pt x="1930244" y="353996"/>
                </a:lnTo>
                <a:lnTo>
                  <a:pt x="1977116" y="321748"/>
                </a:lnTo>
                <a:lnTo>
                  <a:pt x="2006240" y="287625"/>
                </a:lnTo>
                <a:lnTo>
                  <a:pt x="2016252" y="251967"/>
                </a:lnTo>
                <a:lnTo>
                  <a:pt x="2013720" y="233969"/>
                </a:lnTo>
                <a:lnTo>
                  <a:pt x="1993982" y="199041"/>
                </a:lnTo>
                <a:lnTo>
                  <a:pt x="1955814" y="165823"/>
                </a:lnTo>
                <a:lnTo>
                  <a:pt x="1900579" y="134654"/>
                </a:lnTo>
                <a:lnTo>
                  <a:pt x="1829645" y="105877"/>
                </a:lnTo>
                <a:lnTo>
                  <a:pt x="1788716" y="92491"/>
                </a:lnTo>
                <a:lnTo>
                  <a:pt x="1744374" y="79831"/>
                </a:lnTo>
                <a:lnTo>
                  <a:pt x="1696789" y="67939"/>
                </a:lnTo>
                <a:lnTo>
                  <a:pt x="1646132" y="56858"/>
                </a:lnTo>
                <a:lnTo>
                  <a:pt x="1592574" y="46630"/>
                </a:lnTo>
                <a:lnTo>
                  <a:pt x="1536285" y="37297"/>
                </a:lnTo>
                <a:lnTo>
                  <a:pt x="1477435" y="28903"/>
                </a:lnTo>
                <a:lnTo>
                  <a:pt x="1416195" y="21491"/>
                </a:lnTo>
                <a:lnTo>
                  <a:pt x="1352736" y="15101"/>
                </a:lnTo>
                <a:lnTo>
                  <a:pt x="1287229" y="9778"/>
                </a:lnTo>
                <a:lnTo>
                  <a:pt x="1219843" y="5564"/>
                </a:lnTo>
                <a:lnTo>
                  <a:pt x="1150751" y="2501"/>
                </a:lnTo>
                <a:lnTo>
                  <a:pt x="1080121" y="632"/>
                </a:lnTo>
                <a:lnTo>
                  <a:pt x="1008126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92090" y="2422398"/>
            <a:ext cx="2016760" cy="504190"/>
          </a:xfrm>
          <a:custGeom>
            <a:avLst/>
            <a:gdLst/>
            <a:ahLst/>
            <a:cxnLst/>
            <a:rect l="l" t="t" r="r" b="b"/>
            <a:pathLst>
              <a:path w="2016759" h="504189">
                <a:moveTo>
                  <a:pt x="2016252" y="251967"/>
                </a:moveTo>
                <a:lnTo>
                  <a:pt x="1993982" y="304900"/>
                </a:lnTo>
                <a:lnTo>
                  <a:pt x="1955814" y="338128"/>
                </a:lnTo>
                <a:lnTo>
                  <a:pt x="1900579" y="369309"/>
                </a:lnTo>
                <a:lnTo>
                  <a:pt x="1829645" y="398101"/>
                </a:lnTo>
                <a:lnTo>
                  <a:pt x="1788716" y="411495"/>
                </a:lnTo>
                <a:lnTo>
                  <a:pt x="1744374" y="424163"/>
                </a:lnTo>
                <a:lnTo>
                  <a:pt x="1696789" y="436063"/>
                </a:lnTo>
                <a:lnTo>
                  <a:pt x="1646132" y="447153"/>
                </a:lnTo>
                <a:lnTo>
                  <a:pt x="1592574" y="457389"/>
                </a:lnTo>
                <a:lnTo>
                  <a:pt x="1536285" y="466729"/>
                </a:lnTo>
                <a:lnTo>
                  <a:pt x="1477435" y="475130"/>
                </a:lnTo>
                <a:lnTo>
                  <a:pt x="1416195" y="482550"/>
                </a:lnTo>
                <a:lnTo>
                  <a:pt x="1352736" y="488945"/>
                </a:lnTo>
                <a:lnTo>
                  <a:pt x="1287229" y="494274"/>
                </a:lnTo>
                <a:lnTo>
                  <a:pt x="1219843" y="498492"/>
                </a:lnTo>
                <a:lnTo>
                  <a:pt x="1150751" y="501558"/>
                </a:lnTo>
                <a:lnTo>
                  <a:pt x="1080121" y="503429"/>
                </a:lnTo>
                <a:lnTo>
                  <a:pt x="1008126" y="504063"/>
                </a:lnTo>
                <a:lnTo>
                  <a:pt x="936130" y="503429"/>
                </a:lnTo>
                <a:lnTo>
                  <a:pt x="865500" y="501558"/>
                </a:lnTo>
                <a:lnTo>
                  <a:pt x="796408" y="498492"/>
                </a:lnTo>
                <a:lnTo>
                  <a:pt x="729022" y="494274"/>
                </a:lnTo>
                <a:lnTo>
                  <a:pt x="663515" y="488945"/>
                </a:lnTo>
                <a:lnTo>
                  <a:pt x="600056" y="482550"/>
                </a:lnTo>
                <a:lnTo>
                  <a:pt x="538816" y="475130"/>
                </a:lnTo>
                <a:lnTo>
                  <a:pt x="479966" y="466729"/>
                </a:lnTo>
                <a:lnTo>
                  <a:pt x="423677" y="457389"/>
                </a:lnTo>
                <a:lnTo>
                  <a:pt x="370119" y="447153"/>
                </a:lnTo>
                <a:lnTo>
                  <a:pt x="319462" y="436063"/>
                </a:lnTo>
                <a:lnTo>
                  <a:pt x="271877" y="424163"/>
                </a:lnTo>
                <a:lnTo>
                  <a:pt x="227535" y="411495"/>
                </a:lnTo>
                <a:lnTo>
                  <a:pt x="186606" y="398101"/>
                </a:lnTo>
                <a:lnTo>
                  <a:pt x="149262" y="384025"/>
                </a:lnTo>
                <a:lnTo>
                  <a:pt x="86007" y="353996"/>
                </a:lnTo>
                <a:lnTo>
                  <a:pt x="39135" y="321748"/>
                </a:lnTo>
                <a:lnTo>
                  <a:pt x="10011" y="287625"/>
                </a:lnTo>
                <a:lnTo>
                  <a:pt x="0" y="251967"/>
                </a:lnTo>
                <a:lnTo>
                  <a:pt x="2531" y="233969"/>
                </a:lnTo>
                <a:lnTo>
                  <a:pt x="22269" y="199041"/>
                </a:lnTo>
                <a:lnTo>
                  <a:pt x="60437" y="165823"/>
                </a:lnTo>
                <a:lnTo>
                  <a:pt x="115672" y="134654"/>
                </a:lnTo>
                <a:lnTo>
                  <a:pt x="186606" y="105877"/>
                </a:lnTo>
                <a:lnTo>
                  <a:pt x="227535" y="92491"/>
                </a:lnTo>
                <a:lnTo>
                  <a:pt x="271877" y="79831"/>
                </a:lnTo>
                <a:lnTo>
                  <a:pt x="319462" y="67939"/>
                </a:lnTo>
                <a:lnTo>
                  <a:pt x="370119" y="56858"/>
                </a:lnTo>
                <a:lnTo>
                  <a:pt x="423677" y="46630"/>
                </a:lnTo>
                <a:lnTo>
                  <a:pt x="479966" y="37297"/>
                </a:lnTo>
                <a:lnTo>
                  <a:pt x="538816" y="28903"/>
                </a:lnTo>
                <a:lnTo>
                  <a:pt x="600056" y="21491"/>
                </a:lnTo>
                <a:lnTo>
                  <a:pt x="663515" y="15101"/>
                </a:lnTo>
                <a:lnTo>
                  <a:pt x="729022" y="9778"/>
                </a:lnTo>
                <a:lnTo>
                  <a:pt x="796408" y="5564"/>
                </a:lnTo>
                <a:lnTo>
                  <a:pt x="865500" y="2501"/>
                </a:lnTo>
                <a:lnTo>
                  <a:pt x="936130" y="632"/>
                </a:lnTo>
                <a:lnTo>
                  <a:pt x="1008126" y="0"/>
                </a:lnTo>
                <a:lnTo>
                  <a:pt x="1080121" y="632"/>
                </a:lnTo>
                <a:lnTo>
                  <a:pt x="1150751" y="2501"/>
                </a:lnTo>
                <a:lnTo>
                  <a:pt x="1219843" y="5564"/>
                </a:lnTo>
                <a:lnTo>
                  <a:pt x="1287229" y="9778"/>
                </a:lnTo>
                <a:lnTo>
                  <a:pt x="1352736" y="15101"/>
                </a:lnTo>
                <a:lnTo>
                  <a:pt x="1416195" y="21491"/>
                </a:lnTo>
                <a:lnTo>
                  <a:pt x="1477435" y="28903"/>
                </a:lnTo>
                <a:lnTo>
                  <a:pt x="1536285" y="37297"/>
                </a:lnTo>
                <a:lnTo>
                  <a:pt x="1592574" y="46630"/>
                </a:lnTo>
                <a:lnTo>
                  <a:pt x="1646132" y="56858"/>
                </a:lnTo>
                <a:lnTo>
                  <a:pt x="1696789" y="67939"/>
                </a:lnTo>
                <a:lnTo>
                  <a:pt x="1744374" y="79831"/>
                </a:lnTo>
                <a:lnTo>
                  <a:pt x="1788716" y="92491"/>
                </a:lnTo>
                <a:lnTo>
                  <a:pt x="1829645" y="105877"/>
                </a:lnTo>
                <a:lnTo>
                  <a:pt x="1866989" y="119945"/>
                </a:lnTo>
                <a:lnTo>
                  <a:pt x="1930244" y="149961"/>
                </a:lnTo>
                <a:lnTo>
                  <a:pt x="1977116" y="182197"/>
                </a:lnTo>
                <a:lnTo>
                  <a:pt x="2006240" y="216313"/>
                </a:lnTo>
                <a:lnTo>
                  <a:pt x="2016252" y="251967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92090" y="2674366"/>
            <a:ext cx="2016760" cy="2339340"/>
          </a:xfrm>
          <a:custGeom>
            <a:avLst/>
            <a:gdLst/>
            <a:ahLst/>
            <a:cxnLst/>
            <a:rect l="l" t="t" r="r" b="b"/>
            <a:pathLst>
              <a:path w="2016759" h="2339340">
                <a:moveTo>
                  <a:pt x="2016252" y="0"/>
                </a:moveTo>
                <a:lnTo>
                  <a:pt x="2016252" y="2086864"/>
                </a:lnTo>
                <a:lnTo>
                  <a:pt x="2013720" y="2104862"/>
                </a:lnTo>
                <a:lnTo>
                  <a:pt x="1993982" y="2139790"/>
                </a:lnTo>
                <a:lnTo>
                  <a:pt x="1955814" y="2173008"/>
                </a:lnTo>
                <a:lnTo>
                  <a:pt x="1900579" y="2204177"/>
                </a:lnTo>
                <a:lnTo>
                  <a:pt x="1829645" y="2232954"/>
                </a:lnTo>
                <a:lnTo>
                  <a:pt x="1788716" y="2246340"/>
                </a:lnTo>
                <a:lnTo>
                  <a:pt x="1744374" y="2259000"/>
                </a:lnTo>
                <a:lnTo>
                  <a:pt x="1696789" y="2270892"/>
                </a:lnTo>
                <a:lnTo>
                  <a:pt x="1646132" y="2281973"/>
                </a:lnTo>
                <a:lnTo>
                  <a:pt x="1592574" y="2292201"/>
                </a:lnTo>
                <a:lnTo>
                  <a:pt x="1536285" y="2301534"/>
                </a:lnTo>
                <a:lnTo>
                  <a:pt x="1477435" y="2309928"/>
                </a:lnTo>
                <a:lnTo>
                  <a:pt x="1416195" y="2317340"/>
                </a:lnTo>
                <a:lnTo>
                  <a:pt x="1352736" y="2323730"/>
                </a:lnTo>
                <a:lnTo>
                  <a:pt x="1287229" y="2329053"/>
                </a:lnTo>
                <a:lnTo>
                  <a:pt x="1219843" y="2333267"/>
                </a:lnTo>
                <a:lnTo>
                  <a:pt x="1150751" y="2336330"/>
                </a:lnTo>
                <a:lnTo>
                  <a:pt x="1080121" y="2338199"/>
                </a:lnTo>
                <a:lnTo>
                  <a:pt x="1008126" y="2338832"/>
                </a:lnTo>
                <a:lnTo>
                  <a:pt x="936130" y="2338199"/>
                </a:lnTo>
                <a:lnTo>
                  <a:pt x="865500" y="2336330"/>
                </a:lnTo>
                <a:lnTo>
                  <a:pt x="796408" y="2333267"/>
                </a:lnTo>
                <a:lnTo>
                  <a:pt x="729022" y="2329053"/>
                </a:lnTo>
                <a:lnTo>
                  <a:pt x="663515" y="2323730"/>
                </a:lnTo>
                <a:lnTo>
                  <a:pt x="600056" y="2317340"/>
                </a:lnTo>
                <a:lnTo>
                  <a:pt x="538816" y="2309928"/>
                </a:lnTo>
                <a:lnTo>
                  <a:pt x="479966" y="2301534"/>
                </a:lnTo>
                <a:lnTo>
                  <a:pt x="423677" y="2292201"/>
                </a:lnTo>
                <a:lnTo>
                  <a:pt x="370119" y="2281973"/>
                </a:lnTo>
                <a:lnTo>
                  <a:pt x="319462" y="2270892"/>
                </a:lnTo>
                <a:lnTo>
                  <a:pt x="271877" y="2259000"/>
                </a:lnTo>
                <a:lnTo>
                  <a:pt x="227535" y="2246340"/>
                </a:lnTo>
                <a:lnTo>
                  <a:pt x="186606" y="2232954"/>
                </a:lnTo>
                <a:lnTo>
                  <a:pt x="149262" y="2218886"/>
                </a:lnTo>
                <a:lnTo>
                  <a:pt x="86007" y="2188870"/>
                </a:lnTo>
                <a:lnTo>
                  <a:pt x="39135" y="2156634"/>
                </a:lnTo>
                <a:lnTo>
                  <a:pt x="10011" y="2122518"/>
                </a:lnTo>
                <a:lnTo>
                  <a:pt x="0" y="2086864"/>
                </a:lnTo>
                <a:lnTo>
                  <a:pt x="0" y="0"/>
                </a:lnTo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87415" y="3171571"/>
            <a:ext cx="155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</a:t>
            </a:r>
            <a:r>
              <a:rPr spc="-5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secondaire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717794" y="3710685"/>
          <a:ext cx="1155700" cy="1066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"/>
                <a:gridCol w="288925"/>
                <a:gridCol w="288925"/>
                <a:gridCol w="288925"/>
              </a:tblGrid>
              <a:tr h="213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597D9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DF0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EF8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937634" y="3285744"/>
            <a:ext cx="1743075" cy="1079500"/>
          </a:xfrm>
          <a:custGeom>
            <a:avLst/>
            <a:gdLst/>
            <a:ahLst/>
            <a:cxnLst/>
            <a:rect l="l" t="t" r="r" b="b"/>
            <a:pathLst>
              <a:path w="1743075" h="1079500">
                <a:moveTo>
                  <a:pt x="1742566" y="809243"/>
                </a:moveTo>
                <a:lnTo>
                  <a:pt x="1203070" y="809243"/>
                </a:lnTo>
                <a:lnTo>
                  <a:pt x="1516761" y="1078991"/>
                </a:lnTo>
                <a:lnTo>
                  <a:pt x="1742566" y="809243"/>
                </a:lnTo>
                <a:close/>
              </a:path>
              <a:path w="1743075" h="1079500">
                <a:moveTo>
                  <a:pt x="269748" y="0"/>
                </a:moveTo>
                <a:lnTo>
                  <a:pt x="0" y="0"/>
                </a:lnTo>
                <a:lnTo>
                  <a:pt x="53811" y="810"/>
                </a:lnTo>
                <a:lnTo>
                  <a:pt x="107188" y="3225"/>
                </a:lnTo>
                <a:lnTo>
                  <a:pt x="160086" y="7217"/>
                </a:lnTo>
                <a:lnTo>
                  <a:pt x="212462" y="12760"/>
                </a:lnTo>
                <a:lnTo>
                  <a:pt x="264271" y="19827"/>
                </a:lnTo>
                <a:lnTo>
                  <a:pt x="315470" y="28392"/>
                </a:lnTo>
                <a:lnTo>
                  <a:pt x="366015" y="38429"/>
                </a:lnTo>
                <a:lnTo>
                  <a:pt x="415861" y="49910"/>
                </a:lnTo>
                <a:lnTo>
                  <a:pt x="464967" y="62810"/>
                </a:lnTo>
                <a:lnTo>
                  <a:pt x="513287" y="77101"/>
                </a:lnTo>
                <a:lnTo>
                  <a:pt x="560778" y="92758"/>
                </a:lnTo>
                <a:lnTo>
                  <a:pt x="607395" y="109754"/>
                </a:lnTo>
                <a:lnTo>
                  <a:pt x="653097" y="128063"/>
                </a:lnTo>
                <a:lnTo>
                  <a:pt x="697837" y="147657"/>
                </a:lnTo>
                <a:lnTo>
                  <a:pt x="741573" y="168510"/>
                </a:lnTo>
                <a:lnTo>
                  <a:pt x="784261" y="190597"/>
                </a:lnTo>
                <a:lnTo>
                  <a:pt x="825857" y="213890"/>
                </a:lnTo>
                <a:lnTo>
                  <a:pt x="866318" y="238362"/>
                </a:lnTo>
                <a:lnTo>
                  <a:pt x="905599" y="263988"/>
                </a:lnTo>
                <a:lnTo>
                  <a:pt x="943656" y="290741"/>
                </a:lnTo>
                <a:lnTo>
                  <a:pt x="980447" y="318595"/>
                </a:lnTo>
                <a:lnTo>
                  <a:pt x="1015926" y="347522"/>
                </a:lnTo>
                <a:lnTo>
                  <a:pt x="1050051" y="377497"/>
                </a:lnTo>
                <a:lnTo>
                  <a:pt x="1082777" y="408492"/>
                </a:lnTo>
                <a:lnTo>
                  <a:pt x="1114062" y="440482"/>
                </a:lnTo>
                <a:lnTo>
                  <a:pt x="1143860" y="473440"/>
                </a:lnTo>
                <a:lnTo>
                  <a:pt x="1172128" y="507339"/>
                </a:lnTo>
                <a:lnTo>
                  <a:pt x="1198823" y="542153"/>
                </a:lnTo>
                <a:lnTo>
                  <a:pt x="1223900" y="577856"/>
                </a:lnTo>
                <a:lnTo>
                  <a:pt x="1247316" y="614420"/>
                </a:lnTo>
                <a:lnTo>
                  <a:pt x="1269027" y="651820"/>
                </a:lnTo>
                <a:lnTo>
                  <a:pt x="1288989" y="690029"/>
                </a:lnTo>
                <a:lnTo>
                  <a:pt x="1307158" y="729020"/>
                </a:lnTo>
                <a:lnTo>
                  <a:pt x="1323492" y="768767"/>
                </a:lnTo>
                <a:lnTo>
                  <a:pt x="1337944" y="809243"/>
                </a:lnTo>
                <a:lnTo>
                  <a:pt x="1607692" y="809243"/>
                </a:lnTo>
                <a:lnTo>
                  <a:pt x="1593240" y="768767"/>
                </a:lnTo>
                <a:lnTo>
                  <a:pt x="1576906" y="729020"/>
                </a:lnTo>
                <a:lnTo>
                  <a:pt x="1558737" y="690029"/>
                </a:lnTo>
                <a:lnTo>
                  <a:pt x="1538775" y="651820"/>
                </a:lnTo>
                <a:lnTo>
                  <a:pt x="1517064" y="614420"/>
                </a:lnTo>
                <a:lnTo>
                  <a:pt x="1493648" y="577856"/>
                </a:lnTo>
                <a:lnTo>
                  <a:pt x="1468571" y="542153"/>
                </a:lnTo>
                <a:lnTo>
                  <a:pt x="1441876" y="507339"/>
                </a:lnTo>
                <a:lnTo>
                  <a:pt x="1413608" y="473440"/>
                </a:lnTo>
                <a:lnTo>
                  <a:pt x="1383810" y="440482"/>
                </a:lnTo>
                <a:lnTo>
                  <a:pt x="1352525" y="408492"/>
                </a:lnTo>
                <a:lnTo>
                  <a:pt x="1319799" y="377497"/>
                </a:lnTo>
                <a:lnTo>
                  <a:pt x="1285674" y="347522"/>
                </a:lnTo>
                <a:lnTo>
                  <a:pt x="1250195" y="318595"/>
                </a:lnTo>
                <a:lnTo>
                  <a:pt x="1213404" y="290741"/>
                </a:lnTo>
                <a:lnTo>
                  <a:pt x="1175347" y="263988"/>
                </a:lnTo>
                <a:lnTo>
                  <a:pt x="1136066" y="238362"/>
                </a:lnTo>
                <a:lnTo>
                  <a:pt x="1095605" y="213890"/>
                </a:lnTo>
                <a:lnTo>
                  <a:pt x="1054009" y="190597"/>
                </a:lnTo>
                <a:lnTo>
                  <a:pt x="1011321" y="168510"/>
                </a:lnTo>
                <a:lnTo>
                  <a:pt x="967585" y="147657"/>
                </a:lnTo>
                <a:lnTo>
                  <a:pt x="922845" y="128063"/>
                </a:lnTo>
                <a:lnTo>
                  <a:pt x="877143" y="109754"/>
                </a:lnTo>
                <a:lnTo>
                  <a:pt x="830526" y="92758"/>
                </a:lnTo>
                <a:lnTo>
                  <a:pt x="783035" y="77101"/>
                </a:lnTo>
                <a:lnTo>
                  <a:pt x="734715" y="62810"/>
                </a:lnTo>
                <a:lnTo>
                  <a:pt x="685609" y="49910"/>
                </a:lnTo>
                <a:lnTo>
                  <a:pt x="635763" y="38429"/>
                </a:lnTo>
                <a:lnTo>
                  <a:pt x="585218" y="28392"/>
                </a:lnTo>
                <a:lnTo>
                  <a:pt x="534019" y="19827"/>
                </a:lnTo>
                <a:lnTo>
                  <a:pt x="482210" y="12760"/>
                </a:lnTo>
                <a:lnTo>
                  <a:pt x="429834" y="7217"/>
                </a:lnTo>
                <a:lnTo>
                  <a:pt x="376936" y="3225"/>
                </a:lnTo>
                <a:lnTo>
                  <a:pt x="323559" y="810"/>
                </a:lnTo>
                <a:lnTo>
                  <a:pt x="2697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55748" y="3285744"/>
            <a:ext cx="1517015" cy="1079500"/>
          </a:xfrm>
          <a:custGeom>
            <a:avLst/>
            <a:gdLst/>
            <a:ahLst/>
            <a:cxnLst/>
            <a:rect l="l" t="t" r="r" b="b"/>
            <a:pathLst>
              <a:path w="1517014" h="1079500">
                <a:moveTo>
                  <a:pt x="1381887" y="0"/>
                </a:moveTo>
                <a:lnTo>
                  <a:pt x="1327628" y="816"/>
                </a:lnTo>
                <a:lnTo>
                  <a:pt x="1273900" y="3246"/>
                </a:lnTo>
                <a:lnTo>
                  <a:pt x="1220739" y="7259"/>
                </a:lnTo>
                <a:lnTo>
                  <a:pt x="1168185" y="12825"/>
                </a:lnTo>
                <a:lnTo>
                  <a:pt x="1116275" y="19915"/>
                </a:lnTo>
                <a:lnTo>
                  <a:pt x="1065049" y="28498"/>
                </a:lnTo>
                <a:lnTo>
                  <a:pt x="1014544" y="38544"/>
                </a:lnTo>
                <a:lnTo>
                  <a:pt x="964800" y="50023"/>
                </a:lnTo>
                <a:lnTo>
                  <a:pt x="915854" y="62906"/>
                </a:lnTo>
                <a:lnTo>
                  <a:pt x="867744" y="77162"/>
                </a:lnTo>
                <a:lnTo>
                  <a:pt x="820511" y="92762"/>
                </a:lnTo>
                <a:lnTo>
                  <a:pt x="774190" y="109674"/>
                </a:lnTo>
                <a:lnTo>
                  <a:pt x="728822" y="127870"/>
                </a:lnTo>
                <a:lnTo>
                  <a:pt x="684445" y="147319"/>
                </a:lnTo>
                <a:lnTo>
                  <a:pt x="641096" y="167992"/>
                </a:lnTo>
                <a:lnTo>
                  <a:pt x="598815" y="189858"/>
                </a:lnTo>
                <a:lnTo>
                  <a:pt x="557640" y="212888"/>
                </a:lnTo>
                <a:lnTo>
                  <a:pt x="517609" y="237050"/>
                </a:lnTo>
                <a:lnTo>
                  <a:pt x="478760" y="262317"/>
                </a:lnTo>
                <a:lnTo>
                  <a:pt x="441132" y="288656"/>
                </a:lnTo>
                <a:lnTo>
                  <a:pt x="404764" y="316039"/>
                </a:lnTo>
                <a:lnTo>
                  <a:pt x="369694" y="344435"/>
                </a:lnTo>
                <a:lnTo>
                  <a:pt x="335960" y="373815"/>
                </a:lnTo>
                <a:lnTo>
                  <a:pt x="303601" y="404148"/>
                </a:lnTo>
                <a:lnTo>
                  <a:pt x="272655" y="435405"/>
                </a:lnTo>
                <a:lnTo>
                  <a:pt x="243160" y="467555"/>
                </a:lnTo>
                <a:lnTo>
                  <a:pt x="215156" y="500569"/>
                </a:lnTo>
                <a:lnTo>
                  <a:pt x="188679" y="534415"/>
                </a:lnTo>
                <a:lnTo>
                  <a:pt x="163770" y="569066"/>
                </a:lnTo>
                <a:lnTo>
                  <a:pt x="140465" y="604490"/>
                </a:lnTo>
                <a:lnTo>
                  <a:pt x="118804" y="640657"/>
                </a:lnTo>
                <a:lnTo>
                  <a:pt x="98826" y="677538"/>
                </a:lnTo>
                <a:lnTo>
                  <a:pt x="80567" y="715103"/>
                </a:lnTo>
                <a:lnTo>
                  <a:pt x="64068" y="753321"/>
                </a:lnTo>
                <a:lnTo>
                  <a:pt x="49365" y="792162"/>
                </a:lnTo>
                <a:lnTo>
                  <a:pt x="36499" y="831597"/>
                </a:lnTo>
                <a:lnTo>
                  <a:pt x="25506" y="871596"/>
                </a:lnTo>
                <a:lnTo>
                  <a:pt x="16426" y="912128"/>
                </a:lnTo>
                <a:lnTo>
                  <a:pt x="9297" y="953163"/>
                </a:lnTo>
                <a:lnTo>
                  <a:pt x="4157" y="994672"/>
                </a:lnTo>
                <a:lnTo>
                  <a:pt x="1045" y="1036625"/>
                </a:lnTo>
                <a:lnTo>
                  <a:pt x="0" y="1078991"/>
                </a:lnTo>
                <a:lnTo>
                  <a:pt x="269747" y="1078991"/>
                </a:lnTo>
                <a:lnTo>
                  <a:pt x="270805" y="1036474"/>
                </a:lnTo>
                <a:lnTo>
                  <a:pt x="273954" y="994346"/>
                </a:lnTo>
                <a:lnTo>
                  <a:pt x="279155" y="952641"/>
                </a:lnTo>
                <a:lnTo>
                  <a:pt x="286372" y="911389"/>
                </a:lnTo>
                <a:lnTo>
                  <a:pt x="295567" y="870624"/>
                </a:lnTo>
                <a:lnTo>
                  <a:pt x="306702" y="830378"/>
                </a:lnTo>
                <a:lnTo>
                  <a:pt x="319740" y="790684"/>
                </a:lnTo>
                <a:lnTo>
                  <a:pt x="334643" y="751573"/>
                </a:lnTo>
                <a:lnTo>
                  <a:pt x="351374" y="713078"/>
                </a:lnTo>
                <a:lnTo>
                  <a:pt x="369895" y="675232"/>
                </a:lnTo>
                <a:lnTo>
                  <a:pt x="390168" y="638066"/>
                </a:lnTo>
                <a:lnTo>
                  <a:pt x="412156" y="601614"/>
                </a:lnTo>
                <a:lnTo>
                  <a:pt x="435821" y="565907"/>
                </a:lnTo>
                <a:lnTo>
                  <a:pt x="461126" y="530978"/>
                </a:lnTo>
                <a:lnTo>
                  <a:pt x="488033" y="496859"/>
                </a:lnTo>
                <a:lnTo>
                  <a:pt x="516505" y="463583"/>
                </a:lnTo>
                <a:lnTo>
                  <a:pt x="546504" y="431181"/>
                </a:lnTo>
                <a:lnTo>
                  <a:pt x="577992" y="399687"/>
                </a:lnTo>
                <a:lnTo>
                  <a:pt x="610932" y="369133"/>
                </a:lnTo>
                <a:lnTo>
                  <a:pt x="645287" y="339551"/>
                </a:lnTo>
                <a:lnTo>
                  <a:pt x="681018" y="310973"/>
                </a:lnTo>
                <a:lnTo>
                  <a:pt x="718088" y="283432"/>
                </a:lnTo>
                <a:lnTo>
                  <a:pt x="756460" y="256959"/>
                </a:lnTo>
                <a:lnTo>
                  <a:pt x="796096" y="231589"/>
                </a:lnTo>
                <a:lnTo>
                  <a:pt x="836958" y="207352"/>
                </a:lnTo>
                <a:lnTo>
                  <a:pt x="879009" y="184281"/>
                </a:lnTo>
                <a:lnTo>
                  <a:pt x="922211" y="162409"/>
                </a:lnTo>
                <a:lnTo>
                  <a:pt x="966527" y="141768"/>
                </a:lnTo>
                <a:lnTo>
                  <a:pt x="1011919" y="122390"/>
                </a:lnTo>
                <a:lnTo>
                  <a:pt x="1058350" y="104307"/>
                </a:lnTo>
                <a:lnTo>
                  <a:pt x="1105781" y="87553"/>
                </a:lnTo>
                <a:lnTo>
                  <a:pt x="1154177" y="72159"/>
                </a:lnTo>
                <a:lnTo>
                  <a:pt x="1203497" y="58157"/>
                </a:lnTo>
                <a:lnTo>
                  <a:pt x="1253706" y="45581"/>
                </a:lnTo>
                <a:lnTo>
                  <a:pt x="1304766" y="34462"/>
                </a:lnTo>
                <a:lnTo>
                  <a:pt x="1356639" y="24832"/>
                </a:lnTo>
                <a:lnTo>
                  <a:pt x="1409287" y="16725"/>
                </a:lnTo>
                <a:lnTo>
                  <a:pt x="1462674" y="10172"/>
                </a:lnTo>
                <a:lnTo>
                  <a:pt x="1516761" y="5206"/>
                </a:lnTo>
                <a:lnTo>
                  <a:pt x="1483113" y="2946"/>
                </a:lnTo>
                <a:lnTo>
                  <a:pt x="1449419" y="1317"/>
                </a:lnTo>
                <a:lnTo>
                  <a:pt x="1415676" y="331"/>
                </a:lnTo>
                <a:lnTo>
                  <a:pt x="1381887" y="0"/>
                </a:lnTo>
                <a:close/>
              </a:path>
            </a:pathLst>
          </a:custGeom>
          <a:solidFill>
            <a:srgbClr val="005A9A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0895" y="4898516"/>
            <a:ext cx="2459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2000" b="1" spc="-5" dirty="0">
                <a:solidFill>
                  <a:srgbClr val="006FC0"/>
                </a:solidFill>
                <a:cs typeface="Century Schoolbook"/>
              </a:rPr>
              <a:t>2.</a:t>
            </a:r>
            <a:r>
              <a:rPr sz="2000" b="1" spc="-50" dirty="0">
                <a:solidFill>
                  <a:srgbClr val="006FC0"/>
                </a:solidFill>
                <a:cs typeface="Century Schoolbook"/>
              </a:rPr>
              <a:t> </a:t>
            </a:r>
            <a:r>
              <a:rPr sz="2000" b="1" dirty="0">
                <a:solidFill>
                  <a:srgbClr val="006FC0"/>
                </a:solidFill>
                <a:cs typeface="Century Schoolbook"/>
              </a:rPr>
              <a:t>synchronisation</a:t>
            </a:r>
            <a:endParaRPr sz="20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2406" y="5744971"/>
            <a:ext cx="7026275" cy="91249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87020" indent="-274320" defTabSz="914079">
              <a:spcBef>
                <a:spcPts val="7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dirty="0">
                <a:solidFill>
                  <a:prstClr val="black"/>
                </a:solidFill>
                <a:cs typeface="Century Schoolbook"/>
              </a:rPr>
              <a:t>Intérêt</a:t>
            </a:r>
            <a:endParaRPr sz="2400">
              <a:solidFill>
                <a:prstClr val="black"/>
              </a:solidFill>
              <a:cs typeface="Century Schoolbook"/>
            </a:endParaRPr>
          </a:p>
          <a:p>
            <a:pPr marL="743585" lvl="1" indent="-274320" defTabSz="914079"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744220" algn="l"/>
              </a:tabLst>
            </a:pPr>
            <a:r>
              <a:rPr sz="2400" spc="-5" dirty="0">
                <a:solidFill>
                  <a:prstClr val="black"/>
                </a:solidFill>
                <a:cs typeface="Century Schoolbook"/>
              </a:rPr>
              <a:t>Avoir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les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mêmes données </a:t>
            </a:r>
            <a:r>
              <a:rPr sz="2400" dirty="0">
                <a:solidFill>
                  <a:prstClr val="black"/>
                </a:solidFill>
                <a:cs typeface="Century Schoolbook"/>
              </a:rPr>
              <a:t>sur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différents</a:t>
            </a:r>
            <a:r>
              <a:rPr sz="2400" spc="-3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400" spc="-5" dirty="0">
                <a:solidFill>
                  <a:prstClr val="black"/>
                </a:solidFill>
                <a:cs typeface="Century Schoolbook"/>
              </a:rPr>
              <a:t>sites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1386077"/>
            <a:ext cx="7145020" cy="1885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defTabSz="914079"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Création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d’une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copie conforme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d’une table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(ou ensemble</a:t>
            </a:r>
            <a:r>
              <a:rPr sz="2000" spc="-19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tuples) sur un site distant. La copie doit rester cohérente  avec les données</a:t>
            </a:r>
            <a:r>
              <a:rPr sz="2000" spc="-9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sources</a:t>
            </a:r>
            <a:endParaRPr sz="2000">
              <a:solidFill>
                <a:prstClr val="black"/>
              </a:solidFill>
              <a:cs typeface="Century Schoolbook"/>
            </a:endParaRPr>
          </a:p>
          <a:p>
            <a:pPr defTabSz="914079">
              <a:buClr>
                <a:srgbClr val="FD8537"/>
              </a:buClr>
              <a:buFont typeface="Wingdings"/>
              <a:buChar char=""/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35960" marR="79375" lvl="1" indent="-3237230" defTabSz="914079">
              <a:spcBef>
                <a:spcPts val="1800"/>
              </a:spcBef>
              <a:buSzPct val="95833"/>
              <a:buFontTx/>
              <a:buAutoNum type="arabicPeriod"/>
              <a:tabLst>
                <a:tab pos="3236595" algn="l"/>
              </a:tabLst>
            </a:pPr>
            <a:r>
              <a:rPr sz="2400" b="1" spc="-10" dirty="0">
                <a:solidFill>
                  <a:srgbClr val="006FC0"/>
                </a:solidFill>
                <a:cs typeface="Century Schoolbook"/>
              </a:rPr>
              <a:t>copie</a:t>
            </a:r>
            <a:endParaRPr sz="2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55620" y="4416823"/>
            <a:ext cx="3168650" cy="400685"/>
          </a:xfrm>
          <a:custGeom>
            <a:avLst/>
            <a:gdLst/>
            <a:ahLst/>
            <a:cxnLst/>
            <a:rect l="l" t="t" r="r" b="b"/>
            <a:pathLst>
              <a:path w="3168650" h="400685">
                <a:moveTo>
                  <a:pt x="295354" y="58447"/>
                </a:moveTo>
                <a:lnTo>
                  <a:pt x="281178" y="63609"/>
                </a:lnTo>
                <a:lnTo>
                  <a:pt x="0" y="236329"/>
                </a:lnTo>
                <a:lnTo>
                  <a:pt x="288671" y="396095"/>
                </a:lnTo>
                <a:lnTo>
                  <a:pt x="303107" y="400649"/>
                </a:lnTo>
                <a:lnTo>
                  <a:pt x="317674" y="399381"/>
                </a:lnTo>
                <a:lnTo>
                  <a:pt x="330694" y="392755"/>
                </a:lnTo>
                <a:lnTo>
                  <a:pt x="340487" y="381236"/>
                </a:lnTo>
                <a:lnTo>
                  <a:pt x="345021" y="366799"/>
                </a:lnTo>
                <a:lnTo>
                  <a:pt x="343709" y="352232"/>
                </a:lnTo>
                <a:lnTo>
                  <a:pt x="337040" y="339213"/>
                </a:lnTo>
                <a:lnTo>
                  <a:pt x="325501" y="329420"/>
                </a:lnTo>
                <a:lnTo>
                  <a:pt x="222934" y="272651"/>
                </a:lnTo>
                <a:lnTo>
                  <a:pt x="76454" y="272651"/>
                </a:lnTo>
                <a:lnTo>
                  <a:pt x="74676" y="196578"/>
                </a:lnTo>
                <a:lnTo>
                  <a:pt x="215452" y="193378"/>
                </a:lnTo>
                <a:lnTo>
                  <a:pt x="321056" y="128506"/>
                </a:lnTo>
                <a:lnTo>
                  <a:pt x="338736" y="90376"/>
                </a:lnTo>
                <a:lnTo>
                  <a:pt x="333502" y="76182"/>
                </a:lnTo>
                <a:lnTo>
                  <a:pt x="323183" y="65127"/>
                </a:lnTo>
                <a:lnTo>
                  <a:pt x="309911" y="59084"/>
                </a:lnTo>
                <a:lnTo>
                  <a:pt x="295354" y="58447"/>
                </a:lnTo>
                <a:close/>
              </a:path>
              <a:path w="3168650" h="400685">
                <a:moveTo>
                  <a:pt x="3103022" y="127998"/>
                </a:moveTo>
                <a:lnTo>
                  <a:pt x="3092196" y="127998"/>
                </a:lnTo>
                <a:lnTo>
                  <a:pt x="3093974" y="204071"/>
                </a:lnTo>
                <a:lnTo>
                  <a:pt x="2953083" y="207273"/>
                </a:lnTo>
                <a:lnTo>
                  <a:pt x="2847594" y="272016"/>
                </a:lnTo>
                <a:lnTo>
                  <a:pt x="2836539" y="282354"/>
                </a:lnTo>
                <a:lnTo>
                  <a:pt x="2830496" y="295669"/>
                </a:lnTo>
                <a:lnTo>
                  <a:pt x="2829859" y="310270"/>
                </a:lnTo>
                <a:lnTo>
                  <a:pt x="2835021" y="324467"/>
                </a:lnTo>
                <a:lnTo>
                  <a:pt x="2845359" y="335522"/>
                </a:lnTo>
                <a:lnTo>
                  <a:pt x="2858674" y="341564"/>
                </a:lnTo>
                <a:lnTo>
                  <a:pt x="2873275" y="342201"/>
                </a:lnTo>
                <a:lnTo>
                  <a:pt x="2887472" y="337040"/>
                </a:lnTo>
                <a:lnTo>
                  <a:pt x="3168650" y="164320"/>
                </a:lnTo>
                <a:lnTo>
                  <a:pt x="3103022" y="127998"/>
                </a:lnTo>
                <a:close/>
              </a:path>
              <a:path w="3168650" h="400685">
                <a:moveTo>
                  <a:pt x="215452" y="193378"/>
                </a:moveTo>
                <a:lnTo>
                  <a:pt x="74676" y="196578"/>
                </a:lnTo>
                <a:lnTo>
                  <a:pt x="76454" y="272651"/>
                </a:lnTo>
                <a:lnTo>
                  <a:pt x="217156" y="269453"/>
                </a:lnTo>
                <a:lnTo>
                  <a:pt x="212838" y="267063"/>
                </a:lnTo>
                <a:lnTo>
                  <a:pt x="95504" y="267063"/>
                </a:lnTo>
                <a:lnTo>
                  <a:pt x="93980" y="201277"/>
                </a:lnTo>
                <a:lnTo>
                  <a:pt x="202594" y="201277"/>
                </a:lnTo>
                <a:lnTo>
                  <a:pt x="215452" y="193378"/>
                </a:lnTo>
                <a:close/>
              </a:path>
              <a:path w="3168650" h="400685">
                <a:moveTo>
                  <a:pt x="217156" y="269453"/>
                </a:moveTo>
                <a:lnTo>
                  <a:pt x="76454" y="272651"/>
                </a:lnTo>
                <a:lnTo>
                  <a:pt x="222934" y="272651"/>
                </a:lnTo>
                <a:lnTo>
                  <a:pt x="217156" y="269453"/>
                </a:lnTo>
                <a:close/>
              </a:path>
              <a:path w="3168650" h="400685">
                <a:moveTo>
                  <a:pt x="2951428" y="131197"/>
                </a:moveTo>
                <a:lnTo>
                  <a:pt x="215452" y="193378"/>
                </a:lnTo>
                <a:lnTo>
                  <a:pt x="151115" y="232900"/>
                </a:lnTo>
                <a:lnTo>
                  <a:pt x="217156" y="269453"/>
                </a:lnTo>
                <a:lnTo>
                  <a:pt x="2953083" y="207273"/>
                </a:lnTo>
                <a:lnTo>
                  <a:pt x="3017492" y="167742"/>
                </a:lnTo>
                <a:lnTo>
                  <a:pt x="2951428" y="131197"/>
                </a:lnTo>
                <a:close/>
              </a:path>
              <a:path w="3168650" h="400685">
                <a:moveTo>
                  <a:pt x="93980" y="201277"/>
                </a:moveTo>
                <a:lnTo>
                  <a:pt x="95504" y="267063"/>
                </a:lnTo>
                <a:lnTo>
                  <a:pt x="151115" y="232900"/>
                </a:lnTo>
                <a:lnTo>
                  <a:pt x="93980" y="201277"/>
                </a:lnTo>
                <a:close/>
              </a:path>
              <a:path w="3168650" h="400685">
                <a:moveTo>
                  <a:pt x="151115" y="232900"/>
                </a:moveTo>
                <a:lnTo>
                  <a:pt x="95504" y="267063"/>
                </a:lnTo>
                <a:lnTo>
                  <a:pt x="212838" y="267063"/>
                </a:lnTo>
                <a:lnTo>
                  <a:pt x="151115" y="232900"/>
                </a:lnTo>
                <a:close/>
              </a:path>
              <a:path w="3168650" h="400685">
                <a:moveTo>
                  <a:pt x="202594" y="201277"/>
                </a:moveTo>
                <a:lnTo>
                  <a:pt x="93980" y="201277"/>
                </a:lnTo>
                <a:lnTo>
                  <a:pt x="151115" y="232900"/>
                </a:lnTo>
                <a:lnTo>
                  <a:pt x="202594" y="201277"/>
                </a:lnTo>
                <a:close/>
              </a:path>
              <a:path w="3168650" h="400685">
                <a:moveTo>
                  <a:pt x="3017492" y="167742"/>
                </a:moveTo>
                <a:lnTo>
                  <a:pt x="2953083" y="207273"/>
                </a:lnTo>
                <a:lnTo>
                  <a:pt x="3093974" y="204071"/>
                </a:lnTo>
                <a:lnTo>
                  <a:pt x="3093864" y="199372"/>
                </a:lnTo>
                <a:lnTo>
                  <a:pt x="3074670" y="199372"/>
                </a:lnTo>
                <a:lnTo>
                  <a:pt x="3017492" y="167742"/>
                </a:lnTo>
                <a:close/>
              </a:path>
              <a:path w="3168650" h="400685">
                <a:moveTo>
                  <a:pt x="3073146" y="133586"/>
                </a:moveTo>
                <a:lnTo>
                  <a:pt x="3017492" y="167742"/>
                </a:lnTo>
                <a:lnTo>
                  <a:pt x="3074670" y="199372"/>
                </a:lnTo>
                <a:lnTo>
                  <a:pt x="3073146" y="133586"/>
                </a:lnTo>
                <a:close/>
              </a:path>
              <a:path w="3168650" h="400685">
                <a:moveTo>
                  <a:pt x="3092326" y="133586"/>
                </a:moveTo>
                <a:lnTo>
                  <a:pt x="3073146" y="133586"/>
                </a:lnTo>
                <a:lnTo>
                  <a:pt x="3074670" y="199372"/>
                </a:lnTo>
                <a:lnTo>
                  <a:pt x="3093864" y="199372"/>
                </a:lnTo>
                <a:lnTo>
                  <a:pt x="3092326" y="133586"/>
                </a:lnTo>
                <a:close/>
              </a:path>
              <a:path w="3168650" h="400685">
                <a:moveTo>
                  <a:pt x="3092196" y="127998"/>
                </a:moveTo>
                <a:lnTo>
                  <a:pt x="2951428" y="131197"/>
                </a:lnTo>
                <a:lnTo>
                  <a:pt x="3017492" y="167742"/>
                </a:lnTo>
                <a:lnTo>
                  <a:pt x="3073146" y="133586"/>
                </a:lnTo>
                <a:lnTo>
                  <a:pt x="3092326" y="133586"/>
                </a:lnTo>
                <a:lnTo>
                  <a:pt x="3092196" y="127998"/>
                </a:lnTo>
                <a:close/>
              </a:path>
              <a:path w="3168650" h="400685">
                <a:moveTo>
                  <a:pt x="2865542" y="0"/>
                </a:moveTo>
                <a:lnTo>
                  <a:pt x="2850975" y="1268"/>
                </a:lnTo>
                <a:lnTo>
                  <a:pt x="2837955" y="7893"/>
                </a:lnTo>
                <a:lnTo>
                  <a:pt x="2828163" y="19413"/>
                </a:lnTo>
                <a:lnTo>
                  <a:pt x="2823608" y="33849"/>
                </a:lnTo>
                <a:lnTo>
                  <a:pt x="2824876" y="48416"/>
                </a:lnTo>
                <a:lnTo>
                  <a:pt x="2831502" y="61436"/>
                </a:lnTo>
                <a:lnTo>
                  <a:pt x="2843022" y="71229"/>
                </a:lnTo>
                <a:lnTo>
                  <a:pt x="2951428" y="131197"/>
                </a:lnTo>
                <a:lnTo>
                  <a:pt x="3092196" y="127998"/>
                </a:lnTo>
                <a:lnTo>
                  <a:pt x="3103022" y="127998"/>
                </a:lnTo>
                <a:lnTo>
                  <a:pt x="2879979" y="4554"/>
                </a:lnTo>
                <a:lnTo>
                  <a:pt x="286554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80" y="5897371"/>
            <a:ext cx="473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4307" y="4317491"/>
            <a:ext cx="1117600" cy="1522730"/>
          </a:xfrm>
          <a:prstGeom prst="rect">
            <a:avLst/>
          </a:prstGeom>
          <a:solidFill>
            <a:srgbClr val="A1FFA2"/>
          </a:solidFill>
          <a:ln w="12192">
            <a:solidFill>
              <a:srgbClr val="000000"/>
            </a:solidFill>
          </a:ln>
        </p:spPr>
        <p:txBody>
          <a:bodyPr vert="horz" wrap="square" lIns="0" tIns="210820" rIns="0" bIns="0" rtlCol="0">
            <a:spAutoFit/>
          </a:bodyPr>
          <a:lstStyle/>
          <a:p>
            <a:pPr marL="323215" defTabSz="914079">
              <a:spcBef>
                <a:spcPts val="166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BD1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100" y="4317491"/>
            <a:ext cx="1117600" cy="1522730"/>
          </a:xfrm>
          <a:prstGeom prst="rect">
            <a:avLst/>
          </a:prstGeom>
          <a:solidFill>
            <a:srgbClr val="A1FFA2"/>
          </a:solidFill>
          <a:ln w="12192">
            <a:solidFill>
              <a:srgbClr val="000000"/>
            </a:solidFill>
          </a:ln>
        </p:spPr>
        <p:txBody>
          <a:bodyPr vert="horz" wrap="square" lIns="0" tIns="210820" rIns="0" bIns="0" rtlCol="0">
            <a:spAutoFit/>
          </a:bodyPr>
          <a:lstStyle/>
          <a:p>
            <a:pPr marL="323850" defTabSz="914079">
              <a:spcBef>
                <a:spcPts val="166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BD2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7800" y="4305300"/>
            <a:ext cx="1117600" cy="1522730"/>
          </a:xfrm>
          <a:prstGeom prst="rect">
            <a:avLst/>
          </a:prstGeom>
          <a:solidFill>
            <a:srgbClr val="A1FFA2"/>
          </a:solidFill>
          <a:ln w="12192">
            <a:solidFill>
              <a:srgbClr val="000000"/>
            </a:solidFill>
          </a:ln>
        </p:spPr>
        <p:txBody>
          <a:bodyPr vert="horz" wrap="square" lIns="0" tIns="210185" rIns="0" bIns="0" rtlCol="0">
            <a:spAutoFit/>
          </a:bodyPr>
          <a:lstStyle/>
          <a:p>
            <a:pPr marL="324485" defTabSz="914079">
              <a:spcBef>
                <a:spcPts val="1655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BD3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16423" y="3544951"/>
            <a:ext cx="728980" cy="754380"/>
          </a:xfrm>
          <a:custGeom>
            <a:avLst/>
            <a:gdLst/>
            <a:ahLst/>
            <a:cxnLst/>
            <a:rect l="l" t="t" r="r" b="b"/>
            <a:pathLst>
              <a:path w="728979" h="754379">
                <a:moveTo>
                  <a:pt x="670988" y="703819"/>
                </a:moveTo>
                <a:lnTo>
                  <a:pt x="648080" y="725932"/>
                </a:lnTo>
                <a:lnTo>
                  <a:pt x="728472" y="754253"/>
                </a:lnTo>
                <a:lnTo>
                  <a:pt x="715509" y="712978"/>
                </a:lnTo>
                <a:lnTo>
                  <a:pt x="679830" y="712978"/>
                </a:lnTo>
                <a:lnTo>
                  <a:pt x="670988" y="703819"/>
                </a:lnTo>
                <a:close/>
              </a:path>
              <a:path w="728979" h="754379">
                <a:moveTo>
                  <a:pt x="680101" y="695023"/>
                </a:moveTo>
                <a:lnTo>
                  <a:pt x="670988" y="703819"/>
                </a:lnTo>
                <a:lnTo>
                  <a:pt x="679830" y="712978"/>
                </a:lnTo>
                <a:lnTo>
                  <a:pt x="688975" y="704215"/>
                </a:lnTo>
                <a:lnTo>
                  <a:pt x="680101" y="695023"/>
                </a:lnTo>
                <a:close/>
              </a:path>
              <a:path w="728979" h="754379">
                <a:moveTo>
                  <a:pt x="702945" y="672973"/>
                </a:moveTo>
                <a:lnTo>
                  <a:pt x="680101" y="695023"/>
                </a:lnTo>
                <a:lnTo>
                  <a:pt x="688975" y="704215"/>
                </a:lnTo>
                <a:lnTo>
                  <a:pt x="679830" y="712978"/>
                </a:lnTo>
                <a:lnTo>
                  <a:pt x="715509" y="712978"/>
                </a:lnTo>
                <a:lnTo>
                  <a:pt x="702945" y="672973"/>
                </a:lnTo>
                <a:close/>
              </a:path>
              <a:path w="728979" h="754379">
                <a:moveTo>
                  <a:pt x="9143" y="0"/>
                </a:moveTo>
                <a:lnTo>
                  <a:pt x="0" y="8889"/>
                </a:lnTo>
                <a:lnTo>
                  <a:pt x="670988" y="703819"/>
                </a:lnTo>
                <a:lnTo>
                  <a:pt x="680101" y="69502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41191" y="1524000"/>
            <a:ext cx="1778635" cy="2019300"/>
          </a:xfrm>
          <a:custGeom>
            <a:avLst/>
            <a:gdLst/>
            <a:ahLst/>
            <a:cxnLst/>
            <a:rect l="l" t="t" r="r" b="b"/>
            <a:pathLst>
              <a:path w="1778635" h="2019300">
                <a:moveTo>
                  <a:pt x="0" y="2019300"/>
                </a:moveTo>
                <a:lnTo>
                  <a:pt x="1778508" y="2019300"/>
                </a:lnTo>
                <a:lnTo>
                  <a:pt x="1778508" y="0"/>
                </a:lnTo>
                <a:lnTo>
                  <a:pt x="0" y="0"/>
                </a:lnTo>
                <a:lnTo>
                  <a:pt x="0" y="20193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1191" y="1524000"/>
            <a:ext cx="1778635" cy="2019300"/>
          </a:xfrm>
          <a:custGeom>
            <a:avLst/>
            <a:gdLst/>
            <a:ahLst/>
            <a:cxnLst/>
            <a:rect l="l" t="t" r="r" b="b"/>
            <a:pathLst>
              <a:path w="1778635" h="2019300">
                <a:moveTo>
                  <a:pt x="0" y="2019300"/>
                </a:moveTo>
                <a:lnTo>
                  <a:pt x="1778508" y="2019300"/>
                </a:lnTo>
                <a:lnTo>
                  <a:pt x="1778508" y="0"/>
                </a:lnTo>
                <a:lnTo>
                  <a:pt x="0" y="0"/>
                </a:lnTo>
                <a:lnTo>
                  <a:pt x="0" y="20193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6182" y="1822830"/>
            <a:ext cx="668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defTabSz="914079">
              <a:spcBef>
                <a:spcPts val="100"/>
              </a:spcBef>
            </a:pPr>
            <a:r>
              <a:rPr sz="2700" spc="-7" baseline="13888" dirty="0">
                <a:solidFill>
                  <a:prstClr val="black"/>
                </a:solidFill>
                <a:cs typeface="Century Schoolbook"/>
              </a:rPr>
              <a:t>BD</a:t>
            </a:r>
            <a:r>
              <a:rPr sz="1200" spc="-5" dirty="0">
                <a:solidFill>
                  <a:prstClr val="black"/>
                </a:solidFill>
                <a:cs typeface="Century Schoolbook"/>
              </a:rPr>
              <a:t>init</a:t>
            </a:r>
            <a:endParaRPr sz="12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88308" y="3037332"/>
            <a:ext cx="736600" cy="277495"/>
          </a:xfrm>
          <a:custGeom>
            <a:avLst/>
            <a:gdLst/>
            <a:ahLst/>
            <a:cxnLst/>
            <a:rect l="l" t="t" r="r" b="b"/>
            <a:pathLst>
              <a:path w="736600" h="277495">
                <a:moveTo>
                  <a:pt x="0" y="0"/>
                </a:moveTo>
                <a:lnTo>
                  <a:pt x="0" y="237743"/>
                </a:lnTo>
                <a:lnTo>
                  <a:pt x="7474" y="245718"/>
                </a:lnTo>
                <a:lnTo>
                  <a:pt x="62840" y="259880"/>
                </a:lnTo>
                <a:lnTo>
                  <a:pt x="107775" y="265747"/>
                </a:lnTo>
                <a:lnTo>
                  <a:pt x="162241" y="270590"/>
                </a:lnTo>
                <a:lnTo>
                  <a:pt x="224760" y="274248"/>
                </a:lnTo>
                <a:lnTo>
                  <a:pt x="293854" y="276561"/>
                </a:lnTo>
                <a:lnTo>
                  <a:pt x="368045" y="277367"/>
                </a:lnTo>
                <a:lnTo>
                  <a:pt x="442237" y="276561"/>
                </a:lnTo>
                <a:lnTo>
                  <a:pt x="511331" y="274248"/>
                </a:lnTo>
                <a:lnTo>
                  <a:pt x="573850" y="270590"/>
                </a:lnTo>
                <a:lnTo>
                  <a:pt x="628316" y="265747"/>
                </a:lnTo>
                <a:lnTo>
                  <a:pt x="673251" y="259880"/>
                </a:lnTo>
                <a:lnTo>
                  <a:pt x="728617" y="245718"/>
                </a:lnTo>
                <a:lnTo>
                  <a:pt x="736091" y="237743"/>
                </a:lnTo>
                <a:lnTo>
                  <a:pt x="736091" y="39623"/>
                </a:lnTo>
                <a:lnTo>
                  <a:pt x="368045" y="39623"/>
                </a:lnTo>
                <a:lnTo>
                  <a:pt x="293854" y="38817"/>
                </a:lnTo>
                <a:lnTo>
                  <a:pt x="224760" y="36504"/>
                </a:lnTo>
                <a:lnTo>
                  <a:pt x="162241" y="32846"/>
                </a:lnTo>
                <a:lnTo>
                  <a:pt x="107775" y="28003"/>
                </a:lnTo>
                <a:lnTo>
                  <a:pt x="62840" y="22136"/>
                </a:lnTo>
                <a:lnTo>
                  <a:pt x="7474" y="7974"/>
                </a:lnTo>
                <a:lnTo>
                  <a:pt x="0" y="0"/>
                </a:lnTo>
                <a:close/>
              </a:path>
              <a:path w="736600" h="277495">
                <a:moveTo>
                  <a:pt x="736091" y="0"/>
                </a:moveTo>
                <a:lnTo>
                  <a:pt x="673251" y="22136"/>
                </a:lnTo>
                <a:lnTo>
                  <a:pt x="628316" y="28003"/>
                </a:lnTo>
                <a:lnTo>
                  <a:pt x="573850" y="32846"/>
                </a:lnTo>
                <a:lnTo>
                  <a:pt x="511331" y="36504"/>
                </a:lnTo>
                <a:lnTo>
                  <a:pt x="442237" y="38817"/>
                </a:lnTo>
                <a:lnTo>
                  <a:pt x="368045" y="39623"/>
                </a:lnTo>
                <a:lnTo>
                  <a:pt x="736091" y="39623"/>
                </a:lnTo>
                <a:lnTo>
                  <a:pt x="736091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88308" y="2997707"/>
            <a:ext cx="736600" cy="79375"/>
          </a:xfrm>
          <a:custGeom>
            <a:avLst/>
            <a:gdLst/>
            <a:ahLst/>
            <a:cxnLst/>
            <a:rect l="l" t="t" r="r" b="b"/>
            <a:pathLst>
              <a:path w="736600" h="79375">
                <a:moveTo>
                  <a:pt x="368045" y="0"/>
                </a:moveTo>
                <a:lnTo>
                  <a:pt x="293854" y="806"/>
                </a:lnTo>
                <a:lnTo>
                  <a:pt x="224760" y="3119"/>
                </a:lnTo>
                <a:lnTo>
                  <a:pt x="162241" y="6777"/>
                </a:lnTo>
                <a:lnTo>
                  <a:pt x="107775" y="11620"/>
                </a:lnTo>
                <a:lnTo>
                  <a:pt x="62840" y="17487"/>
                </a:lnTo>
                <a:lnTo>
                  <a:pt x="7474" y="31649"/>
                </a:lnTo>
                <a:lnTo>
                  <a:pt x="0" y="39624"/>
                </a:lnTo>
                <a:lnTo>
                  <a:pt x="7474" y="47598"/>
                </a:lnTo>
                <a:lnTo>
                  <a:pt x="62840" y="61760"/>
                </a:lnTo>
                <a:lnTo>
                  <a:pt x="107775" y="67627"/>
                </a:lnTo>
                <a:lnTo>
                  <a:pt x="162241" y="72470"/>
                </a:lnTo>
                <a:lnTo>
                  <a:pt x="224760" y="76128"/>
                </a:lnTo>
                <a:lnTo>
                  <a:pt x="293854" y="78441"/>
                </a:lnTo>
                <a:lnTo>
                  <a:pt x="368045" y="79247"/>
                </a:lnTo>
                <a:lnTo>
                  <a:pt x="442237" y="78441"/>
                </a:lnTo>
                <a:lnTo>
                  <a:pt x="511331" y="76128"/>
                </a:lnTo>
                <a:lnTo>
                  <a:pt x="573850" y="72470"/>
                </a:lnTo>
                <a:lnTo>
                  <a:pt x="628316" y="67627"/>
                </a:lnTo>
                <a:lnTo>
                  <a:pt x="673251" y="61760"/>
                </a:lnTo>
                <a:lnTo>
                  <a:pt x="728617" y="47598"/>
                </a:lnTo>
                <a:lnTo>
                  <a:pt x="736091" y="39624"/>
                </a:lnTo>
                <a:lnTo>
                  <a:pt x="728617" y="31649"/>
                </a:lnTo>
                <a:lnTo>
                  <a:pt x="673251" y="17487"/>
                </a:lnTo>
                <a:lnTo>
                  <a:pt x="628316" y="11620"/>
                </a:lnTo>
                <a:lnTo>
                  <a:pt x="573850" y="6777"/>
                </a:lnTo>
                <a:lnTo>
                  <a:pt x="511331" y="3119"/>
                </a:lnTo>
                <a:lnTo>
                  <a:pt x="442237" y="806"/>
                </a:lnTo>
                <a:lnTo>
                  <a:pt x="368045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8308" y="2997707"/>
            <a:ext cx="736600" cy="79375"/>
          </a:xfrm>
          <a:custGeom>
            <a:avLst/>
            <a:gdLst/>
            <a:ahLst/>
            <a:cxnLst/>
            <a:rect l="l" t="t" r="r" b="b"/>
            <a:pathLst>
              <a:path w="736600" h="79375">
                <a:moveTo>
                  <a:pt x="736091" y="39624"/>
                </a:moveTo>
                <a:lnTo>
                  <a:pt x="673251" y="61760"/>
                </a:lnTo>
                <a:lnTo>
                  <a:pt x="628316" y="67627"/>
                </a:lnTo>
                <a:lnTo>
                  <a:pt x="573850" y="72470"/>
                </a:lnTo>
                <a:lnTo>
                  <a:pt x="511331" y="76128"/>
                </a:lnTo>
                <a:lnTo>
                  <a:pt x="442237" y="78441"/>
                </a:lnTo>
                <a:lnTo>
                  <a:pt x="368045" y="79247"/>
                </a:lnTo>
                <a:lnTo>
                  <a:pt x="293854" y="78441"/>
                </a:lnTo>
                <a:lnTo>
                  <a:pt x="224760" y="76128"/>
                </a:lnTo>
                <a:lnTo>
                  <a:pt x="162241" y="72470"/>
                </a:lnTo>
                <a:lnTo>
                  <a:pt x="107775" y="67627"/>
                </a:lnTo>
                <a:lnTo>
                  <a:pt x="62840" y="61760"/>
                </a:lnTo>
                <a:lnTo>
                  <a:pt x="7474" y="47598"/>
                </a:lnTo>
                <a:lnTo>
                  <a:pt x="0" y="39624"/>
                </a:lnTo>
                <a:lnTo>
                  <a:pt x="7474" y="31649"/>
                </a:lnTo>
                <a:lnTo>
                  <a:pt x="62840" y="17487"/>
                </a:lnTo>
                <a:lnTo>
                  <a:pt x="107775" y="11620"/>
                </a:lnTo>
                <a:lnTo>
                  <a:pt x="162241" y="6777"/>
                </a:lnTo>
                <a:lnTo>
                  <a:pt x="224760" y="3119"/>
                </a:lnTo>
                <a:lnTo>
                  <a:pt x="293854" y="806"/>
                </a:lnTo>
                <a:lnTo>
                  <a:pt x="368045" y="0"/>
                </a:lnTo>
                <a:lnTo>
                  <a:pt x="442237" y="806"/>
                </a:lnTo>
                <a:lnTo>
                  <a:pt x="511331" y="3119"/>
                </a:lnTo>
                <a:lnTo>
                  <a:pt x="573850" y="6777"/>
                </a:lnTo>
                <a:lnTo>
                  <a:pt x="628316" y="11620"/>
                </a:lnTo>
                <a:lnTo>
                  <a:pt x="673251" y="17487"/>
                </a:lnTo>
                <a:lnTo>
                  <a:pt x="728617" y="31649"/>
                </a:lnTo>
                <a:lnTo>
                  <a:pt x="736091" y="396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88308" y="3037332"/>
            <a:ext cx="736600" cy="277495"/>
          </a:xfrm>
          <a:custGeom>
            <a:avLst/>
            <a:gdLst/>
            <a:ahLst/>
            <a:cxnLst/>
            <a:rect l="l" t="t" r="r" b="b"/>
            <a:pathLst>
              <a:path w="736600" h="277495">
                <a:moveTo>
                  <a:pt x="736091" y="0"/>
                </a:moveTo>
                <a:lnTo>
                  <a:pt x="736091" y="237743"/>
                </a:lnTo>
                <a:lnTo>
                  <a:pt x="728617" y="245718"/>
                </a:lnTo>
                <a:lnTo>
                  <a:pt x="673251" y="259880"/>
                </a:lnTo>
                <a:lnTo>
                  <a:pt x="628316" y="265747"/>
                </a:lnTo>
                <a:lnTo>
                  <a:pt x="573850" y="270590"/>
                </a:lnTo>
                <a:lnTo>
                  <a:pt x="511331" y="274248"/>
                </a:lnTo>
                <a:lnTo>
                  <a:pt x="442237" y="276561"/>
                </a:lnTo>
                <a:lnTo>
                  <a:pt x="368045" y="277367"/>
                </a:lnTo>
                <a:lnTo>
                  <a:pt x="293854" y="276561"/>
                </a:lnTo>
                <a:lnTo>
                  <a:pt x="224760" y="274248"/>
                </a:lnTo>
                <a:lnTo>
                  <a:pt x="162241" y="270590"/>
                </a:lnTo>
                <a:lnTo>
                  <a:pt x="107775" y="265747"/>
                </a:lnTo>
                <a:lnTo>
                  <a:pt x="62840" y="259880"/>
                </a:lnTo>
                <a:lnTo>
                  <a:pt x="7474" y="245718"/>
                </a:lnTo>
                <a:lnTo>
                  <a:pt x="0" y="237743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62152" y="454770"/>
            <a:ext cx="71782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3000" spc="-5" dirty="0" smtClean="0"/>
              <a:t>Fragmentation/</a:t>
            </a:r>
            <a:r>
              <a:rPr sz="3000" spc="-5" dirty="0" smtClean="0"/>
              <a:t>D</a:t>
            </a:r>
            <a:r>
              <a:rPr spc="-5" dirty="0" smtClean="0"/>
              <a:t>ÉCOMPOSITION</a:t>
            </a:r>
            <a:endParaRPr sz="3000" dirty="0"/>
          </a:p>
        </p:txBody>
      </p:sp>
      <p:sp>
        <p:nvSpPr>
          <p:cNvPr id="16" name="object 16"/>
          <p:cNvSpPr/>
          <p:nvPr/>
        </p:nvSpPr>
        <p:spPr>
          <a:xfrm>
            <a:off x="3168395" y="3558540"/>
            <a:ext cx="739140" cy="728980"/>
          </a:xfrm>
          <a:custGeom>
            <a:avLst/>
            <a:gdLst/>
            <a:ahLst/>
            <a:cxnLst/>
            <a:rect l="l" t="t" r="r" b="b"/>
            <a:pathLst>
              <a:path w="739139" h="728979">
                <a:moveTo>
                  <a:pt x="27559" y="647827"/>
                </a:moveTo>
                <a:lnTo>
                  <a:pt x="0" y="728472"/>
                </a:lnTo>
                <a:lnTo>
                  <a:pt x="81026" y="702183"/>
                </a:lnTo>
                <a:lnTo>
                  <a:pt x="67534" y="688467"/>
                </a:lnTo>
                <a:lnTo>
                  <a:pt x="49656" y="688467"/>
                </a:lnTo>
                <a:lnTo>
                  <a:pt x="40767" y="679323"/>
                </a:lnTo>
                <a:lnTo>
                  <a:pt x="49791" y="670429"/>
                </a:lnTo>
                <a:lnTo>
                  <a:pt x="27559" y="647827"/>
                </a:lnTo>
                <a:close/>
              </a:path>
              <a:path w="739139" h="728979">
                <a:moveTo>
                  <a:pt x="49791" y="670429"/>
                </a:moveTo>
                <a:lnTo>
                  <a:pt x="40767" y="679323"/>
                </a:lnTo>
                <a:lnTo>
                  <a:pt x="49656" y="688467"/>
                </a:lnTo>
                <a:lnTo>
                  <a:pt x="58734" y="679521"/>
                </a:lnTo>
                <a:lnTo>
                  <a:pt x="49791" y="670429"/>
                </a:lnTo>
                <a:close/>
              </a:path>
              <a:path w="739139" h="728979">
                <a:moveTo>
                  <a:pt x="58734" y="679521"/>
                </a:moveTo>
                <a:lnTo>
                  <a:pt x="49656" y="688467"/>
                </a:lnTo>
                <a:lnTo>
                  <a:pt x="67534" y="688467"/>
                </a:lnTo>
                <a:lnTo>
                  <a:pt x="58734" y="679521"/>
                </a:lnTo>
                <a:close/>
              </a:path>
              <a:path w="739139" h="728979">
                <a:moveTo>
                  <a:pt x="730123" y="0"/>
                </a:moveTo>
                <a:lnTo>
                  <a:pt x="49791" y="670429"/>
                </a:lnTo>
                <a:lnTo>
                  <a:pt x="58734" y="679521"/>
                </a:lnTo>
                <a:lnTo>
                  <a:pt x="739013" y="9144"/>
                </a:lnTo>
                <a:lnTo>
                  <a:pt x="730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43400" y="3639311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31750" y="533400"/>
                </a:moveTo>
                <a:lnTo>
                  <a:pt x="0" y="533400"/>
                </a:lnTo>
                <a:lnTo>
                  <a:pt x="38100" y="609600"/>
                </a:lnTo>
                <a:lnTo>
                  <a:pt x="69850" y="546100"/>
                </a:lnTo>
                <a:lnTo>
                  <a:pt x="31750" y="546100"/>
                </a:lnTo>
                <a:lnTo>
                  <a:pt x="31750" y="533400"/>
                </a:lnTo>
                <a:close/>
              </a:path>
              <a:path w="76200" h="609600">
                <a:moveTo>
                  <a:pt x="44450" y="0"/>
                </a:moveTo>
                <a:lnTo>
                  <a:pt x="31750" y="0"/>
                </a:lnTo>
                <a:lnTo>
                  <a:pt x="31750" y="546100"/>
                </a:lnTo>
                <a:lnTo>
                  <a:pt x="44450" y="546100"/>
                </a:lnTo>
                <a:lnTo>
                  <a:pt x="44450" y="0"/>
                </a:lnTo>
                <a:close/>
              </a:path>
              <a:path w="76200" h="609600">
                <a:moveTo>
                  <a:pt x="76200" y="533400"/>
                </a:moveTo>
                <a:lnTo>
                  <a:pt x="44450" y="533400"/>
                </a:lnTo>
                <a:lnTo>
                  <a:pt x="44450" y="546100"/>
                </a:lnTo>
                <a:lnTo>
                  <a:pt x="69850" y="546100"/>
                </a:lnTo>
                <a:lnTo>
                  <a:pt x="76200" y="5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88308" y="2770632"/>
            <a:ext cx="736600" cy="277495"/>
          </a:xfrm>
          <a:custGeom>
            <a:avLst/>
            <a:gdLst/>
            <a:ahLst/>
            <a:cxnLst/>
            <a:rect l="l" t="t" r="r" b="b"/>
            <a:pathLst>
              <a:path w="736600" h="277494">
                <a:moveTo>
                  <a:pt x="0" y="0"/>
                </a:moveTo>
                <a:lnTo>
                  <a:pt x="0" y="237743"/>
                </a:lnTo>
                <a:lnTo>
                  <a:pt x="7474" y="245718"/>
                </a:lnTo>
                <a:lnTo>
                  <a:pt x="62840" y="259880"/>
                </a:lnTo>
                <a:lnTo>
                  <a:pt x="107775" y="265747"/>
                </a:lnTo>
                <a:lnTo>
                  <a:pt x="162241" y="270590"/>
                </a:lnTo>
                <a:lnTo>
                  <a:pt x="224760" y="274248"/>
                </a:lnTo>
                <a:lnTo>
                  <a:pt x="293854" y="276561"/>
                </a:lnTo>
                <a:lnTo>
                  <a:pt x="368045" y="277367"/>
                </a:lnTo>
                <a:lnTo>
                  <a:pt x="442237" y="276561"/>
                </a:lnTo>
                <a:lnTo>
                  <a:pt x="511331" y="274248"/>
                </a:lnTo>
                <a:lnTo>
                  <a:pt x="573850" y="270590"/>
                </a:lnTo>
                <a:lnTo>
                  <a:pt x="628316" y="265747"/>
                </a:lnTo>
                <a:lnTo>
                  <a:pt x="673251" y="259880"/>
                </a:lnTo>
                <a:lnTo>
                  <a:pt x="728617" y="245718"/>
                </a:lnTo>
                <a:lnTo>
                  <a:pt x="736091" y="237743"/>
                </a:lnTo>
                <a:lnTo>
                  <a:pt x="736091" y="39623"/>
                </a:lnTo>
                <a:lnTo>
                  <a:pt x="368045" y="39623"/>
                </a:lnTo>
                <a:lnTo>
                  <a:pt x="293854" y="38817"/>
                </a:lnTo>
                <a:lnTo>
                  <a:pt x="224760" y="36504"/>
                </a:lnTo>
                <a:lnTo>
                  <a:pt x="162241" y="32846"/>
                </a:lnTo>
                <a:lnTo>
                  <a:pt x="107775" y="28003"/>
                </a:lnTo>
                <a:lnTo>
                  <a:pt x="62840" y="22136"/>
                </a:lnTo>
                <a:lnTo>
                  <a:pt x="7474" y="7974"/>
                </a:lnTo>
                <a:lnTo>
                  <a:pt x="0" y="0"/>
                </a:lnTo>
                <a:close/>
              </a:path>
              <a:path w="736600" h="277494">
                <a:moveTo>
                  <a:pt x="736091" y="0"/>
                </a:moveTo>
                <a:lnTo>
                  <a:pt x="673251" y="22136"/>
                </a:lnTo>
                <a:lnTo>
                  <a:pt x="628316" y="28003"/>
                </a:lnTo>
                <a:lnTo>
                  <a:pt x="573850" y="32846"/>
                </a:lnTo>
                <a:lnTo>
                  <a:pt x="511331" y="36504"/>
                </a:lnTo>
                <a:lnTo>
                  <a:pt x="442237" y="38817"/>
                </a:lnTo>
                <a:lnTo>
                  <a:pt x="368045" y="39623"/>
                </a:lnTo>
                <a:lnTo>
                  <a:pt x="736091" y="39623"/>
                </a:lnTo>
                <a:lnTo>
                  <a:pt x="736091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88308" y="2731007"/>
            <a:ext cx="736600" cy="79375"/>
          </a:xfrm>
          <a:custGeom>
            <a:avLst/>
            <a:gdLst/>
            <a:ahLst/>
            <a:cxnLst/>
            <a:rect l="l" t="t" r="r" b="b"/>
            <a:pathLst>
              <a:path w="736600" h="79375">
                <a:moveTo>
                  <a:pt x="368045" y="0"/>
                </a:moveTo>
                <a:lnTo>
                  <a:pt x="293854" y="806"/>
                </a:lnTo>
                <a:lnTo>
                  <a:pt x="224760" y="3119"/>
                </a:lnTo>
                <a:lnTo>
                  <a:pt x="162241" y="6777"/>
                </a:lnTo>
                <a:lnTo>
                  <a:pt x="107775" y="11620"/>
                </a:lnTo>
                <a:lnTo>
                  <a:pt x="62840" y="17487"/>
                </a:lnTo>
                <a:lnTo>
                  <a:pt x="7474" y="31649"/>
                </a:lnTo>
                <a:lnTo>
                  <a:pt x="0" y="39624"/>
                </a:lnTo>
                <a:lnTo>
                  <a:pt x="7474" y="47598"/>
                </a:lnTo>
                <a:lnTo>
                  <a:pt x="62840" y="61760"/>
                </a:lnTo>
                <a:lnTo>
                  <a:pt x="107775" y="67627"/>
                </a:lnTo>
                <a:lnTo>
                  <a:pt x="162241" y="72470"/>
                </a:lnTo>
                <a:lnTo>
                  <a:pt x="224760" y="76128"/>
                </a:lnTo>
                <a:lnTo>
                  <a:pt x="293854" y="78441"/>
                </a:lnTo>
                <a:lnTo>
                  <a:pt x="368045" y="79247"/>
                </a:lnTo>
                <a:lnTo>
                  <a:pt x="442237" y="78441"/>
                </a:lnTo>
                <a:lnTo>
                  <a:pt x="511331" y="76128"/>
                </a:lnTo>
                <a:lnTo>
                  <a:pt x="573850" y="72470"/>
                </a:lnTo>
                <a:lnTo>
                  <a:pt x="628316" y="67627"/>
                </a:lnTo>
                <a:lnTo>
                  <a:pt x="673251" y="61760"/>
                </a:lnTo>
                <a:lnTo>
                  <a:pt x="728617" y="47598"/>
                </a:lnTo>
                <a:lnTo>
                  <a:pt x="736091" y="39624"/>
                </a:lnTo>
                <a:lnTo>
                  <a:pt x="728617" y="31649"/>
                </a:lnTo>
                <a:lnTo>
                  <a:pt x="673251" y="17487"/>
                </a:lnTo>
                <a:lnTo>
                  <a:pt x="628316" y="11620"/>
                </a:lnTo>
                <a:lnTo>
                  <a:pt x="573850" y="6777"/>
                </a:lnTo>
                <a:lnTo>
                  <a:pt x="511331" y="3119"/>
                </a:lnTo>
                <a:lnTo>
                  <a:pt x="442237" y="806"/>
                </a:lnTo>
                <a:lnTo>
                  <a:pt x="368045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88308" y="2731007"/>
            <a:ext cx="736600" cy="79375"/>
          </a:xfrm>
          <a:custGeom>
            <a:avLst/>
            <a:gdLst/>
            <a:ahLst/>
            <a:cxnLst/>
            <a:rect l="l" t="t" r="r" b="b"/>
            <a:pathLst>
              <a:path w="736600" h="79375">
                <a:moveTo>
                  <a:pt x="736091" y="39624"/>
                </a:moveTo>
                <a:lnTo>
                  <a:pt x="673251" y="61760"/>
                </a:lnTo>
                <a:lnTo>
                  <a:pt x="628316" y="67627"/>
                </a:lnTo>
                <a:lnTo>
                  <a:pt x="573850" y="72470"/>
                </a:lnTo>
                <a:lnTo>
                  <a:pt x="511331" y="76128"/>
                </a:lnTo>
                <a:lnTo>
                  <a:pt x="442237" y="78441"/>
                </a:lnTo>
                <a:lnTo>
                  <a:pt x="368045" y="79247"/>
                </a:lnTo>
                <a:lnTo>
                  <a:pt x="293854" y="78441"/>
                </a:lnTo>
                <a:lnTo>
                  <a:pt x="224760" y="76128"/>
                </a:lnTo>
                <a:lnTo>
                  <a:pt x="162241" y="72470"/>
                </a:lnTo>
                <a:lnTo>
                  <a:pt x="107775" y="67627"/>
                </a:lnTo>
                <a:lnTo>
                  <a:pt x="62840" y="61760"/>
                </a:lnTo>
                <a:lnTo>
                  <a:pt x="7474" y="47598"/>
                </a:lnTo>
                <a:lnTo>
                  <a:pt x="0" y="39624"/>
                </a:lnTo>
                <a:lnTo>
                  <a:pt x="7474" y="31649"/>
                </a:lnTo>
                <a:lnTo>
                  <a:pt x="62840" y="17487"/>
                </a:lnTo>
                <a:lnTo>
                  <a:pt x="107775" y="11620"/>
                </a:lnTo>
                <a:lnTo>
                  <a:pt x="162241" y="6777"/>
                </a:lnTo>
                <a:lnTo>
                  <a:pt x="224760" y="3119"/>
                </a:lnTo>
                <a:lnTo>
                  <a:pt x="293854" y="806"/>
                </a:lnTo>
                <a:lnTo>
                  <a:pt x="368045" y="0"/>
                </a:lnTo>
                <a:lnTo>
                  <a:pt x="442237" y="806"/>
                </a:lnTo>
                <a:lnTo>
                  <a:pt x="511331" y="3119"/>
                </a:lnTo>
                <a:lnTo>
                  <a:pt x="573850" y="6777"/>
                </a:lnTo>
                <a:lnTo>
                  <a:pt x="628316" y="11620"/>
                </a:lnTo>
                <a:lnTo>
                  <a:pt x="673251" y="17487"/>
                </a:lnTo>
                <a:lnTo>
                  <a:pt x="728617" y="31649"/>
                </a:lnTo>
                <a:lnTo>
                  <a:pt x="736091" y="396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88308" y="2770632"/>
            <a:ext cx="736600" cy="277495"/>
          </a:xfrm>
          <a:custGeom>
            <a:avLst/>
            <a:gdLst/>
            <a:ahLst/>
            <a:cxnLst/>
            <a:rect l="l" t="t" r="r" b="b"/>
            <a:pathLst>
              <a:path w="736600" h="277494">
                <a:moveTo>
                  <a:pt x="736091" y="0"/>
                </a:moveTo>
                <a:lnTo>
                  <a:pt x="736091" y="237743"/>
                </a:lnTo>
                <a:lnTo>
                  <a:pt x="728617" y="245718"/>
                </a:lnTo>
                <a:lnTo>
                  <a:pt x="673251" y="259880"/>
                </a:lnTo>
                <a:lnTo>
                  <a:pt x="628316" y="265747"/>
                </a:lnTo>
                <a:lnTo>
                  <a:pt x="573850" y="270590"/>
                </a:lnTo>
                <a:lnTo>
                  <a:pt x="511331" y="274248"/>
                </a:lnTo>
                <a:lnTo>
                  <a:pt x="442237" y="276561"/>
                </a:lnTo>
                <a:lnTo>
                  <a:pt x="368045" y="277367"/>
                </a:lnTo>
                <a:lnTo>
                  <a:pt x="293854" y="276561"/>
                </a:lnTo>
                <a:lnTo>
                  <a:pt x="224760" y="274248"/>
                </a:lnTo>
                <a:lnTo>
                  <a:pt x="162241" y="270590"/>
                </a:lnTo>
                <a:lnTo>
                  <a:pt x="107775" y="265747"/>
                </a:lnTo>
                <a:lnTo>
                  <a:pt x="62840" y="259880"/>
                </a:lnTo>
                <a:lnTo>
                  <a:pt x="7474" y="245718"/>
                </a:lnTo>
                <a:lnTo>
                  <a:pt x="0" y="237743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88308" y="2503932"/>
            <a:ext cx="736600" cy="277495"/>
          </a:xfrm>
          <a:custGeom>
            <a:avLst/>
            <a:gdLst/>
            <a:ahLst/>
            <a:cxnLst/>
            <a:rect l="l" t="t" r="r" b="b"/>
            <a:pathLst>
              <a:path w="736600" h="277494">
                <a:moveTo>
                  <a:pt x="0" y="0"/>
                </a:moveTo>
                <a:lnTo>
                  <a:pt x="0" y="237743"/>
                </a:lnTo>
                <a:lnTo>
                  <a:pt x="7474" y="245718"/>
                </a:lnTo>
                <a:lnTo>
                  <a:pt x="62840" y="259880"/>
                </a:lnTo>
                <a:lnTo>
                  <a:pt x="107775" y="265747"/>
                </a:lnTo>
                <a:lnTo>
                  <a:pt x="162241" y="270590"/>
                </a:lnTo>
                <a:lnTo>
                  <a:pt x="224760" y="274248"/>
                </a:lnTo>
                <a:lnTo>
                  <a:pt x="293854" y="276561"/>
                </a:lnTo>
                <a:lnTo>
                  <a:pt x="368045" y="277367"/>
                </a:lnTo>
                <a:lnTo>
                  <a:pt x="442237" y="276561"/>
                </a:lnTo>
                <a:lnTo>
                  <a:pt x="511331" y="274248"/>
                </a:lnTo>
                <a:lnTo>
                  <a:pt x="573850" y="270590"/>
                </a:lnTo>
                <a:lnTo>
                  <a:pt x="628316" y="265747"/>
                </a:lnTo>
                <a:lnTo>
                  <a:pt x="673251" y="259880"/>
                </a:lnTo>
                <a:lnTo>
                  <a:pt x="728617" y="245718"/>
                </a:lnTo>
                <a:lnTo>
                  <a:pt x="736091" y="237743"/>
                </a:lnTo>
                <a:lnTo>
                  <a:pt x="736091" y="39623"/>
                </a:lnTo>
                <a:lnTo>
                  <a:pt x="368045" y="39623"/>
                </a:lnTo>
                <a:lnTo>
                  <a:pt x="293854" y="38817"/>
                </a:lnTo>
                <a:lnTo>
                  <a:pt x="224760" y="36504"/>
                </a:lnTo>
                <a:lnTo>
                  <a:pt x="162241" y="32846"/>
                </a:lnTo>
                <a:lnTo>
                  <a:pt x="107775" y="28003"/>
                </a:lnTo>
                <a:lnTo>
                  <a:pt x="62840" y="22136"/>
                </a:lnTo>
                <a:lnTo>
                  <a:pt x="7474" y="7974"/>
                </a:lnTo>
                <a:lnTo>
                  <a:pt x="0" y="0"/>
                </a:lnTo>
                <a:close/>
              </a:path>
              <a:path w="736600" h="277494">
                <a:moveTo>
                  <a:pt x="736091" y="0"/>
                </a:moveTo>
                <a:lnTo>
                  <a:pt x="673251" y="22136"/>
                </a:lnTo>
                <a:lnTo>
                  <a:pt x="628316" y="28003"/>
                </a:lnTo>
                <a:lnTo>
                  <a:pt x="573850" y="32846"/>
                </a:lnTo>
                <a:lnTo>
                  <a:pt x="511331" y="36504"/>
                </a:lnTo>
                <a:lnTo>
                  <a:pt x="442237" y="38817"/>
                </a:lnTo>
                <a:lnTo>
                  <a:pt x="368045" y="39623"/>
                </a:lnTo>
                <a:lnTo>
                  <a:pt x="736091" y="39623"/>
                </a:lnTo>
                <a:lnTo>
                  <a:pt x="736091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88308" y="2464307"/>
            <a:ext cx="736600" cy="79375"/>
          </a:xfrm>
          <a:custGeom>
            <a:avLst/>
            <a:gdLst/>
            <a:ahLst/>
            <a:cxnLst/>
            <a:rect l="l" t="t" r="r" b="b"/>
            <a:pathLst>
              <a:path w="736600" h="79375">
                <a:moveTo>
                  <a:pt x="368045" y="0"/>
                </a:moveTo>
                <a:lnTo>
                  <a:pt x="293854" y="806"/>
                </a:lnTo>
                <a:lnTo>
                  <a:pt x="224760" y="3119"/>
                </a:lnTo>
                <a:lnTo>
                  <a:pt x="162241" y="6777"/>
                </a:lnTo>
                <a:lnTo>
                  <a:pt x="107775" y="11620"/>
                </a:lnTo>
                <a:lnTo>
                  <a:pt x="62840" y="17487"/>
                </a:lnTo>
                <a:lnTo>
                  <a:pt x="7474" y="31649"/>
                </a:lnTo>
                <a:lnTo>
                  <a:pt x="0" y="39624"/>
                </a:lnTo>
                <a:lnTo>
                  <a:pt x="7474" y="47598"/>
                </a:lnTo>
                <a:lnTo>
                  <a:pt x="62840" y="61760"/>
                </a:lnTo>
                <a:lnTo>
                  <a:pt x="107775" y="67627"/>
                </a:lnTo>
                <a:lnTo>
                  <a:pt x="162241" y="72470"/>
                </a:lnTo>
                <a:lnTo>
                  <a:pt x="224760" y="76128"/>
                </a:lnTo>
                <a:lnTo>
                  <a:pt x="293854" y="78441"/>
                </a:lnTo>
                <a:lnTo>
                  <a:pt x="368045" y="79247"/>
                </a:lnTo>
                <a:lnTo>
                  <a:pt x="442237" y="78441"/>
                </a:lnTo>
                <a:lnTo>
                  <a:pt x="511331" y="76128"/>
                </a:lnTo>
                <a:lnTo>
                  <a:pt x="573850" y="72470"/>
                </a:lnTo>
                <a:lnTo>
                  <a:pt x="628316" y="67627"/>
                </a:lnTo>
                <a:lnTo>
                  <a:pt x="673251" y="61760"/>
                </a:lnTo>
                <a:lnTo>
                  <a:pt x="728617" y="47598"/>
                </a:lnTo>
                <a:lnTo>
                  <a:pt x="736091" y="39624"/>
                </a:lnTo>
                <a:lnTo>
                  <a:pt x="728617" y="31649"/>
                </a:lnTo>
                <a:lnTo>
                  <a:pt x="673251" y="17487"/>
                </a:lnTo>
                <a:lnTo>
                  <a:pt x="628316" y="11620"/>
                </a:lnTo>
                <a:lnTo>
                  <a:pt x="573850" y="6777"/>
                </a:lnTo>
                <a:lnTo>
                  <a:pt x="511331" y="3119"/>
                </a:lnTo>
                <a:lnTo>
                  <a:pt x="442237" y="806"/>
                </a:lnTo>
                <a:lnTo>
                  <a:pt x="368045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88308" y="2464307"/>
            <a:ext cx="736600" cy="79375"/>
          </a:xfrm>
          <a:custGeom>
            <a:avLst/>
            <a:gdLst/>
            <a:ahLst/>
            <a:cxnLst/>
            <a:rect l="l" t="t" r="r" b="b"/>
            <a:pathLst>
              <a:path w="736600" h="79375">
                <a:moveTo>
                  <a:pt x="736091" y="39624"/>
                </a:moveTo>
                <a:lnTo>
                  <a:pt x="673251" y="61760"/>
                </a:lnTo>
                <a:lnTo>
                  <a:pt x="628316" y="67627"/>
                </a:lnTo>
                <a:lnTo>
                  <a:pt x="573850" y="72470"/>
                </a:lnTo>
                <a:lnTo>
                  <a:pt x="511331" y="76128"/>
                </a:lnTo>
                <a:lnTo>
                  <a:pt x="442237" y="78441"/>
                </a:lnTo>
                <a:lnTo>
                  <a:pt x="368045" y="79247"/>
                </a:lnTo>
                <a:lnTo>
                  <a:pt x="293854" y="78441"/>
                </a:lnTo>
                <a:lnTo>
                  <a:pt x="224760" y="76128"/>
                </a:lnTo>
                <a:lnTo>
                  <a:pt x="162241" y="72470"/>
                </a:lnTo>
                <a:lnTo>
                  <a:pt x="107775" y="67627"/>
                </a:lnTo>
                <a:lnTo>
                  <a:pt x="62840" y="61760"/>
                </a:lnTo>
                <a:lnTo>
                  <a:pt x="7474" y="47598"/>
                </a:lnTo>
                <a:lnTo>
                  <a:pt x="0" y="39624"/>
                </a:lnTo>
                <a:lnTo>
                  <a:pt x="7474" y="31649"/>
                </a:lnTo>
                <a:lnTo>
                  <a:pt x="62840" y="17487"/>
                </a:lnTo>
                <a:lnTo>
                  <a:pt x="107775" y="11620"/>
                </a:lnTo>
                <a:lnTo>
                  <a:pt x="162241" y="6777"/>
                </a:lnTo>
                <a:lnTo>
                  <a:pt x="224760" y="3119"/>
                </a:lnTo>
                <a:lnTo>
                  <a:pt x="293854" y="806"/>
                </a:lnTo>
                <a:lnTo>
                  <a:pt x="368045" y="0"/>
                </a:lnTo>
                <a:lnTo>
                  <a:pt x="442237" y="806"/>
                </a:lnTo>
                <a:lnTo>
                  <a:pt x="511331" y="3119"/>
                </a:lnTo>
                <a:lnTo>
                  <a:pt x="573850" y="6777"/>
                </a:lnTo>
                <a:lnTo>
                  <a:pt x="628316" y="11620"/>
                </a:lnTo>
                <a:lnTo>
                  <a:pt x="673251" y="17487"/>
                </a:lnTo>
                <a:lnTo>
                  <a:pt x="728617" y="31649"/>
                </a:lnTo>
                <a:lnTo>
                  <a:pt x="736091" y="396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88308" y="2503932"/>
            <a:ext cx="736600" cy="277495"/>
          </a:xfrm>
          <a:custGeom>
            <a:avLst/>
            <a:gdLst/>
            <a:ahLst/>
            <a:cxnLst/>
            <a:rect l="l" t="t" r="r" b="b"/>
            <a:pathLst>
              <a:path w="736600" h="277494">
                <a:moveTo>
                  <a:pt x="736091" y="0"/>
                </a:moveTo>
                <a:lnTo>
                  <a:pt x="736091" y="237743"/>
                </a:lnTo>
                <a:lnTo>
                  <a:pt x="728617" y="245718"/>
                </a:lnTo>
                <a:lnTo>
                  <a:pt x="673251" y="259880"/>
                </a:lnTo>
                <a:lnTo>
                  <a:pt x="628316" y="265747"/>
                </a:lnTo>
                <a:lnTo>
                  <a:pt x="573850" y="270590"/>
                </a:lnTo>
                <a:lnTo>
                  <a:pt x="511331" y="274248"/>
                </a:lnTo>
                <a:lnTo>
                  <a:pt x="442237" y="276561"/>
                </a:lnTo>
                <a:lnTo>
                  <a:pt x="368045" y="277367"/>
                </a:lnTo>
                <a:lnTo>
                  <a:pt x="293854" y="276561"/>
                </a:lnTo>
                <a:lnTo>
                  <a:pt x="224760" y="274248"/>
                </a:lnTo>
                <a:lnTo>
                  <a:pt x="162241" y="270590"/>
                </a:lnTo>
                <a:lnTo>
                  <a:pt x="107775" y="265747"/>
                </a:lnTo>
                <a:lnTo>
                  <a:pt x="62840" y="259880"/>
                </a:lnTo>
                <a:lnTo>
                  <a:pt x="7474" y="245718"/>
                </a:lnTo>
                <a:lnTo>
                  <a:pt x="0" y="237743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74591" y="2493391"/>
            <a:ext cx="762000" cy="809625"/>
          </a:xfrm>
          <a:custGeom>
            <a:avLst/>
            <a:gdLst/>
            <a:ahLst/>
            <a:cxnLst/>
            <a:rect l="l" t="t" r="r" b="b"/>
            <a:pathLst>
              <a:path w="762000" h="809625">
                <a:moveTo>
                  <a:pt x="0" y="0"/>
                </a:moveTo>
                <a:lnTo>
                  <a:pt x="0" y="766318"/>
                </a:lnTo>
                <a:lnTo>
                  <a:pt x="7739" y="774939"/>
                </a:lnTo>
                <a:lnTo>
                  <a:pt x="65063" y="790240"/>
                </a:lnTo>
                <a:lnTo>
                  <a:pt x="111585" y="796575"/>
                </a:lnTo>
                <a:lnTo>
                  <a:pt x="167971" y="801803"/>
                </a:lnTo>
                <a:lnTo>
                  <a:pt x="232689" y="805751"/>
                </a:lnTo>
                <a:lnTo>
                  <a:pt x="304209" y="808246"/>
                </a:lnTo>
                <a:lnTo>
                  <a:pt x="381000" y="809117"/>
                </a:lnTo>
                <a:lnTo>
                  <a:pt x="457790" y="808246"/>
                </a:lnTo>
                <a:lnTo>
                  <a:pt x="529310" y="805751"/>
                </a:lnTo>
                <a:lnTo>
                  <a:pt x="594028" y="801803"/>
                </a:lnTo>
                <a:lnTo>
                  <a:pt x="650414" y="796575"/>
                </a:lnTo>
                <a:lnTo>
                  <a:pt x="696936" y="790240"/>
                </a:lnTo>
                <a:lnTo>
                  <a:pt x="754260" y="774939"/>
                </a:lnTo>
                <a:lnTo>
                  <a:pt x="762000" y="766318"/>
                </a:lnTo>
                <a:lnTo>
                  <a:pt x="762000" y="42925"/>
                </a:lnTo>
                <a:lnTo>
                  <a:pt x="381000" y="42925"/>
                </a:lnTo>
                <a:lnTo>
                  <a:pt x="304209" y="42055"/>
                </a:lnTo>
                <a:lnTo>
                  <a:pt x="232689" y="39558"/>
                </a:lnTo>
                <a:lnTo>
                  <a:pt x="167971" y="35605"/>
                </a:lnTo>
                <a:lnTo>
                  <a:pt x="111585" y="30368"/>
                </a:lnTo>
                <a:lnTo>
                  <a:pt x="65063" y="24018"/>
                </a:lnTo>
                <a:lnTo>
                  <a:pt x="7739" y="8663"/>
                </a:lnTo>
                <a:lnTo>
                  <a:pt x="0" y="0"/>
                </a:lnTo>
                <a:close/>
              </a:path>
              <a:path w="762000" h="809625">
                <a:moveTo>
                  <a:pt x="762000" y="0"/>
                </a:moveTo>
                <a:lnTo>
                  <a:pt x="696936" y="24018"/>
                </a:lnTo>
                <a:lnTo>
                  <a:pt x="650414" y="30368"/>
                </a:lnTo>
                <a:lnTo>
                  <a:pt x="594028" y="35605"/>
                </a:lnTo>
                <a:lnTo>
                  <a:pt x="529310" y="39558"/>
                </a:lnTo>
                <a:lnTo>
                  <a:pt x="457790" y="42055"/>
                </a:lnTo>
                <a:lnTo>
                  <a:pt x="381000" y="42925"/>
                </a:lnTo>
                <a:lnTo>
                  <a:pt x="762000" y="42925"/>
                </a:lnTo>
                <a:lnTo>
                  <a:pt x="7620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74591" y="2450592"/>
            <a:ext cx="762000" cy="85725"/>
          </a:xfrm>
          <a:custGeom>
            <a:avLst/>
            <a:gdLst/>
            <a:ahLst/>
            <a:cxnLst/>
            <a:rect l="l" t="t" r="r" b="b"/>
            <a:pathLst>
              <a:path w="762000" h="85725">
                <a:moveTo>
                  <a:pt x="381000" y="0"/>
                </a:moveTo>
                <a:lnTo>
                  <a:pt x="304209" y="870"/>
                </a:lnTo>
                <a:lnTo>
                  <a:pt x="232689" y="3365"/>
                </a:lnTo>
                <a:lnTo>
                  <a:pt x="167971" y="7313"/>
                </a:lnTo>
                <a:lnTo>
                  <a:pt x="111585" y="12541"/>
                </a:lnTo>
                <a:lnTo>
                  <a:pt x="65063" y="18876"/>
                </a:lnTo>
                <a:lnTo>
                  <a:pt x="7739" y="34177"/>
                </a:lnTo>
                <a:lnTo>
                  <a:pt x="0" y="42799"/>
                </a:lnTo>
                <a:lnTo>
                  <a:pt x="7739" y="51462"/>
                </a:lnTo>
                <a:lnTo>
                  <a:pt x="65063" y="66817"/>
                </a:lnTo>
                <a:lnTo>
                  <a:pt x="111585" y="73167"/>
                </a:lnTo>
                <a:lnTo>
                  <a:pt x="167971" y="78404"/>
                </a:lnTo>
                <a:lnTo>
                  <a:pt x="232689" y="82357"/>
                </a:lnTo>
                <a:lnTo>
                  <a:pt x="304209" y="84854"/>
                </a:lnTo>
                <a:lnTo>
                  <a:pt x="381000" y="85725"/>
                </a:lnTo>
                <a:lnTo>
                  <a:pt x="457790" y="84854"/>
                </a:lnTo>
                <a:lnTo>
                  <a:pt x="529310" y="82357"/>
                </a:lnTo>
                <a:lnTo>
                  <a:pt x="594028" y="78404"/>
                </a:lnTo>
                <a:lnTo>
                  <a:pt x="650414" y="73167"/>
                </a:lnTo>
                <a:lnTo>
                  <a:pt x="696936" y="66817"/>
                </a:lnTo>
                <a:lnTo>
                  <a:pt x="754260" y="51462"/>
                </a:lnTo>
                <a:lnTo>
                  <a:pt x="762000" y="42799"/>
                </a:lnTo>
                <a:lnTo>
                  <a:pt x="754260" y="34177"/>
                </a:lnTo>
                <a:lnTo>
                  <a:pt x="696936" y="18876"/>
                </a:lnTo>
                <a:lnTo>
                  <a:pt x="650414" y="12541"/>
                </a:lnTo>
                <a:lnTo>
                  <a:pt x="594028" y="7313"/>
                </a:lnTo>
                <a:lnTo>
                  <a:pt x="529310" y="3365"/>
                </a:lnTo>
                <a:lnTo>
                  <a:pt x="457790" y="870"/>
                </a:lnTo>
                <a:lnTo>
                  <a:pt x="381000" y="0"/>
                </a:lnTo>
                <a:close/>
              </a:path>
            </a:pathLst>
          </a:custGeom>
          <a:solidFill>
            <a:srgbClr val="FDB686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74591" y="2450592"/>
            <a:ext cx="762000" cy="85725"/>
          </a:xfrm>
          <a:custGeom>
            <a:avLst/>
            <a:gdLst/>
            <a:ahLst/>
            <a:cxnLst/>
            <a:rect l="l" t="t" r="r" b="b"/>
            <a:pathLst>
              <a:path w="762000" h="85725">
                <a:moveTo>
                  <a:pt x="762000" y="42799"/>
                </a:moveTo>
                <a:lnTo>
                  <a:pt x="696936" y="66817"/>
                </a:lnTo>
                <a:lnTo>
                  <a:pt x="650414" y="73167"/>
                </a:lnTo>
                <a:lnTo>
                  <a:pt x="594028" y="78404"/>
                </a:lnTo>
                <a:lnTo>
                  <a:pt x="529310" y="82357"/>
                </a:lnTo>
                <a:lnTo>
                  <a:pt x="457790" y="84854"/>
                </a:lnTo>
                <a:lnTo>
                  <a:pt x="381000" y="85725"/>
                </a:lnTo>
                <a:lnTo>
                  <a:pt x="304209" y="84854"/>
                </a:lnTo>
                <a:lnTo>
                  <a:pt x="232689" y="82357"/>
                </a:lnTo>
                <a:lnTo>
                  <a:pt x="167971" y="78404"/>
                </a:lnTo>
                <a:lnTo>
                  <a:pt x="111585" y="73167"/>
                </a:lnTo>
                <a:lnTo>
                  <a:pt x="65063" y="66817"/>
                </a:lnTo>
                <a:lnTo>
                  <a:pt x="7739" y="51462"/>
                </a:lnTo>
                <a:lnTo>
                  <a:pt x="0" y="42799"/>
                </a:lnTo>
                <a:lnTo>
                  <a:pt x="7739" y="34177"/>
                </a:lnTo>
                <a:lnTo>
                  <a:pt x="65063" y="18876"/>
                </a:lnTo>
                <a:lnTo>
                  <a:pt x="111585" y="12541"/>
                </a:lnTo>
                <a:lnTo>
                  <a:pt x="167971" y="7313"/>
                </a:lnTo>
                <a:lnTo>
                  <a:pt x="232689" y="3365"/>
                </a:lnTo>
                <a:lnTo>
                  <a:pt x="304209" y="870"/>
                </a:lnTo>
                <a:lnTo>
                  <a:pt x="381000" y="0"/>
                </a:lnTo>
                <a:lnTo>
                  <a:pt x="457790" y="870"/>
                </a:lnTo>
                <a:lnTo>
                  <a:pt x="529310" y="3365"/>
                </a:lnTo>
                <a:lnTo>
                  <a:pt x="594028" y="7313"/>
                </a:lnTo>
                <a:lnTo>
                  <a:pt x="650414" y="12541"/>
                </a:lnTo>
                <a:lnTo>
                  <a:pt x="696936" y="18876"/>
                </a:lnTo>
                <a:lnTo>
                  <a:pt x="754260" y="34177"/>
                </a:lnTo>
                <a:lnTo>
                  <a:pt x="762000" y="427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74591" y="2493391"/>
            <a:ext cx="762000" cy="809625"/>
          </a:xfrm>
          <a:custGeom>
            <a:avLst/>
            <a:gdLst/>
            <a:ahLst/>
            <a:cxnLst/>
            <a:rect l="l" t="t" r="r" b="b"/>
            <a:pathLst>
              <a:path w="762000" h="809625">
                <a:moveTo>
                  <a:pt x="762000" y="0"/>
                </a:moveTo>
                <a:lnTo>
                  <a:pt x="762000" y="766318"/>
                </a:lnTo>
                <a:lnTo>
                  <a:pt x="754260" y="774939"/>
                </a:lnTo>
                <a:lnTo>
                  <a:pt x="696936" y="790240"/>
                </a:lnTo>
                <a:lnTo>
                  <a:pt x="650414" y="796575"/>
                </a:lnTo>
                <a:lnTo>
                  <a:pt x="594028" y="801803"/>
                </a:lnTo>
                <a:lnTo>
                  <a:pt x="529310" y="805751"/>
                </a:lnTo>
                <a:lnTo>
                  <a:pt x="457790" y="808246"/>
                </a:lnTo>
                <a:lnTo>
                  <a:pt x="381000" y="809117"/>
                </a:lnTo>
                <a:lnTo>
                  <a:pt x="304209" y="808246"/>
                </a:lnTo>
                <a:lnTo>
                  <a:pt x="232689" y="805751"/>
                </a:lnTo>
                <a:lnTo>
                  <a:pt x="167971" y="801803"/>
                </a:lnTo>
                <a:lnTo>
                  <a:pt x="111585" y="796575"/>
                </a:lnTo>
                <a:lnTo>
                  <a:pt x="65063" y="790240"/>
                </a:lnTo>
                <a:lnTo>
                  <a:pt x="7739" y="774939"/>
                </a:lnTo>
                <a:lnTo>
                  <a:pt x="0" y="766318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42917" y="2478574"/>
            <a:ext cx="629920" cy="7848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 defTabSz="914079">
              <a:spcBef>
                <a:spcPts val="675"/>
              </a:spcBef>
            </a:pPr>
            <a:r>
              <a:rPr sz="1000" spc="-5" dirty="0">
                <a:solidFill>
                  <a:prstClr val="black"/>
                </a:solidFill>
                <a:cs typeface="Century Schoolbook"/>
              </a:rPr>
              <a:t>{D1}</a:t>
            </a:r>
            <a:endParaRPr sz="1000">
              <a:solidFill>
                <a:prstClr val="black"/>
              </a:solidFill>
              <a:cs typeface="Century Schoolbook"/>
            </a:endParaRPr>
          </a:p>
          <a:p>
            <a:pPr algn="ctr" defTabSz="914079">
              <a:spcBef>
                <a:spcPts val="700"/>
              </a:spcBef>
            </a:pPr>
            <a:r>
              <a:rPr sz="1200" spc="-250" dirty="0">
                <a:solidFill>
                  <a:prstClr val="black"/>
                </a:solidFill>
                <a:cs typeface="Century Schoolbook"/>
              </a:rPr>
              <a:t>Do</a:t>
            </a:r>
            <a:r>
              <a:rPr sz="1000" spc="-250" dirty="0">
                <a:solidFill>
                  <a:prstClr val="black"/>
                </a:solidFill>
                <a:cs typeface="Century Schoolbook"/>
              </a:rPr>
              <a:t>{</a:t>
            </a:r>
            <a:r>
              <a:rPr sz="1200" spc="-250" dirty="0">
                <a:solidFill>
                  <a:prstClr val="black"/>
                </a:solidFill>
                <a:cs typeface="Century Schoolbook"/>
              </a:rPr>
              <a:t>n</a:t>
            </a:r>
            <a:r>
              <a:rPr sz="1000" spc="-250" dirty="0">
                <a:solidFill>
                  <a:prstClr val="black"/>
                </a:solidFill>
                <a:cs typeface="Century Schoolbook"/>
              </a:rPr>
              <a:t>D</a:t>
            </a:r>
            <a:r>
              <a:rPr sz="1200" spc="-250" dirty="0">
                <a:solidFill>
                  <a:prstClr val="black"/>
                </a:solidFill>
                <a:cs typeface="Century Schoolbook"/>
              </a:rPr>
              <a:t>n</a:t>
            </a:r>
            <a:r>
              <a:rPr sz="1000" spc="-250" dirty="0">
                <a:solidFill>
                  <a:prstClr val="black"/>
                </a:solidFill>
                <a:cs typeface="Century Schoolbook"/>
              </a:rPr>
              <a:t>2</a:t>
            </a:r>
            <a:r>
              <a:rPr sz="1200" spc="-250" dirty="0">
                <a:solidFill>
                  <a:prstClr val="black"/>
                </a:solidFill>
                <a:cs typeface="Century Schoolbook"/>
              </a:rPr>
              <a:t>é</a:t>
            </a:r>
            <a:r>
              <a:rPr sz="1000" spc="-250" dirty="0">
                <a:solidFill>
                  <a:prstClr val="black"/>
                </a:solidFill>
                <a:cs typeface="Century Schoolbook"/>
              </a:rPr>
              <a:t>}</a:t>
            </a:r>
            <a:r>
              <a:rPr sz="1000" spc="-229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1200" dirty="0">
                <a:solidFill>
                  <a:prstClr val="black"/>
                </a:solidFill>
                <a:cs typeface="Century Schoolbook"/>
              </a:rPr>
              <a:t>es</a:t>
            </a:r>
            <a:endParaRPr sz="1200">
              <a:solidFill>
                <a:prstClr val="black"/>
              </a:solidFill>
              <a:cs typeface="Century Schoolbook"/>
            </a:endParaRPr>
          </a:p>
          <a:p>
            <a:pPr algn="ctr" defTabSz="914079">
              <a:spcBef>
                <a:spcPts val="860"/>
              </a:spcBef>
            </a:pPr>
            <a:r>
              <a:rPr sz="1000" spc="-5" dirty="0">
                <a:solidFill>
                  <a:prstClr val="black"/>
                </a:solidFill>
                <a:cs typeface="Century Schoolbook"/>
              </a:rPr>
              <a:t>{D3}</a:t>
            </a:r>
            <a:endParaRPr sz="10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00500" y="2171700"/>
            <a:ext cx="723900" cy="314325"/>
          </a:xfrm>
          <a:custGeom>
            <a:avLst/>
            <a:gdLst/>
            <a:ahLst/>
            <a:cxnLst/>
            <a:rect l="l" t="t" r="r" b="b"/>
            <a:pathLst>
              <a:path w="723900" h="314325">
                <a:moveTo>
                  <a:pt x="0" y="313944"/>
                </a:moveTo>
                <a:lnTo>
                  <a:pt x="723900" y="313944"/>
                </a:lnTo>
                <a:lnTo>
                  <a:pt x="723900" y="0"/>
                </a:lnTo>
                <a:lnTo>
                  <a:pt x="0" y="0"/>
                </a:lnTo>
                <a:lnTo>
                  <a:pt x="0" y="3139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74591" y="2171700"/>
            <a:ext cx="762000" cy="31432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80975" defTabSz="914079">
              <a:spcBef>
                <a:spcPts val="330"/>
              </a:spcBef>
            </a:pPr>
            <a:r>
              <a:rPr sz="1400" b="1" spc="-5" dirty="0">
                <a:solidFill>
                  <a:prstClr val="black"/>
                </a:solidFill>
                <a:cs typeface="Century Schoolbook"/>
              </a:rPr>
              <a:t>SCH</a:t>
            </a:r>
            <a:endParaRPr sz="14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5940" y="6050991"/>
            <a:ext cx="683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SCH est </a:t>
            </a:r>
            <a:r>
              <a:rPr dirty="0">
                <a:solidFill>
                  <a:prstClr val="black"/>
                </a:solidFill>
                <a:cs typeface="Century Schoolbook"/>
              </a:rPr>
              <a:t>le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schéma global qui permet l’interrogation des</a:t>
            </a:r>
            <a:r>
              <a:rPr spc="2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données</a:t>
            </a:r>
            <a:endParaRPr dirty="0">
              <a:solidFill>
                <a:prstClr val="black"/>
              </a:solidFill>
              <a:cs typeface="Century Schoolbook"/>
            </a:endParaRPr>
          </a:p>
          <a:p>
            <a:pPr marL="12700" defTabSz="914079"/>
            <a:r>
              <a:rPr spc="-5" dirty="0">
                <a:solidFill>
                  <a:prstClr val="black"/>
                </a:solidFill>
                <a:cs typeface="Century Schoolbook"/>
              </a:rPr>
              <a:t>stockées sur BD1, BD2 </a:t>
            </a:r>
            <a:r>
              <a:rPr dirty="0">
                <a:solidFill>
                  <a:prstClr val="black"/>
                </a:solidFill>
                <a:cs typeface="Century Schoolbook"/>
              </a:rPr>
              <a:t>et 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BD3</a:t>
            </a:r>
            <a:r>
              <a:rPr spc="-10" dirty="0">
                <a:solidFill>
                  <a:prstClr val="black"/>
                </a:solidFill>
                <a:cs typeface="Century Schoolbook"/>
              </a:rPr>
              <a:t> </a:t>
            </a:r>
            <a:endParaRPr dirty="0">
              <a:solidFill>
                <a:prstClr val="black"/>
              </a:solidFill>
              <a:cs typeface="Century Schoolbook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5400" dirty="0" smtClean="0"/>
              <a:t>Fragmentation</a:t>
            </a:r>
          </a:p>
          <a:p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Définition de la fragmentation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>
            <a:normAutofit/>
          </a:bodyPr>
          <a:lstStyle/>
          <a:p>
            <a:r>
              <a:rPr lang="fr-FR" dirty="0" smtClean="0"/>
              <a:t>.La fragmentation est le processus de décomposition d'une base de donnée logique en un ensemble de "sous" bases de données. Cette décomposition doit être sans perte d'information.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3362994"/>
            <a:ext cx="5832376" cy="2802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Les règles de fragmentation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fr-FR" dirty="0" smtClean="0"/>
          </a:p>
          <a:p>
            <a:r>
              <a:rPr lang="fr-FR" b="1" dirty="0" smtClean="0"/>
              <a:t>Les règles à appliquer sont : </a:t>
            </a:r>
          </a:p>
          <a:p>
            <a:r>
              <a:rPr lang="fr-FR" dirty="0" smtClean="0"/>
              <a:t>1. La complétude : pour toute donnée d’une relation R, il existe un fragment R</a:t>
            </a:r>
            <a:r>
              <a:rPr lang="fr-FR" baseline="30000" dirty="0" smtClean="0"/>
              <a:t>i </a:t>
            </a:r>
            <a:r>
              <a:rPr lang="fr-FR" dirty="0" smtClean="0"/>
              <a:t>de la relation R qui possède cette donnée. </a:t>
            </a:r>
          </a:p>
          <a:p>
            <a:r>
              <a:rPr lang="fr-FR" dirty="0" smtClean="0"/>
              <a:t>2. La reconstruction : pour toute relation décomposée en un ensemble de fragments Ri, il existe une opération de reconstruction. </a:t>
            </a:r>
          </a:p>
          <a:p>
            <a:pPr marL="274224" lvl="2" indent="-274224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fr-FR" dirty="0" smtClean="0"/>
              <a:t>3</a:t>
            </a:r>
            <a:r>
              <a:rPr lang="fr-FR" sz="2400" dirty="0" smtClean="0"/>
              <a:t>. La Disjonction: assure que les fragments d’une relation sont disjoints deux à deux.</a:t>
            </a:r>
            <a:r>
              <a:rPr lang="fr-FR" sz="2400" spc="-5" dirty="0" smtClean="0">
                <a:cs typeface="Century Schoolbook"/>
              </a:rPr>
              <a:t> chaque élément de </a:t>
            </a:r>
            <a:r>
              <a:rPr lang="fr-FR" sz="2400" dirty="0" smtClean="0">
                <a:cs typeface="Century Schoolbook"/>
              </a:rPr>
              <a:t>R (hormis les clés) ne </a:t>
            </a:r>
            <a:r>
              <a:rPr lang="fr-FR" sz="2400" spc="-5" dirty="0" smtClean="0">
                <a:cs typeface="Century Schoolbook"/>
              </a:rPr>
              <a:t>doit pas </a:t>
            </a:r>
            <a:r>
              <a:rPr lang="fr-FR" sz="2400" dirty="0" smtClean="0">
                <a:cs typeface="Century Schoolbook"/>
              </a:rPr>
              <a:t>être</a:t>
            </a:r>
            <a:r>
              <a:rPr lang="fr-FR" sz="2400" spc="-15" dirty="0" smtClean="0">
                <a:cs typeface="Century Schoolbook"/>
              </a:rPr>
              <a:t> </a:t>
            </a:r>
            <a:r>
              <a:rPr lang="fr-FR" sz="2400" spc="-5" dirty="0" smtClean="0">
                <a:cs typeface="Century Schoolbook"/>
              </a:rPr>
              <a:t>dupliqué</a:t>
            </a:r>
            <a:endParaRPr lang="fr-FR" dirty="0" smtClean="0">
              <a:cs typeface="Century Schoolbook"/>
            </a:endParaRPr>
          </a:p>
          <a:p>
            <a:endParaRPr lang="fr-FR" sz="2400" dirty="0" smtClean="0"/>
          </a:p>
          <a:p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3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5" dirty="0" err="1" smtClean="0"/>
              <a:t>Interet</a:t>
            </a:r>
            <a:r>
              <a:rPr lang="fr-FR" spc="-5" dirty="0" smtClean="0"/>
              <a:t> de la fragmentation</a:t>
            </a:r>
            <a:endParaRPr spc="-5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3232" cy="4873752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fr-FR" sz="2800" b="1" dirty="0" smtClean="0">
                <a:latin typeface="+mj-lt"/>
                <a:cs typeface="Arial"/>
              </a:rPr>
              <a:t>Exemple</a:t>
            </a:r>
          </a:p>
          <a:p>
            <a:pPr marL="190500"/>
            <a:r>
              <a:rPr lang="fr-FR" spc="-5" dirty="0" smtClean="0">
                <a:latin typeface="+mj-lt"/>
                <a:cs typeface="Arial"/>
              </a:rPr>
              <a:t>Relation</a:t>
            </a:r>
            <a:r>
              <a:rPr lang="fr-FR" spc="-30" dirty="0" smtClean="0">
                <a:latin typeface="+mj-lt"/>
                <a:cs typeface="Arial"/>
              </a:rPr>
              <a:t> </a:t>
            </a:r>
            <a:r>
              <a:rPr lang="fr-FR" dirty="0" smtClean="0">
                <a:latin typeface="+mj-lt"/>
                <a:cs typeface="Arial"/>
              </a:rPr>
              <a:t>Employé</a:t>
            </a:r>
          </a:p>
          <a:p>
            <a:pPr marL="556132" lvl="1">
              <a:buNone/>
            </a:pPr>
            <a:r>
              <a:rPr lang="fr-FR" spc="-5" dirty="0" smtClean="0">
                <a:latin typeface="+mj-lt"/>
                <a:cs typeface="Arial"/>
              </a:rPr>
              <a:t>	E(</a:t>
            </a:r>
            <a:r>
              <a:rPr lang="fr-FR" spc="-5" dirty="0" err="1" smtClean="0">
                <a:latin typeface="+mj-lt"/>
                <a:cs typeface="Arial"/>
              </a:rPr>
              <a:t>enum</a:t>
            </a:r>
            <a:r>
              <a:rPr lang="fr-FR" spc="-5" dirty="0" smtClean="0">
                <a:latin typeface="+mj-lt"/>
                <a:cs typeface="Arial"/>
              </a:rPr>
              <a:t>, </a:t>
            </a:r>
            <a:r>
              <a:rPr lang="fr-FR" dirty="0" smtClean="0">
                <a:latin typeface="+mj-lt"/>
                <a:cs typeface="Arial"/>
              </a:rPr>
              <a:t>nom, </a:t>
            </a:r>
            <a:r>
              <a:rPr lang="fr-FR" spc="-5" dirty="0" smtClean="0">
                <a:latin typeface="+mj-lt"/>
                <a:cs typeface="Arial"/>
              </a:rPr>
              <a:t>site,</a:t>
            </a:r>
            <a:r>
              <a:rPr lang="fr-FR" spc="-20" dirty="0" smtClean="0">
                <a:latin typeface="+mj-lt"/>
                <a:cs typeface="Arial"/>
              </a:rPr>
              <a:t> </a:t>
            </a:r>
            <a:r>
              <a:rPr lang="fr-FR" spc="-5" dirty="0" smtClean="0">
                <a:latin typeface="+mj-lt"/>
                <a:cs typeface="Arial"/>
              </a:rPr>
              <a:t>salaire,...)</a:t>
            </a:r>
          </a:p>
          <a:p>
            <a:pPr marL="190500">
              <a:lnSpc>
                <a:spcPct val="100000"/>
              </a:lnSpc>
              <a:spcBef>
                <a:spcPts val="740"/>
              </a:spcBef>
            </a:pPr>
            <a:r>
              <a:rPr lang="fr-FR" dirty="0" smtClean="0">
                <a:latin typeface="+mj-lt"/>
                <a:cs typeface="Arial"/>
              </a:rPr>
              <a:t>Un employé </a:t>
            </a:r>
            <a:r>
              <a:rPr lang="fr-FR" spc="-5" dirty="0" smtClean="0">
                <a:latin typeface="+mj-lt"/>
                <a:cs typeface="Arial"/>
              </a:rPr>
              <a:t>n’appartient </a:t>
            </a:r>
            <a:r>
              <a:rPr lang="fr-FR" dirty="0" smtClean="0">
                <a:latin typeface="+mj-lt"/>
                <a:cs typeface="Arial"/>
              </a:rPr>
              <a:t>qu’à un seul</a:t>
            </a:r>
            <a:r>
              <a:rPr lang="fr-FR" spc="-10" dirty="0" smtClean="0">
                <a:latin typeface="+mj-lt"/>
                <a:cs typeface="Arial"/>
              </a:rPr>
              <a:t> </a:t>
            </a:r>
            <a:r>
              <a:rPr lang="fr-FR" spc="-5" dirty="0" smtClean="0">
                <a:latin typeface="+mj-lt"/>
                <a:cs typeface="Arial"/>
              </a:rPr>
              <a:t>site</a:t>
            </a:r>
            <a:endParaRPr lang="fr-FR" dirty="0" smtClean="0">
              <a:latin typeface="+mj-lt"/>
              <a:cs typeface="Arial"/>
            </a:endParaRPr>
          </a:p>
          <a:p>
            <a:pPr marL="190500">
              <a:lnSpc>
                <a:spcPct val="100000"/>
              </a:lnSpc>
              <a:spcBef>
                <a:spcPts val="640"/>
              </a:spcBef>
            </a:pPr>
            <a:r>
              <a:rPr lang="fr-FR" dirty="0" smtClean="0">
                <a:latin typeface="+mj-lt"/>
                <a:cs typeface="Arial"/>
              </a:rPr>
              <a:t>40 000 employés à Paris, </a:t>
            </a:r>
            <a:r>
              <a:rPr lang="fr-FR" dirty="0" smtClean="0">
                <a:cs typeface="Arial"/>
              </a:rPr>
              <a:t>40 000 à </a:t>
            </a:r>
            <a:r>
              <a:rPr lang="fr-FR" dirty="0" smtClean="0">
                <a:latin typeface="+mj-lt"/>
                <a:cs typeface="Arial"/>
              </a:rPr>
              <a:t>Lyon, et 20 000 à</a:t>
            </a:r>
            <a:r>
              <a:rPr lang="fr-FR" spc="-120" dirty="0" smtClean="0">
                <a:latin typeface="+mj-lt"/>
                <a:cs typeface="Arial"/>
              </a:rPr>
              <a:t> </a:t>
            </a:r>
            <a:r>
              <a:rPr lang="fr-FR" dirty="0" smtClean="0">
                <a:latin typeface="+mj-lt"/>
                <a:cs typeface="Arial"/>
              </a:rPr>
              <a:t>Marseille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fr-FR" sz="2800" dirty="0" smtClean="0">
                <a:latin typeface="+mj-lt"/>
                <a:cs typeface="Arial"/>
              </a:rPr>
              <a:t>Charge de </a:t>
            </a:r>
            <a:r>
              <a:rPr lang="fr-FR" sz="2800" spc="-5" dirty="0" smtClean="0">
                <a:latin typeface="+mj-lt"/>
                <a:cs typeface="Arial"/>
              </a:rPr>
              <a:t>travail (</a:t>
            </a:r>
            <a:r>
              <a:rPr lang="fr-FR" sz="2800" spc="-5" dirty="0" err="1" smtClean="0">
                <a:latin typeface="+mj-lt"/>
                <a:cs typeface="Arial"/>
              </a:rPr>
              <a:t>workload</a:t>
            </a:r>
            <a:r>
              <a:rPr lang="fr-FR" sz="2800" spc="-5" dirty="0" smtClean="0">
                <a:latin typeface="+mj-lt"/>
                <a:cs typeface="Arial"/>
              </a:rPr>
              <a:t>)</a:t>
            </a:r>
            <a:endParaRPr lang="fr-FR" sz="2800" dirty="0" smtClean="0">
              <a:latin typeface="+mj-lt"/>
              <a:cs typeface="Arial"/>
            </a:endParaRPr>
          </a:p>
          <a:p>
            <a:pPr marL="455295" marR="1174115" indent="-265430">
              <a:lnSpc>
                <a:spcPts val="2800"/>
              </a:lnSpc>
              <a:spcBef>
                <a:spcPts val="160"/>
              </a:spcBef>
            </a:pPr>
            <a:r>
              <a:rPr lang="fr-FR" dirty="0" smtClean="0">
                <a:latin typeface="+mj-lt"/>
                <a:cs typeface="Arial"/>
              </a:rPr>
              <a:t>90% des </a:t>
            </a:r>
            <a:r>
              <a:rPr lang="fr-FR" spc="-5" dirty="0" smtClean="0">
                <a:latin typeface="+mj-lt"/>
                <a:cs typeface="Arial"/>
              </a:rPr>
              <a:t>requêtes </a:t>
            </a:r>
            <a:r>
              <a:rPr lang="fr-FR" dirty="0" smtClean="0">
                <a:latin typeface="+mj-lt"/>
                <a:cs typeface="Arial"/>
              </a:rPr>
              <a:t>à </a:t>
            </a:r>
            <a:r>
              <a:rPr lang="fr-FR" spc="-5" dirty="0" smtClean="0">
                <a:latin typeface="+mj-lt"/>
                <a:cs typeface="Arial"/>
              </a:rPr>
              <a:t>Paris/Lyon/Marseille  </a:t>
            </a:r>
            <a:r>
              <a:rPr lang="fr-FR" dirty="0" smtClean="0">
                <a:latin typeface="+mj-lt"/>
                <a:cs typeface="Arial"/>
              </a:rPr>
              <a:t>sont sur des employés</a:t>
            </a:r>
            <a:r>
              <a:rPr lang="fr-FR" spc="-40" dirty="0" smtClean="0">
                <a:latin typeface="+mj-lt"/>
                <a:cs typeface="Arial"/>
              </a:rPr>
              <a:t> </a:t>
            </a:r>
            <a:r>
              <a:rPr lang="fr-FR" dirty="0" smtClean="0">
                <a:latin typeface="+mj-lt"/>
                <a:cs typeface="Arial"/>
              </a:rPr>
              <a:t>locaux</a:t>
            </a:r>
          </a:p>
          <a:p>
            <a:pPr marL="190500"/>
            <a:endParaRPr lang="fr-FR" dirty="0" smtClean="0">
              <a:latin typeface="+mj-lt"/>
              <a:cs typeface="Arial"/>
            </a:endParaRPr>
          </a:p>
          <a:p>
            <a:pPr marL="190500"/>
            <a:endParaRPr lang="fr-FR" dirty="0" smtClean="0">
              <a:latin typeface="+mj-lt"/>
              <a:cs typeface="Arial"/>
            </a:endParaRPr>
          </a:p>
          <a:p>
            <a:endParaRPr lang="fr-FR" dirty="0">
              <a:latin typeface="+mj-l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pPr marL="38100">
                <a:lnSpc>
                  <a:spcPts val="1315"/>
                </a:lnSpc>
              </a:pPr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13" y="6478386"/>
            <a:ext cx="723265" cy="380153"/>
            <a:chOff x="236912" y="4858789"/>
            <a:chExt cx="723265" cy="285115"/>
          </a:xfrm>
        </p:grpSpPr>
        <p:sp>
          <p:nvSpPr>
            <p:cNvPr id="3" name="object 3"/>
            <p:cNvSpPr/>
            <p:nvPr/>
          </p:nvSpPr>
          <p:spPr>
            <a:xfrm>
              <a:off x="444730" y="4883727"/>
              <a:ext cx="295101" cy="2597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3990" y="4881036"/>
              <a:ext cx="630555" cy="259715"/>
            </a:xfrm>
            <a:custGeom>
              <a:avLst/>
              <a:gdLst/>
              <a:ahLst/>
              <a:cxnLst/>
              <a:rect l="l" t="t" r="r" b="b"/>
              <a:pathLst>
                <a:path w="630555" h="259714">
                  <a:moveTo>
                    <a:pt x="587250" y="0"/>
                  </a:moveTo>
                  <a:lnTo>
                    <a:pt x="43278" y="0"/>
                  </a:lnTo>
                  <a:lnTo>
                    <a:pt x="26432" y="3400"/>
                  </a:lnTo>
                  <a:lnTo>
                    <a:pt x="12675" y="12675"/>
                  </a:lnTo>
                  <a:lnTo>
                    <a:pt x="3401" y="26432"/>
                  </a:lnTo>
                  <a:lnTo>
                    <a:pt x="0" y="43278"/>
                  </a:lnTo>
                  <a:lnTo>
                    <a:pt x="0" y="259662"/>
                  </a:lnTo>
                  <a:lnTo>
                    <a:pt x="630528" y="259662"/>
                  </a:lnTo>
                  <a:lnTo>
                    <a:pt x="630528" y="43278"/>
                  </a:lnTo>
                  <a:lnTo>
                    <a:pt x="627127" y="26432"/>
                  </a:lnTo>
                  <a:lnTo>
                    <a:pt x="617853" y="12675"/>
                  </a:lnTo>
                  <a:lnTo>
                    <a:pt x="604096" y="3400"/>
                  </a:lnTo>
                  <a:lnTo>
                    <a:pt x="58725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pPr defTabSz="914079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290215"/>
            <a:ext cx="7467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5" dirty="0" smtClean="0"/>
              <a:t>Intérêt de la fragmentation</a:t>
            </a:r>
            <a:endParaRPr spc="-5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3232" cy="4873752"/>
          </a:xfrm>
        </p:spPr>
        <p:txBody>
          <a:bodyPr>
            <a:normAutofit lnSpcReduction="10000"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fr-FR" sz="2800" dirty="0" smtClean="0">
                <a:cs typeface="Arial"/>
              </a:rPr>
              <a:t>Pour</a:t>
            </a:r>
            <a:r>
              <a:rPr lang="fr-FR" sz="2800" spc="-10" dirty="0" smtClean="0">
                <a:cs typeface="Arial"/>
              </a:rPr>
              <a:t> </a:t>
            </a:r>
            <a:r>
              <a:rPr lang="fr-FR" sz="2800" spc="-5" dirty="0" smtClean="0">
                <a:cs typeface="Arial"/>
              </a:rPr>
              <a:t>illustrer</a:t>
            </a:r>
            <a:endParaRPr lang="fr-FR" sz="2800" dirty="0" smtClean="0">
              <a:cs typeface="Arial"/>
            </a:endParaRPr>
          </a:p>
          <a:p>
            <a:pPr marL="190500"/>
            <a:r>
              <a:rPr lang="fr-FR" dirty="0" smtClean="0">
                <a:cs typeface="Arial"/>
              </a:rPr>
              <a:t>Accès disque = 1 </a:t>
            </a:r>
            <a:r>
              <a:rPr lang="fr-FR" spc="-5" dirty="0" smtClean="0">
                <a:cs typeface="Arial"/>
              </a:rPr>
              <a:t>unité </a:t>
            </a:r>
            <a:r>
              <a:rPr lang="fr-FR" dirty="0" smtClean="0">
                <a:cs typeface="Arial"/>
              </a:rPr>
              <a:t>&amp; Accès réseau = 10</a:t>
            </a:r>
            <a:r>
              <a:rPr lang="fr-FR" spc="-50" dirty="0" smtClean="0">
                <a:cs typeface="Arial"/>
              </a:rPr>
              <a:t> </a:t>
            </a:r>
            <a:r>
              <a:rPr lang="fr-FR" spc="-5" dirty="0" smtClean="0">
                <a:cs typeface="Arial"/>
              </a:rPr>
              <a:t>unités</a:t>
            </a:r>
            <a:endParaRPr lang="fr-FR" dirty="0" smtClean="0">
              <a:cs typeface="Arial"/>
            </a:endParaRPr>
          </a:p>
          <a:p>
            <a:pPr marL="12700" marR="1250950">
              <a:lnSpc>
                <a:spcPct val="116500"/>
              </a:lnSpc>
              <a:spcBef>
                <a:spcPts val="100"/>
              </a:spcBef>
            </a:pPr>
            <a:r>
              <a:rPr lang="fr-FR" b="1" dirty="0" smtClean="0">
                <a:latin typeface="+mj-lt"/>
                <a:cs typeface="Arial"/>
              </a:rPr>
              <a:t>Sans </a:t>
            </a:r>
            <a:r>
              <a:rPr lang="fr-FR" b="1" spc="-5" dirty="0" smtClean="0">
                <a:latin typeface="+mj-lt"/>
                <a:cs typeface="Arial"/>
              </a:rPr>
              <a:t>fragmentation </a:t>
            </a:r>
            <a:r>
              <a:rPr lang="fr-FR" dirty="0" smtClean="0">
                <a:latin typeface="+mj-lt"/>
                <a:cs typeface="Arial"/>
              </a:rPr>
              <a:t>(un </a:t>
            </a:r>
            <a:r>
              <a:rPr lang="fr-FR" spc="-5" dirty="0" smtClean="0">
                <a:latin typeface="+mj-lt"/>
                <a:cs typeface="Arial"/>
              </a:rPr>
              <a:t>SGBD </a:t>
            </a:r>
            <a:r>
              <a:rPr lang="fr-FR" dirty="0" err="1" smtClean="0">
                <a:latin typeface="+mj-lt"/>
                <a:cs typeface="Arial"/>
              </a:rPr>
              <a:t>àParis</a:t>
            </a:r>
            <a:r>
              <a:rPr lang="fr-FR" dirty="0" smtClean="0">
                <a:latin typeface="+mj-lt"/>
                <a:cs typeface="Arial"/>
              </a:rPr>
              <a:t>)  </a:t>
            </a:r>
            <a:r>
              <a:rPr lang="fr-FR" u="sng" spc="-5" dirty="0" smtClean="0">
                <a:latin typeface="+mj-lt"/>
                <a:cs typeface="Arial"/>
              </a:rPr>
              <a:t>Coût</a:t>
            </a:r>
            <a:endParaRPr lang="fr-FR" u="sng" dirty="0" smtClean="0">
              <a:latin typeface="+mj-lt"/>
              <a:cs typeface="Arial"/>
            </a:endParaRPr>
          </a:p>
          <a:p>
            <a:pPr marL="835532" lvl="1">
              <a:spcBef>
                <a:spcPts val="420"/>
              </a:spcBef>
              <a:tabLst>
                <a:tab pos="755015" algn="l"/>
              </a:tabLst>
            </a:pPr>
            <a:r>
              <a:rPr lang="fr-FR" dirty="0" smtClean="0">
                <a:latin typeface="+mj-lt"/>
                <a:cs typeface="Arial"/>
              </a:rPr>
              <a:t>à Paris = 1 unité</a:t>
            </a:r>
          </a:p>
          <a:p>
            <a:pPr marL="835532" lvl="1">
              <a:spcBef>
                <a:spcPts val="420"/>
              </a:spcBef>
              <a:tabLst>
                <a:tab pos="755015" algn="l"/>
              </a:tabLst>
            </a:pPr>
            <a:r>
              <a:rPr lang="fr-FR" dirty="0" smtClean="0">
                <a:latin typeface="+mj-lt"/>
                <a:cs typeface="Arial"/>
              </a:rPr>
              <a:t>à </a:t>
            </a:r>
            <a:r>
              <a:rPr lang="fr-FR" spc="-5" dirty="0" smtClean="0">
                <a:latin typeface="+mj-lt"/>
                <a:cs typeface="Arial"/>
              </a:rPr>
              <a:t>L/M </a:t>
            </a:r>
            <a:r>
              <a:rPr lang="fr-FR" dirty="0" smtClean="0">
                <a:latin typeface="+mj-lt"/>
                <a:cs typeface="Arial"/>
              </a:rPr>
              <a:t>=</a:t>
            </a:r>
            <a:r>
              <a:rPr lang="fr-FR" spc="-5" dirty="0" smtClean="0">
                <a:latin typeface="+mj-lt"/>
                <a:cs typeface="Arial"/>
              </a:rPr>
              <a:t> </a:t>
            </a:r>
            <a:r>
              <a:rPr lang="fr-FR" dirty="0" smtClean="0">
                <a:latin typeface="+mj-lt"/>
                <a:cs typeface="Arial"/>
              </a:rPr>
              <a:t>10</a:t>
            </a:r>
          </a:p>
          <a:p>
            <a:pPr marL="835532" lvl="1">
              <a:spcBef>
                <a:spcPts val="420"/>
              </a:spcBef>
              <a:tabLst>
                <a:tab pos="755015" algn="l"/>
              </a:tabLst>
            </a:pPr>
            <a:r>
              <a:rPr lang="fr-FR" dirty="0" smtClean="0">
                <a:latin typeface="+mj-lt"/>
                <a:cs typeface="Arial"/>
              </a:rPr>
              <a:t>moyen = </a:t>
            </a:r>
            <a:r>
              <a:rPr lang="fr-FR" spc="-5" dirty="0" smtClean="0">
                <a:latin typeface="+mj-lt"/>
                <a:cs typeface="Arial"/>
              </a:rPr>
              <a:t>0.4+0.6*10= 6.4 unités</a:t>
            </a:r>
            <a:endParaRPr lang="fr-FR" dirty="0" smtClean="0">
              <a:latin typeface="+mj-lt"/>
              <a:cs typeface="Arial"/>
            </a:endParaRPr>
          </a:p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lang="fr-FR" b="1" dirty="0" smtClean="0">
                <a:latin typeface="+mj-lt"/>
                <a:cs typeface="Arial"/>
              </a:rPr>
              <a:t>Avec </a:t>
            </a:r>
            <a:r>
              <a:rPr lang="fr-FR" b="1" spc="-5" dirty="0" smtClean="0">
                <a:latin typeface="+mj-lt"/>
                <a:cs typeface="Arial"/>
              </a:rPr>
              <a:t>fragmentation </a:t>
            </a:r>
            <a:r>
              <a:rPr lang="fr-FR" dirty="0" smtClean="0">
                <a:latin typeface="+mj-lt"/>
                <a:cs typeface="Arial"/>
              </a:rPr>
              <a:t>(3 </a:t>
            </a:r>
            <a:r>
              <a:rPr lang="fr-FR" spc="-5" dirty="0" smtClean="0">
                <a:latin typeface="+mj-lt"/>
                <a:cs typeface="Arial"/>
              </a:rPr>
              <a:t>SGBD </a:t>
            </a:r>
            <a:r>
              <a:rPr lang="fr-FR" dirty="0" smtClean="0">
                <a:latin typeface="+mj-lt"/>
                <a:cs typeface="Arial"/>
              </a:rPr>
              <a:t>: BD-P, BD-L,</a:t>
            </a:r>
            <a:r>
              <a:rPr lang="fr-FR" spc="-45" dirty="0" smtClean="0">
                <a:latin typeface="+mj-lt"/>
                <a:cs typeface="Arial"/>
              </a:rPr>
              <a:t> </a:t>
            </a:r>
            <a:r>
              <a:rPr lang="fr-FR" dirty="0" smtClean="0">
                <a:latin typeface="+mj-lt"/>
                <a:cs typeface="Arial"/>
              </a:rPr>
              <a:t>BD-M)  </a:t>
            </a:r>
            <a:r>
              <a:rPr lang="fr-FR" u="sng" spc="-5" dirty="0" smtClean="0">
                <a:latin typeface="+mj-lt"/>
                <a:cs typeface="Arial"/>
              </a:rPr>
              <a:t>Coût</a:t>
            </a:r>
            <a:endParaRPr lang="fr-FR" u="sng" dirty="0" smtClean="0">
              <a:latin typeface="+mj-lt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  <a:tabLst>
                <a:tab pos="755015" algn="l"/>
              </a:tabLst>
            </a:pPr>
            <a:r>
              <a:rPr lang="fr-FR" dirty="0" smtClean="0">
                <a:latin typeface="+mj-lt"/>
                <a:cs typeface="Arial"/>
              </a:rPr>
              <a:t>–	à </a:t>
            </a:r>
            <a:r>
              <a:rPr lang="fr-FR" spc="-5" dirty="0" smtClean="0">
                <a:latin typeface="+mj-lt"/>
                <a:cs typeface="Arial"/>
              </a:rPr>
              <a:t>P/L/M </a:t>
            </a:r>
            <a:r>
              <a:rPr lang="fr-FR" dirty="0" smtClean="0">
                <a:latin typeface="+mj-lt"/>
                <a:cs typeface="Arial"/>
              </a:rPr>
              <a:t>= </a:t>
            </a:r>
            <a:r>
              <a:rPr lang="fr-FR" spc="-5" dirty="0" smtClean="0">
                <a:latin typeface="+mj-lt"/>
                <a:cs typeface="Arial"/>
              </a:rPr>
              <a:t>0.9*(0.4+0.4+0.2)*1+0.1*10=</a:t>
            </a:r>
            <a:r>
              <a:rPr lang="fr-FR" spc="-30" dirty="0" smtClean="0">
                <a:latin typeface="+mj-lt"/>
                <a:cs typeface="Arial"/>
              </a:rPr>
              <a:t> </a:t>
            </a:r>
            <a:r>
              <a:rPr lang="fr-FR" spc="-5" dirty="0" smtClean="0">
                <a:latin typeface="+mj-lt"/>
                <a:cs typeface="Arial"/>
              </a:rPr>
              <a:t>1.9</a:t>
            </a:r>
            <a:endParaRPr lang="fr-FR" dirty="0" smtClean="0">
              <a:latin typeface="+mj-lt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20"/>
              </a:spcBef>
              <a:buClr>
                <a:srgbClr val="606060"/>
              </a:buClr>
              <a:buChar char="–"/>
              <a:tabLst>
                <a:tab pos="755015" algn="l"/>
                <a:tab pos="755650" algn="l"/>
              </a:tabLst>
            </a:pPr>
            <a:r>
              <a:rPr lang="fr-FR" dirty="0" smtClean="0">
                <a:latin typeface="+mj-lt"/>
                <a:cs typeface="Arial"/>
              </a:rPr>
              <a:t>moyen = </a:t>
            </a:r>
            <a:r>
              <a:rPr lang="fr-FR" spc="-5" dirty="0" smtClean="0">
                <a:latin typeface="+mj-lt"/>
                <a:cs typeface="Arial"/>
              </a:rPr>
              <a:t>1.9</a:t>
            </a:r>
            <a:r>
              <a:rPr lang="fr-FR" spc="-70" dirty="0" smtClean="0">
                <a:latin typeface="+mj-lt"/>
                <a:cs typeface="Arial"/>
              </a:rPr>
              <a:t> </a:t>
            </a:r>
            <a:r>
              <a:rPr lang="fr-FR" spc="-5" dirty="0" smtClean="0">
                <a:latin typeface="+mj-lt"/>
                <a:cs typeface="Arial"/>
              </a:rPr>
              <a:t>unités</a:t>
            </a:r>
            <a:endParaRPr lang="fr-FR" dirty="0" smtClean="0">
              <a:latin typeface="+mj-lt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420"/>
              </a:spcBef>
              <a:buClr>
                <a:srgbClr val="606060"/>
              </a:buClr>
              <a:buChar char="–"/>
              <a:tabLst>
                <a:tab pos="755015" algn="l"/>
                <a:tab pos="755650" algn="l"/>
              </a:tabLst>
            </a:pPr>
            <a:r>
              <a:rPr lang="fr-FR" spc="-5" dirty="0" smtClean="0">
                <a:latin typeface="+mj-lt"/>
                <a:cs typeface="Arial"/>
              </a:rPr>
              <a:t>Evite </a:t>
            </a:r>
            <a:r>
              <a:rPr lang="fr-FR" dirty="0" smtClean="0">
                <a:latin typeface="+mj-lt"/>
                <a:cs typeface="Arial"/>
              </a:rPr>
              <a:t>le risque de </a:t>
            </a:r>
            <a:r>
              <a:rPr lang="fr-FR" spc="-5" dirty="0" smtClean="0">
                <a:latin typeface="+mj-lt"/>
                <a:cs typeface="Arial"/>
              </a:rPr>
              <a:t>saturer </a:t>
            </a:r>
            <a:r>
              <a:rPr lang="fr-FR" dirty="0" smtClean="0">
                <a:latin typeface="+mj-lt"/>
                <a:cs typeface="Arial"/>
              </a:rPr>
              <a:t>le </a:t>
            </a:r>
            <a:r>
              <a:rPr lang="fr-FR" spc="-5" dirty="0" smtClean="0">
                <a:latin typeface="+mj-lt"/>
                <a:cs typeface="Arial"/>
              </a:rPr>
              <a:t>SGBD </a:t>
            </a:r>
            <a:r>
              <a:rPr lang="fr-FR" dirty="0" smtClean="0">
                <a:latin typeface="+mj-lt"/>
                <a:cs typeface="Arial"/>
              </a:rPr>
              <a:t>de</a:t>
            </a:r>
            <a:r>
              <a:rPr lang="fr-FR" spc="-25" dirty="0" smtClean="0">
                <a:latin typeface="+mj-lt"/>
                <a:cs typeface="Arial"/>
              </a:rPr>
              <a:t> </a:t>
            </a:r>
            <a:r>
              <a:rPr lang="fr-FR" dirty="0" smtClean="0">
                <a:latin typeface="+mj-lt"/>
                <a:cs typeface="Arial"/>
              </a:rPr>
              <a:t>Paris</a:t>
            </a:r>
          </a:p>
          <a:p>
            <a:endParaRPr lang="fr-FR" dirty="0">
              <a:latin typeface="+mj-l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pPr marL="38100">
                <a:lnSpc>
                  <a:spcPts val="1315"/>
                </a:lnSpc>
              </a:pPr>
              <a:t>35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Techniques de Fragmentation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Il existe plusieurs techniques de fragmentation:</a:t>
            </a:r>
          </a:p>
          <a:p>
            <a:endParaRPr lang="fr-FR" dirty="0" smtClean="0"/>
          </a:p>
          <a:p>
            <a:pPr lvl="2"/>
            <a:r>
              <a:rPr lang="fr-FR" sz="2400" dirty="0" smtClean="0"/>
              <a:t>Fragmentation horizontale</a:t>
            </a:r>
          </a:p>
          <a:p>
            <a:pPr lvl="3"/>
            <a:r>
              <a:rPr lang="fr-FR" sz="2400" dirty="0" smtClean="0"/>
              <a:t>Primaire</a:t>
            </a:r>
          </a:p>
          <a:p>
            <a:pPr lvl="3"/>
            <a:r>
              <a:rPr lang="fr-FR" sz="2400" dirty="0" smtClean="0"/>
              <a:t>Dérivée</a:t>
            </a:r>
          </a:p>
          <a:p>
            <a:pPr lvl="2"/>
            <a:r>
              <a:rPr lang="fr-FR" sz="2400" dirty="0" smtClean="0"/>
              <a:t>Fragmentation verticale</a:t>
            </a:r>
          </a:p>
          <a:p>
            <a:pPr lvl="2"/>
            <a:r>
              <a:rPr lang="fr-FR" sz="2400" dirty="0" smtClean="0"/>
              <a:t>Fragmentation mixte</a:t>
            </a:r>
          </a:p>
          <a:p>
            <a:pPr lvl="2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19256" cy="1143000"/>
          </a:xfrm>
        </p:spPr>
        <p:txBody>
          <a:bodyPr>
            <a:normAutofit/>
          </a:bodyPr>
          <a:lstStyle/>
          <a:p>
            <a:r>
              <a:rPr lang="fr-FR" dirty="0" smtClean="0"/>
              <a:t>Fragmentation horizontale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2692896"/>
          </a:xfrm>
        </p:spPr>
        <p:txBody>
          <a:bodyPr>
            <a:normAutofit fontScale="77500" lnSpcReduction="20000"/>
          </a:bodyPr>
          <a:lstStyle/>
          <a:p>
            <a:r>
              <a:rPr lang="fr-FR" sz="2900" b="1" u="sng" dirty="0" smtClean="0"/>
              <a:t>Fragmentation horizontale primaire : </a:t>
            </a:r>
          </a:p>
          <a:p>
            <a:r>
              <a:rPr lang="fr-FR" dirty="0" smtClean="0"/>
              <a:t>La Fragmentation horizontale est définie par l’opération de sélection </a:t>
            </a:r>
          </a:p>
          <a:p>
            <a:r>
              <a:rPr lang="fr-FR" b="1" u="sng" dirty="0" smtClean="0"/>
              <a:t>Exemple </a:t>
            </a:r>
          </a:p>
          <a:p>
            <a:pPr lvl="1"/>
            <a:r>
              <a:rPr lang="fr-FR" sz="2400" dirty="0" smtClean="0"/>
              <a:t>Client (</a:t>
            </a:r>
            <a:r>
              <a:rPr lang="fr-FR" sz="2400" u="sng" dirty="0" smtClean="0"/>
              <a:t>NCL, Nom, Ville) peut être fragmentée : </a:t>
            </a:r>
          </a:p>
          <a:p>
            <a:pPr lvl="1"/>
            <a:r>
              <a:rPr lang="en-US" sz="2400" dirty="0" smtClean="0"/>
              <a:t>Client1= SELECT * FROM Client WHERE Ville = “Paris” </a:t>
            </a:r>
          </a:p>
          <a:p>
            <a:pPr lvl="1"/>
            <a:r>
              <a:rPr lang="en-US" sz="2400" dirty="0" smtClean="0"/>
              <a:t>Client2= SELECT * FROM Client WHERE Ville &lt;&gt; “Paris” </a:t>
            </a:r>
          </a:p>
          <a:p>
            <a:r>
              <a:rPr lang="fr-FR" b="1" dirty="0" smtClean="0"/>
              <a:t>Reconstruction de la relation initiale: </a:t>
            </a:r>
          </a:p>
          <a:p>
            <a:r>
              <a:rPr lang="fr-FR" b="1" dirty="0" smtClean="0"/>
              <a:t>Client = Client1 ∪ Client2 </a:t>
            </a:r>
          </a:p>
          <a:p>
            <a:pPr>
              <a:buNone/>
            </a:pPr>
            <a:endParaRPr lang="fr-FR" b="1" dirty="0" smtClean="0"/>
          </a:p>
          <a:p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15" y="4437124"/>
            <a:ext cx="650557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939336" cy="1143000"/>
          </a:xfrm>
        </p:spPr>
        <p:txBody>
          <a:bodyPr>
            <a:normAutofit/>
          </a:bodyPr>
          <a:lstStyle/>
          <a:p>
            <a:r>
              <a:rPr lang="fr-FR" dirty="0" smtClean="0"/>
              <a:t>Fragmentation horizontale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2116832"/>
          </a:xfrm>
        </p:spPr>
        <p:txBody>
          <a:bodyPr>
            <a:normAutofit fontScale="85000" lnSpcReduction="10000"/>
          </a:bodyPr>
          <a:lstStyle/>
          <a:p>
            <a:r>
              <a:rPr lang="fr-FR" b="1" u="sng" dirty="0" smtClean="0"/>
              <a:t>Fragmentation horizontale dérivée : </a:t>
            </a:r>
          </a:p>
          <a:p>
            <a:r>
              <a:rPr lang="fr-FR" dirty="0" smtClean="0"/>
              <a:t>La Fragmentation d’une table en fonction des fragments horizontaux d’une autre table. </a:t>
            </a:r>
          </a:p>
          <a:p>
            <a:pPr>
              <a:buNone/>
            </a:pPr>
            <a:endParaRPr lang="fr-FR" b="1" dirty="0" smtClean="0"/>
          </a:p>
          <a:p>
            <a:r>
              <a:rPr lang="fr-FR" b="1" u="sng" dirty="0" smtClean="0"/>
              <a:t>Exemple </a:t>
            </a:r>
          </a:p>
          <a:p>
            <a:r>
              <a:rPr lang="fr-FR" dirty="0" smtClean="0"/>
              <a:t>Commande (</a:t>
            </a:r>
            <a:r>
              <a:rPr lang="fr-FR" u="sng" dirty="0" smtClean="0"/>
              <a:t>NCL, N°Produit, Date, </a:t>
            </a:r>
            <a:r>
              <a:rPr lang="fr-FR" u="sng" dirty="0" err="1" smtClean="0"/>
              <a:t>Qte</a:t>
            </a:r>
            <a:r>
              <a:rPr lang="fr-FR" u="sng" dirty="0" smtClean="0"/>
              <a:t>, N°Représentant) </a:t>
            </a: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005076"/>
            <a:ext cx="35433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403651" y="5890053"/>
            <a:ext cx="6444208" cy="923297"/>
          </a:xfrm>
          <a:prstGeom prst="rect">
            <a:avLst/>
          </a:prstGeom>
        </p:spPr>
        <p:txBody>
          <a:bodyPr wrap="square" lIns="91407" tIns="45704" rIns="91407" bIns="45704">
            <a:spAutoFit/>
          </a:bodyPr>
          <a:lstStyle/>
          <a:p>
            <a:pPr defTabSz="914079"/>
            <a:r>
              <a:rPr lang="fr-FR" b="1" dirty="0">
                <a:solidFill>
                  <a:prstClr val="black"/>
                </a:solidFill>
              </a:rPr>
              <a:t>Reconstruction de la relation initiale: </a:t>
            </a:r>
          </a:p>
          <a:p>
            <a:pPr defTabSz="914079"/>
            <a:r>
              <a:rPr lang="fr-FR" b="1" dirty="0">
                <a:solidFill>
                  <a:prstClr val="black"/>
                </a:solidFill>
              </a:rPr>
              <a:t>Commande = Commande1 ∪ Commande2 </a:t>
            </a:r>
          </a:p>
          <a:p>
            <a:pPr defTabSz="914079"/>
            <a:endParaRPr lang="fr-FR" dirty="0">
              <a:solidFill>
                <a:prstClr val="black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9822" y="3838929"/>
            <a:ext cx="4712618" cy="203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Fragmentation verticale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La fragmentation verticale est le découpage d'une table en sous-tables par des projections permettant de sélectionner les colonnes qui composent chaque fragment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Répartition des attributs </a:t>
            </a:r>
          </a:p>
          <a:p>
            <a:r>
              <a:rPr lang="fr-FR" dirty="0" smtClean="0"/>
              <a:t>La fragmentation verticale est obtenue par décomposition de la table en groupes de colonnes. </a:t>
            </a:r>
          </a:p>
          <a:p>
            <a:r>
              <a:rPr lang="fr-FR" dirty="0" smtClean="0"/>
              <a:t>Toutes les valeurs des occurrences pour un même attribut se trouvent dans le même fragment </a:t>
            </a:r>
          </a:p>
          <a:p>
            <a:r>
              <a:rPr lang="fr-FR" dirty="0" smtClean="0"/>
              <a:t> L'operateur de partitionnement est la projection (</a:t>
            </a:r>
            <a:r>
              <a:rPr lang="el-GR" dirty="0" smtClean="0"/>
              <a:t>Π</a:t>
            </a:r>
            <a:r>
              <a:rPr lang="fr-FR" dirty="0" smtClean="0"/>
              <a:t>̟)</a:t>
            </a:r>
          </a:p>
          <a:p>
            <a:r>
              <a:rPr lang="fr-FR" dirty="0" smtClean="0"/>
              <a:t> L'operateur de recomposition est la jointure (⋈)</a:t>
            </a:r>
            <a:endParaRPr lang="fr-F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fragmentation verticale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003232" cy="2952328"/>
          </a:xfrm>
        </p:spPr>
        <p:txBody>
          <a:bodyPr>
            <a:normAutofit fontScale="85000" lnSpcReduction="10000"/>
          </a:bodyPr>
          <a:lstStyle/>
          <a:p>
            <a:r>
              <a:rPr lang="fr-FR" b="1" dirty="0" smtClean="0"/>
              <a:t>Exemple</a:t>
            </a:r>
          </a:p>
          <a:p>
            <a:r>
              <a:rPr lang="fr-FR" dirty="0" smtClean="0"/>
              <a:t>Soit le partitionnement de la relation </a:t>
            </a:r>
            <a:r>
              <a:rPr lang="fr-FR" i="1" dirty="0" smtClean="0"/>
              <a:t>Client en deux relations :</a:t>
            </a:r>
          </a:p>
          <a:p>
            <a:endParaRPr lang="fr-FR" i="1" dirty="0" smtClean="0"/>
          </a:p>
          <a:p>
            <a:endParaRPr lang="fr-FR" i="1" dirty="0" smtClean="0"/>
          </a:p>
          <a:p>
            <a:endParaRPr lang="fr-FR" i="1" dirty="0" smtClean="0"/>
          </a:p>
          <a:p>
            <a:endParaRPr lang="fr-FR" i="1" dirty="0" smtClean="0"/>
          </a:p>
          <a:p>
            <a:r>
              <a:rPr lang="fr-FR" dirty="0" smtClean="0"/>
              <a:t>Cli1 = </a:t>
            </a:r>
            <a:r>
              <a:rPr lang="el-GR" dirty="0" smtClean="0"/>
              <a:t>π[</a:t>
            </a:r>
            <a:r>
              <a:rPr lang="fr-FR" dirty="0" err="1" smtClean="0"/>
              <a:t>NoClient</a:t>
            </a:r>
            <a:r>
              <a:rPr lang="fr-FR" dirty="0" smtClean="0"/>
              <a:t>, </a:t>
            </a:r>
            <a:r>
              <a:rPr lang="fr-FR" dirty="0" err="1" smtClean="0"/>
              <a:t>NomClient</a:t>
            </a:r>
            <a:r>
              <a:rPr lang="fr-FR" dirty="0" smtClean="0"/>
              <a:t>] Client</a:t>
            </a:r>
          </a:p>
          <a:p>
            <a:r>
              <a:rPr lang="fr-FR" dirty="0" smtClean="0"/>
              <a:t>et Cli2 = π[</a:t>
            </a:r>
            <a:r>
              <a:rPr lang="fr-FR" dirty="0" err="1" smtClean="0"/>
              <a:t>Noclient</a:t>
            </a:r>
            <a:r>
              <a:rPr lang="fr-FR" dirty="0" smtClean="0"/>
              <a:t>, Prénom, Age] Client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4221099"/>
            <a:ext cx="53721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95539" y="6095037"/>
            <a:ext cx="7272808" cy="646298"/>
          </a:xfrm>
          <a:prstGeom prst="rect">
            <a:avLst/>
          </a:prstGeom>
        </p:spPr>
        <p:txBody>
          <a:bodyPr wrap="square" lIns="91407" tIns="45704" rIns="91407" bIns="45704">
            <a:spAutoFit/>
          </a:bodyPr>
          <a:lstStyle/>
          <a:p>
            <a:pPr defTabSz="914079"/>
            <a:r>
              <a:rPr lang="fr-FR" dirty="0">
                <a:solidFill>
                  <a:prstClr val="black"/>
                </a:solidFill>
              </a:rPr>
              <a:t>La relation d'origine est obtenue avec la recomposition suivante : Client = Cli1 </a:t>
            </a:r>
            <a:r>
              <a:rPr lang="fr-FR" dirty="0" smtClean="0">
                <a:solidFill>
                  <a:prstClr val="black"/>
                </a:solidFill>
              </a:rPr>
              <a:t>⋈ </a:t>
            </a:r>
            <a:r>
              <a:rPr lang="fr-FR" dirty="0">
                <a:solidFill>
                  <a:prstClr val="black"/>
                </a:solidFill>
              </a:rPr>
              <a:t>Cli2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3848" y="2063917"/>
            <a:ext cx="2892599" cy="1149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40152" y="3284984"/>
            <a:ext cx="2921695" cy="893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221980" y="5896582"/>
            <a:ext cx="127000" cy="1892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defTabSz="914079">
              <a:spcBef>
                <a:spcPts val="110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endParaRPr sz="1050">
              <a:solidFill>
                <a:prstClr val="black"/>
              </a:solidFill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649" y="398000"/>
            <a:ext cx="44297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</a:t>
            </a:r>
            <a:r>
              <a:rPr sz="1900" spc="10" dirty="0"/>
              <a:t>RAGMENTATION </a:t>
            </a:r>
            <a:r>
              <a:rPr spc="10" dirty="0" smtClean="0"/>
              <a:t>V</a:t>
            </a:r>
            <a:r>
              <a:rPr sz="1900" spc="10" dirty="0" smtClean="0"/>
              <a:t>ERTICALE</a:t>
            </a:r>
            <a:endParaRPr sz="1900" dirty="0"/>
          </a:p>
        </p:txBody>
      </p:sp>
      <p:sp>
        <p:nvSpPr>
          <p:cNvPr id="6" name="object 6"/>
          <p:cNvSpPr txBox="1"/>
          <p:nvPr/>
        </p:nvSpPr>
        <p:spPr>
          <a:xfrm>
            <a:off x="241198" y="2299843"/>
            <a:ext cx="2764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079">
              <a:spcBef>
                <a:spcPts val="105"/>
              </a:spcBef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Remarque importante</a:t>
            </a:r>
            <a:r>
              <a:rPr sz="2000"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1198" y="2934436"/>
            <a:ext cx="449707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defTabSz="914079">
              <a:lnSpc>
                <a:spcPct val="108000"/>
              </a:lnSpc>
              <a:spcBef>
                <a:spcPts val="100"/>
              </a:spcBef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«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Il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est important </a:t>
            </a:r>
            <a:r>
              <a:rPr sz="2000" spc="-5" dirty="0">
                <a:solidFill>
                  <a:prstClr val="black"/>
                </a:solidFill>
                <a:cs typeface="Century Schoolbook"/>
              </a:rPr>
              <a:t>de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conserver les</a:t>
            </a:r>
            <a:r>
              <a:rPr sz="2000" spc="-16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clés  dans chaque fragment vertical</a:t>
            </a:r>
            <a:r>
              <a:rPr sz="2000" spc="-13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»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1198" y="3936872"/>
            <a:ext cx="4367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z="2000" dirty="0">
                <a:solidFill>
                  <a:prstClr val="black"/>
                </a:solidFill>
                <a:cs typeface="Century Schoolbook"/>
              </a:rPr>
              <a:t>Sinon </a:t>
            </a:r>
            <a:r>
              <a:rPr sz="2000" b="1" u="sng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entury Schoolbook"/>
              </a:rPr>
              <a:t>reconstruction </a:t>
            </a:r>
            <a:r>
              <a:rPr sz="2000" b="1" u="sng" spc="-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entury Schoolbook"/>
              </a:rPr>
              <a:t>impossible</a:t>
            </a:r>
            <a:r>
              <a:rPr sz="2000" b="1" spc="-12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sz="2000" dirty="0">
                <a:solidFill>
                  <a:prstClr val="black"/>
                </a:solidFill>
                <a:cs typeface="Century Schoolbook"/>
              </a:rPr>
              <a:t>!</a:t>
            </a:r>
            <a:endParaRPr sz="2000"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95900" y="1924811"/>
            <a:ext cx="3670300" cy="1524000"/>
          </a:xfrm>
          <a:custGeom>
            <a:avLst/>
            <a:gdLst/>
            <a:ahLst/>
            <a:cxnLst/>
            <a:rect l="l" t="t" r="r" b="b"/>
            <a:pathLst>
              <a:path w="3670300" h="1524000">
                <a:moveTo>
                  <a:pt x="0" y="1524000"/>
                </a:moveTo>
                <a:lnTo>
                  <a:pt x="3669792" y="1524000"/>
                </a:lnTo>
                <a:lnTo>
                  <a:pt x="3669792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1286" y="1969134"/>
            <a:ext cx="51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dirty="0">
                <a:solidFill>
                  <a:prstClr val="black"/>
                </a:solidFill>
                <a:cs typeface="Century Schoolbook"/>
              </a:rPr>
              <a:t>n</a:t>
            </a:r>
            <a:r>
              <a:rPr spc="5" dirty="0">
                <a:solidFill>
                  <a:prstClr val="black"/>
                </a:solidFill>
                <a:cs typeface="Century Schoolbook"/>
              </a:rPr>
              <a:t>c</a:t>
            </a:r>
            <a:r>
              <a:rPr spc="-5" dirty="0">
                <a:solidFill>
                  <a:prstClr val="black"/>
                </a:solidFill>
                <a:cs typeface="Century Schoolbook"/>
              </a:rPr>
              <a:t>de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36538" y="1981961"/>
            <a:ext cx="753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nclient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59142" y="1956561"/>
            <a:ext cx="80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produit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04203" y="1924811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45095" y="1937004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95900" y="2350007"/>
            <a:ext cx="3683635" cy="0"/>
          </a:xfrm>
          <a:custGeom>
            <a:avLst/>
            <a:gdLst/>
            <a:ahLst/>
            <a:cxnLst/>
            <a:rect l="l" t="t" r="r" b="b"/>
            <a:pathLst>
              <a:path w="3683634">
                <a:moveTo>
                  <a:pt x="3683507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6989" y="2401061"/>
            <a:ext cx="39433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lnSpc>
                <a:spcPts val="2000"/>
              </a:lnSpc>
              <a:spcBef>
                <a:spcPts val="100"/>
              </a:spcBef>
            </a:pPr>
            <a:r>
              <a:rPr dirty="0">
                <a:solidFill>
                  <a:prstClr val="black"/>
                </a:solidFill>
                <a:cs typeface="Century Schoolbook"/>
              </a:rPr>
              <a:t>D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1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D</a:t>
            </a:r>
            <a:r>
              <a:rPr spc="-11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2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D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3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2000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D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4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3289" y="2388489"/>
            <a:ext cx="38163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lnSpc>
                <a:spcPts val="2000"/>
              </a:lnSpc>
              <a:spcBef>
                <a:spcPts val="100"/>
              </a:spcBef>
            </a:pPr>
            <a:r>
              <a:rPr dirty="0">
                <a:solidFill>
                  <a:prstClr val="black"/>
                </a:solidFill>
                <a:cs typeface="Century Schoolbook"/>
              </a:rPr>
              <a:t>C</a:t>
            </a:r>
            <a:r>
              <a:rPr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1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C</a:t>
            </a:r>
            <a:r>
              <a:rPr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1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C</a:t>
            </a:r>
            <a:r>
              <a:rPr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2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2000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C</a:t>
            </a:r>
            <a:r>
              <a:rPr spc="-105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4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56169" y="2388489"/>
            <a:ext cx="36893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lnSpc>
                <a:spcPts val="2000"/>
              </a:lnSpc>
              <a:spcBef>
                <a:spcPts val="100"/>
              </a:spcBef>
            </a:pPr>
            <a:r>
              <a:rPr dirty="0">
                <a:solidFill>
                  <a:prstClr val="black"/>
                </a:solidFill>
                <a:cs typeface="Century Schoolbook"/>
              </a:rPr>
              <a:t>P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1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P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2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P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3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2000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P</a:t>
            </a:r>
            <a:r>
              <a:rPr spc="-100" dirty="0">
                <a:solidFill>
                  <a:prstClr val="black"/>
                </a:solidFill>
                <a:cs typeface="Century Schoolbook"/>
              </a:rPr>
              <a:t> </a:t>
            </a:r>
            <a:r>
              <a:rPr dirty="0">
                <a:solidFill>
                  <a:prstClr val="black"/>
                </a:solidFill>
                <a:cs typeface="Century Schoolbook"/>
              </a:rPr>
              <a:t>4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21884" y="1575308"/>
            <a:ext cx="43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Cde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73795" y="1924811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72296" y="1969134"/>
            <a:ext cx="354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10" dirty="0">
                <a:solidFill>
                  <a:prstClr val="black"/>
                </a:solidFill>
                <a:cs typeface="Century Schoolbook"/>
              </a:rPr>
              <a:t>qté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1920" y="2413761"/>
            <a:ext cx="279400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lnSpc>
                <a:spcPts val="2000"/>
              </a:lnSpc>
              <a:spcBef>
                <a:spcPts val="100"/>
              </a:spcBef>
            </a:pPr>
            <a:r>
              <a:rPr spc="-10" dirty="0">
                <a:solidFill>
                  <a:prstClr val="black"/>
                </a:solidFill>
                <a:cs typeface="Century Schoolbook"/>
              </a:rPr>
              <a:t>10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1835"/>
              </a:lnSpc>
            </a:pPr>
            <a:r>
              <a:rPr spc="-10" dirty="0">
                <a:solidFill>
                  <a:prstClr val="black"/>
                </a:solidFill>
                <a:cs typeface="Century Schoolbook"/>
              </a:rPr>
              <a:t>20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39065" defTabSz="914079">
              <a:lnSpc>
                <a:spcPts val="1835"/>
              </a:lnSpc>
            </a:pPr>
            <a:r>
              <a:rPr dirty="0">
                <a:solidFill>
                  <a:prstClr val="black"/>
                </a:solidFill>
                <a:cs typeface="Century Schoolbook"/>
              </a:rPr>
              <a:t>5</a:t>
            </a:r>
            <a:endParaRPr>
              <a:solidFill>
                <a:prstClr val="black"/>
              </a:solidFill>
              <a:cs typeface="Century Schoolbook"/>
            </a:endParaRPr>
          </a:p>
          <a:p>
            <a:pPr marL="12700" defTabSz="914079">
              <a:lnSpc>
                <a:spcPts val="2000"/>
              </a:lnSpc>
            </a:pPr>
            <a:r>
              <a:rPr spc="-10" dirty="0">
                <a:solidFill>
                  <a:prstClr val="black"/>
                </a:solidFill>
                <a:cs typeface="Century Schoolbook"/>
              </a:rPr>
              <a:t>10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899915" y="5067300"/>
          <a:ext cx="19431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1074420"/>
              </a:tblGrid>
              <a:tr h="387096"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ncde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nclient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6904">
                <a:tc>
                  <a:txBody>
                    <a:bodyPr/>
                    <a:lstStyle/>
                    <a:p>
                      <a:pPr marL="304800">
                        <a:lnSpc>
                          <a:spcPts val="2000"/>
                        </a:lnSpc>
                        <a:spcBef>
                          <a:spcPts val="81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-1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04800">
                        <a:lnSpc>
                          <a:spcPts val="18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-1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2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04800">
                        <a:lnSpc>
                          <a:spcPts val="18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-1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3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04800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-1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4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2000"/>
                        </a:lnSpc>
                        <a:spcBef>
                          <a:spcPts val="71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12420">
                        <a:lnSpc>
                          <a:spcPts val="18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12420">
                        <a:lnSpc>
                          <a:spcPts val="18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2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12420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4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4024629" y="4751070"/>
            <a:ext cx="56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Cde1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16065" y="4737938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defTabSz="914079">
              <a:spcBef>
                <a:spcPts val="100"/>
              </a:spcBef>
            </a:pPr>
            <a:r>
              <a:rPr spc="-5" dirty="0">
                <a:solidFill>
                  <a:prstClr val="black"/>
                </a:solidFill>
                <a:cs typeface="Century Schoolbook"/>
              </a:rPr>
              <a:t>C</a:t>
            </a:r>
            <a:r>
              <a:rPr spc="-10" dirty="0">
                <a:solidFill>
                  <a:prstClr val="black"/>
                </a:solidFill>
                <a:cs typeface="Century Schoolbook"/>
              </a:rPr>
              <a:t>d</a:t>
            </a:r>
            <a:r>
              <a:rPr dirty="0">
                <a:solidFill>
                  <a:prstClr val="black"/>
                </a:solidFill>
                <a:cs typeface="Century Schoolbook"/>
              </a:rPr>
              <a:t>e2</a:t>
            </a:r>
            <a:endParaRPr>
              <a:solidFill>
                <a:prstClr val="black"/>
              </a:solidFill>
              <a:cs typeface="Century Schoolbook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47104" y="5073396"/>
            <a:ext cx="1752600" cy="1524000"/>
          </a:xfrm>
          <a:custGeom>
            <a:avLst/>
            <a:gdLst/>
            <a:ahLst/>
            <a:cxnLst/>
            <a:rect l="l" t="t" r="r" b="b"/>
            <a:pathLst>
              <a:path w="1752600" h="1524000">
                <a:moveTo>
                  <a:pt x="0" y="1523999"/>
                </a:moveTo>
                <a:lnTo>
                  <a:pt x="1752600" y="1523999"/>
                </a:lnTo>
                <a:lnTo>
                  <a:pt x="1752600" y="0"/>
                </a:lnTo>
                <a:lnTo>
                  <a:pt x="0" y="0"/>
                </a:lnTo>
                <a:lnTo>
                  <a:pt x="0" y="1523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541007" y="5067300"/>
          <a:ext cx="1752600" cy="152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065"/>
                <a:gridCol w="724535"/>
              </a:tblGrid>
              <a:tr h="387096">
                <a:tc>
                  <a:txBody>
                    <a:bodyPr/>
                    <a:lstStyle/>
                    <a:p>
                      <a:pPr marR="7747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produit</a:t>
                      </a:r>
                      <a:endParaRPr sz="1800" dirty="0">
                        <a:latin typeface="Century Schoolbook"/>
                        <a:cs typeface="Century Schoolbook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1615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qté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5841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409">
                <a:tc>
                  <a:txBody>
                    <a:bodyPr/>
                    <a:lstStyle/>
                    <a:p>
                      <a:pPr marR="90805" algn="ctr">
                        <a:lnSpc>
                          <a:spcPts val="2025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P</a:t>
                      </a:r>
                      <a:r>
                        <a:rPr sz="1800" spc="-2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ts val="1825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10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9080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R="90805" algn="ctr">
                        <a:lnSpc>
                          <a:spcPts val="17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P</a:t>
                      </a:r>
                      <a:r>
                        <a:rPr sz="1800" spc="-2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2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ts val="1735"/>
                        </a:lnSpc>
                      </a:pP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20</a:t>
                      </a:r>
                      <a:endParaRPr sz="1800" dirty="0">
                        <a:latin typeface="Century Schoolbook"/>
                        <a:cs typeface="Century Schoolbook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R="90805" algn="ctr">
                        <a:lnSpc>
                          <a:spcPts val="17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P</a:t>
                      </a:r>
                      <a:r>
                        <a:rPr sz="1800" spc="-2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3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ts val="17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5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35150">
                <a:tc>
                  <a:txBody>
                    <a:bodyPr/>
                    <a:lstStyle/>
                    <a:p>
                      <a:pPr marR="90805" algn="ctr">
                        <a:lnSpc>
                          <a:spcPts val="187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P</a:t>
                      </a:r>
                      <a:r>
                        <a:rPr sz="1800" spc="-2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4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ts val="2070"/>
                        </a:lnSpc>
                      </a:pP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10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3264408" y="4914900"/>
            <a:ext cx="5511165" cy="1524000"/>
          </a:xfrm>
          <a:custGeom>
            <a:avLst/>
            <a:gdLst/>
            <a:ahLst/>
            <a:cxnLst/>
            <a:rect l="l" t="t" r="r" b="b"/>
            <a:pathLst>
              <a:path w="5511165" h="1524000">
                <a:moveTo>
                  <a:pt x="0" y="1524000"/>
                </a:moveTo>
                <a:lnTo>
                  <a:pt x="5510784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914079"/>
            <a:endParaRPr>
              <a:solidFill>
                <a:prstClr val="black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Répartition des valeurs (fragmentation hybride)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C'est la combinaison des deux fragmentations précédentes, horizontale et verticale.</a:t>
            </a:r>
          </a:p>
          <a:p>
            <a:r>
              <a:rPr lang="fr-FR" dirty="0" smtClean="0"/>
              <a:t>Les occurrences et les attributs peuvent donc être répartis dans des partitions différentes.</a:t>
            </a:r>
          </a:p>
          <a:p>
            <a:r>
              <a:rPr lang="fr-FR" dirty="0" smtClean="0"/>
              <a:t> L'opération de partitionnement est une combinaison de projections et de sélections.</a:t>
            </a:r>
          </a:p>
          <a:p>
            <a:r>
              <a:rPr lang="fr-FR" dirty="0" smtClean="0"/>
              <a:t>•L'opération de recomposition est une combinaison de jointures et d'unions.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761" y="761"/>
            <a:ext cx="0" cy="3333750"/>
          </a:xfrm>
          <a:custGeom>
            <a:avLst/>
            <a:gdLst/>
            <a:ahLst/>
            <a:cxnLst/>
            <a:rect l="l" t="t" r="r" b="b"/>
            <a:pathLst>
              <a:path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63761" y="4401311"/>
            <a:ext cx="0" cy="965200"/>
          </a:xfrm>
          <a:custGeom>
            <a:avLst/>
            <a:gdLst/>
            <a:ahLst/>
            <a:cxnLst/>
            <a:rect l="l" t="t" r="r" b="b"/>
            <a:pathLst>
              <a:path h="965200">
                <a:moveTo>
                  <a:pt x="0" y="0"/>
                </a:moveTo>
                <a:lnTo>
                  <a:pt x="0" y="964692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63761" y="6432803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0"/>
                </a:moveTo>
                <a:lnTo>
                  <a:pt x="0" y="425957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7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7"/>
                </a:lnTo>
              </a:path>
            </a:pathLst>
          </a:custGeom>
          <a:ln w="34748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03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7"/>
                </a:lnTo>
              </a:path>
            </a:pathLst>
          </a:custGeom>
          <a:ln w="11583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0" y="6858000"/>
                </a:moveTo>
                <a:lnTo>
                  <a:pt x="304800" y="6858000"/>
                </a:lnTo>
                <a:lnTo>
                  <a:pt x="3048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5400" y="0"/>
            <a:ext cx="0" cy="5366385"/>
          </a:xfrm>
          <a:custGeom>
            <a:avLst/>
            <a:gdLst/>
            <a:ahLst/>
            <a:cxnLst/>
            <a:rect l="l" t="t" r="r" b="b"/>
            <a:pathLst>
              <a:path h="5366385">
                <a:moveTo>
                  <a:pt x="0" y="0"/>
                </a:moveTo>
                <a:lnTo>
                  <a:pt x="0" y="5366004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15400" y="6432803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0"/>
                </a:moveTo>
                <a:lnTo>
                  <a:pt x="0" y="425195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21980" y="5896582"/>
            <a:ext cx="447675" cy="1892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050" spc="-5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050" dirty="0">
                <a:solidFill>
                  <a:srgbClr val="FFFFFF"/>
                </a:solidFill>
                <a:latin typeface="Arial Black"/>
                <a:cs typeface="Arial Black"/>
              </a:rPr>
              <a:t>F37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47827" y="341756"/>
            <a:ext cx="3897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F</a:t>
            </a:r>
            <a:r>
              <a:rPr sz="2250" spc="-10" dirty="0"/>
              <a:t>RAGMENTATION</a:t>
            </a:r>
            <a:r>
              <a:rPr sz="2250" spc="45" dirty="0"/>
              <a:t> </a:t>
            </a:r>
            <a:r>
              <a:rPr sz="2800" spc="-10" dirty="0"/>
              <a:t>M</a:t>
            </a:r>
            <a:r>
              <a:rPr sz="2250" spc="-10" dirty="0"/>
              <a:t>IXTE</a:t>
            </a:r>
            <a:endParaRPr sz="2250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948428" y="864108"/>
          <a:ext cx="3503929" cy="152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750"/>
                <a:gridCol w="1206500"/>
                <a:gridCol w="1122679"/>
              </a:tblGrid>
              <a:tr h="42519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nclient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nom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ville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8803">
                <a:tc>
                  <a:txBody>
                    <a:bodyPr/>
                    <a:lstStyle/>
                    <a:p>
                      <a:pPr marL="344170">
                        <a:lnSpc>
                          <a:spcPts val="2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44170">
                        <a:lnSpc>
                          <a:spcPts val="18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2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44170">
                        <a:lnSpc>
                          <a:spcPts val="1835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3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44170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4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920" marR="158115" algn="just">
                        <a:lnSpc>
                          <a:spcPts val="1839"/>
                        </a:lnSpc>
                        <a:spcBef>
                          <a:spcPts val="103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5" dirty="0">
                          <a:latin typeface="Century Schoolbook"/>
                          <a:cs typeface="Century Schoolbook"/>
                        </a:rPr>
                        <a:t>u</a:t>
                      </a: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pont 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Martin  Martin  </a:t>
                      </a: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Smith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282575" algn="just">
                        <a:lnSpc>
                          <a:spcPts val="1839"/>
                        </a:lnSpc>
                        <a:spcBef>
                          <a:spcPts val="93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P</a:t>
                      </a: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a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ris  Lyon  P</a:t>
                      </a: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a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ris  </a:t>
                      </a: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Lille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978408" y="3314700"/>
          <a:ext cx="3504564" cy="1066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750"/>
                <a:gridCol w="1205230"/>
                <a:gridCol w="1124584"/>
              </a:tblGrid>
              <a:tr h="438911"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nclient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nom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ville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marL="342900">
                        <a:lnSpc>
                          <a:spcPts val="2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342900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3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 marR="158115">
                        <a:lnSpc>
                          <a:spcPts val="1839"/>
                        </a:lnSpc>
                        <a:spcBef>
                          <a:spcPts val="83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5" dirty="0">
                          <a:latin typeface="Century Schoolbook"/>
                          <a:cs typeface="Century Schoolbook"/>
                        </a:rPr>
                        <a:t>u</a:t>
                      </a: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pont 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Martin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2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Paris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273685">
                        <a:lnSpc>
                          <a:spcPts val="2000"/>
                        </a:lnSpc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Paris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340096" y="3334511"/>
            <a:ext cx="3505200" cy="1066800"/>
          </a:xfrm>
          <a:custGeom>
            <a:avLst/>
            <a:gdLst/>
            <a:ahLst/>
            <a:cxnLst/>
            <a:rect l="l" t="t" r="r" b="b"/>
            <a:pathLst>
              <a:path w="3505200" h="1066800">
                <a:moveTo>
                  <a:pt x="0" y="1066800"/>
                </a:moveTo>
                <a:lnTo>
                  <a:pt x="3505200" y="1066800"/>
                </a:lnTo>
                <a:lnTo>
                  <a:pt x="35052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67934" y="3391916"/>
            <a:ext cx="753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nclient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91019" y="3391916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Schoolbook"/>
                <a:cs typeface="Century Schoolbook"/>
              </a:rPr>
              <a:t>nom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36814" y="3391916"/>
            <a:ext cx="47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Schoolbook"/>
                <a:cs typeface="Century Schoolbook"/>
              </a:rPr>
              <a:t>vi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le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15100" y="3334511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308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22107" y="3334511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308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27903" y="3771900"/>
            <a:ext cx="3505200" cy="0"/>
          </a:xfrm>
          <a:custGeom>
            <a:avLst/>
            <a:gdLst/>
            <a:ahLst/>
            <a:cxnLst/>
            <a:rect l="l" t="t" r="r" b="b"/>
            <a:pathLst>
              <a:path w="3505200">
                <a:moveTo>
                  <a:pt x="35052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71565" y="3797884"/>
            <a:ext cx="381635" cy="53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00"/>
              </a:lnSpc>
              <a:spcBef>
                <a:spcPts val="100"/>
              </a:spcBef>
            </a:pPr>
            <a:r>
              <a:rPr sz="1800" dirty="0">
                <a:latin typeface="Century Schoolbook"/>
                <a:cs typeface="Century Schoolbook"/>
              </a:rPr>
              <a:t>C</a:t>
            </a:r>
            <a:r>
              <a:rPr sz="1800" spc="-10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2</a:t>
            </a:r>
            <a:endParaRPr sz="1800">
              <a:latin typeface="Century Schoolbook"/>
              <a:cs typeface="Century Schoolbook"/>
            </a:endParaRPr>
          </a:p>
          <a:p>
            <a:pPr marL="12700">
              <a:lnSpc>
                <a:spcPts val="2000"/>
              </a:lnSpc>
            </a:pPr>
            <a:r>
              <a:rPr sz="1800" dirty="0">
                <a:latin typeface="Century Schoolbook"/>
                <a:cs typeface="Century Schoolbook"/>
              </a:rPr>
              <a:t>C</a:t>
            </a:r>
            <a:r>
              <a:rPr sz="1800" spc="-10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4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51066" y="3823842"/>
            <a:ext cx="77089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425"/>
              </a:spcBef>
            </a:pPr>
            <a:r>
              <a:rPr sz="1800" dirty="0">
                <a:latin typeface="Century Schoolbook"/>
                <a:cs typeface="Century Schoolbook"/>
              </a:rPr>
              <a:t>Martin  </a:t>
            </a:r>
            <a:r>
              <a:rPr sz="1800" spc="-10" dirty="0">
                <a:latin typeface="Century Schoolbook"/>
                <a:cs typeface="Century Schoolbook"/>
              </a:rPr>
              <a:t>Smith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83093" y="3811016"/>
            <a:ext cx="55499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425"/>
              </a:spcBef>
            </a:pPr>
            <a:r>
              <a:rPr sz="1800" dirty="0">
                <a:latin typeface="Century Schoolbook"/>
                <a:cs typeface="Century Schoolbook"/>
              </a:rPr>
              <a:t>Lyon  </a:t>
            </a:r>
            <a:r>
              <a:rPr sz="1800" spc="-5" dirty="0">
                <a:latin typeface="Century Schoolbook"/>
                <a:cs typeface="Century Schoolbook"/>
              </a:rPr>
              <a:t>Lille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66842" y="520953"/>
            <a:ext cx="676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4897" y="3023361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ient1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04484" y="3023361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ient2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022092" y="2564892"/>
            <a:ext cx="3747770" cy="471170"/>
          </a:xfrm>
          <a:custGeom>
            <a:avLst/>
            <a:gdLst/>
            <a:ahLst/>
            <a:cxnLst/>
            <a:rect l="l" t="t" r="r" b="b"/>
            <a:pathLst>
              <a:path w="3747770" h="471169">
                <a:moveTo>
                  <a:pt x="2343022" y="392938"/>
                </a:moveTo>
                <a:lnTo>
                  <a:pt x="1404493" y="392938"/>
                </a:lnTo>
                <a:lnTo>
                  <a:pt x="1873758" y="470916"/>
                </a:lnTo>
                <a:lnTo>
                  <a:pt x="2343022" y="392938"/>
                </a:lnTo>
                <a:close/>
              </a:path>
              <a:path w="3747770" h="471169">
                <a:moveTo>
                  <a:pt x="2050415" y="313944"/>
                </a:moveTo>
                <a:lnTo>
                  <a:pt x="1697100" y="313944"/>
                </a:lnTo>
                <a:lnTo>
                  <a:pt x="1697100" y="392938"/>
                </a:lnTo>
                <a:lnTo>
                  <a:pt x="2050415" y="392938"/>
                </a:lnTo>
                <a:lnTo>
                  <a:pt x="2050415" y="313944"/>
                </a:lnTo>
                <a:close/>
              </a:path>
              <a:path w="3747770" h="471169">
                <a:moveTo>
                  <a:pt x="3747515" y="0"/>
                </a:moveTo>
                <a:lnTo>
                  <a:pt x="0" y="0"/>
                </a:lnTo>
                <a:lnTo>
                  <a:pt x="0" y="313944"/>
                </a:lnTo>
                <a:lnTo>
                  <a:pt x="3747515" y="313944"/>
                </a:lnTo>
                <a:lnTo>
                  <a:pt x="3747515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22092" y="2564892"/>
            <a:ext cx="3747770" cy="471170"/>
          </a:xfrm>
          <a:custGeom>
            <a:avLst/>
            <a:gdLst/>
            <a:ahLst/>
            <a:cxnLst/>
            <a:rect l="l" t="t" r="r" b="b"/>
            <a:pathLst>
              <a:path w="3747770" h="471169">
                <a:moveTo>
                  <a:pt x="0" y="0"/>
                </a:moveTo>
                <a:lnTo>
                  <a:pt x="3747515" y="0"/>
                </a:lnTo>
                <a:lnTo>
                  <a:pt x="3747515" y="313944"/>
                </a:lnTo>
                <a:lnTo>
                  <a:pt x="2050415" y="313944"/>
                </a:lnTo>
                <a:lnTo>
                  <a:pt x="2050415" y="392938"/>
                </a:lnTo>
                <a:lnTo>
                  <a:pt x="2343022" y="392938"/>
                </a:lnTo>
                <a:lnTo>
                  <a:pt x="1873758" y="470916"/>
                </a:lnTo>
                <a:lnTo>
                  <a:pt x="1404493" y="392938"/>
                </a:lnTo>
                <a:lnTo>
                  <a:pt x="1697100" y="392938"/>
                </a:lnTo>
                <a:lnTo>
                  <a:pt x="1697100" y="313944"/>
                </a:lnTo>
                <a:lnTo>
                  <a:pt x="0" y="313944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54000" y="1623415"/>
            <a:ext cx="6080125" cy="12465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000" spc="-5" dirty="0">
                <a:latin typeface="Century Schoolbook"/>
                <a:cs typeface="Century Schoolbook"/>
              </a:rPr>
              <a:t>Fragments </a:t>
            </a:r>
            <a:r>
              <a:rPr sz="2000" dirty="0">
                <a:latin typeface="Century Schoolbook"/>
                <a:cs typeface="Century Schoolbook"/>
              </a:rPr>
              <a:t>définis</a:t>
            </a:r>
            <a:r>
              <a:rPr sz="2000" spc="-65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par</a:t>
            </a:r>
            <a:endParaRPr sz="2000">
              <a:latin typeface="Century Schoolbook"/>
              <a:cs typeface="Century Schoolbook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sélection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et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projection</a:t>
            </a:r>
            <a:endParaRPr sz="200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3219450">
              <a:lnSpc>
                <a:spcPct val="100000"/>
              </a:lnSpc>
            </a:pPr>
            <a:r>
              <a:rPr sz="1800" spc="-5" dirty="0">
                <a:latin typeface="Century Schoolbook"/>
                <a:cs typeface="Century Schoolbook"/>
              </a:rPr>
              <a:t>Fragmentation</a:t>
            </a:r>
            <a:r>
              <a:rPr sz="1800" spc="-15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horizontale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1208" y="4559808"/>
            <a:ext cx="3746500" cy="469900"/>
          </a:xfrm>
          <a:custGeom>
            <a:avLst/>
            <a:gdLst/>
            <a:ahLst/>
            <a:cxnLst/>
            <a:rect l="l" t="t" r="r" b="b"/>
            <a:pathLst>
              <a:path w="3746500" h="469900">
                <a:moveTo>
                  <a:pt x="2340864" y="391668"/>
                </a:moveTo>
                <a:lnTo>
                  <a:pt x="1405128" y="391668"/>
                </a:lnTo>
                <a:lnTo>
                  <a:pt x="1872996" y="469392"/>
                </a:lnTo>
                <a:lnTo>
                  <a:pt x="2340864" y="391668"/>
                </a:lnTo>
                <a:close/>
              </a:path>
              <a:path w="3746500" h="469900">
                <a:moveTo>
                  <a:pt x="2049018" y="312928"/>
                </a:moveTo>
                <a:lnTo>
                  <a:pt x="1696974" y="312928"/>
                </a:lnTo>
                <a:lnTo>
                  <a:pt x="1696974" y="391668"/>
                </a:lnTo>
                <a:lnTo>
                  <a:pt x="2049018" y="391668"/>
                </a:lnTo>
                <a:lnTo>
                  <a:pt x="2049018" y="312928"/>
                </a:lnTo>
                <a:close/>
              </a:path>
              <a:path w="3746500" h="469900">
                <a:moveTo>
                  <a:pt x="3745991" y="0"/>
                </a:moveTo>
                <a:lnTo>
                  <a:pt x="0" y="0"/>
                </a:lnTo>
                <a:lnTo>
                  <a:pt x="0" y="312928"/>
                </a:lnTo>
                <a:lnTo>
                  <a:pt x="3745991" y="312928"/>
                </a:lnTo>
                <a:lnTo>
                  <a:pt x="3745991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1208" y="4559808"/>
            <a:ext cx="3746500" cy="469900"/>
          </a:xfrm>
          <a:custGeom>
            <a:avLst/>
            <a:gdLst/>
            <a:ahLst/>
            <a:cxnLst/>
            <a:rect l="l" t="t" r="r" b="b"/>
            <a:pathLst>
              <a:path w="3746500" h="469900">
                <a:moveTo>
                  <a:pt x="0" y="0"/>
                </a:moveTo>
                <a:lnTo>
                  <a:pt x="3745991" y="0"/>
                </a:lnTo>
                <a:lnTo>
                  <a:pt x="3745991" y="312928"/>
                </a:lnTo>
                <a:lnTo>
                  <a:pt x="2049018" y="312928"/>
                </a:lnTo>
                <a:lnTo>
                  <a:pt x="2049018" y="391668"/>
                </a:lnTo>
                <a:lnTo>
                  <a:pt x="2340864" y="391668"/>
                </a:lnTo>
                <a:lnTo>
                  <a:pt x="1872996" y="469392"/>
                </a:lnTo>
                <a:lnTo>
                  <a:pt x="1405128" y="391668"/>
                </a:lnTo>
                <a:lnTo>
                  <a:pt x="1696974" y="391668"/>
                </a:lnTo>
                <a:lnTo>
                  <a:pt x="1696974" y="312928"/>
                </a:lnTo>
                <a:lnTo>
                  <a:pt x="0" y="31292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97076" y="4563871"/>
            <a:ext cx="2593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Fragmentation</a:t>
            </a:r>
            <a:r>
              <a:rPr sz="1800" spc="-2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verticale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43500" y="4546091"/>
            <a:ext cx="3746500" cy="471170"/>
          </a:xfrm>
          <a:custGeom>
            <a:avLst/>
            <a:gdLst/>
            <a:ahLst/>
            <a:cxnLst/>
            <a:rect l="l" t="t" r="r" b="b"/>
            <a:pathLst>
              <a:path w="3746500" h="471170">
                <a:moveTo>
                  <a:pt x="2342260" y="392937"/>
                </a:moveTo>
                <a:lnTo>
                  <a:pt x="1403730" y="392937"/>
                </a:lnTo>
                <a:lnTo>
                  <a:pt x="1872996" y="470915"/>
                </a:lnTo>
                <a:lnTo>
                  <a:pt x="2342260" y="392937"/>
                </a:lnTo>
                <a:close/>
              </a:path>
              <a:path w="3746500" h="471170">
                <a:moveTo>
                  <a:pt x="2049652" y="313943"/>
                </a:moveTo>
                <a:lnTo>
                  <a:pt x="1696339" y="313943"/>
                </a:lnTo>
                <a:lnTo>
                  <a:pt x="1696339" y="392937"/>
                </a:lnTo>
                <a:lnTo>
                  <a:pt x="2049652" y="392937"/>
                </a:lnTo>
                <a:lnTo>
                  <a:pt x="2049652" y="313943"/>
                </a:lnTo>
                <a:close/>
              </a:path>
              <a:path w="3746500" h="471170">
                <a:moveTo>
                  <a:pt x="3745992" y="0"/>
                </a:moveTo>
                <a:lnTo>
                  <a:pt x="0" y="0"/>
                </a:lnTo>
                <a:lnTo>
                  <a:pt x="0" y="313943"/>
                </a:lnTo>
                <a:lnTo>
                  <a:pt x="3745992" y="313943"/>
                </a:lnTo>
                <a:lnTo>
                  <a:pt x="3745992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43500" y="4546091"/>
            <a:ext cx="3746500" cy="471170"/>
          </a:xfrm>
          <a:custGeom>
            <a:avLst/>
            <a:gdLst/>
            <a:ahLst/>
            <a:cxnLst/>
            <a:rect l="l" t="t" r="r" b="b"/>
            <a:pathLst>
              <a:path w="3746500" h="471170">
                <a:moveTo>
                  <a:pt x="0" y="0"/>
                </a:moveTo>
                <a:lnTo>
                  <a:pt x="3745992" y="0"/>
                </a:lnTo>
                <a:lnTo>
                  <a:pt x="3745992" y="313943"/>
                </a:lnTo>
                <a:lnTo>
                  <a:pt x="2049652" y="313943"/>
                </a:lnTo>
                <a:lnTo>
                  <a:pt x="2049652" y="392937"/>
                </a:lnTo>
                <a:lnTo>
                  <a:pt x="2342260" y="392937"/>
                </a:lnTo>
                <a:lnTo>
                  <a:pt x="1872996" y="470915"/>
                </a:lnTo>
                <a:lnTo>
                  <a:pt x="1403730" y="392937"/>
                </a:lnTo>
                <a:lnTo>
                  <a:pt x="1696339" y="392937"/>
                </a:lnTo>
                <a:lnTo>
                  <a:pt x="1696339" y="313943"/>
                </a:lnTo>
                <a:lnTo>
                  <a:pt x="0" y="313943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720588" y="4551426"/>
            <a:ext cx="2593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Fragmentation</a:t>
            </a:r>
            <a:r>
              <a:rPr sz="1800" spc="-2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verticale</a:t>
            </a:r>
            <a:endParaRPr sz="1800">
              <a:latin typeface="Century Schoolbook"/>
              <a:cs typeface="Century Schoolbook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330708" y="5398008"/>
          <a:ext cx="216027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5050"/>
                <a:gridCol w="1125220"/>
              </a:tblGrid>
              <a:tr h="437388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nclient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nom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412">
                <a:tc>
                  <a:txBody>
                    <a:bodyPr/>
                    <a:lstStyle/>
                    <a:p>
                      <a:pPr marL="202565">
                        <a:lnSpc>
                          <a:spcPts val="2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202565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3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 marR="76835">
                        <a:lnSpc>
                          <a:spcPts val="1839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D</a:t>
                      </a:r>
                      <a:r>
                        <a:rPr sz="1800" spc="5" dirty="0">
                          <a:latin typeface="Century Schoolbook"/>
                          <a:cs typeface="Century Schoolbook"/>
                        </a:rPr>
                        <a:t>u</a:t>
                      </a: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pont 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Martin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183895" y="5106670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</a:t>
            </a:r>
            <a:r>
              <a:rPr sz="1800" spc="-10" dirty="0">
                <a:latin typeface="Century Schoolbook"/>
                <a:cs typeface="Century Schoolbook"/>
              </a:rPr>
              <a:t>1</a:t>
            </a:r>
            <a:r>
              <a:rPr sz="1800" dirty="0">
                <a:latin typeface="Century Schoolbook"/>
                <a:cs typeface="Century Schoolbook"/>
              </a:rPr>
              <a:t>1</a:t>
            </a:r>
            <a:endParaRPr sz="1800">
              <a:latin typeface="Century Schoolbook"/>
              <a:cs typeface="Century Schoolbook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2628900" y="5398008"/>
          <a:ext cx="1817369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5050"/>
                <a:gridCol w="782319"/>
              </a:tblGrid>
              <a:tr h="437388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nclient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ville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412">
                <a:tc>
                  <a:txBody>
                    <a:bodyPr/>
                    <a:lstStyle/>
                    <a:p>
                      <a:pPr marL="203835">
                        <a:lnSpc>
                          <a:spcPts val="2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0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1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203835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3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 marR="68580">
                        <a:lnSpc>
                          <a:spcPts val="1839"/>
                        </a:lnSpc>
                        <a:spcBef>
                          <a:spcPts val="54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P</a:t>
                      </a: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a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ris  P</a:t>
                      </a: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a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ris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2622550" y="5106670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</a:t>
            </a:r>
            <a:r>
              <a:rPr sz="1800" spc="-10" dirty="0">
                <a:latin typeface="Century Schoolbook"/>
                <a:cs typeface="Century Schoolbook"/>
              </a:rPr>
              <a:t>1</a:t>
            </a:r>
            <a:r>
              <a:rPr sz="1800" dirty="0">
                <a:latin typeface="Century Schoolbook"/>
                <a:cs typeface="Century Schoolbook"/>
              </a:rPr>
              <a:t>2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67758" y="5068570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</a:t>
            </a:r>
            <a:r>
              <a:rPr sz="1800" spc="-10" dirty="0">
                <a:latin typeface="Century Schoolbook"/>
                <a:cs typeface="Century Schoolbook"/>
              </a:rPr>
              <a:t>2</a:t>
            </a:r>
            <a:r>
              <a:rPr sz="1800" dirty="0">
                <a:latin typeface="Century Schoolbook"/>
                <a:cs typeface="Century Schoolbook"/>
              </a:rPr>
              <a:t>1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118604" y="5366003"/>
            <a:ext cx="1816735" cy="1066800"/>
          </a:xfrm>
          <a:custGeom>
            <a:avLst/>
            <a:gdLst/>
            <a:ahLst/>
            <a:cxnLst/>
            <a:rect l="l" t="t" r="r" b="b"/>
            <a:pathLst>
              <a:path w="1816734" h="1066800">
                <a:moveTo>
                  <a:pt x="0" y="1066800"/>
                </a:moveTo>
                <a:lnTo>
                  <a:pt x="1816607" y="1066800"/>
                </a:lnTo>
                <a:lnTo>
                  <a:pt x="1816607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118604" y="5366003"/>
            <a:ext cx="1816735" cy="1066800"/>
          </a:xfrm>
          <a:custGeom>
            <a:avLst/>
            <a:gdLst/>
            <a:ahLst/>
            <a:cxnLst/>
            <a:rect l="l" t="t" r="r" b="b"/>
            <a:pathLst>
              <a:path w="1816734" h="1066800">
                <a:moveTo>
                  <a:pt x="0" y="1066800"/>
                </a:moveTo>
                <a:lnTo>
                  <a:pt x="1816607" y="1066800"/>
                </a:lnTo>
                <a:lnTo>
                  <a:pt x="1816607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206488" y="5424322"/>
            <a:ext cx="753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nclient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41614" y="5398414"/>
            <a:ext cx="478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vil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153400" y="5353811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0"/>
                </a:moveTo>
                <a:lnTo>
                  <a:pt x="0" y="105308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130795" y="5803391"/>
            <a:ext cx="1766570" cy="0"/>
          </a:xfrm>
          <a:custGeom>
            <a:avLst/>
            <a:gdLst/>
            <a:ahLst/>
            <a:cxnLst/>
            <a:rect l="l" t="t" r="r" b="b"/>
            <a:pathLst>
              <a:path w="1766570">
                <a:moveTo>
                  <a:pt x="1766315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4814315" y="5359908"/>
          <a:ext cx="2158364" cy="1066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5050"/>
                <a:gridCol w="1123314"/>
              </a:tblGrid>
              <a:tr h="43738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nclient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nom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412">
                <a:tc>
                  <a:txBody>
                    <a:bodyPr/>
                    <a:lstStyle/>
                    <a:p>
                      <a:pPr marL="279400">
                        <a:lnSpc>
                          <a:spcPts val="2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2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279400">
                        <a:lnSpc>
                          <a:spcPts val="2000"/>
                        </a:lnSpc>
                      </a:pPr>
                      <a:r>
                        <a:rPr sz="1800" dirty="0">
                          <a:latin typeface="Century Schoolbook"/>
                          <a:cs typeface="Century Schoolbook"/>
                        </a:rPr>
                        <a:t>C</a:t>
                      </a:r>
                      <a:r>
                        <a:rPr sz="1800" spc="-105" dirty="0">
                          <a:latin typeface="Century Schoolbook"/>
                          <a:cs typeface="Century Schoolbook"/>
                        </a:rPr>
                        <a:t> </a:t>
                      </a:r>
                      <a:r>
                        <a:rPr sz="1800" dirty="0">
                          <a:latin typeface="Century Schoolbook"/>
                          <a:cs typeface="Century Schoolbook"/>
                        </a:rPr>
                        <a:t>4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2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Century Schoolbook"/>
                          <a:cs typeface="Century Schoolbook"/>
                        </a:rPr>
                        <a:t>Martin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  <a:p>
                      <a:pPr marL="285750">
                        <a:lnSpc>
                          <a:spcPts val="2000"/>
                        </a:lnSpc>
                      </a:pPr>
                      <a:r>
                        <a:rPr sz="1800" spc="-10" dirty="0">
                          <a:latin typeface="Century Schoolbook"/>
                          <a:cs typeface="Century Schoolbook"/>
                        </a:rPr>
                        <a:t>Smith</a:t>
                      </a:r>
                      <a:endParaRPr sz="1800">
                        <a:latin typeface="Century Schoolbook"/>
                        <a:cs typeface="Century Schoolbook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7106539" y="5068570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</a:t>
            </a:r>
            <a:r>
              <a:rPr sz="1800" spc="-10" dirty="0">
                <a:latin typeface="Century Schoolbook"/>
                <a:cs typeface="Century Schoolbook"/>
              </a:rPr>
              <a:t>2</a:t>
            </a:r>
            <a:r>
              <a:rPr sz="1800" dirty="0">
                <a:latin typeface="Century Schoolbook"/>
                <a:cs typeface="Century Schoolbook"/>
              </a:rPr>
              <a:t>2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398766" y="5805322"/>
            <a:ext cx="38163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00"/>
              </a:lnSpc>
              <a:spcBef>
                <a:spcPts val="100"/>
              </a:spcBef>
            </a:pPr>
            <a:r>
              <a:rPr sz="1800" dirty="0">
                <a:latin typeface="Century Schoolbook"/>
                <a:cs typeface="Century Schoolbook"/>
              </a:rPr>
              <a:t>C</a:t>
            </a:r>
            <a:r>
              <a:rPr sz="1800" spc="-10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2</a:t>
            </a:r>
            <a:endParaRPr sz="1800">
              <a:latin typeface="Century Schoolbook"/>
              <a:cs typeface="Century Schoolbook"/>
            </a:endParaRPr>
          </a:p>
          <a:p>
            <a:pPr marL="12700">
              <a:lnSpc>
                <a:spcPts val="2000"/>
              </a:lnSpc>
            </a:pPr>
            <a:r>
              <a:rPr sz="1800" dirty="0">
                <a:latin typeface="Century Schoolbook"/>
                <a:cs typeface="Century Schoolbook"/>
              </a:rPr>
              <a:t>C</a:t>
            </a:r>
            <a:r>
              <a:rPr sz="1800" spc="-10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4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262619" y="5818123"/>
            <a:ext cx="55499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425"/>
              </a:spcBef>
            </a:pPr>
            <a:r>
              <a:rPr sz="1800" dirty="0">
                <a:latin typeface="Century Schoolbook"/>
                <a:cs typeface="Century Schoolbook"/>
              </a:rPr>
              <a:t>Lyon  </a:t>
            </a:r>
            <a:r>
              <a:rPr sz="1800" spc="-5" dirty="0">
                <a:latin typeface="Century Schoolbook"/>
                <a:cs typeface="Century Schoolbook"/>
              </a:rPr>
              <a:t>Lille</a:t>
            </a:r>
            <a:endParaRPr sz="1800">
              <a:latin typeface="Century Schoolbook"/>
              <a:cs typeface="Century Schoolbook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spc="-10" dirty="0" smtClean="0"/>
              <a:t>F</a:t>
            </a:r>
            <a:r>
              <a:rPr lang="fr-FR" sz="3200" spc="-10" dirty="0" smtClean="0"/>
              <a:t>RAGMENTATION</a:t>
            </a:r>
            <a:r>
              <a:rPr lang="fr-FR" sz="3200" spc="45" dirty="0" smtClean="0"/>
              <a:t> </a:t>
            </a:r>
            <a:r>
              <a:rPr lang="fr-FR" sz="3600" spc="-10" dirty="0" smtClean="0"/>
              <a:t>M</a:t>
            </a:r>
            <a:r>
              <a:rPr lang="fr-FR" sz="3200" spc="-10" dirty="0" smtClean="0"/>
              <a:t>IXTE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686800" cy="4873752"/>
          </a:xfrm>
        </p:spPr>
        <p:txBody>
          <a:bodyPr/>
          <a:lstStyle/>
          <a:p>
            <a:r>
              <a:rPr lang="fr-FR" dirty="0" smtClean="0"/>
              <a:t>Relation </a:t>
            </a:r>
            <a:r>
              <a:rPr lang="fr-FR" i="1" dirty="0" smtClean="0"/>
              <a:t>Cli11 π[</a:t>
            </a:r>
            <a:r>
              <a:rPr lang="fr-FR" i="1" dirty="0" err="1" smtClean="0"/>
              <a:t>NoClient</a:t>
            </a:r>
            <a:r>
              <a:rPr lang="fr-FR" i="1" dirty="0" smtClean="0"/>
              <a:t>, Nom] (σ[Ville=Paris] Client)</a:t>
            </a:r>
          </a:p>
          <a:p>
            <a:r>
              <a:rPr lang="fr-FR" dirty="0" smtClean="0"/>
              <a:t>Relation </a:t>
            </a:r>
            <a:r>
              <a:rPr lang="fr-FR" i="1" dirty="0" smtClean="0"/>
              <a:t>Cli12 π[</a:t>
            </a:r>
            <a:r>
              <a:rPr lang="fr-FR" i="1" dirty="0" err="1" smtClean="0"/>
              <a:t>NoClient</a:t>
            </a:r>
            <a:r>
              <a:rPr lang="fr-FR" i="1" dirty="0" smtClean="0"/>
              <a:t>, Ville] (σ[Ville=Paris]Client)</a:t>
            </a:r>
          </a:p>
          <a:p>
            <a:r>
              <a:rPr lang="fr-FR" dirty="0" smtClean="0"/>
              <a:t>Relation </a:t>
            </a:r>
            <a:r>
              <a:rPr lang="fr-FR" i="1" dirty="0" smtClean="0"/>
              <a:t>Cli21 </a:t>
            </a:r>
            <a:r>
              <a:rPr lang="el-GR" i="1" dirty="0" smtClean="0"/>
              <a:t>π[</a:t>
            </a:r>
            <a:r>
              <a:rPr lang="fr-FR" i="1" dirty="0" err="1" smtClean="0"/>
              <a:t>NoClient</a:t>
            </a:r>
            <a:r>
              <a:rPr lang="fr-FR" i="1" dirty="0" smtClean="0"/>
              <a:t>, Nom] (σ[Ville&lt;&gt;Paris] Client)</a:t>
            </a:r>
          </a:p>
          <a:p>
            <a:r>
              <a:rPr lang="fr-FR" dirty="0" smtClean="0"/>
              <a:t>Relation </a:t>
            </a:r>
            <a:r>
              <a:rPr lang="fr-FR" i="1" dirty="0" smtClean="0"/>
              <a:t>Cli22 </a:t>
            </a:r>
            <a:r>
              <a:rPr lang="el-GR" i="1" dirty="0" smtClean="0"/>
              <a:t>π[</a:t>
            </a:r>
            <a:r>
              <a:rPr lang="fr-FR" i="1" dirty="0" err="1" smtClean="0"/>
              <a:t>NoClient</a:t>
            </a:r>
            <a:r>
              <a:rPr lang="fr-FR" i="1" dirty="0" smtClean="0"/>
              <a:t>, Ville] (σ[Ville&lt;&gt;Paris] Client)</a:t>
            </a:r>
          </a:p>
          <a:p>
            <a:endParaRPr lang="fr-FR" dirty="0" smtClean="0"/>
          </a:p>
          <a:p>
            <a:r>
              <a:rPr lang="fr-FR" dirty="0" smtClean="0"/>
              <a:t>La relation </a:t>
            </a:r>
            <a:r>
              <a:rPr lang="fr-FR" i="1" dirty="0" smtClean="0"/>
              <a:t>Client est obtenue avec : (Cli11 </a:t>
            </a:r>
            <a:r>
              <a:rPr lang="fr-FR" dirty="0" smtClean="0">
                <a:solidFill>
                  <a:prstClr val="black"/>
                </a:solidFill>
              </a:rPr>
              <a:t>⋈</a:t>
            </a:r>
            <a:r>
              <a:rPr lang="fr-FR" i="1" dirty="0" smtClean="0"/>
              <a:t> Cli12) ∪ (Cli21 </a:t>
            </a:r>
            <a:r>
              <a:rPr lang="fr-FR" dirty="0" smtClean="0">
                <a:solidFill>
                  <a:prstClr val="black"/>
                </a:solidFill>
              </a:rPr>
              <a:t>⋈</a:t>
            </a:r>
            <a:r>
              <a:rPr lang="fr-FR" i="1" dirty="0" smtClean="0"/>
              <a:t> Cli22)</a:t>
            </a:r>
          </a:p>
          <a:p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Allocation des fragments</a:t>
            </a:r>
            <a:endParaRPr lang="fr-FR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smtClean="0"/>
              <a:t>Allocation de fragments aux sites</a:t>
            </a:r>
            <a:br>
              <a:rPr lang="fr-FR" b="1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smtClean="0"/>
              <a:t>Non-Dupliquée :</a:t>
            </a:r>
          </a:p>
          <a:p>
            <a:pPr lvl="1"/>
            <a:r>
              <a:rPr lang="fr-FR" smtClean="0"/>
              <a:t> </a:t>
            </a:r>
            <a:r>
              <a:rPr lang="fr-FR" b="1" smtClean="0"/>
              <a:t>partitionnée </a:t>
            </a:r>
          </a:p>
          <a:p>
            <a:pPr lvl="1"/>
            <a:r>
              <a:rPr lang="fr-FR" b="1" smtClean="0"/>
              <a:t> chaque fragment nʼexiste que sur un seul site</a:t>
            </a:r>
          </a:p>
          <a:p>
            <a:r>
              <a:rPr lang="fr-FR" b="1" smtClean="0"/>
              <a:t>Dupliquée :</a:t>
            </a:r>
          </a:p>
          <a:p>
            <a:pPr lvl="1"/>
            <a:r>
              <a:rPr lang="fr-FR" smtClean="0"/>
              <a:t> chaque fragment est </a:t>
            </a:r>
            <a:r>
              <a:rPr lang="fr-FR" b="1" smtClean="0"/>
              <a:t>sur plus dʼun site</a:t>
            </a:r>
          </a:p>
          <a:p>
            <a:pPr lvl="1"/>
            <a:r>
              <a:rPr lang="fr-FR" smtClean="0"/>
              <a:t> maintien de la </a:t>
            </a:r>
            <a:r>
              <a:rPr lang="fr-FR" b="1" smtClean="0"/>
              <a:t>cohérence des copies multiples</a:t>
            </a:r>
            <a:endParaRPr lang="fr-FR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4149080"/>
            <a:ext cx="4680520" cy="2051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Processus d’allocation des fragments.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L’affectation des fragments sur les sites est décidée en fonction de l’origine prévue des requêtes qui ont servi à la fragmentation. </a:t>
            </a:r>
          </a:p>
          <a:p>
            <a:r>
              <a:rPr lang="fr-FR" dirty="0" smtClean="0"/>
              <a:t>Le but est de placer les fragments pour minimiser les transferts de données entre les sites. </a:t>
            </a:r>
          </a:p>
          <a:p>
            <a:r>
              <a:rPr lang="fr-FR" dirty="0" smtClean="0"/>
              <a:t>L’allocation peut se faire avec </a:t>
            </a:r>
            <a:r>
              <a:rPr lang="fr-FR" b="1" dirty="0" smtClean="0"/>
              <a:t>réplication ou sans réplication. </a:t>
            </a:r>
          </a:p>
          <a:p>
            <a:r>
              <a:rPr lang="fr-FR" b="1" dirty="0" smtClean="0"/>
              <a:t>La réplication favorise les performances des requêtes et augmente la disponibilité des données, mais est coûteuse en mise à jour des différents fragments.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Problème d’allocation: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fr-FR" dirty="0" smtClean="0"/>
          </a:p>
          <a:p>
            <a:r>
              <a:rPr lang="fr-FR" b="1" u="sng" dirty="0" smtClean="0"/>
              <a:t>Entrées: </a:t>
            </a:r>
          </a:p>
          <a:p>
            <a:pPr lvl="1"/>
            <a:r>
              <a:rPr lang="fr-FR" sz="2400" dirty="0" smtClean="0"/>
              <a:t>􀂃 F = {F1, F2, …, Fn} - ensemble de fragments </a:t>
            </a:r>
          </a:p>
          <a:p>
            <a:pPr lvl="1"/>
            <a:r>
              <a:rPr lang="fr-FR" sz="2400" dirty="0" smtClean="0"/>
              <a:t>􀂃 S = {S1, S2, …, </a:t>
            </a:r>
            <a:r>
              <a:rPr lang="fr-FR" sz="2400" dirty="0" err="1" smtClean="0"/>
              <a:t>Sm</a:t>
            </a:r>
            <a:r>
              <a:rPr lang="fr-FR" sz="2400" dirty="0" smtClean="0"/>
              <a:t>} - ensemble de sites </a:t>
            </a:r>
          </a:p>
          <a:p>
            <a:pPr lvl="1"/>
            <a:r>
              <a:rPr lang="fr-FR" sz="2400" dirty="0" smtClean="0"/>
              <a:t>􀂃 Q = {Q1, Q2, …, </a:t>
            </a:r>
            <a:r>
              <a:rPr lang="fr-FR" sz="2400" dirty="0" err="1" smtClean="0"/>
              <a:t>Ql</a:t>
            </a:r>
            <a:r>
              <a:rPr lang="fr-FR" sz="2400" dirty="0" smtClean="0"/>
              <a:t>} - ensemble de requêtes </a:t>
            </a:r>
          </a:p>
          <a:p>
            <a:endParaRPr lang="fr-FR" dirty="0" smtClean="0"/>
          </a:p>
          <a:p>
            <a:pPr lvl="1"/>
            <a:r>
              <a:rPr lang="fr-FR" sz="2400" dirty="0" smtClean="0"/>
              <a:t>⇒ </a:t>
            </a:r>
            <a:r>
              <a:rPr lang="fr-FR" sz="2400" b="1" dirty="0" smtClean="0"/>
              <a:t>Le problème d’allocation consiste à trouver une distribution optimale de F sur S afin d’améliorer la performance (temps de réponse, données transférées, etc.) 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Problème d’allocation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Pour assurer l’optimalité, nous devons respecter les deux conditions:</a:t>
            </a:r>
          </a:p>
          <a:p>
            <a:endParaRPr lang="fr-FR" dirty="0" smtClean="0"/>
          </a:p>
          <a:p>
            <a:pPr lvl="1"/>
            <a:r>
              <a:rPr lang="fr-FR" dirty="0" smtClean="0"/>
              <a:t>1. Le coût minimal 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2.La performance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Problème d’allocation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fr-FR" dirty="0" smtClean="0"/>
              <a:t>1. Le coût minimal</a:t>
            </a:r>
          </a:p>
          <a:p>
            <a:pPr lvl="1">
              <a:buNone/>
            </a:pPr>
            <a:r>
              <a:rPr lang="fr-FR" dirty="0" smtClean="0"/>
              <a:t>Les coûts traités dans cette condition sont:</a:t>
            </a:r>
          </a:p>
          <a:p>
            <a:pPr lvl="2"/>
            <a:r>
              <a:rPr lang="fr-FR" dirty="0" smtClean="0"/>
              <a:t> Le coût de stockage de chaque fragment Fi sur le site </a:t>
            </a:r>
            <a:r>
              <a:rPr lang="fr-FR" dirty="0" err="1" smtClean="0"/>
              <a:t>Sj</a:t>
            </a:r>
            <a:r>
              <a:rPr lang="fr-FR" dirty="0" smtClean="0"/>
              <a:t>;</a:t>
            </a:r>
          </a:p>
          <a:p>
            <a:pPr lvl="2"/>
            <a:r>
              <a:rPr lang="fr-FR" dirty="0" smtClean="0"/>
              <a:t> Le coût de consultation de Fi localisé sur </a:t>
            </a:r>
            <a:r>
              <a:rPr lang="fr-FR" dirty="0" err="1" smtClean="0"/>
              <a:t>Sj</a:t>
            </a:r>
            <a:r>
              <a:rPr lang="fr-FR" dirty="0" smtClean="0"/>
              <a:t>;</a:t>
            </a:r>
          </a:p>
          <a:p>
            <a:pPr lvl="2"/>
            <a:r>
              <a:rPr lang="fr-FR" dirty="0" smtClean="0"/>
              <a:t> Le coût de mise à jour de Fi sur tous les sites où il est stocké;</a:t>
            </a:r>
          </a:p>
          <a:p>
            <a:pPr lvl="2"/>
            <a:r>
              <a:rPr lang="fr-FR" dirty="0" smtClean="0"/>
              <a:t> Le coût de communication.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Problème d’allocation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2. La performance</a:t>
            </a:r>
          </a:p>
          <a:p>
            <a:pPr>
              <a:buNone/>
            </a:pPr>
            <a:r>
              <a:rPr lang="fr-FR" dirty="0" smtClean="0"/>
              <a:t>Dans cette condition nous essayons de:</a:t>
            </a:r>
          </a:p>
          <a:p>
            <a:pPr lvl="1"/>
            <a:r>
              <a:rPr lang="fr-FR" dirty="0" smtClean="0"/>
              <a:t> Minimiser le temps de réponse;</a:t>
            </a:r>
          </a:p>
          <a:p>
            <a:pPr lvl="1"/>
            <a:r>
              <a:rPr lang="fr-FR" dirty="0" smtClean="0"/>
              <a:t> Maximiser le débit de chaque site.</a:t>
            </a:r>
          </a:p>
          <a:p>
            <a:r>
              <a:rPr lang="fr-FR" dirty="0" smtClean="0"/>
              <a:t>Remarque:</a:t>
            </a:r>
          </a:p>
          <a:p>
            <a:r>
              <a:rPr lang="fr-FR" dirty="0" smtClean="0"/>
              <a:t>Suite à la complexité du problème, on ne peut pas satisfaire toutes ces conditions. </a:t>
            </a:r>
          </a:p>
          <a:p>
            <a:r>
              <a:rPr lang="fr-FR" dirty="0" smtClean="0"/>
              <a:t>Les modèles existants essayent de satisfaire les conditions qui les intéresses.</a:t>
            </a:r>
            <a:endParaRPr lang="fr-FR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Problème d’allocation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u="sng" dirty="0" smtClean="0"/>
              <a:t>Autres contraintes </a:t>
            </a:r>
          </a:p>
          <a:p>
            <a:pPr lvl="2"/>
            <a:r>
              <a:rPr lang="fr-FR" dirty="0" smtClean="0"/>
              <a:t>o Stockage, équilibrage de la charge entre les sites </a:t>
            </a:r>
          </a:p>
          <a:p>
            <a:endParaRPr lang="fr-FR" dirty="0" smtClean="0"/>
          </a:p>
          <a:p>
            <a:r>
              <a:rPr lang="fr-FR" b="1" dirty="0" smtClean="0"/>
              <a:t>Donc on a un Problème </a:t>
            </a:r>
            <a:r>
              <a:rPr lang="fr-FR" b="1" u="sng" dirty="0" smtClean="0"/>
              <a:t>NP-complet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/>
              <a:t>Algortihmes</a:t>
            </a:r>
            <a:r>
              <a:rPr lang="fr-FR" b="1" dirty="0" smtClean="0"/>
              <a:t> d’allocation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Il existe plusieurs algorithmes, nous présentons ici l’algorithme « </a:t>
            </a:r>
            <a:r>
              <a:rPr lang="fr-FR" b="1" dirty="0" smtClean="0"/>
              <a:t>BEST FIT » </a:t>
            </a:r>
          </a:p>
          <a:p>
            <a:r>
              <a:rPr lang="fr-FR" b="1" u="sng" dirty="0" smtClean="0"/>
              <a:t>Principe </a:t>
            </a:r>
          </a:p>
          <a:p>
            <a:pPr lvl="1"/>
            <a:r>
              <a:rPr lang="fr-FR" dirty="0" smtClean="0"/>
              <a:t> Permet de déterminer le site sur lequel stocker le fragment, là où l’on maximise les traitements locaux </a:t>
            </a:r>
          </a:p>
          <a:p>
            <a:pPr lvl="1"/>
            <a:r>
              <a:rPr lang="fr-FR" dirty="0" smtClean="0"/>
              <a:t> n’intègre pas le problème de la réplication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/>
              <a:t>Algortihmes</a:t>
            </a:r>
            <a:r>
              <a:rPr lang="fr-FR" b="1" dirty="0" smtClean="0"/>
              <a:t> d’allocation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4873752"/>
          </a:xfrm>
        </p:spPr>
        <p:txBody>
          <a:bodyPr/>
          <a:lstStyle/>
          <a:p>
            <a:r>
              <a:rPr lang="fr-FR" b="1" i="1" u="sng" dirty="0" smtClean="0"/>
              <a:t>Exemple </a:t>
            </a:r>
          </a:p>
          <a:p>
            <a:r>
              <a:rPr lang="fr-FR" i="1" dirty="0" err="1" smtClean="0"/>
              <a:t>Soientt</a:t>
            </a:r>
            <a:r>
              <a:rPr lang="fr-FR" i="1" dirty="0" smtClean="0"/>
              <a:t> les informations suivantes relatives aux différents fragments : </a:t>
            </a:r>
          </a:p>
          <a:p>
            <a:endParaRPr lang="fr-F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8" y="2708921"/>
            <a:ext cx="4848225" cy="1847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35" y="4600641"/>
            <a:ext cx="4490095" cy="225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/>
              <a:t>Algortihmes</a:t>
            </a:r>
            <a:r>
              <a:rPr lang="fr-FR" b="1" dirty="0" smtClean="0"/>
              <a:t> d’allocation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Si on récapitule les deux tableaux dans un seul tableau de synthèse on aura : </a:t>
            </a:r>
            <a:endParaRPr lang="fr-F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82" y="2564914"/>
            <a:ext cx="6179443" cy="376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/>
              <a:t>Algortihmes</a:t>
            </a:r>
            <a:r>
              <a:rPr lang="fr-FR" b="1" dirty="0" smtClean="0"/>
              <a:t> d’allocation 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Selon les données de la colonne « Total pondéré » on a : </a:t>
            </a:r>
          </a:p>
          <a:p>
            <a:r>
              <a:rPr lang="en-US" dirty="0" smtClean="0"/>
              <a:t>􀂪 </a:t>
            </a:r>
            <a:r>
              <a:rPr lang="en-US" b="1" dirty="0" smtClean="0"/>
              <a:t>On </a:t>
            </a:r>
            <a:r>
              <a:rPr lang="en-US" b="1" dirty="0" err="1" smtClean="0"/>
              <a:t>stocke</a:t>
            </a:r>
            <a:r>
              <a:rPr lang="en-US" b="1" dirty="0" smtClean="0"/>
              <a:t> R1 </a:t>
            </a:r>
            <a:r>
              <a:rPr lang="en-US" b="1" dirty="0" err="1" smtClean="0"/>
              <a:t>sur</a:t>
            </a:r>
            <a:r>
              <a:rPr lang="en-US" b="1" dirty="0" smtClean="0"/>
              <a:t> S4 </a:t>
            </a:r>
          </a:p>
          <a:p>
            <a:r>
              <a:rPr lang="en-US" dirty="0" smtClean="0"/>
              <a:t>􀂪 </a:t>
            </a:r>
            <a:r>
              <a:rPr lang="en-US" b="1" dirty="0" smtClean="0"/>
              <a:t>On </a:t>
            </a:r>
            <a:r>
              <a:rPr lang="en-US" b="1" dirty="0" err="1" smtClean="0"/>
              <a:t>stocke</a:t>
            </a:r>
            <a:r>
              <a:rPr lang="en-US" b="1" dirty="0" smtClean="0"/>
              <a:t> R2 </a:t>
            </a:r>
            <a:r>
              <a:rPr lang="en-US" b="1" dirty="0" err="1" smtClean="0"/>
              <a:t>sur</a:t>
            </a:r>
            <a:r>
              <a:rPr lang="en-US" b="1" dirty="0" smtClean="0"/>
              <a:t> S5 </a:t>
            </a:r>
          </a:p>
          <a:p>
            <a:r>
              <a:rPr lang="fr-FR" dirty="0" smtClean="0"/>
              <a:t>􀂪 </a:t>
            </a:r>
            <a:r>
              <a:rPr lang="fr-FR" b="1" dirty="0" smtClean="0"/>
              <a:t>On stocke R3 sur S2 ou S4 (S2 pour mieux répartir)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Urbai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el">
  <a:themeElements>
    <a:clrScheme name="Urbai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riel">
  <a:themeElements>
    <a:clrScheme name="Urbai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2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3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4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5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6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7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8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9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0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1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2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3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4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5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6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7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8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19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ppt/theme/themeOverride20.xml><?xml version="1.0" encoding="utf-8"?>
<a:themeOverride xmlns:a="http://schemas.openxmlformats.org/drawingml/2006/main">
  <a:clrScheme name="Urbai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350</TotalTime>
  <Words>3132</Words>
  <Application>Microsoft Office PowerPoint</Application>
  <PresentationFormat>Affichage à l'écran (4:3)</PresentationFormat>
  <Paragraphs>624</Paragraphs>
  <Slides>56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56</vt:i4>
      </vt:variant>
    </vt:vector>
  </HeadingPairs>
  <TitlesOfParts>
    <vt:vector size="59" baseType="lpstr">
      <vt:lpstr>Oriel</vt:lpstr>
      <vt:lpstr>1_Oriel</vt:lpstr>
      <vt:lpstr>2_Oriel</vt:lpstr>
      <vt:lpstr>    Chapitre1: Environnement distribué: concepts de base</vt:lpstr>
      <vt:lpstr>Contexte et Motivations</vt:lpstr>
      <vt:lpstr>Contexte et Motivations</vt:lpstr>
      <vt:lpstr>Définitions</vt:lpstr>
      <vt:lpstr>Evolution des SI</vt:lpstr>
      <vt:lpstr>Evolution des SI</vt:lpstr>
      <vt:lpstr>Evolution des SI</vt:lpstr>
      <vt:lpstr>Evolution des SI</vt:lpstr>
      <vt:lpstr>Pourquoi distribuer</vt:lpstr>
      <vt:lpstr>Pourquoi Distribuer </vt:lpstr>
      <vt:lpstr>Pourquoi Distribuer </vt:lpstr>
      <vt:lpstr>Principes fondamentaux</vt:lpstr>
      <vt:lpstr>Principes fondamentaux</vt:lpstr>
      <vt:lpstr>Principes fondamentaux </vt:lpstr>
      <vt:lpstr>Principes fondamentaux </vt:lpstr>
      <vt:lpstr>Avantages de la répartition des bases de données </vt:lpstr>
      <vt:lpstr>Inconvénients</vt:lpstr>
      <vt:lpstr>Conception de BD réparties</vt:lpstr>
      <vt:lpstr>Conception de BD répartie</vt:lpstr>
      <vt:lpstr>Conception de BD répartie</vt:lpstr>
      <vt:lpstr>Conception d’une base de données répartie </vt:lpstr>
      <vt:lpstr>Conception d’une base de données répartie </vt:lpstr>
      <vt:lpstr>Conception d’une base de données répartie </vt:lpstr>
      <vt:lpstr>Conception d’une base de données répartie </vt:lpstr>
      <vt:lpstr>Schémas d’une BD répartie</vt:lpstr>
      <vt:lpstr>CONTEXTE DÉCENTRALISÉ</vt:lpstr>
      <vt:lpstr>CONTEXTE DÉCENTRALISÉ</vt:lpstr>
      <vt:lpstr>MIGRATION</vt:lpstr>
      <vt:lpstr>RÉPLICATION/DUPLICATION</vt:lpstr>
      <vt:lpstr>Fragmentation/DÉCOMPOSITION</vt:lpstr>
      <vt:lpstr>Diapositive 31</vt:lpstr>
      <vt:lpstr>Définition de la fragmentation</vt:lpstr>
      <vt:lpstr>Les règles de fragmentation </vt:lpstr>
      <vt:lpstr>Interet de la fragmentation</vt:lpstr>
      <vt:lpstr>Intérêt de la fragmentation</vt:lpstr>
      <vt:lpstr>Techniques de Fragmentation </vt:lpstr>
      <vt:lpstr>Fragmentation horizontale </vt:lpstr>
      <vt:lpstr>Fragmentation horizontale </vt:lpstr>
      <vt:lpstr>Fragmentation verticale</vt:lpstr>
      <vt:lpstr>fragmentation verticale </vt:lpstr>
      <vt:lpstr>FRAGMENTATION VERTICALE</vt:lpstr>
      <vt:lpstr>Répartition des valeurs (fragmentation hybride) </vt:lpstr>
      <vt:lpstr>FRAGMENTATION MIXTE</vt:lpstr>
      <vt:lpstr>FRAGMENTATION MIXTE</vt:lpstr>
      <vt:lpstr>Diapositive 45</vt:lpstr>
      <vt:lpstr>Allocation de fragments aux sites </vt:lpstr>
      <vt:lpstr>Processus d’allocation des fragments.</vt:lpstr>
      <vt:lpstr>Problème d’allocation:  </vt:lpstr>
      <vt:lpstr>Problème d’allocation </vt:lpstr>
      <vt:lpstr>Problème d’allocation </vt:lpstr>
      <vt:lpstr>Problème d’allocation  </vt:lpstr>
      <vt:lpstr>Problème d’allocation  </vt:lpstr>
      <vt:lpstr>Algortihmes d’allocation  </vt:lpstr>
      <vt:lpstr>Algortihmes d’allocation  </vt:lpstr>
      <vt:lpstr>Algortihmes d’allocation  </vt:lpstr>
      <vt:lpstr>Algortihmes d’allocation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Chapitre1: Environnement distribué</dc:title>
  <dc:creator>Soumaya</dc:creator>
  <cp:lastModifiedBy>Soumaya</cp:lastModifiedBy>
  <cp:revision>17</cp:revision>
  <dcterms:created xsi:type="dcterms:W3CDTF">2020-10-16T00:43:53Z</dcterms:created>
  <dcterms:modified xsi:type="dcterms:W3CDTF">2021-01-07T19:28:58Z</dcterms:modified>
</cp:coreProperties>
</file>