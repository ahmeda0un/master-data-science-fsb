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theme/themeOverride12.xml" ContentType="application/vnd.openxmlformats-officedocument.themeOverr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Override5.xml" ContentType="application/vnd.openxmlformats-officedocument.themeOverr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theme/themeOverride1.xml" ContentType="application/vnd.openxmlformats-officedocument.themeOverr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theme/themeOverride17.xml" ContentType="application/vnd.openxmlformats-officedocument.themeOverr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heme/themeOverride15.xml" ContentType="application/vnd.openxmlformats-officedocument.themeOverr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Override13.xml" ContentType="application/vnd.openxmlformats-officedocument.themeOverrid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theme/themeOverride8.xml" ContentType="application/vnd.openxmlformats-officedocument.themeOverride+xml"/>
  <Override PartName="/ppt/theme/themeOverride11.xml" ContentType="application/vnd.openxmlformats-officedocument.themeOverr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Override6.xml" ContentType="application/vnd.openxmlformats-officedocument.themeOverr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theme/themeOverride4.xml" ContentType="application/vnd.openxmlformats-officedocument.themeOverr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heme/themeOverride16.xml" ContentType="application/vnd.openxmlformats-officedocument.themeOverr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theme/themeOverride9.xml" ContentType="application/vnd.openxmlformats-officedocument.themeOverride+xml"/>
  <Override PartName="/ppt/theme/themeOverride14.xml" ContentType="application/vnd.openxmlformats-officedocument.themeOverr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heme/themeOverride7.xml" ContentType="application/vnd.openxmlformats-officedocument.themeOverr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theme/themeOverride10.xml" ContentType="application/vnd.openxmlformats-officedocument.themeOverr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Layouts/slideLayout15.xml" ContentType="application/vnd.openxmlformats-officedocument.presentationml.slideLayout+xml"/>
  <Override PartName="/ppt/theme/themeOverride3.xml" ContentType="application/vnd.openxmlformats-officedocument.themeOverr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58"/>
  </p:notesMasterIdLst>
  <p:sldIdLst>
    <p:sldId id="256"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93" r:id="rId24"/>
    <p:sldId id="302" r:id="rId25"/>
    <p:sldId id="304" r:id="rId26"/>
    <p:sldId id="305" r:id="rId27"/>
    <p:sldId id="306" r:id="rId28"/>
    <p:sldId id="307" r:id="rId29"/>
    <p:sldId id="308" r:id="rId30"/>
    <p:sldId id="297" r:id="rId31"/>
    <p:sldId id="296" r:id="rId32"/>
    <p:sldId id="295" r:id="rId33"/>
    <p:sldId id="341" r:id="rId34"/>
    <p:sldId id="342" r:id="rId35"/>
    <p:sldId id="338" r:id="rId36"/>
    <p:sldId id="339" r:id="rId37"/>
    <p:sldId id="340" r:id="rId38"/>
    <p:sldId id="279" r:id="rId39"/>
    <p:sldId id="280" r:id="rId40"/>
    <p:sldId id="281" r:id="rId41"/>
    <p:sldId id="282" r:id="rId42"/>
    <p:sldId id="283" r:id="rId43"/>
    <p:sldId id="284" r:id="rId44"/>
    <p:sldId id="285" r:id="rId45"/>
    <p:sldId id="287" r:id="rId46"/>
    <p:sldId id="288" r:id="rId47"/>
    <p:sldId id="289" r:id="rId48"/>
    <p:sldId id="290" r:id="rId49"/>
    <p:sldId id="291" r:id="rId50"/>
    <p:sldId id="316" r:id="rId51"/>
    <p:sldId id="317" r:id="rId52"/>
    <p:sldId id="343" r:id="rId53"/>
    <p:sldId id="318" r:id="rId54"/>
    <p:sldId id="332" r:id="rId55"/>
    <p:sldId id="319" r:id="rId56"/>
    <p:sldId id="320" r:id="rId5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82079" autoAdjust="0"/>
  </p:normalViewPr>
  <p:slideViewPr>
    <p:cSldViewPr>
      <p:cViewPr varScale="1">
        <p:scale>
          <a:sx n="55" d="100"/>
          <a:sy n="55" d="100"/>
        </p:scale>
        <p:origin x="-17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907F6F-99C4-4AC2-8DA8-F6A38557A23D}" type="datetimeFigureOut">
              <a:rPr lang="fr-FR" smtClean="0"/>
              <a:pPr/>
              <a:t>11/10/2024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13E841-51E9-42EE-B362-F400B3AEDCBB}"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b="0" i="0" kern="1200" smtClean="0">
                <a:solidFill>
                  <a:schemeClr val="tx1"/>
                </a:solidFill>
                <a:latin typeface="+mn-lt"/>
                <a:ea typeface="+mn-ea"/>
                <a:cs typeface="+mn-cs"/>
              </a:rPr>
              <a:t>Contrairement au MCD (qui représente les données indépendamment de la façon dont elles seront techniquement stockées), le MLD (Modèle Logique de Données) organise les données selon des structures logiques (comme les tables, les colonnes et les clés primaires).</a:t>
            </a:r>
            <a:endParaRPr lang="fr-FR"/>
          </a:p>
        </p:txBody>
      </p:sp>
      <p:sp>
        <p:nvSpPr>
          <p:cNvPr id="4" name="Espace réservé du numéro de diapositive 3"/>
          <p:cNvSpPr>
            <a:spLocks noGrp="1"/>
          </p:cNvSpPr>
          <p:nvPr>
            <p:ph type="sldNum" sz="quarter" idx="10"/>
          </p:nvPr>
        </p:nvSpPr>
        <p:spPr/>
        <p:txBody>
          <a:bodyPr/>
          <a:lstStyle/>
          <a:p>
            <a:fld id="{4F13E841-51E9-42EE-B362-F400B3AEDCBB}" type="slidenum">
              <a:rPr lang="fr-FR" smtClean="0"/>
              <a:pPr/>
              <a:t>2</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0.4+.6*10 car puisque </a:t>
            </a:r>
            <a:r>
              <a:rPr lang="fr-FR" dirty="0" err="1" smtClean="0"/>
              <a:t>laBD</a:t>
            </a:r>
            <a:r>
              <a:rPr lang="fr-FR" dirty="0" smtClean="0"/>
              <a:t> est à Paris</a:t>
            </a:r>
            <a:r>
              <a:rPr lang="fr-FR" baseline="0" dirty="0" smtClean="0"/>
              <a:t> toutes les requêtes locales ou externes de paris se feront au local et toutes les </a:t>
            </a:r>
            <a:r>
              <a:rPr lang="fr-FR" baseline="0" dirty="0" err="1" smtClean="0"/>
              <a:t>requetes</a:t>
            </a:r>
            <a:r>
              <a:rPr lang="fr-FR" baseline="0" dirty="0" smtClean="0"/>
              <a:t> de L/M se feront en réseau</a:t>
            </a:r>
            <a:endParaRPr lang="fr-FR" dirty="0"/>
          </a:p>
        </p:txBody>
      </p:sp>
      <p:sp>
        <p:nvSpPr>
          <p:cNvPr id="4" name="Espace réservé du numéro de diapositive 3"/>
          <p:cNvSpPr>
            <a:spLocks noGrp="1"/>
          </p:cNvSpPr>
          <p:nvPr>
            <p:ph type="sldNum" sz="quarter" idx="10"/>
          </p:nvPr>
        </p:nvSpPr>
        <p:spPr/>
        <p:txBody>
          <a:bodyPr/>
          <a:lstStyle/>
          <a:p>
            <a:fld id="{326B0503-FF0B-46F6-9FFF-2F7BE351F8F2}" type="slidenum">
              <a:rPr lang="fr-FR" smtClean="0">
                <a:solidFill>
                  <a:prstClr val="black"/>
                </a:solidFill>
              </a:rPr>
              <a:pPr/>
              <a:t>12</a:t>
            </a:fld>
            <a:endParaRPr lang="fr-FR">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326B0503-FF0B-46F6-9FFF-2F7BE351F8F2}" type="slidenum">
              <a:rPr lang="fr-FR" smtClean="0">
                <a:solidFill>
                  <a:prstClr val="black"/>
                </a:solidFill>
              </a:rPr>
              <a:pPr/>
              <a:t>17</a:t>
            </a:fld>
            <a:endParaRPr lang="fr-FR">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4F13E841-51E9-42EE-B362-F400B3AEDCBB}" type="slidenum">
              <a:rPr lang="fr-FR" smtClean="0"/>
              <a:pPr/>
              <a:t>25</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latin typeface="+mn-lt"/>
                <a:ea typeface="+mn-ea"/>
                <a:cs typeface="+mn-cs"/>
              </a:rPr>
              <a:t>Une semi-jointure est une jointure d'un type quelconque dans laquelle n'est retenue que les colonnes d'une seule des deux tables jointes.</a:t>
            </a:r>
            <a:r>
              <a:rPr lang="fr-FR" dirty="0" smtClean="0"/>
              <a:t/>
            </a:r>
            <a:br>
              <a:rPr lang="fr-FR" dirty="0" smtClean="0"/>
            </a:br>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4F13E841-51E9-42EE-B362-F400B3AEDCBB}" type="slidenum">
              <a:rPr lang="fr-FR" smtClean="0"/>
              <a:pPr/>
              <a:t>26</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kern="1200" baseline="0" dirty="0" smtClean="0">
                <a:solidFill>
                  <a:schemeClr val="tx1"/>
                </a:solidFill>
                <a:latin typeface="+mn-lt"/>
                <a:ea typeface="+mn-ea"/>
                <a:cs typeface="+mn-cs"/>
              </a:rPr>
              <a:t>connecteurs logiques et (∧) </a:t>
            </a:r>
            <a:r>
              <a:rPr lang="en-US" dirty="0" smtClean="0"/>
              <a:t>¬not</a:t>
            </a:r>
            <a:endParaRPr lang="fr-FR" dirty="0"/>
          </a:p>
        </p:txBody>
      </p:sp>
      <p:sp>
        <p:nvSpPr>
          <p:cNvPr id="4" name="Espace réservé du numéro de diapositive 3"/>
          <p:cNvSpPr>
            <a:spLocks noGrp="1"/>
          </p:cNvSpPr>
          <p:nvPr>
            <p:ph type="sldNum" sz="quarter" idx="10"/>
          </p:nvPr>
        </p:nvSpPr>
        <p:spPr/>
        <p:txBody>
          <a:bodyPr/>
          <a:lstStyle/>
          <a:p>
            <a:fld id="{4F13E841-51E9-42EE-B362-F400B3AEDCBB}" type="slidenum">
              <a:rPr lang="fr-FR" smtClean="0"/>
              <a:pPr/>
              <a:t>29</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Les </a:t>
            </a:r>
            <a:r>
              <a:rPr lang="fr-FR" dirty="0" err="1" smtClean="0"/>
              <a:t>Minterms</a:t>
            </a:r>
            <a:r>
              <a:rPr lang="fr-FR" dirty="0" smtClean="0"/>
              <a:t> en rouge présentent des contradictions</a:t>
            </a:r>
            <a:endParaRPr lang="fr-FR" dirty="0"/>
          </a:p>
        </p:txBody>
      </p:sp>
      <p:sp>
        <p:nvSpPr>
          <p:cNvPr id="4" name="Espace réservé du numéro de diapositive 3"/>
          <p:cNvSpPr>
            <a:spLocks noGrp="1"/>
          </p:cNvSpPr>
          <p:nvPr>
            <p:ph type="sldNum" sz="quarter" idx="10"/>
          </p:nvPr>
        </p:nvSpPr>
        <p:spPr/>
        <p:txBody>
          <a:bodyPr/>
          <a:lstStyle/>
          <a:p>
            <a:fld id="{4F13E841-51E9-42EE-B362-F400B3AEDCBB}" type="slidenum">
              <a:rPr lang="fr-FR" smtClean="0"/>
              <a:pPr/>
              <a:t>31</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err="1" smtClean="0"/>
              <a:t>But:allouer</a:t>
            </a:r>
            <a:r>
              <a:rPr lang="fr-FR" baseline="0" dirty="0" smtClean="0"/>
              <a:t> chaque fragment sur le site qui l’invoque le plus</a:t>
            </a:r>
            <a:endParaRPr lang="fr-FR" dirty="0"/>
          </a:p>
        </p:txBody>
      </p:sp>
      <p:sp>
        <p:nvSpPr>
          <p:cNvPr id="4" name="Espace réservé du numéro de diapositive 3"/>
          <p:cNvSpPr>
            <a:spLocks noGrp="1"/>
          </p:cNvSpPr>
          <p:nvPr>
            <p:ph type="sldNum" sz="quarter" idx="10"/>
          </p:nvPr>
        </p:nvSpPr>
        <p:spPr/>
        <p:txBody>
          <a:bodyPr/>
          <a:lstStyle/>
          <a:p>
            <a:fld id="{4F13E841-51E9-42EE-B362-F400B3AEDCBB}" type="slidenum">
              <a:rPr lang="fr-FR" smtClean="0"/>
              <a:pPr/>
              <a:t>45</a:t>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Combien de fois un fragment est sollicité par un site lors de toutes les transactions</a:t>
            </a:r>
            <a:endParaRPr lang="fr-FR" dirty="0"/>
          </a:p>
        </p:txBody>
      </p:sp>
      <p:sp>
        <p:nvSpPr>
          <p:cNvPr id="4" name="Espace réservé du numéro de diapositive 3"/>
          <p:cNvSpPr>
            <a:spLocks noGrp="1"/>
          </p:cNvSpPr>
          <p:nvPr>
            <p:ph type="sldNum" sz="quarter" idx="10"/>
          </p:nvPr>
        </p:nvSpPr>
        <p:spPr/>
        <p:txBody>
          <a:bodyPr/>
          <a:lstStyle/>
          <a:p>
            <a:fld id="{4F13E841-51E9-42EE-B362-F400B3AEDCBB}" type="slidenum">
              <a:rPr lang="fr-FR" smtClean="0"/>
              <a:pPr/>
              <a:t>46</a:t>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295400" y="865188"/>
            <a:ext cx="4267200" cy="3200400"/>
          </a:xfrm>
          <a:ln/>
        </p:spPr>
      </p:sp>
      <p:sp>
        <p:nvSpPr>
          <p:cNvPr id="133123" name="Rectangle 3"/>
          <p:cNvSpPr>
            <a:spLocks noGrp="1" noChangeArrowheads="1"/>
          </p:cNvSpPr>
          <p:nvPr>
            <p:ph type="body" idx="1"/>
          </p:nvPr>
        </p:nvSpPr>
        <p:spPr>
          <a:xfrm>
            <a:off x="606349" y="4772759"/>
            <a:ext cx="5463561" cy="3555023"/>
          </a:xfrm>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s commentaires 1"/>
          <p:cNvSpPr>
            <a:spLocks noGrp="1"/>
          </p:cNvSpPr>
          <p:nvPr>
            <p:ph type="body" idx="1"/>
          </p:nvPr>
        </p:nvSpPr>
        <p:spPr/>
        <p:txBody>
          <a:bodyPr>
            <a:normAutofit/>
          </a:bodyPr>
          <a:lstStyle/>
          <a:p>
            <a:r>
              <a:rPr lang="fr-FR" dirty="0" smtClean="0"/>
              <a:t>N nombre de copies</a:t>
            </a:r>
            <a:endParaRPr lang="fr-F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1"/>
      </p:bgRef>
    </p:bg>
    <p:spTree>
      <p:nvGrpSpPr>
        <p:cNvPr id="1" name=""/>
        <p:cNvGrpSpPr/>
        <p:nvPr/>
      </p:nvGrpSpPr>
      <p:grpSpPr>
        <a:xfrm>
          <a:off x="0" y="0"/>
          <a:ext cx="0" cy="0"/>
          <a:chOff x="0" y="0"/>
          <a:chExt cx="0" cy="0"/>
        </a:xfrm>
      </p:grpSpPr>
      <p:sp>
        <p:nvSpPr>
          <p:cNvPr id="8" name="Titre 7"/>
          <p:cNvSpPr>
            <a:spLocks noGrp="1"/>
          </p:cNvSpPr>
          <p:nvPr>
            <p:ph type="ctrTitle"/>
          </p:nvPr>
        </p:nvSpPr>
        <p:spPr>
          <a:xfrm>
            <a:off x="2286000" y="3124200"/>
            <a:ext cx="6172200" cy="1894362"/>
          </a:xfrm>
        </p:spPr>
        <p:txBody>
          <a:bodyPr/>
          <a:lstStyle>
            <a:lvl1pPr>
              <a:defRPr b="1"/>
            </a:lvl1pPr>
          </a:lstStyle>
          <a:p>
            <a:r>
              <a:rPr kumimoji="0" lang="fr-FR" smtClean="0"/>
              <a:t>Cliquez pour modifier le style du titre</a:t>
            </a:r>
            <a:endParaRPr kumimoji="0" lang="en-US"/>
          </a:p>
        </p:txBody>
      </p:sp>
      <p:sp>
        <p:nvSpPr>
          <p:cNvPr id="9" name="Sous-titr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039" indent="0" algn="ctr">
              <a:buNone/>
            </a:lvl2pPr>
            <a:lvl3pPr marL="914079" indent="0" algn="ctr">
              <a:buNone/>
            </a:lvl3pPr>
            <a:lvl4pPr marL="1371119" indent="0" algn="ctr">
              <a:buNone/>
            </a:lvl4pPr>
            <a:lvl5pPr marL="1828159" indent="0" algn="ctr">
              <a:buNone/>
            </a:lvl5pPr>
            <a:lvl6pPr marL="2285199" indent="0" algn="ctr">
              <a:buNone/>
            </a:lvl6pPr>
            <a:lvl7pPr marL="2742237" indent="0" algn="ctr">
              <a:buNone/>
            </a:lvl7pPr>
            <a:lvl8pPr marL="3199278" indent="0" algn="ctr">
              <a:buNone/>
            </a:lvl8pPr>
            <a:lvl9pPr marL="3656316"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bwMode="auto">
          <a:xfrm rot="5400000">
            <a:off x="7764621" y="1174097"/>
            <a:ext cx="2286000" cy="381000"/>
          </a:xfrm>
        </p:spPr>
        <p:txBody>
          <a:bodyPr/>
          <a:lstStyle/>
          <a:p>
            <a:fld id="{1050D51C-53CB-431F-93B5-C8C00A4A7E2F}" type="datetime1">
              <a:rPr lang="fr-FR" smtClean="0">
                <a:solidFill>
                  <a:srgbClr val="424456"/>
                </a:solidFill>
              </a:rPr>
              <a:pPr/>
              <a:t>11/10/2024</a:t>
            </a:fld>
            <a:endParaRPr lang="fr-FR">
              <a:solidFill>
                <a:srgbClr val="424456"/>
              </a:solidFill>
            </a:endParaRPr>
          </a:p>
        </p:txBody>
      </p:sp>
      <p:sp>
        <p:nvSpPr>
          <p:cNvPr id="17" name="Espace réservé du pied de page 16"/>
          <p:cNvSpPr>
            <a:spLocks noGrp="1"/>
          </p:cNvSpPr>
          <p:nvPr>
            <p:ph type="ftr" sz="quarter" idx="11"/>
          </p:nvPr>
        </p:nvSpPr>
        <p:spPr bwMode="auto">
          <a:xfrm rot="5400000">
            <a:off x="7077269" y="4181672"/>
            <a:ext cx="3657600" cy="384048"/>
          </a:xfrm>
        </p:spPr>
        <p:txBody>
          <a:bodyPr/>
          <a:lstStyle/>
          <a:p>
            <a:endParaRPr lang="fr-FR">
              <a:solidFill>
                <a:srgbClr val="424456"/>
              </a:solidFill>
            </a:endParaRPr>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1" name="Connecteur droit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8" name="Connecteur droit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20" name="Connecteur droit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5" name="Connecteur droit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22" name="Connecteur droit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9" name="Espace réservé du numéro de diapositive 28"/>
          <p:cNvSpPr>
            <a:spLocks noGrp="1"/>
          </p:cNvSpPr>
          <p:nvPr>
            <p:ph type="sldNum" sz="quarter" idx="12"/>
          </p:nvPr>
        </p:nvSpPr>
        <p:spPr bwMode="auto">
          <a:xfrm>
            <a:off x="1325544" y="4928702"/>
            <a:ext cx="609600" cy="517524"/>
          </a:xfrm>
        </p:spPr>
        <p:txBody>
          <a:bodyPr/>
          <a:lstStyle/>
          <a:p>
            <a:fld id="{F1AAE0E6-1385-44E0-8EAE-F204D7E7A5E9}"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8" name="Espace réservé du contenu 7"/>
          <p:cNvSpPr>
            <a:spLocks noGrp="1"/>
          </p:cNvSpPr>
          <p:nvPr>
            <p:ph sz="quarter" idx="1"/>
          </p:nvPr>
        </p:nvSpPr>
        <p:spPr>
          <a:xfrm>
            <a:off x="457200" y="1600200"/>
            <a:ext cx="7467600" cy="487375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4"/>
          </p:nvPr>
        </p:nvSpPr>
        <p:spPr/>
        <p:txBody>
          <a:bodyPr rtlCol="0"/>
          <a:lstStyle/>
          <a:p>
            <a:fld id="{571790E8-B918-42A7-8992-25B43C80D5F4}" type="datetime1">
              <a:rPr lang="fr-FR" smtClean="0">
                <a:solidFill>
                  <a:srgbClr val="424456"/>
                </a:solidFill>
              </a:rPr>
              <a:pPr/>
              <a:t>11/10/2024</a:t>
            </a:fld>
            <a:endParaRPr lang="fr-FR">
              <a:solidFill>
                <a:srgbClr val="424456"/>
              </a:solidFill>
            </a:endParaRPr>
          </a:p>
        </p:txBody>
      </p:sp>
      <p:sp>
        <p:nvSpPr>
          <p:cNvPr id="9" name="Espace réservé du numéro de diapositive 8"/>
          <p:cNvSpPr>
            <a:spLocks noGrp="1"/>
          </p:cNvSpPr>
          <p:nvPr>
            <p:ph type="sldNum" sz="quarter" idx="15"/>
          </p:nvPr>
        </p:nvSpPr>
        <p:spPr/>
        <p:txBody>
          <a:bodyPr rtlCol="0"/>
          <a:lstStyle/>
          <a:p>
            <a:fld id="{F1AAE0E6-1385-44E0-8EAE-F204D7E7A5E9}" type="slidenum">
              <a:rPr lang="fr-FR" smtClean="0"/>
              <a:pPr/>
              <a:t>‹N°›</a:t>
            </a:fld>
            <a:endParaRPr lang="fr-FR"/>
          </a:p>
        </p:txBody>
      </p:sp>
      <p:sp>
        <p:nvSpPr>
          <p:cNvPr id="10" name="Espace réservé du pied de page 9"/>
          <p:cNvSpPr>
            <a:spLocks noGrp="1"/>
          </p:cNvSpPr>
          <p:nvPr>
            <p:ph type="ftr" sz="quarter" idx="16"/>
          </p:nvPr>
        </p:nvSpPr>
        <p:spPr/>
        <p:txBody>
          <a:bodyPr rtlCol="0"/>
          <a:lstStyle/>
          <a:p>
            <a:endParaRPr lang="fr-FR">
              <a:solidFill>
                <a:srgbClr val="424456"/>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286000" y="2895600"/>
            <a:ext cx="6172200" cy="2053590"/>
          </a:xfrm>
        </p:spPr>
        <p:txBody>
          <a:bodyPr/>
          <a:lstStyle>
            <a:lvl1pPr algn="l">
              <a:buNone/>
              <a:defRPr sz="3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bwMode="auto">
          <a:xfrm rot="5400000">
            <a:off x="7763256" y="1170432"/>
            <a:ext cx="2286000" cy="381000"/>
          </a:xfrm>
        </p:spPr>
        <p:txBody>
          <a:bodyPr/>
          <a:lstStyle/>
          <a:p>
            <a:fld id="{3BED8111-66D0-4B41-824A-47440D70A4E4}" type="datetime1">
              <a:rPr lang="fr-FR" smtClean="0">
                <a:solidFill>
                  <a:srgbClr val="DEDEDE"/>
                </a:solidFill>
              </a:rPr>
              <a:pPr/>
              <a:t>11/10/2024</a:t>
            </a:fld>
            <a:endParaRPr lang="fr-FR">
              <a:solidFill>
                <a:srgbClr val="DEDEDE"/>
              </a:solidFill>
            </a:endParaRPr>
          </a:p>
        </p:txBody>
      </p:sp>
      <p:sp>
        <p:nvSpPr>
          <p:cNvPr id="5" name="Espace réservé du pied de page 4"/>
          <p:cNvSpPr>
            <a:spLocks noGrp="1"/>
          </p:cNvSpPr>
          <p:nvPr>
            <p:ph type="ftr" sz="quarter" idx="11"/>
          </p:nvPr>
        </p:nvSpPr>
        <p:spPr bwMode="auto">
          <a:xfrm rot="5400000">
            <a:off x="7077456" y="4178808"/>
            <a:ext cx="3657600" cy="384048"/>
          </a:xfrm>
        </p:spPr>
        <p:txBody>
          <a:bodyPr/>
          <a:lstStyle/>
          <a:p>
            <a:endParaRPr lang="fr-FR">
              <a:solidFill>
                <a:srgbClr val="DEDEDE"/>
              </a:solidFill>
            </a:endParaRP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3" name="Connecteur droit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4" name="Connecteur droit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5" name="Connecteur droit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7" name="Connecteur droit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6" name="Connecteur droit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6" name="Espace réservé du numéro de diapositive 5"/>
          <p:cNvSpPr>
            <a:spLocks noGrp="1"/>
          </p:cNvSpPr>
          <p:nvPr>
            <p:ph type="sldNum" sz="quarter" idx="12"/>
          </p:nvPr>
        </p:nvSpPr>
        <p:spPr bwMode="auto">
          <a:xfrm>
            <a:off x="1340616" y="4928702"/>
            <a:ext cx="609600" cy="517524"/>
          </a:xfrm>
        </p:spPr>
        <p:txBody>
          <a:bodyPr/>
          <a:lstStyle/>
          <a:p>
            <a:fld id="{F1AAE0E6-1385-44E0-8EAE-F204D7E7A5E9}"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7DCA4ED1-C43B-43AF-B6E7-0203E20F1DBA}" type="datetime1">
              <a:rPr lang="fr-FR" smtClean="0">
                <a:solidFill>
                  <a:srgbClr val="424456"/>
                </a:solidFill>
              </a:rPr>
              <a:pPr/>
              <a:t>11/10/2024</a:t>
            </a:fld>
            <a:endParaRPr lang="fr-FR">
              <a:solidFill>
                <a:srgbClr val="424456"/>
              </a:solidFill>
            </a:endParaRPr>
          </a:p>
        </p:txBody>
      </p:sp>
      <p:sp>
        <p:nvSpPr>
          <p:cNvPr id="6" name="Espace réservé du pied de page 5"/>
          <p:cNvSpPr>
            <a:spLocks noGrp="1"/>
          </p:cNvSpPr>
          <p:nvPr>
            <p:ph type="ftr" sz="quarter" idx="11"/>
          </p:nvPr>
        </p:nvSpPr>
        <p:spPr/>
        <p:txBody>
          <a:bodyPr/>
          <a:lstStyle/>
          <a:p>
            <a:endParaRPr lang="fr-FR">
              <a:solidFill>
                <a:srgbClr val="424456"/>
              </a:solidFill>
            </a:endParaRPr>
          </a:p>
        </p:txBody>
      </p:sp>
      <p:sp>
        <p:nvSpPr>
          <p:cNvPr id="7" name="Espace réservé du numéro de diapositive 6"/>
          <p:cNvSpPr>
            <a:spLocks noGrp="1"/>
          </p:cNvSpPr>
          <p:nvPr>
            <p:ph type="sldNum" sz="quarter" idx="12"/>
          </p:nvPr>
        </p:nvSpPr>
        <p:spPr/>
        <p:txBody>
          <a:bodyPr/>
          <a:lstStyle/>
          <a:p>
            <a:fld id="{F1AAE0E6-1385-44E0-8EAE-F204D7E7A5E9}" type="slidenum">
              <a:rPr lang="fr-FR" smtClean="0"/>
              <a:pPr/>
              <a:t>‹N°›</a:t>
            </a:fld>
            <a:endParaRPr lang="fr-FR"/>
          </a:p>
        </p:txBody>
      </p:sp>
      <p:sp>
        <p:nvSpPr>
          <p:cNvPr id="9" name="Espace réservé du contenu 8"/>
          <p:cNvSpPr>
            <a:spLocks noGrp="1"/>
          </p:cNvSpPr>
          <p:nvPr>
            <p:ph sz="quarter" idx="1"/>
          </p:nvPr>
        </p:nvSpPr>
        <p:spPr>
          <a:xfrm>
            <a:off x="457200"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270248"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7543800" cy="1143000"/>
          </a:xfrm>
        </p:spPr>
        <p:txBody>
          <a:bodyPr anchor="b"/>
          <a:lstStyle>
            <a:lvl1pPr>
              <a:defRPr/>
            </a:lvl1pPr>
          </a:lstStyle>
          <a:p>
            <a:r>
              <a:rPr kumimoji="0" lang="fr-FR" smtClean="0"/>
              <a:t>Cliquez pour modifier le style du titre</a:t>
            </a:r>
            <a:endParaRPr kumimoji="0" lang="en-US"/>
          </a:p>
        </p:txBody>
      </p:sp>
      <p:sp>
        <p:nvSpPr>
          <p:cNvPr id="7" name="Espace réservé de la date 6"/>
          <p:cNvSpPr>
            <a:spLocks noGrp="1"/>
          </p:cNvSpPr>
          <p:nvPr>
            <p:ph type="dt" sz="half" idx="10"/>
          </p:nvPr>
        </p:nvSpPr>
        <p:spPr/>
        <p:txBody>
          <a:bodyPr/>
          <a:lstStyle/>
          <a:p>
            <a:fld id="{C8469BFF-49D2-48E2-BB13-96E8E5251DCC}" type="datetime1">
              <a:rPr lang="fr-FR" smtClean="0">
                <a:solidFill>
                  <a:srgbClr val="424456"/>
                </a:solidFill>
              </a:rPr>
              <a:pPr/>
              <a:t>11/10/2024</a:t>
            </a:fld>
            <a:endParaRPr lang="fr-FR">
              <a:solidFill>
                <a:srgbClr val="424456"/>
              </a:solidFill>
            </a:endParaRPr>
          </a:p>
        </p:txBody>
      </p:sp>
      <p:sp>
        <p:nvSpPr>
          <p:cNvPr id="8" name="Espace réservé du pied de page 7"/>
          <p:cNvSpPr>
            <a:spLocks noGrp="1"/>
          </p:cNvSpPr>
          <p:nvPr>
            <p:ph type="ftr" sz="quarter" idx="11"/>
          </p:nvPr>
        </p:nvSpPr>
        <p:spPr/>
        <p:txBody>
          <a:bodyPr/>
          <a:lstStyle/>
          <a:p>
            <a:endParaRPr lang="fr-FR">
              <a:solidFill>
                <a:srgbClr val="424456"/>
              </a:solidFill>
            </a:endParaRPr>
          </a:p>
        </p:txBody>
      </p:sp>
      <p:sp>
        <p:nvSpPr>
          <p:cNvPr id="9" name="Espace réservé du numéro de diapositive 8"/>
          <p:cNvSpPr>
            <a:spLocks noGrp="1"/>
          </p:cNvSpPr>
          <p:nvPr>
            <p:ph type="sldNum" sz="quarter" idx="12"/>
          </p:nvPr>
        </p:nvSpPr>
        <p:spPr/>
        <p:txBody>
          <a:bodyPr/>
          <a:lstStyle/>
          <a:p>
            <a:fld id="{F1AAE0E6-1385-44E0-8EAE-F204D7E7A5E9}" type="slidenum">
              <a:rPr lang="fr-FR" smtClean="0"/>
              <a:pPr/>
              <a:t>‹N°›</a:t>
            </a:fld>
            <a:endParaRPr lang="fr-FR"/>
          </a:p>
        </p:txBody>
      </p:sp>
      <p:sp>
        <p:nvSpPr>
          <p:cNvPr id="11" name="Espace réservé du contenu 10"/>
          <p:cNvSpPr>
            <a:spLocks noGrp="1"/>
          </p:cNvSpPr>
          <p:nvPr>
            <p:ph sz="quarter" idx="2"/>
          </p:nvPr>
        </p:nvSpPr>
        <p:spPr>
          <a:xfrm>
            <a:off x="457200"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4371975"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texte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
        <p:nvSpPr>
          <p:cNvPr id="14" name="Espace réservé du texte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6" name="Espace réservé de la date 5"/>
          <p:cNvSpPr>
            <a:spLocks noGrp="1"/>
          </p:cNvSpPr>
          <p:nvPr>
            <p:ph type="dt" sz="half" idx="10"/>
          </p:nvPr>
        </p:nvSpPr>
        <p:spPr/>
        <p:txBody>
          <a:bodyPr rtlCol="0"/>
          <a:lstStyle/>
          <a:p>
            <a:fld id="{C5DB424C-F4DF-42DC-B0CE-8D9456FB6B93}" type="datetime1">
              <a:rPr lang="fr-FR" smtClean="0">
                <a:solidFill>
                  <a:srgbClr val="424456"/>
                </a:solidFill>
              </a:rPr>
              <a:pPr/>
              <a:t>11/10/2024</a:t>
            </a:fld>
            <a:endParaRPr lang="fr-FR">
              <a:solidFill>
                <a:srgbClr val="424456"/>
              </a:solidFill>
            </a:endParaRPr>
          </a:p>
        </p:txBody>
      </p:sp>
      <p:sp>
        <p:nvSpPr>
          <p:cNvPr id="7" name="Espace réservé du numéro de diapositive 6"/>
          <p:cNvSpPr>
            <a:spLocks noGrp="1"/>
          </p:cNvSpPr>
          <p:nvPr>
            <p:ph type="sldNum" sz="quarter" idx="11"/>
          </p:nvPr>
        </p:nvSpPr>
        <p:spPr/>
        <p:txBody>
          <a:bodyPr rtlCol="0"/>
          <a:lstStyle/>
          <a:p>
            <a:fld id="{F1AAE0E6-1385-44E0-8EAE-F204D7E7A5E9}" type="slidenum">
              <a:rPr lang="fr-FR" smtClean="0"/>
              <a:pPr/>
              <a:t>‹N°›</a:t>
            </a:fld>
            <a:endParaRPr lang="fr-FR"/>
          </a:p>
        </p:txBody>
      </p:sp>
      <p:sp>
        <p:nvSpPr>
          <p:cNvPr id="8" name="Espace réservé du pied de page 7"/>
          <p:cNvSpPr>
            <a:spLocks noGrp="1"/>
          </p:cNvSpPr>
          <p:nvPr>
            <p:ph type="ftr" sz="quarter" idx="12"/>
          </p:nvPr>
        </p:nvSpPr>
        <p:spPr/>
        <p:txBody>
          <a:bodyPr rtlCol="0"/>
          <a:lstStyle/>
          <a:p>
            <a:endParaRPr lang="fr-FR">
              <a:solidFill>
                <a:srgbClr val="424456"/>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37DCB51-A53B-4582-9A24-C2F2DF869F52}" type="datetime1">
              <a:rPr lang="fr-FR" smtClean="0">
                <a:solidFill>
                  <a:srgbClr val="424456"/>
                </a:solidFill>
              </a:rPr>
              <a:pPr/>
              <a:t>11/10/2024</a:t>
            </a:fld>
            <a:endParaRPr lang="fr-FR">
              <a:solidFill>
                <a:srgbClr val="424456"/>
              </a:solidFill>
            </a:endParaRPr>
          </a:p>
        </p:txBody>
      </p:sp>
      <p:sp>
        <p:nvSpPr>
          <p:cNvPr id="3" name="Espace réservé du pied de page 2"/>
          <p:cNvSpPr>
            <a:spLocks noGrp="1"/>
          </p:cNvSpPr>
          <p:nvPr>
            <p:ph type="ftr" sz="quarter" idx="11"/>
          </p:nvPr>
        </p:nvSpPr>
        <p:spPr/>
        <p:txBody>
          <a:bodyPr/>
          <a:lstStyle/>
          <a:p>
            <a:endParaRPr lang="fr-FR">
              <a:solidFill>
                <a:srgbClr val="424456"/>
              </a:solidFill>
            </a:endParaRPr>
          </a:p>
        </p:txBody>
      </p:sp>
      <p:sp>
        <p:nvSpPr>
          <p:cNvPr id="4" name="Espace réservé du numéro de diapositive 3"/>
          <p:cNvSpPr>
            <a:spLocks noGrp="1"/>
          </p:cNvSpPr>
          <p:nvPr>
            <p:ph type="sldNum" sz="quarter" idx="12"/>
          </p:nvPr>
        </p:nvSpPr>
        <p:spPr/>
        <p:txBody>
          <a:bodyPr/>
          <a:lstStyle/>
          <a:p>
            <a:fld id="{F1AAE0E6-1385-44E0-8EAE-F204D7E7A5E9}"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2" name="Titr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812281"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Connecteur droit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9" name="Connecteur droit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11" name="Connecteur droit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3" name="Connecteur droit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18" name="Espace réservé du contenu 17"/>
          <p:cNvSpPr>
            <a:spLocks noGrp="1"/>
          </p:cNvSpPr>
          <p:nvPr>
            <p:ph sz="quarter" idx="1"/>
          </p:nvPr>
        </p:nvSpPr>
        <p:spPr>
          <a:xfrm>
            <a:off x="304800" y="274320"/>
            <a:ext cx="5638800" cy="6327648"/>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1" name="Espace réservé de la date 20"/>
          <p:cNvSpPr>
            <a:spLocks noGrp="1"/>
          </p:cNvSpPr>
          <p:nvPr>
            <p:ph type="dt" sz="half" idx="14"/>
          </p:nvPr>
        </p:nvSpPr>
        <p:spPr/>
        <p:txBody>
          <a:bodyPr rtlCol="0"/>
          <a:lstStyle/>
          <a:p>
            <a:fld id="{B02FB67D-5AC4-4987-8C17-BDB2713912BA}" type="datetime1">
              <a:rPr lang="fr-FR" smtClean="0">
                <a:solidFill>
                  <a:srgbClr val="424456"/>
                </a:solidFill>
              </a:rPr>
              <a:pPr/>
              <a:t>11/10/2024</a:t>
            </a:fld>
            <a:endParaRPr lang="fr-FR">
              <a:solidFill>
                <a:srgbClr val="424456"/>
              </a:solidFill>
            </a:endParaRPr>
          </a:p>
        </p:txBody>
      </p:sp>
      <p:sp>
        <p:nvSpPr>
          <p:cNvPr id="22" name="Espace réservé du numéro de diapositive 21"/>
          <p:cNvSpPr>
            <a:spLocks noGrp="1"/>
          </p:cNvSpPr>
          <p:nvPr>
            <p:ph type="sldNum" sz="quarter" idx="15"/>
          </p:nvPr>
        </p:nvSpPr>
        <p:spPr/>
        <p:txBody>
          <a:bodyPr rtlCol="0"/>
          <a:lstStyle/>
          <a:p>
            <a:fld id="{F1AAE0E6-1385-44E0-8EAE-F204D7E7A5E9}" type="slidenum">
              <a:rPr lang="fr-FR" smtClean="0"/>
              <a:pPr/>
              <a:t>‹N°›</a:t>
            </a:fld>
            <a:endParaRPr lang="fr-FR"/>
          </a:p>
        </p:txBody>
      </p:sp>
      <p:sp>
        <p:nvSpPr>
          <p:cNvPr id="23" name="Espace réservé du pied de page 22"/>
          <p:cNvSpPr>
            <a:spLocks noGrp="1"/>
          </p:cNvSpPr>
          <p:nvPr>
            <p:ph type="ftr" sz="quarter" idx="16"/>
          </p:nvPr>
        </p:nvSpPr>
        <p:spPr/>
        <p:txBody>
          <a:bodyPr rtlCol="0"/>
          <a:lstStyle/>
          <a:p>
            <a:endParaRPr lang="fr-FR">
              <a:solidFill>
                <a:srgbClr val="424456"/>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Connecteur droit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 name="Titre 1"/>
          <p:cNvSpPr>
            <a:spLocks noGrp="1"/>
          </p:cNvSpPr>
          <p:nvPr>
            <p:ph type="title"/>
          </p:nvPr>
        </p:nvSpPr>
        <p:spPr>
          <a:xfrm rot="5400000">
            <a:off x="3350133" y="3200400"/>
            <a:ext cx="6309360" cy="457200"/>
          </a:xfrm>
        </p:spPr>
        <p:txBody>
          <a:bodyPr anchor="b"/>
          <a:lstStyle>
            <a:lvl1pPr algn="l">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6765798" y="264795"/>
            <a:ext cx="1524000" cy="4956048"/>
          </a:xfrm>
        </p:spPr>
        <p:txBody>
          <a:bodyPr rot="0" spcFirstLastPara="0" vertOverflow="overflow" horzOverflow="overflow" vert="horz" wrap="square" lIns="91407" tIns="45704" rIns="91407" bIns="45704" numCol="1" spcCol="274224"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10" name="Connecteur droit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2" name="Connecteur droit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9" name="Connecteur droit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20" name="Connecteur droit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17" name="Espace réservé de la date 16"/>
          <p:cNvSpPr>
            <a:spLocks noGrp="1"/>
          </p:cNvSpPr>
          <p:nvPr>
            <p:ph type="dt" sz="half" idx="10"/>
          </p:nvPr>
        </p:nvSpPr>
        <p:spPr/>
        <p:txBody>
          <a:bodyPr rtlCol="0"/>
          <a:lstStyle/>
          <a:p>
            <a:fld id="{16CE4DB4-F5E0-4A7C-B8A7-224F42C97B25}" type="datetime1">
              <a:rPr lang="fr-FR" smtClean="0">
                <a:solidFill>
                  <a:srgbClr val="424456"/>
                </a:solidFill>
              </a:rPr>
              <a:pPr/>
              <a:t>11/10/2024</a:t>
            </a:fld>
            <a:endParaRPr lang="fr-FR">
              <a:solidFill>
                <a:srgbClr val="424456"/>
              </a:solidFill>
            </a:endParaRPr>
          </a:p>
        </p:txBody>
      </p:sp>
      <p:sp>
        <p:nvSpPr>
          <p:cNvPr id="18" name="Espace réservé du numéro de diapositive 17"/>
          <p:cNvSpPr>
            <a:spLocks noGrp="1"/>
          </p:cNvSpPr>
          <p:nvPr>
            <p:ph type="sldNum" sz="quarter" idx="11"/>
          </p:nvPr>
        </p:nvSpPr>
        <p:spPr/>
        <p:txBody>
          <a:bodyPr rtlCol="0"/>
          <a:lstStyle/>
          <a:p>
            <a:fld id="{F1AAE0E6-1385-44E0-8EAE-F204D7E7A5E9}" type="slidenum">
              <a:rPr lang="fr-FR" smtClean="0"/>
              <a:pPr/>
              <a:t>‹N°›</a:t>
            </a:fld>
            <a:endParaRPr lang="fr-FR"/>
          </a:p>
        </p:txBody>
      </p:sp>
      <p:sp>
        <p:nvSpPr>
          <p:cNvPr id="21" name="Espace réservé du pied de page 20"/>
          <p:cNvSpPr>
            <a:spLocks noGrp="1"/>
          </p:cNvSpPr>
          <p:nvPr>
            <p:ph type="ftr" sz="quarter" idx="12"/>
          </p:nvPr>
        </p:nvSpPr>
        <p:spPr/>
        <p:txBody>
          <a:bodyPr rtlCol="0"/>
          <a:lstStyle/>
          <a:p>
            <a:endParaRPr lang="fr-FR">
              <a:solidFill>
                <a:srgbClr val="424456"/>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1A70737-072B-40DE-884A-4963F1DD1A14}" type="datetime1">
              <a:rPr lang="fr-FR" smtClean="0">
                <a:solidFill>
                  <a:srgbClr val="424456"/>
                </a:solidFill>
              </a:rPr>
              <a:pPr/>
              <a:t>11/10/2024</a:t>
            </a:fld>
            <a:endParaRPr lang="fr-FR">
              <a:solidFill>
                <a:srgbClr val="424456"/>
              </a:solidFill>
            </a:endParaRPr>
          </a:p>
        </p:txBody>
      </p:sp>
      <p:sp>
        <p:nvSpPr>
          <p:cNvPr id="5" name="Espace réservé du pied de page 4"/>
          <p:cNvSpPr>
            <a:spLocks noGrp="1"/>
          </p:cNvSpPr>
          <p:nvPr>
            <p:ph type="ftr" sz="quarter" idx="11"/>
          </p:nvPr>
        </p:nvSpPr>
        <p:spPr/>
        <p:txBody>
          <a:bodyPr/>
          <a:lstStyle/>
          <a:p>
            <a:endParaRPr lang="fr-FR">
              <a:solidFill>
                <a:srgbClr val="424456"/>
              </a:solidFill>
            </a:endParaRPr>
          </a:p>
        </p:txBody>
      </p:sp>
      <p:sp>
        <p:nvSpPr>
          <p:cNvPr id="6" name="Espace réservé du numéro de diapositive 5"/>
          <p:cNvSpPr>
            <a:spLocks noGrp="1"/>
          </p:cNvSpPr>
          <p:nvPr>
            <p:ph type="sldNum" sz="quarter" idx="12"/>
          </p:nvPr>
        </p:nvSpPr>
        <p:spPr/>
        <p:txBody>
          <a:bodyPr/>
          <a:lstStyle/>
          <a:p>
            <a:fld id="{F1AAE0E6-1385-44E0-8EAE-F204D7E7A5E9}"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9"/>
            <a:ext cx="1676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5C691A03-7C8A-4D6D-ABBE-47DD1562CA34}" type="datetime1">
              <a:rPr lang="fr-FR" smtClean="0">
                <a:solidFill>
                  <a:srgbClr val="424456"/>
                </a:solidFill>
              </a:rPr>
              <a:pPr/>
              <a:t>11/10/2024</a:t>
            </a:fld>
            <a:endParaRPr lang="fr-FR">
              <a:solidFill>
                <a:srgbClr val="424456"/>
              </a:solidFill>
            </a:endParaRPr>
          </a:p>
        </p:txBody>
      </p:sp>
      <p:sp>
        <p:nvSpPr>
          <p:cNvPr id="5" name="Espace réservé du pied de page 4"/>
          <p:cNvSpPr>
            <a:spLocks noGrp="1"/>
          </p:cNvSpPr>
          <p:nvPr>
            <p:ph type="ftr" sz="quarter" idx="11"/>
          </p:nvPr>
        </p:nvSpPr>
        <p:spPr/>
        <p:txBody>
          <a:bodyPr/>
          <a:lstStyle/>
          <a:p>
            <a:endParaRPr lang="fr-FR">
              <a:solidFill>
                <a:srgbClr val="424456"/>
              </a:solidFill>
            </a:endParaRPr>
          </a:p>
        </p:txBody>
      </p:sp>
      <p:sp>
        <p:nvSpPr>
          <p:cNvPr id="6" name="Espace réservé du numéro de diapositive 5"/>
          <p:cNvSpPr>
            <a:spLocks noGrp="1"/>
          </p:cNvSpPr>
          <p:nvPr>
            <p:ph type="sldNum" sz="quarter" idx="12"/>
          </p:nvPr>
        </p:nvSpPr>
        <p:spPr/>
        <p:txBody>
          <a:bodyPr/>
          <a:lstStyle/>
          <a:p>
            <a:fld id="{F1AAE0E6-1385-44E0-8EAE-F204D7E7A5E9}"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1"/>
      </p:bgRef>
    </p:bg>
    <p:spTree>
      <p:nvGrpSpPr>
        <p:cNvPr id="1" name=""/>
        <p:cNvGrpSpPr/>
        <p:nvPr/>
      </p:nvGrpSpPr>
      <p:grpSpPr>
        <a:xfrm>
          <a:off x="0" y="0"/>
          <a:ext cx="0" cy="0"/>
          <a:chOff x="0" y="0"/>
          <a:chExt cx="0" cy="0"/>
        </a:xfrm>
      </p:grpSpPr>
      <p:sp>
        <p:nvSpPr>
          <p:cNvPr id="8" name="Titre 7"/>
          <p:cNvSpPr>
            <a:spLocks noGrp="1"/>
          </p:cNvSpPr>
          <p:nvPr>
            <p:ph type="ctrTitle"/>
          </p:nvPr>
        </p:nvSpPr>
        <p:spPr>
          <a:xfrm>
            <a:off x="2286000" y="3124201"/>
            <a:ext cx="6172200" cy="1894363"/>
          </a:xfrm>
        </p:spPr>
        <p:txBody>
          <a:bodyPr/>
          <a:lstStyle>
            <a:lvl1pPr>
              <a:defRPr b="1"/>
            </a:lvl1pPr>
          </a:lstStyle>
          <a:p>
            <a:r>
              <a:rPr kumimoji="0" lang="fr-FR" smtClean="0"/>
              <a:t>Cliquez pour modifier le style du titre</a:t>
            </a:r>
            <a:endParaRPr kumimoji="0" lang="en-US"/>
          </a:p>
        </p:txBody>
      </p:sp>
      <p:sp>
        <p:nvSpPr>
          <p:cNvPr id="9" name="Sous-titre 8"/>
          <p:cNvSpPr>
            <a:spLocks noGrp="1"/>
          </p:cNvSpPr>
          <p:nvPr>
            <p:ph type="subTitle" idx="1"/>
          </p:nvPr>
        </p:nvSpPr>
        <p:spPr>
          <a:xfrm>
            <a:off x="2286000" y="5003323"/>
            <a:ext cx="6172200" cy="1371600"/>
          </a:xfrm>
        </p:spPr>
        <p:txBody>
          <a:bodyPr/>
          <a:lstStyle>
            <a:lvl1pPr marL="0" indent="0" algn="l">
              <a:buNone/>
              <a:defRPr sz="1800" b="1">
                <a:solidFill>
                  <a:schemeClr val="tx2"/>
                </a:solidFill>
              </a:defRPr>
            </a:lvl1pPr>
            <a:lvl2pPr marL="457039" indent="0" algn="ctr">
              <a:buNone/>
            </a:lvl2pPr>
            <a:lvl3pPr marL="914079" indent="0" algn="ctr">
              <a:buNone/>
            </a:lvl3pPr>
            <a:lvl4pPr marL="1371119" indent="0" algn="ctr">
              <a:buNone/>
            </a:lvl4pPr>
            <a:lvl5pPr marL="1828159" indent="0" algn="ctr">
              <a:buNone/>
            </a:lvl5pPr>
            <a:lvl6pPr marL="2285199" indent="0" algn="ctr">
              <a:buNone/>
            </a:lvl6pPr>
            <a:lvl7pPr marL="2742237" indent="0" algn="ctr">
              <a:buNone/>
            </a:lvl7pPr>
            <a:lvl8pPr marL="3199278" indent="0" algn="ctr">
              <a:buNone/>
            </a:lvl8pPr>
            <a:lvl9pPr marL="3656316"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bwMode="auto">
          <a:xfrm rot="5400000">
            <a:off x="7764621" y="1174097"/>
            <a:ext cx="2286000" cy="381000"/>
          </a:xfrm>
        </p:spPr>
        <p:txBody>
          <a:bodyPr/>
          <a:lstStyle/>
          <a:p>
            <a:fld id="{BB4AE44C-07DE-4863-B300-27701D300191}" type="datetime1">
              <a:rPr lang="fr-FR" smtClean="0">
                <a:solidFill>
                  <a:srgbClr val="424456"/>
                </a:solidFill>
              </a:rPr>
              <a:pPr/>
              <a:t>11/10/2024</a:t>
            </a:fld>
            <a:endParaRPr lang="fr-FR">
              <a:solidFill>
                <a:srgbClr val="424456"/>
              </a:solidFill>
            </a:endParaRPr>
          </a:p>
        </p:txBody>
      </p:sp>
      <p:sp>
        <p:nvSpPr>
          <p:cNvPr id="17" name="Espace réservé du pied de page 16"/>
          <p:cNvSpPr>
            <a:spLocks noGrp="1"/>
          </p:cNvSpPr>
          <p:nvPr>
            <p:ph type="ftr" sz="quarter" idx="11"/>
          </p:nvPr>
        </p:nvSpPr>
        <p:spPr bwMode="auto">
          <a:xfrm rot="5400000">
            <a:off x="7077269" y="4181672"/>
            <a:ext cx="3657600" cy="384048"/>
          </a:xfrm>
        </p:spPr>
        <p:txBody>
          <a:bodyPr/>
          <a:lstStyle/>
          <a:p>
            <a:endParaRPr lang="fr-FR">
              <a:solidFill>
                <a:srgbClr val="424456"/>
              </a:solidFill>
            </a:endParaRPr>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1" name="Connecteur droit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8" name="Connecteur droit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20" name="Connecteur droit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5" name="Connecteur droit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22" name="Connecteur droit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9" name="Espace réservé du numéro de diapositive 28"/>
          <p:cNvSpPr>
            <a:spLocks noGrp="1"/>
          </p:cNvSpPr>
          <p:nvPr>
            <p:ph type="sldNum" sz="quarter" idx="12"/>
          </p:nvPr>
        </p:nvSpPr>
        <p:spPr bwMode="auto">
          <a:xfrm>
            <a:off x="1325544" y="4928703"/>
            <a:ext cx="609600" cy="517524"/>
          </a:xfrm>
        </p:spPr>
        <p:txBody>
          <a:bodyPr/>
          <a:lstStyle/>
          <a:p>
            <a:fld id="{F1AAE0E6-1385-44E0-8EAE-F204D7E7A5E9}"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8" name="Espace réservé du contenu 7"/>
          <p:cNvSpPr>
            <a:spLocks noGrp="1"/>
          </p:cNvSpPr>
          <p:nvPr>
            <p:ph sz="quarter" idx="1"/>
          </p:nvPr>
        </p:nvSpPr>
        <p:spPr>
          <a:xfrm>
            <a:off x="457200" y="1600200"/>
            <a:ext cx="7467600" cy="487375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4"/>
          </p:nvPr>
        </p:nvSpPr>
        <p:spPr/>
        <p:txBody>
          <a:bodyPr rtlCol="0"/>
          <a:lstStyle/>
          <a:p>
            <a:fld id="{33F5C648-9893-4CEE-B3AA-60EE0EB4FDD1}" type="datetime1">
              <a:rPr lang="fr-FR" smtClean="0">
                <a:solidFill>
                  <a:srgbClr val="424456"/>
                </a:solidFill>
              </a:rPr>
              <a:pPr/>
              <a:t>11/10/2024</a:t>
            </a:fld>
            <a:endParaRPr lang="fr-FR">
              <a:solidFill>
                <a:srgbClr val="424456"/>
              </a:solidFill>
            </a:endParaRPr>
          </a:p>
        </p:txBody>
      </p:sp>
      <p:sp>
        <p:nvSpPr>
          <p:cNvPr id="9" name="Espace réservé du numéro de diapositive 8"/>
          <p:cNvSpPr>
            <a:spLocks noGrp="1"/>
          </p:cNvSpPr>
          <p:nvPr>
            <p:ph type="sldNum" sz="quarter" idx="15"/>
          </p:nvPr>
        </p:nvSpPr>
        <p:spPr/>
        <p:txBody>
          <a:bodyPr rtlCol="0"/>
          <a:lstStyle/>
          <a:p>
            <a:fld id="{F1AAE0E6-1385-44E0-8EAE-F204D7E7A5E9}" type="slidenum">
              <a:rPr lang="fr-FR" smtClean="0"/>
              <a:pPr/>
              <a:t>‹N°›</a:t>
            </a:fld>
            <a:endParaRPr lang="fr-FR"/>
          </a:p>
        </p:txBody>
      </p:sp>
      <p:sp>
        <p:nvSpPr>
          <p:cNvPr id="10" name="Espace réservé du pied de page 9"/>
          <p:cNvSpPr>
            <a:spLocks noGrp="1"/>
          </p:cNvSpPr>
          <p:nvPr>
            <p:ph type="ftr" sz="quarter" idx="16"/>
          </p:nvPr>
        </p:nvSpPr>
        <p:spPr/>
        <p:txBody>
          <a:bodyPr rtlCol="0"/>
          <a:lstStyle/>
          <a:p>
            <a:endParaRPr lang="fr-FR">
              <a:solidFill>
                <a:srgbClr val="424456"/>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286000" y="2895607"/>
            <a:ext cx="6172200" cy="2053591"/>
          </a:xfrm>
        </p:spPr>
        <p:txBody>
          <a:bodyPr/>
          <a:lstStyle>
            <a:lvl1pPr algn="l">
              <a:buNone/>
              <a:defRPr sz="3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2286000" y="5010151"/>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bwMode="auto">
          <a:xfrm rot="5400000">
            <a:off x="7763256" y="1170432"/>
            <a:ext cx="2286000" cy="381000"/>
          </a:xfrm>
        </p:spPr>
        <p:txBody>
          <a:bodyPr/>
          <a:lstStyle/>
          <a:p>
            <a:fld id="{A5D8806B-8BF8-4DF1-A9B8-DC00BB0F62C5}" type="datetime1">
              <a:rPr lang="fr-FR" smtClean="0">
                <a:solidFill>
                  <a:srgbClr val="DEDEDE"/>
                </a:solidFill>
              </a:rPr>
              <a:pPr/>
              <a:t>11/10/2024</a:t>
            </a:fld>
            <a:endParaRPr lang="fr-FR">
              <a:solidFill>
                <a:srgbClr val="DEDEDE"/>
              </a:solidFill>
            </a:endParaRPr>
          </a:p>
        </p:txBody>
      </p:sp>
      <p:sp>
        <p:nvSpPr>
          <p:cNvPr id="5" name="Espace réservé du pied de page 4"/>
          <p:cNvSpPr>
            <a:spLocks noGrp="1"/>
          </p:cNvSpPr>
          <p:nvPr>
            <p:ph type="ftr" sz="quarter" idx="11"/>
          </p:nvPr>
        </p:nvSpPr>
        <p:spPr bwMode="auto">
          <a:xfrm rot="5400000">
            <a:off x="7077456" y="4178808"/>
            <a:ext cx="3657600" cy="384048"/>
          </a:xfrm>
        </p:spPr>
        <p:txBody>
          <a:bodyPr/>
          <a:lstStyle/>
          <a:p>
            <a:endParaRPr lang="fr-FR">
              <a:solidFill>
                <a:srgbClr val="DEDEDE"/>
              </a:solidFill>
            </a:endParaRP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3" name="Connecteur droit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4" name="Connecteur droit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5" name="Connecteur droit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7" name="Connecteur droit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6" name="Connecteur droit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white"/>
              </a:solidFill>
            </a:endParaRPr>
          </a:p>
        </p:txBody>
      </p:sp>
      <p:sp>
        <p:nvSpPr>
          <p:cNvPr id="6" name="Espace réservé du numéro de diapositive 5"/>
          <p:cNvSpPr>
            <a:spLocks noGrp="1"/>
          </p:cNvSpPr>
          <p:nvPr>
            <p:ph type="sldNum" sz="quarter" idx="12"/>
          </p:nvPr>
        </p:nvSpPr>
        <p:spPr bwMode="auto">
          <a:xfrm>
            <a:off x="1340616" y="4928703"/>
            <a:ext cx="609600" cy="517524"/>
          </a:xfrm>
        </p:spPr>
        <p:txBody>
          <a:bodyPr/>
          <a:lstStyle/>
          <a:p>
            <a:fld id="{F1AAE0E6-1385-44E0-8EAE-F204D7E7A5E9}"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00E1EFCF-8122-4629-8E0B-FC4D1BC93AAF}" type="datetime1">
              <a:rPr lang="fr-FR" smtClean="0">
                <a:solidFill>
                  <a:srgbClr val="424456"/>
                </a:solidFill>
              </a:rPr>
              <a:pPr/>
              <a:t>11/10/2024</a:t>
            </a:fld>
            <a:endParaRPr lang="fr-FR">
              <a:solidFill>
                <a:srgbClr val="424456"/>
              </a:solidFill>
            </a:endParaRPr>
          </a:p>
        </p:txBody>
      </p:sp>
      <p:sp>
        <p:nvSpPr>
          <p:cNvPr id="6" name="Espace réservé du pied de page 5"/>
          <p:cNvSpPr>
            <a:spLocks noGrp="1"/>
          </p:cNvSpPr>
          <p:nvPr>
            <p:ph type="ftr" sz="quarter" idx="11"/>
          </p:nvPr>
        </p:nvSpPr>
        <p:spPr/>
        <p:txBody>
          <a:bodyPr/>
          <a:lstStyle/>
          <a:p>
            <a:endParaRPr lang="fr-FR">
              <a:solidFill>
                <a:srgbClr val="424456"/>
              </a:solidFill>
            </a:endParaRPr>
          </a:p>
        </p:txBody>
      </p:sp>
      <p:sp>
        <p:nvSpPr>
          <p:cNvPr id="7" name="Espace réservé du numéro de diapositive 6"/>
          <p:cNvSpPr>
            <a:spLocks noGrp="1"/>
          </p:cNvSpPr>
          <p:nvPr>
            <p:ph type="sldNum" sz="quarter" idx="12"/>
          </p:nvPr>
        </p:nvSpPr>
        <p:spPr/>
        <p:txBody>
          <a:bodyPr/>
          <a:lstStyle/>
          <a:p>
            <a:fld id="{F1AAE0E6-1385-44E0-8EAE-F204D7E7A5E9}" type="slidenum">
              <a:rPr lang="fr-FR" smtClean="0"/>
              <a:pPr/>
              <a:t>‹N°›</a:t>
            </a:fld>
            <a:endParaRPr lang="fr-FR"/>
          </a:p>
        </p:txBody>
      </p:sp>
      <p:sp>
        <p:nvSpPr>
          <p:cNvPr id="9" name="Espace réservé du contenu 8"/>
          <p:cNvSpPr>
            <a:spLocks noGrp="1"/>
          </p:cNvSpPr>
          <p:nvPr>
            <p:ph sz="quarter" idx="1"/>
          </p:nvPr>
        </p:nvSpPr>
        <p:spPr>
          <a:xfrm>
            <a:off x="457200"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270248"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1"/>
            <a:ext cx="7543800" cy="1143000"/>
          </a:xfrm>
        </p:spPr>
        <p:txBody>
          <a:bodyPr anchor="b"/>
          <a:lstStyle>
            <a:lvl1pPr>
              <a:defRPr/>
            </a:lvl1pPr>
          </a:lstStyle>
          <a:p>
            <a:r>
              <a:rPr kumimoji="0" lang="fr-FR" smtClean="0"/>
              <a:t>Cliquez pour modifier le style du titre</a:t>
            </a:r>
            <a:endParaRPr kumimoji="0" lang="en-US"/>
          </a:p>
        </p:txBody>
      </p:sp>
      <p:sp>
        <p:nvSpPr>
          <p:cNvPr id="7" name="Espace réservé de la date 6"/>
          <p:cNvSpPr>
            <a:spLocks noGrp="1"/>
          </p:cNvSpPr>
          <p:nvPr>
            <p:ph type="dt" sz="half" idx="10"/>
          </p:nvPr>
        </p:nvSpPr>
        <p:spPr/>
        <p:txBody>
          <a:bodyPr/>
          <a:lstStyle/>
          <a:p>
            <a:fld id="{0E810CD6-3157-4D20-8AF0-41320A7C82A3}" type="datetime1">
              <a:rPr lang="fr-FR" smtClean="0">
                <a:solidFill>
                  <a:srgbClr val="424456"/>
                </a:solidFill>
              </a:rPr>
              <a:pPr/>
              <a:t>11/10/2024</a:t>
            </a:fld>
            <a:endParaRPr lang="fr-FR">
              <a:solidFill>
                <a:srgbClr val="424456"/>
              </a:solidFill>
            </a:endParaRPr>
          </a:p>
        </p:txBody>
      </p:sp>
      <p:sp>
        <p:nvSpPr>
          <p:cNvPr id="8" name="Espace réservé du pied de page 7"/>
          <p:cNvSpPr>
            <a:spLocks noGrp="1"/>
          </p:cNvSpPr>
          <p:nvPr>
            <p:ph type="ftr" sz="quarter" idx="11"/>
          </p:nvPr>
        </p:nvSpPr>
        <p:spPr/>
        <p:txBody>
          <a:bodyPr/>
          <a:lstStyle/>
          <a:p>
            <a:endParaRPr lang="fr-FR">
              <a:solidFill>
                <a:srgbClr val="424456"/>
              </a:solidFill>
            </a:endParaRPr>
          </a:p>
        </p:txBody>
      </p:sp>
      <p:sp>
        <p:nvSpPr>
          <p:cNvPr id="9" name="Espace réservé du numéro de diapositive 8"/>
          <p:cNvSpPr>
            <a:spLocks noGrp="1"/>
          </p:cNvSpPr>
          <p:nvPr>
            <p:ph type="sldNum" sz="quarter" idx="12"/>
          </p:nvPr>
        </p:nvSpPr>
        <p:spPr/>
        <p:txBody>
          <a:bodyPr/>
          <a:lstStyle/>
          <a:p>
            <a:fld id="{F1AAE0E6-1385-44E0-8EAE-F204D7E7A5E9}" type="slidenum">
              <a:rPr lang="fr-FR" smtClean="0"/>
              <a:pPr/>
              <a:t>‹N°›</a:t>
            </a:fld>
            <a:endParaRPr lang="fr-FR"/>
          </a:p>
        </p:txBody>
      </p:sp>
      <p:sp>
        <p:nvSpPr>
          <p:cNvPr id="11" name="Espace réservé du contenu 10"/>
          <p:cNvSpPr>
            <a:spLocks noGrp="1"/>
          </p:cNvSpPr>
          <p:nvPr>
            <p:ph sz="quarter" idx="2"/>
          </p:nvPr>
        </p:nvSpPr>
        <p:spPr>
          <a:xfrm>
            <a:off x="457200"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4371975"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texte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
        <p:nvSpPr>
          <p:cNvPr id="14" name="Espace réservé du texte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6" name="Espace réservé de la date 5"/>
          <p:cNvSpPr>
            <a:spLocks noGrp="1"/>
          </p:cNvSpPr>
          <p:nvPr>
            <p:ph type="dt" sz="half" idx="10"/>
          </p:nvPr>
        </p:nvSpPr>
        <p:spPr/>
        <p:txBody>
          <a:bodyPr rtlCol="0"/>
          <a:lstStyle/>
          <a:p>
            <a:fld id="{E0647D0F-F9B8-4B49-93E6-DBDBF359F03E}" type="datetime1">
              <a:rPr lang="fr-FR" smtClean="0">
                <a:solidFill>
                  <a:srgbClr val="424456"/>
                </a:solidFill>
              </a:rPr>
              <a:pPr/>
              <a:t>11/10/2024</a:t>
            </a:fld>
            <a:endParaRPr lang="fr-FR">
              <a:solidFill>
                <a:srgbClr val="424456"/>
              </a:solidFill>
            </a:endParaRPr>
          </a:p>
        </p:txBody>
      </p:sp>
      <p:sp>
        <p:nvSpPr>
          <p:cNvPr id="7" name="Espace réservé du numéro de diapositive 6"/>
          <p:cNvSpPr>
            <a:spLocks noGrp="1"/>
          </p:cNvSpPr>
          <p:nvPr>
            <p:ph type="sldNum" sz="quarter" idx="11"/>
          </p:nvPr>
        </p:nvSpPr>
        <p:spPr/>
        <p:txBody>
          <a:bodyPr rtlCol="0"/>
          <a:lstStyle/>
          <a:p>
            <a:fld id="{F1AAE0E6-1385-44E0-8EAE-F204D7E7A5E9}" type="slidenum">
              <a:rPr lang="fr-FR" smtClean="0"/>
              <a:pPr/>
              <a:t>‹N°›</a:t>
            </a:fld>
            <a:endParaRPr lang="fr-FR"/>
          </a:p>
        </p:txBody>
      </p:sp>
      <p:sp>
        <p:nvSpPr>
          <p:cNvPr id="8" name="Espace réservé du pied de page 7"/>
          <p:cNvSpPr>
            <a:spLocks noGrp="1"/>
          </p:cNvSpPr>
          <p:nvPr>
            <p:ph type="ftr" sz="quarter" idx="12"/>
          </p:nvPr>
        </p:nvSpPr>
        <p:spPr/>
        <p:txBody>
          <a:bodyPr rtlCol="0"/>
          <a:lstStyle/>
          <a:p>
            <a:endParaRPr lang="fr-FR">
              <a:solidFill>
                <a:srgbClr val="424456"/>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C4085-F67F-4FDC-8ADD-F339A57B9D4B}" type="datetime1">
              <a:rPr lang="fr-FR" smtClean="0">
                <a:solidFill>
                  <a:srgbClr val="424456"/>
                </a:solidFill>
              </a:rPr>
              <a:pPr/>
              <a:t>11/10/2024</a:t>
            </a:fld>
            <a:endParaRPr lang="fr-FR">
              <a:solidFill>
                <a:srgbClr val="424456"/>
              </a:solidFill>
            </a:endParaRPr>
          </a:p>
        </p:txBody>
      </p:sp>
      <p:sp>
        <p:nvSpPr>
          <p:cNvPr id="3" name="Espace réservé du pied de page 2"/>
          <p:cNvSpPr>
            <a:spLocks noGrp="1"/>
          </p:cNvSpPr>
          <p:nvPr>
            <p:ph type="ftr" sz="quarter" idx="11"/>
          </p:nvPr>
        </p:nvSpPr>
        <p:spPr/>
        <p:txBody>
          <a:bodyPr/>
          <a:lstStyle/>
          <a:p>
            <a:endParaRPr lang="fr-FR">
              <a:solidFill>
                <a:srgbClr val="424456"/>
              </a:solidFill>
            </a:endParaRPr>
          </a:p>
        </p:txBody>
      </p:sp>
      <p:sp>
        <p:nvSpPr>
          <p:cNvPr id="4" name="Espace réservé du numéro de diapositive 3"/>
          <p:cNvSpPr>
            <a:spLocks noGrp="1"/>
          </p:cNvSpPr>
          <p:nvPr>
            <p:ph type="sldNum" sz="quarter" idx="12"/>
          </p:nvPr>
        </p:nvSpPr>
        <p:spPr/>
        <p:txBody>
          <a:bodyPr/>
          <a:lstStyle/>
          <a:p>
            <a:fld id="{F1AAE0E6-1385-44E0-8EAE-F204D7E7A5E9}" type="slidenum">
              <a:rPr lang="fr-FR" smtClean="0"/>
              <a:pPr/>
              <a:t>‹N°›</a:t>
            </a:fld>
            <a:endParaRPr lang="fr-F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2" name="Titr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812281"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Connecteur droit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9" name="Connecteur droit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11" name="Connecteur droit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3" name="Connecteur droit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18" name="Espace réservé du contenu 17"/>
          <p:cNvSpPr>
            <a:spLocks noGrp="1"/>
          </p:cNvSpPr>
          <p:nvPr>
            <p:ph sz="quarter" idx="1"/>
          </p:nvPr>
        </p:nvSpPr>
        <p:spPr>
          <a:xfrm>
            <a:off x="304800" y="274320"/>
            <a:ext cx="5638800" cy="6327648"/>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1" name="Espace réservé de la date 20"/>
          <p:cNvSpPr>
            <a:spLocks noGrp="1"/>
          </p:cNvSpPr>
          <p:nvPr>
            <p:ph type="dt" sz="half" idx="14"/>
          </p:nvPr>
        </p:nvSpPr>
        <p:spPr/>
        <p:txBody>
          <a:bodyPr rtlCol="0"/>
          <a:lstStyle/>
          <a:p>
            <a:fld id="{6BC9EFD8-5CBC-4E97-8A96-76E3C6DE7ACF}" type="datetime1">
              <a:rPr lang="fr-FR" smtClean="0">
                <a:solidFill>
                  <a:srgbClr val="424456"/>
                </a:solidFill>
              </a:rPr>
              <a:pPr/>
              <a:t>11/10/2024</a:t>
            </a:fld>
            <a:endParaRPr lang="fr-FR">
              <a:solidFill>
                <a:srgbClr val="424456"/>
              </a:solidFill>
            </a:endParaRPr>
          </a:p>
        </p:txBody>
      </p:sp>
      <p:sp>
        <p:nvSpPr>
          <p:cNvPr id="22" name="Espace réservé du numéro de diapositive 21"/>
          <p:cNvSpPr>
            <a:spLocks noGrp="1"/>
          </p:cNvSpPr>
          <p:nvPr>
            <p:ph type="sldNum" sz="quarter" idx="15"/>
          </p:nvPr>
        </p:nvSpPr>
        <p:spPr/>
        <p:txBody>
          <a:bodyPr rtlCol="0"/>
          <a:lstStyle/>
          <a:p>
            <a:fld id="{F1AAE0E6-1385-44E0-8EAE-F204D7E7A5E9}" type="slidenum">
              <a:rPr lang="fr-FR" smtClean="0"/>
              <a:pPr/>
              <a:t>‹N°›</a:t>
            </a:fld>
            <a:endParaRPr lang="fr-FR"/>
          </a:p>
        </p:txBody>
      </p:sp>
      <p:sp>
        <p:nvSpPr>
          <p:cNvPr id="23" name="Espace réservé du pied de page 22"/>
          <p:cNvSpPr>
            <a:spLocks noGrp="1"/>
          </p:cNvSpPr>
          <p:nvPr>
            <p:ph type="ftr" sz="quarter" idx="16"/>
          </p:nvPr>
        </p:nvSpPr>
        <p:spPr/>
        <p:txBody>
          <a:bodyPr rtlCol="0"/>
          <a:lstStyle/>
          <a:p>
            <a:endParaRPr lang="fr-FR">
              <a:solidFill>
                <a:srgbClr val="424456"/>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Connecteur droit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 name="Titre 1"/>
          <p:cNvSpPr>
            <a:spLocks noGrp="1"/>
          </p:cNvSpPr>
          <p:nvPr>
            <p:ph type="title"/>
          </p:nvPr>
        </p:nvSpPr>
        <p:spPr>
          <a:xfrm rot="5400000">
            <a:off x="3350133" y="3200400"/>
            <a:ext cx="6309360" cy="457200"/>
          </a:xfrm>
        </p:spPr>
        <p:txBody>
          <a:bodyPr anchor="b"/>
          <a:lstStyle>
            <a:lvl1pPr algn="l">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6765798" y="264795"/>
            <a:ext cx="1524000" cy="4956048"/>
          </a:xfrm>
        </p:spPr>
        <p:txBody>
          <a:bodyPr rot="0" spcFirstLastPara="0" vertOverflow="overflow" horzOverflow="overflow" vert="horz" wrap="square" lIns="91407" tIns="45704" rIns="91407" bIns="45704" numCol="1" spcCol="274224"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10" name="Connecteur droit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2" name="Connecteur droit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9" name="Connecteur droit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20" name="Connecteur droit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17" name="Espace réservé de la date 16"/>
          <p:cNvSpPr>
            <a:spLocks noGrp="1"/>
          </p:cNvSpPr>
          <p:nvPr>
            <p:ph type="dt" sz="half" idx="10"/>
          </p:nvPr>
        </p:nvSpPr>
        <p:spPr/>
        <p:txBody>
          <a:bodyPr rtlCol="0"/>
          <a:lstStyle/>
          <a:p>
            <a:fld id="{E11DDC73-8124-4D0A-8E3F-059B7F770C0B}" type="datetime1">
              <a:rPr lang="fr-FR" smtClean="0">
                <a:solidFill>
                  <a:srgbClr val="424456"/>
                </a:solidFill>
              </a:rPr>
              <a:pPr/>
              <a:t>11/10/2024</a:t>
            </a:fld>
            <a:endParaRPr lang="fr-FR">
              <a:solidFill>
                <a:srgbClr val="424456"/>
              </a:solidFill>
            </a:endParaRPr>
          </a:p>
        </p:txBody>
      </p:sp>
      <p:sp>
        <p:nvSpPr>
          <p:cNvPr id="18" name="Espace réservé du numéro de diapositive 17"/>
          <p:cNvSpPr>
            <a:spLocks noGrp="1"/>
          </p:cNvSpPr>
          <p:nvPr>
            <p:ph type="sldNum" sz="quarter" idx="11"/>
          </p:nvPr>
        </p:nvSpPr>
        <p:spPr/>
        <p:txBody>
          <a:bodyPr rtlCol="0"/>
          <a:lstStyle/>
          <a:p>
            <a:fld id="{F1AAE0E6-1385-44E0-8EAE-F204D7E7A5E9}" type="slidenum">
              <a:rPr lang="fr-FR" smtClean="0"/>
              <a:pPr/>
              <a:t>‹N°›</a:t>
            </a:fld>
            <a:endParaRPr lang="fr-FR"/>
          </a:p>
        </p:txBody>
      </p:sp>
      <p:sp>
        <p:nvSpPr>
          <p:cNvPr id="21" name="Espace réservé du pied de page 20"/>
          <p:cNvSpPr>
            <a:spLocks noGrp="1"/>
          </p:cNvSpPr>
          <p:nvPr>
            <p:ph type="ftr" sz="quarter" idx="12"/>
          </p:nvPr>
        </p:nvSpPr>
        <p:spPr/>
        <p:txBody>
          <a:bodyPr rtlCol="0"/>
          <a:lstStyle/>
          <a:p>
            <a:endParaRPr lang="fr-FR">
              <a:solidFill>
                <a:srgbClr val="424456"/>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0D64D961-C3A4-4C98-BC49-C274DA29ABEE}" type="datetime1">
              <a:rPr lang="fr-FR" smtClean="0">
                <a:solidFill>
                  <a:srgbClr val="424456"/>
                </a:solidFill>
              </a:rPr>
              <a:pPr/>
              <a:t>11/10/2024</a:t>
            </a:fld>
            <a:endParaRPr lang="fr-FR">
              <a:solidFill>
                <a:srgbClr val="424456"/>
              </a:solidFill>
            </a:endParaRPr>
          </a:p>
        </p:txBody>
      </p:sp>
      <p:sp>
        <p:nvSpPr>
          <p:cNvPr id="5" name="Espace réservé du pied de page 4"/>
          <p:cNvSpPr>
            <a:spLocks noGrp="1"/>
          </p:cNvSpPr>
          <p:nvPr>
            <p:ph type="ftr" sz="quarter" idx="11"/>
          </p:nvPr>
        </p:nvSpPr>
        <p:spPr/>
        <p:txBody>
          <a:bodyPr/>
          <a:lstStyle/>
          <a:p>
            <a:endParaRPr lang="fr-FR">
              <a:solidFill>
                <a:srgbClr val="424456"/>
              </a:solidFill>
            </a:endParaRPr>
          </a:p>
        </p:txBody>
      </p:sp>
      <p:sp>
        <p:nvSpPr>
          <p:cNvPr id="6" name="Espace réservé du numéro de diapositive 5"/>
          <p:cNvSpPr>
            <a:spLocks noGrp="1"/>
          </p:cNvSpPr>
          <p:nvPr>
            <p:ph type="sldNum" sz="quarter" idx="12"/>
          </p:nvPr>
        </p:nvSpPr>
        <p:spPr/>
        <p:txBody>
          <a:bodyPr/>
          <a:lstStyle/>
          <a:p>
            <a:fld id="{F1AAE0E6-1385-44E0-8EAE-F204D7E7A5E9}" type="slidenum">
              <a:rPr lang="fr-FR" smtClean="0"/>
              <a:pPr/>
              <a:t>‹N°›</a:t>
            </a:fld>
            <a:endParaRPr lang="fr-F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0"/>
            <a:ext cx="1676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40"/>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7EC59DCD-7A86-410D-A355-C85297007F2C}" type="datetime1">
              <a:rPr lang="fr-FR" smtClean="0">
                <a:solidFill>
                  <a:srgbClr val="424456"/>
                </a:solidFill>
              </a:rPr>
              <a:pPr/>
              <a:t>11/10/2024</a:t>
            </a:fld>
            <a:endParaRPr lang="fr-FR">
              <a:solidFill>
                <a:srgbClr val="424456"/>
              </a:solidFill>
            </a:endParaRPr>
          </a:p>
        </p:txBody>
      </p:sp>
      <p:sp>
        <p:nvSpPr>
          <p:cNvPr id="5" name="Espace réservé du pied de page 4"/>
          <p:cNvSpPr>
            <a:spLocks noGrp="1"/>
          </p:cNvSpPr>
          <p:nvPr>
            <p:ph type="ftr" sz="quarter" idx="11"/>
          </p:nvPr>
        </p:nvSpPr>
        <p:spPr/>
        <p:txBody>
          <a:bodyPr/>
          <a:lstStyle/>
          <a:p>
            <a:endParaRPr lang="fr-FR">
              <a:solidFill>
                <a:srgbClr val="424456"/>
              </a:solidFill>
            </a:endParaRPr>
          </a:p>
        </p:txBody>
      </p:sp>
      <p:sp>
        <p:nvSpPr>
          <p:cNvPr id="6" name="Espace réservé du numéro de diapositive 5"/>
          <p:cNvSpPr>
            <a:spLocks noGrp="1"/>
          </p:cNvSpPr>
          <p:nvPr>
            <p:ph type="sldNum" sz="quarter" idx="12"/>
          </p:nvPr>
        </p:nvSpPr>
        <p:spPr/>
        <p:txBody>
          <a:bodyPr/>
          <a:lstStyle/>
          <a:p>
            <a:fld id="{F1AAE0E6-1385-44E0-8EAE-F204D7E7A5E9}" type="slidenum">
              <a:rPr lang="fr-FR" smtClean="0"/>
              <a:pPr/>
              <a:t>‹N°›</a:t>
            </a:fld>
            <a:endParaRPr lang="fr-F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E1001A"/>
                </a:solidFill>
                <a:latin typeface="Arial"/>
                <a:cs typeface="Arial"/>
              </a:defRPr>
            </a:lvl1pPr>
          </a:lstStyle>
          <a:p>
            <a:endParaRPr/>
          </a:p>
        </p:txBody>
      </p:sp>
      <p:sp>
        <p:nvSpPr>
          <p:cNvPr id="3" name="Holder 3"/>
          <p:cNvSpPr>
            <a:spLocks noGrp="1"/>
          </p:cNvSpPr>
          <p:nvPr>
            <p:ph sz="half" idx="2"/>
          </p:nvPr>
        </p:nvSpPr>
        <p:spPr>
          <a:xfrm>
            <a:off x="535937" y="1202617"/>
            <a:ext cx="3977004" cy="307777"/>
          </a:xfrm>
          <a:prstGeom prst="rect">
            <a:avLst/>
          </a:prstGeom>
        </p:spPr>
        <p:txBody>
          <a:bodyPr wrap="square" lIns="0" tIns="0" rIns="0" bIns="0">
            <a:spAutoFit/>
          </a:bodyPr>
          <a:lstStyle>
            <a:lvl1pPr>
              <a:defRPr sz="2000" b="0" i="0">
                <a:solidFill>
                  <a:srgbClr val="4C4C4C"/>
                </a:solidFill>
                <a:latin typeface="Arial"/>
                <a:cs typeface="Arial"/>
              </a:defRPr>
            </a:lvl1pPr>
          </a:lstStyle>
          <a:p>
            <a:endParaRPr/>
          </a:p>
        </p:txBody>
      </p:sp>
      <p:sp>
        <p:nvSpPr>
          <p:cNvPr id="4" name="Holder 4"/>
          <p:cNvSpPr>
            <a:spLocks noGrp="1"/>
          </p:cNvSpPr>
          <p:nvPr>
            <p:ph sz="half" idx="3"/>
          </p:nvPr>
        </p:nvSpPr>
        <p:spPr>
          <a:xfrm>
            <a:off x="4709160" y="1577340"/>
            <a:ext cx="397764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FF767D52-36CF-4318-841F-0C452823B621}" type="datetime1">
              <a:rPr lang="fr-FR" smtClean="0">
                <a:solidFill>
                  <a:prstClr val="black">
                    <a:tint val="75000"/>
                  </a:prstClr>
                </a:solidFill>
              </a:rPr>
              <a:pPr/>
              <a:t>11/10/2024</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marL="38087">
              <a:lnSpc>
                <a:spcPts val="1315"/>
              </a:lnSpc>
              <a:defRPr sz="1100" b="0" i="0">
                <a:solidFill>
                  <a:srgbClr val="4C4C4C"/>
                </a:solidFill>
                <a:latin typeface="Arial"/>
                <a:cs typeface="Arial"/>
              </a:defRPr>
            </a:lvl1pPr>
          </a:lstStyle>
          <a:p>
            <a:fld id="{81D60167-4931-47E6-BA6A-407CBD079E47}" type="slidenum">
              <a:rPr lang="fr-FR" smtClean="0"/>
              <a:pPr/>
              <a:t>‹N°›</a:t>
            </a:fld>
            <a:endParaRPr lang="fr-FR"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43355" y="0"/>
            <a:ext cx="47625" cy="6858000"/>
          </a:xfrm>
          <a:custGeom>
            <a:avLst/>
            <a:gdLst/>
            <a:ahLst/>
            <a:cxnLst/>
            <a:rect l="l" t="t" r="r" b="b"/>
            <a:pathLst>
              <a:path w="47625" h="6858000">
                <a:moveTo>
                  <a:pt x="0" y="6858000"/>
                </a:moveTo>
                <a:lnTo>
                  <a:pt x="47243" y="6858000"/>
                </a:lnTo>
                <a:lnTo>
                  <a:pt x="47243" y="0"/>
                </a:lnTo>
                <a:lnTo>
                  <a:pt x="0" y="0"/>
                </a:lnTo>
                <a:lnTo>
                  <a:pt x="0" y="6858000"/>
                </a:lnTo>
                <a:close/>
              </a:path>
            </a:pathLst>
          </a:custGeom>
          <a:solidFill>
            <a:srgbClr val="FDC3AD">
              <a:alpha val="54116"/>
            </a:srgbClr>
          </a:solidFill>
        </p:spPr>
        <p:txBody>
          <a:bodyPr wrap="square" lIns="0" tIns="0" rIns="0" bIns="0" rtlCol="0"/>
          <a:lstStyle/>
          <a:p>
            <a:endParaRPr/>
          </a:p>
        </p:txBody>
      </p:sp>
      <p:sp>
        <p:nvSpPr>
          <p:cNvPr id="17" name="bk object 17"/>
          <p:cNvSpPr/>
          <p:nvPr/>
        </p:nvSpPr>
        <p:spPr>
          <a:xfrm>
            <a:off x="882396" y="0"/>
            <a:ext cx="3175" cy="6858000"/>
          </a:xfrm>
          <a:custGeom>
            <a:avLst/>
            <a:gdLst/>
            <a:ahLst/>
            <a:cxnLst/>
            <a:rect l="l" t="t" r="r" b="b"/>
            <a:pathLst>
              <a:path w="3175" h="6858000">
                <a:moveTo>
                  <a:pt x="0" y="6858000"/>
                </a:moveTo>
                <a:lnTo>
                  <a:pt x="3047" y="6858000"/>
                </a:lnTo>
                <a:lnTo>
                  <a:pt x="3047" y="0"/>
                </a:lnTo>
                <a:lnTo>
                  <a:pt x="0" y="0"/>
                </a:lnTo>
                <a:lnTo>
                  <a:pt x="0" y="6858000"/>
                </a:lnTo>
                <a:close/>
              </a:path>
            </a:pathLst>
          </a:custGeom>
          <a:solidFill>
            <a:srgbClr val="FDC3AD">
              <a:alpha val="54116"/>
            </a:srgbClr>
          </a:solidFill>
        </p:spPr>
        <p:txBody>
          <a:bodyPr wrap="square" lIns="0" tIns="0" rIns="0" bIns="0" rtlCol="0"/>
          <a:lstStyle/>
          <a:p>
            <a:endParaRPr/>
          </a:p>
        </p:txBody>
      </p:sp>
      <p:sp>
        <p:nvSpPr>
          <p:cNvPr id="18" name="bk object 18"/>
          <p:cNvSpPr/>
          <p:nvPr/>
        </p:nvSpPr>
        <p:spPr>
          <a:xfrm>
            <a:off x="381000" y="0"/>
            <a:ext cx="443865" cy="6858000"/>
          </a:xfrm>
          <a:custGeom>
            <a:avLst/>
            <a:gdLst/>
            <a:ahLst/>
            <a:cxnLst/>
            <a:rect l="l" t="t" r="r" b="b"/>
            <a:pathLst>
              <a:path w="443865" h="6858000">
                <a:moveTo>
                  <a:pt x="0" y="6858000"/>
                </a:moveTo>
                <a:lnTo>
                  <a:pt x="443484" y="6858000"/>
                </a:lnTo>
                <a:lnTo>
                  <a:pt x="443484" y="0"/>
                </a:lnTo>
                <a:lnTo>
                  <a:pt x="0" y="0"/>
                </a:lnTo>
                <a:lnTo>
                  <a:pt x="0" y="6858000"/>
                </a:lnTo>
                <a:close/>
              </a:path>
            </a:pathLst>
          </a:custGeom>
          <a:solidFill>
            <a:srgbClr val="FDC3AD">
              <a:alpha val="54116"/>
            </a:srgbClr>
          </a:solidFill>
        </p:spPr>
        <p:txBody>
          <a:bodyPr wrap="square" lIns="0" tIns="0" rIns="0" bIns="0" rtlCol="0"/>
          <a:lstStyle/>
          <a:p>
            <a:endParaRPr/>
          </a:p>
        </p:txBody>
      </p:sp>
      <p:sp>
        <p:nvSpPr>
          <p:cNvPr id="19" name="bk object 19"/>
          <p:cNvSpPr/>
          <p:nvPr/>
        </p:nvSpPr>
        <p:spPr>
          <a:xfrm>
            <a:off x="275843" y="0"/>
            <a:ext cx="105410" cy="6858000"/>
          </a:xfrm>
          <a:custGeom>
            <a:avLst/>
            <a:gdLst/>
            <a:ahLst/>
            <a:cxnLst/>
            <a:rect l="l" t="t" r="r" b="b"/>
            <a:pathLst>
              <a:path w="105410" h="6858000">
                <a:moveTo>
                  <a:pt x="0" y="6858000"/>
                </a:moveTo>
                <a:lnTo>
                  <a:pt x="105156" y="6858000"/>
                </a:lnTo>
                <a:lnTo>
                  <a:pt x="105156" y="0"/>
                </a:lnTo>
                <a:lnTo>
                  <a:pt x="0" y="0"/>
                </a:lnTo>
                <a:lnTo>
                  <a:pt x="0" y="6858000"/>
                </a:lnTo>
                <a:close/>
              </a:path>
            </a:pathLst>
          </a:custGeom>
          <a:solidFill>
            <a:srgbClr val="FFD9CE">
              <a:alpha val="36077"/>
            </a:srgbClr>
          </a:solidFill>
        </p:spPr>
        <p:txBody>
          <a:bodyPr wrap="square" lIns="0" tIns="0" rIns="0" bIns="0" rtlCol="0"/>
          <a:lstStyle/>
          <a:p>
            <a:endParaRPr/>
          </a:p>
        </p:txBody>
      </p:sp>
      <p:sp>
        <p:nvSpPr>
          <p:cNvPr id="20" name="bk object 20"/>
          <p:cNvSpPr/>
          <p:nvPr/>
        </p:nvSpPr>
        <p:spPr>
          <a:xfrm>
            <a:off x="990600" y="0"/>
            <a:ext cx="151130" cy="6858000"/>
          </a:xfrm>
          <a:custGeom>
            <a:avLst/>
            <a:gdLst/>
            <a:ahLst/>
            <a:cxnLst/>
            <a:rect l="l" t="t" r="r" b="b"/>
            <a:pathLst>
              <a:path w="151130" h="6858000">
                <a:moveTo>
                  <a:pt x="0" y="6858000"/>
                </a:moveTo>
                <a:lnTo>
                  <a:pt x="150875" y="6858000"/>
                </a:lnTo>
                <a:lnTo>
                  <a:pt x="150875" y="0"/>
                </a:lnTo>
                <a:lnTo>
                  <a:pt x="0" y="0"/>
                </a:lnTo>
                <a:lnTo>
                  <a:pt x="0" y="6858000"/>
                </a:lnTo>
                <a:close/>
              </a:path>
            </a:pathLst>
          </a:custGeom>
          <a:solidFill>
            <a:srgbClr val="FFD9CE">
              <a:alpha val="70195"/>
            </a:srgbClr>
          </a:solidFill>
        </p:spPr>
        <p:txBody>
          <a:bodyPr wrap="square" lIns="0" tIns="0" rIns="0" bIns="0" rtlCol="0"/>
          <a:lstStyle/>
          <a:p>
            <a:endParaRPr/>
          </a:p>
        </p:txBody>
      </p:sp>
      <p:sp>
        <p:nvSpPr>
          <p:cNvPr id="21" name="bk object 21"/>
          <p:cNvSpPr/>
          <p:nvPr/>
        </p:nvSpPr>
        <p:spPr>
          <a:xfrm>
            <a:off x="1295400" y="0"/>
            <a:ext cx="76200" cy="6858000"/>
          </a:xfrm>
          <a:custGeom>
            <a:avLst/>
            <a:gdLst/>
            <a:ahLst/>
            <a:cxnLst/>
            <a:rect l="l" t="t" r="r" b="b"/>
            <a:pathLst>
              <a:path w="76200" h="6858000">
                <a:moveTo>
                  <a:pt x="0" y="6858000"/>
                </a:moveTo>
                <a:lnTo>
                  <a:pt x="76200" y="6858000"/>
                </a:lnTo>
                <a:lnTo>
                  <a:pt x="76200" y="0"/>
                </a:lnTo>
                <a:lnTo>
                  <a:pt x="0" y="0"/>
                </a:lnTo>
                <a:lnTo>
                  <a:pt x="0" y="6858000"/>
                </a:lnTo>
                <a:close/>
              </a:path>
            </a:pathLst>
          </a:custGeom>
          <a:solidFill>
            <a:srgbClr val="FFECE8">
              <a:alpha val="70979"/>
            </a:srgbClr>
          </a:solidFill>
        </p:spPr>
        <p:txBody>
          <a:bodyPr wrap="square" lIns="0" tIns="0" rIns="0" bIns="0" rtlCol="0"/>
          <a:lstStyle/>
          <a:p>
            <a:endParaRPr/>
          </a:p>
        </p:txBody>
      </p:sp>
      <p:sp>
        <p:nvSpPr>
          <p:cNvPr id="22" name="bk object 22"/>
          <p:cNvSpPr/>
          <p:nvPr/>
        </p:nvSpPr>
        <p:spPr>
          <a:xfrm>
            <a:off x="1141475" y="0"/>
            <a:ext cx="78105" cy="6858000"/>
          </a:xfrm>
          <a:custGeom>
            <a:avLst/>
            <a:gdLst/>
            <a:ahLst/>
            <a:cxnLst/>
            <a:rect l="l" t="t" r="r" b="b"/>
            <a:pathLst>
              <a:path w="78105" h="6858000">
                <a:moveTo>
                  <a:pt x="0" y="6858000"/>
                </a:moveTo>
                <a:lnTo>
                  <a:pt x="77724" y="6858000"/>
                </a:lnTo>
                <a:lnTo>
                  <a:pt x="77724" y="0"/>
                </a:lnTo>
                <a:lnTo>
                  <a:pt x="0" y="0"/>
                </a:lnTo>
                <a:lnTo>
                  <a:pt x="0" y="6858000"/>
                </a:lnTo>
                <a:close/>
              </a:path>
            </a:pathLst>
          </a:custGeom>
          <a:solidFill>
            <a:srgbClr val="FFECE8">
              <a:alpha val="70979"/>
            </a:srgbClr>
          </a:solidFill>
        </p:spPr>
        <p:txBody>
          <a:bodyPr wrap="square" lIns="0" tIns="0" rIns="0" bIns="0" rtlCol="0"/>
          <a:lstStyle/>
          <a:p>
            <a:endParaRPr/>
          </a:p>
        </p:txBody>
      </p:sp>
      <p:sp>
        <p:nvSpPr>
          <p:cNvPr id="23" name="bk object 23"/>
          <p:cNvSpPr/>
          <p:nvPr/>
        </p:nvSpPr>
        <p:spPr>
          <a:xfrm>
            <a:off x="106679" y="0"/>
            <a:ext cx="0" cy="6858000"/>
          </a:xfrm>
          <a:custGeom>
            <a:avLst/>
            <a:gdLst/>
            <a:ahLst/>
            <a:cxnLst/>
            <a:rect l="l" t="t" r="r" b="b"/>
            <a:pathLst>
              <a:path h="6858000">
                <a:moveTo>
                  <a:pt x="0" y="0"/>
                </a:moveTo>
                <a:lnTo>
                  <a:pt x="1" y="6857999"/>
                </a:lnTo>
              </a:path>
            </a:pathLst>
          </a:custGeom>
          <a:ln w="57912">
            <a:solidFill>
              <a:srgbClr val="FDC3AD"/>
            </a:solidFill>
          </a:ln>
        </p:spPr>
        <p:txBody>
          <a:bodyPr wrap="square" lIns="0" tIns="0" rIns="0" bIns="0" rtlCol="0"/>
          <a:lstStyle/>
          <a:p>
            <a:endParaRPr/>
          </a:p>
        </p:txBody>
      </p:sp>
      <p:sp>
        <p:nvSpPr>
          <p:cNvPr id="24" name="bk object 24"/>
          <p:cNvSpPr/>
          <p:nvPr/>
        </p:nvSpPr>
        <p:spPr>
          <a:xfrm>
            <a:off x="885444" y="0"/>
            <a:ext cx="58419" cy="6858000"/>
          </a:xfrm>
          <a:custGeom>
            <a:avLst/>
            <a:gdLst/>
            <a:ahLst/>
            <a:cxnLst/>
            <a:rect l="l" t="t" r="r" b="b"/>
            <a:pathLst>
              <a:path w="58419" h="6858000">
                <a:moveTo>
                  <a:pt x="0" y="6857999"/>
                </a:moveTo>
                <a:lnTo>
                  <a:pt x="57912" y="6857999"/>
                </a:lnTo>
                <a:lnTo>
                  <a:pt x="57912" y="0"/>
                </a:lnTo>
                <a:lnTo>
                  <a:pt x="0" y="0"/>
                </a:lnTo>
                <a:lnTo>
                  <a:pt x="0" y="6857999"/>
                </a:lnTo>
                <a:close/>
              </a:path>
            </a:pathLst>
          </a:custGeom>
          <a:solidFill>
            <a:srgbClr val="FFECE8"/>
          </a:solidFill>
        </p:spPr>
        <p:txBody>
          <a:bodyPr wrap="square" lIns="0" tIns="0" rIns="0" bIns="0" rtlCol="0"/>
          <a:lstStyle/>
          <a:p>
            <a:endParaRPr/>
          </a:p>
        </p:txBody>
      </p:sp>
      <p:sp>
        <p:nvSpPr>
          <p:cNvPr id="25" name="bk object 25"/>
          <p:cNvSpPr/>
          <p:nvPr/>
        </p:nvSpPr>
        <p:spPr>
          <a:xfrm>
            <a:off x="824483" y="0"/>
            <a:ext cx="58419" cy="6858000"/>
          </a:xfrm>
          <a:custGeom>
            <a:avLst/>
            <a:gdLst/>
            <a:ahLst/>
            <a:cxnLst/>
            <a:rect l="l" t="t" r="r" b="b"/>
            <a:pathLst>
              <a:path w="58419" h="6858000">
                <a:moveTo>
                  <a:pt x="0" y="6857999"/>
                </a:moveTo>
                <a:lnTo>
                  <a:pt x="57912" y="6857999"/>
                </a:lnTo>
                <a:lnTo>
                  <a:pt x="57912" y="0"/>
                </a:lnTo>
                <a:lnTo>
                  <a:pt x="0" y="0"/>
                </a:lnTo>
                <a:lnTo>
                  <a:pt x="0" y="6857999"/>
                </a:lnTo>
                <a:close/>
              </a:path>
            </a:pathLst>
          </a:custGeom>
          <a:solidFill>
            <a:srgbClr val="FDC3AD"/>
          </a:solidFill>
        </p:spPr>
        <p:txBody>
          <a:bodyPr wrap="square" lIns="0" tIns="0" rIns="0" bIns="0" rtlCol="0"/>
          <a:lstStyle/>
          <a:p>
            <a:endParaRPr/>
          </a:p>
        </p:txBody>
      </p:sp>
      <p:sp>
        <p:nvSpPr>
          <p:cNvPr id="26" name="bk object 26"/>
          <p:cNvSpPr/>
          <p:nvPr/>
        </p:nvSpPr>
        <p:spPr>
          <a:xfrm>
            <a:off x="1727454" y="761"/>
            <a:ext cx="0" cy="6858000"/>
          </a:xfrm>
          <a:custGeom>
            <a:avLst/>
            <a:gdLst/>
            <a:ahLst/>
            <a:cxnLst/>
            <a:rect l="l" t="t" r="r" b="b"/>
            <a:pathLst>
              <a:path h="6858000">
                <a:moveTo>
                  <a:pt x="0" y="0"/>
                </a:moveTo>
                <a:lnTo>
                  <a:pt x="0" y="6857999"/>
                </a:lnTo>
              </a:path>
            </a:pathLst>
          </a:custGeom>
          <a:ln w="28956">
            <a:solidFill>
              <a:srgbClr val="FDC3AD"/>
            </a:solidFill>
          </a:ln>
        </p:spPr>
        <p:txBody>
          <a:bodyPr wrap="square" lIns="0" tIns="0" rIns="0" bIns="0" rtlCol="0"/>
          <a:lstStyle/>
          <a:p>
            <a:endParaRPr/>
          </a:p>
        </p:txBody>
      </p:sp>
      <p:sp>
        <p:nvSpPr>
          <p:cNvPr id="27" name="bk object 27"/>
          <p:cNvSpPr/>
          <p:nvPr/>
        </p:nvSpPr>
        <p:spPr>
          <a:xfrm>
            <a:off x="1066800" y="0"/>
            <a:ext cx="0" cy="6858000"/>
          </a:xfrm>
          <a:custGeom>
            <a:avLst/>
            <a:gdLst/>
            <a:ahLst/>
            <a:cxnLst/>
            <a:rect l="l" t="t" r="r" b="b"/>
            <a:pathLst>
              <a:path h="6858000">
                <a:moveTo>
                  <a:pt x="0" y="0"/>
                </a:moveTo>
                <a:lnTo>
                  <a:pt x="0" y="6857999"/>
                </a:lnTo>
              </a:path>
            </a:pathLst>
          </a:custGeom>
          <a:ln w="9144">
            <a:solidFill>
              <a:srgbClr val="FDC3AD"/>
            </a:solidFill>
          </a:ln>
        </p:spPr>
        <p:txBody>
          <a:bodyPr wrap="square" lIns="0" tIns="0" rIns="0" bIns="0" rtlCol="0"/>
          <a:lstStyle/>
          <a:p>
            <a:endParaRPr/>
          </a:p>
        </p:txBody>
      </p:sp>
      <p:sp>
        <p:nvSpPr>
          <p:cNvPr id="28" name="bk object 28"/>
          <p:cNvSpPr/>
          <p:nvPr/>
        </p:nvSpPr>
        <p:spPr>
          <a:xfrm>
            <a:off x="9125077" y="0"/>
            <a:ext cx="0" cy="6858000"/>
          </a:xfrm>
          <a:custGeom>
            <a:avLst/>
            <a:gdLst/>
            <a:ahLst/>
            <a:cxnLst/>
            <a:rect l="l" t="t" r="r" b="b"/>
            <a:pathLst>
              <a:path h="6858000">
                <a:moveTo>
                  <a:pt x="0" y="0"/>
                </a:moveTo>
                <a:lnTo>
                  <a:pt x="0" y="6857997"/>
                </a:lnTo>
              </a:path>
            </a:pathLst>
          </a:custGeom>
          <a:ln w="34798">
            <a:solidFill>
              <a:srgbClr val="FDC3AD"/>
            </a:solidFill>
          </a:ln>
        </p:spPr>
        <p:txBody>
          <a:bodyPr wrap="square" lIns="0" tIns="0" rIns="0" bIns="0" rtlCol="0"/>
          <a:lstStyle/>
          <a:p>
            <a:endParaRPr/>
          </a:p>
        </p:txBody>
      </p:sp>
      <p:sp>
        <p:nvSpPr>
          <p:cNvPr id="29" name="bk object 29"/>
          <p:cNvSpPr/>
          <p:nvPr/>
        </p:nvSpPr>
        <p:spPr>
          <a:xfrm>
            <a:off x="9090342" y="0"/>
            <a:ext cx="0" cy="6858000"/>
          </a:xfrm>
          <a:custGeom>
            <a:avLst/>
            <a:gdLst/>
            <a:ahLst/>
            <a:cxnLst/>
            <a:rect l="l" t="t" r="r" b="b"/>
            <a:pathLst>
              <a:path h="6858000">
                <a:moveTo>
                  <a:pt x="0" y="0"/>
                </a:moveTo>
                <a:lnTo>
                  <a:pt x="0" y="6857997"/>
                </a:lnTo>
              </a:path>
            </a:pathLst>
          </a:custGeom>
          <a:ln w="11556">
            <a:solidFill>
              <a:srgbClr val="FDC3AD"/>
            </a:solidFill>
          </a:ln>
        </p:spPr>
        <p:txBody>
          <a:bodyPr wrap="square" lIns="0" tIns="0" rIns="0" bIns="0" rtlCol="0"/>
          <a:lstStyle/>
          <a:p>
            <a:endParaRPr/>
          </a:p>
        </p:txBody>
      </p:sp>
      <p:sp>
        <p:nvSpPr>
          <p:cNvPr id="30" name="bk object 30"/>
          <p:cNvSpPr/>
          <p:nvPr/>
        </p:nvSpPr>
        <p:spPr>
          <a:xfrm>
            <a:off x="1257300" y="0"/>
            <a:ext cx="0" cy="6858000"/>
          </a:xfrm>
          <a:custGeom>
            <a:avLst/>
            <a:gdLst/>
            <a:ahLst/>
            <a:cxnLst/>
            <a:rect l="l" t="t" r="r" b="b"/>
            <a:pathLst>
              <a:path h="6858000">
                <a:moveTo>
                  <a:pt x="0" y="0"/>
                </a:moveTo>
                <a:lnTo>
                  <a:pt x="0" y="6858000"/>
                </a:lnTo>
              </a:path>
            </a:pathLst>
          </a:custGeom>
          <a:ln w="76200">
            <a:solidFill>
              <a:srgbClr val="FDC3AD"/>
            </a:solidFill>
          </a:ln>
        </p:spPr>
        <p:txBody>
          <a:bodyPr wrap="square" lIns="0" tIns="0" rIns="0" bIns="0" rtlCol="0"/>
          <a:lstStyle/>
          <a:p>
            <a:endParaRPr/>
          </a:p>
        </p:txBody>
      </p:sp>
      <p:sp>
        <p:nvSpPr>
          <p:cNvPr id="31" name="bk object 31"/>
          <p:cNvSpPr/>
          <p:nvPr/>
        </p:nvSpPr>
        <p:spPr>
          <a:xfrm>
            <a:off x="609600" y="3429000"/>
            <a:ext cx="1295400" cy="1295400"/>
          </a:xfrm>
          <a:custGeom>
            <a:avLst/>
            <a:gdLst/>
            <a:ahLst/>
            <a:cxnLst/>
            <a:rect l="l" t="t" r="r" b="b"/>
            <a:pathLst>
              <a:path w="1295400" h="1295400">
                <a:moveTo>
                  <a:pt x="647700" y="0"/>
                </a:moveTo>
                <a:lnTo>
                  <a:pt x="599360" y="1776"/>
                </a:lnTo>
                <a:lnTo>
                  <a:pt x="551986" y="7021"/>
                </a:lnTo>
                <a:lnTo>
                  <a:pt x="505702" y="15611"/>
                </a:lnTo>
                <a:lnTo>
                  <a:pt x="460633" y="27419"/>
                </a:lnTo>
                <a:lnTo>
                  <a:pt x="416905" y="42321"/>
                </a:lnTo>
                <a:lnTo>
                  <a:pt x="374643" y="60191"/>
                </a:lnTo>
                <a:lnTo>
                  <a:pt x="333972" y="80905"/>
                </a:lnTo>
                <a:lnTo>
                  <a:pt x="295017" y="104337"/>
                </a:lnTo>
                <a:lnTo>
                  <a:pt x="257904" y="130362"/>
                </a:lnTo>
                <a:lnTo>
                  <a:pt x="222758" y="158854"/>
                </a:lnTo>
                <a:lnTo>
                  <a:pt x="189704" y="189690"/>
                </a:lnTo>
                <a:lnTo>
                  <a:pt x="158867" y="222743"/>
                </a:lnTo>
                <a:lnTo>
                  <a:pt x="130373" y="257888"/>
                </a:lnTo>
                <a:lnTo>
                  <a:pt x="104346" y="295001"/>
                </a:lnTo>
                <a:lnTo>
                  <a:pt x="80913" y="333955"/>
                </a:lnTo>
                <a:lnTo>
                  <a:pt x="60197" y="374626"/>
                </a:lnTo>
                <a:lnTo>
                  <a:pt x="42325" y="416889"/>
                </a:lnTo>
                <a:lnTo>
                  <a:pt x="27422" y="460619"/>
                </a:lnTo>
                <a:lnTo>
                  <a:pt x="15612" y="505690"/>
                </a:lnTo>
                <a:lnTo>
                  <a:pt x="7022" y="551977"/>
                </a:lnTo>
                <a:lnTo>
                  <a:pt x="1776" y="599355"/>
                </a:lnTo>
                <a:lnTo>
                  <a:pt x="0" y="647700"/>
                </a:lnTo>
                <a:lnTo>
                  <a:pt x="1776" y="696044"/>
                </a:lnTo>
                <a:lnTo>
                  <a:pt x="7022" y="743422"/>
                </a:lnTo>
                <a:lnTo>
                  <a:pt x="15612" y="789709"/>
                </a:lnTo>
                <a:lnTo>
                  <a:pt x="27422" y="834780"/>
                </a:lnTo>
                <a:lnTo>
                  <a:pt x="42325" y="878510"/>
                </a:lnTo>
                <a:lnTo>
                  <a:pt x="60197" y="920773"/>
                </a:lnTo>
                <a:lnTo>
                  <a:pt x="80913" y="961444"/>
                </a:lnTo>
                <a:lnTo>
                  <a:pt x="104346" y="1000398"/>
                </a:lnTo>
                <a:lnTo>
                  <a:pt x="130373" y="1037511"/>
                </a:lnTo>
                <a:lnTo>
                  <a:pt x="158867" y="1072656"/>
                </a:lnTo>
                <a:lnTo>
                  <a:pt x="189704" y="1105709"/>
                </a:lnTo>
                <a:lnTo>
                  <a:pt x="222758" y="1136545"/>
                </a:lnTo>
                <a:lnTo>
                  <a:pt x="257904" y="1165037"/>
                </a:lnTo>
                <a:lnTo>
                  <a:pt x="295017" y="1191062"/>
                </a:lnTo>
                <a:lnTo>
                  <a:pt x="333972" y="1214494"/>
                </a:lnTo>
                <a:lnTo>
                  <a:pt x="374643" y="1235208"/>
                </a:lnTo>
                <a:lnTo>
                  <a:pt x="416905" y="1253078"/>
                </a:lnTo>
                <a:lnTo>
                  <a:pt x="460633" y="1267980"/>
                </a:lnTo>
                <a:lnTo>
                  <a:pt x="505702" y="1279788"/>
                </a:lnTo>
                <a:lnTo>
                  <a:pt x="551986" y="1288378"/>
                </a:lnTo>
                <a:lnTo>
                  <a:pt x="599360" y="1293623"/>
                </a:lnTo>
                <a:lnTo>
                  <a:pt x="647700" y="1295400"/>
                </a:lnTo>
                <a:lnTo>
                  <a:pt x="696044" y="1293623"/>
                </a:lnTo>
                <a:lnTo>
                  <a:pt x="743422" y="1288378"/>
                </a:lnTo>
                <a:lnTo>
                  <a:pt x="789709" y="1279788"/>
                </a:lnTo>
                <a:lnTo>
                  <a:pt x="834780" y="1267980"/>
                </a:lnTo>
                <a:lnTo>
                  <a:pt x="878510" y="1253078"/>
                </a:lnTo>
                <a:lnTo>
                  <a:pt x="920773" y="1235208"/>
                </a:lnTo>
                <a:lnTo>
                  <a:pt x="961444" y="1214494"/>
                </a:lnTo>
                <a:lnTo>
                  <a:pt x="1000398" y="1191062"/>
                </a:lnTo>
                <a:lnTo>
                  <a:pt x="1037511" y="1165037"/>
                </a:lnTo>
                <a:lnTo>
                  <a:pt x="1072656" y="1136545"/>
                </a:lnTo>
                <a:lnTo>
                  <a:pt x="1105709" y="1105709"/>
                </a:lnTo>
                <a:lnTo>
                  <a:pt x="1136545" y="1072656"/>
                </a:lnTo>
                <a:lnTo>
                  <a:pt x="1165037" y="1037511"/>
                </a:lnTo>
                <a:lnTo>
                  <a:pt x="1191062" y="1000398"/>
                </a:lnTo>
                <a:lnTo>
                  <a:pt x="1214494" y="961444"/>
                </a:lnTo>
                <a:lnTo>
                  <a:pt x="1235208" y="920773"/>
                </a:lnTo>
                <a:lnTo>
                  <a:pt x="1253078" y="878510"/>
                </a:lnTo>
                <a:lnTo>
                  <a:pt x="1267980" y="834780"/>
                </a:lnTo>
                <a:lnTo>
                  <a:pt x="1279788" y="789709"/>
                </a:lnTo>
                <a:lnTo>
                  <a:pt x="1288378" y="743422"/>
                </a:lnTo>
                <a:lnTo>
                  <a:pt x="1293623" y="696044"/>
                </a:lnTo>
                <a:lnTo>
                  <a:pt x="1295400" y="647700"/>
                </a:lnTo>
                <a:lnTo>
                  <a:pt x="1293623" y="599355"/>
                </a:lnTo>
                <a:lnTo>
                  <a:pt x="1288378" y="551977"/>
                </a:lnTo>
                <a:lnTo>
                  <a:pt x="1279788" y="505690"/>
                </a:lnTo>
                <a:lnTo>
                  <a:pt x="1267980" y="460619"/>
                </a:lnTo>
                <a:lnTo>
                  <a:pt x="1253078" y="416889"/>
                </a:lnTo>
                <a:lnTo>
                  <a:pt x="1235208" y="374626"/>
                </a:lnTo>
                <a:lnTo>
                  <a:pt x="1214494" y="333955"/>
                </a:lnTo>
                <a:lnTo>
                  <a:pt x="1191062" y="295001"/>
                </a:lnTo>
                <a:lnTo>
                  <a:pt x="1165037" y="257888"/>
                </a:lnTo>
                <a:lnTo>
                  <a:pt x="1136545" y="222743"/>
                </a:lnTo>
                <a:lnTo>
                  <a:pt x="1105709" y="189690"/>
                </a:lnTo>
                <a:lnTo>
                  <a:pt x="1072656" y="158854"/>
                </a:lnTo>
                <a:lnTo>
                  <a:pt x="1037511" y="130362"/>
                </a:lnTo>
                <a:lnTo>
                  <a:pt x="1000398" y="104337"/>
                </a:lnTo>
                <a:lnTo>
                  <a:pt x="961444" y="80905"/>
                </a:lnTo>
                <a:lnTo>
                  <a:pt x="920773" y="60191"/>
                </a:lnTo>
                <a:lnTo>
                  <a:pt x="878510" y="42321"/>
                </a:lnTo>
                <a:lnTo>
                  <a:pt x="834780" y="27419"/>
                </a:lnTo>
                <a:lnTo>
                  <a:pt x="789709" y="15611"/>
                </a:lnTo>
                <a:lnTo>
                  <a:pt x="743422" y="7021"/>
                </a:lnTo>
                <a:lnTo>
                  <a:pt x="696044" y="1776"/>
                </a:lnTo>
                <a:lnTo>
                  <a:pt x="647700" y="0"/>
                </a:lnTo>
                <a:close/>
              </a:path>
            </a:pathLst>
          </a:custGeom>
          <a:solidFill>
            <a:srgbClr val="FD8537"/>
          </a:solidFill>
        </p:spPr>
        <p:txBody>
          <a:bodyPr wrap="square" lIns="0" tIns="0" rIns="0" bIns="0" rtlCol="0"/>
          <a:lstStyle/>
          <a:p>
            <a:endParaRPr/>
          </a:p>
        </p:txBody>
      </p:sp>
      <p:sp>
        <p:nvSpPr>
          <p:cNvPr id="32" name="bk object 32"/>
          <p:cNvSpPr/>
          <p:nvPr/>
        </p:nvSpPr>
        <p:spPr>
          <a:xfrm>
            <a:off x="1309116" y="4866132"/>
            <a:ext cx="641985" cy="641985"/>
          </a:xfrm>
          <a:custGeom>
            <a:avLst/>
            <a:gdLst/>
            <a:ahLst/>
            <a:cxnLst/>
            <a:rect l="l" t="t" r="r" b="b"/>
            <a:pathLst>
              <a:path w="641985" h="641985">
                <a:moveTo>
                  <a:pt x="320802" y="0"/>
                </a:moveTo>
                <a:lnTo>
                  <a:pt x="273398" y="3478"/>
                </a:lnTo>
                <a:lnTo>
                  <a:pt x="228153" y="13583"/>
                </a:lnTo>
                <a:lnTo>
                  <a:pt x="185563" y="29817"/>
                </a:lnTo>
                <a:lnTo>
                  <a:pt x="146125" y="51685"/>
                </a:lnTo>
                <a:lnTo>
                  <a:pt x="110335" y="78690"/>
                </a:lnTo>
                <a:lnTo>
                  <a:pt x="78690" y="110335"/>
                </a:lnTo>
                <a:lnTo>
                  <a:pt x="51685" y="146125"/>
                </a:lnTo>
                <a:lnTo>
                  <a:pt x="29817" y="185563"/>
                </a:lnTo>
                <a:lnTo>
                  <a:pt x="13583" y="228153"/>
                </a:lnTo>
                <a:lnTo>
                  <a:pt x="3478" y="273398"/>
                </a:lnTo>
                <a:lnTo>
                  <a:pt x="0" y="320802"/>
                </a:lnTo>
                <a:lnTo>
                  <a:pt x="3478" y="368205"/>
                </a:lnTo>
                <a:lnTo>
                  <a:pt x="13583" y="413450"/>
                </a:lnTo>
                <a:lnTo>
                  <a:pt x="29817" y="456040"/>
                </a:lnTo>
                <a:lnTo>
                  <a:pt x="51685" y="495478"/>
                </a:lnTo>
                <a:lnTo>
                  <a:pt x="78690" y="531268"/>
                </a:lnTo>
                <a:lnTo>
                  <a:pt x="110335" y="562913"/>
                </a:lnTo>
                <a:lnTo>
                  <a:pt x="146125" y="589918"/>
                </a:lnTo>
                <a:lnTo>
                  <a:pt x="185563" y="611786"/>
                </a:lnTo>
                <a:lnTo>
                  <a:pt x="228153" y="628020"/>
                </a:lnTo>
                <a:lnTo>
                  <a:pt x="273398" y="638125"/>
                </a:lnTo>
                <a:lnTo>
                  <a:pt x="320802" y="641604"/>
                </a:lnTo>
                <a:lnTo>
                  <a:pt x="368205" y="638125"/>
                </a:lnTo>
                <a:lnTo>
                  <a:pt x="413450" y="628020"/>
                </a:lnTo>
                <a:lnTo>
                  <a:pt x="456040" y="611786"/>
                </a:lnTo>
                <a:lnTo>
                  <a:pt x="495478" y="589918"/>
                </a:lnTo>
                <a:lnTo>
                  <a:pt x="531268" y="562913"/>
                </a:lnTo>
                <a:lnTo>
                  <a:pt x="562913" y="531268"/>
                </a:lnTo>
                <a:lnTo>
                  <a:pt x="589918" y="495478"/>
                </a:lnTo>
                <a:lnTo>
                  <a:pt x="611786" y="456040"/>
                </a:lnTo>
                <a:lnTo>
                  <a:pt x="628020" y="413450"/>
                </a:lnTo>
                <a:lnTo>
                  <a:pt x="638125" y="368205"/>
                </a:lnTo>
                <a:lnTo>
                  <a:pt x="641604" y="320802"/>
                </a:lnTo>
                <a:lnTo>
                  <a:pt x="638125" y="273398"/>
                </a:lnTo>
                <a:lnTo>
                  <a:pt x="628020" y="228153"/>
                </a:lnTo>
                <a:lnTo>
                  <a:pt x="611786" y="185563"/>
                </a:lnTo>
                <a:lnTo>
                  <a:pt x="589918" y="146125"/>
                </a:lnTo>
                <a:lnTo>
                  <a:pt x="562913" y="110335"/>
                </a:lnTo>
                <a:lnTo>
                  <a:pt x="531268" y="78690"/>
                </a:lnTo>
                <a:lnTo>
                  <a:pt x="495478" y="51685"/>
                </a:lnTo>
                <a:lnTo>
                  <a:pt x="456040" y="29817"/>
                </a:lnTo>
                <a:lnTo>
                  <a:pt x="413450" y="13583"/>
                </a:lnTo>
                <a:lnTo>
                  <a:pt x="368205" y="3478"/>
                </a:lnTo>
                <a:lnTo>
                  <a:pt x="320802" y="0"/>
                </a:lnTo>
                <a:close/>
              </a:path>
            </a:pathLst>
          </a:custGeom>
          <a:solidFill>
            <a:srgbClr val="FD8537"/>
          </a:solidFill>
        </p:spPr>
        <p:txBody>
          <a:bodyPr wrap="square" lIns="0" tIns="0" rIns="0" bIns="0" rtlCol="0"/>
          <a:lstStyle/>
          <a:p>
            <a:endParaRPr/>
          </a:p>
        </p:txBody>
      </p:sp>
      <p:sp>
        <p:nvSpPr>
          <p:cNvPr id="33" name="bk object 33"/>
          <p:cNvSpPr/>
          <p:nvPr/>
        </p:nvSpPr>
        <p:spPr>
          <a:xfrm>
            <a:off x="1091183" y="5500115"/>
            <a:ext cx="137159" cy="137159"/>
          </a:xfrm>
          <a:prstGeom prst="rect">
            <a:avLst/>
          </a:prstGeom>
          <a:blipFill>
            <a:blip r:embed="rId2" cstate="print"/>
            <a:stretch>
              <a:fillRect/>
            </a:stretch>
          </a:blipFill>
        </p:spPr>
        <p:txBody>
          <a:bodyPr wrap="square" lIns="0" tIns="0" rIns="0" bIns="0" rtlCol="0"/>
          <a:lstStyle/>
          <a:p>
            <a:endParaRPr/>
          </a:p>
        </p:txBody>
      </p:sp>
      <p:sp>
        <p:nvSpPr>
          <p:cNvPr id="34" name="bk object 34"/>
          <p:cNvSpPr/>
          <p:nvPr/>
        </p:nvSpPr>
        <p:spPr>
          <a:xfrm>
            <a:off x="1664207" y="5788152"/>
            <a:ext cx="274320" cy="274320"/>
          </a:xfrm>
          <a:custGeom>
            <a:avLst/>
            <a:gdLst/>
            <a:ahLst/>
            <a:cxnLst/>
            <a:rect l="l" t="t" r="r" b="b"/>
            <a:pathLst>
              <a:path w="274319" h="274320">
                <a:moveTo>
                  <a:pt x="137160" y="0"/>
                </a:moveTo>
                <a:lnTo>
                  <a:pt x="93829" y="6992"/>
                </a:lnTo>
                <a:lnTo>
                  <a:pt x="56180" y="26462"/>
                </a:lnTo>
                <a:lnTo>
                  <a:pt x="26481" y="56153"/>
                </a:lnTo>
                <a:lnTo>
                  <a:pt x="6998" y="93805"/>
                </a:lnTo>
                <a:lnTo>
                  <a:pt x="0" y="137160"/>
                </a:lnTo>
                <a:lnTo>
                  <a:pt x="6998" y="180514"/>
                </a:lnTo>
                <a:lnTo>
                  <a:pt x="26481" y="218166"/>
                </a:lnTo>
                <a:lnTo>
                  <a:pt x="56180" y="247857"/>
                </a:lnTo>
                <a:lnTo>
                  <a:pt x="93829" y="267327"/>
                </a:lnTo>
                <a:lnTo>
                  <a:pt x="137160" y="274320"/>
                </a:lnTo>
                <a:lnTo>
                  <a:pt x="180490" y="267327"/>
                </a:lnTo>
                <a:lnTo>
                  <a:pt x="218139" y="247857"/>
                </a:lnTo>
                <a:lnTo>
                  <a:pt x="247838" y="218166"/>
                </a:lnTo>
                <a:lnTo>
                  <a:pt x="267321" y="180514"/>
                </a:lnTo>
                <a:lnTo>
                  <a:pt x="274319" y="137160"/>
                </a:lnTo>
                <a:lnTo>
                  <a:pt x="267321" y="93805"/>
                </a:lnTo>
                <a:lnTo>
                  <a:pt x="247838" y="56153"/>
                </a:lnTo>
                <a:lnTo>
                  <a:pt x="218139" y="26462"/>
                </a:lnTo>
                <a:lnTo>
                  <a:pt x="180490" y="6992"/>
                </a:lnTo>
                <a:lnTo>
                  <a:pt x="137160" y="0"/>
                </a:lnTo>
                <a:close/>
              </a:path>
            </a:pathLst>
          </a:custGeom>
          <a:solidFill>
            <a:srgbClr val="FD8537"/>
          </a:solidFill>
        </p:spPr>
        <p:txBody>
          <a:bodyPr wrap="square" lIns="0" tIns="0" rIns="0" bIns="0" rtlCol="0"/>
          <a:lstStyle/>
          <a:p>
            <a:endParaRPr/>
          </a:p>
        </p:txBody>
      </p:sp>
      <p:sp>
        <p:nvSpPr>
          <p:cNvPr id="35" name="bk object 35"/>
          <p:cNvSpPr/>
          <p:nvPr/>
        </p:nvSpPr>
        <p:spPr>
          <a:xfrm>
            <a:off x="1905000" y="4495800"/>
            <a:ext cx="365760" cy="365760"/>
          </a:xfrm>
          <a:custGeom>
            <a:avLst/>
            <a:gdLst/>
            <a:ahLst/>
            <a:cxnLst/>
            <a:rect l="l" t="t" r="r" b="b"/>
            <a:pathLst>
              <a:path w="365760" h="365760">
                <a:moveTo>
                  <a:pt x="182880" y="0"/>
                </a:moveTo>
                <a:lnTo>
                  <a:pt x="134276" y="6535"/>
                </a:lnTo>
                <a:lnTo>
                  <a:pt x="90593" y="24976"/>
                </a:lnTo>
                <a:lnTo>
                  <a:pt x="53578" y="53578"/>
                </a:lnTo>
                <a:lnTo>
                  <a:pt x="24976" y="90593"/>
                </a:lnTo>
                <a:lnTo>
                  <a:pt x="6535" y="134276"/>
                </a:lnTo>
                <a:lnTo>
                  <a:pt x="0" y="182880"/>
                </a:lnTo>
                <a:lnTo>
                  <a:pt x="6535" y="231483"/>
                </a:lnTo>
                <a:lnTo>
                  <a:pt x="24976" y="275166"/>
                </a:lnTo>
                <a:lnTo>
                  <a:pt x="53578" y="312181"/>
                </a:lnTo>
                <a:lnTo>
                  <a:pt x="90593" y="340783"/>
                </a:lnTo>
                <a:lnTo>
                  <a:pt x="134276" y="359224"/>
                </a:lnTo>
                <a:lnTo>
                  <a:pt x="182880" y="365760"/>
                </a:lnTo>
                <a:lnTo>
                  <a:pt x="231483" y="359224"/>
                </a:lnTo>
                <a:lnTo>
                  <a:pt x="275166" y="340783"/>
                </a:lnTo>
                <a:lnTo>
                  <a:pt x="312181" y="312181"/>
                </a:lnTo>
                <a:lnTo>
                  <a:pt x="340783" y="275166"/>
                </a:lnTo>
                <a:lnTo>
                  <a:pt x="359224" y="231483"/>
                </a:lnTo>
                <a:lnTo>
                  <a:pt x="365760" y="182880"/>
                </a:lnTo>
                <a:lnTo>
                  <a:pt x="359224" y="134276"/>
                </a:lnTo>
                <a:lnTo>
                  <a:pt x="340783" y="90593"/>
                </a:lnTo>
                <a:lnTo>
                  <a:pt x="312181" y="53578"/>
                </a:lnTo>
                <a:lnTo>
                  <a:pt x="275166" y="24976"/>
                </a:lnTo>
                <a:lnTo>
                  <a:pt x="231483" y="6535"/>
                </a:lnTo>
                <a:lnTo>
                  <a:pt x="182880" y="0"/>
                </a:lnTo>
                <a:close/>
              </a:path>
            </a:pathLst>
          </a:custGeom>
          <a:solidFill>
            <a:srgbClr val="FD8537"/>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333D1D4-88BC-4A41-912F-D7FBB058B350}" type="datetime1">
              <a:rPr lang="fr-FR" smtClean="0"/>
              <a:pPr/>
              <a:t>11/10/2024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Connecteur droit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22" name="Espace réservé du titre 21"/>
          <p:cNvSpPr>
            <a:spLocks noGrp="1"/>
          </p:cNvSpPr>
          <p:nvPr>
            <p:ph type="title"/>
          </p:nvPr>
        </p:nvSpPr>
        <p:spPr>
          <a:xfrm>
            <a:off x="457200" y="274638"/>
            <a:ext cx="7467600" cy="1143000"/>
          </a:xfrm>
          <a:prstGeom prst="rect">
            <a:avLst/>
          </a:prstGeom>
        </p:spPr>
        <p:txBody>
          <a:bodyPr vert="horz" lIns="91407" tIns="45704" rIns="91407" bIns="45704"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600200"/>
            <a:ext cx="7467600" cy="4873752"/>
          </a:xfrm>
          <a:prstGeom prst="rect">
            <a:avLst/>
          </a:prstGeom>
        </p:spPr>
        <p:txBody>
          <a:bodyPr vert="horz" lIns="91407" tIns="45704" rIns="91407" bIns="45704">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rot="5400000">
            <a:off x="7589520" y="1081854"/>
            <a:ext cx="2011680" cy="384048"/>
          </a:xfrm>
          <a:prstGeom prst="rect">
            <a:avLst/>
          </a:prstGeom>
        </p:spPr>
        <p:txBody>
          <a:bodyPr vert="horz" lIns="91407" tIns="45704" rIns="91407" bIns="45704" anchor="ctr" anchorCtr="0"/>
          <a:lstStyle>
            <a:lvl1pPr algn="r" eaLnBrk="1" latinLnBrk="0" hangingPunct="1">
              <a:defRPr kumimoji="0" sz="1200">
                <a:solidFill>
                  <a:schemeClr val="tx2"/>
                </a:solidFill>
              </a:defRPr>
            </a:lvl1pPr>
          </a:lstStyle>
          <a:p>
            <a:pPr defTabSz="914079"/>
            <a:fld id="{D26D2720-8021-435E-A743-0A2D5762FFB8}" type="datetime1">
              <a:rPr lang="fr-FR" smtClean="0">
                <a:solidFill>
                  <a:srgbClr val="424456"/>
                </a:solidFill>
              </a:rPr>
              <a:pPr defTabSz="914079"/>
              <a:t>11/10/2024</a:t>
            </a:fld>
            <a:endParaRPr lang="fr-FR">
              <a:solidFill>
                <a:srgbClr val="424456"/>
              </a:solidFill>
            </a:endParaRPr>
          </a:p>
        </p:txBody>
      </p:sp>
      <p:sp>
        <p:nvSpPr>
          <p:cNvPr id="3" name="Espace réservé du pied de page 2"/>
          <p:cNvSpPr>
            <a:spLocks noGrp="1"/>
          </p:cNvSpPr>
          <p:nvPr>
            <p:ph type="ftr" sz="quarter" idx="3"/>
          </p:nvPr>
        </p:nvSpPr>
        <p:spPr>
          <a:xfrm rot="5400000">
            <a:off x="6990186" y="3737240"/>
            <a:ext cx="3200400" cy="365760"/>
          </a:xfrm>
          <a:prstGeom prst="rect">
            <a:avLst/>
          </a:prstGeom>
        </p:spPr>
        <p:txBody>
          <a:bodyPr vert="horz" lIns="91407" tIns="45704" rIns="91407" bIns="45704" anchor="ctr" anchorCtr="0"/>
          <a:lstStyle>
            <a:lvl1pPr algn="l" eaLnBrk="1" latinLnBrk="0" hangingPunct="1">
              <a:defRPr kumimoji="0" sz="1200">
                <a:solidFill>
                  <a:schemeClr val="tx2"/>
                </a:solidFill>
              </a:defRPr>
            </a:lvl1pPr>
          </a:lstStyle>
          <a:p>
            <a:pPr defTabSz="914079"/>
            <a:endParaRPr lang="fr-FR">
              <a:solidFill>
                <a:srgbClr val="424456"/>
              </a:solidFill>
            </a:endParaRPr>
          </a:p>
        </p:txBody>
      </p:sp>
      <p:sp>
        <p:nvSpPr>
          <p:cNvPr id="7" name="Connecteur droit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9" name="Connecteur droit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1" name="Connecteur droit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3" name="Espace réservé du numéro de diapositive 22"/>
          <p:cNvSpPr>
            <a:spLocks noGrp="1"/>
          </p:cNvSpPr>
          <p:nvPr>
            <p:ph type="sldNum" sz="quarter" idx="4"/>
          </p:nvPr>
        </p:nvSpPr>
        <p:spPr>
          <a:xfrm>
            <a:off x="8129016" y="5734050"/>
            <a:ext cx="609600" cy="521208"/>
          </a:xfrm>
          <a:prstGeom prst="rect">
            <a:avLst/>
          </a:prstGeom>
        </p:spPr>
        <p:txBody>
          <a:bodyPr vert="horz" lIns="91407" tIns="45704" rIns="91407" bIns="45704" anchor="ctr"/>
          <a:lstStyle>
            <a:lvl1pPr algn="ctr" eaLnBrk="1" latinLnBrk="0" hangingPunct="1">
              <a:defRPr kumimoji="0" sz="1400" b="1">
                <a:solidFill>
                  <a:srgbClr val="FFFFFF"/>
                </a:solidFill>
              </a:defRPr>
            </a:lvl1pPr>
          </a:lstStyle>
          <a:p>
            <a:pPr defTabSz="914079"/>
            <a:fld id="{F1AAE0E6-1385-44E0-8EAE-F204D7E7A5E9}" type="slidenum">
              <a:rPr lang="fr-FR" smtClean="0"/>
              <a:pPr defTabSz="914079"/>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224" indent="-274224"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39856" indent="-274224"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079" indent="-182816"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303" indent="-182816"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2527" indent="-182816"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6751" indent="-182816"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0975" indent="-182816"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5199" indent="-182816"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59422" indent="-182816"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039" algn="l" rtl="0" eaLnBrk="1" latinLnBrk="0" hangingPunct="1">
        <a:defRPr kumimoji="0" kern="1200">
          <a:solidFill>
            <a:schemeClr val="tx1"/>
          </a:solidFill>
          <a:latin typeface="+mn-lt"/>
          <a:ea typeface="+mn-ea"/>
          <a:cs typeface="+mn-cs"/>
        </a:defRPr>
      </a:lvl2pPr>
      <a:lvl3pPr marL="914079" algn="l" rtl="0" eaLnBrk="1" latinLnBrk="0" hangingPunct="1">
        <a:defRPr kumimoji="0" kern="1200">
          <a:solidFill>
            <a:schemeClr val="tx1"/>
          </a:solidFill>
          <a:latin typeface="+mn-lt"/>
          <a:ea typeface="+mn-ea"/>
          <a:cs typeface="+mn-cs"/>
        </a:defRPr>
      </a:lvl3pPr>
      <a:lvl4pPr marL="1371119" algn="l" rtl="0" eaLnBrk="1" latinLnBrk="0" hangingPunct="1">
        <a:defRPr kumimoji="0" kern="1200">
          <a:solidFill>
            <a:schemeClr val="tx1"/>
          </a:solidFill>
          <a:latin typeface="+mn-lt"/>
          <a:ea typeface="+mn-ea"/>
          <a:cs typeface="+mn-cs"/>
        </a:defRPr>
      </a:lvl4pPr>
      <a:lvl5pPr marL="1828159" algn="l" rtl="0" eaLnBrk="1" latinLnBrk="0" hangingPunct="1">
        <a:defRPr kumimoji="0" kern="1200">
          <a:solidFill>
            <a:schemeClr val="tx1"/>
          </a:solidFill>
          <a:latin typeface="+mn-lt"/>
          <a:ea typeface="+mn-ea"/>
          <a:cs typeface="+mn-cs"/>
        </a:defRPr>
      </a:lvl5pPr>
      <a:lvl6pPr marL="2285199" algn="l" rtl="0" eaLnBrk="1" latinLnBrk="0" hangingPunct="1">
        <a:defRPr kumimoji="0" kern="1200">
          <a:solidFill>
            <a:schemeClr val="tx1"/>
          </a:solidFill>
          <a:latin typeface="+mn-lt"/>
          <a:ea typeface="+mn-ea"/>
          <a:cs typeface="+mn-cs"/>
        </a:defRPr>
      </a:lvl6pPr>
      <a:lvl7pPr marL="2742237" algn="l" rtl="0" eaLnBrk="1" latinLnBrk="0" hangingPunct="1">
        <a:defRPr kumimoji="0" kern="1200">
          <a:solidFill>
            <a:schemeClr val="tx1"/>
          </a:solidFill>
          <a:latin typeface="+mn-lt"/>
          <a:ea typeface="+mn-ea"/>
          <a:cs typeface="+mn-cs"/>
        </a:defRPr>
      </a:lvl7pPr>
      <a:lvl8pPr marL="3199278" algn="l" rtl="0" eaLnBrk="1" latinLnBrk="0" hangingPunct="1">
        <a:defRPr kumimoji="0" kern="1200">
          <a:solidFill>
            <a:schemeClr val="tx1"/>
          </a:solidFill>
          <a:latin typeface="+mn-lt"/>
          <a:ea typeface="+mn-ea"/>
          <a:cs typeface="+mn-cs"/>
        </a:defRPr>
      </a:lvl8pPr>
      <a:lvl9pPr marL="3656316"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Connecteur droit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dirty="0">
              <a:solidFill>
                <a:prstClr val="black"/>
              </a:solidFill>
            </a:endParaRPr>
          </a:p>
        </p:txBody>
      </p:sp>
      <p:sp>
        <p:nvSpPr>
          <p:cNvPr id="22" name="Espace réservé du titre 21"/>
          <p:cNvSpPr>
            <a:spLocks noGrp="1"/>
          </p:cNvSpPr>
          <p:nvPr>
            <p:ph type="title"/>
          </p:nvPr>
        </p:nvSpPr>
        <p:spPr>
          <a:xfrm>
            <a:off x="457200" y="274639"/>
            <a:ext cx="7467600" cy="1143000"/>
          </a:xfrm>
          <a:prstGeom prst="rect">
            <a:avLst/>
          </a:prstGeom>
        </p:spPr>
        <p:txBody>
          <a:bodyPr vert="horz" lIns="91407" tIns="45704" rIns="91407" bIns="45704"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600200"/>
            <a:ext cx="7467600" cy="4873752"/>
          </a:xfrm>
          <a:prstGeom prst="rect">
            <a:avLst/>
          </a:prstGeom>
        </p:spPr>
        <p:txBody>
          <a:bodyPr vert="horz" lIns="91407" tIns="45704" rIns="91407" bIns="45704">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rot="5400000">
            <a:off x="7589520" y="1081855"/>
            <a:ext cx="2011680" cy="384048"/>
          </a:xfrm>
          <a:prstGeom prst="rect">
            <a:avLst/>
          </a:prstGeom>
        </p:spPr>
        <p:txBody>
          <a:bodyPr vert="horz" lIns="91407" tIns="45704" rIns="91407" bIns="45704" anchor="ctr" anchorCtr="0"/>
          <a:lstStyle>
            <a:lvl1pPr algn="r" eaLnBrk="1" latinLnBrk="0" hangingPunct="1">
              <a:defRPr kumimoji="0" sz="1200">
                <a:solidFill>
                  <a:schemeClr val="tx2"/>
                </a:solidFill>
              </a:defRPr>
            </a:lvl1pPr>
          </a:lstStyle>
          <a:p>
            <a:pPr defTabSz="914079"/>
            <a:fld id="{6C2B452A-4C7D-4460-A654-54FBA6E4DE65}" type="datetime1">
              <a:rPr lang="fr-FR" smtClean="0">
                <a:solidFill>
                  <a:srgbClr val="424456"/>
                </a:solidFill>
              </a:rPr>
              <a:pPr defTabSz="914079"/>
              <a:t>11/10/2024</a:t>
            </a:fld>
            <a:endParaRPr lang="fr-FR">
              <a:solidFill>
                <a:srgbClr val="424456"/>
              </a:solidFill>
            </a:endParaRPr>
          </a:p>
        </p:txBody>
      </p:sp>
      <p:sp>
        <p:nvSpPr>
          <p:cNvPr id="3" name="Espace réservé du pied de page 2"/>
          <p:cNvSpPr>
            <a:spLocks noGrp="1"/>
          </p:cNvSpPr>
          <p:nvPr>
            <p:ph type="ftr" sz="quarter" idx="3"/>
          </p:nvPr>
        </p:nvSpPr>
        <p:spPr>
          <a:xfrm rot="5400000">
            <a:off x="6990186" y="3737240"/>
            <a:ext cx="3200400" cy="365760"/>
          </a:xfrm>
          <a:prstGeom prst="rect">
            <a:avLst/>
          </a:prstGeom>
        </p:spPr>
        <p:txBody>
          <a:bodyPr vert="horz" lIns="91407" tIns="45704" rIns="91407" bIns="45704" anchor="ctr" anchorCtr="0"/>
          <a:lstStyle>
            <a:lvl1pPr algn="l" eaLnBrk="1" latinLnBrk="0" hangingPunct="1">
              <a:defRPr kumimoji="0" sz="1200">
                <a:solidFill>
                  <a:schemeClr val="tx2"/>
                </a:solidFill>
              </a:defRPr>
            </a:lvl1pPr>
          </a:lstStyle>
          <a:p>
            <a:pPr defTabSz="914079"/>
            <a:endParaRPr lang="fr-FR">
              <a:solidFill>
                <a:srgbClr val="424456"/>
              </a:solidFill>
            </a:endParaRPr>
          </a:p>
        </p:txBody>
      </p:sp>
      <p:sp>
        <p:nvSpPr>
          <p:cNvPr id="7" name="Connecteur droit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9" name="Connecteur droit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a:solidFill>
                <a:prstClr val="white"/>
              </a:solidFill>
            </a:endParaRPr>
          </a:p>
        </p:txBody>
      </p:sp>
      <p:sp>
        <p:nvSpPr>
          <p:cNvPr id="11" name="Connecteur droit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07" tIns="45704" rIns="91407" bIns="45704" anchor="t" compatLnSpc="1"/>
          <a:lstStyle/>
          <a:p>
            <a:pPr defTabSz="914079"/>
            <a:endParaRPr lang="en-US">
              <a:solidFill>
                <a:prstClr val="black"/>
              </a:solidFill>
            </a:endParaRPr>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07" tIns="45704" rIns="91407" bIns="45704" anchor="ctr"/>
          <a:lstStyle/>
          <a:p>
            <a:pPr algn="ctr" defTabSz="914079"/>
            <a:endParaRPr lang="en-US" dirty="0">
              <a:solidFill>
                <a:prstClr val="white"/>
              </a:solidFill>
            </a:endParaRPr>
          </a:p>
        </p:txBody>
      </p:sp>
      <p:sp>
        <p:nvSpPr>
          <p:cNvPr id="23" name="Espace réservé du numéro de diapositive 22"/>
          <p:cNvSpPr>
            <a:spLocks noGrp="1"/>
          </p:cNvSpPr>
          <p:nvPr>
            <p:ph type="sldNum" sz="quarter" idx="4"/>
          </p:nvPr>
        </p:nvSpPr>
        <p:spPr>
          <a:xfrm>
            <a:off x="8129016" y="5734051"/>
            <a:ext cx="609600" cy="521208"/>
          </a:xfrm>
          <a:prstGeom prst="rect">
            <a:avLst/>
          </a:prstGeom>
        </p:spPr>
        <p:txBody>
          <a:bodyPr vert="horz" lIns="91407" tIns="45704" rIns="91407" bIns="45704" anchor="ctr"/>
          <a:lstStyle>
            <a:lvl1pPr algn="ctr" eaLnBrk="1" latinLnBrk="0" hangingPunct="1">
              <a:defRPr kumimoji="0" sz="1400" b="1">
                <a:solidFill>
                  <a:srgbClr val="FFFFFF"/>
                </a:solidFill>
              </a:defRPr>
            </a:lvl1pPr>
          </a:lstStyle>
          <a:p>
            <a:pPr defTabSz="914079"/>
            <a:fld id="{F1AAE0E6-1385-44E0-8EAE-F204D7E7A5E9}" type="slidenum">
              <a:rPr lang="fr-FR" smtClean="0"/>
              <a:pPr defTabSz="914079"/>
              <a:t>‹N°›</a:t>
            </a:fld>
            <a:endParaRPr lang="fr-F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224" indent="-274224"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39856" indent="-274224"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079" indent="-182816"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303" indent="-182816"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2527" indent="-182816"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6751" indent="-182816"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0975" indent="-182816"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5199" indent="-182816"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59422" indent="-182816"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039" algn="l" rtl="0" eaLnBrk="1" latinLnBrk="0" hangingPunct="1">
        <a:defRPr kumimoji="0" kern="1200">
          <a:solidFill>
            <a:schemeClr val="tx1"/>
          </a:solidFill>
          <a:latin typeface="+mn-lt"/>
          <a:ea typeface="+mn-ea"/>
          <a:cs typeface="+mn-cs"/>
        </a:defRPr>
      </a:lvl2pPr>
      <a:lvl3pPr marL="914079" algn="l" rtl="0" eaLnBrk="1" latinLnBrk="0" hangingPunct="1">
        <a:defRPr kumimoji="0" kern="1200">
          <a:solidFill>
            <a:schemeClr val="tx1"/>
          </a:solidFill>
          <a:latin typeface="+mn-lt"/>
          <a:ea typeface="+mn-ea"/>
          <a:cs typeface="+mn-cs"/>
        </a:defRPr>
      </a:lvl3pPr>
      <a:lvl4pPr marL="1371119" algn="l" rtl="0" eaLnBrk="1" latinLnBrk="0" hangingPunct="1">
        <a:defRPr kumimoji="0" kern="1200">
          <a:solidFill>
            <a:schemeClr val="tx1"/>
          </a:solidFill>
          <a:latin typeface="+mn-lt"/>
          <a:ea typeface="+mn-ea"/>
          <a:cs typeface="+mn-cs"/>
        </a:defRPr>
      </a:lvl4pPr>
      <a:lvl5pPr marL="1828159" algn="l" rtl="0" eaLnBrk="1" latinLnBrk="0" hangingPunct="1">
        <a:defRPr kumimoji="0" kern="1200">
          <a:solidFill>
            <a:schemeClr val="tx1"/>
          </a:solidFill>
          <a:latin typeface="+mn-lt"/>
          <a:ea typeface="+mn-ea"/>
          <a:cs typeface="+mn-cs"/>
        </a:defRPr>
      </a:lvl5pPr>
      <a:lvl6pPr marL="2285199" algn="l" rtl="0" eaLnBrk="1" latinLnBrk="0" hangingPunct="1">
        <a:defRPr kumimoji="0" kern="1200">
          <a:solidFill>
            <a:schemeClr val="tx1"/>
          </a:solidFill>
          <a:latin typeface="+mn-lt"/>
          <a:ea typeface="+mn-ea"/>
          <a:cs typeface="+mn-cs"/>
        </a:defRPr>
      </a:lvl6pPr>
      <a:lvl7pPr marL="2742237" algn="l" rtl="0" eaLnBrk="1" latinLnBrk="0" hangingPunct="1">
        <a:defRPr kumimoji="0" kern="1200">
          <a:solidFill>
            <a:schemeClr val="tx1"/>
          </a:solidFill>
          <a:latin typeface="+mn-lt"/>
          <a:ea typeface="+mn-ea"/>
          <a:cs typeface="+mn-cs"/>
        </a:defRPr>
      </a:lvl7pPr>
      <a:lvl8pPr marL="3199278" algn="l" rtl="0" eaLnBrk="1" latinLnBrk="0" hangingPunct="1">
        <a:defRPr kumimoji="0" kern="1200">
          <a:solidFill>
            <a:schemeClr val="tx1"/>
          </a:solidFill>
          <a:latin typeface="+mn-lt"/>
          <a:ea typeface="+mn-ea"/>
          <a:cs typeface="+mn-cs"/>
        </a:defRPr>
      </a:lvl8pPr>
      <a:lvl9pPr marL="365631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9.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3.xml"/><Relationship Id="rId1" Type="http://schemas.openxmlformats.org/officeDocument/2006/relationships/themeOverride" Target="../theme/themeOverride10.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3.xml"/><Relationship Id="rId1" Type="http://schemas.openxmlformats.org/officeDocument/2006/relationships/themeOverride" Target="../theme/themeOverride1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2286000" y="958574"/>
            <a:ext cx="6172200" cy="1894362"/>
          </a:xfrm>
        </p:spPr>
        <p:txBody>
          <a:bodyPr/>
          <a:lstStyle/>
          <a:p>
            <a:r>
              <a:rPr lang="fr-FR" dirty="0" smtClean="0"/>
              <a:t>Chapitre2:</a:t>
            </a:r>
            <a:br>
              <a:rPr lang="fr-FR" dirty="0" smtClean="0"/>
            </a:br>
            <a:r>
              <a:rPr lang="fr-FR" dirty="0" smtClean="0"/>
              <a:t>conception des BD réparties</a:t>
            </a:r>
            <a:endParaRPr lang="fr-FR" dirty="0"/>
          </a:p>
        </p:txBody>
      </p:sp>
      <p:sp>
        <p:nvSpPr>
          <p:cNvPr id="5" name="Sous-titre 4"/>
          <p:cNvSpPr>
            <a:spLocks noGrp="1"/>
          </p:cNvSpPr>
          <p:nvPr>
            <p:ph type="subTitle" idx="1"/>
          </p:nvPr>
        </p:nvSpPr>
        <p:spPr/>
        <p:txBody>
          <a:bodyPr/>
          <a:lstStyle/>
          <a:p>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p:nvPr/>
        </p:nvSpPr>
        <p:spPr>
          <a:xfrm>
            <a:off x="8156447" y="5715000"/>
            <a:ext cx="548640" cy="548640"/>
          </a:xfrm>
          <a:custGeom>
            <a:avLst/>
            <a:gdLst/>
            <a:ahLst/>
            <a:cxnLst/>
            <a:rect l="l" t="t" r="r" b="b"/>
            <a:pathLst>
              <a:path w="548640" h="548639">
                <a:moveTo>
                  <a:pt x="274320" y="0"/>
                </a:moveTo>
                <a:lnTo>
                  <a:pt x="225008" y="4419"/>
                </a:lnTo>
                <a:lnTo>
                  <a:pt x="178597" y="17162"/>
                </a:lnTo>
                <a:lnTo>
                  <a:pt x="135861" y="37453"/>
                </a:lnTo>
                <a:lnTo>
                  <a:pt x="97575" y="64518"/>
                </a:lnTo>
                <a:lnTo>
                  <a:pt x="64513" y="97580"/>
                </a:lnTo>
                <a:lnTo>
                  <a:pt x="37450" y="135867"/>
                </a:lnTo>
                <a:lnTo>
                  <a:pt x="17161" y="178602"/>
                </a:lnTo>
                <a:lnTo>
                  <a:pt x="4419" y="225011"/>
                </a:lnTo>
                <a:lnTo>
                  <a:pt x="0" y="274319"/>
                </a:lnTo>
                <a:lnTo>
                  <a:pt x="4419" y="323628"/>
                </a:lnTo>
                <a:lnTo>
                  <a:pt x="17161" y="370037"/>
                </a:lnTo>
                <a:lnTo>
                  <a:pt x="37450" y="412772"/>
                </a:lnTo>
                <a:lnTo>
                  <a:pt x="64513" y="451059"/>
                </a:lnTo>
                <a:lnTo>
                  <a:pt x="97575" y="484121"/>
                </a:lnTo>
                <a:lnTo>
                  <a:pt x="135861" y="511186"/>
                </a:lnTo>
                <a:lnTo>
                  <a:pt x="178597" y="531477"/>
                </a:lnTo>
                <a:lnTo>
                  <a:pt x="225008" y="544220"/>
                </a:lnTo>
                <a:lnTo>
                  <a:pt x="274320" y="548640"/>
                </a:lnTo>
                <a:lnTo>
                  <a:pt x="323631" y="544220"/>
                </a:lnTo>
                <a:lnTo>
                  <a:pt x="370042" y="531477"/>
                </a:lnTo>
                <a:lnTo>
                  <a:pt x="412778" y="511186"/>
                </a:lnTo>
                <a:lnTo>
                  <a:pt x="451064" y="484121"/>
                </a:lnTo>
                <a:lnTo>
                  <a:pt x="484126" y="451059"/>
                </a:lnTo>
                <a:lnTo>
                  <a:pt x="511189" y="412772"/>
                </a:lnTo>
                <a:lnTo>
                  <a:pt x="531478" y="370037"/>
                </a:lnTo>
                <a:lnTo>
                  <a:pt x="544220" y="323628"/>
                </a:lnTo>
                <a:lnTo>
                  <a:pt x="548640" y="274319"/>
                </a:lnTo>
                <a:lnTo>
                  <a:pt x="544220" y="225011"/>
                </a:lnTo>
                <a:lnTo>
                  <a:pt x="531478" y="178602"/>
                </a:lnTo>
                <a:lnTo>
                  <a:pt x="511189" y="135867"/>
                </a:lnTo>
                <a:lnTo>
                  <a:pt x="484126" y="97580"/>
                </a:lnTo>
                <a:lnTo>
                  <a:pt x="451064" y="64518"/>
                </a:lnTo>
                <a:lnTo>
                  <a:pt x="412778" y="37453"/>
                </a:lnTo>
                <a:lnTo>
                  <a:pt x="370042" y="17162"/>
                </a:lnTo>
                <a:lnTo>
                  <a:pt x="323631" y="4419"/>
                </a:lnTo>
                <a:lnTo>
                  <a:pt x="274320" y="0"/>
                </a:lnTo>
                <a:close/>
              </a:path>
            </a:pathLst>
          </a:custGeom>
          <a:solidFill>
            <a:srgbClr val="FD8537"/>
          </a:solidFill>
        </p:spPr>
        <p:txBody>
          <a:bodyPr wrap="square" lIns="0" tIns="0" rIns="0" bIns="0" rtlCol="0"/>
          <a:lstStyle/>
          <a:p>
            <a:pPr defTabSz="914079"/>
            <a:endParaRPr dirty="0">
              <a:solidFill>
                <a:prstClr val="black"/>
              </a:solidFill>
            </a:endParaRPr>
          </a:p>
        </p:txBody>
      </p:sp>
      <p:sp>
        <p:nvSpPr>
          <p:cNvPr id="3" name="object 3"/>
          <p:cNvSpPr txBox="1"/>
          <p:nvPr/>
        </p:nvSpPr>
        <p:spPr>
          <a:xfrm>
            <a:off x="8209280" y="5897371"/>
            <a:ext cx="473075" cy="186690"/>
          </a:xfrm>
          <a:prstGeom prst="rect">
            <a:avLst/>
          </a:prstGeom>
        </p:spPr>
        <p:txBody>
          <a:bodyPr vert="horz" wrap="square" lIns="0" tIns="13335" rIns="0" bIns="0" rtlCol="0">
            <a:spAutoFit/>
          </a:bodyPr>
          <a:lstStyle/>
          <a:p>
            <a:pPr marL="12700" defTabSz="914079">
              <a:spcBef>
                <a:spcPts val="105"/>
              </a:spcBef>
            </a:pPr>
            <a:r>
              <a:rPr sz="1050" spc="5" dirty="0">
                <a:solidFill>
                  <a:srgbClr val="FFFFFF"/>
                </a:solidFill>
                <a:latin typeface="Arial Black"/>
                <a:cs typeface="Arial Black"/>
              </a:rPr>
              <a:t>M</a:t>
            </a:r>
            <a:r>
              <a:rPr sz="1050" spc="-5" dirty="0">
                <a:solidFill>
                  <a:srgbClr val="FFFFFF"/>
                </a:solidFill>
                <a:latin typeface="Arial Black"/>
                <a:cs typeface="Arial Black"/>
              </a:rPr>
              <a:t>I</a:t>
            </a:r>
            <a:r>
              <a:rPr sz="1050" dirty="0">
                <a:solidFill>
                  <a:srgbClr val="FFFFFF"/>
                </a:solidFill>
                <a:latin typeface="Arial Black"/>
                <a:cs typeface="Arial Black"/>
              </a:rPr>
              <a:t>F37</a:t>
            </a:r>
            <a:endParaRPr sz="1050" dirty="0">
              <a:solidFill>
                <a:prstClr val="black"/>
              </a:solidFill>
              <a:latin typeface="Arial Black"/>
              <a:cs typeface="Arial Black"/>
            </a:endParaRPr>
          </a:p>
        </p:txBody>
      </p:sp>
      <p:sp>
        <p:nvSpPr>
          <p:cNvPr id="4" name="object 4"/>
          <p:cNvSpPr txBox="1">
            <a:spLocks noGrp="1"/>
          </p:cNvSpPr>
          <p:nvPr>
            <p:ph type="title"/>
          </p:nvPr>
        </p:nvSpPr>
        <p:spPr>
          <a:xfrm>
            <a:off x="467544" y="404664"/>
            <a:ext cx="5792904" cy="428322"/>
          </a:xfrm>
          <a:prstGeom prst="rect">
            <a:avLst/>
          </a:prstGeom>
        </p:spPr>
        <p:txBody>
          <a:bodyPr vert="horz" wrap="square" lIns="0" tIns="12700" rIns="0" bIns="0" rtlCol="0">
            <a:spAutoFit/>
          </a:bodyPr>
          <a:lstStyle/>
          <a:p>
            <a:pPr marL="12700">
              <a:lnSpc>
                <a:spcPct val="100000"/>
              </a:lnSpc>
              <a:spcBef>
                <a:spcPts val="100"/>
              </a:spcBef>
            </a:pPr>
            <a:r>
              <a:rPr lang="fr-FR" sz="2700" dirty="0" smtClean="0"/>
              <a:t>Schémas d’une BD	répartie</a:t>
            </a:r>
            <a:endParaRPr lang="fr-FR" sz="2700" dirty="0"/>
          </a:p>
        </p:txBody>
      </p:sp>
      <p:sp>
        <p:nvSpPr>
          <p:cNvPr id="5" name="object 5"/>
          <p:cNvSpPr txBox="1"/>
          <p:nvPr/>
        </p:nvSpPr>
        <p:spPr>
          <a:xfrm>
            <a:off x="535940" y="1386078"/>
            <a:ext cx="4507230" cy="1275715"/>
          </a:xfrm>
          <a:prstGeom prst="rect">
            <a:avLst/>
          </a:prstGeom>
        </p:spPr>
        <p:txBody>
          <a:bodyPr vert="horz" wrap="square" lIns="0" tIns="12700" rIns="0" bIns="0" rtlCol="0">
            <a:spAutoFit/>
          </a:bodyPr>
          <a:lstStyle/>
          <a:p>
            <a:pPr marL="287020" indent="-274320" defTabSz="914079">
              <a:spcBef>
                <a:spcPts val="100"/>
              </a:spcBef>
              <a:buClr>
                <a:srgbClr val="FD8537"/>
              </a:buClr>
              <a:buSzPct val="68750"/>
              <a:buFont typeface="Wingdings"/>
              <a:buChar char=""/>
              <a:tabLst>
                <a:tab pos="287020" algn="l"/>
              </a:tabLst>
            </a:pPr>
            <a:r>
              <a:rPr sz="2400" dirty="0">
                <a:solidFill>
                  <a:prstClr val="black"/>
                </a:solidFill>
                <a:cs typeface="Century Schoolbook"/>
              </a:rPr>
              <a:t>Dans un contexte centralisé</a:t>
            </a:r>
            <a:r>
              <a:rPr sz="2400" spc="-130" dirty="0">
                <a:solidFill>
                  <a:prstClr val="black"/>
                </a:solidFill>
                <a:cs typeface="Century Schoolbook"/>
              </a:rPr>
              <a:t> </a:t>
            </a:r>
            <a:r>
              <a:rPr sz="2400" dirty="0">
                <a:solidFill>
                  <a:prstClr val="black"/>
                </a:solidFill>
                <a:cs typeface="Century Schoolbook"/>
              </a:rPr>
              <a:t>:</a:t>
            </a:r>
          </a:p>
          <a:p>
            <a:pPr defTabSz="914079">
              <a:spcBef>
                <a:spcPts val="55"/>
              </a:spcBef>
            </a:pPr>
            <a:endParaRPr sz="3500" dirty="0">
              <a:solidFill>
                <a:prstClr val="black"/>
              </a:solidFill>
              <a:latin typeface="Times New Roman"/>
              <a:cs typeface="Times New Roman"/>
            </a:endParaRPr>
          </a:p>
          <a:p>
            <a:pPr marL="1692275" defTabSz="914079"/>
            <a:r>
              <a:rPr sz="2400" spc="-5" dirty="0">
                <a:solidFill>
                  <a:prstClr val="black"/>
                </a:solidFill>
                <a:cs typeface="Century Schoolbook"/>
              </a:rPr>
              <a:t>Analyse des</a:t>
            </a:r>
            <a:r>
              <a:rPr sz="2400" spc="-90" dirty="0">
                <a:solidFill>
                  <a:prstClr val="black"/>
                </a:solidFill>
                <a:cs typeface="Century Schoolbook"/>
              </a:rPr>
              <a:t> </a:t>
            </a:r>
            <a:r>
              <a:rPr sz="2400" spc="-5" dirty="0">
                <a:solidFill>
                  <a:prstClr val="black"/>
                </a:solidFill>
                <a:cs typeface="Century Schoolbook"/>
              </a:rPr>
              <a:t>besoins</a:t>
            </a:r>
            <a:endParaRPr sz="2400" dirty="0">
              <a:solidFill>
                <a:prstClr val="black"/>
              </a:solidFill>
              <a:cs typeface="Century Schoolbook"/>
            </a:endParaRPr>
          </a:p>
        </p:txBody>
      </p:sp>
      <p:sp>
        <p:nvSpPr>
          <p:cNvPr id="6" name="object 6"/>
          <p:cNvSpPr txBox="1"/>
          <p:nvPr/>
        </p:nvSpPr>
        <p:spPr>
          <a:xfrm>
            <a:off x="1503933" y="3596385"/>
            <a:ext cx="4253230" cy="391160"/>
          </a:xfrm>
          <a:prstGeom prst="rect">
            <a:avLst/>
          </a:prstGeom>
        </p:spPr>
        <p:txBody>
          <a:bodyPr vert="horz" wrap="square" lIns="0" tIns="12700" rIns="0" bIns="0" rtlCol="0">
            <a:spAutoFit/>
          </a:bodyPr>
          <a:lstStyle/>
          <a:p>
            <a:pPr marL="12700" defTabSz="914079">
              <a:spcBef>
                <a:spcPts val="100"/>
              </a:spcBef>
            </a:pPr>
            <a:r>
              <a:rPr sz="2400" dirty="0">
                <a:solidFill>
                  <a:prstClr val="black"/>
                </a:solidFill>
                <a:cs typeface="Century Schoolbook"/>
              </a:rPr>
              <a:t>Modèle conceptuel </a:t>
            </a:r>
            <a:r>
              <a:rPr sz="2400" spc="-5" dirty="0">
                <a:solidFill>
                  <a:prstClr val="black"/>
                </a:solidFill>
                <a:cs typeface="Century Schoolbook"/>
              </a:rPr>
              <a:t>de</a:t>
            </a:r>
            <a:r>
              <a:rPr sz="2400" spc="-130" dirty="0">
                <a:solidFill>
                  <a:prstClr val="black"/>
                </a:solidFill>
                <a:cs typeface="Century Schoolbook"/>
              </a:rPr>
              <a:t> </a:t>
            </a:r>
            <a:r>
              <a:rPr sz="2400" spc="-5" dirty="0">
                <a:solidFill>
                  <a:prstClr val="black"/>
                </a:solidFill>
                <a:cs typeface="Century Schoolbook"/>
              </a:rPr>
              <a:t>données</a:t>
            </a:r>
            <a:endParaRPr sz="2400" dirty="0">
              <a:solidFill>
                <a:prstClr val="black"/>
              </a:solidFill>
              <a:cs typeface="Century Schoolbook"/>
            </a:endParaRPr>
          </a:p>
        </p:txBody>
      </p:sp>
      <p:sp>
        <p:nvSpPr>
          <p:cNvPr id="7" name="object 7"/>
          <p:cNvSpPr txBox="1"/>
          <p:nvPr/>
        </p:nvSpPr>
        <p:spPr>
          <a:xfrm>
            <a:off x="2560066" y="5364581"/>
            <a:ext cx="2140585" cy="391160"/>
          </a:xfrm>
          <a:prstGeom prst="rect">
            <a:avLst/>
          </a:prstGeom>
        </p:spPr>
        <p:txBody>
          <a:bodyPr vert="horz" wrap="square" lIns="0" tIns="12700" rIns="0" bIns="0" rtlCol="0">
            <a:spAutoFit/>
          </a:bodyPr>
          <a:lstStyle/>
          <a:p>
            <a:pPr marL="12700" defTabSz="914079">
              <a:spcBef>
                <a:spcPts val="100"/>
              </a:spcBef>
            </a:pPr>
            <a:r>
              <a:rPr sz="2400" dirty="0">
                <a:solidFill>
                  <a:prstClr val="black"/>
                </a:solidFill>
                <a:cs typeface="Century Schoolbook"/>
              </a:rPr>
              <a:t>Modèle</a:t>
            </a:r>
            <a:r>
              <a:rPr sz="2400" spc="-80" dirty="0">
                <a:solidFill>
                  <a:prstClr val="black"/>
                </a:solidFill>
                <a:cs typeface="Century Schoolbook"/>
              </a:rPr>
              <a:t> </a:t>
            </a:r>
            <a:r>
              <a:rPr sz="2400" spc="-5" dirty="0">
                <a:solidFill>
                  <a:prstClr val="black"/>
                </a:solidFill>
                <a:cs typeface="Century Schoolbook"/>
              </a:rPr>
              <a:t>logique</a:t>
            </a:r>
            <a:endParaRPr sz="2400" dirty="0">
              <a:solidFill>
                <a:prstClr val="black"/>
              </a:solidFill>
              <a:cs typeface="Century Schoolbook"/>
            </a:endParaRPr>
          </a:p>
        </p:txBody>
      </p:sp>
      <p:sp>
        <p:nvSpPr>
          <p:cNvPr id="8" name="object 8"/>
          <p:cNvSpPr txBox="1"/>
          <p:nvPr/>
        </p:nvSpPr>
        <p:spPr>
          <a:xfrm>
            <a:off x="8334247" y="6474663"/>
            <a:ext cx="229870" cy="239395"/>
          </a:xfrm>
          <a:prstGeom prst="rect">
            <a:avLst/>
          </a:prstGeom>
        </p:spPr>
        <p:txBody>
          <a:bodyPr vert="horz" wrap="square" lIns="0" tIns="12700" rIns="0" bIns="0" rtlCol="0">
            <a:spAutoFit/>
          </a:bodyPr>
          <a:lstStyle/>
          <a:p>
            <a:pPr marL="12700" defTabSz="914079">
              <a:spcBef>
                <a:spcPts val="100"/>
              </a:spcBef>
            </a:pPr>
            <a:r>
              <a:rPr sz="1400" b="1" spc="-5" dirty="0">
                <a:solidFill>
                  <a:prstClr val="black"/>
                </a:solidFill>
                <a:cs typeface="Century Schoolbook"/>
              </a:rPr>
              <a:t>32</a:t>
            </a:r>
            <a:endParaRPr sz="1400" dirty="0">
              <a:solidFill>
                <a:prstClr val="black"/>
              </a:solidFill>
              <a:cs typeface="Century Schoolbook"/>
            </a:endParaRPr>
          </a:p>
        </p:txBody>
      </p:sp>
      <p:sp>
        <p:nvSpPr>
          <p:cNvPr id="9" name="object 9"/>
          <p:cNvSpPr/>
          <p:nvPr/>
        </p:nvSpPr>
        <p:spPr>
          <a:xfrm>
            <a:off x="3708653" y="2782061"/>
            <a:ext cx="721360" cy="647700"/>
          </a:xfrm>
          <a:custGeom>
            <a:avLst/>
            <a:gdLst/>
            <a:ahLst/>
            <a:cxnLst/>
            <a:rect l="l" t="t" r="r" b="b"/>
            <a:pathLst>
              <a:path w="721360" h="647700">
                <a:moveTo>
                  <a:pt x="720851" y="323850"/>
                </a:moveTo>
                <a:lnTo>
                  <a:pt x="0" y="323850"/>
                </a:lnTo>
                <a:lnTo>
                  <a:pt x="360425" y="647700"/>
                </a:lnTo>
                <a:lnTo>
                  <a:pt x="720851" y="323850"/>
                </a:lnTo>
                <a:close/>
              </a:path>
              <a:path w="721360" h="647700">
                <a:moveTo>
                  <a:pt x="540638" y="0"/>
                </a:moveTo>
                <a:lnTo>
                  <a:pt x="180212" y="0"/>
                </a:lnTo>
                <a:lnTo>
                  <a:pt x="180212" y="323850"/>
                </a:lnTo>
                <a:lnTo>
                  <a:pt x="540638" y="323850"/>
                </a:lnTo>
                <a:lnTo>
                  <a:pt x="540638" y="0"/>
                </a:lnTo>
                <a:close/>
              </a:path>
            </a:pathLst>
          </a:custGeom>
          <a:solidFill>
            <a:srgbClr val="FD8537"/>
          </a:solidFill>
        </p:spPr>
        <p:txBody>
          <a:bodyPr wrap="square" lIns="0" tIns="0" rIns="0" bIns="0" rtlCol="0"/>
          <a:lstStyle/>
          <a:p>
            <a:pPr defTabSz="914079"/>
            <a:endParaRPr dirty="0">
              <a:solidFill>
                <a:prstClr val="black"/>
              </a:solidFill>
            </a:endParaRPr>
          </a:p>
        </p:txBody>
      </p:sp>
      <p:sp>
        <p:nvSpPr>
          <p:cNvPr id="10" name="object 10"/>
          <p:cNvSpPr/>
          <p:nvPr/>
        </p:nvSpPr>
        <p:spPr>
          <a:xfrm>
            <a:off x="3708653" y="2782061"/>
            <a:ext cx="721360" cy="647700"/>
          </a:xfrm>
          <a:custGeom>
            <a:avLst/>
            <a:gdLst/>
            <a:ahLst/>
            <a:cxnLst/>
            <a:rect l="l" t="t" r="r" b="b"/>
            <a:pathLst>
              <a:path w="721360" h="647700">
                <a:moveTo>
                  <a:pt x="0" y="323850"/>
                </a:moveTo>
                <a:lnTo>
                  <a:pt x="180212" y="323850"/>
                </a:lnTo>
                <a:lnTo>
                  <a:pt x="180212" y="0"/>
                </a:lnTo>
                <a:lnTo>
                  <a:pt x="540638" y="0"/>
                </a:lnTo>
                <a:lnTo>
                  <a:pt x="540638" y="323850"/>
                </a:lnTo>
                <a:lnTo>
                  <a:pt x="720851" y="323850"/>
                </a:lnTo>
                <a:lnTo>
                  <a:pt x="360425" y="647700"/>
                </a:lnTo>
                <a:lnTo>
                  <a:pt x="0" y="323850"/>
                </a:lnTo>
                <a:close/>
              </a:path>
            </a:pathLst>
          </a:custGeom>
          <a:ln w="25908">
            <a:solidFill>
              <a:srgbClr val="BA6025"/>
            </a:solidFill>
          </a:ln>
        </p:spPr>
        <p:txBody>
          <a:bodyPr wrap="square" lIns="0" tIns="0" rIns="0" bIns="0" rtlCol="0"/>
          <a:lstStyle/>
          <a:p>
            <a:pPr defTabSz="914079"/>
            <a:endParaRPr dirty="0">
              <a:solidFill>
                <a:prstClr val="black"/>
              </a:solidFill>
            </a:endParaRPr>
          </a:p>
        </p:txBody>
      </p:sp>
      <p:sp>
        <p:nvSpPr>
          <p:cNvPr id="11" name="object 11"/>
          <p:cNvSpPr/>
          <p:nvPr/>
        </p:nvSpPr>
        <p:spPr>
          <a:xfrm>
            <a:off x="3708653" y="4437126"/>
            <a:ext cx="721360" cy="649605"/>
          </a:xfrm>
          <a:custGeom>
            <a:avLst/>
            <a:gdLst/>
            <a:ahLst/>
            <a:cxnLst/>
            <a:rect l="l" t="t" r="r" b="b"/>
            <a:pathLst>
              <a:path w="721360" h="649604">
                <a:moveTo>
                  <a:pt x="720851" y="324612"/>
                </a:moveTo>
                <a:lnTo>
                  <a:pt x="0" y="324612"/>
                </a:lnTo>
                <a:lnTo>
                  <a:pt x="360425" y="649224"/>
                </a:lnTo>
                <a:lnTo>
                  <a:pt x="720851" y="324612"/>
                </a:lnTo>
                <a:close/>
              </a:path>
              <a:path w="721360" h="649604">
                <a:moveTo>
                  <a:pt x="540638" y="0"/>
                </a:moveTo>
                <a:lnTo>
                  <a:pt x="180212" y="0"/>
                </a:lnTo>
                <a:lnTo>
                  <a:pt x="180212" y="324612"/>
                </a:lnTo>
                <a:lnTo>
                  <a:pt x="540638" y="324612"/>
                </a:lnTo>
                <a:lnTo>
                  <a:pt x="540638" y="0"/>
                </a:lnTo>
                <a:close/>
              </a:path>
            </a:pathLst>
          </a:custGeom>
          <a:solidFill>
            <a:srgbClr val="FD8537"/>
          </a:solidFill>
        </p:spPr>
        <p:txBody>
          <a:bodyPr wrap="square" lIns="0" tIns="0" rIns="0" bIns="0" rtlCol="0"/>
          <a:lstStyle/>
          <a:p>
            <a:pPr defTabSz="914079"/>
            <a:endParaRPr dirty="0">
              <a:solidFill>
                <a:prstClr val="black"/>
              </a:solidFill>
            </a:endParaRPr>
          </a:p>
        </p:txBody>
      </p:sp>
      <p:sp>
        <p:nvSpPr>
          <p:cNvPr id="12" name="object 12"/>
          <p:cNvSpPr/>
          <p:nvPr/>
        </p:nvSpPr>
        <p:spPr>
          <a:xfrm>
            <a:off x="3708653" y="4437126"/>
            <a:ext cx="721360" cy="649605"/>
          </a:xfrm>
          <a:custGeom>
            <a:avLst/>
            <a:gdLst/>
            <a:ahLst/>
            <a:cxnLst/>
            <a:rect l="l" t="t" r="r" b="b"/>
            <a:pathLst>
              <a:path w="721360" h="649604">
                <a:moveTo>
                  <a:pt x="0" y="324612"/>
                </a:moveTo>
                <a:lnTo>
                  <a:pt x="180212" y="324612"/>
                </a:lnTo>
                <a:lnTo>
                  <a:pt x="180212" y="0"/>
                </a:lnTo>
                <a:lnTo>
                  <a:pt x="540638" y="0"/>
                </a:lnTo>
                <a:lnTo>
                  <a:pt x="540638" y="324612"/>
                </a:lnTo>
                <a:lnTo>
                  <a:pt x="720851" y="324612"/>
                </a:lnTo>
                <a:lnTo>
                  <a:pt x="360425" y="649224"/>
                </a:lnTo>
                <a:lnTo>
                  <a:pt x="0" y="324612"/>
                </a:lnTo>
                <a:close/>
              </a:path>
            </a:pathLst>
          </a:custGeom>
          <a:ln w="25908">
            <a:solidFill>
              <a:srgbClr val="BA6025"/>
            </a:solidFill>
          </a:ln>
        </p:spPr>
        <p:txBody>
          <a:bodyPr wrap="square" lIns="0" tIns="0" rIns="0" bIns="0" rtlCol="0"/>
          <a:lstStyle/>
          <a:p>
            <a:pPr defTabSz="914079"/>
            <a:endParaRPr dirty="0">
              <a:solidFill>
                <a:prstClr val="black"/>
              </a:solidFill>
            </a:endParaRPr>
          </a:p>
        </p:txBody>
      </p:sp>
      <p:sp>
        <p:nvSpPr>
          <p:cNvPr id="13" name="object 13"/>
          <p:cNvSpPr/>
          <p:nvPr/>
        </p:nvSpPr>
        <p:spPr>
          <a:xfrm>
            <a:off x="6804676" y="1917188"/>
            <a:ext cx="1039062" cy="935394"/>
          </a:xfrm>
          <a:prstGeom prst="rect">
            <a:avLst/>
          </a:prstGeom>
          <a:blipFill>
            <a:blip r:embed="rId4" cstate="print"/>
            <a:stretch>
              <a:fillRect/>
            </a:stretch>
          </a:blipFill>
        </p:spPr>
        <p:txBody>
          <a:bodyPr wrap="square" lIns="0" tIns="0" rIns="0" bIns="0" rtlCol="0"/>
          <a:lstStyle/>
          <a:p>
            <a:pPr defTabSz="914079"/>
            <a:endParaRPr dirty="0">
              <a:solidFill>
                <a:prstClr val="black"/>
              </a:solidFill>
            </a:endParaRPr>
          </a:p>
        </p:txBody>
      </p:sp>
      <p:sp>
        <p:nvSpPr>
          <p:cNvPr id="14" name="object 14"/>
          <p:cNvSpPr/>
          <p:nvPr/>
        </p:nvSpPr>
        <p:spPr>
          <a:xfrm>
            <a:off x="6012179" y="3289892"/>
            <a:ext cx="2375916" cy="1215475"/>
          </a:xfrm>
          <a:prstGeom prst="rect">
            <a:avLst/>
          </a:prstGeom>
          <a:blipFill>
            <a:blip r:embed="rId5" cstate="print"/>
            <a:stretch>
              <a:fillRect/>
            </a:stretch>
          </a:blipFill>
        </p:spPr>
        <p:txBody>
          <a:bodyPr wrap="square" lIns="0" tIns="0" rIns="0" bIns="0" rtlCol="0"/>
          <a:lstStyle/>
          <a:p>
            <a:pPr defTabSz="914079"/>
            <a:endParaRPr dirty="0">
              <a:solidFill>
                <a:prstClr val="black"/>
              </a:solidFill>
            </a:endParaRPr>
          </a:p>
        </p:txBody>
      </p:sp>
      <p:sp>
        <p:nvSpPr>
          <p:cNvPr id="15" name="object 15"/>
          <p:cNvSpPr/>
          <p:nvPr/>
        </p:nvSpPr>
        <p:spPr>
          <a:xfrm>
            <a:off x="6659880" y="5012435"/>
            <a:ext cx="2153412" cy="1636776"/>
          </a:xfrm>
          <a:prstGeom prst="rect">
            <a:avLst/>
          </a:prstGeom>
          <a:blipFill>
            <a:blip r:embed="rId6" cstate="print"/>
            <a:stretch>
              <a:fillRect/>
            </a:stretch>
          </a:blipFill>
        </p:spPr>
        <p:txBody>
          <a:bodyPr wrap="square" lIns="0" tIns="0" rIns="0" bIns="0" rtlCol="0"/>
          <a:lstStyle/>
          <a:p>
            <a:pPr defTabSz="914079"/>
            <a:endParaRPr dirty="0">
              <a:solidFill>
                <a:prstClr val="black"/>
              </a:solidFill>
            </a:endParaRPr>
          </a:p>
        </p:txBody>
      </p:sp>
      <p:sp>
        <p:nvSpPr>
          <p:cNvPr id="16" name="object 16"/>
          <p:cNvSpPr txBox="1"/>
          <p:nvPr/>
        </p:nvSpPr>
        <p:spPr>
          <a:xfrm>
            <a:off x="6775450" y="4107941"/>
            <a:ext cx="2368550" cy="928459"/>
          </a:xfrm>
          <a:prstGeom prst="rect">
            <a:avLst/>
          </a:prstGeom>
        </p:spPr>
        <p:txBody>
          <a:bodyPr vert="horz" wrap="square" lIns="0" tIns="12700" rIns="0" bIns="0" rtlCol="0">
            <a:spAutoFit/>
          </a:bodyPr>
          <a:lstStyle/>
          <a:p>
            <a:pPr marL="624840" defTabSz="914079">
              <a:spcBef>
                <a:spcPts val="100"/>
              </a:spcBef>
            </a:pPr>
            <a:r>
              <a:rPr sz="1400" dirty="0" err="1">
                <a:solidFill>
                  <a:prstClr val="black"/>
                </a:solidFill>
                <a:cs typeface="Century Schoolbook"/>
              </a:rPr>
              <a:t>Schéma</a:t>
            </a:r>
            <a:r>
              <a:rPr sz="1400" spc="-80" dirty="0">
                <a:solidFill>
                  <a:prstClr val="black"/>
                </a:solidFill>
                <a:cs typeface="Century Schoolbook"/>
              </a:rPr>
              <a:t> </a:t>
            </a:r>
            <a:r>
              <a:rPr sz="1400" spc="-5" dirty="0">
                <a:solidFill>
                  <a:prstClr val="black"/>
                </a:solidFill>
                <a:cs typeface="Century Schoolbook"/>
              </a:rPr>
              <a:t>E</a:t>
            </a:r>
            <a:r>
              <a:rPr lang="fr-FR" sz="1400" spc="-5" dirty="0" err="1">
                <a:solidFill>
                  <a:prstClr val="black"/>
                </a:solidFill>
                <a:cs typeface="Century Schoolbook"/>
              </a:rPr>
              <a:t>ntité</a:t>
            </a:r>
            <a:r>
              <a:rPr sz="1400" spc="-5" dirty="0">
                <a:solidFill>
                  <a:prstClr val="black"/>
                </a:solidFill>
                <a:cs typeface="Century Schoolbook"/>
              </a:rPr>
              <a:t>/A</a:t>
            </a:r>
            <a:r>
              <a:rPr lang="fr-FR" sz="1400" spc="-5" dirty="0" err="1">
                <a:solidFill>
                  <a:prstClr val="black"/>
                </a:solidFill>
                <a:cs typeface="Century Schoolbook"/>
              </a:rPr>
              <a:t>ssociation</a:t>
            </a:r>
            <a:endParaRPr sz="1700" dirty="0">
              <a:solidFill>
                <a:prstClr val="black"/>
              </a:solidFill>
              <a:latin typeface="Times New Roman"/>
              <a:cs typeface="Times New Roman"/>
            </a:endParaRPr>
          </a:p>
          <a:p>
            <a:pPr defTabSz="914079">
              <a:spcBef>
                <a:spcPts val="25"/>
              </a:spcBef>
            </a:pPr>
            <a:endParaRPr sz="1750" dirty="0">
              <a:solidFill>
                <a:prstClr val="black"/>
              </a:solidFill>
              <a:latin typeface="Times New Roman"/>
              <a:cs typeface="Times New Roman"/>
            </a:endParaRPr>
          </a:p>
          <a:p>
            <a:pPr marL="12700" defTabSz="914079"/>
            <a:r>
              <a:rPr sz="1400" spc="-5" dirty="0">
                <a:solidFill>
                  <a:prstClr val="black"/>
                </a:solidFill>
                <a:cs typeface="Century Schoolbook"/>
              </a:rPr>
              <a:t>Modèle</a:t>
            </a:r>
            <a:r>
              <a:rPr sz="1400" spc="-55" dirty="0">
                <a:solidFill>
                  <a:prstClr val="black"/>
                </a:solidFill>
                <a:cs typeface="Century Schoolbook"/>
              </a:rPr>
              <a:t> </a:t>
            </a:r>
            <a:r>
              <a:rPr sz="1400" dirty="0">
                <a:solidFill>
                  <a:prstClr val="black"/>
                </a:solidFill>
                <a:cs typeface="Century Schoolbook"/>
              </a:rPr>
              <a:t>relationnel</a:t>
            </a:r>
          </a:p>
        </p:txBody>
      </p:sp>
      <p:sp>
        <p:nvSpPr>
          <p:cNvPr id="17" name="Espace réservé du numéro de diapositive 16"/>
          <p:cNvSpPr>
            <a:spLocks noGrp="1"/>
          </p:cNvSpPr>
          <p:nvPr>
            <p:ph type="sldNum" sz="quarter" idx="15"/>
          </p:nvPr>
        </p:nvSpPr>
        <p:spPr/>
        <p:txBody>
          <a:bodyPr/>
          <a:lstStyle/>
          <a:p>
            <a:fld id="{F1AAE0E6-1385-44E0-8EAE-F204D7E7A5E9}" type="slidenum">
              <a:rPr lang="fr-FR" smtClean="0"/>
              <a:pPr/>
              <a:t>2</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4"/>
          <p:cNvSpPr txBox="1">
            <a:spLocks noGrp="1"/>
          </p:cNvSpPr>
          <p:nvPr>
            <p:ph type="title"/>
          </p:nvPr>
        </p:nvSpPr>
        <p:spPr>
          <a:xfrm>
            <a:off x="507288" y="621538"/>
            <a:ext cx="6090285" cy="482600"/>
          </a:xfrm>
          <a:prstGeom prst="rect">
            <a:avLst/>
          </a:prstGeom>
        </p:spPr>
        <p:txBody>
          <a:bodyPr vert="horz" wrap="square" lIns="0" tIns="12700" rIns="0" bIns="0" rtlCol="0">
            <a:spAutoFit/>
          </a:bodyPr>
          <a:lstStyle/>
          <a:p>
            <a:pPr marL="12700">
              <a:lnSpc>
                <a:spcPct val="100000"/>
              </a:lnSpc>
              <a:spcBef>
                <a:spcPts val="100"/>
              </a:spcBef>
            </a:pPr>
            <a:r>
              <a:rPr spc="-5" dirty="0" smtClean="0"/>
              <a:t>CONTEXTE</a:t>
            </a:r>
            <a:r>
              <a:rPr spc="445" dirty="0" smtClean="0"/>
              <a:t> </a:t>
            </a:r>
            <a:r>
              <a:rPr spc="-5" dirty="0"/>
              <a:t>DÉCENTRALISÉ</a:t>
            </a:r>
            <a:endParaRPr sz="3000" dirty="0"/>
          </a:p>
        </p:txBody>
      </p:sp>
      <p:sp>
        <p:nvSpPr>
          <p:cNvPr id="6" name="object 6"/>
          <p:cNvSpPr txBox="1"/>
          <p:nvPr/>
        </p:nvSpPr>
        <p:spPr>
          <a:xfrm>
            <a:off x="3044444" y="1372616"/>
            <a:ext cx="1190625" cy="177800"/>
          </a:xfrm>
          <a:prstGeom prst="rect">
            <a:avLst/>
          </a:prstGeom>
        </p:spPr>
        <p:txBody>
          <a:bodyPr vert="horz" wrap="square" lIns="0" tIns="12065" rIns="0" bIns="0" rtlCol="0">
            <a:spAutoFit/>
          </a:bodyPr>
          <a:lstStyle/>
          <a:p>
            <a:pPr marL="12700" defTabSz="914079">
              <a:spcBef>
                <a:spcPts val="95"/>
              </a:spcBef>
            </a:pPr>
            <a:r>
              <a:rPr sz="1000" spc="-5" dirty="0">
                <a:solidFill>
                  <a:prstClr val="black"/>
                </a:solidFill>
                <a:cs typeface="Century Schoolbook"/>
              </a:rPr>
              <a:t>Analyse des</a:t>
            </a:r>
            <a:r>
              <a:rPr sz="1000" spc="-65" dirty="0">
                <a:solidFill>
                  <a:prstClr val="black"/>
                </a:solidFill>
                <a:cs typeface="Century Schoolbook"/>
              </a:rPr>
              <a:t> </a:t>
            </a:r>
            <a:r>
              <a:rPr sz="1000" spc="-5" dirty="0">
                <a:solidFill>
                  <a:prstClr val="black"/>
                </a:solidFill>
                <a:cs typeface="Century Schoolbook"/>
              </a:rPr>
              <a:t>besoins</a:t>
            </a:r>
            <a:endParaRPr sz="1000">
              <a:solidFill>
                <a:prstClr val="black"/>
              </a:solidFill>
              <a:cs typeface="Century Schoolbook"/>
            </a:endParaRPr>
          </a:p>
        </p:txBody>
      </p:sp>
      <p:sp>
        <p:nvSpPr>
          <p:cNvPr id="7" name="object 7"/>
          <p:cNvSpPr txBox="1"/>
          <p:nvPr/>
        </p:nvSpPr>
        <p:spPr>
          <a:xfrm>
            <a:off x="2744216" y="2058416"/>
            <a:ext cx="1790064" cy="177800"/>
          </a:xfrm>
          <a:prstGeom prst="rect">
            <a:avLst/>
          </a:prstGeom>
        </p:spPr>
        <p:txBody>
          <a:bodyPr vert="horz" wrap="square" lIns="0" tIns="12065" rIns="0" bIns="0" rtlCol="0">
            <a:spAutoFit/>
          </a:bodyPr>
          <a:lstStyle/>
          <a:p>
            <a:pPr marL="12700" defTabSz="914079">
              <a:spcBef>
                <a:spcPts val="95"/>
              </a:spcBef>
            </a:pPr>
            <a:r>
              <a:rPr sz="1000" spc="-5" dirty="0">
                <a:solidFill>
                  <a:prstClr val="black"/>
                </a:solidFill>
                <a:cs typeface="Century Schoolbook"/>
              </a:rPr>
              <a:t>Modèle conceptuel de</a:t>
            </a:r>
            <a:r>
              <a:rPr sz="1000" spc="-25" dirty="0">
                <a:solidFill>
                  <a:prstClr val="black"/>
                </a:solidFill>
                <a:cs typeface="Century Schoolbook"/>
              </a:rPr>
              <a:t> </a:t>
            </a:r>
            <a:r>
              <a:rPr sz="1000" dirty="0">
                <a:solidFill>
                  <a:prstClr val="black"/>
                </a:solidFill>
                <a:cs typeface="Century Schoolbook"/>
              </a:rPr>
              <a:t>données</a:t>
            </a:r>
            <a:endParaRPr sz="1000">
              <a:solidFill>
                <a:prstClr val="black"/>
              </a:solidFill>
              <a:cs typeface="Century Schoolbook"/>
            </a:endParaRPr>
          </a:p>
        </p:txBody>
      </p:sp>
      <p:sp>
        <p:nvSpPr>
          <p:cNvPr id="8" name="object 8"/>
          <p:cNvSpPr txBox="1"/>
          <p:nvPr/>
        </p:nvSpPr>
        <p:spPr>
          <a:xfrm>
            <a:off x="3186429" y="2973069"/>
            <a:ext cx="906144" cy="177800"/>
          </a:xfrm>
          <a:prstGeom prst="rect">
            <a:avLst/>
          </a:prstGeom>
        </p:spPr>
        <p:txBody>
          <a:bodyPr vert="horz" wrap="square" lIns="0" tIns="12065" rIns="0" bIns="0" rtlCol="0">
            <a:spAutoFit/>
          </a:bodyPr>
          <a:lstStyle/>
          <a:p>
            <a:pPr marL="12700" defTabSz="914079">
              <a:spcBef>
                <a:spcPts val="95"/>
              </a:spcBef>
            </a:pPr>
            <a:r>
              <a:rPr sz="1000" spc="-5" dirty="0">
                <a:solidFill>
                  <a:prstClr val="black"/>
                </a:solidFill>
                <a:cs typeface="Century Schoolbook"/>
              </a:rPr>
              <a:t>Modèle</a:t>
            </a:r>
            <a:r>
              <a:rPr sz="1000" spc="-45" dirty="0">
                <a:solidFill>
                  <a:prstClr val="black"/>
                </a:solidFill>
                <a:cs typeface="Century Schoolbook"/>
              </a:rPr>
              <a:t> </a:t>
            </a:r>
            <a:r>
              <a:rPr sz="1000" spc="-5" dirty="0">
                <a:solidFill>
                  <a:prstClr val="black"/>
                </a:solidFill>
                <a:cs typeface="Century Schoolbook"/>
              </a:rPr>
              <a:t>logique</a:t>
            </a:r>
            <a:endParaRPr sz="1000">
              <a:solidFill>
                <a:prstClr val="black"/>
              </a:solidFill>
              <a:cs typeface="Century Schoolbook"/>
            </a:endParaRPr>
          </a:p>
        </p:txBody>
      </p:sp>
      <p:sp>
        <p:nvSpPr>
          <p:cNvPr id="9" name="object 9"/>
          <p:cNvSpPr/>
          <p:nvPr/>
        </p:nvSpPr>
        <p:spPr>
          <a:xfrm>
            <a:off x="3420617" y="1773173"/>
            <a:ext cx="433070" cy="288290"/>
          </a:xfrm>
          <a:custGeom>
            <a:avLst/>
            <a:gdLst/>
            <a:ahLst/>
            <a:cxnLst/>
            <a:rect l="l" t="t" r="r" b="b"/>
            <a:pathLst>
              <a:path w="433070" h="288289">
                <a:moveTo>
                  <a:pt x="432816" y="144017"/>
                </a:moveTo>
                <a:lnTo>
                  <a:pt x="0" y="144017"/>
                </a:lnTo>
                <a:lnTo>
                  <a:pt x="216408" y="288036"/>
                </a:lnTo>
                <a:lnTo>
                  <a:pt x="432816" y="144017"/>
                </a:lnTo>
                <a:close/>
              </a:path>
              <a:path w="433070" h="288289">
                <a:moveTo>
                  <a:pt x="324612" y="0"/>
                </a:moveTo>
                <a:lnTo>
                  <a:pt x="108204" y="0"/>
                </a:lnTo>
                <a:lnTo>
                  <a:pt x="108204" y="144017"/>
                </a:lnTo>
                <a:lnTo>
                  <a:pt x="324612" y="144017"/>
                </a:lnTo>
                <a:lnTo>
                  <a:pt x="324612"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10" name="object 10"/>
          <p:cNvSpPr/>
          <p:nvPr/>
        </p:nvSpPr>
        <p:spPr>
          <a:xfrm>
            <a:off x="3420617" y="1773173"/>
            <a:ext cx="433070" cy="288290"/>
          </a:xfrm>
          <a:custGeom>
            <a:avLst/>
            <a:gdLst/>
            <a:ahLst/>
            <a:cxnLst/>
            <a:rect l="l" t="t" r="r" b="b"/>
            <a:pathLst>
              <a:path w="433070" h="288289">
                <a:moveTo>
                  <a:pt x="0" y="144017"/>
                </a:moveTo>
                <a:lnTo>
                  <a:pt x="108204" y="144017"/>
                </a:lnTo>
                <a:lnTo>
                  <a:pt x="108204" y="0"/>
                </a:lnTo>
                <a:lnTo>
                  <a:pt x="324612" y="0"/>
                </a:lnTo>
                <a:lnTo>
                  <a:pt x="324612" y="144017"/>
                </a:lnTo>
                <a:lnTo>
                  <a:pt x="432816" y="144017"/>
                </a:lnTo>
                <a:lnTo>
                  <a:pt x="216408" y="288036"/>
                </a:lnTo>
                <a:lnTo>
                  <a:pt x="0" y="144017"/>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11" name="object 11"/>
          <p:cNvSpPr/>
          <p:nvPr/>
        </p:nvSpPr>
        <p:spPr>
          <a:xfrm>
            <a:off x="3420617" y="2565654"/>
            <a:ext cx="433070" cy="288290"/>
          </a:xfrm>
          <a:custGeom>
            <a:avLst/>
            <a:gdLst/>
            <a:ahLst/>
            <a:cxnLst/>
            <a:rect l="l" t="t" r="r" b="b"/>
            <a:pathLst>
              <a:path w="433070" h="288289">
                <a:moveTo>
                  <a:pt x="432816" y="144018"/>
                </a:moveTo>
                <a:lnTo>
                  <a:pt x="0" y="144018"/>
                </a:lnTo>
                <a:lnTo>
                  <a:pt x="216408" y="288036"/>
                </a:lnTo>
                <a:lnTo>
                  <a:pt x="432816" y="144018"/>
                </a:lnTo>
                <a:close/>
              </a:path>
              <a:path w="433070" h="288289">
                <a:moveTo>
                  <a:pt x="324612" y="0"/>
                </a:moveTo>
                <a:lnTo>
                  <a:pt x="108204" y="0"/>
                </a:lnTo>
                <a:lnTo>
                  <a:pt x="108204" y="144018"/>
                </a:lnTo>
                <a:lnTo>
                  <a:pt x="324612" y="144018"/>
                </a:lnTo>
                <a:lnTo>
                  <a:pt x="324612"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12" name="object 12"/>
          <p:cNvSpPr/>
          <p:nvPr/>
        </p:nvSpPr>
        <p:spPr>
          <a:xfrm>
            <a:off x="3420617" y="2565654"/>
            <a:ext cx="433070" cy="288290"/>
          </a:xfrm>
          <a:custGeom>
            <a:avLst/>
            <a:gdLst/>
            <a:ahLst/>
            <a:cxnLst/>
            <a:rect l="l" t="t" r="r" b="b"/>
            <a:pathLst>
              <a:path w="433070" h="288289">
                <a:moveTo>
                  <a:pt x="0" y="144018"/>
                </a:moveTo>
                <a:lnTo>
                  <a:pt x="108204" y="144018"/>
                </a:lnTo>
                <a:lnTo>
                  <a:pt x="108204" y="0"/>
                </a:lnTo>
                <a:lnTo>
                  <a:pt x="324612" y="0"/>
                </a:lnTo>
                <a:lnTo>
                  <a:pt x="324612" y="144018"/>
                </a:lnTo>
                <a:lnTo>
                  <a:pt x="432816" y="144018"/>
                </a:lnTo>
                <a:lnTo>
                  <a:pt x="216408" y="288036"/>
                </a:lnTo>
                <a:lnTo>
                  <a:pt x="0" y="144018"/>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13" name="object 13"/>
          <p:cNvSpPr/>
          <p:nvPr/>
        </p:nvSpPr>
        <p:spPr>
          <a:xfrm>
            <a:off x="4500371" y="1341119"/>
            <a:ext cx="502920" cy="1871980"/>
          </a:xfrm>
          <a:custGeom>
            <a:avLst/>
            <a:gdLst/>
            <a:ahLst/>
            <a:cxnLst/>
            <a:rect l="l" t="t" r="r" b="b"/>
            <a:pathLst>
              <a:path w="502920" h="1871980">
                <a:moveTo>
                  <a:pt x="0" y="0"/>
                </a:moveTo>
                <a:lnTo>
                  <a:pt x="81574" y="549"/>
                </a:lnTo>
                <a:lnTo>
                  <a:pt x="158959" y="2139"/>
                </a:lnTo>
                <a:lnTo>
                  <a:pt x="231118" y="4684"/>
                </a:lnTo>
                <a:lnTo>
                  <a:pt x="297015" y="8095"/>
                </a:lnTo>
                <a:lnTo>
                  <a:pt x="355615" y="12287"/>
                </a:lnTo>
                <a:lnTo>
                  <a:pt x="405883" y="17172"/>
                </a:lnTo>
                <a:lnTo>
                  <a:pt x="446783" y="22664"/>
                </a:lnTo>
                <a:lnTo>
                  <a:pt x="496337" y="35119"/>
                </a:lnTo>
                <a:lnTo>
                  <a:pt x="502919" y="41909"/>
                </a:lnTo>
                <a:lnTo>
                  <a:pt x="502919" y="1829562"/>
                </a:lnTo>
                <a:lnTo>
                  <a:pt x="446783" y="1848807"/>
                </a:lnTo>
                <a:lnTo>
                  <a:pt x="405883" y="1854299"/>
                </a:lnTo>
                <a:lnTo>
                  <a:pt x="355615" y="1859184"/>
                </a:lnTo>
                <a:lnTo>
                  <a:pt x="297015" y="1863376"/>
                </a:lnTo>
                <a:lnTo>
                  <a:pt x="231118" y="1866787"/>
                </a:lnTo>
                <a:lnTo>
                  <a:pt x="158959" y="1869332"/>
                </a:lnTo>
                <a:lnTo>
                  <a:pt x="81574" y="1870922"/>
                </a:lnTo>
                <a:lnTo>
                  <a:pt x="0" y="1871471"/>
                </a:lnTo>
              </a:path>
            </a:pathLst>
          </a:custGeom>
          <a:ln w="9144">
            <a:solidFill>
              <a:srgbClr val="FC8230"/>
            </a:solidFill>
          </a:ln>
        </p:spPr>
        <p:txBody>
          <a:bodyPr wrap="square" lIns="0" tIns="0" rIns="0" bIns="0" rtlCol="0"/>
          <a:lstStyle/>
          <a:p>
            <a:pPr defTabSz="914079"/>
            <a:endParaRPr>
              <a:solidFill>
                <a:prstClr val="black"/>
              </a:solidFill>
            </a:endParaRPr>
          </a:p>
        </p:txBody>
      </p:sp>
      <p:sp>
        <p:nvSpPr>
          <p:cNvPr id="14" name="object 14"/>
          <p:cNvSpPr txBox="1"/>
          <p:nvPr/>
        </p:nvSpPr>
        <p:spPr>
          <a:xfrm>
            <a:off x="5443473" y="1947164"/>
            <a:ext cx="1858645" cy="848994"/>
          </a:xfrm>
          <a:prstGeom prst="rect">
            <a:avLst/>
          </a:prstGeom>
        </p:spPr>
        <p:txBody>
          <a:bodyPr vert="horz" wrap="square" lIns="0" tIns="12700" rIns="0" bIns="0" rtlCol="0">
            <a:spAutoFit/>
          </a:bodyPr>
          <a:lstStyle/>
          <a:p>
            <a:pPr marL="12700" marR="5080" defTabSz="914079">
              <a:spcBef>
                <a:spcPts val="100"/>
              </a:spcBef>
            </a:pPr>
            <a:r>
              <a:rPr spc="-5" dirty="0">
                <a:solidFill>
                  <a:prstClr val="black"/>
                </a:solidFill>
                <a:cs typeface="Century Schoolbook"/>
              </a:rPr>
              <a:t>Processus de  </a:t>
            </a:r>
            <a:r>
              <a:rPr dirty="0">
                <a:solidFill>
                  <a:prstClr val="black"/>
                </a:solidFill>
                <a:cs typeface="Century Schoolbook"/>
              </a:rPr>
              <a:t>conception </a:t>
            </a:r>
            <a:r>
              <a:rPr spc="-5" dirty="0">
                <a:solidFill>
                  <a:prstClr val="black"/>
                </a:solidFill>
                <a:cs typeface="Century Schoolbook"/>
              </a:rPr>
              <a:t>de</a:t>
            </a:r>
            <a:r>
              <a:rPr spc="-95" dirty="0">
                <a:solidFill>
                  <a:prstClr val="black"/>
                </a:solidFill>
                <a:cs typeface="Century Schoolbook"/>
              </a:rPr>
              <a:t> </a:t>
            </a:r>
            <a:r>
              <a:rPr spc="-5" dirty="0">
                <a:solidFill>
                  <a:prstClr val="black"/>
                </a:solidFill>
                <a:cs typeface="Century Schoolbook"/>
              </a:rPr>
              <a:t>BD  centralisé</a:t>
            </a:r>
            <a:endParaRPr>
              <a:solidFill>
                <a:prstClr val="black"/>
              </a:solidFill>
              <a:cs typeface="Century Schoolbook"/>
            </a:endParaRPr>
          </a:p>
        </p:txBody>
      </p:sp>
      <p:sp>
        <p:nvSpPr>
          <p:cNvPr id="15" name="object 15"/>
          <p:cNvSpPr/>
          <p:nvPr/>
        </p:nvSpPr>
        <p:spPr>
          <a:xfrm>
            <a:off x="3204210" y="3429761"/>
            <a:ext cx="792480" cy="719455"/>
          </a:xfrm>
          <a:custGeom>
            <a:avLst/>
            <a:gdLst/>
            <a:ahLst/>
            <a:cxnLst/>
            <a:rect l="l" t="t" r="r" b="b"/>
            <a:pathLst>
              <a:path w="792479" h="719454">
                <a:moveTo>
                  <a:pt x="792479" y="359663"/>
                </a:moveTo>
                <a:lnTo>
                  <a:pt x="0" y="359663"/>
                </a:lnTo>
                <a:lnTo>
                  <a:pt x="396239" y="719327"/>
                </a:lnTo>
                <a:lnTo>
                  <a:pt x="792479" y="359663"/>
                </a:lnTo>
                <a:close/>
              </a:path>
              <a:path w="792479" h="719454">
                <a:moveTo>
                  <a:pt x="594360" y="0"/>
                </a:moveTo>
                <a:lnTo>
                  <a:pt x="198119" y="0"/>
                </a:lnTo>
                <a:lnTo>
                  <a:pt x="198119" y="359663"/>
                </a:lnTo>
                <a:lnTo>
                  <a:pt x="594360" y="359663"/>
                </a:lnTo>
                <a:lnTo>
                  <a:pt x="594360"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16" name="object 16"/>
          <p:cNvSpPr/>
          <p:nvPr/>
        </p:nvSpPr>
        <p:spPr>
          <a:xfrm>
            <a:off x="3204210" y="3429761"/>
            <a:ext cx="792480" cy="719455"/>
          </a:xfrm>
          <a:custGeom>
            <a:avLst/>
            <a:gdLst/>
            <a:ahLst/>
            <a:cxnLst/>
            <a:rect l="l" t="t" r="r" b="b"/>
            <a:pathLst>
              <a:path w="792479" h="719454">
                <a:moveTo>
                  <a:pt x="0" y="359663"/>
                </a:moveTo>
                <a:lnTo>
                  <a:pt x="198119" y="359663"/>
                </a:lnTo>
                <a:lnTo>
                  <a:pt x="198119" y="0"/>
                </a:lnTo>
                <a:lnTo>
                  <a:pt x="594360" y="0"/>
                </a:lnTo>
                <a:lnTo>
                  <a:pt x="594360" y="359663"/>
                </a:lnTo>
                <a:lnTo>
                  <a:pt x="792479" y="359663"/>
                </a:lnTo>
                <a:lnTo>
                  <a:pt x="396239" y="719327"/>
                </a:lnTo>
                <a:lnTo>
                  <a:pt x="0" y="359663"/>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17" name="object 17"/>
          <p:cNvSpPr/>
          <p:nvPr/>
        </p:nvSpPr>
        <p:spPr>
          <a:xfrm>
            <a:off x="3204210" y="4725161"/>
            <a:ext cx="792480" cy="721360"/>
          </a:xfrm>
          <a:custGeom>
            <a:avLst/>
            <a:gdLst/>
            <a:ahLst/>
            <a:cxnLst/>
            <a:rect l="l" t="t" r="r" b="b"/>
            <a:pathLst>
              <a:path w="792479" h="721360">
                <a:moveTo>
                  <a:pt x="792479" y="360425"/>
                </a:moveTo>
                <a:lnTo>
                  <a:pt x="0" y="360425"/>
                </a:lnTo>
                <a:lnTo>
                  <a:pt x="396239" y="720851"/>
                </a:lnTo>
                <a:lnTo>
                  <a:pt x="792479" y="360425"/>
                </a:lnTo>
                <a:close/>
              </a:path>
              <a:path w="792479" h="721360">
                <a:moveTo>
                  <a:pt x="594360" y="0"/>
                </a:moveTo>
                <a:lnTo>
                  <a:pt x="198119" y="0"/>
                </a:lnTo>
                <a:lnTo>
                  <a:pt x="198119" y="360425"/>
                </a:lnTo>
                <a:lnTo>
                  <a:pt x="594360" y="360425"/>
                </a:lnTo>
                <a:lnTo>
                  <a:pt x="594360"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18" name="object 18"/>
          <p:cNvSpPr/>
          <p:nvPr/>
        </p:nvSpPr>
        <p:spPr>
          <a:xfrm>
            <a:off x="3204210" y="4725161"/>
            <a:ext cx="792480" cy="721360"/>
          </a:xfrm>
          <a:custGeom>
            <a:avLst/>
            <a:gdLst/>
            <a:ahLst/>
            <a:cxnLst/>
            <a:rect l="l" t="t" r="r" b="b"/>
            <a:pathLst>
              <a:path w="792479" h="721360">
                <a:moveTo>
                  <a:pt x="0" y="360425"/>
                </a:moveTo>
                <a:lnTo>
                  <a:pt x="198119" y="360425"/>
                </a:lnTo>
                <a:lnTo>
                  <a:pt x="198119" y="0"/>
                </a:lnTo>
                <a:lnTo>
                  <a:pt x="594360" y="0"/>
                </a:lnTo>
                <a:lnTo>
                  <a:pt x="594360" y="360425"/>
                </a:lnTo>
                <a:lnTo>
                  <a:pt x="792479" y="360425"/>
                </a:lnTo>
                <a:lnTo>
                  <a:pt x="396239" y="720851"/>
                </a:lnTo>
                <a:lnTo>
                  <a:pt x="0" y="360425"/>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19" name="object 19"/>
          <p:cNvSpPr/>
          <p:nvPr/>
        </p:nvSpPr>
        <p:spPr>
          <a:xfrm>
            <a:off x="5507735" y="4148328"/>
            <a:ext cx="504825" cy="1873250"/>
          </a:xfrm>
          <a:custGeom>
            <a:avLst/>
            <a:gdLst/>
            <a:ahLst/>
            <a:cxnLst/>
            <a:rect l="l" t="t" r="r" b="b"/>
            <a:pathLst>
              <a:path w="504825" h="1873250">
                <a:moveTo>
                  <a:pt x="0" y="0"/>
                </a:moveTo>
                <a:lnTo>
                  <a:pt x="81833" y="549"/>
                </a:lnTo>
                <a:lnTo>
                  <a:pt x="159459" y="2140"/>
                </a:lnTo>
                <a:lnTo>
                  <a:pt x="231839" y="4687"/>
                </a:lnTo>
                <a:lnTo>
                  <a:pt x="297935" y="8103"/>
                </a:lnTo>
                <a:lnTo>
                  <a:pt x="356711" y="12303"/>
                </a:lnTo>
                <a:lnTo>
                  <a:pt x="407127" y="17199"/>
                </a:lnTo>
                <a:lnTo>
                  <a:pt x="448146" y="22707"/>
                </a:lnTo>
                <a:lnTo>
                  <a:pt x="497842" y="35212"/>
                </a:lnTo>
                <a:lnTo>
                  <a:pt x="504443" y="42037"/>
                </a:lnTo>
                <a:lnTo>
                  <a:pt x="504443" y="1830959"/>
                </a:lnTo>
                <a:lnTo>
                  <a:pt x="448146" y="1850277"/>
                </a:lnTo>
                <a:lnTo>
                  <a:pt x="407127" y="1855785"/>
                </a:lnTo>
                <a:lnTo>
                  <a:pt x="356711" y="1860683"/>
                </a:lnTo>
                <a:lnTo>
                  <a:pt x="297935" y="1864885"/>
                </a:lnTo>
                <a:lnTo>
                  <a:pt x="231839" y="1868303"/>
                </a:lnTo>
                <a:lnTo>
                  <a:pt x="159459" y="1870852"/>
                </a:lnTo>
                <a:lnTo>
                  <a:pt x="81833" y="1872445"/>
                </a:lnTo>
                <a:lnTo>
                  <a:pt x="0" y="1872996"/>
                </a:lnTo>
              </a:path>
            </a:pathLst>
          </a:custGeom>
          <a:ln w="9144">
            <a:solidFill>
              <a:srgbClr val="FC8230"/>
            </a:solidFill>
          </a:ln>
        </p:spPr>
        <p:txBody>
          <a:bodyPr wrap="square" lIns="0" tIns="0" rIns="0" bIns="0" rtlCol="0"/>
          <a:lstStyle/>
          <a:p>
            <a:pPr defTabSz="914079"/>
            <a:endParaRPr>
              <a:solidFill>
                <a:prstClr val="black"/>
              </a:solidFill>
            </a:endParaRPr>
          </a:p>
        </p:txBody>
      </p:sp>
      <p:sp>
        <p:nvSpPr>
          <p:cNvPr id="20" name="object 20"/>
          <p:cNvSpPr txBox="1"/>
          <p:nvPr/>
        </p:nvSpPr>
        <p:spPr>
          <a:xfrm>
            <a:off x="1605533" y="4166489"/>
            <a:ext cx="6079490" cy="1753870"/>
          </a:xfrm>
          <a:prstGeom prst="rect">
            <a:avLst/>
          </a:prstGeom>
        </p:spPr>
        <p:txBody>
          <a:bodyPr vert="horz" wrap="square" lIns="0" tIns="97790" rIns="0" bIns="0" rtlCol="0">
            <a:spAutoFit/>
          </a:bodyPr>
          <a:lstStyle/>
          <a:p>
            <a:pPr marL="12700" defTabSz="914079">
              <a:spcBef>
                <a:spcPts val="770"/>
              </a:spcBef>
            </a:pPr>
            <a:r>
              <a:rPr spc="-5" dirty="0">
                <a:solidFill>
                  <a:prstClr val="black"/>
                </a:solidFill>
                <a:cs typeface="Century Schoolbook"/>
              </a:rPr>
              <a:t>Migration </a:t>
            </a:r>
            <a:r>
              <a:rPr dirty="0">
                <a:solidFill>
                  <a:prstClr val="black"/>
                </a:solidFill>
                <a:cs typeface="Century Schoolbook"/>
              </a:rPr>
              <a:t>/ </a:t>
            </a:r>
            <a:r>
              <a:rPr spc="-5" dirty="0">
                <a:solidFill>
                  <a:prstClr val="black"/>
                </a:solidFill>
                <a:cs typeface="Century Schoolbook"/>
              </a:rPr>
              <a:t>Décomposition </a:t>
            </a:r>
            <a:r>
              <a:rPr dirty="0">
                <a:solidFill>
                  <a:prstClr val="black"/>
                </a:solidFill>
                <a:cs typeface="Century Schoolbook"/>
              </a:rPr>
              <a:t>/</a:t>
            </a:r>
            <a:r>
              <a:rPr spc="-10" dirty="0">
                <a:solidFill>
                  <a:prstClr val="black"/>
                </a:solidFill>
                <a:cs typeface="Century Schoolbook"/>
              </a:rPr>
              <a:t> </a:t>
            </a:r>
            <a:r>
              <a:rPr spc="-5" dirty="0">
                <a:solidFill>
                  <a:prstClr val="black"/>
                </a:solidFill>
                <a:cs typeface="Century Schoolbook"/>
              </a:rPr>
              <a:t>Réplication</a:t>
            </a:r>
            <a:endParaRPr>
              <a:solidFill>
                <a:prstClr val="black"/>
              </a:solidFill>
              <a:cs typeface="Century Schoolbook"/>
            </a:endParaRPr>
          </a:p>
          <a:p>
            <a:pPr marL="4714875" marR="5080" defTabSz="914079">
              <a:spcBef>
                <a:spcPts val="675"/>
              </a:spcBef>
            </a:pPr>
            <a:r>
              <a:rPr spc="-5" dirty="0">
                <a:solidFill>
                  <a:prstClr val="black"/>
                </a:solidFill>
                <a:cs typeface="Century Schoolbook"/>
              </a:rPr>
              <a:t>Processus</a:t>
            </a:r>
            <a:r>
              <a:rPr spc="-60" dirty="0">
                <a:solidFill>
                  <a:prstClr val="black"/>
                </a:solidFill>
                <a:cs typeface="Century Schoolbook"/>
              </a:rPr>
              <a:t> </a:t>
            </a:r>
            <a:r>
              <a:rPr spc="-5" dirty="0">
                <a:solidFill>
                  <a:prstClr val="black"/>
                </a:solidFill>
                <a:cs typeface="Century Schoolbook"/>
              </a:rPr>
              <a:t>de  distribution</a:t>
            </a:r>
            <a:endParaRPr>
              <a:solidFill>
                <a:prstClr val="black"/>
              </a:solidFill>
              <a:cs typeface="Century Schoolbook"/>
            </a:endParaRPr>
          </a:p>
          <a:p>
            <a:pPr defTabSz="914079"/>
            <a:endParaRPr sz="2100">
              <a:solidFill>
                <a:prstClr val="black"/>
              </a:solidFill>
              <a:latin typeface="Times New Roman"/>
              <a:cs typeface="Times New Roman"/>
            </a:endParaRPr>
          </a:p>
          <a:p>
            <a:pPr marL="797560" defTabSz="914079">
              <a:spcBef>
                <a:spcPts val="1205"/>
              </a:spcBef>
            </a:pPr>
            <a:r>
              <a:rPr spc="-5" dirty="0">
                <a:solidFill>
                  <a:prstClr val="black"/>
                </a:solidFill>
                <a:cs typeface="Century Schoolbook"/>
              </a:rPr>
              <a:t>Allocation (Placement)</a:t>
            </a:r>
            <a:endParaRPr>
              <a:solidFill>
                <a:prstClr val="black"/>
              </a:solidFill>
              <a:cs typeface="Century Schoolbook"/>
            </a:endParaRPr>
          </a:p>
        </p:txBody>
      </p:sp>
      <p:sp>
        <p:nvSpPr>
          <p:cNvPr id="21" name="Espace réservé du numéro de diapositive 20"/>
          <p:cNvSpPr>
            <a:spLocks noGrp="1"/>
          </p:cNvSpPr>
          <p:nvPr>
            <p:ph type="sldNum" sz="quarter" idx="15"/>
          </p:nvPr>
        </p:nvSpPr>
        <p:spPr/>
        <p:txBody>
          <a:bodyPr/>
          <a:lstStyle/>
          <a:p>
            <a:fld id="{F1AAE0E6-1385-44E0-8EAE-F204D7E7A5E9}" type="slidenum">
              <a:rPr lang="fr-FR" smtClean="0"/>
              <a:pPr/>
              <a:t>3</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4"/>
          <p:cNvSpPr txBox="1">
            <a:spLocks noGrp="1"/>
          </p:cNvSpPr>
          <p:nvPr>
            <p:ph type="title"/>
          </p:nvPr>
        </p:nvSpPr>
        <p:spPr>
          <a:xfrm>
            <a:off x="467544" y="404664"/>
            <a:ext cx="6267014" cy="443070"/>
          </a:xfrm>
          <a:prstGeom prst="rect">
            <a:avLst/>
          </a:prstGeom>
        </p:spPr>
        <p:txBody>
          <a:bodyPr vert="horz" wrap="square" lIns="0" tIns="12065" rIns="0" bIns="0" rtlCol="0">
            <a:spAutoFit/>
          </a:bodyPr>
          <a:lstStyle/>
          <a:p>
            <a:pPr marL="12700">
              <a:lnSpc>
                <a:spcPct val="100000"/>
              </a:lnSpc>
              <a:spcBef>
                <a:spcPts val="95"/>
              </a:spcBef>
            </a:pPr>
            <a:r>
              <a:rPr lang="fr-FR" sz="2800" spc="-5" dirty="0" smtClean="0"/>
              <a:t>CONTEXTE</a:t>
            </a:r>
            <a:r>
              <a:rPr lang="fr-FR" sz="2800" spc="445" dirty="0" smtClean="0"/>
              <a:t> </a:t>
            </a:r>
            <a:r>
              <a:rPr lang="fr-FR" sz="2800" spc="-5" dirty="0" smtClean="0"/>
              <a:t>DÉCENTRALISÉ</a:t>
            </a:r>
            <a:endParaRPr sz="2250" dirty="0"/>
          </a:p>
        </p:txBody>
      </p:sp>
      <p:sp>
        <p:nvSpPr>
          <p:cNvPr id="5" name="object 5"/>
          <p:cNvSpPr txBox="1"/>
          <p:nvPr/>
        </p:nvSpPr>
        <p:spPr>
          <a:xfrm>
            <a:off x="476199" y="1859025"/>
            <a:ext cx="7658734" cy="2987356"/>
          </a:xfrm>
          <a:prstGeom prst="rect">
            <a:avLst/>
          </a:prstGeom>
        </p:spPr>
        <p:txBody>
          <a:bodyPr vert="horz" wrap="square" lIns="0" tIns="12065" rIns="0" bIns="0" rtlCol="0">
            <a:spAutoFit/>
          </a:bodyPr>
          <a:lstStyle/>
          <a:p>
            <a:pPr marL="287020" indent="-274955" defTabSz="914079">
              <a:spcBef>
                <a:spcPts val="95"/>
              </a:spcBef>
              <a:buClr>
                <a:srgbClr val="FD8537"/>
              </a:buClr>
              <a:buSzPct val="69642"/>
              <a:buFont typeface="Wingdings"/>
              <a:buChar char=""/>
              <a:tabLst>
                <a:tab pos="287655" algn="l"/>
              </a:tabLst>
            </a:pPr>
            <a:r>
              <a:rPr sz="2800" spc="-5" dirty="0">
                <a:solidFill>
                  <a:prstClr val="black"/>
                </a:solidFill>
                <a:cs typeface="Century Schoolbook"/>
              </a:rPr>
              <a:t>Le schéma global est constitué</a:t>
            </a:r>
            <a:r>
              <a:rPr sz="2800" spc="40" dirty="0">
                <a:solidFill>
                  <a:prstClr val="black"/>
                </a:solidFill>
                <a:cs typeface="Century Schoolbook"/>
              </a:rPr>
              <a:t> </a:t>
            </a:r>
            <a:r>
              <a:rPr sz="2800" spc="-5" dirty="0">
                <a:solidFill>
                  <a:prstClr val="black"/>
                </a:solidFill>
                <a:cs typeface="Century Schoolbook"/>
              </a:rPr>
              <a:t>:</a:t>
            </a:r>
            <a:endParaRPr sz="2800" dirty="0">
              <a:solidFill>
                <a:prstClr val="black"/>
              </a:solidFill>
              <a:cs typeface="Century Schoolbook"/>
            </a:endParaRPr>
          </a:p>
          <a:p>
            <a:pPr marL="652780" lvl="1" indent="-274955" defTabSz="914079">
              <a:spcBef>
                <a:spcPts val="5"/>
              </a:spcBef>
              <a:buClr>
                <a:srgbClr val="FD8537"/>
              </a:buClr>
              <a:buSzPct val="79166"/>
              <a:buFont typeface="Wingdings 2"/>
              <a:buChar char=""/>
              <a:tabLst>
                <a:tab pos="652780" algn="l"/>
                <a:tab pos="653415" algn="l"/>
              </a:tabLst>
            </a:pPr>
            <a:r>
              <a:rPr sz="2400" spc="-5" dirty="0">
                <a:solidFill>
                  <a:prstClr val="black"/>
                </a:solidFill>
                <a:cs typeface="Century Schoolbook"/>
              </a:rPr>
              <a:t>d’un </a:t>
            </a:r>
            <a:r>
              <a:rPr sz="2400" dirty="0">
                <a:solidFill>
                  <a:prstClr val="black"/>
                </a:solidFill>
                <a:cs typeface="Century Schoolbook"/>
              </a:rPr>
              <a:t>schéma conceptuel</a:t>
            </a:r>
            <a:r>
              <a:rPr sz="2400" spc="-85" dirty="0">
                <a:solidFill>
                  <a:prstClr val="black"/>
                </a:solidFill>
                <a:cs typeface="Century Schoolbook"/>
              </a:rPr>
              <a:t> </a:t>
            </a:r>
            <a:r>
              <a:rPr sz="2400" spc="-5" dirty="0">
                <a:solidFill>
                  <a:prstClr val="black"/>
                </a:solidFill>
                <a:cs typeface="Century Schoolbook"/>
              </a:rPr>
              <a:t>global</a:t>
            </a:r>
            <a:endParaRPr sz="2400" dirty="0">
              <a:solidFill>
                <a:prstClr val="black"/>
              </a:solidFill>
              <a:cs typeface="Century Schoolbook"/>
            </a:endParaRPr>
          </a:p>
          <a:p>
            <a:pPr marL="927100" marR="213995" lvl="2" indent="-182880" defTabSz="914079">
              <a:lnSpc>
                <a:spcPct val="80000"/>
              </a:lnSpc>
              <a:spcBef>
                <a:spcPts val="484"/>
              </a:spcBef>
              <a:buClr>
                <a:srgbClr val="DF752E"/>
              </a:buClr>
              <a:buSzPct val="60000"/>
              <a:buFont typeface="Wingdings"/>
              <a:buChar char=""/>
              <a:tabLst>
                <a:tab pos="927735" algn="l"/>
              </a:tabLst>
            </a:pPr>
            <a:r>
              <a:rPr sz="2000" dirty="0">
                <a:solidFill>
                  <a:prstClr val="black"/>
                </a:solidFill>
                <a:cs typeface="Century Schoolbook"/>
              </a:rPr>
              <a:t>Contenant la </a:t>
            </a:r>
            <a:r>
              <a:rPr sz="2000" spc="-5" dirty="0">
                <a:solidFill>
                  <a:prstClr val="black"/>
                </a:solidFill>
                <a:cs typeface="Century Schoolbook"/>
              </a:rPr>
              <a:t>description </a:t>
            </a:r>
            <a:r>
              <a:rPr sz="2000" dirty="0">
                <a:solidFill>
                  <a:prstClr val="black"/>
                </a:solidFill>
                <a:cs typeface="Century Schoolbook"/>
              </a:rPr>
              <a:t>globale et unifiée </a:t>
            </a:r>
            <a:r>
              <a:rPr sz="2000" spc="-5" dirty="0">
                <a:solidFill>
                  <a:prstClr val="black"/>
                </a:solidFill>
                <a:cs typeface="Century Schoolbook"/>
              </a:rPr>
              <a:t>de </a:t>
            </a:r>
            <a:r>
              <a:rPr sz="2000" dirty="0">
                <a:solidFill>
                  <a:prstClr val="black"/>
                </a:solidFill>
                <a:cs typeface="Century Schoolbook"/>
              </a:rPr>
              <a:t>toutes</a:t>
            </a:r>
            <a:r>
              <a:rPr sz="2000" spc="-210" dirty="0">
                <a:solidFill>
                  <a:prstClr val="black"/>
                </a:solidFill>
                <a:cs typeface="Century Schoolbook"/>
              </a:rPr>
              <a:t> </a:t>
            </a:r>
            <a:r>
              <a:rPr sz="2000" dirty="0">
                <a:solidFill>
                  <a:prstClr val="black"/>
                </a:solidFill>
                <a:cs typeface="Century Schoolbook"/>
              </a:rPr>
              <a:t>les  données </a:t>
            </a:r>
            <a:r>
              <a:rPr sz="2000" spc="-5" dirty="0">
                <a:solidFill>
                  <a:prstClr val="black"/>
                </a:solidFill>
                <a:cs typeface="Century Schoolbook"/>
              </a:rPr>
              <a:t>de </a:t>
            </a:r>
            <a:r>
              <a:rPr sz="2000" dirty="0">
                <a:solidFill>
                  <a:prstClr val="black"/>
                </a:solidFill>
                <a:cs typeface="Century Schoolbook"/>
              </a:rPr>
              <a:t>la</a:t>
            </a:r>
            <a:r>
              <a:rPr sz="2000" spc="-65" dirty="0">
                <a:solidFill>
                  <a:prstClr val="black"/>
                </a:solidFill>
                <a:cs typeface="Century Schoolbook"/>
              </a:rPr>
              <a:t> </a:t>
            </a:r>
            <a:r>
              <a:rPr sz="2000" spc="-5" dirty="0">
                <a:solidFill>
                  <a:prstClr val="black"/>
                </a:solidFill>
                <a:cs typeface="Century Schoolbook"/>
              </a:rPr>
              <a:t>BDR</a:t>
            </a:r>
            <a:endParaRPr sz="2000" dirty="0">
              <a:solidFill>
                <a:prstClr val="black"/>
              </a:solidFill>
              <a:cs typeface="Century Schoolbook"/>
            </a:endParaRPr>
          </a:p>
          <a:p>
            <a:pPr marL="927100" lvl="2" indent="-183515" defTabSz="914079">
              <a:buClr>
                <a:srgbClr val="DF752E"/>
              </a:buClr>
              <a:buSzPct val="60000"/>
              <a:buFont typeface="Wingdings"/>
              <a:buChar char=""/>
              <a:tabLst>
                <a:tab pos="927735" algn="l"/>
              </a:tabLst>
            </a:pPr>
            <a:r>
              <a:rPr sz="2000" dirty="0">
                <a:solidFill>
                  <a:prstClr val="black"/>
                </a:solidFill>
                <a:cs typeface="Century Schoolbook"/>
              </a:rPr>
              <a:t>Indépendant </a:t>
            </a:r>
            <a:r>
              <a:rPr sz="2000" spc="-5" dirty="0">
                <a:solidFill>
                  <a:prstClr val="black"/>
                </a:solidFill>
                <a:cs typeface="Century Schoolbook"/>
              </a:rPr>
              <a:t>de </a:t>
            </a:r>
            <a:r>
              <a:rPr sz="2000" dirty="0">
                <a:solidFill>
                  <a:prstClr val="black"/>
                </a:solidFill>
                <a:cs typeface="Century Schoolbook"/>
              </a:rPr>
              <a:t>la répartition des</a:t>
            </a:r>
            <a:r>
              <a:rPr sz="2000" spc="-130" dirty="0">
                <a:solidFill>
                  <a:prstClr val="black"/>
                </a:solidFill>
                <a:cs typeface="Century Schoolbook"/>
              </a:rPr>
              <a:t> </a:t>
            </a:r>
            <a:r>
              <a:rPr sz="2000" dirty="0">
                <a:solidFill>
                  <a:prstClr val="black"/>
                </a:solidFill>
                <a:cs typeface="Century Schoolbook"/>
              </a:rPr>
              <a:t>données</a:t>
            </a:r>
          </a:p>
          <a:p>
            <a:pPr marL="914079" lvl="2" defTabSz="914079">
              <a:spcBef>
                <a:spcPts val="25"/>
              </a:spcBef>
              <a:buClr>
                <a:srgbClr val="DF752E"/>
              </a:buClr>
              <a:buFont typeface="Wingdings"/>
              <a:buChar char=""/>
            </a:pPr>
            <a:endParaRPr sz="2500" dirty="0">
              <a:solidFill>
                <a:prstClr val="black"/>
              </a:solidFill>
              <a:latin typeface="Times New Roman"/>
              <a:cs typeface="Times New Roman"/>
            </a:endParaRPr>
          </a:p>
          <a:p>
            <a:pPr marL="652780" lvl="1" indent="-274955" defTabSz="914079">
              <a:buClr>
                <a:srgbClr val="FD8537"/>
              </a:buClr>
              <a:buSzPct val="79166"/>
              <a:buFont typeface="Wingdings 2"/>
              <a:buChar char=""/>
              <a:tabLst>
                <a:tab pos="652780" algn="l"/>
                <a:tab pos="653415" algn="l"/>
              </a:tabLst>
            </a:pPr>
            <a:r>
              <a:rPr sz="2400" spc="-5" dirty="0">
                <a:solidFill>
                  <a:prstClr val="black"/>
                </a:solidFill>
                <a:cs typeface="Century Schoolbook"/>
              </a:rPr>
              <a:t>d’un </a:t>
            </a:r>
            <a:r>
              <a:rPr sz="2400" dirty="0">
                <a:solidFill>
                  <a:prstClr val="black"/>
                </a:solidFill>
                <a:cs typeface="Century Schoolbook"/>
              </a:rPr>
              <a:t>schéma </a:t>
            </a:r>
            <a:r>
              <a:rPr sz="2400" spc="-5" dirty="0">
                <a:solidFill>
                  <a:prstClr val="black"/>
                </a:solidFill>
                <a:cs typeface="Century Schoolbook"/>
              </a:rPr>
              <a:t>de placement</a:t>
            </a:r>
            <a:r>
              <a:rPr sz="2400" spc="-70" dirty="0">
                <a:solidFill>
                  <a:prstClr val="black"/>
                </a:solidFill>
                <a:cs typeface="Century Schoolbook"/>
              </a:rPr>
              <a:t> </a:t>
            </a:r>
            <a:r>
              <a:rPr sz="2400" dirty="0">
                <a:solidFill>
                  <a:prstClr val="black"/>
                </a:solidFill>
                <a:cs typeface="Century Schoolbook"/>
              </a:rPr>
              <a:t>(d’allocation)</a:t>
            </a:r>
          </a:p>
          <a:p>
            <a:pPr marL="927100" marR="5080" lvl="2" indent="-182880" defTabSz="914079">
              <a:lnSpc>
                <a:spcPct val="80000"/>
              </a:lnSpc>
              <a:spcBef>
                <a:spcPts val="484"/>
              </a:spcBef>
              <a:buClr>
                <a:srgbClr val="DF752E"/>
              </a:buClr>
              <a:buSzPct val="60000"/>
              <a:buFont typeface="Wingdings"/>
              <a:buChar char=""/>
              <a:tabLst>
                <a:tab pos="927735" algn="l"/>
                <a:tab pos="3473450" algn="l"/>
              </a:tabLst>
            </a:pPr>
            <a:r>
              <a:rPr sz="2000" dirty="0">
                <a:solidFill>
                  <a:prstClr val="black"/>
                </a:solidFill>
                <a:cs typeface="Century Schoolbook"/>
              </a:rPr>
              <a:t>Contenant</a:t>
            </a:r>
            <a:r>
              <a:rPr sz="2000" spc="-20" dirty="0">
                <a:solidFill>
                  <a:prstClr val="black"/>
                </a:solidFill>
                <a:cs typeface="Century Schoolbook"/>
              </a:rPr>
              <a:t> </a:t>
            </a:r>
            <a:r>
              <a:rPr sz="2000" dirty="0">
                <a:solidFill>
                  <a:prstClr val="black"/>
                </a:solidFill>
                <a:cs typeface="Century Schoolbook"/>
              </a:rPr>
              <a:t>les</a:t>
            </a:r>
            <a:r>
              <a:rPr sz="2000" spc="5" dirty="0">
                <a:solidFill>
                  <a:prstClr val="black"/>
                </a:solidFill>
                <a:cs typeface="Century Schoolbook"/>
              </a:rPr>
              <a:t> </a:t>
            </a:r>
            <a:r>
              <a:rPr sz="2000" dirty="0">
                <a:solidFill>
                  <a:prstClr val="black"/>
                </a:solidFill>
                <a:cs typeface="Century Schoolbook"/>
              </a:rPr>
              <a:t>règles	</a:t>
            </a:r>
            <a:r>
              <a:rPr sz="2000" spc="-5" dirty="0">
                <a:solidFill>
                  <a:prstClr val="black"/>
                </a:solidFill>
                <a:cs typeface="Century Schoolbook"/>
              </a:rPr>
              <a:t>de </a:t>
            </a:r>
            <a:r>
              <a:rPr sz="2000" dirty="0">
                <a:solidFill>
                  <a:prstClr val="black"/>
                </a:solidFill>
                <a:cs typeface="Century Schoolbook"/>
              </a:rPr>
              <a:t>correspondance avec les</a:t>
            </a:r>
            <a:r>
              <a:rPr sz="2000" spc="-140" dirty="0">
                <a:solidFill>
                  <a:prstClr val="black"/>
                </a:solidFill>
                <a:cs typeface="Century Schoolbook"/>
              </a:rPr>
              <a:t> </a:t>
            </a:r>
            <a:r>
              <a:rPr sz="2000" dirty="0" err="1">
                <a:solidFill>
                  <a:prstClr val="black"/>
                </a:solidFill>
                <a:cs typeface="Century Schoolbook"/>
              </a:rPr>
              <a:t>données</a:t>
            </a:r>
            <a:r>
              <a:rPr sz="2000" dirty="0">
                <a:solidFill>
                  <a:prstClr val="black"/>
                </a:solidFill>
                <a:cs typeface="Century Schoolbook"/>
              </a:rPr>
              <a:t>  </a:t>
            </a:r>
            <a:r>
              <a:rPr sz="2000" dirty="0" smtClean="0">
                <a:solidFill>
                  <a:prstClr val="black"/>
                </a:solidFill>
                <a:cs typeface="Century Schoolbook"/>
              </a:rPr>
              <a:t>locales</a:t>
            </a:r>
            <a:endParaRPr sz="2000" dirty="0">
              <a:solidFill>
                <a:prstClr val="black"/>
              </a:solidFill>
              <a:cs typeface="Century Schoolbook"/>
            </a:endParaRPr>
          </a:p>
        </p:txBody>
      </p:sp>
      <p:sp>
        <p:nvSpPr>
          <p:cNvPr id="6" name="Espace réservé du numéro de diapositive 5"/>
          <p:cNvSpPr>
            <a:spLocks noGrp="1"/>
          </p:cNvSpPr>
          <p:nvPr>
            <p:ph type="sldNum" sz="quarter" idx="15"/>
          </p:nvPr>
        </p:nvSpPr>
        <p:spPr/>
        <p:txBody>
          <a:bodyPr/>
          <a:lstStyle/>
          <a:p>
            <a:fld id="{F1AAE0E6-1385-44E0-8EAE-F204D7E7A5E9}" type="slidenum">
              <a:rPr lang="fr-FR" smtClean="0"/>
              <a:pPr/>
              <a:t>4</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4"/>
          <p:cNvSpPr txBox="1">
            <a:spLocks noGrp="1"/>
          </p:cNvSpPr>
          <p:nvPr>
            <p:ph type="title"/>
          </p:nvPr>
        </p:nvSpPr>
        <p:spPr>
          <a:xfrm>
            <a:off x="507288" y="621538"/>
            <a:ext cx="3632664" cy="482600"/>
          </a:xfrm>
          <a:prstGeom prst="rect">
            <a:avLst/>
          </a:prstGeom>
        </p:spPr>
        <p:txBody>
          <a:bodyPr vert="horz" wrap="square" lIns="0" tIns="12700" rIns="0" bIns="0" rtlCol="0">
            <a:spAutoFit/>
          </a:bodyPr>
          <a:lstStyle/>
          <a:p>
            <a:pPr marL="12700">
              <a:lnSpc>
                <a:spcPct val="100000"/>
              </a:lnSpc>
              <a:spcBef>
                <a:spcPts val="100"/>
              </a:spcBef>
            </a:pPr>
            <a:r>
              <a:rPr sz="3000" dirty="0"/>
              <a:t>M</a:t>
            </a:r>
            <a:r>
              <a:rPr spc="-5" dirty="0"/>
              <a:t>IGR</a:t>
            </a:r>
            <a:r>
              <a:rPr spc="-15" dirty="0"/>
              <a:t>A</a:t>
            </a:r>
            <a:r>
              <a:rPr dirty="0"/>
              <a:t>T</a:t>
            </a:r>
            <a:r>
              <a:rPr spc="-10" dirty="0"/>
              <a:t>I</a:t>
            </a:r>
            <a:r>
              <a:rPr dirty="0"/>
              <a:t>ON</a:t>
            </a:r>
            <a:endParaRPr sz="3000" dirty="0"/>
          </a:p>
        </p:txBody>
      </p:sp>
      <p:sp>
        <p:nvSpPr>
          <p:cNvPr id="5" name="object 5"/>
          <p:cNvSpPr txBox="1"/>
          <p:nvPr/>
        </p:nvSpPr>
        <p:spPr>
          <a:xfrm>
            <a:off x="8334247" y="6474663"/>
            <a:ext cx="229870" cy="239395"/>
          </a:xfrm>
          <a:prstGeom prst="rect">
            <a:avLst/>
          </a:prstGeom>
        </p:spPr>
        <p:txBody>
          <a:bodyPr vert="horz" wrap="square" lIns="0" tIns="12700" rIns="0" bIns="0" rtlCol="0">
            <a:spAutoFit/>
          </a:bodyPr>
          <a:lstStyle/>
          <a:p>
            <a:pPr marL="12700" defTabSz="914079">
              <a:spcBef>
                <a:spcPts val="100"/>
              </a:spcBef>
            </a:pPr>
            <a:r>
              <a:rPr sz="1400" b="1" spc="-5" dirty="0">
                <a:solidFill>
                  <a:prstClr val="black"/>
                </a:solidFill>
                <a:cs typeface="Century Schoolbook"/>
              </a:rPr>
              <a:t>35</a:t>
            </a:r>
            <a:endParaRPr sz="1400">
              <a:solidFill>
                <a:prstClr val="black"/>
              </a:solidFill>
              <a:cs typeface="Century Schoolbook"/>
            </a:endParaRPr>
          </a:p>
        </p:txBody>
      </p:sp>
      <p:sp>
        <p:nvSpPr>
          <p:cNvPr id="6" name="object 6"/>
          <p:cNvSpPr/>
          <p:nvPr/>
        </p:nvSpPr>
        <p:spPr>
          <a:xfrm>
            <a:off x="828294" y="2745994"/>
            <a:ext cx="2016760" cy="2340610"/>
          </a:xfrm>
          <a:custGeom>
            <a:avLst/>
            <a:gdLst/>
            <a:ahLst/>
            <a:cxnLst/>
            <a:rect l="l" t="t" r="r" b="b"/>
            <a:pathLst>
              <a:path w="2016760" h="2340610">
                <a:moveTo>
                  <a:pt x="0" y="0"/>
                </a:moveTo>
                <a:lnTo>
                  <a:pt x="0" y="2088260"/>
                </a:lnTo>
                <a:lnTo>
                  <a:pt x="2531" y="2106275"/>
                </a:lnTo>
                <a:lnTo>
                  <a:pt x="22269" y="2141231"/>
                </a:lnTo>
                <a:lnTo>
                  <a:pt x="60437" y="2174472"/>
                </a:lnTo>
                <a:lnTo>
                  <a:pt x="115672" y="2205658"/>
                </a:lnTo>
                <a:lnTo>
                  <a:pt x="186606" y="2234449"/>
                </a:lnTo>
                <a:lnTo>
                  <a:pt x="227535" y="2247841"/>
                </a:lnTo>
                <a:lnTo>
                  <a:pt x="271877" y="2260506"/>
                </a:lnTo>
                <a:lnTo>
                  <a:pt x="319462" y="2272402"/>
                </a:lnTo>
                <a:lnTo>
                  <a:pt x="370119" y="2283487"/>
                </a:lnTo>
                <a:lnTo>
                  <a:pt x="423677" y="2293718"/>
                </a:lnTo>
                <a:lnTo>
                  <a:pt x="479966" y="2303052"/>
                </a:lnTo>
                <a:lnTo>
                  <a:pt x="538816" y="2311448"/>
                </a:lnTo>
                <a:lnTo>
                  <a:pt x="600056" y="2318862"/>
                </a:lnTo>
                <a:lnTo>
                  <a:pt x="663515" y="2325252"/>
                </a:lnTo>
                <a:lnTo>
                  <a:pt x="729022" y="2330576"/>
                </a:lnTo>
                <a:lnTo>
                  <a:pt x="796408" y="2334791"/>
                </a:lnTo>
                <a:lnTo>
                  <a:pt x="865500" y="2337854"/>
                </a:lnTo>
                <a:lnTo>
                  <a:pt x="936130" y="2339723"/>
                </a:lnTo>
                <a:lnTo>
                  <a:pt x="1008126" y="2340355"/>
                </a:lnTo>
                <a:lnTo>
                  <a:pt x="1080121" y="2339723"/>
                </a:lnTo>
                <a:lnTo>
                  <a:pt x="1150751" y="2337854"/>
                </a:lnTo>
                <a:lnTo>
                  <a:pt x="1219843" y="2334791"/>
                </a:lnTo>
                <a:lnTo>
                  <a:pt x="1287229" y="2330576"/>
                </a:lnTo>
                <a:lnTo>
                  <a:pt x="1352736" y="2325252"/>
                </a:lnTo>
                <a:lnTo>
                  <a:pt x="1416195" y="2318862"/>
                </a:lnTo>
                <a:lnTo>
                  <a:pt x="1477435" y="2311448"/>
                </a:lnTo>
                <a:lnTo>
                  <a:pt x="1536285" y="2303052"/>
                </a:lnTo>
                <a:lnTo>
                  <a:pt x="1592574" y="2293718"/>
                </a:lnTo>
                <a:lnTo>
                  <a:pt x="1646132" y="2283487"/>
                </a:lnTo>
                <a:lnTo>
                  <a:pt x="1696789" y="2272402"/>
                </a:lnTo>
                <a:lnTo>
                  <a:pt x="1744374" y="2260506"/>
                </a:lnTo>
                <a:lnTo>
                  <a:pt x="1788716" y="2247841"/>
                </a:lnTo>
                <a:lnTo>
                  <a:pt x="1829645" y="2234449"/>
                </a:lnTo>
                <a:lnTo>
                  <a:pt x="1866989" y="2220374"/>
                </a:lnTo>
                <a:lnTo>
                  <a:pt x="1930244" y="2190343"/>
                </a:lnTo>
                <a:lnTo>
                  <a:pt x="1977116" y="2158087"/>
                </a:lnTo>
                <a:lnTo>
                  <a:pt x="2006240" y="2123946"/>
                </a:lnTo>
                <a:lnTo>
                  <a:pt x="2016252" y="2088260"/>
                </a:lnTo>
                <a:lnTo>
                  <a:pt x="2016252" y="252094"/>
                </a:lnTo>
                <a:lnTo>
                  <a:pt x="1008126" y="252094"/>
                </a:lnTo>
                <a:lnTo>
                  <a:pt x="936130" y="251462"/>
                </a:lnTo>
                <a:lnTo>
                  <a:pt x="865500" y="249593"/>
                </a:lnTo>
                <a:lnTo>
                  <a:pt x="796408" y="246530"/>
                </a:lnTo>
                <a:lnTo>
                  <a:pt x="729022" y="242315"/>
                </a:lnTo>
                <a:lnTo>
                  <a:pt x="663515" y="236991"/>
                </a:lnTo>
                <a:lnTo>
                  <a:pt x="600056" y="230601"/>
                </a:lnTo>
                <a:lnTo>
                  <a:pt x="538816" y="223187"/>
                </a:lnTo>
                <a:lnTo>
                  <a:pt x="479966" y="214791"/>
                </a:lnTo>
                <a:lnTo>
                  <a:pt x="423677" y="205457"/>
                </a:lnTo>
                <a:lnTo>
                  <a:pt x="370119" y="195226"/>
                </a:lnTo>
                <a:lnTo>
                  <a:pt x="319462" y="184141"/>
                </a:lnTo>
                <a:lnTo>
                  <a:pt x="271877" y="172245"/>
                </a:lnTo>
                <a:lnTo>
                  <a:pt x="227535" y="159580"/>
                </a:lnTo>
                <a:lnTo>
                  <a:pt x="186606" y="146188"/>
                </a:lnTo>
                <a:lnTo>
                  <a:pt x="149262" y="132113"/>
                </a:lnTo>
                <a:lnTo>
                  <a:pt x="86007" y="102082"/>
                </a:lnTo>
                <a:lnTo>
                  <a:pt x="39135" y="69826"/>
                </a:lnTo>
                <a:lnTo>
                  <a:pt x="10011" y="35685"/>
                </a:lnTo>
                <a:lnTo>
                  <a:pt x="2531" y="18014"/>
                </a:lnTo>
                <a:lnTo>
                  <a:pt x="0" y="0"/>
                </a:lnTo>
                <a:close/>
              </a:path>
              <a:path w="2016760" h="2340610">
                <a:moveTo>
                  <a:pt x="2016252" y="0"/>
                </a:moveTo>
                <a:lnTo>
                  <a:pt x="1993982" y="52970"/>
                </a:lnTo>
                <a:lnTo>
                  <a:pt x="1955814" y="86211"/>
                </a:lnTo>
                <a:lnTo>
                  <a:pt x="1900579" y="117397"/>
                </a:lnTo>
                <a:lnTo>
                  <a:pt x="1829645" y="146188"/>
                </a:lnTo>
                <a:lnTo>
                  <a:pt x="1788716" y="159580"/>
                </a:lnTo>
                <a:lnTo>
                  <a:pt x="1744374" y="172245"/>
                </a:lnTo>
                <a:lnTo>
                  <a:pt x="1696789" y="184141"/>
                </a:lnTo>
                <a:lnTo>
                  <a:pt x="1646132" y="195226"/>
                </a:lnTo>
                <a:lnTo>
                  <a:pt x="1592574" y="205457"/>
                </a:lnTo>
                <a:lnTo>
                  <a:pt x="1536285" y="214791"/>
                </a:lnTo>
                <a:lnTo>
                  <a:pt x="1477435" y="223187"/>
                </a:lnTo>
                <a:lnTo>
                  <a:pt x="1416195" y="230601"/>
                </a:lnTo>
                <a:lnTo>
                  <a:pt x="1352736" y="236991"/>
                </a:lnTo>
                <a:lnTo>
                  <a:pt x="1287229" y="242315"/>
                </a:lnTo>
                <a:lnTo>
                  <a:pt x="1219843" y="246530"/>
                </a:lnTo>
                <a:lnTo>
                  <a:pt x="1150751" y="249593"/>
                </a:lnTo>
                <a:lnTo>
                  <a:pt x="1080121" y="251462"/>
                </a:lnTo>
                <a:lnTo>
                  <a:pt x="1008126" y="252094"/>
                </a:lnTo>
                <a:lnTo>
                  <a:pt x="2016252" y="252094"/>
                </a:lnTo>
                <a:lnTo>
                  <a:pt x="2016252"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7" name="object 7"/>
          <p:cNvSpPr/>
          <p:nvPr/>
        </p:nvSpPr>
        <p:spPr>
          <a:xfrm>
            <a:off x="828294" y="2494026"/>
            <a:ext cx="2016760" cy="504190"/>
          </a:xfrm>
          <a:custGeom>
            <a:avLst/>
            <a:gdLst/>
            <a:ahLst/>
            <a:cxnLst/>
            <a:rect l="l" t="t" r="r" b="b"/>
            <a:pathLst>
              <a:path w="2016760" h="504189">
                <a:moveTo>
                  <a:pt x="1008126" y="0"/>
                </a:moveTo>
                <a:lnTo>
                  <a:pt x="936130" y="632"/>
                </a:lnTo>
                <a:lnTo>
                  <a:pt x="865500" y="2501"/>
                </a:lnTo>
                <a:lnTo>
                  <a:pt x="796408" y="5564"/>
                </a:lnTo>
                <a:lnTo>
                  <a:pt x="729022" y="9778"/>
                </a:lnTo>
                <a:lnTo>
                  <a:pt x="663515" y="15101"/>
                </a:lnTo>
                <a:lnTo>
                  <a:pt x="600056" y="21491"/>
                </a:lnTo>
                <a:lnTo>
                  <a:pt x="538816" y="28903"/>
                </a:lnTo>
                <a:lnTo>
                  <a:pt x="479966" y="37297"/>
                </a:lnTo>
                <a:lnTo>
                  <a:pt x="423677" y="46630"/>
                </a:lnTo>
                <a:lnTo>
                  <a:pt x="370119" y="56858"/>
                </a:lnTo>
                <a:lnTo>
                  <a:pt x="319462" y="67939"/>
                </a:lnTo>
                <a:lnTo>
                  <a:pt x="271877" y="79831"/>
                </a:lnTo>
                <a:lnTo>
                  <a:pt x="227535" y="92491"/>
                </a:lnTo>
                <a:lnTo>
                  <a:pt x="186606" y="105877"/>
                </a:lnTo>
                <a:lnTo>
                  <a:pt x="149262" y="119945"/>
                </a:lnTo>
                <a:lnTo>
                  <a:pt x="86007" y="149961"/>
                </a:lnTo>
                <a:lnTo>
                  <a:pt x="39135" y="182197"/>
                </a:lnTo>
                <a:lnTo>
                  <a:pt x="10011" y="216313"/>
                </a:lnTo>
                <a:lnTo>
                  <a:pt x="0" y="251968"/>
                </a:lnTo>
                <a:lnTo>
                  <a:pt x="2531" y="269982"/>
                </a:lnTo>
                <a:lnTo>
                  <a:pt x="22269" y="304938"/>
                </a:lnTo>
                <a:lnTo>
                  <a:pt x="60437" y="338179"/>
                </a:lnTo>
                <a:lnTo>
                  <a:pt x="115672" y="369365"/>
                </a:lnTo>
                <a:lnTo>
                  <a:pt x="186606" y="398156"/>
                </a:lnTo>
                <a:lnTo>
                  <a:pt x="227535" y="411548"/>
                </a:lnTo>
                <a:lnTo>
                  <a:pt x="271877" y="424213"/>
                </a:lnTo>
                <a:lnTo>
                  <a:pt x="319462" y="436109"/>
                </a:lnTo>
                <a:lnTo>
                  <a:pt x="370119" y="447194"/>
                </a:lnTo>
                <a:lnTo>
                  <a:pt x="423677" y="457425"/>
                </a:lnTo>
                <a:lnTo>
                  <a:pt x="479966" y="466759"/>
                </a:lnTo>
                <a:lnTo>
                  <a:pt x="538816" y="475155"/>
                </a:lnTo>
                <a:lnTo>
                  <a:pt x="600056" y="482569"/>
                </a:lnTo>
                <a:lnTo>
                  <a:pt x="663515" y="488959"/>
                </a:lnTo>
                <a:lnTo>
                  <a:pt x="729022" y="494283"/>
                </a:lnTo>
                <a:lnTo>
                  <a:pt x="796408" y="498498"/>
                </a:lnTo>
                <a:lnTo>
                  <a:pt x="865500" y="501561"/>
                </a:lnTo>
                <a:lnTo>
                  <a:pt x="936130" y="503430"/>
                </a:lnTo>
                <a:lnTo>
                  <a:pt x="1008126" y="504063"/>
                </a:lnTo>
                <a:lnTo>
                  <a:pt x="1080121" y="503430"/>
                </a:lnTo>
                <a:lnTo>
                  <a:pt x="1150751" y="501561"/>
                </a:lnTo>
                <a:lnTo>
                  <a:pt x="1219843" y="498498"/>
                </a:lnTo>
                <a:lnTo>
                  <a:pt x="1287229" y="494283"/>
                </a:lnTo>
                <a:lnTo>
                  <a:pt x="1352736" y="488959"/>
                </a:lnTo>
                <a:lnTo>
                  <a:pt x="1416195" y="482569"/>
                </a:lnTo>
                <a:lnTo>
                  <a:pt x="1477435" y="475155"/>
                </a:lnTo>
                <a:lnTo>
                  <a:pt x="1536285" y="466759"/>
                </a:lnTo>
                <a:lnTo>
                  <a:pt x="1592574" y="457425"/>
                </a:lnTo>
                <a:lnTo>
                  <a:pt x="1646132" y="447194"/>
                </a:lnTo>
                <a:lnTo>
                  <a:pt x="1696789" y="436109"/>
                </a:lnTo>
                <a:lnTo>
                  <a:pt x="1744374" y="424213"/>
                </a:lnTo>
                <a:lnTo>
                  <a:pt x="1788716" y="411548"/>
                </a:lnTo>
                <a:lnTo>
                  <a:pt x="1829645" y="398156"/>
                </a:lnTo>
                <a:lnTo>
                  <a:pt x="1866989" y="384081"/>
                </a:lnTo>
                <a:lnTo>
                  <a:pt x="1930244" y="354050"/>
                </a:lnTo>
                <a:lnTo>
                  <a:pt x="1977116" y="321794"/>
                </a:lnTo>
                <a:lnTo>
                  <a:pt x="2006240" y="287653"/>
                </a:lnTo>
                <a:lnTo>
                  <a:pt x="2016252" y="251968"/>
                </a:lnTo>
                <a:lnTo>
                  <a:pt x="2013720" y="233969"/>
                </a:lnTo>
                <a:lnTo>
                  <a:pt x="1993982" y="199041"/>
                </a:lnTo>
                <a:lnTo>
                  <a:pt x="1955814" y="165823"/>
                </a:lnTo>
                <a:lnTo>
                  <a:pt x="1900579" y="134654"/>
                </a:lnTo>
                <a:lnTo>
                  <a:pt x="1829645" y="105877"/>
                </a:lnTo>
                <a:lnTo>
                  <a:pt x="1788716" y="92491"/>
                </a:lnTo>
                <a:lnTo>
                  <a:pt x="1744374" y="79831"/>
                </a:lnTo>
                <a:lnTo>
                  <a:pt x="1696789" y="67939"/>
                </a:lnTo>
                <a:lnTo>
                  <a:pt x="1646132" y="56858"/>
                </a:lnTo>
                <a:lnTo>
                  <a:pt x="1592574" y="46630"/>
                </a:lnTo>
                <a:lnTo>
                  <a:pt x="1536285" y="37297"/>
                </a:lnTo>
                <a:lnTo>
                  <a:pt x="1477435" y="28903"/>
                </a:lnTo>
                <a:lnTo>
                  <a:pt x="1416195" y="21491"/>
                </a:lnTo>
                <a:lnTo>
                  <a:pt x="1352736" y="15101"/>
                </a:lnTo>
                <a:lnTo>
                  <a:pt x="1287229" y="9778"/>
                </a:lnTo>
                <a:lnTo>
                  <a:pt x="1219843" y="5564"/>
                </a:lnTo>
                <a:lnTo>
                  <a:pt x="1150751" y="2501"/>
                </a:lnTo>
                <a:lnTo>
                  <a:pt x="1080121" y="632"/>
                </a:lnTo>
                <a:lnTo>
                  <a:pt x="1008126" y="0"/>
                </a:lnTo>
                <a:close/>
              </a:path>
            </a:pathLst>
          </a:custGeom>
          <a:solidFill>
            <a:srgbClr val="FDB686"/>
          </a:solidFill>
        </p:spPr>
        <p:txBody>
          <a:bodyPr wrap="square" lIns="0" tIns="0" rIns="0" bIns="0" rtlCol="0"/>
          <a:lstStyle/>
          <a:p>
            <a:pPr defTabSz="914079"/>
            <a:endParaRPr>
              <a:solidFill>
                <a:prstClr val="black"/>
              </a:solidFill>
            </a:endParaRPr>
          </a:p>
        </p:txBody>
      </p:sp>
      <p:sp>
        <p:nvSpPr>
          <p:cNvPr id="8" name="object 8"/>
          <p:cNvSpPr/>
          <p:nvPr/>
        </p:nvSpPr>
        <p:spPr>
          <a:xfrm>
            <a:off x="828294" y="2494026"/>
            <a:ext cx="2016760" cy="504190"/>
          </a:xfrm>
          <a:custGeom>
            <a:avLst/>
            <a:gdLst/>
            <a:ahLst/>
            <a:cxnLst/>
            <a:rect l="l" t="t" r="r" b="b"/>
            <a:pathLst>
              <a:path w="2016760" h="504189">
                <a:moveTo>
                  <a:pt x="2016252" y="251968"/>
                </a:moveTo>
                <a:lnTo>
                  <a:pt x="1993982" y="304938"/>
                </a:lnTo>
                <a:lnTo>
                  <a:pt x="1955814" y="338179"/>
                </a:lnTo>
                <a:lnTo>
                  <a:pt x="1900579" y="369365"/>
                </a:lnTo>
                <a:lnTo>
                  <a:pt x="1829645" y="398156"/>
                </a:lnTo>
                <a:lnTo>
                  <a:pt x="1788716" y="411548"/>
                </a:lnTo>
                <a:lnTo>
                  <a:pt x="1744374" y="424213"/>
                </a:lnTo>
                <a:lnTo>
                  <a:pt x="1696789" y="436109"/>
                </a:lnTo>
                <a:lnTo>
                  <a:pt x="1646132" y="447194"/>
                </a:lnTo>
                <a:lnTo>
                  <a:pt x="1592574" y="457425"/>
                </a:lnTo>
                <a:lnTo>
                  <a:pt x="1536285" y="466759"/>
                </a:lnTo>
                <a:lnTo>
                  <a:pt x="1477435" y="475155"/>
                </a:lnTo>
                <a:lnTo>
                  <a:pt x="1416195" y="482569"/>
                </a:lnTo>
                <a:lnTo>
                  <a:pt x="1352736" y="488959"/>
                </a:lnTo>
                <a:lnTo>
                  <a:pt x="1287229" y="494283"/>
                </a:lnTo>
                <a:lnTo>
                  <a:pt x="1219843" y="498498"/>
                </a:lnTo>
                <a:lnTo>
                  <a:pt x="1150751" y="501561"/>
                </a:lnTo>
                <a:lnTo>
                  <a:pt x="1080121" y="503430"/>
                </a:lnTo>
                <a:lnTo>
                  <a:pt x="1008126" y="504063"/>
                </a:lnTo>
                <a:lnTo>
                  <a:pt x="936130" y="503430"/>
                </a:lnTo>
                <a:lnTo>
                  <a:pt x="865500" y="501561"/>
                </a:lnTo>
                <a:lnTo>
                  <a:pt x="796408" y="498498"/>
                </a:lnTo>
                <a:lnTo>
                  <a:pt x="729022" y="494283"/>
                </a:lnTo>
                <a:lnTo>
                  <a:pt x="663515" y="488959"/>
                </a:lnTo>
                <a:lnTo>
                  <a:pt x="600056" y="482569"/>
                </a:lnTo>
                <a:lnTo>
                  <a:pt x="538816" y="475155"/>
                </a:lnTo>
                <a:lnTo>
                  <a:pt x="479966" y="466759"/>
                </a:lnTo>
                <a:lnTo>
                  <a:pt x="423677" y="457425"/>
                </a:lnTo>
                <a:lnTo>
                  <a:pt x="370119" y="447194"/>
                </a:lnTo>
                <a:lnTo>
                  <a:pt x="319462" y="436109"/>
                </a:lnTo>
                <a:lnTo>
                  <a:pt x="271877" y="424213"/>
                </a:lnTo>
                <a:lnTo>
                  <a:pt x="227535" y="411548"/>
                </a:lnTo>
                <a:lnTo>
                  <a:pt x="186606" y="398156"/>
                </a:lnTo>
                <a:lnTo>
                  <a:pt x="149262" y="384081"/>
                </a:lnTo>
                <a:lnTo>
                  <a:pt x="86007" y="354050"/>
                </a:lnTo>
                <a:lnTo>
                  <a:pt x="39135" y="321794"/>
                </a:lnTo>
                <a:lnTo>
                  <a:pt x="10011" y="287653"/>
                </a:lnTo>
                <a:lnTo>
                  <a:pt x="0" y="251968"/>
                </a:lnTo>
                <a:lnTo>
                  <a:pt x="2531" y="233969"/>
                </a:lnTo>
                <a:lnTo>
                  <a:pt x="22269" y="199041"/>
                </a:lnTo>
                <a:lnTo>
                  <a:pt x="60437" y="165823"/>
                </a:lnTo>
                <a:lnTo>
                  <a:pt x="115672" y="134654"/>
                </a:lnTo>
                <a:lnTo>
                  <a:pt x="186606" y="105877"/>
                </a:lnTo>
                <a:lnTo>
                  <a:pt x="227535" y="92491"/>
                </a:lnTo>
                <a:lnTo>
                  <a:pt x="271877" y="79831"/>
                </a:lnTo>
                <a:lnTo>
                  <a:pt x="319462" y="67939"/>
                </a:lnTo>
                <a:lnTo>
                  <a:pt x="370119" y="56858"/>
                </a:lnTo>
                <a:lnTo>
                  <a:pt x="423677" y="46630"/>
                </a:lnTo>
                <a:lnTo>
                  <a:pt x="479966" y="37297"/>
                </a:lnTo>
                <a:lnTo>
                  <a:pt x="538816" y="28903"/>
                </a:lnTo>
                <a:lnTo>
                  <a:pt x="600056" y="21491"/>
                </a:lnTo>
                <a:lnTo>
                  <a:pt x="663515" y="15101"/>
                </a:lnTo>
                <a:lnTo>
                  <a:pt x="729022" y="9778"/>
                </a:lnTo>
                <a:lnTo>
                  <a:pt x="796408" y="5564"/>
                </a:lnTo>
                <a:lnTo>
                  <a:pt x="865500" y="2501"/>
                </a:lnTo>
                <a:lnTo>
                  <a:pt x="936130" y="632"/>
                </a:lnTo>
                <a:lnTo>
                  <a:pt x="1008126" y="0"/>
                </a:lnTo>
                <a:lnTo>
                  <a:pt x="1080121" y="632"/>
                </a:lnTo>
                <a:lnTo>
                  <a:pt x="1150751" y="2501"/>
                </a:lnTo>
                <a:lnTo>
                  <a:pt x="1219843" y="5564"/>
                </a:lnTo>
                <a:lnTo>
                  <a:pt x="1287229" y="9778"/>
                </a:lnTo>
                <a:lnTo>
                  <a:pt x="1352736" y="15101"/>
                </a:lnTo>
                <a:lnTo>
                  <a:pt x="1416195" y="21491"/>
                </a:lnTo>
                <a:lnTo>
                  <a:pt x="1477435" y="28903"/>
                </a:lnTo>
                <a:lnTo>
                  <a:pt x="1536285" y="37297"/>
                </a:lnTo>
                <a:lnTo>
                  <a:pt x="1592574" y="46630"/>
                </a:lnTo>
                <a:lnTo>
                  <a:pt x="1646132" y="56858"/>
                </a:lnTo>
                <a:lnTo>
                  <a:pt x="1696789" y="67939"/>
                </a:lnTo>
                <a:lnTo>
                  <a:pt x="1744374" y="79831"/>
                </a:lnTo>
                <a:lnTo>
                  <a:pt x="1788716" y="92491"/>
                </a:lnTo>
                <a:lnTo>
                  <a:pt x="1829645" y="105877"/>
                </a:lnTo>
                <a:lnTo>
                  <a:pt x="1866989" y="119945"/>
                </a:lnTo>
                <a:lnTo>
                  <a:pt x="1930244" y="149961"/>
                </a:lnTo>
                <a:lnTo>
                  <a:pt x="1977116" y="182197"/>
                </a:lnTo>
                <a:lnTo>
                  <a:pt x="2006240" y="216313"/>
                </a:lnTo>
                <a:lnTo>
                  <a:pt x="2016252" y="251968"/>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9" name="object 9"/>
          <p:cNvSpPr/>
          <p:nvPr/>
        </p:nvSpPr>
        <p:spPr>
          <a:xfrm>
            <a:off x="828294" y="2745994"/>
            <a:ext cx="2016760" cy="2340610"/>
          </a:xfrm>
          <a:custGeom>
            <a:avLst/>
            <a:gdLst/>
            <a:ahLst/>
            <a:cxnLst/>
            <a:rect l="l" t="t" r="r" b="b"/>
            <a:pathLst>
              <a:path w="2016760" h="2340610">
                <a:moveTo>
                  <a:pt x="2016252" y="0"/>
                </a:moveTo>
                <a:lnTo>
                  <a:pt x="2016252" y="2088260"/>
                </a:lnTo>
                <a:lnTo>
                  <a:pt x="2013720" y="2106275"/>
                </a:lnTo>
                <a:lnTo>
                  <a:pt x="1993982" y="2141231"/>
                </a:lnTo>
                <a:lnTo>
                  <a:pt x="1955814" y="2174472"/>
                </a:lnTo>
                <a:lnTo>
                  <a:pt x="1900579" y="2205658"/>
                </a:lnTo>
                <a:lnTo>
                  <a:pt x="1829645" y="2234449"/>
                </a:lnTo>
                <a:lnTo>
                  <a:pt x="1788716" y="2247841"/>
                </a:lnTo>
                <a:lnTo>
                  <a:pt x="1744374" y="2260506"/>
                </a:lnTo>
                <a:lnTo>
                  <a:pt x="1696789" y="2272402"/>
                </a:lnTo>
                <a:lnTo>
                  <a:pt x="1646132" y="2283487"/>
                </a:lnTo>
                <a:lnTo>
                  <a:pt x="1592574" y="2293718"/>
                </a:lnTo>
                <a:lnTo>
                  <a:pt x="1536285" y="2303052"/>
                </a:lnTo>
                <a:lnTo>
                  <a:pt x="1477435" y="2311448"/>
                </a:lnTo>
                <a:lnTo>
                  <a:pt x="1416195" y="2318862"/>
                </a:lnTo>
                <a:lnTo>
                  <a:pt x="1352736" y="2325252"/>
                </a:lnTo>
                <a:lnTo>
                  <a:pt x="1287229" y="2330576"/>
                </a:lnTo>
                <a:lnTo>
                  <a:pt x="1219843" y="2334791"/>
                </a:lnTo>
                <a:lnTo>
                  <a:pt x="1150751" y="2337854"/>
                </a:lnTo>
                <a:lnTo>
                  <a:pt x="1080121" y="2339723"/>
                </a:lnTo>
                <a:lnTo>
                  <a:pt x="1008126" y="2340355"/>
                </a:lnTo>
                <a:lnTo>
                  <a:pt x="936130" y="2339723"/>
                </a:lnTo>
                <a:lnTo>
                  <a:pt x="865500" y="2337854"/>
                </a:lnTo>
                <a:lnTo>
                  <a:pt x="796408" y="2334791"/>
                </a:lnTo>
                <a:lnTo>
                  <a:pt x="729022" y="2330576"/>
                </a:lnTo>
                <a:lnTo>
                  <a:pt x="663515" y="2325252"/>
                </a:lnTo>
                <a:lnTo>
                  <a:pt x="600056" y="2318862"/>
                </a:lnTo>
                <a:lnTo>
                  <a:pt x="538816" y="2311448"/>
                </a:lnTo>
                <a:lnTo>
                  <a:pt x="479966" y="2303052"/>
                </a:lnTo>
                <a:lnTo>
                  <a:pt x="423677" y="2293718"/>
                </a:lnTo>
                <a:lnTo>
                  <a:pt x="370119" y="2283487"/>
                </a:lnTo>
                <a:lnTo>
                  <a:pt x="319462" y="2272402"/>
                </a:lnTo>
                <a:lnTo>
                  <a:pt x="271877" y="2260506"/>
                </a:lnTo>
                <a:lnTo>
                  <a:pt x="227535" y="2247841"/>
                </a:lnTo>
                <a:lnTo>
                  <a:pt x="186606" y="2234449"/>
                </a:lnTo>
                <a:lnTo>
                  <a:pt x="149262" y="2220374"/>
                </a:lnTo>
                <a:lnTo>
                  <a:pt x="86007" y="2190343"/>
                </a:lnTo>
                <a:lnTo>
                  <a:pt x="39135" y="2158087"/>
                </a:lnTo>
                <a:lnTo>
                  <a:pt x="10011" y="2123946"/>
                </a:lnTo>
                <a:lnTo>
                  <a:pt x="0" y="2088260"/>
                </a:lnTo>
                <a:lnTo>
                  <a:pt x="0" y="0"/>
                </a:lnTo>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10" name="object 10"/>
          <p:cNvSpPr/>
          <p:nvPr/>
        </p:nvSpPr>
        <p:spPr>
          <a:xfrm>
            <a:off x="1187627" y="3789045"/>
            <a:ext cx="288925" cy="213360"/>
          </a:xfrm>
          <a:custGeom>
            <a:avLst/>
            <a:gdLst/>
            <a:ahLst/>
            <a:cxnLst/>
            <a:rect l="l" t="t" r="r" b="b"/>
            <a:pathLst>
              <a:path w="288925" h="213360">
                <a:moveTo>
                  <a:pt x="0" y="213359"/>
                </a:moveTo>
                <a:lnTo>
                  <a:pt x="288925" y="213359"/>
                </a:lnTo>
                <a:lnTo>
                  <a:pt x="288925" y="0"/>
                </a:lnTo>
                <a:lnTo>
                  <a:pt x="0" y="0"/>
                </a:lnTo>
                <a:lnTo>
                  <a:pt x="0" y="213359"/>
                </a:lnTo>
                <a:close/>
              </a:path>
            </a:pathLst>
          </a:custGeom>
          <a:solidFill>
            <a:srgbClr val="7597D9"/>
          </a:solidFill>
        </p:spPr>
        <p:txBody>
          <a:bodyPr wrap="square" lIns="0" tIns="0" rIns="0" bIns="0" rtlCol="0"/>
          <a:lstStyle/>
          <a:p>
            <a:pPr defTabSz="914079"/>
            <a:endParaRPr>
              <a:solidFill>
                <a:prstClr val="black"/>
              </a:solidFill>
            </a:endParaRPr>
          </a:p>
        </p:txBody>
      </p:sp>
      <p:sp>
        <p:nvSpPr>
          <p:cNvPr id="11" name="object 11"/>
          <p:cNvSpPr/>
          <p:nvPr/>
        </p:nvSpPr>
        <p:spPr>
          <a:xfrm>
            <a:off x="1476502" y="3789045"/>
            <a:ext cx="288925" cy="213360"/>
          </a:xfrm>
          <a:custGeom>
            <a:avLst/>
            <a:gdLst/>
            <a:ahLst/>
            <a:cxnLst/>
            <a:rect l="l" t="t" r="r" b="b"/>
            <a:pathLst>
              <a:path w="288925" h="213360">
                <a:moveTo>
                  <a:pt x="0" y="213359"/>
                </a:moveTo>
                <a:lnTo>
                  <a:pt x="288924" y="213359"/>
                </a:lnTo>
                <a:lnTo>
                  <a:pt x="288924" y="0"/>
                </a:lnTo>
                <a:lnTo>
                  <a:pt x="0" y="0"/>
                </a:lnTo>
                <a:lnTo>
                  <a:pt x="0" y="213359"/>
                </a:lnTo>
                <a:close/>
              </a:path>
            </a:pathLst>
          </a:custGeom>
          <a:solidFill>
            <a:srgbClr val="7597D9"/>
          </a:solidFill>
        </p:spPr>
        <p:txBody>
          <a:bodyPr wrap="square" lIns="0" tIns="0" rIns="0" bIns="0" rtlCol="0"/>
          <a:lstStyle/>
          <a:p>
            <a:pPr defTabSz="914079"/>
            <a:endParaRPr>
              <a:solidFill>
                <a:prstClr val="black"/>
              </a:solidFill>
            </a:endParaRPr>
          </a:p>
        </p:txBody>
      </p:sp>
      <p:sp>
        <p:nvSpPr>
          <p:cNvPr id="12" name="object 12"/>
          <p:cNvSpPr/>
          <p:nvPr/>
        </p:nvSpPr>
        <p:spPr>
          <a:xfrm>
            <a:off x="1765426" y="3789045"/>
            <a:ext cx="288925" cy="213360"/>
          </a:xfrm>
          <a:custGeom>
            <a:avLst/>
            <a:gdLst/>
            <a:ahLst/>
            <a:cxnLst/>
            <a:rect l="l" t="t" r="r" b="b"/>
            <a:pathLst>
              <a:path w="288925" h="213360">
                <a:moveTo>
                  <a:pt x="0" y="213359"/>
                </a:moveTo>
                <a:lnTo>
                  <a:pt x="288925" y="213359"/>
                </a:lnTo>
                <a:lnTo>
                  <a:pt x="288925" y="0"/>
                </a:lnTo>
                <a:lnTo>
                  <a:pt x="0" y="0"/>
                </a:lnTo>
                <a:lnTo>
                  <a:pt x="0" y="213359"/>
                </a:lnTo>
                <a:close/>
              </a:path>
            </a:pathLst>
          </a:custGeom>
          <a:solidFill>
            <a:srgbClr val="7597D9"/>
          </a:solidFill>
        </p:spPr>
        <p:txBody>
          <a:bodyPr wrap="square" lIns="0" tIns="0" rIns="0" bIns="0" rtlCol="0"/>
          <a:lstStyle/>
          <a:p>
            <a:pPr defTabSz="914079"/>
            <a:endParaRPr>
              <a:solidFill>
                <a:prstClr val="black"/>
              </a:solidFill>
            </a:endParaRPr>
          </a:p>
        </p:txBody>
      </p:sp>
      <p:sp>
        <p:nvSpPr>
          <p:cNvPr id="13" name="object 13"/>
          <p:cNvSpPr/>
          <p:nvPr/>
        </p:nvSpPr>
        <p:spPr>
          <a:xfrm>
            <a:off x="2054351" y="3789045"/>
            <a:ext cx="288925" cy="213360"/>
          </a:xfrm>
          <a:custGeom>
            <a:avLst/>
            <a:gdLst/>
            <a:ahLst/>
            <a:cxnLst/>
            <a:rect l="l" t="t" r="r" b="b"/>
            <a:pathLst>
              <a:path w="288925" h="213360">
                <a:moveTo>
                  <a:pt x="0" y="213359"/>
                </a:moveTo>
                <a:lnTo>
                  <a:pt x="288925" y="213359"/>
                </a:lnTo>
                <a:lnTo>
                  <a:pt x="288925" y="0"/>
                </a:lnTo>
                <a:lnTo>
                  <a:pt x="0" y="0"/>
                </a:lnTo>
                <a:lnTo>
                  <a:pt x="0" y="213359"/>
                </a:lnTo>
                <a:close/>
              </a:path>
            </a:pathLst>
          </a:custGeom>
          <a:solidFill>
            <a:srgbClr val="7597D9"/>
          </a:solidFill>
        </p:spPr>
        <p:txBody>
          <a:bodyPr wrap="square" lIns="0" tIns="0" rIns="0" bIns="0" rtlCol="0"/>
          <a:lstStyle/>
          <a:p>
            <a:pPr defTabSz="914079"/>
            <a:endParaRPr>
              <a:solidFill>
                <a:prstClr val="black"/>
              </a:solidFill>
            </a:endParaRPr>
          </a:p>
        </p:txBody>
      </p:sp>
      <p:sp>
        <p:nvSpPr>
          <p:cNvPr id="14" name="object 14"/>
          <p:cNvSpPr/>
          <p:nvPr/>
        </p:nvSpPr>
        <p:spPr>
          <a:xfrm>
            <a:off x="1187627" y="4002404"/>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15" name="object 15"/>
          <p:cNvSpPr/>
          <p:nvPr/>
        </p:nvSpPr>
        <p:spPr>
          <a:xfrm>
            <a:off x="1476502" y="4002404"/>
            <a:ext cx="288925" cy="213360"/>
          </a:xfrm>
          <a:custGeom>
            <a:avLst/>
            <a:gdLst/>
            <a:ahLst/>
            <a:cxnLst/>
            <a:rect l="l" t="t" r="r" b="b"/>
            <a:pathLst>
              <a:path w="288925" h="213360">
                <a:moveTo>
                  <a:pt x="0" y="213360"/>
                </a:moveTo>
                <a:lnTo>
                  <a:pt x="288924" y="213360"/>
                </a:lnTo>
                <a:lnTo>
                  <a:pt x="288924"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16" name="object 16"/>
          <p:cNvSpPr/>
          <p:nvPr/>
        </p:nvSpPr>
        <p:spPr>
          <a:xfrm>
            <a:off x="1765426" y="4002404"/>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17" name="object 17"/>
          <p:cNvSpPr/>
          <p:nvPr/>
        </p:nvSpPr>
        <p:spPr>
          <a:xfrm>
            <a:off x="2054351" y="4002404"/>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18" name="object 18"/>
          <p:cNvSpPr/>
          <p:nvPr/>
        </p:nvSpPr>
        <p:spPr>
          <a:xfrm>
            <a:off x="1187627" y="4215765"/>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19" name="object 19"/>
          <p:cNvSpPr/>
          <p:nvPr/>
        </p:nvSpPr>
        <p:spPr>
          <a:xfrm>
            <a:off x="1476502" y="4215765"/>
            <a:ext cx="288925" cy="213360"/>
          </a:xfrm>
          <a:custGeom>
            <a:avLst/>
            <a:gdLst/>
            <a:ahLst/>
            <a:cxnLst/>
            <a:rect l="l" t="t" r="r" b="b"/>
            <a:pathLst>
              <a:path w="288925" h="213360">
                <a:moveTo>
                  <a:pt x="0" y="213360"/>
                </a:moveTo>
                <a:lnTo>
                  <a:pt x="288924" y="213360"/>
                </a:lnTo>
                <a:lnTo>
                  <a:pt x="288924"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20" name="object 20"/>
          <p:cNvSpPr/>
          <p:nvPr/>
        </p:nvSpPr>
        <p:spPr>
          <a:xfrm>
            <a:off x="1765426" y="4215765"/>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21" name="object 21"/>
          <p:cNvSpPr/>
          <p:nvPr/>
        </p:nvSpPr>
        <p:spPr>
          <a:xfrm>
            <a:off x="2054351" y="4215765"/>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22" name="object 22"/>
          <p:cNvSpPr/>
          <p:nvPr/>
        </p:nvSpPr>
        <p:spPr>
          <a:xfrm>
            <a:off x="1187627" y="4429125"/>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23" name="object 23"/>
          <p:cNvSpPr/>
          <p:nvPr/>
        </p:nvSpPr>
        <p:spPr>
          <a:xfrm>
            <a:off x="1476502" y="4429125"/>
            <a:ext cx="288925" cy="213360"/>
          </a:xfrm>
          <a:custGeom>
            <a:avLst/>
            <a:gdLst/>
            <a:ahLst/>
            <a:cxnLst/>
            <a:rect l="l" t="t" r="r" b="b"/>
            <a:pathLst>
              <a:path w="288925" h="213360">
                <a:moveTo>
                  <a:pt x="0" y="213360"/>
                </a:moveTo>
                <a:lnTo>
                  <a:pt x="288924" y="213360"/>
                </a:lnTo>
                <a:lnTo>
                  <a:pt x="288924"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24" name="object 24"/>
          <p:cNvSpPr/>
          <p:nvPr/>
        </p:nvSpPr>
        <p:spPr>
          <a:xfrm>
            <a:off x="1765426" y="4429125"/>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25" name="object 25"/>
          <p:cNvSpPr/>
          <p:nvPr/>
        </p:nvSpPr>
        <p:spPr>
          <a:xfrm>
            <a:off x="2054351" y="4429125"/>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D5DDF0"/>
          </a:solidFill>
        </p:spPr>
        <p:txBody>
          <a:bodyPr wrap="square" lIns="0" tIns="0" rIns="0" bIns="0" rtlCol="0"/>
          <a:lstStyle/>
          <a:p>
            <a:pPr defTabSz="914079"/>
            <a:endParaRPr>
              <a:solidFill>
                <a:prstClr val="black"/>
              </a:solidFill>
            </a:endParaRPr>
          </a:p>
        </p:txBody>
      </p:sp>
      <p:sp>
        <p:nvSpPr>
          <p:cNvPr id="26" name="object 26"/>
          <p:cNvSpPr/>
          <p:nvPr/>
        </p:nvSpPr>
        <p:spPr>
          <a:xfrm>
            <a:off x="1187627" y="4642484"/>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27" name="object 27"/>
          <p:cNvSpPr/>
          <p:nvPr/>
        </p:nvSpPr>
        <p:spPr>
          <a:xfrm>
            <a:off x="1476502" y="4642484"/>
            <a:ext cx="288925" cy="213360"/>
          </a:xfrm>
          <a:custGeom>
            <a:avLst/>
            <a:gdLst/>
            <a:ahLst/>
            <a:cxnLst/>
            <a:rect l="l" t="t" r="r" b="b"/>
            <a:pathLst>
              <a:path w="288925" h="213360">
                <a:moveTo>
                  <a:pt x="0" y="213360"/>
                </a:moveTo>
                <a:lnTo>
                  <a:pt x="288924" y="213360"/>
                </a:lnTo>
                <a:lnTo>
                  <a:pt x="288924"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28" name="object 28"/>
          <p:cNvSpPr/>
          <p:nvPr/>
        </p:nvSpPr>
        <p:spPr>
          <a:xfrm>
            <a:off x="1765426" y="4642484"/>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29" name="object 29"/>
          <p:cNvSpPr/>
          <p:nvPr/>
        </p:nvSpPr>
        <p:spPr>
          <a:xfrm>
            <a:off x="2054351" y="4642484"/>
            <a:ext cx="288925" cy="213360"/>
          </a:xfrm>
          <a:custGeom>
            <a:avLst/>
            <a:gdLst/>
            <a:ahLst/>
            <a:cxnLst/>
            <a:rect l="l" t="t" r="r" b="b"/>
            <a:pathLst>
              <a:path w="288925" h="213360">
                <a:moveTo>
                  <a:pt x="0" y="213360"/>
                </a:moveTo>
                <a:lnTo>
                  <a:pt x="288925" y="213360"/>
                </a:lnTo>
                <a:lnTo>
                  <a:pt x="288925" y="0"/>
                </a:lnTo>
                <a:lnTo>
                  <a:pt x="0" y="0"/>
                </a:lnTo>
                <a:lnTo>
                  <a:pt x="0" y="213360"/>
                </a:lnTo>
                <a:close/>
              </a:path>
            </a:pathLst>
          </a:custGeom>
          <a:solidFill>
            <a:srgbClr val="EBEEF8"/>
          </a:solidFill>
        </p:spPr>
        <p:txBody>
          <a:bodyPr wrap="square" lIns="0" tIns="0" rIns="0" bIns="0" rtlCol="0"/>
          <a:lstStyle/>
          <a:p>
            <a:pPr defTabSz="914079"/>
            <a:endParaRPr>
              <a:solidFill>
                <a:prstClr val="black"/>
              </a:solidFill>
            </a:endParaRPr>
          </a:p>
        </p:txBody>
      </p:sp>
      <p:sp>
        <p:nvSpPr>
          <p:cNvPr id="30" name="object 30"/>
          <p:cNvSpPr/>
          <p:nvPr/>
        </p:nvSpPr>
        <p:spPr>
          <a:xfrm>
            <a:off x="1476502" y="3782695"/>
            <a:ext cx="0" cy="1079500"/>
          </a:xfrm>
          <a:custGeom>
            <a:avLst/>
            <a:gdLst/>
            <a:ahLst/>
            <a:cxnLst/>
            <a:rect l="l" t="t" r="r" b="b"/>
            <a:pathLst>
              <a:path h="1079500">
                <a:moveTo>
                  <a:pt x="0" y="0"/>
                </a:moveTo>
                <a:lnTo>
                  <a:pt x="0" y="1079499"/>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1" name="object 31"/>
          <p:cNvSpPr/>
          <p:nvPr/>
        </p:nvSpPr>
        <p:spPr>
          <a:xfrm>
            <a:off x="1765426" y="3782695"/>
            <a:ext cx="0" cy="1079500"/>
          </a:xfrm>
          <a:custGeom>
            <a:avLst/>
            <a:gdLst/>
            <a:ahLst/>
            <a:cxnLst/>
            <a:rect l="l" t="t" r="r" b="b"/>
            <a:pathLst>
              <a:path h="1079500">
                <a:moveTo>
                  <a:pt x="0" y="0"/>
                </a:moveTo>
                <a:lnTo>
                  <a:pt x="0" y="1079499"/>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2" name="object 32"/>
          <p:cNvSpPr/>
          <p:nvPr/>
        </p:nvSpPr>
        <p:spPr>
          <a:xfrm>
            <a:off x="2054351" y="3782695"/>
            <a:ext cx="0" cy="1079500"/>
          </a:xfrm>
          <a:custGeom>
            <a:avLst/>
            <a:gdLst/>
            <a:ahLst/>
            <a:cxnLst/>
            <a:rect l="l" t="t" r="r" b="b"/>
            <a:pathLst>
              <a:path h="1079500">
                <a:moveTo>
                  <a:pt x="0" y="0"/>
                </a:moveTo>
                <a:lnTo>
                  <a:pt x="0" y="1079499"/>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3" name="object 33"/>
          <p:cNvSpPr/>
          <p:nvPr/>
        </p:nvSpPr>
        <p:spPr>
          <a:xfrm>
            <a:off x="1181277" y="4002404"/>
            <a:ext cx="1168400" cy="0"/>
          </a:xfrm>
          <a:custGeom>
            <a:avLst/>
            <a:gdLst/>
            <a:ahLst/>
            <a:cxnLst/>
            <a:rect l="l" t="t" r="r" b="b"/>
            <a:pathLst>
              <a:path w="1168400">
                <a:moveTo>
                  <a:pt x="0" y="0"/>
                </a:moveTo>
                <a:lnTo>
                  <a:pt x="1168349" y="0"/>
                </a:lnTo>
              </a:path>
            </a:pathLst>
          </a:custGeom>
          <a:ln w="38100">
            <a:solidFill>
              <a:srgbClr val="FFFFFF"/>
            </a:solidFill>
          </a:ln>
        </p:spPr>
        <p:txBody>
          <a:bodyPr wrap="square" lIns="0" tIns="0" rIns="0" bIns="0" rtlCol="0"/>
          <a:lstStyle/>
          <a:p>
            <a:pPr defTabSz="914079"/>
            <a:endParaRPr>
              <a:solidFill>
                <a:prstClr val="black"/>
              </a:solidFill>
            </a:endParaRPr>
          </a:p>
        </p:txBody>
      </p:sp>
      <p:sp>
        <p:nvSpPr>
          <p:cNvPr id="34" name="object 34"/>
          <p:cNvSpPr/>
          <p:nvPr/>
        </p:nvSpPr>
        <p:spPr>
          <a:xfrm>
            <a:off x="1181277" y="4215765"/>
            <a:ext cx="1168400" cy="0"/>
          </a:xfrm>
          <a:custGeom>
            <a:avLst/>
            <a:gdLst/>
            <a:ahLst/>
            <a:cxnLst/>
            <a:rect l="l" t="t" r="r" b="b"/>
            <a:pathLst>
              <a:path w="1168400">
                <a:moveTo>
                  <a:pt x="0" y="0"/>
                </a:moveTo>
                <a:lnTo>
                  <a:pt x="1168349" y="0"/>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5" name="object 35"/>
          <p:cNvSpPr/>
          <p:nvPr/>
        </p:nvSpPr>
        <p:spPr>
          <a:xfrm>
            <a:off x="1181277" y="4429125"/>
            <a:ext cx="1168400" cy="0"/>
          </a:xfrm>
          <a:custGeom>
            <a:avLst/>
            <a:gdLst/>
            <a:ahLst/>
            <a:cxnLst/>
            <a:rect l="l" t="t" r="r" b="b"/>
            <a:pathLst>
              <a:path w="1168400">
                <a:moveTo>
                  <a:pt x="0" y="0"/>
                </a:moveTo>
                <a:lnTo>
                  <a:pt x="1168349" y="0"/>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6" name="object 36"/>
          <p:cNvSpPr/>
          <p:nvPr/>
        </p:nvSpPr>
        <p:spPr>
          <a:xfrm>
            <a:off x="1181277" y="4642484"/>
            <a:ext cx="1168400" cy="0"/>
          </a:xfrm>
          <a:custGeom>
            <a:avLst/>
            <a:gdLst/>
            <a:ahLst/>
            <a:cxnLst/>
            <a:rect l="l" t="t" r="r" b="b"/>
            <a:pathLst>
              <a:path w="1168400">
                <a:moveTo>
                  <a:pt x="0" y="0"/>
                </a:moveTo>
                <a:lnTo>
                  <a:pt x="1168349" y="0"/>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7" name="object 37"/>
          <p:cNvSpPr/>
          <p:nvPr/>
        </p:nvSpPr>
        <p:spPr>
          <a:xfrm>
            <a:off x="1187627" y="3782695"/>
            <a:ext cx="0" cy="1079500"/>
          </a:xfrm>
          <a:custGeom>
            <a:avLst/>
            <a:gdLst/>
            <a:ahLst/>
            <a:cxnLst/>
            <a:rect l="l" t="t" r="r" b="b"/>
            <a:pathLst>
              <a:path h="1079500">
                <a:moveTo>
                  <a:pt x="0" y="0"/>
                </a:moveTo>
                <a:lnTo>
                  <a:pt x="0" y="1079499"/>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8" name="object 38"/>
          <p:cNvSpPr/>
          <p:nvPr/>
        </p:nvSpPr>
        <p:spPr>
          <a:xfrm>
            <a:off x="2343276" y="3782695"/>
            <a:ext cx="0" cy="1079500"/>
          </a:xfrm>
          <a:custGeom>
            <a:avLst/>
            <a:gdLst/>
            <a:ahLst/>
            <a:cxnLst/>
            <a:rect l="l" t="t" r="r" b="b"/>
            <a:pathLst>
              <a:path h="1079500">
                <a:moveTo>
                  <a:pt x="0" y="0"/>
                </a:moveTo>
                <a:lnTo>
                  <a:pt x="0" y="1079499"/>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39" name="object 39"/>
          <p:cNvSpPr/>
          <p:nvPr/>
        </p:nvSpPr>
        <p:spPr>
          <a:xfrm>
            <a:off x="1181277" y="3789045"/>
            <a:ext cx="1168400" cy="0"/>
          </a:xfrm>
          <a:custGeom>
            <a:avLst/>
            <a:gdLst/>
            <a:ahLst/>
            <a:cxnLst/>
            <a:rect l="l" t="t" r="r" b="b"/>
            <a:pathLst>
              <a:path w="1168400">
                <a:moveTo>
                  <a:pt x="0" y="0"/>
                </a:moveTo>
                <a:lnTo>
                  <a:pt x="1168349" y="0"/>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40" name="object 40"/>
          <p:cNvSpPr/>
          <p:nvPr/>
        </p:nvSpPr>
        <p:spPr>
          <a:xfrm>
            <a:off x="1181277" y="4855845"/>
            <a:ext cx="1168400" cy="0"/>
          </a:xfrm>
          <a:custGeom>
            <a:avLst/>
            <a:gdLst/>
            <a:ahLst/>
            <a:cxnLst/>
            <a:rect l="l" t="t" r="r" b="b"/>
            <a:pathLst>
              <a:path w="1168400">
                <a:moveTo>
                  <a:pt x="0" y="0"/>
                </a:moveTo>
                <a:lnTo>
                  <a:pt x="1168349" y="0"/>
                </a:lnTo>
              </a:path>
            </a:pathLst>
          </a:custGeom>
          <a:ln w="12700">
            <a:solidFill>
              <a:srgbClr val="FFFFFF"/>
            </a:solidFill>
          </a:ln>
        </p:spPr>
        <p:txBody>
          <a:bodyPr wrap="square" lIns="0" tIns="0" rIns="0" bIns="0" rtlCol="0"/>
          <a:lstStyle/>
          <a:p>
            <a:pPr defTabSz="914079"/>
            <a:endParaRPr>
              <a:solidFill>
                <a:prstClr val="black"/>
              </a:solidFill>
            </a:endParaRPr>
          </a:p>
        </p:txBody>
      </p:sp>
      <p:sp>
        <p:nvSpPr>
          <p:cNvPr id="41" name="object 41"/>
          <p:cNvSpPr txBox="1"/>
          <p:nvPr/>
        </p:nvSpPr>
        <p:spPr>
          <a:xfrm>
            <a:off x="1244600" y="3243834"/>
            <a:ext cx="1109980"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BD</a:t>
            </a:r>
            <a:r>
              <a:rPr spc="-80" dirty="0">
                <a:solidFill>
                  <a:prstClr val="black"/>
                </a:solidFill>
                <a:cs typeface="Century Schoolbook"/>
              </a:rPr>
              <a:t> </a:t>
            </a:r>
            <a:r>
              <a:rPr dirty="0">
                <a:solidFill>
                  <a:prstClr val="black"/>
                </a:solidFill>
                <a:cs typeface="Century Schoolbook"/>
              </a:rPr>
              <a:t>source</a:t>
            </a:r>
            <a:endParaRPr>
              <a:solidFill>
                <a:prstClr val="black"/>
              </a:solidFill>
              <a:cs typeface="Century Schoolbook"/>
            </a:endParaRPr>
          </a:p>
        </p:txBody>
      </p:sp>
      <p:sp>
        <p:nvSpPr>
          <p:cNvPr id="42" name="object 42"/>
          <p:cNvSpPr/>
          <p:nvPr/>
        </p:nvSpPr>
        <p:spPr>
          <a:xfrm>
            <a:off x="5292090" y="2674366"/>
            <a:ext cx="2016760" cy="2339340"/>
          </a:xfrm>
          <a:custGeom>
            <a:avLst/>
            <a:gdLst/>
            <a:ahLst/>
            <a:cxnLst/>
            <a:rect l="l" t="t" r="r" b="b"/>
            <a:pathLst>
              <a:path w="2016759" h="2339340">
                <a:moveTo>
                  <a:pt x="0" y="0"/>
                </a:moveTo>
                <a:lnTo>
                  <a:pt x="0" y="2086864"/>
                </a:lnTo>
                <a:lnTo>
                  <a:pt x="2531" y="2104862"/>
                </a:lnTo>
                <a:lnTo>
                  <a:pt x="22269" y="2139790"/>
                </a:lnTo>
                <a:lnTo>
                  <a:pt x="60437" y="2173008"/>
                </a:lnTo>
                <a:lnTo>
                  <a:pt x="115672" y="2204177"/>
                </a:lnTo>
                <a:lnTo>
                  <a:pt x="186606" y="2232954"/>
                </a:lnTo>
                <a:lnTo>
                  <a:pt x="227535" y="2246340"/>
                </a:lnTo>
                <a:lnTo>
                  <a:pt x="271877" y="2259000"/>
                </a:lnTo>
                <a:lnTo>
                  <a:pt x="319462" y="2270892"/>
                </a:lnTo>
                <a:lnTo>
                  <a:pt x="370119" y="2281973"/>
                </a:lnTo>
                <a:lnTo>
                  <a:pt x="423677" y="2292201"/>
                </a:lnTo>
                <a:lnTo>
                  <a:pt x="479966" y="2301534"/>
                </a:lnTo>
                <a:lnTo>
                  <a:pt x="538816" y="2309928"/>
                </a:lnTo>
                <a:lnTo>
                  <a:pt x="600056" y="2317340"/>
                </a:lnTo>
                <a:lnTo>
                  <a:pt x="663515" y="2323730"/>
                </a:lnTo>
                <a:lnTo>
                  <a:pt x="729022" y="2329053"/>
                </a:lnTo>
                <a:lnTo>
                  <a:pt x="796408" y="2333267"/>
                </a:lnTo>
                <a:lnTo>
                  <a:pt x="865500" y="2336330"/>
                </a:lnTo>
                <a:lnTo>
                  <a:pt x="936130" y="2338199"/>
                </a:lnTo>
                <a:lnTo>
                  <a:pt x="1008126" y="2338832"/>
                </a:lnTo>
                <a:lnTo>
                  <a:pt x="1080121" y="2338199"/>
                </a:lnTo>
                <a:lnTo>
                  <a:pt x="1150751" y="2336330"/>
                </a:lnTo>
                <a:lnTo>
                  <a:pt x="1219843" y="2333267"/>
                </a:lnTo>
                <a:lnTo>
                  <a:pt x="1287229" y="2329053"/>
                </a:lnTo>
                <a:lnTo>
                  <a:pt x="1352736" y="2323730"/>
                </a:lnTo>
                <a:lnTo>
                  <a:pt x="1416195" y="2317340"/>
                </a:lnTo>
                <a:lnTo>
                  <a:pt x="1477435" y="2309928"/>
                </a:lnTo>
                <a:lnTo>
                  <a:pt x="1536285" y="2301534"/>
                </a:lnTo>
                <a:lnTo>
                  <a:pt x="1592574" y="2292201"/>
                </a:lnTo>
                <a:lnTo>
                  <a:pt x="1646132" y="2281973"/>
                </a:lnTo>
                <a:lnTo>
                  <a:pt x="1696789" y="2270892"/>
                </a:lnTo>
                <a:lnTo>
                  <a:pt x="1744374" y="2259000"/>
                </a:lnTo>
                <a:lnTo>
                  <a:pt x="1788716" y="2246340"/>
                </a:lnTo>
                <a:lnTo>
                  <a:pt x="1829645" y="2232954"/>
                </a:lnTo>
                <a:lnTo>
                  <a:pt x="1866989" y="2218886"/>
                </a:lnTo>
                <a:lnTo>
                  <a:pt x="1930244" y="2188870"/>
                </a:lnTo>
                <a:lnTo>
                  <a:pt x="1977116" y="2156634"/>
                </a:lnTo>
                <a:lnTo>
                  <a:pt x="2006240" y="2122518"/>
                </a:lnTo>
                <a:lnTo>
                  <a:pt x="2016252" y="2086864"/>
                </a:lnTo>
                <a:lnTo>
                  <a:pt x="2016252" y="252095"/>
                </a:lnTo>
                <a:lnTo>
                  <a:pt x="1008126" y="252095"/>
                </a:lnTo>
                <a:lnTo>
                  <a:pt x="936130" y="251461"/>
                </a:lnTo>
                <a:lnTo>
                  <a:pt x="865500" y="249590"/>
                </a:lnTo>
                <a:lnTo>
                  <a:pt x="796408" y="246524"/>
                </a:lnTo>
                <a:lnTo>
                  <a:pt x="729022" y="242306"/>
                </a:lnTo>
                <a:lnTo>
                  <a:pt x="663515" y="236977"/>
                </a:lnTo>
                <a:lnTo>
                  <a:pt x="600056" y="230582"/>
                </a:lnTo>
                <a:lnTo>
                  <a:pt x="538816" y="223162"/>
                </a:lnTo>
                <a:lnTo>
                  <a:pt x="479966" y="214761"/>
                </a:lnTo>
                <a:lnTo>
                  <a:pt x="423677" y="205421"/>
                </a:lnTo>
                <a:lnTo>
                  <a:pt x="370119" y="195185"/>
                </a:lnTo>
                <a:lnTo>
                  <a:pt x="319462" y="184095"/>
                </a:lnTo>
                <a:lnTo>
                  <a:pt x="271877" y="172195"/>
                </a:lnTo>
                <a:lnTo>
                  <a:pt x="227535" y="159527"/>
                </a:lnTo>
                <a:lnTo>
                  <a:pt x="186606" y="146133"/>
                </a:lnTo>
                <a:lnTo>
                  <a:pt x="149262" y="132057"/>
                </a:lnTo>
                <a:lnTo>
                  <a:pt x="86007" y="102028"/>
                </a:lnTo>
                <a:lnTo>
                  <a:pt x="39135" y="69780"/>
                </a:lnTo>
                <a:lnTo>
                  <a:pt x="10011" y="35657"/>
                </a:lnTo>
                <a:lnTo>
                  <a:pt x="2531" y="17999"/>
                </a:lnTo>
                <a:lnTo>
                  <a:pt x="0" y="0"/>
                </a:lnTo>
                <a:close/>
              </a:path>
              <a:path w="2016759" h="2339340">
                <a:moveTo>
                  <a:pt x="2016252" y="0"/>
                </a:moveTo>
                <a:lnTo>
                  <a:pt x="1993982" y="52932"/>
                </a:lnTo>
                <a:lnTo>
                  <a:pt x="1955814" y="86160"/>
                </a:lnTo>
                <a:lnTo>
                  <a:pt x="1900579" y="117341"/>
                </a:lnTo>
                <a:lnTo>
                  <a:pt x="1829645" y="146133"/>
                </a:lnTo>
                <a:lnTo>
                  <a:pt x="1788716" y="159527"/>
                </a:lnTo>
                <a:lnTo>
                  <a:pt x="1744374" y="172195"/>
                </a:lnTo>
                <a:lnTo>
                  <a:pt x="1696789" y="184095"/>
                </a:lnTo>
                <a:lnTo>
                  <a:pt x="1646132" y="195185"/>
                </a:lnTo>
                <a:lnTo>
                  <a:pt x="1592574" y="205421"/>
                </a:lnTo>
                <a:lnTo>
                  <a:pt x="1536285" y="214761"/>
                </a:lnTo>
                <a:lnTo>
                  <a:pt x="1477435" y="223162"/>
                </a:lnTo>
                <a:lnTo>
                  <a:pt x="1416195" y="230582"/>
                </a:lnTo>
                <a:lnTo>
                  <a:pt x="1352736" y="236977"/>
                </a:lnTo>
                <a:lnTo>
                  <a:pt x="1287229" y="242306"/>
                </a:lnTo>
                <a:lnTo>
                  <a:pt x="1219843" y="246524"/>
                </a:lnTo>
                <a:lnTo>
                  <a:pt x="1150751" y="249590"/>
                </a:lnTo>
                <a:lnTo>
                  <a:pt x="1080121" y="251461"/>
                </a:lnTo>
                <a:lnTo>
                  <a:pt x="1008126" y="252095"/>
                </a:lnTo>
                <a:lnTo>
                  <a:pt x="2016252" y="252095"/>
                </a:lnTo>
                <a:lnTo>
                  <a:pt x="2016252"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43" name="object 43"/>
          <p:cNvSpPr/>
          <p:nvPr/>
        </p:nvSpPr>
        <p:spPr>
          <a:xfrm>
            <a:off x="5292090" y="2422398"/>
            <a:ext cx="2016760" cy="504190"/>
          </a:xfrm>
          <a:custGeom>
            <a:avLst/>
            <a:gdLst/>
            <a:ahLst/>
            <a:cxnLst/>
            <a:rect l="l" t="t" r="r" b="b"/>
            <a:pathLst>
              <a:path w="2016759" h="504189">
                <a:moveTo>
                  <a:pt x="1008126" y="0"/>
                </a:moveTo>
                <a:lnTo>
                  <a:pt x="936130" y="632"/>
                </a:lnTo>
                <a:lnTo>
                  <a:pt x="865500" y="2501"/>
                </a:lnTo>
                <a:lnTo>
                  <a:pt x="796408" y="5564"/>
                </a:lnTo>
                <a:lnTo>
                  <a:pt x="729022" y="9778"/>
                </a:lnTo>
                <a:lnTo>
                  <a:pt x="663515" y="15101"/>
                </a:lnTo>
                <a:lnTo>
                  <a:pt x="600056" y="21491"/>
                </a:lnTo>
                <a:lnTo>
                  <a:pt x="538816" y="28903"/>
                </a:lnTo>
                <a:lnTo>
                  <a:pt x="479966" y="37297"/>
                </a:lnTo>
                <a:lnTo>
                  <a:pt x="423677" y="46630"/>
                </a:lnTo>
                <a:lnTo>
                  <a:pt x="370119" y="56858"/>
                </a:lnTo>
                <a:lnTo>
                  <a:pt x="319462" y="67939"/>
                </a:lnTo>
                <a:lnTo>
                  <a:pt x="271877" y="79831"/>
                </a:lnTo>
                <a:lnTo>
                  <a:pt x="227535" y="92491"/>
                </a:lnTo>
                <a:lnTo>
                  <a:pt x="186606" y="105877"/>
                </a:lnTo>
                <a:lnTo>
                  <a:pt x="149262" y="119945"/>
                </a:lnTo>
                <a:lnTo>
                  <a:pt x="86007" y="149961"/>
                </a:lnTo>
                <a:lnTo>
                  <a:pt x="39135" y="182197"/>
                </a:lnTo>
                <a:lnTo>
                  <a:pt x="10011" y="216313"/>
                </a:lnTo>
                <a:lnTo>
                  <a:pt x="0" y="251967"/>
                </a:lnTo>
                <a:lnTo>
                  <a:pt x="2531" y="269967"/>
                </a:lnTo>
                <a:lnTo>
                  <a:pt x="22269" y="304900"/>
                </a:lnTo>
                <a:lnTo>
                  <a:pt x="60437" y="338128"/>
                </a:lnTo>
                <a:lnTo>
                  <a:pt x="115672" y="369309"/>
                </a:lnTo>
                <a:lnTo>
                  <a:pt x="186606" y="398101"/>
                </a:lnTo>
                <a:lnTo>
                  <a:pt x="227535" y="411495"/>
                </a:lnTo>
                <a:lnTo>
                  <a:pt x="271877" y="424163"/>
                </a:lnTo>
                <a:lnTo>
                  <a:pt x="319462" y="436063"/>
                </a:lnTo>
                <a:lnTo>
                  <a:pt x="370119" y="447153"/>
                </a:lnTo>
                <a:lnTo>
                  <a:pt x="423677" y="457389"/>
                </a:lnTo>
                <a:lnTo>
                  <a:pt x="479966" y="466729"/>
                </a:lnTo>
                <a:lnTo>
                  <a:pt x="538816" y="475130"/>
                </a:lnTo>
                <a:lnTo>
                  <a:pt x="600056" y="482550"/>
                </a:lnTo>
                <a:lnTo>
                  <a:pt x="663515" y="488945"/>
                </a:lnTo>
                <a:lnTo>
                  <a:pt x="729022" y="494274"/>
                </a:lnTo>
                <a:lnTo>
                  <a:pt x="796408" y="498492"/>
                </a:lnTo>
                <a:lnTo>
                  <a:pt x="865500" y="501558"/>
                </a:lnTo>
                <a:lnTo>
                  <a:pt x="936130" y="503429"/>
                </a:lnTo>
                <a:lnTo>
                  <a:pt x="1008126" y="504063"/>
                </a:lnTo>
                <a:lnTo>
                  <a:pt x="1080121" y="503429"/>
                </a:lnTo>
                <a:lnTo>
                  <a:pt x="1150751" y="501558"/>
                </a:lnTo>
                <a:lnTo>
                  <a:pt x="1219843" y="498492"/>
                </a:lnTo>
                <a:lnTo>
                  <a:pt x="1287229" y="494274"/>
                </a:lnTo>
                <a:lnTo>
                  <a:pt x="1352736" y="488945"/>
                </a:lnTo>
                <a:lnTo>
                  <a:pt x="1416195" y="482550"/>
                </a:lnTo>
                <a:lnTo>
                  <a:pt x="1477435" y="475130"/>
                </a:lnTo>
                <a:lnTo>
                  <a:pt x="1536285" y="466729"/>
                </a:lnTo>
                <a:lnTo>
                  <a:pt x="1592574" y="457389"/>
                </a:lnTo>
                <a:lnTo>
                  <a:pt x="1646132" y="447153"/>
                </a:lnTo>
                <a:lnTo>
                  <a:pt x="1696789" y="436063"/>
                </a:lnTo>
                <a:lnTo>
                  <a:pt x="1744374" y="424163"/>
                </a:lnTo>
                <a:lnTo>
                  <a:pt x="1788716" y="411495"/>
                </a:lnTo>
                <a:lnTo>
                  <a:pt x="1829645" y="398101"/>
                </a:lnTo>
                <a:lnTo>
                  <a:pt x="1866989" y="384025"/>
                </a:lnTo>
                <a:lnTo>
                  <a:pt x="1930244" y="353996"/>
                </a:lnTo>
                <a:lnTo>
                  <a:pt x="1977116" y="321748"/>
                </a:lnTo>
                <a:lnTo>
                  <a:pt x="2006240" y="287625"/>
                </a:lnTo>
                <a:lnTo>
                  <a:pt x="2016252" y="251967"/>
                </a:lnTo>
                <a:lnTo>
                  <a:pt x="2013720" y="233969"/>
                </a:lnTo>
                <a:lnTo>
                  <a:pt x="1993982" y="199041"/>
                </a:lnTo>
                <a:lnTo>
                  <a:pt x="1955814" y="165823"/>
                </a:lnTo>
                <a:lnTo>
                  <a:pt x="1900579" y="134654"/>
                </a:lnTo>
                <a:lnTo>
                  <a:pt x="1829645" y="105877"/>
                </a:lnTo>
                <a:lnTo>
                  <a:pt x="1788716" y="92491"/>
                </a:lnTo>
                <a:lnTo>
                  <a:pt x="1744374" y="79831"/>
                </a:lnTo>
                <a:lnTo>
                  <a:pt x="1696789" y="67939"/>
                </a:lnTo>
                <a:lnTo>
                  <a:pt x="1646132" y="56858"/>
                </a:lnTo>
                <a:lnTo>
                  <a:pt x="1592574" y="46630"/>
                </a:lnTo>
                <a:lnTo>
                  <a:pt x="1536285" y="37297"/>
                </a:lnTo>
                <a:lnTo>
                  <a:pt x="1477435" y="28903"/>
                </a:lnTo>
                <a:lnTo>
                  <a:pt x="1416195" y="21491"/>
                </a:lnTo>
                <a:lnTo>
                  <a:pt x="1352736" y="15101"/>
                </a:lnTo>
                <a:lnTo>
                  <a:pt x="1287229" y="9778"/>
                </a:lnTo>
                <a:lnTo>
                  <a:pt x="1219843" y="5564"/>
                </a:lnTo>
                <a:lnTo>
                  <a:pt x="1150751" y="2501"/>
                </a:lnTo>
                <a:lnTo>
                  <a:pt x="1080121" y="632"/>
                </a:lnTo>
                <a:lnTo>
                  <a:pt x="1008126" y="0"/>
                </a:lnTo>
                <a:close/>
              </a:path>
            </a:pathLst>
          </a:custGeom>
          <a:solidFill>
            <a:srgbClr val="FDB686"/>
          </a:solidFill>
        </p:spPr>
        <p:txBody>
          <a:bodyPr wrap="square" lIns="0" tIns="0" rIns="0" bIns="0" rtlCol="0"/>
          <a:lstStyle/>
          <a:p>
            <a:pPr defTabSz="914079"/>
            <a:endParaRPr>
              <a:solidFill>
                <a:prstClr val="black"/>
              </a:solidFill>
            </a:endParaRPr>
          </a:p>
        </p:txBody>
      </p:sp>
      <p:sp>
        <p:nvSpPr>
          <p:cNvPr id="44" name="object 44"/>
          <p:cNvSpPr/>
          <p:nvPr/>
        </p:nvSpPr>
        <p:spPr>
          <a:xfrm>
            <a:off x="5292090" y="2422398"/>
            <a:ext cx="2016760" cy="504190"/>
          </a:xfrm>
          <a:custGeom>
            <a:avLst/>
            <a:gdLst/>
            <a:ahLst/>
            <a:cxnLst/>
            <a:rect l="l" t="t" r="r" b="b"/>
            <a:pathLst>
              <a:path w="2016759" h="504189">
                <a:moveTo>
                  <a:pt x="2016252" y="251967"/>
                </a:moveTo>
                <a:lnTo>
                  <a:pt x="1993982" y="304900"/>
                </a:lnTo>
                <a:lnTo>
                  <a:pt x="1955814" y="338128"/>
                </a:lnTo>
                <a:lnTo>
                  <a:pt x="1900579" y="369309"/>
                </a:lnTo>
                <a:lnTo>
                  <a:pt x="1829645" y="398101"/>
                </a:lnTo>
                <a:lnTo>
                  <a:pt x="1788716" y="411495"/>
                </a:lnTo>
                <a:lnTo>
                  <a:pt x="1744374" y="424163"/>
                </a:lnTo>
                <a:lnTo>
                  <a:pt x="1696789" y="436063"/>
                </a:lnTo>
                <a:lnTo>
                  <a:pt x="1646132" y="447153"/>
                </a:lnTo>
                <a:lnTo>
                  <a:pt x="1592574" y="457389"/>
                </a:lnTo>
                <a:lnTo>
                  <a:pt x="1536285" y="466729"/>
                </a:lnTo>
                <a:lnTo>
                  <a:pt x="1477435" y="475130"/>
                </a:lnTo>
                <a:lnTo>
                  <a:pt x="1416195" y="482550"/>
                </a:lnTo>
                <a:lnTo>
                  <a:pt x="1352736" y="488945"/>
                </a:lnTo>
                <a:lnTo>
                  <a:pt x="1287229" y="494274"/>
                </a:lnTo>
                <a:lnTo>
                  <a:pt x="1219843" y="498492"/>
                </a:lnTo>
                <a:lnTo>
                  <a:pt x="1150751" y="501558"/>
                </a:lnTo>
                <a:lnTo>
                  <a:pt x="1080121" y="503429"/>
                </a:lnTo>
                <a:lnTo>
                  <a:pt x="1008126" y="504063"/>
                </a:lnTo>
                <a:lnTo>
                  <a:pt x="936130" y="503429"/>
                </a:lnTo>
                <a:lnTo>
                  <a:pt x="865500" y="501558"/>
                </a:lnTo>
                <a:lnTo>
                  <a:pt x="796408" y="498492"/>
                </a:lnTo>
                <a:lnTo>
                  <a:pt x="729022" y="494274"/>
                </a:lnTo>
                <a:lnTo>
                  <a:pt x="663515" y="488945"/>
                </a:lnTo>
                <a:lnTo>
                  <a:pt x="600056" y="482550"/>
                </a:lnTo>
                <a:lnTo>
                  <a:pt x="538816" y="475130"/>
                </a:lnTo>
                <a:lnTo>
                  <a:pt x="479966" y="466729"/>
                </a:lnTo>
                <a:lnTo>
                  <a:pt x="423677" y="457389"/>
                </a:lnTo>
                <a:lnTo>
                  <a:pt x="370119" y="447153"/>
                </a:lnTo>
                <a:lnTo>
                  <a:pt x="319462" y="436063"/>
                </a:lnTo>
                <a:lnTo>
                  <a:pt x="271877" y="424163"/>
                </a:lnTo>
                <a:lnTo>
                  <a:pt x="227535" y="411495"/>
                </a:lnTo>
                <a:lnTo>
                  <a:pt x="186606" y="398101"/>
                </a:lnTo>
                <a:lnTo>
                  <a:pt x="149262" y="384025"/>
                </a:lnTo>
                <a:lnTo>
                  <a:pt x="86007" y="353996"/>
                </a:lnTo>
                <a:lnTo>
                  <a:pt x="39135" y="321748"/>
                </a:lnTo>
                <a:lnTo>
                  <a:pt x="10011" y="287625"/>
                </a:lnTo>
                <a:lnTo>
                  <a:pt x="0" y="251967"/>
                </a:lnTo>
                <a:lnTo>
                  <a:pt x="2531" y="233969"/>
                </a:lnTo>
                <a:lnTo>
                  <a:pt x="22269" y="199041"/>
                </a:lnTo>
                <a:lnTo>
                  <a:pt x="60437" y="165823"/>
                </a:lnTo>
                <a:lnTo>
                  <a:pt x="115672" y="134654"/>
                </a:lnTo>
                <a:lnTo>
                  <a:pt x="186606" y="105877"/>
                </a:lnTo>
                <a:lnTo>
                  <a:pt x="227535" y="92491"/>
                </a:lnTo>
                <a:lnTo>
                  <a:pt x="271877" y="79831"/>
                </a:lnTo>
                <a:lnTo>
                  <a:pt x="319462" y="67939"/>
                </a:lnTo>
                <a:lnTo>
                  <a:pt x="370119" y="56858"/>
                </a:lnTo>
                <a:lnTo>
                  <a:pt x="423677" y="46630"/>
                </a:lnTo>
                <a:lnTo>
                  <a:pt x="479966" y="37297"/>
                </a:lnTo>
                <a:lnTo>
                  <a:pt x="538816" y="28903"/>
                </a:lnTo>
                <a:lnTo>
                  <a:pt x="600056" y="21491"/>
                </a:lnTo>
                <a:lnTo>
                  <a:pt x="663515" y="15101"/>
                </a:lnTo>
                <a:lnTo>
                  <a:pt x="729022" y="9778"/>
                </a:lnTo>
                <a:lnTo>
                  <a:pt x="796408" y="5564"/>
                </a:lnTo>
                <a:lnTo>
                  <a:pt x="865500" y="2501"/>
                </a:lnTo>
                <a:lnTo>
                  <a:pt x="936130" y="632"/>
                </a:lnTo>
                <a:lnTo>
                  <a:pt x="1008126" y="0"/>
                </a:lnTo>
                <a:lnTo>
                  <a:pt x="1080121" y="632"/>
                </a:lnTo>
                <a:lnTo>
                  <a:pt x="1150751" y="2501"/>
                </a:lnTo>
                <a:lnTo>
                  <a:pt x="1219843" y="5564"/>
                </a:lnTo>
                <a:lnTo>
                  <a:pt x="1287229" y="9778"/>
                </a:lnTo>
                <a:lnTo>
                  <a:pt x="1352736" y="15101"/>
                </a:lnTo>
                <a:lnTo>
                  <a:pt x="1416195" y="21491"/>
                </a:lnTo>
                <a:lnTo>
                  <a:pt x="1477435" y="28903"/>
                </a:lnTo>
                <a:lnTo>
                  <a:pt x="1536285" y="37297"/>
                </a:lnTo>
                <a:lnTo>
                  <a:pt x="1592574" y="46630"/>
                </a:lnTo>
                <a:lnTo>
                  <a:pt x="1646132" y="56858"/>
                </a:lnTo>
                <a:lnTo>
                  <a:pt x="1696789" y="67939"/>
                </a:lnTo>
                <a:lnTo>
                  <a:pt x="1744374" y="79831"/>
                </a:lnTo>
                <a:lnTo>
                  <a:pt x="1788716" y="92491"/>
                </a:lnTo>
                <a:lnTo>
                  <a:pt x="1829645" y="105877"/>
                </a:lnTo>
                <a:lnTo>
                  <a:pt x="1866989" y="119945"/>
                </a:lnTo>
                <a:lnTo>
                  <a:pt x="1930244" y="149961"/>
                </a:lnTo>
                <a:lnTo>
                  <a:pt x="1977116" y="182197"/>
                </a:lnTo>
                <a:lnTo>
                  <a:pt x="2006240" y="216313"/>
                </a:lnTo>
                <a:lnTo>
                  <a:pt x="2016252" y="251967"/>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45" name="object 45"/>
          <p:cNvSpPr/>
          <p:nvPr/>
        </p:nvSpPr>
        <p:spPr>
          <a:xfrm>
            <a:off x="5292090" y="2674366"/>
            <a:ext cx="2016760" cy="2339340"/>
          </a:xfrm>
          <a:custGeom>
            <a:avLst/>
            <a:gdLst/>
            <a:ahLst/>
            <a:cxnLst/>
            <a:rect l="l" t="t" r="r" b="b"/>
            <a:pathLst>
              <a:path w="2016759" h="2339340">
                <a:moveTo>
                  <a:pt x="2016252" y="0"/>
                </a:moveTo>
                <a:lnTo>
                  <a:pt x="2016252" y="2086864"/>
                </a:lnTo>
                <a:lnTo>
                  <a:pt x="2013720" y="2104862"/>
                </a:lnTo>
                <a:lnTo>
                  <a:pt x="1993982" y="2139790"/>
                </a:lnTo>
                <a:lnTo>
                  <a:pt x="1955814" y="2173008"/>
                </a:lnTo>
                <a:lnTo>
                  <a:pt x="1900579" y="2204177"/>
                </a:lnTo>
                <a:lnTo>
                  <a:pt x="1829645" y="2232954"/>
                </a:lnTo>
                <a:lnTo>
                  <a:pt x="1788716" y="2246340"/>
                </a:lnTo>
                <a:lnTo>
                  <a:pt x="1744374" y="2259000"/>
                </a:lnTo>
                <a:lnTo>
                  <a:pt x="1696789" y="2270892"/>
                </a:lnTo>
                <a:lnTo>
                  <a:pt x="1646132" y="2281973"/>
                </a:lnTo>
                <a:lnTo>
                  <a:pt x="1592574" y="2292201"/>
                </a:lnTo>
                <a:lnTo>
                  <a:pt x="1536285" y="2301534"/>
                </a:lnTo>
                <a:lnTo>
                  <a:pt x="1477435" y="2309928"/>
                </a:lnTo>
                <a:lnTo>
                  <a:pt x="1416195" y="2317340"/>
                </a:lnTo>
                <a:lnTo>
                  <a:pt x="1352736" y="2323730"/>
                </a:lnTo>
                <a:lnTo>
                  <a:pt x="1287229" y="2329053"/>
                </a:lnTo>
                <a:lnTo>
                  <a:pt x="1219843" y="2333267"/>
                </a:lnTo>
                <a:lnTo>
                  <a:pt x="1150751" y="2336330"/>
                </a:lnTo>
                <a:lnTo>
                  <a:pt x="1080121" y="2338199"/>
                </a:lnTo>
                <a:lnTo>
                  <a:pt x="1008126" y="2338832"/>
                </a:lnTo>
                <a:lnTo>
                  <a:pt x="936130" y="2338199"/>
                </a:lnTo>
                <a:lnTo>
                  <a:pt x="865500" y="2336330"/>
                </a:lnTo>
                <a:lnTo>
                  <a:pt x="796408" y="2333267"/>
                </a:lnTo>
                <a:lnTo>
                  <a:pt x="729022" y="2329053"/>
                </a:lnTo>
                <a:lnTo>
                  <a:pt x="663515" y="2323730"/>
                </a:lnTo>
                <a:lnTo>
                  <a:pt x="600056" y="2317340"/>
                </a:lnTo>
                <a:lnTo>
                  <a:pt x="538816" y="2309928"/>
                </a:lnTo>
                <a:lnTo>
                  <a:pt x="479966" y="2301534"/>
                </a:lnTo>
                <a:lnTo>
                  <a:pt x="423677" y="2292201"/>
                </a:lnTo>
                <a:lnTo>
                  <a:pt x="370119" y="2281973"/>
                </a:lnTo>
                <a:lnTo>
                  <a:pt x="319462" y="2270892"/>
                </a:lnTo>
                <a:lnTo>
                  <a:pt x="271877" y="2259000"/>
                </a:lnTo>
                <a:lnTo>
                  <a:pt x="227535" y="2246340"/>
                </a:lnTo>
                <a:lnTo>
                  <a:pt x="186606" y="2232954"/>
                </a:lnTo>
                <a:lnTo>
                  <a:pt x="149262" y="2218886"/>
                </a:lnTo>
                <a:lnTo>
                  <a:pt x="86007" y="2188870"/>
                </a:lnTo>
                <a:lnTo>
                  <a:pt x="39135" y="2156634"/>
                </a:lnTo>
                <a:lnTo>
                  <a:pt x="10011" y="2122518"/>
                </a:lnTo>
                <a:lnTo>
                  <a:pt x="0" y="2086864"/>
                </a:lnTo>
                <a:lnTo>
                  <a:pt x="0" y="0"/>
                </a:lnTo>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46" name="object 46"/>
          <p:cNvSpPr txBox="1"/>
          <p:nvPr/>
        </p:nvSpPr>
        <p:spPr>
          <a:xfrm>
            <a:off x="5805932" y="3171571"/>
            <a:ext cx="918844"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BD</a:t>
            </a:r>
            <a:r>
              <a:rPr spc="-70" dirty="0">
                <a:solidFill>
                  <a:prstClr val="black"/>
                </a:solidFill>
                <a:cs typeface="Century Schoolbook"/>
              </a:rPr>
              <a:t> </a:t>
            </a:r>
            <a:r>
              <a:rPr spc="-5" dirty="0">
                <a:solidFill>
                  <a:prstClr val="black"/>
                </a:solidFill>
                <a:cs typeface="Century Schoolbook"/>
              </a:rPr>
              <a:t>cible</a:t>
            </a:r>
            <a:endParaRPr>
              <a:solidFill>
                <a:prstClr val="black"/>
              </a:solidFill>
              <a:cs typeface="Century Schoolbook"/>
            </a:endParaRPr>
          </a:p>
        </p:txBody>
      </p:sp>
      <p:graphicFrame>
        <p:nvGraphicFramePr>
          <p:cNvPr id="47" name="object 47"/>
          <p:cNvGraphicFramePr>
            <a:graphicFrameLocks noGrp="1"/>
          </p:cNvGraphicFramePr>
          <p:nvPr/>
        </p:nvGraphicFramePr>
        <p:xfrm>
          <a:off x="5717794" y="3710685"/>
          <a:ext cx="1155700" cy="1066798"/>
        </p:xfrm>
        <a:graphic>
          <a:graphicData uri="http://schemas.openxmlformats.org/drawingml/2006/table">
            <a:tbl>
              <a:tblPr firstRow="1" bandRow="1">
                <a:tableStyleId>{2D5ABB26-0587-4C30-8999-92F81FD0307C}</a:tableStyleId>
              </a:tblPr>
              <a:tblGrid>
                <a:gridCol w="288925"/>
                <a:gridCol w="288925"/>
                <a:gridCol w="288925"/>
                <a:gridCol w="288925"/>
              </a:tblGrid>
              <a:tr h="213359">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r>
              <a:tr h="213359">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r>
            </a:tbl>
          </a:graphicData>
        </a:graphic>
      </p:graphicFrame>
      <p:sp>
        <p:nvSpPr>
          <p:cNvPr id="48" name="object 48"/>
          <p:cNvSpPr/>
          <p:nvPr/>
        </p:nvSpPr>
        <p:spPr>
          <a:xfrm>
            <a:off x="3937634" y="3285744"/>
            <a:ext cx="1743075" cy="1079500"/>
          </a:xfrm>
          <a:custGeom>
            <a:avLst/>
            <a:gdLst/>
            <a:ahLst/>
            <a:cxnLst/>
            <a:rect l="l" t="t" r="r" b="b"/>
            <a:pathLst>
              <a:path w="1743075" h="1079500">
                <a:moveTo>
                  <a:pt x="1742566" y="809243"/>
                </a:moveTo>
                <a:lnTo>
                  <a:pt x="1203070" y="809243"/>
                </a:lnTo>
                <a:lnTo>
                  <a:pt x="1516761" y="1078991"/>
                </a:lnTo>
                <a:lnTo>
                  <a:pt x="1742566" y="809243"/>
                </a:lnTo>
                <a:close/>
              </a:path>
              <a:path w="1743075" h="1079500">
                <a:moveTo>
                  <a:pt x="269748" y="0"/>
                </a:moveTo>
                <a:lnTo>
                  <a:pt x="0" y="0"/>
                </a:lnTo>
                <a:lnTo>
                  <a:pt x="53811" y="810"/>
                </a:lnTo>
                <a:lnTo>
                  <a:pt x="107188" y="3225"/>
                </a:lnTo>
                <a:lnTo>
                  <a:pt x="160086" y="7217"/>
                </a:lnTo>
                <a:lnTo>
                  <a:pt x="212462" y="12760"/>
                </a:lnTo>
                <a:lnTo>
                  <a:pt x="264271" y="19827"/>
                </a:lnTo>
                <a:lnTo>
                  <a:pt x="315470" y="28392"/>
                </a:lnTo>
                <a:lnTo>
                  <a:pt x="366015" y="38429"/>
                </a:lnTo>
                <a:lnTo>
                  <a:pt x="415861" y="49910"/>
                </a:lnTo>
                <a:lnTo>
                  <a:pt x="464967" y="62810"/>
                </a:lnTo>
                <a:lnTo>
                  <a:pt x="513287" y="77101"/>
                </a:lnTo>
                <a:lnTo>
                  <a:pt x="560778" y="92758"/>
                </a:lnTo>
                <a:lnTo>
                  <a:pt x="607395" y="109754"/>
                </a:lnTo>
                <a:lnTo>
                  <a:pt x="653097" y="128063"/>
                </a:lnTo>
                <a:lnTo>
                  <a:pt x="697837" y="147657"/>
                </a:lnTo>
                <a:lnTo>
                  <a:pt x="741573" y="168510"/>
                </a:lnTo>
                <a:lnTo>
                  <a:pt x="784261" y="190597"/>
                </a:lnTo>
                <a:lnTo>
                  <a:pt x="825857" y="213890"/>
                </a:lnTo>
                <a:lnTo>
                  <a:pt x="866318" y="238362"/>
                </a:lnTo>
                <a:lnTo>
                  <a:pt x="905599" y="263988"/>
                </a:lnTo>
                <a:lnTo>
                  <a:pt x="943656" y="290741"/>
                </a:lnTo>
                <a:lnTo>
                  <a:pt x="980447" y="318595"/>
                </a:lnTo>
                <a:lnTo>
                  <a:pt x="1015926" y="347522"/>
                </a:lnTo>
                <a:lnTo>
                  <a:pt x="1050051" y="377497"/>
                </a:lnTo>
                <a:lnTo>
                  <a:pt x="1082777" y="408492"/>
                </a:lnTo>
                <a:lnTo>
                  <a:pt x="1114062" y="440482"/>
                </a:lnTo>
                <a:lnTo>
                  <a:pt x="1143860" y="473440"/>
                </a:lnTo>
                <a:lnTo>
                  <a:pt x="1172128" y="507339"/>
                </a:lnTo>
                <a:lnTo>
                  <a:pt x="1198823" y="542153"/>
                </a:lnTo>
                <a:lnTo>
                  <a:pt x="1223900" y="577856"/>
                </a:lnTo>
                <a:lnTo>
                  <a:pt x="1247316" y="614420"/>
                </a:lnTo>
                <a:lnTo>
                  <a:pt x="1269027" y="651820"/>
                </a:lnTo>
                <a:lnTo>
                  <a:pt x="1288989" y="690029"/>
                </a:lnTo>
                <a:lnTo>
                  <a:pt x="1307158" y="729020"/>
                </a:lnTo>
                <a:lnTo>
                  <a:pt x="1323492" y="768767"/>
                </a:lnTo>
                <a:lnTo>
                  <a:pt x="1337944" y="809243"/>
                </a:lnTo>
                <a:lnTo>
                  <a:pt x="1607692" y="809243"/>
                </a:lnTo>
                <a:lnTo>
                  <a:pt x="1593240" y="768767"/>
                </a:lnTo>
                <a:lnTo>
                  <a:pt x="1576906" y="729020"/>
                </a:lnTo>
                <a:lnTo>
                  <a:pt x="1558737" y="690029"/>
                </a:lnTo>
                <a:lnTo>
                  <a:pt x="1538775" y="651820"/>
                </a:lnTo>
                <a:lnTo>
                  <a:pt x="1517064" y="614420"/>
                </a:lnTo>
                <a:lnTo>
                  <a:pt x="1493648" y="577856"/>
                </a:lnTo>
                <a:lnTo>
                  <a:pt x="1468571" y="542153"/>
                </a:lnTo>
                <a:lnTo>
                  <a:pt x="1441876" y="507339"/>
                </a:lnTo>
                <a:lnTo>
                  <a:pt x="1413608" y="473440"/>
                </a:lnTo>
                <a:lnTo>
                  <a:pt x="1383810" y="440482"/>
                </a:lnTo>
                <a:lnTo>
                  <a:pt x="1352525" y="408492"/>
                </a:lnTo>
                <a:lnTo>
                  <a:pt x="1319799" y="377497"/>
                </a:lnTo>
                <a:lnTo>
                  <a:pt x="1285674" y="347522"/>
                </a:lnTo>
                <a:lnTo>
                  <a:pt x="1250195" y="318595"/>
                </a:lnTo>
                <a:lnTo>
                  <a:pt x="1213404" y="290741"/>
                </a:lnTo>
                <a:lnTo>
                  <a:pt x="1175347" y="263988"/>
                </a:lnTo>
                <a:lnTo>
                  <a:pt x="1136066" y="238362"/>
                </a:lnTo>
                <a:lnTo>
                  <a:pt x="1095605" y="213890"/>
                </a:lnTo>
                <a:lnTo>
                  <a:pt x="1054009" y="190597"/>
                </a:lnTo>
                <a:lnTo>
                  <a:pt x="1011321" y="168510"/>
                </a:lnTo>
                <a:lnTo>
                  <a:pt x="967585" y="147657"/>
                </a:lnTo>
                <a:lnTo>
                  <a:pt x="922845" y="128063"/>
                </a:lnTo>
                <a:lnTo>
                  <a:pt x="877143" y="109754"/>
                </a:lnTo>
                <a:lnTo>
                  <a:pt x="830526" y="92758"/>
                </a:lnTo>
                <a:lnTo>
                  <a:pt x="783035" y="77101"/>
                </a:lnTo>
                <a:lnTo>
                  <a:pt x="734715" y="62810"/>
                </a:lnTo>
                <a:lnTo>
                  <a:pt x="685609" y="49910"/>
                </a:lnTo>
                <a:lnTo>
                  <a:pt x="635763" y="38429"/>
                </a:lnTo>
                <a:lnTo>
                  <a:pt x="585218" y="28392"/>
                </a:lnTo>
                <a:lnTo>
                  <a:pt x="534019" y="19827"/>
                </a:lnTo>
                <a:lnTo>
                  <a:pt x="482210" y="12760"/>
                </a:lnTo>
                <a:lnTo>
                  <a:pt x="429834" y="7217"/>
                </a:lnTo>
                <a:lnTo>
                  <a:pt x="376936" y="3225"/>
                </a:lnTo>
                <a:lnTo>
                  <a:pt x="323559" y="810"/>
                </a:lnTo>
                <a:lnTo>
                  <a:pt x="269748" y="0"/>
                </a:lnTo>
                <a:close/>
              </a:path>
            </a:pathLst>
          </a:custGeom>
          <a:solidFill>
            <a:srgbClr val="006FC0"/>
          </a:solidFill>
        </p:spPr>
        <p:txBody>
          <a:bodyPr wrap="square" lIns="0" tIns="0" rIns="0" bIns="0" rtlCol="0"/>
          <a:lstStyle/>
          <a:p>
            <a:pPr defTabSz="914079"/>
            <a:endParaRPr>
              <a:solidFill>
                <a:prstClr val="black"/>
              </a:solidFill>
            </a:endParaRPr>
          </a:p>
        </p:txBody>
      </p:sp>
      <p:sp>
        <p:nvSpPr>
          <p:cNvPr id="49" name="object 49"/>
          <p:cNvSpPr/>
          <p:nvPr/>
        </p:nvSpPr>
        <p:spPr>
          <a:xfrm>
            <a:off x="2555748" y="3285744"/>
            <a:ext cx="1517015" cy="1079500"/>
          </a:xfrm>
          <a:custGeom>
            <a:avLst/>
            <a:gdLst/>
            <a:ahLst/>
            <a:cxnLst/>
            <a:rect l="l" t="t" r="r" b="b"/>
            <a:pathLst>
              <a:path w="1517014" h="1079500">
                <a:moveTo>
                  <a:pt x="1381887" y="0"/>
                </a:moveTo>
                <a:lnTo>
                  <a:pt x="1327628" y="816"/>
                </a:lnTo>
                <a:lnTo>
                  <a:pt x="1273900" y="3246"/>
                </a:lnTo>
                <a:lnTo>
                  <a:pt x="1220739" y="7259"/>
                </a:lnTo>
                <a:lnTo>
                  <a:pt x="1168185" y="12825"/>
                </a:lnTo>
                <a:lnTo>
                  <a:pt x="1116275" y="19915"/>
                </a:lnTo>
                <a:lnTo>
                  <a:pt x="1065049" y="28498"/>
                </a:lnTo>
                <a:lnTo>
                  <a:pt x="1014544" y="38544"/>
                </a:lnTo>
                <a:lnTo>
                  <a:pt x="964800" y="50023"/>
                </a:lnTo>
                <a:lnTo>
                  <a:pt x="915854" y="62906"/>
                </a:lnTo>
                <a:lnTo>
                  <a:pt x="867744" y="77162"/>
                </a:lnTo>
                <a:lnTo>
                  <a:pt x="820511" y="92762"/>
                </a:lnTo>
                <a:lnTo>
                  <a:pt x="774190" y="109674"/>
                </a:lnTo>
                <a:lnTo>
                  <a:pt x="728822" y="127870"/>
                </a:lnTo>
                <a:lnTo>
                  <a:pt x="684445" y="147319"/>
                </a:lnTo>
                <a:lnTo>
                  <a:pt x="641096" y="167992"/>
                </a:lnTo>
                <a:lnTo>
                  <a:pt x="598815" y="189858"/>
                </a:lnTo>
                <a:lnTo>
                  <a:pt x="557640" y="212888"/>
                </a:lnTo>
                <a:lnTo>
                  <a:pt x="517609" y="237050"/>
                </a:lnTo>
                <a:lnTo>
                  <a:pt x="478760" y="262317"/>
                </a:lnTo>
                <a:lnTo>
                  <a:pt x="441132" y="288656"/>
                </a:lnTo>
                <a:lnTo>
                  <a:pt x="404764" y="316039"/>
                </a:lnTo>
                <a:lnTo>
                  <a:pt x="369694" y="344435"/>
                </a:lnTo>
                <a:lnTo>
                  <a:pt x="335960" y="373815"/>
                </a:lnTo>
                <a:lnTo>
                  <a:pt x="303601" y="404148"/>
                </a:lnTo>
                <a:lnTo>
                  <a:pt x="272655" y="435405"/>
                </a:lnTo>
                <a:lnTo>
                  <a:pt x="243160" y="467555"/>
                </a:lnTo>
                <a:lnTo>
                  <a:pt x="215156" y="500569"/>
                </a:lnTo>
                <a:lnTo>
                  <a:pt x="188679" y="534415"/>
                </a:lnTo>
                <a:lnTo>
                  <a:pt x="163770" y="569066"/>
                </a:lnTo>
                <a:lnTo>
                  <a:pt x="140465" y="604490"/>
                </a:lnTo>
                <a:lnTo>
                  <a:pt x="118804" y="640657"/>
                </a:lnTo>
                <a:lnTo>
                  <a:pt x="98826" y="677538"/>
                </a:lnTo>
                <a:lnTo>
                  <a:pt x="80567" y="715103"/>
                </a:lnTo>
                <a:lnTo>
                  <a:pt x="64068" y="753321"/>
                </a:lnTo>
                <a:lnTo>
                  <a:pt x="49365" y="792162"/>
                </a:lnTo>
                <a:lnTo>
                  <a:pt x="36499" y="831597"/>
                </a:lnTo>
                <a:lnTo>
                  <a:pt x="25506" y="871596"/>
                </a:lnTo>
                <a:lnTo>
                  <a:pt x="16426" y="912128"/>
                </a:lnTo>
                <a:lnTo>
                  <a:pt x="9297" y="953163"/>
                </a:lnTo>
                <a:lnTo>
                  <a:pt x="4157" y="994672"/>
                </a:lnTo>
                <a:lnTo>
                  <a:pt x="1045" y="1036625"/>
                </a:lnTo>
                <a:lnTo>
                  <a:pt x="0" y="1078991"/>
                </a:lnTo>
                <a:lnTo>
                  <a:pt x="269747" y="1078991"/>
                </a:lnTo>
                <a:lnTo>
                  <a:pt x="270805" y="1036474"/>
                </a:lnTo>
                <a:lnTo>
                  <a:pt x="273954" y="994346"/>
                </a:lnTo>
                <a:lnTo>
                  <a:pt x="279155" y="952641"/>
                </a:lnTo>
                <a:lnTo>
                  <a:pt x="286372" y="911389"/>
                </a:lnTo>
                <a:lnTo>
                  <a:pt x="295567" y="870624"/>
                </a:lnTo>
                <a:lnTo>
                  <a:pt x="306702" y="830378"/>
                </a:lnTo>
                <a:lnTo>
                  <a:pt x="319740" y="790684"/>
                </a:lnTo>
                <a:lnTo>
                  <a:pt x="334643" y="751573"/>
                </a:lnTo>
                <a:lnTo>
                  <a:pt x="351374" y="713078"/>
                </a:lnTo>
                <a:lnTo>
                  <a:pt x="369895" y="675232"/>
                </a:lnTo>
                <a:lnTo>
                  <a:pt x="390168" y="638066"/>
                </a:lnTo>
                <a:lnTo>
                  <a:pt x="412156" y="601614"/>
                </a:lnTo>
                <a:lnTo>
                  <a:pt x="435821" y="565907"/>
                </a:lnTo>
                <a:lnTo>
                  <a:pt x="461126" y="530978"/>
                </a:lnTo>
                <a:lnTo>
                  <a:pt x="488033" y="496859"/>
                </a:lnTo>
                <a:lnTo>
                  <a:pt x="516505" y="463583"/>
                </a:lnTo>
                <a:lnTo>
                  <a:pt x="546504" y="431181"/>
                </a:lnTo>
                <a:lnTo>
                  <a:pt x="577992" y="399687"/>
                </a:lnTo>
                <a:lnTo>
                  <a:pt x="610932" y="369133"/>
                </a:lnTo>
                <a:lnTo>
                  <a:pt x="645287" y="339551"/>
                </a:lnTo>
                <a:lnTo>
                  <a:pt x="681018" y="310973"/>
                </a:lnTo>
                <a:lnTo>
                  <a:pt x="718088" y="283432"/>
                </a:lnTo>
                <a:lnTo>
                  <a:pt x="756460" y="256959"/>
                </a:lnTo>
                <a:lnTo>
                  <a:pt x="796096" y="231589"/>
                </a:lnTo>
                <a:lnTo>
                  <a:pt x="836958" y="207352"/>
                </a:lnTo>
                <a:lnTo>
                  <a:pt x="879009" y="184281"/>
                </a:lnTo>
                <a:lnTo>
                  <a:pt x="922211" y="162409"/>
                </a:lnTo>
                <a:lnTo>
                  <a:pt x="966527" y="141768"/>
                </a:lnTo>
                <a:lnTo>
                  <a:pt x="1011919" y="122390"/>
                </a:lnTo>
                <a:lnTo>
                  <a:pt x="1058350" y="104307"/>
                </a:lnTo>
                <a:lnTo>
                  <a:pt x="1105781" y="87553"/>
                </a:lnTo>
                <a:lnTo>
                  <a:pt x="1154177" y="72159"/>
                </a:lnTo>
                <a:lnTo>
                  <a:pt x="1203497" y="58157"/>
                </a:lnTo>
                <a:lnTo>
                  <a:pt x="1253706" y="45581"/>
                </a:lnTo>
                <a:lnTo>
                  <a:pt x="1304766" y="34462"/>
                </a:lnTo>
                <a:lnTo>
                  <a:pt x="1356639" y="24832"/>
                </a:lnTo>
                <a:lnTo>
                  <a:pt x="1409287" y="16725"/>
                </a:lnTo>
                <a:lnTo>
                  <a:pt x="1462674" y="10172"/>
                </a:lnTo>
                <a:lnTo>
                  <a:pt x="1516761" y="5206"/>
                </a:lnTo>
                <a:lnTo>
                  <a:pt x="1483113" y="2946"/>
                </a:lnTo>
                <a:lnTo>
                  <a:pt x="1449419" y="1317"/>
                </a:lnTo>
                <a:lnTo>
                  <a:pt x="1415676" y="331"/>
                </a:lnTo>
                <a:lnTo>
                  <a:pt x="1381887" y="0"/>
                </a:lnTo>
                <a:close/>
              </a:path>
            </a:pathLst>
          </a:custGeom>
          <a:solidFill>
            <a:srgbClr val="005A9A"/>
          </a:solidFill>
        </p:spPr>
        <p:txBody>
          <a:bodyPr wrap="square" lIns="0" tIns="0" rIns="0" bIns="0" rtlCol="0"/>
          <a:lstStyle/>
          <a:p>
            <a:pPr defTabSz="914079"/>
            <a:endParaRPr>
              <a:solidFill>
                <a:prstClr val="black"/>
              </a:solidFill>
            </a:endParaRPr>
          </a:p>
        </p:txBody>
      </p:sp>
      <p:sp>
        <p:nvSpPr>
          <p:cNvPr id="50" name="object 50"/>
          <p:cNvSpPr txBox="1"/>
          <p:nvPr/>
        </p:nvSpPr>
        <p:spPr>
          <a:xfrm>
            <a:off x="535940" y="1386078"/>
            <a:ext cx="6640195" cy="1921039"/>
          </a:xfrm>
          <a:prstGeom prst="rect">
            <a:avLst/>
          </a:prstGeom>
        </p:spPr>
        <p:txBody>
          <a:bodyPr vert="horz" wrap="square" lIns="0" tIns="12700" rIns="0" bIns="0" rtlCol="0">
            <a:spAutoFit/>
          </a:bodyPr>
          <a:lstStyle/>
          <a:p>
            <a:pPr marL="287020" indent="-274320" defTabSz="914079">
              <a:spcBef>
                <a:spcPts val="100"/>
              </a:spcBef>
              <a:buClr>
                <a:srgbClr val="FD8537"/>
              </a:buClr>
              <a:buSzPct val="68750"/>
              <a:buFont typeface="Wingdings"/>
              <a:buChar char=""/>
              <a:tabLst>
                <a:tab pos="287020" algn="l"/>
              </a:tabLst>
            </a:pPr>
            <a:r>
              <a:rPr sz="2400" spc="-5" dirty="0" err="1" smtClean="0">
                <a:solidFill>
                  <a:prstClr val="black"/>
                </a:solidFill>
                <a:cs typeface="Century Schoolbook"/>
              </a:rPr>
              <a:t>Transf</a:t>
            </a:r>
            <a:r>
              <a:rPr lang="fr-FR" sz="2400" spc="-5" dirty="0" err="1" smtClean="0">
                <a:solidFill>
                  <a:prstClr val="black"/>
                </a:solidFill>
                <a:cs typeface="Century Schoolbook"/>
              </a:rPr>
              <a:t>ert</a:t>
            </a:r>
            <a:r>
              <a:rPr sz="2400" spc="-5" dirty="0" smtClean="0">
                <a:solidFill>
                  <a:prstClr val="black"/>
                </a:solidFill>
                <a:cs typeface="Century Schoolbook"/>
              </a:rPr>
              <a:t> </a:t>
            </a:r>
            <a:r>
              <a:rPr sz="2400" spc="-5" dirty="0">
                <a:solidFill>
                  <a:prstClr val="black"/>
                </a:solidFill>
                <a:cs typeface="Century Schoolbook"/>
              </a:rPr>
              <a:t>d’une </a:t>
            </a:r>
            <a:r>
              <a:rPr sz="2400" dirty="0">
                <a:solidFill>
                  <a:prstClr val="black"/>
                </a:solidFill>
                <a:cs typeface="Century Schoolbook"/>
              </a:rPr>
              <a:t>relation </a:t>
            </a:r>
            <a:r>
              <a:rPr sz="2400" spc="-5" dirty="0">
                <a:solidFill>
                  <a:prstClr val="black"/>
                </a:solidFill>
                <a:cs typeface="Century Schoolbook"/>
              </a:rPr>
              <a:t>complète </a:t>
            </a:r>
            <a:r>
              <a:rPr sz="2400" dirty="0">
                <a:solidFill>
                  <a:prstClr val="black"/>
                </a:solidFill>
                <a:cs typeface="Century Schoolbook"/>
              </a:rPr>
              <a:t>sur un</a:t>
            </a:r>
            <a:r>
              <a:rPr sz="2400" spc="-114" dirty="0">
                <a:solidFill>
                  <a:prstClr val="black"/>
                </a:solidFill>
                <a:cs typeface="Century Schoolbook"/>
              </a:rPr>
              <a:t> </a:t>
            </a:r>
            <a:r>
              <a:rPr sz="2400" dirty="0">
                <a:solidFill>
                  <a:prstClr val="black"/>
                </a:solidFill>
                <a:cs typeface="Century Schoolbook"/>
              </a:rPr>
              <a:t>site</a:t>
            </a:r>
          </a:p>
          <a:p>
            <a:pPr marL="286385" defTabSz="914079"/>
            <a:r>
              <a:rPr sz="2400" spc="-5" dirty="0">
                <a:solidFill>
                  <a:prstClr val="black"/>
                </a:solidFill>
                <a:cs typeface="Century Schoolbook"/>
              </a:rPr>
              <a:t>distant</a:t>
            </a:r>
            <a:endParaRPr sz="2400" dirty="0">
              <a:solidFill>
                <a:prstClr val="black"/>
              </a:solidFill>
              <a:cs typeface="Century Schoolbook"/>
            </a:endParaRPr>
          </a:p>
          <a:p>
            <a:pPr defTabSz="914079"/>
            <a:endParaRPr sz="2900" dirty="0">
              <a:solidFill>
                <a:prstClr val="black"/>
              </a:solidFill>
              <a:latin typeface="Times New Roman"/>
              <a:cs typeface="Times New Roman"/>
            </a:endParaRPr>
          </a:p>
          <a:p>
            <a:pPr defTabSz="914079">
              <a:spcBef>
                <a:spcPts val="25"/>
              </a:spcBef>
            </a:pPr>
            <a:endParaRPr sz="2300" dirty="0">
              <a:solidFill>
                <a:prstClr val="black"/>
              </a:solidFill>
              <a:latin typeface="Times New Roman"/>
              <a:cs typeface="Times New Roman"/>
            </a:endParaRPr>
          </a:p>
          <a:p>
            <a:pPr marL="3307715" lvl="1" indent="-2747010" defTabSz="914079">
              <a:buSzPct val="95833"/>
              <a:buFontTx/>
              <a:buAutoNum type="arabicPeriod"/>
              <a:tabLst>
                <a:tab pos="3308350" algn="l"/>
              </a:tabLst>
            </a:pPr>
            <a:r>
              <a:rPr sz="2400" b="1" spc="-10" dirty="0">
                <a:solidFill>
                  <a:srgbClr val="006FC0"/>
                </a:solidFill>
                <a:cs typeface="Century Schoolbook"/>
              </a:rPr>
              <a:t>copie</a:t>
            </a:r>
            <a:endParaRPr sz="2400" dirty="0">
              <a:solidFill>
                <a:prstClr val="black"/>
              </a:solidFill>
              <a:cs typeface="Century Schoolbook"/>
            </a:endParaRPr>
          </a:p>
        </p:txBody>
      </p:sp>
      <p:sp>
        <p:nvSpPr>
          <p:cNvPr id="51" name="object 51"/>
          <p:cNvSpPr/>
          <p:nvPr/>
        </p:nvSpPr>
        <p:spPr>
          <a:xfrm>
            <a:off x="1187196" y="3788664"/>
            <a:ext cx="1152525" cy="1080135"/>
          </a:xfrm>
          <a:custGeom>
            <a:avLst/>
            <a:gdLst/>
            <a:ahLst/>
            <a:cxnLst/>
            <a:rect l="l" t="t" r="r" b="b"/>
            <a:pathLst>
              <a:path w="1152525" h="1080135">
                <a:moveTo>
                  <a:pt x="0" y="0"/>
                </a:moveTo>
                <a:lnTo>
                  <a:pt x="1152143" y="1080135"/>
                </a:lnTo>
              </a:path>
            </a:pathLst>
          </a:custGeom>
          <a:ln w="57912">
            <a:solidFill>
              <a:srgbClr val="FF0000"/>
            </a:solidFill>
          </a:ln>
        </p:spPr>
        <p:txBody>
          <a:bodyPr wrap="square" lIns="0" tIns="0" rIns="0" bIns="0" rtlCol="0"/>
          <a:lstStyle/>
          <a:p>
            <a:pPr defTabSz="914079"/>
            <a:endParaRPr>
              <a:solidFill>
                <a:prstClr val="black"/>
              </a:solidFill>
            </a:endParaRPr>
          </a:p>
        </p:txBody>
      </p:sp>
      <p:sp>
        <p:nvSpPr>
          <p:cNvPr id="52" name="object 52"/>
          <p:cNvSpPr/>
          <p:nvPr/>
        </p:nvSpPr>
        <p:spPr>
          <a:xfrm>
            <a:off x="1187196" y="3788664"/>
            <a:ext cx="1152525" cy="1080135"/>
          </a:xfrm>
          <a:custGeom>
            <a:avLst/>
            <a:gdLst/>
            <a:ahLst/>
            <a:cxnLst/>
            <a:rect l="l" t="t" r="r" b="b"/>
            <a:pathLst>
              <a:path w="1152525" h="1080135">
                <a:moveTo>
                  <a:pt x="0" y="1080135"/>
                </a:moveTo>
                <a:lnTo>
                  <a:pt x="1152143" y="0"/>
                </a:lnTo>
              </a:path>
            </a:pathLst>
          </a:custGeom>
          <a:ln w="57912">
            <a:solidFill>
              <a:srgbClr val="FF0000"/>
            </a:solidFill>
          </a:ln>
        </p:spPr>
        <p:txBody>
          <a:bodyPr wrap="square" lIns="0" tIns="0" rIns="0" bIns="0" rtlCol="0"/>
          <a:lstStyle/>
          <a:p>
            <a:pPr defTabSz="914079"/>
            <a:endParaRPr>
              <a:solidFill>
                <a:prstClr val="black"/>
              </a:solidFill>
            </a:endParaRPr>
          </a:p>
        </p:txBody>
      </p:sp>
      <p:sp>
        <p:nvSpPr>
          <p:cNvPr id="53" name="object 53"/>
          <p:cNvSpPr txBox="1"/>
          <p:nvPr/>
        </p:nvSpPr>
        <p:spPr>
          <a:xfrm>
            <a:off x="978509" y="5184724"/>
            <a:ext cx="2199640" cy="391795"/>
          </a:xfrm>
          <a:prstGeom prst="rect">
            <a:avLst/>
          </a:prstGeom>
        </p:spPr>
        <p:txBody>
          <a:bodyPr vert="horz" wrap="square" lIns="0" tIns="12700" rIns="0" bIns="0" rtlCol="0">
            <a:spAutoFit/>
          </a:bodyPr>
          <a:lstStyle/>
          <a:p>
            <a:pPr marL="12700" defTabSz="914079">
              <a:spcBef>
                <a:spcPts val="100"/>
              </a:spcBef>
            </a:pPr>
            <a:r>
              <a:rPr sz="2400" b="1" spc="-5" dirty="0">
                <a:solidFill>
                  <a:srgbClr val="FF0000"/>
                </a:solidFill>
                <a:cs typeface="Century Schoolbook"/>
              </a:rPr>
              <a:t>2.suppression</a:t>
            </a:r>
            <a:endParaRPr sz="2400">
              <a:solidFill>
                <a:prstClr val="black"/>
              </a:solidFill>
              <a:cs typeface="Century Schoolbook"/>
            </a:endParaRPr>
          </a:p>
        </p:txBody>
      </p:sp>
      <p:sp>
        <p:nvSpPr>
          <p:cNvPr id="54" name="object 54"/>
          <p:cNvSpPr txBox="1"/>
          <p:nvPr/>
        </p:nvSpPr>
        <p:spPr>
          <a:xfrm>
            <a:off x="762406" y="5744971"/>
            <a:ext cx="5774055" cy="912494"/>
          </a:xfrm>
          <a:prstGeom prst="rect">
            <a:avLst/>
          </a:prstGeom>
        </p:spPr>
        <p:txBody>
          <a:bodyPr vert="horz" wrap="square" lIns="0" tIns="90170" rIns="0" bIns="0" rtlCol="0">
            <a:spAutoFit/>
          </a:bodyPr>
          <a:lstStyle/>
          <a:p>
            <a:pPr marL="287020" indent="-274320" defTabSz="914079">
              <a:spcBef>
                <a:spcPts val="710"/>
              </a:spcBef>
              <a:buClr>
                <a:srgbClr val="FD8537"/>
              </a:buClr>
              <a:buSzPct val="68750"/>
              <a:buFont typeface="Wingdings"/>
              <a:buChar char=""/>
              <a:tabLst>
                <a:tab pos="287020" algn="l"/>
              </a:tabLst>
            </a:pPr>
            <a:r>
              <a:rPr sz="2400" b="1" dirty="0">
                <a:solidFill>
                  <a:prstClr val="black"/>
                </a:solidFill>
                <a:cs typeface="Century Schoolbook"/>
              </a:rPr>
              <a:t>Intérêt</a:t>
            </a:r>
            <a:endParaRPr sz="2400">
              <a:solidFill>
                <a:prstClr val="black"/>
              </a:solidFill>
              <a:cs typeface="Century Schoolbook"/>
            </a:endParaRPr>
          </a:p>
          <a:p>
            <a:pPr marL="743585" lvl="1" indent="-274320" defTabSz="914079">
              <a:spcBef>
                <a:spcPts val="615"/>
              </a:spcBef>
              <a:buClr>
                <a:srgbClr val="FD8537"/>
              </a:buClr>
              <a:buSzPct val="68750"/>
              <a:buFont typeface="Wingdings"/>
              <a:buChar char=""/>
              <a:tabLst>
                <a:tab pos="744220" algn="l"/>
              </a:tabLst>
            </a:pPr>
            <a:r>
              <a:rPr sz="2400" spc="-5" dirty="0">
                <a:solidFill>
                  <a:prstClr val="black"/>
                </a:solidFill>
                <a:cs typeface="Century Schoolbook"/>
              </a:rPr>
              <a:t>Rapprocher </a:t>
            </a:r>
            <a:r>
              <a:rPr sz="2400" dirty="0">
                <a:solidFill>
                  <a:prstClr val="black"/>
                </a:solidFill>
                <a:cs typeface="Century Schoolbook"/>
              </a:rPr>
              <a:t>les </a:t>
            </a:r>
            <a:r>
              <a:rPr sz="2400" spc="-5" dirty="0">
                <a:solidFill>
                  <a:prstClr val="black"/>
                </a:solidFill>
                <a:cs typeface="Century Schoolbook"/>
              </a:rPr>
              <a:t>données des</a:t>
            </a:r>
            <a:r>
              <a:rPr sz="2400" spc="-40" dirty="0">
                <a:solidFill>
                  <a:prstClr val="black"/>
                </a:solidFill>
                <a:cs typeface="Century Schoolbook"/>
              </a:rPr>
              <a:t> </a:t>
            </a:r>
            <a:r>
              <a:rPr sz="2400" spc="-5" dirty="0">
                <a:solidFill>
                  <a:prstClr val="black"/>
                </a:solidFill>
                <a:cs typeface="Century Schoolbook"/>
              </a:rPr>
              <a:t>besoins</a:t>
            </a:r>
            <a:endParaRPr sz="2400">
              <a:solidFill>
                <a:prstClr val="black"/>
              </a:solidFill>
              <a:cs typeface="Century Schoolbook"/>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4"/>
          <p:cNvSpPr txBox="1">
            <a:spLocks noGrp="1"/>
          </p:cNvSpPr>
          <p:nvPr>
            <p:ph type="title"/>
          </p:nvPr>
        </p:nvSpPr>
        <p:spPr>
          <a:xfrm>
            <a:off x="539552" y="404664"/>
            <a:ext cx="6945032" cy="474489"/>
          </a:xfrm>
          <a:prstGeom prst="rect">
            <a:avLst/>
          </a:prstGeom>
        </p:spPr>
        <p:txBody>
          <a:bodyPr vert="horz" wrap="square" lIns="0" tIns="12700" rIns="0" bIns="0" rtlCol="0">
            <a:spAutoFit/>
          </a:bodyPr>
          <a:lstStyle/>
          <a:p>
            <a:pPr marL="12700">
              <a:lnSpc>
                <a:spcPct val="100000"/>
              </a:lnSpc>
              <a:spcBef>
                <a:spcPts val="100"/>
              </a:spcBef>
            </a:pPr>
            <a:r>
              <a:rPr sz="3000" spc="-10" dirty="0"/>
              <a:t>R</a:t>
            </a:r>
            <a:r>
              <a:rPr spc="-10" dirty="0"/>
              <a:t>ÉPLICATION</a:t>
            </a:r>
            <a:r>
              <a:rPr sz="3000" spc="-10" dirty="0"/>
              <a:t>/D</a:t>
            </a:r>
            <a:r>
              <a:rPr spc="-10" dirty="0"/>
              <a:t>UPLICATION</a:t>
            </a:r>
            <a:endParaRPr sz="3000" dirty="0"/>
          </a:p>
        </p:txBody>
      </p:sp>
      <p:sp>
        <p:nvSpPr>
          <p:cNvPr id="5" name="object 5"/>
          <p:cNvSpPr txBox="1"/>
          <p:nvPr/>
        </p:nvSpPr>
        <p:spPr>
          <a:xfrm>
            <a:off x="8334247" y="6474663"/>
            <a:ext cx="229870" cy="239395"/>
          </a:xfrm>
          <a:prstGeom prst="rect">
            <a:avLst/>
          </a:prstGeom>
        </p:spPr>
        <p:txBody>
          <a:bodyPr vert="horz" wrap="square" lIns="0" tIns="12700" rIns="0" bIns="0" rtlCol="0">
            <a:spAutoFit/>
          </a:bodyPr>
          <a:lstStyle/>
          <a:p>
            <a:pPr marL="12700" defTabSz="914079">
              <a:spcBef>
                <a:spcPts val="100"/>
              </a:spcBef>
            </a:pPr>
            <a:r>
              <a:rPr sz="1400" b="1" spc="-5" dirty="0">
                <a:solidFill>
                  <a:prstClr val="black"/>
                </a:solidFill>
                <a:cs typeface="Century Schoolbook"/>
              </a:rPr>
              <a:t>36</a:t>
            </a:r>
            <a:endParaRPr sz="1400">
              <a:solidFill>
                <a:prstClr val="black"/>
              </a:solidFill>
              <a:cs typeface="Century Schoolbook"/>
            </a:endParaRPr>
          </a:p>
        </p:txBody>
      </p:sp>
      <p:sp>
        <p:nvSpPr>
          <p:cNvPr id="6" name="object 6"/>
          <p:cNvSpPr/>
          <p:nvPr/>
        </p:nvSpPr>
        <p:spPr>
          <a:xfrm>
            <a:off x="828294" y="2745994"/>
            <a:ext cx="2016760" cy="2340610"/>
          </a:xfrm>
          <a:custGeom>
            <a:avLst/>
            <a:gdLst/>
            <a:ahLst/>
            <a:cxnLst/>
            <a:rect l="l" t="t" r="r" b="b"/>
            <a:pathLst>
              <a:path w="2016760" h="2340610">
                <a:moveTo>
                  <a:pt x="0" y="0"/>
                </a:moveTo>
                <a:lnTo>
                  <a:pt x="0" y="2088260"/>
                </a:lnTo>
                <a:lnTo>
                  <a:pt x="2531" y="2106275"/>
                </a:lnTo>
                <a:lnTo>
                  <a:pt x="22269" y="2141231"/>
                </a:lnTo>
                <a:lnTo>
                  <a:pt x="60437" y="2174472"/>
                </a:lnTo>
                <a:lnTo>
                  <a:pt x="115672" y="2205658"/>
                </a:lnTo>
                <a:lnTo>
                  <a:pt x="186606" y="2234449"/>
                </a:lnTo>
                <a:lnTo>
                  <a:pt x="227535" y="2247841"/>
                </a:lnTo>
                <a:lnTo>
                  <a:pt x="271877" y="2260506"/>
                </a:lnTo>
                <a:lnTo>
                  <a:pt x="319462" y="2272402"/>
                </a:lnTo>
                <a:lnTo>
                  <a:pt x="370119" y="2283487"/>
                </a:lnTo>
                <a:lnTo>
                  <a:pt x="423677" y="2293718"/>
                </a:lnTo>
                <a:lnTo>
                  <a:pt x="479966" y="2303052"/>
                </a:lnTo>
                <a:lnTo>
                  <a:pt x="538816" y="2311448"/>
                </a:lnTo>
                <a:lnTo>
                  <a:pt x="600056" y="2318862"/>
                </a:lnTo>
                <a:lnTo>
                  <a:pt x="663515" y="2325252"/>
                </a:lnTo>
                <a:lnTo>
                  <a:pt x="729022" y="2330576"/>
                </a:lnTo>
                <a:lnTo>
                  <a:pt x="796408" y="2334791"/>
                </a:lnTo>
                <a:lnTo>
                  <a:pt x="865500" y="2337854"/>
                </a:lnTo>
                <a:lnTo>
                  <a:pt x="936130" y="2339723"/>
                </a:lnTo>
                <a:lnTo>
                  <a:pt x="1008126" y="2340355"/>
                </a:lnTo>
                <a:lnTo>
                  <a:pt x="1080121" y="2339723"/>
                </a:lnTo>
                <a:lnTo>
                  <a:pt x="1150751" y="2337854"/>
                </a:lnTo>
                <a:lnTo>
                  <a:pt x="1219843" y="2334791"/>
                </a:lnTo>
                <a:lnTo>
                  <a:pt x="1287229" y="2330576"/>
                </a:lnTo>
                <a:lnTo>
                  <a:pt x="1352736" y="2325252"/>
                </a:lnTo>
                <a:lnTo>
                  <a:pt x="1416195" y="2318862"/>
                </a:lnTo>
                <a:lnTo>
                  <a:pt x="1477435" y="2311448"/>
                </a:lnTo>
                <a:lnTo>
                  <a:pt x="1536285" y="2303052"/>
                </a:lnTo>
                <a:lnTo>
                  <a:pt x="1592574" y="2293718"/>
                </a:lnTo>
                <a:lnTo>
                  <a:pt x="1646132" y="2283487"/>
                </a:lnTo>
                <a:lnTo>
                  <a:pt x="1696789" y="2272402"/>
                </a:lnTo>
                <a:lnTo>
                  <a:pt x="1744374" y="2260506"/>
                </a:lnTo>
                <a:lnTo>
                  <a:pt x="1788716" y="2247841"/>
                </a:lnTo>
                <a:lnTo>
                  <a:pt x="1829645" y="2234449"/>
                </a:lnTo>
                <a:lnTo>
                  <a:pt x="1866989" y="2220374"/>
                </a:lnTo>
                <a:lnTo>
                  <a:pt x="1930244" y="2190343"/>
                </a:lnTo>
                <a:lnTo>
                  <a:pt x="1977116" y="2158087"/>
                </a:lnTo>
                <a:lnTo>
                  <a:pt x="2006240" y="2123946"/>
                </a:lnTo>
                <a:lnTo>
                  <a:pt x="2016252" y="2088260"/>
                </a:lnTo>
                <a:lnTo>
                  <a:pt x="2016252" y="252094"/>
                </a:lnTo>
                <a:lnTo>
                  <a:pt x="1008126" y="252094"/>
                </a:lnTo>
                <a:lnTo>
                  <a:pt x="936130" y="251462"/>
                </a:lnTo>
                <a:lnTo>
                  <a:pt x="865500" y="249593"/>
                </a:lnTo>
                <a:lnTo>
                  <a:pt x="796408" y="246530"/>
                </a:lnTo>
                <a:lnTo>
                  <a:pt x="729022" y="242315"/>
                </a:lnTo>
                <a:lnTo>
                  <a:pt x="663515" y="236991"/>
                </a:lnTo>
                <a:lnTo>
                  <a:pt x="600056" y="230601"/>
                </a:lnTo>
                <a:lnTo>
                  <a:pt x="538816" y="223187"/>
                </a:lnTo>
                <a:lnTo>
                  <a:pt x="479966" y="214791"/>
                </a:lnTo>
                <a:lnTo>
                  <a:pt x="423677" y="205457"/>
                </a:lnTo>
                <a:lnTo>
                  <a:pt x="370119" y="195226"/>
                </a:lnTo>
                <a:lnTo>
                  <a:pt x="319462" y="184141"/>
                </a:lnTo>
                <a:lnTo>
                  <a:pt x="271877" y="172245"/>
                </a:lnTo>
                <a:lnTo>
                  <a:pt x="227535" y="159580"/>
                </a:lnTo>
                <a:lnTo>
                  <a:pt x="186606" y="146188"/>
                </a:lnTo>
                <a:lnTo>
                  <a:pt x="149262" y="132113"/>
                </a:lnTo>
                <a:lnTo>
                  <a:pt x="86007" y="102082"/>
                </a:lnTo>
                <a:lnTo>
                  <a:pt x="39135" y="69826"/>
                </a:lnTo>
                <a:lnTo>
                  <a:pt x="10011" y="35685"/>
                </a:lnTo>
                <a:lnTo>
                  <a:pt x="2531" y="18014"/>
                </a:lnTo>
                <a:lnTo>
                  <a:pt x="0" y="0"/>
                </a:lnTo>
                <a:close/>
              </a:path>
              <a:path w="2016760" h="2340610">
                <a:moveTo>
                  <a:pt x="2016252" y="0"/>
                </a:moveTo>
                <a:lnTo>
                  <a:pt x="1993982" y="52970"/>
                </a:lnTo>
                <a:lnTo>
                  <a:pt x="1955814" y="86211"/>
                </a:lnTo>
                <a:lnTo>
                  <a:pt x="1900579" y="117397"/>
                </a:lnTo>
                <a:lnTo>
                  <a:pt x="1829645" y="146188"/>
                </a:lnTo>
                <a:lnTo>
                  <a:pt x="1788716" y="159580"/>
                </a:lnTo>
                <a:lnTo>
                  <a:pt x="1744374" y="172245"/>
                </a:lnTo>
                <a:lnTo>
                  <a:pt x="1696789" y="184141"/>
                </a:lnTo>
                <a:lnTo>
                  <a:pt x="1646132" y="195226"/>
                </a:lnTo>
                <a:lnTo>
                  <a:pt x="1592574" y="205457"/>
                </a:lnTo>
                <a:lnTo>
                  <a:pt x="1536285" y="214791"/>
                </a:lnTo>
                <a:lnTo>
                  <a:pt x="1477435" y="223187"/>
                </a:lnTo>
                <a:lnTo>
                  <a:pt x="1416195" y="230601"/>
                </a:lnTo>
                <a:lnTo>
                  <a:pt x="1352736" y="236991"/>
                </a:lnTo>
                <a:lnTo>
                  <a:pt x="1287229" y="242315"/>
                </a:lnTo>
                <a:lnTo>
                  <a:pt x="1219843" y="246530"/>
                </a:lnTo>
                <a:lnTo>
                  <a:pt x="1150751" y="249593"/>
                </a:lnTo>
                <a:lnTo>
                  <a:pt x="1080121" y="251462"/>
                </a:lnTo>
                <a:lnTo>
                  <a:pt x="1008126" y="252094"/>
                </a:lnTo>
                <a:lnTo>
                  <a:pt x="2016252" y="252094"/>
                </a:lnTo>
                <a:lnTo>
                  <a:pt x="2016252"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7" name="object 7"/>
          <p:cNvSpPr/>
          <p:nvPr/>
        </p:nvSpPr>
        <p:spPr>
          <a:xfrm>
            <a:off x="828294" y="2494026"/>
            <a:ext cx="2016760" cy="504190"/>
          </a:xfrm>
          <a:custGeom>
            <a:avLst/>
            <a:gdLst/>
            <a:ahLst/>
            <a:cxnLst/>
            <a:rect l="l" t="t" r="r" b="b"/>
            <a:pathLst>
              <a:path w="2016760" h="504189">
                <a:moveTo>
                  <a:pt x="1008126" y="0"/>
                </a:moveTo>
                <a:lnTo>
                  <a:pt x="936130" y="632"/>
                </a:lnTo>
                <a:lnTo>
                  <a:pt x="865500" y="2501"/>
                </a:lnTo>
                <a:lnTo>
                  <a:pt x="796408" y="5564"/>
                </a:lnTo>
                <a:lnTo>
                  <a:pt x="729022" y="9778"/>
                </a:lnTo>
                <a:lnTo>
                  <a:pt x="663515" y="15101"/>
                </a:lnTo>
                <a:lnTo>
                  <a:pt x="600056" y="21491"/>
                </a:lnTo>
                <a:lnTo>
                  <a:pt x="538816" y="28903"/>
                </a:lnTo>
                <a:lnTo>
                  <a:pt x="479966" y="37297"/>
                </a:lnTo>
                <a:lnTo>
                  <a:pt x="423677" y="46630"/>
                </a:lnTo>
                <a:lnTo>
                  <a:pt x="370119" y="56858"/>
                </a:lnTo>
                <a:lnTo>
                  <a:pt x="319462" y="67939"/>
                </a:lnTo>
                <a:lnTo>
                  <a:pt x="271877" y="79831"/>
                </a:lnTo>
                <a:lnTo>
                  <a:pt x="227535" y="92491"/>
                </a:lnTo>
                <a:lnTo>
                  <a:pt x="186606" y="105877"/>
                </a:lnTo>
                <a:lnTo>
                  <a:pt x="149262" y="119945"/>
                </a:lnTo>
                <a:lnTo>
                  <a:pt x="86007" y="149961"/>
                </a:lnTo>
                <a:lnTo>
                  <a:pt x="39135" y="182197"/>
                </a:lnTo>
                <a:lnTo>
                  <a:pt x="10011" y="216313"/>
                </a:lnTo>
                <a:lnTo>
                  <a:pt x="0" y="251968"/>
                </a:lnTo>
                <a:lnTo>
                  <a:pt x="2531" y="269982"/>
                </a:lnTo>
                <a:lnTo>
                  <a:pt x="22269" y="304938"/>
                </a:lnTo>
                <a:lnTo>
                  <a:pt x="60437" y="338179"/>
                </a:lnTo>
                <a:lnTo>
                  <a:pt x="115672" y="369365"/>
                </a:lnTo>
                <a:lnTo>
                  <a:pt x="186606" y="398156"/>
                </a:lnTo>
                <a:lnTo>
                  <a:pt x="227535" y="411548"/>
                </a:lnTo>
                <a:lnTo>
                  <a:pt x="271877" y="424213"/>
                </a:lnTo>
                <a:lnTo>
                  <a:pt x="319462" y="436109"/>
                </a:lnTo>
                <a:lnTo>
                  <a:pt x="370119" y="447194"/>
                </a:lnTo>
                <a:lnTo>
                  <a:pt x="423677" y="457425"/>
                </a:lnTo>
                <a:lnTo>
                  <a:pt x="479966" y="466759"/>
                </a:lnTo>
                <a:lnTo>
                  <a:pt x="538816" y="475155"/>
                </a:lnTo>
                <a:lnTo>
                  <a:pt x="600056" y="482569"/>
                </a:lnTo>
                <a:lnTo>
                  <a:pt x="663515" y="488959"/>
                </a:lnTo>
                <a:lnTo>
                  <a:pt x="729022" y="494283"/>
                </a:lnTo>
                <a:lnTo>
                  <a:pt x="796408" y="498498"/>
                </a:lnTo>
                <a:lnTo>
                  <a:pt x="865500" y="501561"/>
                </a:lnTo>
                <a:lnTo>
                  <a:pt x="936130" y="503430"/>
                </a:lnTo>
                <a:lnTo>
                  <a:pt x="1008126" y="504063"/>
                </a:lnTo>
                <a:lnTo>
                  <a:pt x="1080121" y="503430"/>
                </a:lnTo>
                <a:lnTo>
                  <a:pt x="1150751" y="501561"/>
                </a:lnTo>
                <a:lnTo>
                  <a:pt x="1219843" y="498498"/>
                </a:lnTo>
                <a:lnTo>
                  <a:pt x="1287229" y="494283"/>
                </a:lnTo>
                <a:lnTo>
                  <a:pt x="1352736" y="488959"/>
                </a:lnTo>
                <a:lnTo>
                  <a:pt x="1416195" y="482569"/>
                </a:lnTo>
                <a:lnTo>
                  <a:pt x="1477435" y="475155"/>
                </a:lnTo>
                <a:lnTo>
                  <a:pt x="1536285" y="466759"/>
                </a:lnTo>
                <a:lnTo>
                  <a:pt x="1592574" y="457425"/>
                </a:lnTo>
                <a:lnTo>
                  <a:pt x="1646132" y="447194"/>
                </a:lnTo>
                <a:lnTo>
                  <a:pt x="1696789" y="436109"/>
                </a:lnTo>
                <a:lnTo>
                  <a:pt x="1744374" y="424213"/>
                </a:lnTo>
                <a:lnTo>
                  <a:pt x="1788716" y="411548"/>
                </a:lnTo>
                <a:lnTo>
                  <a:pt x="1829645" y="398156"/>
                </a:lnTo>
                <a:lnTo>
                  <a:pt x="1866989" y="384081"/>
                </a:lnTo>
                <a:lnTo>
                  <a:pt x="1930244" y="354050"/>
                </a:lnTo>
                <a:lnTo>
                  <a:pt x="1977116" y="321794"/>
                </a:lnTo>
                <a:lnTo>
                  <a:pt x="2006240" y="287653"/>
                </a:lnTo>
                <a:lnTo>
                  <a:pt x="2016252" y="251968"/>
                </a:lnTo>
                <a:lnTo>
                  <a:pt x="2013720" y="233969"/>
                </a:lnTo>
                <a:lnTo>
                  <a:pt x="1993982" y="199041"/>
                </a:lnTo>
                <a:lnTo>
                  <a:pt x="1955814" y="165823"/>
                </a:lnTo>
                <a:lnTo>
                  <a:pt x="1900579" y="134654"/>
                </a:lnTo>
                <a:lnTo>
                  <a:pt x="1829645" y="105877"/>
                </a:lnTo>
                <a:lnTo>
                  <a:pt x="1788716" y="92491"/>
                </a:lnTo>
                <a:lnTo>
                  <a:pt x="1744374" y="79831"/>
                </a:lnTo>
                <a:lnTo>
                  <a:pt x="1696789" y="67939"/>
                </a:lnTo>
                <a:lnTo>
                  <a:pt x="1646132" y="56858"/>
                </a:lnTo>
                <a:lnTo>
                  <a:pt x="1592574" y="46630"/>
                </a:lnTo>
                <a:lnTo>
                  <a:pt x="1536285" y="37297"/>
                </a:lnTo>
                <a:lnTo>
                  <a:pt x="1477435" y="28903"/>
                </a:lnTo>
                <a:lnTo>
                  <a:pt x="1416195" y="21491"/>
                </a:lnTo>
                <a:lnTo>
                  <a:pt x="1352736" y="15101"/>
                </a:lnTo>
                <a:lnTo>
                  <a:pt x="1287229" y="9778"/>
                </a:lnTo>
                <a:lnTo>
                  <a:pt x="1219843" y="5564"/>
                </a:lnTo>
                <a:lnTo>
                  <a:pt x="1150751" y="2501"/>
                </a:lnTo>
                <a:lnTo>
                  <a:pt x="1080121" y="632"/>
                </a:lnTo>
                <a:lnTo>
                  <a:pt x="1008126" y="0"/>
                </a:lnTo>
                <a:close/>
              </a:path>
            </a:pathLst>
          </a:custGeom>
          <a:solidFill>
            <a:srgbClr val="FDB686"/>
          </a:solidFill>
        </p:spPr>
        <p:txBody>
          <a:bodyPr wrap="square" lIns="0" tIns="0" rIns="0" bIns="0" rtlCol="0"/>
          <a:lstStyle/>
          <a:p>
            <a:pPr defTabSz="914079"/>
            <a:endParaRPr>
              <a:solidFill>
                <a:prstClr val="black"/>
              </a:solidFill>
            </a:endParaRPr>
          </a:p>
        </p:txBody>
      </p:sp>
      <p:sp>
        <p:nvSpPr>
          <p:cNvPr id="8" name="object 8"/>
          <p:cNvSpPr/>
          <p:nvPr/>
        </p:nvSpPr>
        <p:spPr>
          <a:xfrm>
            <a:off x="828294" y="2494026"/>
            <a:ext cx="2016760" cy="504190"/>
          </a:xfrm>
          <a:custGeom>
            <a:avLst/>
            <a:gdLst/>
            <a:ahLst/>
            <a:cxnLst/>
            <a:rect l="l" t="t" r="r" b="b"/>
            <a:pathLst>
              <a:path w="2016760" h="504189">
                <a:moveTo>
                  <a:pt x="2016252" y="251968"/>
                </a:moveTo>
                <a:lnTo>
                  <a:pt x="1993982" y="304938"/>
                </a:lnTo>
                <a:lnTo>
                  <a:pt x="1955814" y="338179"/>
                </a:lnTo>
                <a:lnTo>
                  <a:pt x="1900579" y="369365"/>
                </a:lnTo>
                <a:lnTo>
                  <a:pt x="1829645" y="398156"/>
                </a:lnTo>
                <a:lnTo>
                  <a:pt x="1788716" y="411548"/>
                </a:lnTo>
                <a:lnTo>
                  <a:pt x="1744374" y="424213"/>
                </a:lnTo>
                <a:lnTo>
                  <a:pt x="1696789" y="436109"/>
                </a:lnTo>
                <a:lnTo>
                  <a:pt x="1646132" y="447194"/>
                </a:lnTo>
                <a:lnTo>
                  <a:pt x="1592574" y="457425"/>
                </a:lnTo>
                <a:lnTo>
                  <a:pt x="1536285" y="466759"/>
                </a:lnTo>
                <a:lnTo>
                  <a:pt x="1477435" y="475155"/>
                </a:lnTo>
                <a:lnTo>
                  <a:pt x="1416195" y="482569"/>
                </a:lnTo>
                <a:lnTo>
                  <a:pt x="1352736" y="488959"/>
                </a:lnTo>
                <a:lnTo>
                  <a:pt x="1287229" y="494283"/>
                </a:lnTo>
                <a:lnTo>
                  <a:pt x="1219843" y="498498"/>
                </a:lnTo>
                <a:lnTo>
                  <a:pt x="1150751" y="501561"/>
                </a:lnTo>
                <a:lnTo>
                  <a:pt x="1080121" y="503430"/>
                </a:lnTo>
                <a:lnTo>
                  <a:pt x="1008126" y="504063"/>
                </a:lnTo>
                <a:lnTo>
                  <a:pt x="936130" y="503430"/>
                </a:lnTo>
                <a:lnTo>
                  <a:pt x="865500" y="501561"/>
                </a:lnTo>
                <a:lnTo>
                  <a:pt x="796408" y="498498"/>
                </a:lnTo>
                <a:lnTo>
                  <a:pt x="729022" y="494283"/>
                </a:lnTo>
                <a:lnTo>
                  <a:pt x="663515" y="488959"/>
                </a:lnTo>
                <a:lnTo>
                  <a:pt x="600056" y="482569"/>
                </a:lnTo>
                <a:lnTo>
                  <a:pt x="538816" y="475155"/>
                </a:lnTo>
                <a:lnTo>
                  <a:pt x="479966" y="466759"/>
                </a:lnTo>
                <a:lnTo>
                  <a:pt x="423677" y="457425"/>
                </a:lnTo>
                <a:lnTo>
                  <a:pt x="370119" y="447194"/>
                </a:lnTo>
                <a:lnTo>
                  <a:pt x="319462" y="436109"/>
                </a:lnTo>
                <a:lnTo>
                  <a:pt x="271877" y="424213"/>
                </a:lnTo>
                <a:lnTo>
                  <a:pt x="227535" y="411548"/>
                </a:lnTo>
                <a:lnTo>
                  <a:pt x="186606" y="398156"/>
                </a:lnTo>
                <a:lnTo>
                  <a:pt x="149262" y="384081"/>
                </a:lnTo>
                <a:lnTo>
                  <a:pt x="86007" y="354050"/>
                </a:lnTo>
                <a:lnTo>
                  <a:pt x="39135" y="321794"/>
                </a:lnTo>
                <a:lnTo>
                  <a:pt x="10011" y="287653"/>
                </a:lnTo>
                <a:lnTo>
                  <a:pt x="0" y="251968"/>
                </a:lnTo>
                <a:lnTo>
                  <a:pt x="2531" y="233969"/>
                </a:lnTo>
                <a:lnTo>
                  <a:pt x="22269" y="199041"/>
                </a:lnTo>
                <a:lnTo>
                  <a:pt x="60437" y="165823"/>
                </a:lnTo>
                <a:lnTo>
                  <a:pt x="115672" y="134654"/>
                </a:lnTo>
                <a:lnTo>
                  <a:pt x="186606" y="105877"/>
                </a:lnTo>
                <a:lnTo>
                  <a:pt x="227535" y="92491"/>
                </a:lnTo>
                <a:lnTo>
                  <a:pt x="271877" y="79831"/>
                </a:lnTo>
                <a:lnTo>
                  <a:pt x="319462" y="67939"/>
                </a:lnTo>
                <a:lnTo>
                  <a:pt x="370119" y="56858"/>
                </a:lnTo>
                <a:lnTo>
                  <a:pt x="423677" y="46630"/>
                </a:lnTo>
                <a:lnTo>
                  <a:pt x="479966" y="37297"/>
                </a:lnTo>
                <a:lnTo>
                  <a:pt x="538816" y="28903"/>
                </a:lnTo>
                <a:lnTo>
                  <a:pt x="600056" y="21491"/>
                </a:lnTo>
                <a:lnTo>
                  <a:pt x="663515" y="15101"/>
                </a:lnTo>
                <a:lnTo>
                  <a:pt x="729022" y="9778"/>
                </a:lnTo>
                <a:lnTo>
                  <a:pt x="796408" y="5564"/>
                </a:lnTo>
                <a:lnTo>
                  <a:pt x="865500" y="2501"/>
                </a:lnTo>
                <a:lnTo>
                  <a:pt x="936130" y="632"/>
                </a:lnTo>
                <a:lnTo>
                  <a:pt x="1008126" y="0"/>
                </a:lnTo>
                <a:lnTo>
                  <a:pt x="1080121" y="632"/>
                </a:lnTo>
                <a:lnTo>
                  <a:pt x="1150751" y="2501"/>
                </a:lnTo>
                <a:lnTo>
                  <a:pt x="1219843" y="5564"/>
                </a:lnTo>
                <a:lnTo>
                  <a:pt x="1287229" y="9778"/>
                </a:lnTo>
                <a:lnTo>
                  <a:pt x="1352736" y="15101"/>
                </a:lnTo>
                <a:lnTo>
                  <a:pt x="1416195" y="21491"/>
                </a:lnTo>
                <a:lnTo>
                  <a:pt x="1477435" y="28903"/>
                </a:lnTo>
                <a:lnTo>
                  <a:pt x="1536285" y="37297"/>
                </a:lnTo>
                <a:lnTo>
                  <a:pt x="1592574" y="46630"/>
                </a:lnTo>
                <a:lnTo>
                  <a:pt x="1646132" y="56858"/>
                </a:lnTo>
                <a:lnTo>
                  <a:pt x="1696789" y="67939"/>
                </a:lnTo>
                <a:lnTo>
                  <a:pt x="1744374" y="79831"/>
                </a:lnTo>
                <a:lnTo>
                  <a:pt x="1788716" y="92491"/>
                </a:lnTo>
                <a:lnTo>
                  <a:pt x="1829645" y="105877"/>
                </a:lnTo>
                <a:lnTo>
                  <a:pt x="1866989" y="119945"/>
                </a:lnTo>
                <a:lnTo>
                  <a:pt x="1930244" y="149961"/>
                </a:lnTo>
                <a:lnTo>
                  <a:pt x="1977116" y="182197"/>
                </a:lnTo>
                <a:lnTo>
                  <a:pt x="2006240" y="216313"/>
                </a:lnTo>
                <a:lnTo>
                  <a:pt x="2016252" y="251968"/>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9" name="object 9"/>
          <p:cNvSpPr/>
          <p:nvPr/>
        </p:nvSpPr>
        <p:spPr>
          <a:xfrm>
            <a:off x="828294" y="2745994"/>
            <a:ext cx="2016760" cy="2340610"/>
          </a:xfrm>
          <a:custGeom>
            <a:avLst/>
            <a:gdLst/>
            <a:ahLst/>
            <a:cxnLst/>
            <a:rect l="l" t="t" r="r" b="b"/>
            <a:pathLst>
              <a:path w="2016760" h="2340610">
                <a:moveTo>
                  <a:pt x="2016252" y="0"/>
                </a:moveTo>
                <a:lnTo>
                  <a:pt x="2016252" y="2088260"/>
                </a:lnTo>
                <a:lnTo>
                  <a:pt x="2013720" y="2106275"/>
                </a:lnTo>
                <a:lnTo>
                  <a:pt x="1993982" y="2141231"/>
                </a:lnTo>
                <a:lnTo>
                  <a:pt x="1955814" y="2174472"/>
                </a:lnTo>
                <a:lnTo>
                  <a:pt x="1900579" y="2205658"/>
                </a:lnTo>
                <a:lnTo>
                  <a:pt x="1829645" y="2234449"/>
                </a:lnTo>
                <a:lnTo>
                  <a:pt x="1788716" y="2247841"/>
                </a:lnTo>
                <a:lnTo>
                  <a:pt x="1744374" y="2260506"/>
                </a:lnTo>
                <a:lnTo>
                  <a:pt x="1696789" y="2272402"/>
                </a:lnTo>
                <a:lnTo>
                  <a:pt x="1646132" y="2283487"/>
                </a:lnTo>
                <a:lnTo>
                  <a:pt x="1592574" y="2293718"/>
                </a:lnTo>
                <a:lnTo>
                  <a:pt x="1536285" y="2303052"/>
                </a:lnTo>
                <a:lnTo>
                  <a:pt x="1477435" y="2311448"/>
                </a:lnTo>
                <a:lnTo>
                  <a:pt x="1416195" y="2318862"/>
                </a:lnTo>
                <a:lnTo>
                  <a:pt x="1352736" y="2325252"/>
                </a:lnTo>
                <a:lnTo>
                  <a:pt x="1287229" y="2330576"/>
                </a:lnTo>
                <a:lnTo>
                  <a:pt x="1219843" y="2334791"/>
                </a:lnTo>
                <a:lnTo>
                  <a:pt x="1150751" y="2337854"/>
                </a:lnTo>
                <a:lnTo>
                  <a:pt x="1080121" y="2339723"/>
                </a:lnTo>
                <a:lnTo>
                  <a:pt x="1008126" y="2340355"/>
                </a:lnTo>
                <a:lnTo>
                  <a:pt x="936130" y="2339723"/>
                </a:lnTo>
                <a:lnTo>
                  <a:pt x="865500" y="2337854"/>
                </a:lnTo>
                <a:lnTo>
                  <a:pt x="796408" y="2334791"/>
                </a:lnTo>
                <a:lnTo>
                  <a:pt x="729022" y="2330576"/>
                </a:lnTo>
                <a:lnTo>
                  <a:pt x="663515" y="2325252"/>
                </a:lnTo>
                <a:lnTo>
                  <a:pt x="600056" y="2318862"/>
                </a:lnTo>
                <a:lnTo>
                  <a:pt x="538816" y="2311448"/>
                </a:lnTo>
                <a:lnTo>
                  <a:pt x="479966" y="2303052"/>
                </a:lnTo>
                <a:lnTo>
                  <a:pt x="423677" y="2293718"/>
                </a:lnTo>
                <a:lnTo>
                  <a:pt x="370119" y="2283487"/>
                </a:lnTo>
                <a:lnTo>
                  <a:pt x="319462" y="2272402"/>
                </a:lnTo>
                <a:lnTo>
                  <a:pt x="271877" y="2260506"/>
                </a:lnTo>
                <a:lnTo>
                  <a:pt x="227535" y="2247841"/>
                </a:lnTo>
                <a:lnTo>
                  <a:pt x="186606" y="2234449"/>
                </a:lnTo>
                <a:lnTo>
                  <a:pt x="149262" y="2220374"/>
                </a:lnTo>
                <a:lnTo>
                  <a:pt x="86007" y="2190343"/>
                </a:lnTo>
                <a:lnTo>
                  <a:pt x="39135" y="2158087"/>
                </a:lnTo>
                <a:lnTo>
                  <a:pt x="10011" y="2123946"/>
                </a:lnTo>
                <a:lnTo>
                  <a:pt x="0" y="2088260"/>
                </a:lnTo>
                <a:lnTo>
                  <a:pt x="0" y="0"/>
                </a:lnTo>
              </a:path>
            </a:pathLst>
          </a:custGeom>
          <a:ln w="25908">
            <a:solidFill>
              <a:srgbClr val="BA6025"/>
            </a:solidFill>
          </a:ln>
        </p:spPr>
        <p:txBody>
          <a:bodyPr wrap="square" lIns="0" tIns="0" rIns="0" bIns="0" rtlCol="0"/>
          <a:lstStyle/>
          <a:p>
            <a:pPr defTabSz="914079"/>
            <a:endParaRPr>
              <a:solidFill>
                <a:prstClr val="black"/>
              </a:solidFill>
            </a:endParaRPr>
          </a:p>
        </p:txBody>
      </p:sp>
      <p:graphicFrame>
        <p:nvGraphicFramePr>
          <p:cNvPr id="10" name="object 10"/>
          <p:cNvGraphicFramePr>
            <a:graphicFrameLocks noGrp="1"/>
          </p:cNvGraphicFramePr>
          <p:nvPr/>
        </p:nvGraphicFramePr>
        <p:xfrm>
          <a:off x="1181277" y="3782695"/>
          <a:ext cx="1155700" cy="1066798"/>
        </p:xfrm>
        <a:graphic>
          <a:graphicData uri="http://schemas.openxmlformats.org/drawingml/2006/table">
            <a:tbl>
              <a:tblPr firstRow="1" bandRow="1">
                <a:tableStyleId>{2D5ABB26-0587-4C30-8999-92F81FD0307C}</a:tableStyleId>
              </a:tblPr>
              <a:tblGrid>
                <a:gridCol w="288925"/>
                <a:gridCol w="288925"/>
                <a:gridCol w="288925"/>
                <a:gridCol w="288925"/>
              </a:tblGrid>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r>
              <a:tr h="213359">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r>
              <a:tr h="213359">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r>
            </a:tbl>
          </a:graphicData>
        </a:graphic>
      </p:graphicFrame>
      <p:sp>
        <p:nvSpPr>
          <p:cNvPr id="11" name="object 11"/>
          <p:cNvSpPr txBox="1"/>
          <p:nvPr/>
        </p:nvSpPr>
        <p:spPr>
          <a:xfrm>
            <a:off x="1052575" y="3243834"/>
            <a:ext cx="1494790"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BD</a:t>
            </a:r>
            <a:r>
              <a:rPr spc="-50" dirty="0">
                <a:solidFill>
                  <a:prstClr val="black"/>
                </a:solidFill>
                <a:cs typeface="Century Schoolbook"/>
              </a:rPr>
              <a:t> </a:t>
            </a:r>
            <a:r>
              <a:rPr spc="-5" dirty="0">
                <a:solidFill>
                  <a:prstClr val="black"/>
                </a:solidFill>
                <a:cs typeface="Century Schoolbook"/>
              </a:rPr>
              <a:t>principale</a:t>
            </a:r>
            <a:endParaRPr>
              <a:solidFill>
                <a:prstClr val="black"/>
              </a:solidFill>
              <a:cs typeface="Century Schoolbook"/>
            </a:endParaRPr>
          </a:p>
        </p:txBody>
      </p:sp>
      <p:sp>
        <p:nvSpPr>
          <p:cNvPr id="12" name="object 12"/>
          <p:cNvSpPr/>
          <p:nvPr/>
        </p:nvSpPr>
        <p:spPr>
          <a:xfrm>
            <a:off x="5292090" y="2674366"/>
            <a:ext cx="2016760" cy="2339340"/>
          </a:xfrm>
          <a:custGeom>
            <a:avLst/>
            <a:gdLst/>
            <a:ahLst/>
            <a:cxnLst/>
            <a:rect l="l" t="t" r="r" b="b"/>
            <a:pathLst>
              <a:path w="2016759" h="2339340">
                <a:moveTo>
                  <a:pt x="0" y="0"/>
                </a:moveTo>
                <a:lnTo>
                  <a:pt x="0" y="2086864"/>
                </a:lnTo>
                <a:lnTo>
                  <a:pt x="2531" y="2104862"/>
                </a:lnTo>
                <a:lnTo>
                  <a:pt x="22269" y="2139790"/>
                </a:lnTo>
                <a:lnTo>
                  <a:pt x="60437" y="2173008"/>
                </a:lnTo>
                <a:lnTo>
                  <a:pt x="115672" y="2204177"/>
                </a:lnTo>
                <a:lnTo>
                  <a:pt x="186606" y="2232954"/>
                </a:lnTo>
                <a:lnTo>
                  <a:pt x="227535" y="2246340"/>
                </a:lnTo>
                <a:lnTo>
                  <a:pt x="271877" y="2259000"/>
                </a:lnTo>
                <a:lnTo>
                  <a:pt x="319462" y="2270892"/>
                </a:lnTo>
                <a:lnTo>
                  <a:pt x="370119" y="2281973"/>
                </a:lnTo>
                <a:lnTo>
                  <a:pt x="423677" y="2292201"/>
                </a:lnTo>
                <a:lnTo>
                  <a:pt x="479966" y="2301534"/>
                </a:lnTo>
                <a:lnTo>
                  <a:pt x="538816" y="2309928"/>
                </a:lnTo>
                <a:lnTo>
                  <a:pt x="600056" y="2317340"/>
                </a:lnTo>
                <a:lnTo>
                  <a:pt x="663515" y="2323730"/>
                </a:lnTo>
                <a:lnTo>
                  <a:pt x="729022" y="2329053"/>
                </a:lnTo>
                <a:lnTo>
                  <a:pt x="796408" y="2333267"/>
                </a:lnTo>
                <a:lnTo>
                  <a:pt x="865500" y="2336330"/>
                </a:lnTo>
                <a:lnTo>
                  <a:pt x="936130" y="2338199"/>
                </a:lnTo>
                <a:lnTo>
                  <a:pt x="1008126" y="2338832"/>
                </a:lnTo>
                <a:lnTo>
                  <a:pt x="1080121" y="2338199"/>
                </a:lnTo>
                <a:lnTo>
                  <a:pt x="1150751" y="2336330"/>
                </a:lnTo>
                <a:lnTo>
                  <a:pt x="1219843" y="2333267"/>
                </a:lnTo>
                <a:lnTo>
                  <a:pt x="1287229" y="2329053"/>
                </a:lnTo>
                <a:lnTo>
                  <a:pt x="1352736" y="2323730"/>
                </a:lnTo>
                <a:lnTo>
                  <a:pt x="1416195" y="2317340"/>
                </a:lnTo>
                <a:lnTo>
                  <a:pt x="1477435" y="2309928"/>
                </a:lnTo>
                <a:lnTo>
                  <a:pt x="1536285" y="2301534"/>
                </a:lnTo>
                <a:lnTo>
                  <a:pt x="1592574" y="2292201"/>
                </a:lnTo>
                <a:lnTo>
                  <a:pt x="1646132" y="2281973"/>
                </a:lnTo>
                <a:lnTo>
                  <a:pt x="1696789" y="2270892"/>
                </a:lnTo>
                <a:lnTo>
                  <a:pt x="1744374" y="2259000"/>
                </a:lnTo>
                <a:lnTo>
                  <a:pt x="1788716" y="2246340"/>
                </a:lnTo>
                <a:lnTo>
                  <a:pt x="1829645" y="2232954"/>
                </a:lnTo>
                <a:lnTo>
                  <a:pt x="1866989" y="2218886"/>
                </a:lnTo>
                <a:lnTo>
                  <a:pt x="1930244" y="2188870"/>
                </a:lnTo>
                <a:lnTo>
                  <a:pt x="1977116" y="2156634"/>
                </a:lnTo>
                <a:lnTo>
                  <a:pt x="2006240" y="2122518"/>
                </a:lnTo>
                <a:lnTo>
                  <a:pt x="2016252" y="2086864"/>
                </a:lnTo>
                <a:lnTo>
                  <a:pt x="2016252" y="252095"/>
                </a:lnTo>
                <a:lnTo>
                  <a:pt x="1008126" y="252095"/>
                </a:lnTo>
                <a:lnTo>
                  <a:pt x="936130" y="251461"/>
                </a:lnTo>
                <a:lnTo>
                  <a:pt x="865500" y="249590"/>
                </a:lnTo>
                <a:lnTo>
                  <a:pt x="796408" y="246524"/>
                </a:lnTo>
                <a:lnTo>
                  <a:pt x="729022" y="242306"/>
                </a:lnTo>
                <a:lnTo>
                  <a:pt x="663515" y="236977"/>
                </a:lnTo>
                <a:lnTo>
                  <a:pt x="600056" y="230582"/>
                </a:lnTo>
                <a:lnTo>
                  <a:pt x="538816" y="223162"/>
                </a:lnTo>
                <a:lnTo>
                  <a:pt x="479966" y="214761"/>
                </a:lnTo>
                <a:lnTo>
                  <a:pt x="423677" y="205421"/>
                </a:lnTo>
                <a:lnTo>
                  <a:pt x="370119" y="195185"/>
                </a:lnTo>
                <a:lnTo>
                  <a:pt x="319462" y="184095"/>
                </a:lnTo>
                <a:lnTo>
                  <a:pt x="271877" y="172195"/>
                </a:lnTo>
                <a:lnTo>
                  <a:pt x="227535" y="159527"/>
                </a:lnTo>
                <a:lnTo>
                  <a:pt x="186606" y="146133"/>
                </a:lnTo>
                <a:lnTo>
                  <a:pt x="149262" y="132057"/>
                </a:lnTo>
                <a:lnTo>
                  <a:pt x="86007" y="102028"/>
                </a:lnTo>
                <a:lnTo>
                  <a:pt x="39135" y="69780"/>
                </a:lnTo>
                <a:lnTo>
                  <a:pt x="10011" y="35657"/>
                </a:lnTo>
                <a:lnTo>
                  <a:pt x="2531" y="17999"/>
                </a:lnTo>
                <a:lnTo>
                  <a:pt x="0" y="0"/>
                </a:lnTo>
                <a:close/>
              </a:path>
              <a:path w="2016759" h="2339340">
                <a:moveTo>
                  <a:pt x="2016252" y="0"/>
                </a:moveTo>
                <a:lnTo>
                  <a:pt x="1993982" y="52932"/>
                </a:lnTo>
                <a:lnTo>
                  <a:pt x="1955814" y="86160"/>
                </a:lnTo>
                <a:lnTo>
                  <a:pt x="1900579" y="117341"/>
                </a:lnTo>
                <a:lnTo>
                  <a:pt x="1829645" y="146133"/>
                </a:lnTo>
                <a:lnTo>
                  <a:pt x="1788716" y="159527"/>
                </a:lnTo>
                <a:lnTo>
                  <a:pt x="1744374" y="172195"/>
                </a:lnTo>
                <a:lnTo>
                  <a:pt x="1696789" y="184095"/>
                </a:lnTo>
                <a:lnTo>
                  <a:pt x="1646132" y="195185"/>
                </a:lnTo>
                <a:lnTo>
                  <a:pt x="1592574" y="205421"/>
                </a:lnTo>
                <a:lnTo>
                  <a:pt x="1536285" y="214761"/>
                </a:lnTo>
                <a:lnTo>
                  <a:pt x="1477435" y="223162"/>
                </a:lnTo>
                <a:lnTo>
                  <a:pt x="1416195" y="230582"/>
                </a:lnTo>
                <a:lnTo>
                  <a:pt x="1352736" y="236977"/>
                </a:lnTo>
                <a:lnTo>
                  <a:pt x="1287229" y="242306"/>
                </a:lnTo>
                <a:lnTo>
                  <a:pt x="1219843" y="246524"/>
                </a:lnTo>
                <a:lnTo>
                  <a:pt x="1150751" y="249590"/>
                </a:lnTo>
                <a:lnTo>
                  <a:pt x="1080121" y="251461"/>
                </a:lnTo>
                <a:lnTo>
                  <a:pt x="1008126" y="252095"/>
                </a:lnTo>
                <a:lnTo>
                  <a:pt x="2016252" y="252095"/>
                </a:lnTo>
                <a:lnTo>
                  <a:pt x="2016252" y="0"/>
                </a:lnTo>
                <a:close/>
              </a:path>
            </a:pathLst>
          </a:custGeom>
          <a:solidFill>
            <a:srgbClr val="FD8537"/>
          </a:solidFill>
        </p:spPr>
        <p:txBody>
          <a:bodyPr wrap="square" lIns="0" tIns="0" rIns="0" bIns="0" rtlCol="0"/>
          <a:lstStyle/>
          <a:p>
            <a:pPr defTabSz="914079"/>
            <a:endParaRPr>
              <a:solidFill>
                <a:prstClr val="black"/>
              </a:solidFill>
            </a:endParaRPr>
          </a:p>
        </p:txBody>
      </p:sp>
      <p:sp>
        <p:nvSpPr>
          <p:cNvPr id="13" name="object 13"/>
          <p:cNvSpPr/>
          <p:nvPr/>
        </p:nvSpPr>
        <p:spPr>
          <a:xfrm>
            <a:off x="5292090" y="2422398"/>
            <a:ext cx="2016760" cy="504190"/>
          </a:xfrm>
          <a:custGeom>
            <a:avLst/>
            <a:gdLst/>
            <a:ahLst/>
            <a:cxnLst/>
            <a:rect l="l" t="t" r="r" b="b"/>
            <a:pathLst>
              <a:path w="2016759" h="504189">
                <a:moveTo>
                  <a:pt x="1008126" y="0"/>
                </a:moveTo>
                <a:lnTo>
                  <a:pt x="936130" y="632"/>
                </a:lnTo>
                <a:lnTo>
                  <a:pt x="865500" y="2501"/>
                </a:lnTo>
                <a:lnTo>
                  <a:pt x="796408" y="5564"/>
                </a:lnTo>
                <a:lnTo>
                  <a:pt x="729022" y="9778"/>
                </a:lnTo>
                <a:lnTo>
                  <a:pt x="663515" y="15101"/>
                </a:lnTo>
                <a:lnTo>
                  <a:pt x="600056" y="21491"/>
                </a:lnTo>
                <a:lnTo>
                  <a:pt x="538816" y="28903"/>
                </a:lnTo>
                <a:lnTo>
                  <a:pt x="479966" y="37297"/>
                </a:lnTo>
                <a:lnTo>
                  <a:pt x="423677" y="46630"/>
                </a:lnTo>
                <a:lnTo>
                  <a:pt x="370119" y="56858"/>
                </a:lnTo>
                <a:lnTo>
                  <a:pt x="319462" y="67939"/>
                </a:lnTo>
                <a:lnTo>
                  <a:pt x="271877" y="79831"/>
                </a:lnTo>
                <a:lnTo>
                  <a:pt x="227535" y="92491"/>
                </a:lnTo>
                <a:lnTo>
                  <a:pt x="186606" y="105877"/>
                </a:lnTo>
                <a:lnTo>
                  <a:pt x="149262" y="119945"/>
                </a:lnTo>
                <a:lnTo>
                  <a:pt x="86007" y="149961"/>
                </a:lnTo>
                <a:lnTo>
                  <a:pt x="39135" y="182197"/>
                </a:lnTo>
                <a:lnTo>
                  <a:pt x="10011" y="216313"/>
                </a:lnTo>
                <a:lnTo>
                  <a:pt x="0" y="251967"/>
                </a:lnTo>
                <a:lnTo>
                  <a:pt x="2531" y="269967"/>
                </a:lnTo>
                <a:lnTo>
                  <a:pt x="22269" y="304900"/>
                </a:lnTo>
                <a:lnTo>
                  <a:pt x="60437" y="338128"/>
                </a:lnTo>
                <a:lnTo>
                  <a:pt x="115672" y="369309"/>
                </a:lnTo>
                <a:lnTo>
                  <a:pt x="186606" y="398101"/>
                </a:lnTo>
                <a:lnTo>
                  <a:pt x="227535" y="411495"/>
                </a:lnTo>
                <a:lnTo>
                  <a:pt x="271877" y="424163"/>
                </a:lnTo>
                <a:lnTo>
                  <a:pt x="319462" y="436063"/>
                </a:lnTo>
                <a:lnTo>
                  <a:pt x="370119" y="447153"/>
                </a:lnTo>
                <a:lnTo>
                  <a:pt x="423677" y="457389"/>
                </a:lnTo>
                <a:lnTo>
                  <a:pt x="479966" y="466729"/>
                </a:lnTo>
                <a:lnTo>
                  <a:pt x="538816" y="475130"/>
                </a:lnTo>
                <a:lnTo>
                  <a:pt x="600056" y="482550"/>
                </a:lnTo>
                <a:lnTo>
                  <a:pt x="663515" y="488945"/>
                </a:lnTo>
                <a:lnTo>
                  <a:pt x="729022" y="494274"/>
                </a:lnTo>
                <a:lnTo>
                  <a:pt x="796408" y="498492"/>
                </a:lnTo>
                <a:lnTo>
                  <a:pt x="865500" y="501558"/>
                </a:lnTo>
                <a:lnTo>
                  <a:pt x="936130" y="503429"/>
                </a:lnTo>
                <a:lnTo>
                  <a:pt x="1008126" y="504063"/>
                </a:lnTo>
                <a:lnTo>
                  <a:pt x="1080121" y="503429"/>
                </a:lnTo>
                <a:lnTo>
                  <a:pt x="1150751" y="501558"/>
                </a:lnTo>
                <a:lnTo>
                  <a:pt x="1219843" y="498492"/>
                </a:lnTo>
                <a:lnTo>
                  <a:pt x="1287229" y="494274"/>
                </a:lnTo>
                <a:lnTo>
                  <a:pt x="1352736" y="488945"/>
                </a:lnTo>
                <a:lnTo>
                  <a:pt x="1416195" y="482550"/>
                </a:lnTo>
                <a:lnTo>
                  <a:pt x="1477435" y="475130"/>
                </a:lnTo>
                <a:lnTo>
                  <a:pt x="1536285" y="466729"/>
                </a:lnTo>
                <a:lnTo>
                  <a:pt x="1592574" y="457389"/>
                </a:lnTo>
                <a:lnTo>
                  <a:pt x="1646132" y="447153"/>
                </a:lnTo>
                <a:lnTo>
                  <a:pt x="1696789" y="436063"/>
                </a:lnTo>
                <a:lnTo>
                  <a:pt x="1744374" y="424163"/>
                </a:lnTo>
                <a:lnTo>
                  <a:pt x="1788716" y="411495"/>
                </a:lnTo>
                <a:lnTo>
                  <a:pt x="1829645" y="398101"/>
                </a:lnTo>
                <a:lnTo>
                  <a:pt x="1866989" y="384025"/>
                </a:lnTo>
                <a:lnTo>
                  <a:pt x="1930244" y="353996"/>
                </a:lnTo>
                <a:lnTo>
                  <a:pt x="1977116" y="321748"/>
                </a:lnTo>
                <a:lnTo>
                  <a:pt x="2006240" y="287625"/>
                </a:lnTo>
                <a:lnTo>
                  <a:pt x="2016252" y="251967"/>
                </a:lnTo>
                <a:lnTo>
                  <a:pt x="2013720" y="233969"/>
                </a:lnTo>
                <a:lnTo>
                  <a:pt x="1993982" y="199041"/>
                </a:lnTo>
                <a:lnTo>
                  <a:pt x="1955814" y="165823"/>
                </a:lnTo>
                <a:lnTo>
                  <a:pt x="1900579" y="134654"/>
                </a:lnTo>
                <a:lnTo>
                  <a:pt x="1829645" y="105877"/>
                </a:lnTo>
                <a:lnTo>
                  <a:pt x="1788716" y="92491"/>
                </a:lnTo>
                <a:lnTo>
                  <a:pt x="1744374" y="79831"/>
                </a:lnTo>
                <a:lnTo>
                  <a:pt x="1696789" y="67939"/>
                </a:lnTo>
                <a:lnTo>
                  <a:pt x="1646132" y="56858"/>
                </a:lnTo>
                <a:lnTo>
                  <a:pt x="1592574" y="46630"/>
                </a:lnTo>
                <a:lnTo>
                  <a:pt x="1536285" y="37297"/>
                </a:lnTo>
                <a:lnTo>
                  <a:pt x="1477435" y="28903"/>
                </a:lnTo>
                <a:lnTo>
                  <a:pt x="1416195" y="21491"/>
                </a:lnTo>
                <a:lnTo>
                  <a:pt x="1352736" y="15101"/>
                </a:lnTo>
                <a:lnTo>
                  <a:pt x="1287229" y="9778"/>
                </a:lnTo>
                <a:lnTo>
                  <a:pt x="1219843" y="5564"/>
                </a:lnTo>
                <a:lnTo>
                  <a:pt x="1150751" y="2501"/>
                </a:lnTo>
                <a:lnTo>
                  <a:pt x="1080121" y="632"/>
                </a:lnTo>
                <a:lnTo>
                  <a:pt x="1008126" y="0"/>
                </a:lnTo>
                <a:close/>
              </a:path>
            </a:pathLst>
          </a:custGeom>
          <a:solidFill>
            <a:srgbClr val="FDB686"/>
          </a:solidFill>
        </p:spPr>
        <p:txBody>
          <a:bodyPr wrap="square" lIns="0" tIns="0" rIns="0" bIns="0" rtlCol="0"/>
          <a:lstStyle/>
          <a:p>
            <a:pPr defTabSz="914079"/>
            <a:endParaRPr>
              <a:solidFill>
                <a:prstClr val="black"/>
              </a:solidFill>
            </a:endParaRPr>
          </a:p>
        </p:txBody>
      </p:sp>
      <p:sp>
        <p:nvSpPr>
          <p:cNvPr id="14" name="object 14"/>
          <p:cNvSpPr/>
          <p:nvPr/>
        </p:nvSpPr>
        <p:spPr>
          <a:xfrm>
            <a:off x="5292090" y="2422398"/>
            <a:ext cx="2016760" cy="504190"/>
          </a:xfrm>
          <a:custGeom>
            <a:avLst/>
            <a:gdLst/>
            <a:ahLst/>
            <a:cxnLst/>
            <a:rect l="l" t="t" r="r" b="b"/>
            <a:pathLst>
              <a:path w="2016759" h="504189">
                <a:moveTo>
                  <a:pt x="2016252" y="251967"/>
                </a:moveTo>
                <a:lnTo>
                  <a:pt x="1993982" y="304900"/>
                </a:lnTo>
                <a:lnTo>
                  <a:pt x="1955814" y="338128"/>
                </a:lnTo>
                <a:lnTo>
                  <a:pt x="1900579" y="369309"/>
                </a:lnTo>
                <a:lnTo>
                  <a:pt x="1829645" y="398101"/>
                </a:lnTo>
                <a:lnTo>
                  <a:pt x="1788716" y="411495"/>
                </a:lnTo>
                <a:lnTo>
                  <a:pt x="1744374" y="424163"/>
                </a:lnTo>
                <a:lnTo>
                  <a:pt x="1696789" y="436063"/>
                </a:lnTo>
                <a:lnTo>
                  <a:pt x="1646132" y="447153"/>
                </a:lnTo>
                <a:lnTo>
                  <a:pt x="1592574" y="457389"/>
                </a:lnTo>
                <a:lnTo>
                  <a:pt x="1536285" y="466729"/>
                </a:lnTo>
                <a:lnTo>
                  <a:pt x="1477435" y="475130"/>
                </a:lnTo>
                <a:lnTo>
                  <a:pt x="1416195" y="482550"/>
                </a:lnTo>
                <a:lnTo>
                  <a:pt x="1352736" y="488945"/>
                </a:lnTo>
                <a:lnTo>
                  <a:pt x="1287229" y="494274"/>
                </a:lnTo>
                <a:lnTo>
                  <a:pt x="1219843" y="498492"/>
                </a:lnTo>
                <a:lnTo>
                  <a:pt x="1150751" y="501558"/>
                </a:lnTo>
                <a:lnTo>
                  <a:pt x="1080121" y="503429"/>
                </a:lnTo>
                <a:lnTo>
                  <a:pt x="1008126" y="504063"/>
                </a:lnTo>
                <a:lnTo>
                  <a:pt x="936130" y="503429"/>
                </a:lnTo>
                <a:lnTo>
                  <a:pt x="865500" y="501558"/>
                </a:lnTo>
                <a:lnTo>
                  <a:pt x="796408" y="498492"/>
                </a:lnTo>
                <a:lnTo>
                  <a:pt x="729022" y="494274"/>
                </a:lnTo>
                <a:lnTo>
                  <a:pt x="663515" y="488945"/>
                </a:lnTo>
                <a:lnTo>
                  <a:pt x="600056" y="482550"/>
                </a:lnTo>
                <a:lnTo>
                  <a:pt x="538816" y="475130"/>
                </a:lnTo>
                <a:lnTo>
                  <a:pt x="479966" y="466729"/>
                </a:lnTo>
                <a:lnTo>
                  <a:pt x="423677" y="457389"/>
                </a:lnTo>
                <a:lnTo>
                  <a:pt x="370119" y="447153"/>
                </a:lnTo>
                <a:lnTo>
                  <a:pt x="319462" y="436063"/>
                </a:lnTo>
                <a:lnTo>
                  <a:pt x="271877" y="424163"/>
                </a:lnTo>
                <a:lnTo>
                  <a:pt x="227535" y="411495"/>
                </a:lnTo>
                <a:lnTo>
                  <a:pt x="186606" y="398101"/>
                </a:lnTo>
                <a:lnTo>
                  <a:pt x="149262" y="384025"/>
                </a:lnTo>
                <a:lnTo>
                  <a:pt x="86007" y="353996"/>
                </a:lnTo>
                <a:lnTo>
                  <a:pt x="39135" y="321748"/>
                </a:lnTo>
                <a:lnTo>
                  <a:pt x="10011" y="287625"/>
                </a:lnTo>
                <a:lnTo>
                  <a:pt x="0" y="251967"/>
                </a:lnTo>
                <a:lnTo>
                  <a:pt x="2531" y="233969"/>
                </a:lnTo>
                <a:lnTo>
                  <a:pt x="22269" y="199041"/>
                </a:lnTo>
                <a:lnTo>
                  <a:pt x="60437" y="165823"/>
                </a:lnTo>
                <a:lnTo>
                  <a:pt x="115672" y="134654"/>
                </a:lnTo>
                <a:lnTo>
                  <a:pt x="186606" y="105877"/>
                </a:lnTo>
                <a:lnTo>
                  <a:pt x="227535" y="92491"/>
                </a:lnTo>
                <a:lnTo>
                  <a:pt x="271877" y="79831"/>
                </a:lnTo>
                <a:lnTo>
                  <a:pt x="319462" y="67939"/>
                </a:lnTo>
                <a:lnTo>
                  <a:pt x="370119" y="56858"/>
                </a:lnTo>
                <a:lnTo>
                  <a:pt x="423677" y="46630"/>
                </a:lnTo>
                <a:lnTo>
                  <a:pt x="479966" y="37297"/>
                </a:lnTo>
                <a:lnTo>
                  <a:pt x="538816" y="28903"/>
                </a:lnTo>
                <a:lnTo>
                  <a:pt x="600056" y="21491"/>
                </a:lnTo>
                <a:lnTo>
                  <a:pt x="663515" y="15101"/>
                </a:lnTo>
                <a:lnTo>
                  <a:pt x="729022" y="9778"/>
                </a:lnTo>
                <a:lnTo>
                  <a:pt x="796408" y="5564"/>
                </a:lnTo>
                <a:lnTo>
                  <a:pt x="865500" y="2501"/>
                </a:lnTo>
                <a:lnTo>
                  <a:pt x="936130" y="632"/>
                </a:lnTo>
                <a:lnTo>
                  <a:pt x="1008126" y="0"/>
                </a:lnTo>
                <a:lnTo>
                  <a:pt x="1080121" y="632"/>
                </a:lnTo>
                <a:lnTo>
                  <a:pt x="1150751" y="2501"/>
                </a:lnTo>
                <a:lnTo>
                  <a:pt x="1219843" y="5564"/>
                </a:lnTo>
                <a:lnTo>
                  <a:pt x="1287229" y="9778"/>
                </a:lnTo>
                <a:lnTo>
                  <a:pt x="1352736" y="15101"/>
                </a:lnTo>
                <a:lnTo>
                  <a:pt x="1416195" y="21491"/>
                </a:lnTo>
                <a:lnTo>
                  <a:pt x="1477435" y="28903"/>
                </a:lnTo>
                <a:lnTo>
                  <a:pt x="1536285" y="37297"/>
                </a:lnTo>
                <a:lnTo>
                  <a:pt x="1592574" y="46630"/>
                </a:lnTo>
                <a:lnTo>
                  <a:pt x="1646132" y="56858"/>
                </a:lnTo>
                <a:lnTo>
                  <a:pt x="1696789" y="67939"/>
                </a:lnTo>
                <a:lnTo>
                  <a:pt x="1744374" y="79831"/>
                </a:lnTo>
                <a:lnTo>
                  <a:pt x="1788716" y="92491"/>
                </a:lnTo>
                <a:lnTo>
                  <a:pt x="1829645" y="105877"/>
                </a:lnTo>
                <a:lnTo>
                  <a:pt x="1866989" y="119945"/>
                </a:lnTo>
                <a:lnTo>
                  <a:pt x="1930244" y="149961"/>
                </a:lnTo>
                <a:lnTo>
                  <a:pt x="1977116" y="182197"/>
                </a:lnTo>
                <a:lnTo>
                  <a:pt x="2006240" y="216313"/>
                </a:lnTo>
                <a:lnTo>
                  <a:pt x="2016252" y="251967"/>
                </a:lnTo>
                <a:close/>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15" name="object 15"/>
          <p:cNvSpPr/>
          <p:nvPr/>
        </p:nvSpPr>
        <p:spPr>
          <a:xfrm>
            <a:off x="5292090" y="2674366"/>
            <a:ext cx="2016760" cy="2339340"/>
          </a:xfrm>
          <a:custGeom>
            <a:avLst/>
            <a:gdLst/>
            <a:ahLst/>
            <a:cxnLst/>
            <a:rect l="l" t="t" r="r" b="b"/>
            <a:pathLst>
              <a:path w="2016759" h="2339340">
                <a:moveTo>
                  <a:pt x="2016252" y="0"/>
                </a:moveTo>
                <a:lnTo>
                  <a:pt x="2016252" y="2086864"/>
                </a:lnTo>
                <a:lnTo>
                  <a:pt x="2013720" y="2104862"/>
                </a:lnTo>
                <a:lnTo>
                  <a:pt x="1993982" y="2139790"/>
                </a:lnTo>
                <a:lnTo>
                  <a:pt x="1955814" y="2173008"/>
                </a:lnTo>
                <a:lnTo>
                  <a:pt x="1900579" y="2204177"/>
                </a:lnTo>
                <a:lnTo>
                  <a:pt x="1829645" y="2232954"/>
                </a:lnTo>
                <a:lnTo>
                  <a:pt x="1788716" y="2246340"/>
                </a:lnTo>
                <a:lnTo>
                  <a:pt x="1744374" y="2259000"/>
                </a:lnTo>
                <a:lnTo>
                  <a:pt x="1696789" y="2270892"/>
                </a:lnTo>
                <a:lnTo>
                  <a:pt x="1646132" y="2281973"/>
                </a:lnTo>
                <a:lnTo>
                  <a:pt x="1592574" y="2292201"/>
                </a:lnTo>
                <a:lnTo>
                  <a:pt x="1536285" y="2301534"/>
                </a:lnTo>
                <a:lnTo>
                  <a:pt x="1477435" y="2309928"/>
                </a:lnTo>
                <a:lnTo>
                  <a:pt x="1416195" y="2317340"/>
                </a:lnTo>
                <a:lnTo>
                  <a:pt x="1352736" y="2323730"/>
                </a:lnTo>
                <a:lnTo>
                  <a:pt x="1287229" y="2329053"/>
                </a:lnTo>
                <a:lnTo>
                  <a:pt x="1219843" y="2333267"/>
                </a:lnTo>
                <a:lnTo>
                  <a:pt x="1150751" y="2336330"/>
                </a:lnTo>
                <a:lnTo>
                  <a:pt x="1080121" y="2338199"/>
                </a:lnTo>
                <a:lnTo>
                  <a:pt x="1008126" y="2338832"/>
                </a:lnTo>
                <a:lnTo>
                  <a:pt x="936130" y="2338199"/>
                </a:lnTo>
                <a:lnTo>
                  <a:pt x="865500" y="2336330"/>
                </a:lnTo>
                <a:lnTo>
                  <a:pt x="796408" y="2333267"/>
                </a:lnTo>
                <a:lnTo>
                  <a:pt x="729022" y="2329053"/>
                </a:lnTo>
                <a:lnTo>
                  <a:pt x="663515" y="2323730"/>
                </a:lnTo>
                <a:lnTo>
                  <a:pt x="600056" y="2317340"/>
                </a:lnTo>
                <a:lnTo>
                  <a:pt x="538816" y="2309928"/>
                </a:lnTo>
                <a:lnTo>
                  <a:pt x="479966" y="2301534"/>
                </a:lnTo>
                <a:lnTo>
                  <a:pt x="423677" y="2292201"/>
                </a:lnTo>
                <a:lnTo>
                  <a:pt x="370119" y="2281973"/>
                </a:lnTo>
                <a:lnTo>
                  <a:pt x="319462" y="2270892"/>
                </a:lnTo>
                <a:lnTo>
                  <a:pt x="271877" y="2259000"/>
                </a:lnTo>
                <a:lnTo>
                  <a:pt x="227535" y="2246340"/>
                </a:lnTo>
                <a:lnTo>
                  <a:pt x="186606" y="2232954"/>
                </a:lnTo>
                <a:lnTo>
                  <a:pt x="149262" y="2218886"/>
                </a:lnTo>
                <a:lnTo>
                  <a:pt x="86007" y="2188870"/>
                </a:lnTo>
                <a:lnTo>
                  <a:pt x="39135" y="2156634"/>
                </a:lnTo>
                <a:lnTo>
                  <a:pt x="10011" y="2122518"/>
                </a:lnTo>
                <a:lnTo>
                  <a:pt x="0" y="2086864"/>
                </a:lnTo>
                <a:lnTo>
                  <a:pt x="0" y="0"/>
                </a:lnTo>
              </a:path>
            </a:pathLst>
          </a:custGeom>
          <a:ln w="25908">
            <a:solidFill>
              <a:srgbClr val="BA6025"/>
            </a:solidFill>
          </a:ln>
        </p:spPr>
        <p:txBody>
          <a:bodyPr wrap="square" lIns="0" tIns="0" rIns="0" bIns="0" rtlCol="0"/>
          <a:lstStyle/>
          <a:p>
            <a:pPr defTabSz="914079"/>
            <a:endParaRPr>
              <a:solidFill>
                <a:prstClr val="black"/>
              </a:solidFill>
            </a:endParaRPr>
          </a:p>
        </p:txBody>
      </p:sp>
      <p:sp>
        <p:nvSpPr>
          <p:cNvPr id="16" name="object 16"/>
          <p:cNvSpPr txBox="1"/>
          <p:nvPr/>
        </p:nvSpPr>
        <p:spPr>
          <a:xfrm>
            <a:off x="5487415" y="3171571"/>
            <a:ext cx="1553845"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BD</a:t>
            </a:r>
            <a:r>
              <a:rPr spc="-50" dirty="0">
                <a:solidFill>
                  <a:prstClr val="black"/>
                </a:solidFill>
                <a:cs typeface="Century Schoolbook"/>
              </a:rPr>
              <a:t> </a:t>
            </a:r>
            <a:r>
              <a:rPr spc="-5" dirty="0">
                <a:solidFill>
                  <a:prstClr val="black"/>
                </a:solidFill>
                <a:cs typeface="Century Schoolbook"/>
              </a:rPr>
              <a:t>secondaire</a:t>
            </a:r>
            <a:endParaRPr>
              <a:solidFill>
                <a:prstClr val="black"/>
              </a:solidFill>
              <a:cs typeface="Century Schoolbook"/>
            </a:endParaRPr>
          </a:p>
        </p:txBody>
      </p:sp>
      <p:graphicFrame>
        <p:nvGraphicFramePr>
          <p:cNvPr id="17" name="object 17"/>
          <p:cNvGraphicFramePr>
            <a:graphicFrameLocks noGrp="1"/>
          </p:cNvGraphicFramePr>
          <p:nvPr/>
        </p:nvGraphicFramePr>
        <p:xfrm>
          <a:off x="5717794" y="3710685"/>
          <a:ext cx="1155700" cy="1066798"/>
        </p:xfrm>
        <a:graphic>
          <a:graphicData uri="http://schemas.openxmlformats.org/drawingml/2006/table">
            <a:tbl>
              <a:tblPr firstRow="1" bandRow="1">
                <a:tableStyleId>{2D5ABB26-0587-4C30-8999-92F81FD0307C}</a:tableStyleId>
              </a:tblPr>
              <a:tblGrid>
                <a:gridCol w="288925"/>
                <a:gridCol w="288925"/>
                <a:gridCol w="288925"/>
                <a:gridCol w="288925"/>
              </a:tblGrid>
              <a:tr h="213359">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597D9"/>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5DDF0"/>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r>
              <a:tr h="213359">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5DDF0"/>
                    </a:solidFill>
                  </a:tcPr>
                </a:tc>
              </a:tr>
              <a:tr h="21336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EF8"/>
                    </a:solidFill>
                  </a:tcPr>
                </a:tc>
              </a:tr>
            </a:tbl>
          </a:graphicData>
        </a:graphic>
      </p:graphicFrame>
      <p:sp>
        <p:nvSpPr>
          <p:cNvPr id="18" name="object 18"/>
          <p:cNvSpPr/>
          <p:nvPr/>
        </p:nvSpPr>
        <p:spPr>
          <a:xfrm>
            <a:off x="3937634" y="3285744"/>
            <a:ext cx="1743075" cy="1079500"/>
          </a:xfrm>
          <a:custGeom>
            <a:avLst/>
            <a:gdLst/>
            <a:ahLst/>
            <a:cxnLst/>
            <a:rect l="l" t="t" r="r" b="b"/>
            <a:pathLst>
              <a:path w="1743075" h="1079500">
                <a:moveTo>
                  <a:pt x="1742566" y="809243"/>
                </a:moveTo>
                <a:lnTo>
                  <a:pt x="1203070" y="809243"/>
                </a:lnTo>
                <a:lnTo>
                  <a:pt x="1516761" y="1078991"/>
                </a:lnTo>
                <a:lnTo>
                  <a:pt x="1742566" y="809243"/>
                </a:lnTo>
                <a:close/>
              </a:path>
              <a:path w="1743075" h="1079500">
                <a:moveTo>
                  <a:pt x="269748" y="0"/>
                </a:moveTo>
                <a:lnTo>
                  <a:pt x="0" y="0"/>
                </a:lnTo>
                <a:lnTo>
                  <a:pt x="53811" y="810"/>
                </a:lnTo>
                <a:lnTo>
                  <a:pt x="107188" y="3225"/>
                </a:lnTo>
                <a:lnTo>
                  <a:pt x="160086" y="7217"/>
                </a:lnTo>
                <a:lnTo>
                  <a:pt x="212462" y="12760"/>
                </a:lnTo>
                <a:lnTo>
                  <a:pt x="264271" y="19827"/>
                </a:lnTo>
                <a:lnTo>
                  <a:pt x="315470" y="28392"/>
                </a:lnTo>
                <a:lnTo>
                  <a:pt x="366015" y="38429"/>
                </a:lnTo>
                <a:lnTo>
                  <a:pt x="415861" y="49910"/>
                </a:lnTo>
                <a:lnTo>
                  <a:pt x="464967" y="62810"/>
                </a:lnTo>
                <a:lnTo>
                  <a:pt x="513287" y="77101"/>
                </a:lnTo>
                <a:lnTo>
                  <a:pt x="560778" y="92758"/>
                </a:lnTo>
                <a:lnTo>
                  <a:pt x="607395" y="109754"/>
                </a:lnTo>
                <a:lnTo>
                  <a:pt x="653097" y="128063"/>
                </a:lnTo>
                <a:lnTo>
                  <a:pt x="697837" y="147657"/>
                </a:lnTo>
                <a:lnTo>
                  <a:pt x="741573" y="168510"/>
                </a:lnTo>
                <a:lnTo>
                  <a:pt x="784261" y="190597"/>
                </a:lnTo>
                <a:lnTo>
                  <a:pt x="825857" y="213890"/>
                </a:lnTo>
                <a:lnTo>
                  <a:pt x="866318" y="238362"/>
                </a:lnTo>
                <a:lnTo>
                  <a:pt x="905599" y="263988"/>
                </a:lnTo>
                <a:lnTo>
                  <a:pt x="943656" y="290741"/>
                </a:lnTo>
                <a:lnTo>
                  <a:pt x="980447" y="318595"/>
                </a:lnTo>
                <a:lnTo>
                  <a:pt x="1015926" y="347522"/>
                </a:lnTo>
                <a:lnTo>
                  <a:pt x="1050051" y="377497"/>
                </a:lnTo>
                <a:lnTo>
                  <a:pt x="1082777" y="408492"/>
                </a:lnTo>
                <a:lnTo>
                  <a:pt x="1114062" y="440482"/>
                </a:lnTo>
                <a:lnTo>
                  <a:pt x="1143860" y="473440"/>
                </a:lnTo>
                <a:lnTo>
                  <a:pt x="1172128" y="507339"/>
                </a:lnTo>
                <a:lnTo>
                  <a:pt x="1198823" y="542153"/>
                </a:lnTo>
                <a:lnTo>
                  <a:pt x="1223900" y="577856"/>
                </a:lnTo>
                <a:lnTo>
                  <a:pt x="1247316" y="614420"/>
                </a:lnTo>
                <a:lnTo>
                  <a:pt x="1269027" y="651820"/>
                </a:lnTo>
                <a:lnTo>
                  <a:pt x="1288989" y="690029"/>
                </a:lnTo>
                <a:lnTo>
                  <a:pt x="1307158" y="729020"/>
                </a:lnTo>
                <a:lnTo>
                  <a:pt x="1323492" y="768767"/>
                </a:lnTo>
                <a:lnTo>
                  <a:pt x="1337944" y="809243"/>
                </a:lnTo>
                <a:lnTo>
                  <a:pt x="1607692" y="809243"/>
                </a:lnTo>
                <a:lnTo>
                  <a:pt x="1593240" y="768767"/>
                </a:lnTo>
                <a:lnTo>
                  <a:pt x="1576906" y="729020"/>
                </a:lnTo>
                <a:lnTo>
                  <a:pt x="1558737" y="690029"/>
                </a:lnTo>
                <a:lnTo>
                  <a:pt x="1538775" y="651820"/>
                </a:lnTo>
                <a:lnTo>
                  <a:pt x="1517064" y="614420"/>
                </a:lnTo>
                <a:lnTo>
                  <a:pt x="1493648" y="577856"/>
                </a:lnTo>
                <a:lnTo>
                  <a:pt x="1468571" y="542153"/>
                </a:lnTo>
                <a:lnTo>
                  <a:pt x="1441876" y="507339"/>
                </a:lnTo>
                <a:lnTo>
                  <a:pt x="1413608" y="473440"/>
                </a:lnTo>
                <a:lnTo>
                  <a:pt x="1383810" y="440482"/>
                </a:lnTo>
                <a:lnTo>
                  <a:pt x="1352525" y="408492"/>
                </a:lnTo>
                <a:lnTo>
                  <a:pt x="1319799" y="377497"/>
                </a:lnTo>
                <a:lnTo>
                  <a:pt x="1285674" y="347522"/>
                </a:lnTo>
                <a:lnTo>
                  <a:pt x="1250195" y="318595"/>
                </a:lnTo>
                <a:lnTo>
                  <a:pt x="1213404" y="290741"/>
                </a:lnTo>
                <a:lnTo>
                  <a:pt x="1175347" y="263988"/>
                </a:lnTo>
                <a:lnTo>
                  <a:pt x="1136066" y="238362"/>
                </a:lnTo>
                <a:lnTo>
                  <a:pt x="1095605" y="213890"/>
                </a:lnTo>
                <a:lnTo>
                  <a:pt x="1054009" y="190597"/>
                </a:lnTo>
                <a:lnTo>
                  <a:pt x="1011321" y="168510"/>
                </a:lnTo>
                <a:lnTo>
                  <a:pt x="967585" y="147657"/>
                </a:lnTo>
                <a:lnTo>
                  <a:pt x="922845" y="128063"/>
                </a:lnTo>
                <a:lnTo>
                  <a:pt x="877143" y="109754"/>
                </a:lnTo>
                <a:lnTo>
                  <a:pt x="830526" y="92758"/>
                </a:lnTo>
                <a:lnTo>
                  <a:pt x="783035" y="77101"/>
                </a:lnTo>
                <a:lnTo>
                  <a:pt x="734715" y="62810"/>
                </a:lnTo>
                <a:lnTo>
                  <a:pt x="685609" y="49910"/>
                </a:lnTo>
                <a:lnTo>
                  <a:pt x="635763" y="38429"/>
                </a:lnTo>
                <a:lnTo>
                  <a:pt x="585218" y="28392"/>
                </a:lnTo>
                <a:lnTo>
                  <a:pt x="534019" y="19827"/>
                </a:lnTo>
                <a:lnTo>
                  <a:pt x="482210" y="12760"/>
                </a:lnTo>
                <a:lnTo>
                  <a:pt x="429834" y="7217"/>
                </a:lnTo>
                <a:lnTo>
                  <a:pt x="376936" y="3225"/>
                </a:lnTo>
                <a:lnTo>
                  <a:pt x="323559" y="810"/>
                </a:lnTo>
                <a:lnTo>
                  <a:pt x="269748" y="0"/>
                </a:lnTo>
                <a:close/>
              </a:path>
            </a:pathLst>
          </a:custGeom>
          <a:solidFill>
            <a:srgbClr val="006FC0"/>
          </a:solidFill>
        </p:spPr>
        <p:txBody>
          <a:bodyPr wrap="square" lIns="0" tIns="0" rIns="0" bIns="0" rtlCol="0"/>
          <a:lstStyle/>
          <a:p>
            <a:pPr defTabSz="914079"/>
            <a:endParaRPr>
              <a:solidFill>
                <a:prstClr val="black"/>
              </a:solidFill>
            </a:endParaRPr>
          </a:p>
        </p:txBody>
      </p:sp>
      <p:sp>
        <p:nvSpPr>
          <p:cNvPr id="19" name="object 19"/>
          <p:cNvSpPr/>
          <p:nvPr/>
        </p:nvSpPr>
        <p:spPr>
          <a:xfrm>
            <a:off x="2555748" y="3285744"/>
            <a:ext cx="1517015" cy="1079500"/>
          </a:xfrm>
          <a:custGeom>
            <a:avLst/>
            <a:gdLst/>
            <a:ahLst/>
            <a:cxnLst/>
            <a:rect l="l" t="t" r="r" b="b"/>
            <a:pathLst>
              <a:path w="1517014" h="1079500">
                <a:moveTo>
                  <a:pt x="1381887" y="0"/>
                </a:moveTo>
                <a:lnTo>
                  <a:pt x="1327628" y="816"/>
                </a:lnTo>
                <a:lnTo>
                  <a:pt x="1273900" y="3246"/>
                </a:lnTo>
                <a:lnTo>
                  <a:pt x="1220739" y="7259"/>
                </a:lnTo>
                <a:lnTo>
                  <a:pt x="1168185" y="12825"/>
                </a:lnTo>
                <a:lnTo>
                  <a:pt x="1116275" y="19915"/>
                </a:lnTo>
                <a:lnTo>
                  <a:pt x="1065049" y="28498"/>
                </a:lnTo>
                <a:lnTo>
                  <a:pt x="1014544" y="38544"/>
                </a:lnTo>
                <a:lnTo>
                  <a:pt x="964800" y="50023"/>
                </a:lnTo>
                <a:lnTo>
                  <a:pt x="915854" y="62906"/>
                </a:lnTo>
                <a:lnTo>
                  <a:pt x="867744" y="77162"/>
                </a:lnTo>
                <a:lnTo>
                  <a:pt x="820511" y="92762"/>
                </a:lnTo>
                <a:lnTo>
                  <a:pt x="774190" y="109674"/>
                </a:lnTo>
                <a:lnTo>
                  <a:pt x="728822" y="127870"/>
                </a:lnTo>
                <a:lnTo>
                  <a:pt x="684445" y="147319"/>
                </a:lnTo>
                <a:lnTo>
                  <a:pt x="641096" y="167992"/>
                </a:lnTo>
                <a:lnTo>
                  <a:pt x="598815" y="189858"/>
                </a:lnTo>
                <a:lnTo>
                  <a:pt x="557640" y="212888"/>
                </a:lnTo>
                <a:lnTo>
                  <a:pt x="517609" y="237050"/>
                </a:lnTo>
                <a:lnTo>
                  <a:pt x="478760" y="262317"/>
                </a:lnTo>
                <a:lnTo>
                  <a:pt x="441132" y="288656"/>
                </a:lnTo>
                <a:lnTo>
                  <a:pt x="404764" y="316039"/>
                </a:lnTo>
                <a:lnTo>
                  <a:pt x="369694" y="344435"/>
                </a:lnTo>
                <a:lnTo>
                  <a:pt x="335960" y="373815"/>
                </a:lnTo>
                <a:lnTo>
                  <a:pt x="303601" y="404148"/>
                </a:lnTo>
                <a:lnTo>
                  <a:pt x="272655" y="435405"/>
                </a:lnTo>
                <a:lnTo>
                  <a:pt x="243160" y="467555"/>
                </a:lnTo>
                <a:lnTo>
                  <a:pt x="215156" y="500569"/>
                </a:lnTo>
                <a:lnTo>
                  <a:pt x="188679" y="534415"/>
                </a:lnTo>
                <a:lnTo>
                  <a:pt x="163770" y="569066"/>
                </a:lnTo>
                <a:lnTo>
                  <a:pt x="140465" y="604490"/>
                </a:lnTo>
                <a:lnTo>
                  <a:pt x="118804" y="640657"/>
                </a:lnTo>
                <a:lnTo>
                  <a:pt x="98826" y="677538"/>
                </a:lnTo>
                <a:lnTo>
                  <a:pt x="80567" y="715103"/>
                </a:lnTo>
                <a:lnTo>
                  <a:pt x="64068" y="753321"/>
                </a:lnTo>
                <a:lnTo>
                  <a:pt x="49365" y="792162"/>
                </a:lnTo>
                <a:lnTo>
                  <a:pt x="36499" y="831597"/>
                </a:lnTo>
                <a:lnTo>
                  <a:pt x="25506" y="871596"/>
                </a:lnTo>
                <a:lnTo>
                  <a:pt x="16426" y="912128"/>
                </a:lnTo>
                <a:lnTo>
                  <a:pt x="9297" y="953163"/>
                </a:lnTo>
                <a:lnTo>
                  <a:pt x="4157" y="994672"/>
                </a:lnTo>
                <a:lnTo>
                  <a:pt x="1045" y="1036625"/>
                </a:lnTo>
                <a:lnTo>
                  <a:pt x="0" y="1078991"/>
                </a:lnTo>
                <a:lnTo>
                  <a:pt x="269747" y="1078991"/>
                </a:lnTo>
                <a:lnTo>
                  <a:pt x="270805" y="1036474"/>
                </a:lnTo>
                <a:lnTo>
                  <a:pt x="273954" y="994346"/>
                </a:lnTo>
                <a:lnTo>
                  <a:pt x="279155" y="952641"/>
                </a:lnTo>
                <a:lnTo>
                  <a:pt x="286372" y="911389"/>
                </a:lnTo>
                <a:lnTo>
                  <a:pt x="295567" y="870624"/>
                </a:lnTo>
                <a:lnTo>
                  <a:pt x="306702" y="830378"/>
                </a:lnTo>
                <a:lnTo>
                  <a:pt x="319740" y="790684"/>
                </a:lnTo>
                <a:lnTo>
                  <a:pt x="334643" y="751573"/>
                </a:lnTo>
                <a:lnTo>
                  <a:pt x="351374" y="713078"/>
                </a:lnTo>
                <a:lnTo>
                  <a:pt x="369895" y="675232"/>
                </a:lnTo>
                <a:lnTo>
                  <a:pt x="390168" y="638066"/>
                </a:lnTo>
                <a:lnTo>
                  <a:pt x="412156" y="601614"/>
                </a:lnTo>
                <a:lnTo>
                  <a:pt x="435821" y="565907"/>
                </a:lnTo>
                <a:lnTo>
                  <a:pt x="461126" y="530978"/>
                </a:lnTo>
                <a:lnTo>
                  <a:pt x="488033" y="496859"/>
                </a:lnTo>
                <a:lnTo>
                  <a:pt x="516505" y="463583"/>
                </a:lnTo>
                <a:lnTo>
                  <a:pt x="546504" y="431181"/>
                </a:lnTo>
                <a:lnTo>
                  <a:pt x="577992" y="399687"/>
                </a:lnTo>
                <a:lnTo>
                  <a:pt x="610932" y="369133"/>
                </a:lnTo>
                <a:lnTo>
                  <a:pt x="645287" y="339551"/>
                </a:lnTo>
                <a:lnTo>
                  <a:pt x="681018" y="310973"/>
                </a:lnTo>
                <a:lnTo>
                  <a:pt x="718088" y="283432"/>
                </a:lnTo>
                <a:lnTo>
                  <a:pt x="756460" y="256959"/>
                </a:lnTo>
                <a:lnTo>
                  <a:pt x="796096" y="231589"/>
                </a:lnTo>
                <a:lnTo>
                  <a:pt x="836958" y="207352"/>
                </a:lnTo>
                <a:lnTo>
                  <a:pt x="879009" y="184281"/>
                </a:lnTo>
                <a:lnTo>
                  <a:pt x="922211" y="162409"/>
                </a:lnTo>
                <a:lnTo>
                  <a:pt x="966527" y="141768"/>
                </a:lnTo>
                <a:lnTo>
                  <a:pt x="1011919" y="122390"/>
                </a:lnTo>
                <a:lnTo>
                  <a:pt x="1058350" y="104307"/>
                </a:lnTo>
                <a:lnTo>
                  <a:pt x="1105781" y="87553"/>
                </a:lnTo>
                <a:lnTo>
                  <a:pt x="1154177" y="72159"/>
                </a:lnTo>
                <a:lnTo>
                  <a:pt x="1203497" y="58157"/>
                </a:lnTo>
                <a:lnTo>
                  <a:pt x="1253706" y="45581"/>
                </a:lnTo>
                <a:lnTo>
                  <a:pt x="1304766" y="34462"/>
                </a:lnTo>
                <a:lnTo>
                  <a:pt x="1356639" y="24832"/>
                </a:lnTo>
                <a:lnTo>
                  <a:pt x="1409287" y="16725"/>
                </a:lnTo>
                <a:lnTo>
                  <a:pt x="1462674" y="10172"/>
                </a:lnTo>
                <a:lnTo>
                  <a:pt x="1516761" y="5206"/>
                </a:lnTo>
                <a:lnTo>
                  <a:pt x="1483113" y="2946"/>
                </a:lnTo>
                <a:lnTo>
                  <a:pt x="1449419" y="1317"/>
                </a:lnTo>
                <a:lnTo>
                  <a:pt x="1415676" y="331"/>
                </a:lnTo>
                <a:lnTo>
                  <a:pt x="1381887" y="0"/>
                </a:lnTo>
                <a:close/>
              </a:path>
            </a:pathLst>
          </a:custGeom>
          <a:solidFill>
            <a:srgbClr val="005A9A"/>
          </a:solidFill>
        </p:spPr>
        <p:txBody>
          <a:bodyPr wrap="square" lIns="0" tIns="0" rIns="0" bIns="0" rtlCol="0"/>
          <a:lstStyle/>
          <a:p>
            <a:pPr defTabSz="914079"/>
            <a:endParaRPr>
              <a:solidFill>
                <a:prstClr val="black"/>
              </a:solidFill>
            </a:endParaRPr>
          </a:p>
        </p:txBody>
      </p:sp>
      <p:sp>
        <p:nvSpPr>
          <p:cNvPr id="20" name="object 20"/>
          <p:cNvSpPr txBox="1"/>
          <p:nvPr/>
        </p:nvSpPr>
        <p:spPr>
          <a:xfrm>
            <a:off x="2850895" y="4898516"/>
            <a:ext cx="2459355" cy="330835"/>
          </a:xfrm>
          <a:prstGeom prst="rect">
            <a:avLst/>
          </a:prstGeom>
        </p:spPr>
        <p:txBody>
          <a:bodyPr vert="horz" wrap="square" lIns="0" tIns="12700" rIns="0" bIns="0" rtlCol="0">
            <a:spAutoFit/>
          </a:bodyPr>
          <a:lstStyle/>
          <a:p>
            <a:pPr marL="12700" defTabSz="914079">
              <a:spcBef>
                <a:spcPts val="100"/>
              </a:spcBef>
            </a:pPr>
            <a:r>
              <a:rPr sz="2000" b="1" spc="-5" dirty="0">
                <a:solidFill>
                  <a:srgbClr val="006FC0"/>
                </a:solidFill>
                <a:cs typeface="Century Schoolbook"/>
              </a:rPr>
              <a:t>2.</a:t>
            </a:r>
            <a:r>
              <a:rPr sz="2000" b="1" spc="-50" dirty="0">
                <a:solidFill>
                  <a:srgbClr val="006FC0"/>
                </a:solidFill>
                <a:cs typeface="Century Schoolbook"/>
              </a:rPr>
              <a:t> </a:t>
            </a:r>
            <a:r>
              <a:rPr sz="2000" b="1" dirty="0">
                <a:solidFill>
                  <a:srgbClr val="006FC0"/>
                </a:solidFill>
                <a:cs typeface="Century Schoolbook"/>
              </a:rPr>
              <a:t>synchronisation</a:t>
            </a:r>
            <a:endParaRPr sz="2000">
              <a:solidFill>
                <a:prstClr val="black"/>
              </a:solidFill>
              <a:cs typeface="Century Schoolbook"/>
            </a:endParaRPr>
          </a:p>
        </p:txBody>
      </p:sp>
      <p:sp>
        <p:nvSpPr>
          <p:cNvPr id="21" name="object 21"/>
          <p:cNvSpPr txBox="1"/>
          <p:nvPr/>
        </p:nvSpPr>
        <p:spPr>
          <a:xfrm>
            <a:off x="762406" y="5744971"/>
            <a:ext cx="7026275" cy="912494"/>
          </a:xfrm>
          <a:prstGeom prst="rect">
            <a:avLst/>
          </a:prstGeom>
        </p:spPr>
        <p:txBody>
          <a:bodyPr vert="horz" wrap="square" lIns="0" tIns="90170" rIns="0" bIns="0" rtlCol="0">
            <a:spAutoFit/>
          </a:bodyPr>
          <a:lstStyle/>
          <a:p>
            <a:pPr marL="287020" indent="-274320" defTabSz="914079">
              <a:spcBef>
                <a:spcPts val="710"/>
              </a:spcBef>
              <a:buClr>
                <a:srgbClr val="FD8537"/>
              </a:buClr>
              <a:buSzPct val="68750"/>
              <a:buFont typeface="Wingdings"/>
              <a:buChar char=""/>
              <a:tabLst>
                <a:tab pos="287020" algn="l"/>
              </a:tabLst>
            </a:pPr>
            <a:r>
              <a:rPr sz="2400" b="1" dirty="0">
                <a:solidFill>
                  <a:prstClr val="black"/>
                </a:solidFill>
                <a:cs typeface="Century Schoolbook"/>
              </a:rPr>
              <a:t>Intérêt</a:t>
            </a:r>
            <a:endParaRPr sz="2400">
              <a:solidFill>
                <a:prstClr val="black"/>
              </a:solidFill>
              <a:cs typeface="Century Schoolbook"/>
            </a:endParaRPr>
          </a:p>
          <a:p>
            <a:pPr marL="743585" lvl="1" indent="-274320" defTabSz="914079">
              <a:spcBef>
                <a:spcPts val="615"/>
              </a:spcBef>
              <a:buClr>
                <a:srgbClr val="FD8537"/>
              </a:buClr>
              <a:buSzPct val="68750"/>
              <a:buFont typeface="Wingdings"/>
              <a:buChar char=""/>
              <a:tabLst>
                <a:tab pos="744220" algn="l"/>
              </a:tabLst>
            </a:pPr>
            <a:r>
              <a:rPr sz="2400" spc="-5" dirty="0">
                <a:solidFill>
                  <a:prstClr val="black"/>
                </a:solidFill>
                <a:cs typeface="Century Schoolbook"/>
              </a:rPr>
              <a:t>Avoir </a:t>
            </a:r>
            <a:r>
              <a:rPr sz="2400" dirty="0">
                <a:solidFill>
                  <a:prstClr val="black"/>
                </a:solidFill>
                <a:cs typeface="Century Schoolbook"/>
              </a:rPr>
              <a:t>les </a:t>
            </a:r>
            <a:r>
              <a:rPr sz="2400" spc="-5" dirty="0">
                <a:solidFill>
                  <a:prstClr val="black"/>
                </a:solidFill>
                <a:cs typeface="Century Schoolbook"/>
              </a:rPr>
              <a:t>mêmes données </a:t>
            </a:r>
            <a:r>
              <a:rPr sz="2400" dirty="0">
                <a:solidFill>
                  <a:prstClr val="black"/>
                </a:solidFill>
                <a:cs typeface="Century Schoolbook"/>
              </a:rPr>
              <a:t>sur </a:t>
            </a:r>
            <a:r>
              <a:rPr sz="2400" spc="-5" dirty="0">
                <a:solidFill>
                  <a:prstClr val="black"/>
                </a:solidFill>
                <a:cs typeface="Century Schoolbook"/>
              </a:rPr>
              <a:t>différents</a:t>
            </a:r>
            <a:r>
              <a:rPr sz="2400" spc="-35" dirty="0">
                <a:solidFill>
                  <a:prstClr val="black"/>
                </a:solidFill>
                <a:cs typeface="Century Schoolbook"/>
              </a:rPr>
              <a:t> </a:t>
            </a:r>
            <a:r>
              <a:rPr sz="2400" spc="-5" dirty="0">
                <a:solidFill>
                  <a:prstClr val="black"/>
                </a:solidFill>
                <a:cs typeface="Century Schoolbook"/>
              </a:rPr>
              <a:t>sites</a:t>
            </a:r>
            <a:endParaRPr sz="2400">
              <a:solidFill>
                <a:prstClr val="black"/>
              </a:solidFill>
              <a:cs typeface="Century Schoolbook"/>
            </a:endParaRPr>
          </a:p>
        </p:txBody>
      </p:sp>
      <p:sp>
        <p:nvSpPr>
          <p:cNvPr id="22" name="object 22"/>
          <p:cNvSpPr txBox="1"/>
          <p:nvPr/>
        </p:nvSpPr>
        <p:spPr>
          <a:xfrm>
            <a:off x="535940" y="1386077"/>
            <a:ext cx="7145020" cy="1885950"/>
          </a:xfrm>
          <a:prstGeom prst="rect">
            <a:avLst/>
          </a:prstGeom>
        </p:spPr>
        <p:txBody>
          <a:bodyPr vert="horz" wrap="square" lIns="0" tIns="13335" rIns="0" bIns="0" rtlCol="0">
            <a:spAutoFit/>
          </a:bodyPr>
          <a:lstStyle/>
          <a:p>
            <a:pPr marL="286385" marR="5080" indent="-274320" defTabSz="914079">
              <a:spcBef>
                <a:spcPts val="105"/>
              </a:spcBef>
              <a:buClr>
                <a:srgbClr val="FD8537"/>
              </a:buClr>
              <a:buSzPct val="70000"/>
              <a:buFont typeface="Wingdings"/>
              <a:buChar char=""/>
              <a:tabLst>
                <a:tab pos="287020" algn="l"/>
              </a:tabLst>
            </a:pPr>
            <a:r>
              <a:rPr sz="2000" dirty="0">
                <a:solidFill>
                  <a:prstClr val="black"/>
                </a:solidFill>
                <a:cs typeface="Century Schoolbook"/>
              </a:rPr>
              <a:t>Création </a:t>
            </a:r>
            <a:r>
              <a:rPr sz="2000" spc="-5" dirty="0">
                <a:solidFill>
                  <a:prstClr val="black"/>
                </a:solidFill>
                <a:cs typeface="Century Schoolbook"/>
              </a:rPr>
              <a:t>d’une </a:t>
            </a:r>
            <a:r>
              <a:rPr sz="2000" dirty="0">
                <a:solidFill>
                  <a:prstClr val="black"/>
                </a:solidFill>
                <a:cs typeface="Century Schoolbook"/>
              </a:rPr>
              <a:t>copie conforme </a:t>
            </a:r>
            <a:r>
              <a:rPr sz="2000" spc="-5" dirty="0">
                <a:solidFill>
                  <a:prstClr val="black"/>
                </a:solidFill>
                <a:cs typeface="Century Schoolbook"/>
              </a:rPr>
              <a:t>d’une table </a:t>
            </a:r>
            <a:r>
              <a:rPr sz="2000" dirty="0">
                <a:solidFill>
                  <a:prstClr val="black"/>
                </a:solidFill>
                <a:cs typeface="Century Schoolbook"/>
              </a:rPr>
              <a:t>(ou ensemble</a:t>
            </a:r>
            <a:r>
              <a:rPr sz="2000" spc="-195" dirty="0">
                <a:solidFill>
                  <a:prstClr val="black"/>
                </a:solidFill>
                <a:cs typeface="Century Schoolbook"/>
              </a:rPr>
              <a:t> </a:t>
            </a:r>
            <a:r>
              <a:rPr sz="2000" spc="-5" dirty="0">
                <a:solidFill>
                  <a:prstClr val="black"/>
                </a:solidFill>
                <a:cs typeface="Century Schoolbook"/>
              </a:rPr>
              <a:t>de  </a:t>
            </a:r>
            <a:r>
              <a:rPr sz="2000" dirty="0">
                <a:solidFill>
                  <a:prstClr val="black"/>
                </a:solidFill>
                <a:cs typeface="Century Schoolbook"/>
              </a:rPr>
              <a:t>tuples) sur un site distant. La copie doit rester cohérente  avec les données</a:t>
            </a:r>
            <a:r>
              <a:rPr sz="2000" spc="-90" dirty="0">
                <a:solidFill>
                  <a:prstClr val="black"/>
                </a:solidFill>
                <a:cs typeface="Century Schoolbook"/>
              </a:rPr>
              <a:t> </a:t>
            </a:r>
            <a:r>
              <a:rPr sz="2000" dirty="0">
                <a:solidFill>
                  <a:prstClr val="black"/>
                </a:solidFill>
                <a:cs typeface="Century Schoolbook"/>
              </a:rPr>
              <a:t>sources</a:t>
            </a:r>
            <a:endParaRPr sz="2000">
              <a:solidFill>
                <a:prstClr val="black"/>
              </a:solidFill>
              <a:cs typeface="Century Schoolbook"/>
            </a:endParaRPr>
          </a:p>
          <a:p>
            <a:pPr defTabSz="914079">
              <a:buClr>
                <a:srgbClr val="FD8537"/>
              </a:buClr>
              <a:buFont typeface="Wingdings"/>
              <a:buChar char=""/>
            </a:pPr>
            <a:endParaRPr sz="2400">
              <a:solidFill>
                <a:prstClr val="black"/>
              </a:solidFill>
              <a:latin typeface="Times New Roman"/>
              <a:cs typeface="Times New Roman"/>
            </a:endParaRPr>
          </a:p>
          <a:p>
            <a:pPr marL="3235960" marR="79375" lvl="1" indent="-3237230" defTabSz="914079">
              <a:spcBef>
                <a:spcPts val="1800"/>
              </a:spcBef>
              <a:buSzPct val="95833"/>
              <a:buFontTx/>
              <a:buAutoNum type="arabicPeriod"/>
              <a:tabLst>
                <a:tab pos="3236595" algn="l"/>
              </a:tabLst>
            </a:pPr>
            <a:r>
              <a:rPr sz="2400" b="1" spc="-10" dirty="0">
                <a:solidFill>
                  <a:srgbClr val="006FC0"/>
                </a:solidFill>
                <a:cs typeface="Century Schoolbook"/>
              </a:rPr>
              <a:t>copie</a:t>
            </a:r>
            <a:endParaRPr sz="2400">
              <a:solidFill>
                <a:prstClr val="black"/>
              </a:solidFill>
              <a:cs typeface="Century Schoolbook"/>
            </a:endParaRPr>
          </a:p>
        </p:txBody>
      </p:sp>
      <p:sp>
        <p:nvSpPr>
          <p:cNvPr id="23" name="object 23"/>
          <p:cNvSpPr/>
          <p:nvPr/>
        </p:nvSpPr>
        <p:spPr>
          <a:xfrm>
            <a:off x="2555620" y="4416823"/>
            <a:ext cx="3168650" cy="400685"/>
          </a:xfrm>
          <a:custGeom>
            <a:avLst/>
            <a:gdLst/>
            <a:ahLst/>
            <a:cxnLst/>
            <a:rect l="l" t="t" r="r" b="b"/>
            <a:pathLst>
              <a:path w="3168650" h="400685">
                <a:moveTo>
                  <a:pt x="295354" y="58447"/>
                </a:moveTo>
                <a:lnTo>
                  <a:pt x="281178" y="63609"/>
                </a:lnTo>
                <a:lnTo>
                  <a:pt x="0" y="236329"/>
                </a:lnTo>
                <a:lnTo>
                  <a:pt x="288671" y="396095"/>
                </a:lnTo>
                <a:lnTo>
                  <a:pt x="303107" y="400649"/>
                </a:lnTo>
                <a:lnTo>
                  <a:pt x="317674" y="399381"/>
                </a:lnTo>
                <a:lnTo>
                  <a:pt x="330694" y="392755"/>
                </a:lnTo>
                <a:lnTo>
                  <a:pt x="340487" y="381236"/>
                </a:lnTo>
                <a:lnTo>
                  <a:pt x="345021" y="366799"/>
                </a:lnTo>
                <a:lnTo>
                  <a:pt x="343709" y="352232"/>
                </a:lnTo>
                <a:lnTo>
                  <a:pt x="337040" y="339213"/>
                </a:lnTo>
                <a:lnTo>
                  <a:pt x="325501" y="329420"/>
                </a:lnTo>
                <a:lnTo>
                  <a:pt x="222934" y="272651"/>
                </a:lnTo>
                <a:lnTo>
                  <a:pt x="76454" y="272651"/>
                </a:lnTo>
                <a:lnTo>
                  <a:pt x="74676" y="196578"/>
                </a:lnTo>
                <a:lnTo>
                  <a:pt x="215452" y="193378"/>
                </a:lnTo>
                <a:lnTo>
                  <a:pt x="321056" y="128506"/>
                </a:lnTo>
                <a:lnTo>
                  <a:pt x="338736" y="90376"/>
                </a:lnTo>
                <a:lnTo>
                  <a:pt x="333502" y="76182"/>
                </a:lnTo>
                <a:lnTo>
                  <a:pt x="323183" y="65127"/>
                </a:lnTo>
                <a:lnTo>
                  <a:pt x="309911" y="59084"/>
                </a:lnTo>
                <a:lnTo>
                  <a:pt x="295354" y="58447"/>
                </a:lnTo>
                <a:close/>
              </a:path>
              <a:path w="3168650" h="400685">
                <a:moveTo>
                  <a:pt x="3103022" y="127998"/>
                </a:moveTo>
                <a:lnTo>
                  <a:pt x="3092196" y="127998"/>
                </a:lnTo>
                <a:lnTo>
                  <a:pt x="3093974" y="204071"/>
                </a:lnTo>
                <a:lnTo>
                  <a:pt x="2953083" y="207273"/>
                </a:lnTo>
                <a:lnTo>
                  <a:pt x="2847594" y="272016"/>
                </a:lnTo>
                <a:lnTo>
                  <a:pt x="2836539" y="282354"/>
                </a:lnTo>
                <a:lnTo>
                  <a:pt x="2830496" y="295669"/>
                </a:lnTo>
                <a:lnTo>
                  <a:pt x="2829859" y="310270"/>
                </a:lnTo>
                <a:lnTo>
                  <a:pt x="2835021" y="324467"/>
                </a:lnTo>
                <a:lnTo>
                  <a:pt x="2845359" y="335522"/>
                </a:lnTo>
                <a:lnTo>
                  <a:pt x="2858674" y="341564"/>
                </a:lnTo>
                <a:lnTo>
                  <a:pt x="2873275" y="342201"/>
                </a:lnTo>
                <a:lnTo>
                  <a:pt x="2887472" y="337040"/>
                </a:lnTo>
                <a:lnTo>
                  <a:pt x="3168650" y="164320"/>
                </a:lnTo>
                <a:lnTo>
                  <a:pt x="3103022" y="127998"/>
                </a:lnTo>
                <a:close/>
              </a:path>
              <a:path w="3168650" h="400685">
                <a:moveTo>
                  <a:pt x="215452" y="193378"/>
                </a:moveTo>
                <a:lnTo>
                  <a:pt x="74676" y="196578"/>
                </a:lnTo>
                <a:lnTo>
                  <a:pt x="76454" y="272651"/>
                </a:lnTo>
                <a:lnTo>
                  <a:pt x="217156" y="269453"/>
                </a:lnTo>
                <a:lnTo>
                  <a:pt x="212838" y="267063"/>
                </a:lnTo>
                <a:lnTo>
                  <a:pt x="95504" y="267063"/>
                </a:lnTo>
                <a:lnTo>
                  <a:pt x="93980" y="201277"/>
                </a:lnTo>
                <a:lnTo>
                  <a:pt x="202594" y="201277"/>
                </a:lnTo>
                <a:lnTo>
                  <a:pt x="215452" y="193378"/>
                </a:lnTo>
                <a:close/>
              </a:path>
              <a:path w="3168650" h="400685">
                <a:moveTo>
                  <a:pt x="217156" y="269453"/>
                </a:moveTo>
                <a:lnTo>
                  <a:pt x="76454" y="272651"/>
                </a:lnTo>
                <a:lnTo>
                  <a:pt x="222934" y="272651"/>
                </a:lnTo>
                <a:lnTo>
                  <a:pt x="217156" y="269453"/>
                </a:lnTo>
                <a:close/>
              </a:path>
              <a:path w="3168650" h="400685">
                <a:moveTo>
                  <a:pt x="2951428" y="131197"/>
                </a:moveTo>
                <a:lnTo>
                  <a:pt x="215452" y="193378"/>
                </a:lnTo>
                <a:lnTo>
                  <a:pt x="151115" y="232900"/>
                </a:lnTo>
                <a:lnTo>
                  <a:pt x="217156" y="269453"/>
                </a:lnTo>
                <a:lnTo>
                  <a:pt x="2953083" y="207273"/>
                </a:lnTo>
                <a:lnTo>
                  <a:pt x="3017492" y="167742"/>
                </a:lnTo>
                <a:lnTo>
                  <a:pt x="2951428" y="131197"/>
                </a:lnTo>
                <a:close/>
              </a:path>
              <a:path w="3168650" h="400685">
                <a:moveTo>
                  <a:pt x="93980" y="201277"/>
                </a:moveTo>
                <a:lnTo>
                  <a:pt x="95504" y="267063"/>
                </a:lnTo>
                <a:lnTo>
                  <a:pt x="151115" y="232900"/>
                </a:lnTo>
                <a:lnTo>
                  <a:pt x="93980" y="201277"/>
                </a:lnTo>
                <a:close/>
              </a:path>
              <a:path w="3168650" h="400685">
                <a:moveTo>
                  <a:pt x="151115" y="232900"/>
                </a:moveTo>
                <a:lnTo>
                  <a:pt x="95504" y="267063"/>
                </a:lnTo>
                <a:lnTo>
                  <a:pt x="212838" y="267063"/>
                </a:lnTo>
                <a:lnTo>
                  <a:pt x="151115" y="232900"/>
                </a:lnTo>
                <a:close/>
              </a:path>
              <a:path w="3168650" h="400685">
                <a:moveTo>
                  <a:pt x="202594" y="201277"/>
                </a:moveTo>
                <a:lnTo>
                  <a:pt x="93980" y="201277"/>
                </a:lnTo>
                <a:lnTo>
                  <a:pt x="151115" y="232900"/>
                </a:lnTo>
                <a:lnTo>
                  <a:pt x="202594" y="201277"/>
                </a:lnTo>
                <a:close/>
              </a:path>
              <a:path w="3168650" h="400685">
                <a:moveTo>
                  <a:pt x="3017492" y="167742"/>
                </a:moveTo>
                <a:lnTo>
                  <a:pt x="2953083" y="207273"/>
                </a:lnTo>
                <a:lnTo>
                  <a:pt x="3093974" y="204071"/>
                </a:lnTo>
                <a:lnTo>
                  <a:pt x="3093864" y="199372"/>
                </a:lnTo>
                <a:lnTo>
                  <a:pt x="3074670" y="199372"/>
                </a:lnTo>
                <a:lnTo>
                  <a:pt x="3017492" y="167742"/>
                </a:lnTo>
                <a:close/>
              </a:path>
              <a:path w="3168650" h="400685">
                <a:moveTo>
                  <a:pt x="3073146" y="133586"/>
                </a:moveTo>
                <a:lnTo>
                  <a:pt x="3017492" y="167742"/>
                </a:lnTo>
                <a:lnTo>
                  <a:pt x="3074670" y="199372"/>
                </a:lnTo>
                <a:lnTo>
                  <a:pt x="3073146" y="133586"/>
                </a:lnTo>
                <a:close/>
              </a:path>
              <a:path w="3168650" h="400685">
                <a:moveTo>
                  <a:pt x="3092326" y="133586"/>
                </a:moveTo>
                <a:lnTo>
                  <a:pt x="3073146" y="133586"/>
                </a:lnTo>
                <a:lnTo>
                  <a:pt x="3074670" y="199372"/>
                </a:lnTo>
                <a:lnTo>
                  <a:pt x="3093864" y="199372"/>
                </a:lnTo>
                <a:lnTo>
                  <a:pt x="3092326" y="133586"/>
                </a:lnTo>
                <a:close/>
              </a:path>
              <a:path w="3168650" h="400685">
                <a:moveTo>
                  <a:pt x="3092196" y="127998"/>
                </a:moveTo>
                <a:lnTo>
                  <a:pt x="2951428" y="131197"/>
                </a:lnTo>
                <a:lnTo>
                  <a:pt x="3017492" y="167742"/>
                </a:lnTo>
                <a:lnTo>
                  <a:pt x="3073146" y="133586"/>
                </a:lnTo>
                <a:lnTo>
                  <a:pt x="3092326" y="133586"/>
                </a:lnTo>
                <a:lnTo>
                  <a:pt x="3092196" y="127998"/>
                </a:lnTo>
                <a:close/>
              </a:path>
              <a:path w="3168650" h="400685">
                <a:moveTo>
                  <a:pt x="2865542" y="0"/>
                </a:moveTo>
                <a:lnTo>
                  <a:pt x="2850975" y="1268"/>
                </a:lnTo>
                <a:lnTo>
                  <a:pt x="2837955" y="7893"/>
                </a:lnTo>
                <a:lnTo>
                  <a:pt x="2828163" y="19413"/>
                </a:lnTo>
                <a:lnTo>
                  <a:pt x="2823608" y="33849"/>
                </a:lnTo>
                <a:lnTo>
                  <a:pt x="2824876" y="48416"/>
                </a:lnTo>
                <a:lnTo>
                  <a:pt x="2831502" y="61436"/>
                </a:lnTo>
                <a:lnTo>
                  <a:pt x="2843022" y="71229"/>
                </a:lnTo>
                <a:lnTo>
                  <a:pt x="2951428" y="131197"/>
                </a:lnTo>
                <a:lnTo>
                  <a:pt x="3092196" y="127998"/>
                </a:lnTo>
                <a:lnTo>
                  <a:pt x="3103022" y="127998"/>
                </a:lnTo>
                <a:lnTo>
                  <a:pt x="2879979" y="4554"/>
                </a:lnTo>
                <a:lnTo>
                  <a:pt x="2865542" y="0"/>
                </a:lnTo>
                <a:close/>
              </a:path>
            </a:pathLst>
          </a:custGeom>
          <a:solidFill>
            <a:srgbClr val="006FC0"/>
          </a:solidFill>
        </p:spPr>
        <p:txBody>
          <a:bodyPr wrap="square" lIns="0" tIns="0" rIns="0" bIns="0" rtlCol="0"/>
          <a:lstStyle/>
          <a:p>
            <a:pPr defTabSz="914079"/>
            <a:endParaRPr>
              <a:solidFill>
                <a:prstClr val="black"/>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object 15"/>
          <p:cNvSpPr txBox="1">
            <a:spLocks noGrp="1"/>
          </p:cNvSpPr>
          <p:nvPr>
            <p:ph type="title"/>
          </p:nvPr>
        </p:nvSpPr>
        <p:spPr>
          <a:xfrm>
            <a:off x="562152" y="454770"/>
            <a:ext cx="7178200" cy="474489"/>
          </a:xfrm>
          <a:prstGeom prst="rect">
            <a:avLst/>
          </a:prstGeom>
        </p:spPr>
        <p:txBody>
          <a:bodyPr vert="horz" wrap="square" lIns="0" tIns="12700" rIns="0" bIns="0" rtlCol="0">
            <a:spAutoFit/>
          </a:bodyPr>
          <a:lstStyle/>
          <a:p>
            <a:pPr marL="12700">
              <a:lnSpc>
                <a:spcPct val="100000"/>
              </a:lnSpc>
              <a:spcBef>
                <a:spcPts val="100"/>
              </a:spcBef>
            </a:pPr>
            <a:r>
              <a:rPr lang="fr-FR" sz="3000" spc="-5" dirty="0" smtClean="0"/>
              <a:t>Fragmentation/</a:t>
            </a:r>
            <a:r>
              <a:rPr sz="3000" spc="-5" dirty="0" smtClean="0"/>
              <a:t>D</a:t>
            </a:r>
            <a:r>
              <a:rPr spc="-5" dirty="0" smtClean="0"/>
              <a:t>ÉCOMPOSITION</a:t>
            </a:r>
            <a:endParaRPr sz="3000" dirty="0"/>
          </a:p>
        </p:txBody>
      </p:sp>
      <p:pic>
        <p:nvPicPr>
          <p:cNvPr id="1026" name="Picture 2"/>
          <p:cNvPicPr>
            <a:picLocks noChangeAspect="1" noChangeArrowheads="1"/>
          </p:cNvPicPr>
          <p:nvPr/>
        </p:nvPicPr>
        <p:blipFill>
          <a:blip r:embed="rId3" cstate="print"/>
          <a:srcRect/>
          <a:stretch>
            <a:fillRect/>
          </a:stretch>
        </p:blipFill>
        <p:spPr bwMode="auto">
          <a:xfrm>
            <a:off x="1907704" y="1681931"/>
            <a:ext cx="5040560" cy="4699397"/>
          </a:xfrm>
          <a:prstGeom prst="rect">
            <a:avLst/>
          </a:prstGeom>
          <a:noFill/>
          <a:ln w="9525">
            <a:noFill/>
            <a:miter lim="800000"/>
            <a:headEnd/>
            <a:tailEnd/>
          </a:ln>
        </p:spPr>
      </p:pic>
      <p:sp>
        <p:nvSpPr>
          <p:cNvPr id="6" name="Espace réservé du numéro de diapositive 5"/>
          <p:cNvSpPr>
            <a:spLocks noGrp="1"/>
          </p:cNvSpPr>
          <p:nvPr>
            <p:ph type="sldNum" sz="quarter" idx="15"/>
          </p:nvPr>
        </p:nvSpPr>
        <p:spPr/>
        <p:txBody>
          <a:bodyPr/>
          <a:lstStyle/>
          <a:p>
            <a:fld id="{F1AAE0E6-1385-44E0-8EAE-F204D7E7A5E9}" type="slidenum">
              <a:rPr lang="fr-FR" smtClean="0"/>
              <a:pPr/>
              <a:t>7</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lstStyle/>
          <a:p>
            <a:r>
              <a:rPr lang="fr-FR" sz="5400" dirty="0" smtClean="0"/>
              <a:t>Fragmentation</a:t>
            </a:r>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8</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Définition de la fragmentation</a:t>
            </a:r>
            <a:endParaRPr lang="fr-FR" dirty="0"/>
          </a:p>
        </p:txBody>
      </p:sp>
      <p:sp>
        <p:nvSpPr>
          <p:cNvPr id="3" name="Espace réservé du contenu 2"/>
          <p:cNvSpPr>
            <a:spLocks noGrp="1"/>
          </p:cNvSpPr>
          <p:nvPr>
            <p:ph sz="quarter" idx="1"/>
          </p:nvPr>
        </p:nvSpPr>
        <p:spPr>
          <a:xfrm>
            <a:off x="457200" y="1600200"/>
            <a:ext cx="8147248" cy="4873752"/>
          </a:xfrm>
        </p:spPr>
        <p:txBody>
          <a:bodyPr>
            <a:normAutofit/>
          </a:bodyPr>
          <a:lstStyle/>
          <a:p>
            <a:r>
              <a:rPr lang="fr-FR" dirty="0" smtClean="0"/>
              <a:t>.La fragmentation est le processus de décomposition d'une base de donnée logique en un ensemble de "sous" bases de données. Cette décomposition doit être sans perte d'information. </a:t>
            </a:r>
          </a:p>
        </p:txBody>
      </p:sp>
      <p:pic>
        <p:nvPicPr>
          <p:cNvPr id="3074" name="Picture 2"/>
          <p:cNvPicPr>
            <a:picLocks noChangeAspect="1" noChangeArrowheads="1"/>
          </p:cNvPicPr>
          <p:nvPr/>
        </p:nvPicPr>
        <p:blipFill>
          <a:blip r:embed="rId2" cstate="print"/>
          <a:srcRect/>
          <a:stretch>
            <a:fillRect/>
          </a:stretch>
        </p:blipFill>
        <p:spPr bwMode="auto">
          <a:xfrm>
            <a:off x="1619672" y="3362994"/>
            <a:ext cx="5832376" cy="2802310"/>
          </a:xfrm>
          <a:prstGeom prst="rect">
            <a:avLst/>
          </a:prstGeom>
          <a:noFill/>
          <a:ln w="9525">
            <a:noFill/>
            <a:miter lim="800000"/>
            <a:headEnd/>
            <a:tailEnd/>
          </a:ln>
        </p:spPr>
      </p:pic>
      <p:sp>
        <p:nvSpPr>
          <p:cNvPr id="5" name="Espace réservé du numéro de diapositive 4"/>
          <p:cNvSpPr>
            <a:spLocks noGrp="1"/>
          </p:cNvSpPr>
          <p:nvPr>
            <p:ph type="sldNum" sz="quarter" idx="15"/>
          </p:nvPr>
        </p:nvSpPr>
        <p:spPr/>
        <p:txBody>
          <a:bodyPr/>
          <a:lstStyle/>
          <a:p>
            <a:fld id="{F1AAE0E6-1385-44E0-8EAE-F204D7E7A5E9}" type="slidenum">
              <a:rPr lang="fr-FR" smtClean="0"/>
              <a:pPr/>
              <a:t>9</a:t>
            </a:fld>
            <a:endParaRPr lang="fr-F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Les règles de fragmentation </a:t>
            </a:r>
            <a:endParaRPr lang="fr-FR" dirty="0"/>
          </a:p>
        </p:txBody>
      </p:sp>
      <p:sp>
        <p:nvSpPr>
          <p:cNvPr id="3" name="Espace réservé du contenu 2"/>
          <p:cNvSpPr>
            <a:spLocks noGrp="1"/>
          </p:cNvSpPr>
          <p:nvPr>
            <p:ph sz="quarter" idx="1"/>
          </p:nvPr>
        </p:nvSpPr>
        <p:spPr/>
        <p:txBody>
          <a:bodyPr>
            <a:normAutofit/>
          </a:bodyPr>
          <a:lstStyle/>
          <a:p>
            <a:pPr>
              <a:buNone/>
            </a:pPr>
            <a:endParaRPr lang="fr-FR" dirty="0" smtClean="0"/>
          </a:p>
          <a:p>
            <a:r>
              <a:rPr lang="fr-FR" b="1" dirty="0" smtClean="0"/>
              <a:t>Les règles à appliquer sont : </a:t>
            </a:r>
          </a:p>
          <a:p>
            <a:r>
              <a:rPr lang="fr-FR" dirty="0" smtClean="0"/>
              <a:t>1. La complétude : pour toute donnée d’une relation R, il existe un fragment R</a:t>
            </a:r>
            <a:r>
              <a:rPr lang="fr-FR" baseline="30000" dirty="0" smtClean="0"/>
              <a:t>i </a:t>
            </a:r>
            <a:r>
              <a:rPr lang="fr-FR" dirty="0" smtClean="0"/>
              <a:t>de la relation R qui possède cette donnée. </a:t>
            </a:r>
          </a:p>
          <a:p>
            <a:r>
              <a:rPr lang="fr-FR" dirty="0" smtClean="0"/>
              <a:t>2. La reconstruction : pour toute relation décomposée en un ensemble de fragments Ri, il existe une opération de reconstruction. </a:t>
            </a:r>
          </a:p>
          <a:p>
            <a:pPr marL="274224" lvl="2" indent="-274224">
              <a:spcBef>
                <a:spcPts val="600"/>
              </a:spcBef>
              <a:buClr>
                <a:schemeClr val="accent1"/>
              </a:buClr>
              <a:buSzPct val="70000"/>
            </a:pPr>
            <a:r>
              <a:rPr lang="fr-FR" dirty="0" smtClean="0"/>
              <a:t>3</a:t>
            </a:r>
            <a:r>
              <a:rPr lang="fr-FR" sz="2400" dirty="0" smtClean="0"/>
              <a:t>. La Disjonction: assure que les fragments d’une relation sont disjoints deux à deux.</a:t>
            </a:r>
            <a:r>
              <a:rPr lang="fr-FR" sz="2400" spc="-5" dirty="0" smtClean="0">
                <a:cs typeface="Century Schoolbook"/>
              </a:rPr>
              <a:t> chaque élément de </a:t>
            </a:r>
            <a:r>
              <a:rPr lang="fr-FR" sz="2400" dirty="0" smtClean="0">
                <a:cs typeface="Century Schoolbook"/>
              </a:rPr>
              <a:t>R (hormis les clés) ne </a:t>
            </a:r>
            <a:r>
              <a:rPr lang="fr-FR" sz="2400" spc="-5" dirty="0" smtClean="0">
                <a:cs typeface="Century Schoolbook"/>
              </a:rPr>
              <a:t>doit pas </a:t>
            </a:r>
            <a:r>
              <a:rPr lang="fr-FR" sz="2400" dirty="0" smtClean="0">
                <a:cs typeface="Century Schoolbook"/>
              </a:rPr>
              <a:t>être</a:t>
            </a:r>
            <a:r>
              <a:rPr lang="fr-FR" sz="2400" spc="-15" dirty="0" smtClean="0">
                <a:cs typeface="Century Schoolbook"/>
              </a:rPr>
              <a:t> </a:t>
            </a:r>
            <a:r>
              <a:rPr lang="fr-FR" sz="2400" spc="-5" dirty="0" smtClean="0">
                <a:cs typeface="Century Schoolbook"/>
              </a:rPr>
              <a:t>dupliqué</a:t>
            </a:r>
            <a:endParaRPr lang="fr-FR" dirty="0" smtClean="0">
              <a:cs typeface="Century Schoolbook"/>
            </a:endParaRPr>
          </a:p>
          <a:p>
            <a:endParaRPr lang="fr-FR" sz="2400" dirty="0" smtClean="0"/>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10</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6913" y="6478386"/>
            <a:ext cx="723265" cy="380153"/>
            <a:chOff x="236912" y="4858789"/>
            <a:chExt cx="723265" cy="285115"/>
          </a:xfrm>
        </p:grpSpPr>
        <p:sp>
          <p:nvSpPr>
            <p:cNvPr id="3" name="object 3"/>
            <p:cNvSpPr/>
            <p:nvPr/>
          </p:nvSpPr>
          <p:spPr>
            <a:xfrm>
              <a:off x="444730" y="4883727"/>
              <a:ext cx="295101" cy="259772"/>
            </a:xfrm>
            <a:prstGeom prst="rect">
              <a:avLst/>
            </a:prstGeom>
            <a:blipFill>
              <a:blip r:embed="rId2" cstate="print"/>
              <a:stretch>
                <a:fillRect/>
              </a:stretch>
            </a:blipFill>
          </p:spPr>
          <p:txBody>
            <a:bodyPr wrap="square" lIns="0" tIns="0" rIns="0" bIns="0" rtlCol="0"/>
            <a:lstStyle/>
            <a:p>
              <a:pPr defTabSz="914079"/>
              <a:endParaRPr>
                <a:solidFill>
                  <a:prstClr val="black"/>
                </a:solidFill>
              </a:endParaRPr>
            </a:p>
          </p:txBody>
        </p:sp>
        <p:sp>
          <p:nvSpPr>
            <p:cNvPr id="4" name="object 4"/>
            <p:cNvSpPr/>
            <p:nvPr/>
          </p:nvSpPr>
          <p:spPr>
            <a:xfrm>
              <a:off x="283990" y="4881036"/>
              <a:ext cx="630555" cy="259715"/>
            </a:xfrm>
            <a:custGeom>
              <a:avLst/>
              <a:gdLst/>
              <a:ahLst/>
              <a:cxnLst/>
              <a:rect l="l" t="t" r="r" b="b"/>
              <a:pathLst>
                <a:path w="630555" h="259714">
                  <a:moveTo>
                    <a:pt x="587250" y="0"/>
                  </a:moveTo>
                  <a:lnTo>
                    <a:pt x="43278" y="0"/>
                  </a:lnTo>
                  <a:lnTo>
                    <a:pt x="26432" y="3400"/>
                  </a:lnTo>
                  <a:lnTo>
                    <a:pt x="12675" y="12675"/>
                  </a:lnTo>
                  <a:lnTo>
                    <a:pt x="3401" y="26432"/>
                  </a:lnTo>
                  <a:lnTo>
                    <a:pt x="0" y="43278"/>
                  </a:lnTo>
                  <a:lnTo>
                    <a:pt x="0" y="259662"/>
                  </a:lnTo>
                  <a:lnTo>
                    <a:pt x="630528" y="259662"/>
                  </a:lnTo>
                  <a:lnTo>
                    <a:pt x="630528" y="43278"/>
                  </a:lnTo>
                  <a:lnTo>
                    <a:pt x="627127" y="26432"/>
                  </a:lnTo>
                  <a:lnTo>
                    <a:pt x="617853" y="12675"/>
                  </a:lnTo>
                  <a:lnTo>
                    <a:pt x="604096" y="3400"/>
                  </a:lnTo>
                  <a:lnTo>
                    <a:pt x="587250" y="0"/>
                  </a:lnTo>
                  <a:close/>
                </a:path>
              </a:pathLst>
            </a:custGeom>
            <a:solidFill>
              <a:srgbClr val="E4E4E4"/>
            </a:solidFill>
          </p:spPr>
          <p:txBody>
            <a:bodyPr wrap="square" lIns="0" tIns="0" rIns="0" bIns="0" rtlCol="0"/>
            <a:lstStyle/>
            <a:p>
              <a:pPr defTabSz="914079"/>
              <a:endParaRPr>
                <a:solidFill>
                  <a:prstClr val="black"/>
                </a:solidFill>
              </a:endParaRPr>
            </a:p>
          </p:txBody>
        </p:sp>
      </p:grpSp>
      <p:sp>
        <p:nvSpPr>
          <p:cNvPr id="5" name="object 5"/>
          <p:cNvSpPr txBox="1">
            <a:spLocks noGrp="1"/>
          </p:cNvSpPr>
          <p:nvPr>
            <p:ph type="title"/>
          </p:nvPr>
        </p:nvSpPr>
        <p:spPr>
          <a:xfrm>
            <a:off x="323528" y="-171400"/>
            <a:ext cx="7467600" cy="1143000"/>
          </a:xfrm>
          <a:prstGeom prst="rect">
            <a:avLst/>
          </a:prstGeom>
        </p:spPr>
        <p:txBody>
          <a:bodyPr vert="horz" wrap="square" lIns="0" tIns="12700" rIns="0" bIns="0" rtlCol="0">
            <a:spAutoFit/>
          </a:bodyPr>
          <a:lstStyle/>
          <a:p>
            <a:pPr marL="12700">
              <a:lnSpc>
                <a:spcPct val="100000"/>
              </a:lnSpc>
              <a:spcBef>
                <a:spcPts val="100"/>
              </a:spcBef>
            </a:pPr>
            <a:r>
              <a:rPr lang="fr-FR" spc="-5" dirty="0" err="1" smtClean="0"/>
              <a:t>Interet</a:t>
            </a:r>
            <a:r>
              <a:rPr lang="fr-FR" spc="-5" dirty="0" smtClean="0"/>
              <a:t> de la fragmentation</a:t>
            </a:r>
            <a:endParaRPr spc="-5" dirty="0"/>
          </a:p>
        </p:txBody>
      </p:sp>
      <p:sp>
        <p:nvSpPr>
          <p:cNvPr id="10" name="Espace réservé du contenu 9"/>
          <p:cNvSpPr>
            <a:spLocks noGrp="1"/>
          </p:cNvSpPr>
          <p:nvPr>
            <p:ph sz="quarter" idx="1"/>
          </p:nvPr>
        </p:nvSpPr>
        <p:spPr>
          <a:xfrm>
            <a:off x="457200" y="1600200"/>
            <a:ext cx="8003232" cy="4873752"/>
          </a:xfrm>
        </p:spPr>
        <p:txBody>
          <a:bodyPr>
            <a:normAutofit/>
          </a:bodyPr>
          <a:lstStyle/>
          <a:p>
            <a:pPr marL="12700">
              <a:lnSpc>
                <a:spcPct val="100000"/>
              </a:lnSpc>
              <a:spcBef>
                <a:spcPts val="765"/>
              </a:spcBef>
            </a:pPr>
            <a:r>
              <a:rPr lang="fr-FR" sz="2800" b="1" dirty="0" smtClean="0">
                <a:latin typeface="+mj-lt"/>
                <a:cs typeface="Arial"/>
              </a:rPr>
              <a:t>Exemple</a:t>
            </a:r>
          </a:p>
          <a:p>
            <a:pPr marL="190500"/>
            <a:r>
              <a:rPr lang="fr-FR" spc="-5" dirty="0" smtClean="0">
                <a:latin typeface="+mj-lt"/>
                <a:cs typeface="Arial"/>
              </a:rPr>
              <a:t>Relation</a:t>
            </a:r>
            <a:r>
              <a:rPr lang="fr-FR" spc="-30" dirty="0" smtClean="0">
                <a:latin typeface="+mj-lt"/>
                <a:cs typeface="Arial"/>
              </a:rPr>
              <a:t> </a:t>
            </a:r>
            <a:r>
              <a:rPr lang="fr-FR" dirty="0" smtClean="0">
                <a:latin typeface="+mj-lt"/>
                <a:cs typeface="Arial"/>
              </a:rPr>
              <a:t>Employé</a:t>
            </a:r>
          </a:p>
          <a:p>
            <a:pPr marL="556132" lvl="1">
              <a:buNone/>
            </a:pPr>
            <a:r>
              <a:rPr lang="fr-FR" spc="-5" dirty="0" smtClean="0">
                <a:latin typeface="+mj-lt"/>
                <a:cs typeface="Arial"/>
              </a:rPr>
              <a:t>	E(</a:t>
            </a:r>
            <a:r>
              <a:rPr lang="fr-FR" spc="-5" dirty="0" err="1" smtClean="0">
                <a:latin typeface="+mj-lt"/>
                <a:cs typeface="Arial"/>
              </a:rPr>
              <a:t>enum</a:t>
            </a:r>
            <a:r>
              <a:rPr lang="fr-FR" spc="-5" dirty="0" smtClean="0">
                <a:latin typeface="+mj-lt"/>
                <a:cs typeface="Arial"/>
              </a:rPr>
              <a:t>, </a:t>
            </a:r>
            <a:r>
              <a:rPr lang="fr-FR" dirty="0" smtClean="0">
                <a:latin typeface="+mj-lt"/>
                <a:cs typeface="Arial"/>
              </a:rPr>
              <a:t>nom, </a:t>
            </a:r>
            <a:r>
              <a:rPr lang="fr-FR" spc="-5" dirty="0" smtClean="0">
                <a:latin typeface="+mj-lt"/>
                <a:cs typeface="Arial"/>
              </a:rPr>
              <a:t>site,</a:t>
            </a:r>
            <a:r>
              <a:rPr lang="fr-FR" spc="-20" dirty="0" smtClean="0">
                <a:latin typeface="+mj-lt"/>
                <a:cs typeface="Arial"/>
              </a:rPr>
              <a:t> </a:t>
            </a:r>
            <a:r>
              <a:rPr lang="fr-FR" spc="-5" dirty="0" smtClean="0">
                <a:latin typeface="+mj-lt"/>
                <a:cs typeface="Arial"/>
              </a:rPr>
              <a:t>salaire,...)</a:t>
            </a:r>
          </a:p>
          <a:p>
            <a:pPr marL="190500">
              <a:lnSpc>
                <a:spcPct val="100000"/>
              </a:lnSpc>
              <a:spcBef>
                <a:spcPts val="740"/>
              </a:spcBef>
            </a:pPr>
            <a:r>
              <a:rPr lang="fr-FR" dirty="0" smtClean="0">
                <a:latin typeface="+mj-lt"/>
                <a:cs typeface="Arial"/>
              </a:rPr>
              <a:t>Un employé </a:t>
            </a:r>
            <a:r>
              <a:rPr lang="fr-FR" spc="-5" dirty="0" smtClean="0">
                <a:latin typeface="+mj-lt"/>
                <a:cs typeface="Arial"/>
              </a:rPr>
              <a:t>n’appartient </a:t>
            </a:r>
            <a:r>
              <a:rPr lang="fr-FR" dirty="0" smtClean="0">
                <a:latin typeface="+mj-lt"/>
                <a:cs typeface="Arial"/>
              </a:rPr>
              <a:t>qu’à un seul</a:t>
            </a:r>
            <a:r>
              <a:rPr lang="fr-FR" spc="-10" dirty="0" smtClean="0">
                <a:latin typeface="+mj-lt"/>
                <a:cs typeface="Arial"/>
              </a:rPr>
              <a:t> </a:t>
            </a:r>
            <a:r>
              <a:rPr lang="fr-FR" spc="-5" dirty="0" smtClean="0">
                <a:latin typeface="+mj-lt"/>
                <a:cs typeface="Arial"/>
              </a:rPr>
              <a:t>site</a:t>
            </a:r>
            <a:endParaRPr lang="fr-FR" dirty="0" smtClean="0">
              <a:latin typeface="+mj-lt"/>
              <a:cs typeface="Arial"/>
            </a:endParaRPr>
          </a:p>
          <a:p>
            <a:pPr marL="190500">
              <a:lnSpc>
                <a:spcPct val="100000"/>
              </a:lnSpc>
              <a:spcBef>
                <a:spcPts val="640"/>
              </a:spcBef>
            </a:pPr>
            <a:r>
              <a:rPr lang="fr-FR" dirty="0" smtClean="0">
                <a:latin typeface="+mj-lt"/>
                <a:cs typeface="Arial"/>
              </a:rPr>
              <a:t>40 000 employés à Paris, </a:t>
            </a:r>
            <a:r>
              <a:rPr lang="fr-FR" dirty="0" smtClean="0">
                <a:cs typeface="Arial"/>
              </a:rPr>
              <a:t>40 000 à </a:t>
            </a:r>
            <a:r>
              <a:rPr lang="fr-FR" dirty="0" smtClean="0">
                <a:latin typeface="+mj-lt"/>
                <a:cs typeface="Arial"/>
              </a:rPr>
              <a:t>Lyon, et 20 000 à</a:t>
            </a:r>
            <a:r>
              <a:rPr lang="fr-FR" spc="-120" dirty="0" smtClean="0">
                <a:latin typeface="+mj-lt"/>
                <a:cs typeface="Arial"/>
              </a:rPr>
              <a:t> </a:t>
            </a:r>
            <a:r>
              <a:rPr lang="fr-FR" dirty="0" smtClean="0">
                <a:latin typeface="+mj-lt"/>
                <a:cs typeface="Arial"/>
              </a:rPr>
              <a:t>Marseille</a:t>
            </a:r>
          </a:p>
          <a:p>
            <a:pPr marL="12700">
              <a:lnSpc>
                <a:spcPct val="100000"/>
              </a:lnSpc>
              <a:spcBef>
                <a:spcPts val="540"/>
              </a:spcBef>
            </a:pPr>
            <a:r>
              <a:rPr lang="fr-FR" sz="2800" dirty="0" smtClean="0">
                <a:latin typeface="+mj-lt"/>
                <a:cs typeface="Arial"/>
              </a:rPr>
              <a:t>Charge de </a:t>
            </a:r>
            <a:r>
              <a:rPr lang="fr-FR" sz="2800" spc="-5" dirty="0" smtClean="0">
                <a:latin typeface="+mj-lt"/>
                <a:cs typeface="Arial"/>
              </a:rPr>
              <a:t>travail (</a:t>
            </a:r>
            <a:r>
              <a:rPr lang="fr-FR" sz="2800" spc="-5" dirty="0" err="1" smtClean="0">
                <a:latin typeface="+mj-lt"/>
                <a:cs typeface="Arial"/>
              </a:rPr>
              <a:t>workload</a:t>
            </a:r>
            <a:r>
              <a:rPr lang="fr-FR" sz="2800" spc="-5" dirty="0" smtClean="0">
                <a:latin typeface="+mj-lt"/>
                <a:cs typeface="Arial"/>
              </a:rPr>
              <a:t>)</a:t>
            </a:r>
            <a:endParaRPr lang="fr-FR" sz="2800" dirty="0" smtClean="0">
              <a:latin typeface="+mj-lt"/>
              <a:cs typeface="Arial"/>
            </a:endParaRPr>
          </a:p>
          <a:p>
            <a:pPr marL="455295" marR="1174115" indent="-265430">
              <a:lnSpc>
                <a:spcPts val="2800"/>
              </a:lnSpc>
              <a:spcBef>
                <a:spcPts val="160"/>
              </a:spcBef>
            </a:pPr>
            <a:r>
              <a:rPr lang="fr-FR" dirty="0" smtClean="0">
                <a:latin typeface="+mj-lt"/>
                <a:cs typeface="Arial"/>
              </a:rPr>
              <a:t>90% des </a:t>
            </a:r>
            <a:r>
              <a:rPr lang="fr-FR" spc="-5" dirty="0" smtClean="0">
                <a:latin typeface="+mj-lt"/>
                <a:cs typeface="Arial"/>
              </a:rPr>
              <a:t>requêtes </a:t>
            </a:r>
            <a:r>
              <a:rPr lang="fr-FR" dirty="0" smtClean="0">
                <a:latin typeface="+mj-lt"/>
                <a:cs typeface="Arial"/>
              </a:rPr>
              <a:t>à </a:t>
            </a:r>
            <a:r>
              <a:rPr lang="fr-FR" spc="-5" dirty="0" smtClean="0">
                <a:latin typeface="+mj-lt"/>
                <a:cs typeface="Arial"/>
              </a:rPr>
              <a:t>Paris/Lyon/Marseille  </a:t>
            </a:r>
            <a:r>
              <a:rPr lang="fr-FR" dirty="0" smtClean="0">
                <a:latin typeface="+mj-lt"/>
                <a:cs typeface="Arial"/>
              </a:rPr>
              <a:t>sont sur des employés</a:t>
            </a:r>
            <a:r>
              <a:rPr lang="fr-FR" spc="-40" dirty="0" smtClean="0">
                <a:latin typeface="+mj-lt"/>
                <a:cs typeface="Arial"/>
              </a:rPr>
              <a:t> </a:t>
            </a:r>
            <a:r>
              <a:rPr lang="fr-FR" dirty="0" smtClean="0">
                <a:latin typeface="+mj-lt"/>
                <a:cs typeface="Arial"/>
              </a:rPr>
              <a:t>locaux</a:t>
            </a:r>
          </a:p>
          <a:p>
            <a:pPr marL="190500"/>
            <a:endParaRPr lang="fr-FR" dirty="0" smtClean="0">
              <a:latin typeface="+mj-lt"/>
              <a:cs typeface="Arial"/>
            </a:endParaRPr>
          </a:p>
          <a:p>
            <a:pPr marL="190500"/>
            <a:endParaRPr lang="fr-FR" dirty="0" smtClean="0">
              <a:latin typeface="+mj-lt"/>
              <a:cs typeface="Arial"/>
            </a:endParaRPr>
          </a:p>
          <a:p>
            <a:endParaRPr lang="fr-FR" dirty="0">
              <a:latin typeface="+mj-lt"/>
            </a:endParaRPr>
          </a:p>
        </p:txBody>
      </p:sp>
      <p:sp>
        <p:nvSpPr>
          <p:cNvPr id="9" name="object 9"/>
          <p:cNvSpPr txBox="1">
            <a:spLocks noGrp="1"/>
          </p:cNvSpPr>
          <p:nvPr>
            <p:ph type="sldNum" sz="quarter" idx="15"/>
          </p:nvPr>
        </p:nvSpPr>
        <p:spPr>
          <a:prstGeom prst="rect">
            <a:avLst/>
          </a:prstGeom>
        </p:spPr>
        <p:txBody>
          <a:bodyPr vert="horz" wrap="square" lIns="0" tIns="0" rIns="0" bIns="0" rtlCol="0">
            <a:spAutoFit/>
          </a:bodyPr>
          <a:lstStyle/>
          <a:p>
            <a:pPr marL="38100">
              <a:lnSpc>
                <a:spcPts val="1315"/>
              </a:lnSpc>
            </a:pPr>
            <a:fld id="{81D60167-4931-47E6-BA6A-407CBD079E47}" type="slidenum">
              <a:rPr dirty="0"/>
              <a:pPr marL="38100">
                <a:lnSpc>
                  <a:spcPts val="1315"/>
                </a:lnSpc>
              </a:pPr>
              <a:t>11</a:t>
            </a:fld>
            <a:endParaRP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6913" y="6478386"/>
            <a:ext cx="723265" cy="380153"/>
            <a:chOff x="236912" y="4858789"/>
            <a:chExt cx="723265" cy="285115"/>
          </a:xfrm>
        </p:grpSpPr>
        <p:sp>
          <p:nvSpPr>
            <p:cNvPr id="3" name="object 3"/>
            <p:cNvSpPr/>
            <p:nvPr/>
          </p:nvSpPr>
          <p:spPr>
            <a:xfrm>
              <a:off x="444730" y="4883727"/>
              <a:ext cx="295101" cy="259772"/>
            </a:xfrm>
            <a:prstGeom prst="rect">
              <a:avLst/>
            </a:prstGeom>
            <a:blipFill>
              <a:blip r:embed="rId4" cstate="print"/>
              <a:stretch>
                <a:fillRect/>
              </a:stretch>
            </a:blipFill>
          </p:spPr>
          <p:txBody>
            <a:bodyPr wrap="square" lIns="0" tIns="0" rIns="0" bIns="0" rtlCol="0"/>
            <a:lstStyle/>
            <a:p>
              <a:pPr defTabSz="914079"/>
              <a:endParaRPr>
                <a:solidFill>
                  <a:prstClr val="black"/>
                </a:solidFill>
              </a:endParaRPr>
            </a:p>
          </p:txBody>
        </p:sp>
        <p:sp>
          <p:nvSpPr>
            <p:cNvPr id="4" name="object 4"/>
            <p:cNvSpPr/>
            <p:nvPr/>
          </p:nvSpPr>
          <p:spPr>
            <a:xfrm>
              <a:off x="283990" y="4881036"/>
              <a:ext cx="630555" cy="259715"/>
            </a:xfrm>
            <a:custGeom>
              <a:avLst/>
              <a:gdLst/>
              <a:ahLst/>
              <a:cxnLst/>
              <a:rect l="l" t="t" r="r" b="b"/>
              <a:pathLst>
                <a:path w="630555" h="259714">
                  <a:moveTo>
                    <a:pt x="587250" y="0"/>
                  </a:moveTo>
                  <a:lnTo>
                    <a:pt x="43278" y="0"/>
                  </a:lnTo>
                  <a:lnTo>
                    <a:pt x="26432" y="3400"/>
                  </a:lnTo>
                  <a:lnTo>
                    <a:pt x="12675" y="12675"/>
                  </a:lnTo>
                  <a:lnTo>
                    <a:pt x="3401" y="26432"/>
                  </a:lnTo>
                  <a:lnTo>
                    <a:pt x="0" y="43278"/>
                  </a:lnTo>
                  <a:lnTo>
                    <a:pt x="0" y="259662"/>
                  </a:lnTo>
                  <a:lnTo>
                    <a:pt x="630528" y="259662"/>
                  </a:lnTo>
                  <a:lnTo>
                    <a:pt x="630528" y="43278"/>
                  </a:lnTo>
                  <a:lnTo>
                    <a:pt x="627127" y="26432"/>
                  </a:lnTo>
                  <a:lnTo>
                    <a:pt x="617853" y="12675"/>
                  </a:lnTo>
                  <a:lnTo>
                    <a:pt x="604096" y="3400"/>
                  </a:lnTo>
                  <a:lnTo>
                    <a:pt x="587250" y="0"/>
                  </a:lnTo>
                  <a:close/>
                </a:path>
              </a:pathLst>
            </a:custGeom>
            <a:solidFill>
              <a:srgbClr val="E4E4E4"/>
            </a:solidFill>
          </p:spPr>
          <p:txBody>
            <a:bodyPr wrap="square" lIns="0" tIns="0" rIns="0" bIns="0" rtlCol="0"/>
            <a:lstStyle/>
            <a:p>
              <a:pPr defTabSz="914079"/>
              <a:endParaRPr>
                <a:solidFill>
                  <a:prstClr val="black"/>
                </a:solidFill>
              </a:endParaRPr>
            </a:p>
          </p:txBody>
        </p:sp>
      </p:grpSp>
      <p:sp>
        <p:nvSpPr>
          <p:cNvPr id="5" name="object 5"/>
          <p:cNvSpPr txBox="1">
            <a:spLocks noGrp="1"/>
          </p:cNvSpPr>
          <p:nvPr>
            <p:ph type="title"/>
          </p:nvPr>
        </p:nvSpPr>
        <p:spPr>
          <a:xfrm>
            <a:off x="457200" y="290215"/>
            <a:ext cx="7467600" cy="474489"/>
          </a:xfrm>
          <a:prstGeom prst="rect">
            <a:avLst/>
          </a:prstGeom>
        </p:spPr>
        <p:txBody>
          <a:bodyPr vert="horz" wrap="square" lIns="0" tIns="12700" rIns="0" bIns="0" rtlCol="0">
            <a:spAutoFit/>
          </a:bodyPr>
          <a:lstStyle/>
          <a:p>
            <a:pPr marL="12700">
              <a:lnSpc>
                <a:spcPct val="100000"/>
              </a:lnSpc>
              <a:spcBef>
                <a:spcPts val="100"/>
              </a:spcBef>
            </a:pPr>
            <a:r>
              <a:rPr lang="fr-FR" spc="-5" dirty="0" smtClean="0"/>
              <a:t>Intérêt de la fragmentation</a:t>
            </a:r>
            <a:endParaRPr spc="-5" dirty="0"/>
          </a:p>
        </p:txBody>
      </p:sp>
      <p:sp>
        <p:nvSpPr>
          <p:cNvPr id="8" name="Espace réservé du contenu 7"/>
          <p:cNvSpPr>
            <a:spLocks noGrp="1"/>
          </p:cNvSpPr>
          <p:nvPr>
            <p:ph sz="quarter" idx="1"/>
          </p:nvPr>
        </p:nvSpPr>
        <p:spPr>
          <a:xfrm>
            <a:off x="457200" y="1600200"/>
            <a:ext cx="8003232" cy="4873752"/>
          </a:xfrm>
        </p:spPr>
        <p:txBody>
          <a:bodyPr>
            <a:normAutofit lnSpcReduction="10000"/>
          </a:bodyPr>
          <a:lstStyle/>
          <a:p>
            <a:pPr marL="12700">
              <a:lnSpc>
                <a:spcPct val="100000"/>
              </a:lnSpc>
              <a:spcBef>
                <a:spcPts val="440"/>
              </a:spcBef>
            </a:pPr>
            <a:r>
              <a:rPr lang="fr-FR" sz="2800" dirty="0" smtClean="0">
                <a:cs typeface="Arial"/>
              </a:rPr>
              <a:t>Pour</a:t>
            </a:r>
            <a:r>
              <a:rPr lang="fr-FR" sz="2800" spc="-10" dirty="0" smtClean="0">
                <a:cs typeface="Arial"/>
              </a:rPr>
              <a:t> </a:t>
            </a:r>
            <a:r>
              <a:rPr lang="fr-FR" sz="2800" spc="-5" dirty="0" smtClean="0">
                <a:cs typeface="Arial"/>
              </a:rPr>
              <a:t>illustrer</a:t>
            </a:r>
            <a:endParaRPr lang="fr-FR" sz="2800" dirty="0" smtClean="0">
              <a:cs typeface="Arial"/>
            </a:endParaRPr>
          </a:p>
          <a:p>
            <a:pPr marL="190500"/>
            <a:r>
              <a:rPr lang="fr-FR" dirty="0" smtClean="0">
                <a:cs typeface="Arial"/>
              </a:rPr>
              <a:t>Accès disque = 1 </a:t>
            </a:r>
            <a:r>
              <a:rPr lang="fr-FR" spc="-5" dirty="0" smtClean="0">
                <a:cs typeface="Arial"/>
              </a:rPr>
              <a:t>unité </a:t>
            </a:r>
            <a:r>
              <a:rPr lang="fr-FR" dirty="0" smtClean="0">
                <a:cs typeface="Arial"/>
              </a:rPr>
              <a:t>&amp; Accès réseau = 10</a:t>
            </a:r>
            <a:r>
              <a:rPr lang="fr-FR" spc="-50" dirty="0" smtClean="0">
                <a:cs typeface="Arial"/>
              </a:rPr>
              <a:t> </a:t>
            </a:r>
            <a:r>
              <a:rPr lang="fr-FR" spc="-5" dirty="0" smtClean="0">
                <a:cs typeface="Arial"/>
              </a:rPr>
              <a:t>unités</a:t>
            </a:r>
            <a:endParaRPr lang="fr-FR" dirty="0" smtClean="0">
              <a:cs typeface="Arial"/>
            </a:endParaRPr>
          </a:p>
          <a:p>
            <a:pPr marL="12700" marR="1250950">
              <a:lnSpc>
                <a:spcPct val="116500"/>
              </a:lnSpc>
              <a:spcBef>
                <a:spcPts val="100"/>
              </a:spcBef>
            </a:pPr>
            <a:r>
              <a:rPr lang="fr-FR" b="1" dirty="0" smtClean="0">
                <a:latin typeface="+mj-lt"/>
                <a:cs typeface="Arial"/>
              </a:rPr>
              <a:t>Sans </a:t>
            </a:r>
            <a:r>
              <a:rPr lang="fr-FR" b="1" spc="-5" dirty="0" smtClean="0">
                <a:latin typeface="+mj-lt"/>
                <a:cs typeface="Arial"/>
              </a:rPr>
              <a:t>fragmentation </a:t>
            </a:r>
            <a:r>
              <a:rPr lang="fr-FR" dirty="0" smtClean="0">
                <a:latin typeface="+mj-lt"/>
                <a:cs typeface="Arial"/>
              </a:rPr>
              <a:t>(un </a:t>
            </a:r>
            <a:r>
              <a:rPr lang="fr-FR" spc="-5" dirty="0" smtClean="0">
                <a:latin typeface="+mj-lt"/>
                <a:cs typeface="Arial"/>
              </a:rPr>
              <a:t>SGBD </a:t>
            </a:r>
            <a:r>
              <a:rPr lang="fr-FR" dirty="0" err="1" smtClean="0">
                <a:latin typeface="+mj-lt"/>
                <a:cs typeface="Arial"/>
              </a:rPr>
              <a:t>àParis</a:t>
            </a:r>
            <a:r>
              <a:rPr lang="fr-FR" dirty="0" smtClean="0">
                <a:latin typeface="+mj-lt"/>
                <a:cs typeface="Arial"/>
              </a:rPr>
              <a:t>)  </a:t>
            </a:r>
            <a:r>
              <a:rPr lang="fr-FR" u="sng" spc="-5" dirty="0" smtClean="0">
                <a:latin typeface="+mj-lt"/>
                <a:cs typeface="Arial"/>
              </a:rPr>
              <a:t>Coût</a:t>
            </a:r>
            <a:endParaRPr lang="fr-FR" u="sng" dirty="0" smtClean="0">
              <a:latin typeface="+mj-lt"/>
              <a:cs typeface="Arial"/>
            </a:endParaRPr>
          </a:p>
          <a:p>
            <a:pPr marL="835532" lvl="1">
              <a:spcBef>
                <a:spcPts val="420"/>
              </a:spcBef>
              <a:tabLst>
                <a:tab pos="755015" algn="l"/>
              </a:tabLst>
            </a:pPr>
            <a:r>
              <a:rPr lang="fr-FR" dirty="0" smtClean="0">
                <a:latin typeface="+mj-lt"/>
                <a:cs typeface="Arial"/>
              </a:rPr>
              <a:t>à Paris = 1 unité</a:t>
            </a:r>
          </a:p>
          <a:p>
            <a:pPr marL="835532" lvl="1">
              <a:spcBef>
                <a:spcPts val="420"/>
              </a:spcBef>
              <a:tabLst>
                <a:tab pos="755015" algn="l"/>
              </a:tabLst>
            </a:pPr>
            <a:r>
              <a:rPr lang="fr-FR" dirty="0" smtClean="0">
                <a:latin typeface="+mj-lt"/>
                <a:cs typeface="Arial"/>
              </a:rPr>
              <a:t>à </a:t>
            </a:r>
            <a:r>
              <a:rPr lang="fr-FR" spc="-5" dirty="0" smtClean="0">
                <a:latin typeface="+mj-lt"/>
                <a:cs typeface="Arial"/>
              </a:rPr>
              <a:t>L/M </a:t>
            </a:r>
            <a:r>
              <a:rPr lang="fr-FR" dirty="0" smtClean="0">
                <a:latin typeface="+mj-lt"/>
                <a:cs typeface="Arial"/>
              </a:rPr>
              <a:t>=</a:t>
            </a:r>
            <a:r>
              <a:rPr lang="fr-FR" spc="-5" dirty="0" smtClean="0">
                <a:latin typeface="+mj-lt"/>
                <a:cs typeface="Arial"/>
              </a:rPr>
              <a:t> </a:t>
            </a:r>
            <a:r>
              <a:rPr lang="fr-FR" dirty="0" smtClean="0">
                <a:latin typeface="+mj-lt"/>
                <a:cs typeface="Arial"/>
              </a:rPr>
              <a:t>10</a:t>
            </a:r>
          </a:p>
          <a:p>
            <a:pPr marL="835532" lvl="1">
              <a:spcBef>
                <a:spcPts val="420"/>
              </a:spcBef>
              <a:tabLst>
                <a:tab pos="755015" algn="l"/>
              </a:tabLst>
            </a:pPr>
            <a:r>
              <a:rPr lang="fr-FR" dirty="0" smtClean="0">
                <a:latin typeface="+mj-lt"/>
                <a:cs typeface="Arial"/>
              </a:rPr>
              <a:t>moyenne = </a:t>
            </a:r>
            <a:r>
              <a:rPr lang="fr-FR" spc="-5" dirty="0" smtClean="0">
                <a:latin typeface="+mj-lt"/>
                <a:cs typeface="Arial"/>
              </a:rPr>
              <a:t>0.4*1*(0.9+.01)+0.6*10</a:t>
            </a:r>
            <a:r>
              <a:rPr lang="fr-FR" sz="2000" spc="-5" dirty="0" smtClean="0">
                <a:cs typeface="Arial"/>
              </a:rPr>
              <a:t>*(0.9+.01)</a:t>
            </a:r>
            <a:r>
              <a:rPr lang="fr-FR" spc="-5" dirty="0" smtClean="0">
                <a:latin typeface="+mj-lt"/>
                <a:cs typeface="Arial"/>
              </a:rPr>
              <a:t>= 6.4 unités</a:t>
            </a:r>
            <a:endParaRPr lang="fr-FR" dirty="0" smtClean="0">
              <a:latin typeface="+mj-lt"/>
              <a:cs typeface="Arial"/>
            </a:endParaRPr>
          </a:p>
          <a:p>
            <a:pPr marL="12700" marR="5080">
              <a:lnSpc>
                <a:spcPct val="118400"/>
              </a:lnSpc>
              <a:spcBef>
                <a:spcPts val="100"/>
              </a:spcBef>
            </a:pPr>
            <a:r>
              <a:rPr lang="fr-FR" b="1" dirty="0" smtClean="0">
                <a:latin typeface="+mj-lt"/>
                <a:cs typeface="Arial"/>
              </a:rPr>
              <a:t>Avec </a:t>
            </a:r>
            <a:r>
              <a:rPr lang="fr-FR" b="1" spc="-5" dirty="0" smtClean="0">
                <a:latin typeface="+mj-lt"/>
                <a:cs typeface="Arial"/>
              </a:rPr>
              <a:t>fragmentation </a:t>
            </a:r>
            <a:r>
              <a:rPr lang="fr-FR" dirty="0" smtClean="0">
                <a:latin typeface="+mj-lt"/>
                <a:cs typeface="Arial"/>
              </a:rPr>
              <a:t>(3 </a:t>
            </a:r>
            <a:r>
              <a:rPr lang="fr-FR" spc="-5" dirty="0" smtClean="0">
                <a:latin typeface="+mj-lt"/>
                <a:cs typeface="Arial"/>
              </a:rPr>
              <a:t>SGBD </a:t>
            </a:r>
            <a:r>
              <a:rPr lang="fr-FR" dirty="0" smtClean="0">
                <a:latin typeface="+mj-lt"/>
                <a:cs typeface="Arial"/>
              </a:rPr>
              <a:t>: BD-P, BD-L,</a:t>
            </a:r>
            <a:r>
              <a:rPr lang="fr-FR" spc="-45" dirty="0" smtClean="0">
                <a:latin typeface="+mj-lt"/>
                <a:cs typeface="Arial"/>
              </a:rPr>
              <a:t> </a:t>
            </a:r>
            <a:r>
              <a:rPr lang="fr-FR" dirty="0" smtClean="0">
                <a:latin typeface="+mj-lt"/>
                <a:cs typeface="Arial"/>
              </a:rPr>
              <a:t>BD-M)  </a:t>
            </a:r>
            <a:r>
              <a:rPr lang="fr-FR" u="sng" spc="-5" dirty="0" smtClean="0">
                <a:latin typeface="+mj-lt"/>
                <a:cs typeface="Arial"/>
              </a:rPr>
              <a:t>Coût</a:t>
            </a:r>
            <a:endParaRPr lang="fr-FR" u="sng" dirty="0" smtClean="0">
              <a:latin typeface="+mj-lt"/>
              <a:cs typeface="Arial"/>
            </a:endParaRPr>
          </a:p>
          <a:p>
            <a:pPr marL="469900">
              <a:lnSpc>
                <a:spcPct val="100000"/>
              </a:lnSpc>
              <a:spcBef>
                <a:spcPts val="420"/>
              </a:spcBef>
              <a:tabLst>
                <a:tab pos="755015" algn="l"/>
              </a:tabLst>
            </a:pPr>
            <a:r>
              <a:rPr lang="fr-FR" dirty="0" smtClean="0">
                <a:latin typeface="+mj-lt"/>
                <a:cs typeface="Arial"/>
              </a:rPr>
              <a:t>–	à </a:t>
            </a:r>
            <a:r>
              <a:rPr lang="fr-FR" spc="-5" dirty="0" smtClean="0">
                <a:latin typeface="+mj-lt"/>
                <a:cs typeface="Arial"/>
              </a:rPr>
              <a:t>P/L/M </a:t>
            </a:r>
            <a:r>
              <a:rPr lang="fr-FR" dirty="0" smtClean="0">
                <a:latin typeface="+mj-lt"/>
                <a:cs typeface="Arial"/>
              </a:rPr>
              <a:t>= </a:t>
            </a:r>
            <a:r>
              <a:rPr lang="fr-FR" spc="-5" dirty="0" smtClean="0">
                <a:latin typeface="+mj-lt"/>
                <a:cs typeface="Arial"/>
              </a:rPr>
              <a:t>0.9*(0.4+0.4+0.2)*1+0.1*10=</a:t>
            </a:r>
            <a:r>
              <a:rPr lang="fr-FR" spc="-30" dirty="0" smtClean="0">
                <a:latin typeface="+mj-lt"/>
                <a:cs typeface="Arial"/>
              </a:rPr>
              <a:t> </a:t>
            </a:r>
            <a:r>
              <a:rPr lang="fr-FR" spc="-5" dirty="0" smtClean="0">
                <a:latin typeface="+mj-lt"/>
                <a:cs typeface="Arial"/>
              </a:rPr>
              <a:t>1.9</a:t>
            </a:r>
            <a:endParaRPr lang="fr-FR" dirty="0" smtClean="0">
              <a:latin typeface="+mj-lt"/>
              <a:cs typeface="Arial"/>
            </a:endParaRPr>
          </a:p>
          <a:p>
            <a:pPr marL="755650" indent="-285750">
              <a:lnSpc>
                <a:spcPct val="100000"/>
              </a:lnSpc>
              <a:spcBef>
                <a:spcPts val="520"/>
              </a:spcBef>
              <a:buClr>
                <a:srgbClr val="606060"/>
              </a:buClr>
              <a:buChar char="–"/>
              <a:tabLst>
                <a:tab pos="755015" algn="l"/>
                <a:tab pos="755650" algn="l"/>
              </a:tabLst>
            </a:pPr>
            <a:r>
              <a:rPr lang="fr-FR" dirty="0" smtClean="0">
                <a:latin typeface="+mj-lt"/>
                <a:cs typeface="Arial"/>
              </a:rPr>
              <a:t>moyenne = </a:t>
            </a:r>
            <a:r>
              <a:rPr lang="fr-FR" spc="-5" dirty="0" smtClean="0">
                <a:latin typeface="+mj-lt"/>
                <a:cs typeface="Arial"/>
              </a:rPr>
              <a:t>1.9</a:t>
            </a:r>
            <a:r>
              <a:rPr lang="fr-FR" spc="-70" dirty="0" smtClean="0">
                <a:latin typeface="+mj-lt"/>
                <a:cs typeface="Arial"/>
              </a:rPr>
              <a:t> </a:t>
            </a:r>
            <a:r>
              <a:rPr lang="fr-FR" spc="-5" dirty="0" smtClean="0">
                <a:latin typeface="+mj-lt"/>
                <a:cs typeface="Arial"/>
              </a:rPr>
              <a:t>unités</a:t>
            </a:r>
            <a:endParaRPr lang="fr-FR" dirty="0" smtClean="0">
              <a:latin typeface="+mj-lt"/>
              <a:cs typeface="Arial"/>
            </a:endParaRPr>
          </a:p>
          <a:p>
            <a:pPr marL="755650" indent="-285750">
              <a:lnSpc>
                <a:spcPct val="100000"/>
              </a:lnSpc>
              <a:spcBef>
                <a:spcPts val="420"/>
              </a:spcBef>
              <a:buClr>
                <a:srgbClr val="606060"/>
              </a:buClr>
              <a:buChar char="–"/>
              <a:tabLst>
                <a:tab pos="755015" algn="l"/>
                <a:tab pos="755650" algn="l"/>
              </a:tabLst>
            </a:pPr>
            <a:r>
              <a:rPr lang="fr-FR" spc="-5" dirty="0" smtClean="0">
                <a:latin typeface="+mj-lt"/>
                <a:cs typeface="Arial"/>
              </a:rPr>
              <a:t>Evite </a:t>
            </a:r>
            <a:r>
              <a:rPr lang="fr-FR" dirty="0" smtClean="0">
                <a:latin typeface="+mj-lt"/>
                <a:cs typeface="Arial"/>
              </a:rPr>
              <a:t>le risque de </a:t>
            </a:r>
            <a:r>
              <a:rPr lang="fr-FR" spc="-5" dirty="0" smtClean="0">
                <a:latin typeface="+mj-lt"/>
                <a:cs typeface="Arial"/>
              </a:rPr>
              <a:t>saturer </a:t>
            </a:r>
            <a:r>
              <a:rPr lang="fr-FR" dirty="0" smtClean="0">
                <a:latin typeface="+mj-lt"/>
                <a:cs typeface="Arial"/>
              </a:rPr>
              <a:t>le </a:t>
            </a:r>
            <a:r>
              <a:rPr lang="fr-FR" spc="-5" dirty="0" smtClean="0">
                <a:latin typeface="+mj-lt"/>
                <a:cs typeface="Arial"/>
              </a:rPr>
              <a:t>SGBD </a:t>
            </a:r>
            <a:r>
              <a:rPr lang="fr-FR" dirty="0" smtClean="0">
                <a:latin typeface="+mj-lt"/>
                <a:cs typeface="Arial"/>
              </a:rPr>
              <a:t>de</a:t>
            </a:r>
            <a:r>
              <a:rPr lang="fr-FR" spc="-25" dirty="0" smtClean="0">
                <a:latin typeface="+mj-lt"/>
                <a:cs typeface="Arial"/>
              </a:rPr>
              <a:t> </a:t>
            </a:r>
            <a:r>
              <a:rPr lang="fr-FR" dirty="0" smtClean="0">
                <a:latin typeface="+mj-lt"/>
                <a:cs typeface="Arial"/>
              </a:rPr>
              <a:t>Paris</a:t>
            </a:r>
          </a:p>
          <a:p>
            <a:endParaRPr lang="fr-FR" dirty="0">
              <a:latin typeface="+mj-lt"/>
            </a:endParaRPr>
          </a:p>
        </p:txBody>
      </p:sp>
      <p:sp>
        <p:nvSpPr>
          <p:cNvPr id="7" name="object 7"/>
          <p:cNvSpPr txBox="1">
            <a:spLocks noGrp="1"/>
          </p:cNvSpPr>
          <p:nvPr>
            <p:ph type="sldNum" sz="quarter" idx="15"/>
          </p:nvPr>
        </p:nvSpPr>
        <p:spPr>
          <a:prstGeom prst="rect">
            <a:avLst/>
          </a:prstGeom>
        </p:spPr>
        <p:txBody>
          <a:bodyPr vert="horz" wrap="square" lIns="0" tIns="0" rIns="0" bIns="0" rtlCol="0">
            <a:spAutoFit/>
          </a:bodyPr>
          <a:lstStyle/>
          <a:p>
            <a:pPr marL="38100">
              <a:lnSpc>
                <a:spcPts val="1315"/>
              </a:lnSpc>
            </a:pPr>
            <a:fld id="{81D60167-4931-47E6-BA6A-407CBD079E47}" type="slidenum">
              <a:rPr dirty="0"/>
              <a:pPr marL="38100">
                <a:lnSpc>
                  <a:spcPts val="1315"/>
                </a:lnSpc>
              </a:pPr>
              <a:t>12</a:t>
            </a:fld>
            <a:endParaRPr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Techniques de Fragmentation</a:t>
            </a:r>
            <a:br>
              <a:rPr lang="fr-FR" dirty="0" smtClean="0"/>
            </a:br>
            <a:endParaRPr lang="fr-FR" dirty="0"/>
          </a:p>
        </p:txBody>
      </p:sp>
      <p:sp>
        <p:nvSpPr>
          <p:cNvPr id="3" name="Espace réservé du contenu 2"/>
          <p:cNvSpPr>
            <a:spLocks noGrp="1"/>
          </p:cNvSpPr>
          <p:nvPr>
            <p:ph sz="quarter" idx="1"/>
          </p:nvPr>
        </p:nvSpPr>
        <p:spPr/>
        <p:txBody>
          <a:bodyPr/>
          <a:lstStyle/>
          <a:p>
            <a:r>
              <a:rPr lang="fr-FR" dirty="0" smtClean="0"/>
              <a:t>Il existe plusieurs techniques de fragmentation:</a:t>
            </a:r>
          </a:p>
          <a:p>
            <a:endParaRPr lang="fr-FR" dirty="0" smtClean="0"/>
          </a:p>
          <a:p>
            <a:pPr lvl="2"/>
            <a:r>
              <a:rPr lang="fr-FR" sz="2400" dirty="0" smtClean="0"/>
              <a:t>Fragmentation horizontale</a:t>
            </a:r>
          </a:p>
          <a:p>
            <a:pPr lvl="3"/>
            <a:r>
              <a:rPr lang="fr-FR" sz="2400" dirty="0" smtClean="0"/>
              <a:t>Primaire</a:t>
            </a:r>
          </a:p>
          <a:p>
            <a:pPr lvl="3"/>
            <a:r>
              <a:rPr lang="fr-FR" sz="2400" dirty="0" smtClean="0"/>
              <a:t>Dérivée</a:t>
            </a:r>
          </a:p>
          <a:p>
            <a:pPr lvl="2"/>
            <a:r>
              <a:rPr lang="fr-FR" sz="2400" dirty="0" smtClean="0"/>
              <a:t>Fragmentation verticale</a:t>
            </a:r>
          </a:p>
          <a:p>
            <a:pPr lvl="2"/>
            <a:r>
              <a:rPr lang="fr-FR" sz="2400" dirty="0" smtClean="0"/>
              <a:t>Fragmentation mixte</a:t>
            </a:r>
          </a:p>
          <a:p>
            <a:pPr lvl="2"/>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13</a:t>
            </a:fld>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9"/>
            <a:ext cx="8219256" cy="1143000"/>
          </a:xfrm>
        </p:spPr>
        <p:txBody>
          <a:bodyPr>
            <a:normAutofit/>
          </a:bodyPr>
          <a:lstStyle/>
          <a:p>
            <a:r>
              <a:rPr lang="fr-FR" dirty="0" smtClean="0"/>
              <a:t>Fragmentation horizontale</a:t>
            </a:r>
            <a:br>
              <a:rPr lang="fr-FR" dirty="0" smtClean="0"/>
            </a:br>
            <a:endParaRPr lang="fr-FR" dirty="0"/>
          </a:p>
        </p:txBody>
      </p:sp>
      <p:sp>
        <p:nvSpPr>
          <p:cNvPr id="3" name="Espace réservé du contenu 2"/>
          <p:cNvSpPr>
            <a:spLocks noGrp="1"/>
          </p:cNvSpPr>
          <p:nvPr>
            <p:ph sz="quarter" idx="1"/>
          </p:nvPr>
        </p:nvSpPr>
        <p:spPr>
          <a:xfrm>
            <a:off x="457200" y="1600200"/>
            <a:ext cx="7467600" cy="2692896"/>
          </a:xfrm>
        </p:spPr>
        <p:txBody>
          <a:bodyPr>
            <a:normAutofit fontScale="77500" lnSpcReduction="20000"/>
          </a:bodyPr>
          <a:lstStyle/>
          <a:p>
            <a:r>
              <a:rPr lang="fr-FR" sz="2900" b="1" u="sng" dirty="0" smtClean="0"/>
              <a:t>Fragmentation horizontale primaire : </a:t>
            </a:r>
          </a:p>
          <a:p>
            <a:r>
              <a:rPr lang="fr-FR" dirty="0" smtClean="0"/>
              <a:t>La Fragmentation horizontale est définie par l’opération de sélection </a:t>
            </a:r>
          </a:p>
          <a:p>
            <a:r>
              <a:rPr lang="fr-FR" b="1" u="sng" dirty="0" smtClean="0"/>
              <a:t>Exemple </a:t>
            </a:r>
          </a:p>
          <a:p>
            <a:pPr lvl="1"/>
            <a:r>
              <a:rPr lang="fr-FR" sz="2400" dirty="0" smtClean="0"/>
              <a:t>Client (</a:t>
            </a:r>
            <a:r>
              <a:rPr lang="fr-FR" sz="2400" u="sng" dirty="0" smtClean="0"/>
              <a:t>NCL, Nom, Ville) peut être fragmentée : </a:t>
            </a:r>
          </a:p>
          <a:p>
            <a:pPr lvl="1"/>
            <a:r>
              <a:rPr lang="en-US" sz="2400" dirty="0" smtClean="0"/>
              <a:t>Client1= SELECT * FROM Client WHERE Ville = “Paris” </a:t>
            </a:r>
          </a:p>
          <a:p>
            <a:pPr lvl="1"/>
            <a:r>
              <a:rPr lang="en-US" sz="2400" dirty="0" smtClean="0"/>
              <a:t>Client2= SELECT * FROM Client WHERE Ville &lt;&gt; “Paris” </a:t>
            </a:r>
          </a:p>
          <a:p>
            <a:r>
              <a:rPr lang="fr-FR" b="1" dirty="0" smtClean="0"/>
              <a:t>Reconstruction de la relation initiale: </a:t>
            </a:r>
          </a:p>
          <a:p>
            <a:r>
              <a:rPr lang="fr-FR" b="1" dirty="0" smtClean="0"/>
              <a:t>Client = Client1 ∪ Client2 </a:t>
            </a:r>
          </a:p>
          <a:p>
            <a:pPr>
              <a:buNone/>
            </a:pPr>
            <a:endParaRPr lang="fr-FR" b="1" dirty="0" smtClean="0"/>
          </a:p>
          <a:p>
            <a:endParaRPr lang="fr-FR" dirty="0"/>
          </a:p>
        </p:txBody>
      </p:sp>
      <p:pic>
        <p:nvPicPr>
          <p:cNvPr id="5122" name="Picture 2"/>
          <p:cNvPicPr>
            <a:picLocks noChangeAspect="1" noChangeArrowheads="1"/>
          </p:cNvPicPr>
          <p:nvPr/>
        </p:nvPicPr>
        <p:blipFill>
          <a:blip r:embed="rId3" cstate="print"/>
          <a:srcRect/>
          <a:stretch>
            <a:fillRect/>
          </a:stretch>
        </p:blipFill>
        <p:spPr bwMode="auto">
          <a:xfrm>
            <a:off x="971615" y="4437124"/>
            <a:ext cx="6505575" cy="2181225"/>
          </a:xfrm>
          <a:prstGeom prst="rect">
            <a:avLst/>
          </a:prstGeom>
          <a:noFill/>
          <a:ln w="9525">
            <a:noFill/>
            <a:miter lim="800000"/>
            <a:headEnd/>
            <a:tailEnd/>
          </a:ln>
        </p:spPr>
      </p:pic>
      <p:sp>
        <p:nvSpPr>
          <p:cNvPr id="5" name="Espace réservé du numéro de diapositive 4"/>
          <p:cNvSpPr>
            <a:spLocks noGrp="1"/>
          </p:cNvSpPr>
          <p:nvPr>
            <p:ph type="sldNum" sz="quarter" idx="15"/>
          </p:nvPr>
        </p:nvSpPr>
        <p:spPr/>
        <p:txBody>
          <a:bodyPr/>
          <a:lstStyle/>
          <a:p>
            <a:fld id="{F1AAE0E6-1385-44E0-8EAE-F204D7E7A5E9}" type="slidenum">
              <a:rPr lang="fr-FR" smtClean="0"/>
              <a:pPr/>
              <a:t>14</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9"/>
            <a:ext cx="8939336" cy="1143000"/>
          </a:xfrm>
        </p:spPr>
        <p:txBody>
          <a:bodyPr>
            <a:normAutofit/>
          </a:bodyPr>
          <a:lstStyle/>
          <a:p>
            <a:r>
              <a:rPr lang="fr-FR" dirty="0" smtClean="0"/>
              <a:t>Fragmentation horizontale</a:t>
            </a:r>
            <a:br>
              <a:rPr lang="fr-FR" dirty="0" smtClean="0"/>
            </a:br>
            <a:endParaRPr lang="fr-FR" dirty="0"/>
          </a:p>
        </p:txBody>
      </p:sp>
      <p:sp>
        <p:nvSpPr>
          <p:cNvPr id="3" name="Espace réservé du contenu 2"/>
          <p:cNvSpPr>
            <a:spLocks noGrp="1"/>
          </p:cNvSpPr>
          <p:nvPr>
            <p:ph sz="quarter" idx="1"/>
          </p:nvPr>
        </p:nvSpPr>
        <p:spPr>
          <a:xfrm>
            <a:off x="457200" y="1600200"/>
            <a:ext cx="7467600" cy="2116832"/>
          </a:xfrm>
        </p:spPr>
        <p:txBody>
          <a:bodyPr>
            <a:normAutofit fontScale="85000" lnSpcReduction="10000"/>
          </a:bodyPr>
          <a:lstStyle/>
          <a:p>
            <a:r>
              <a:rPr lang="fr-FR" b="1" u="sng" dirty="0" smtClean="0"/>
              <a:t>Fragmentation horizontale dérivée : </a:t>
            </a:r>
          </a:p>
          <a:p>
            <a:r>
              <a:rPr lang="fr-FR" dirty="0" smtClean="0"/>
              <a:t>La Fragmentation d’une table en fonction des fragments horizontaux d’une autre table. </a:t>
            </a:r>
          </a:p>
          <a:p>
            <a:pPr>
              <a:buNone/>
            </a:pPr>
            <a:endParaRPr lang="fr-FR" b="1" dirty="0" smtClean="0"/>
          </a:p>
          <a:p>
            <a:r>
              <a:rPr lang="fr-FR" b="1" u="sng" dirty="0" smtClean="0"/>
              <a:t>Exemple </a:t>
            </a:r>
          </a:p>
          <a:p>
            <a:r>
              <a:rPr lang="fr-FR" dirty="0" smtClean="0"/>
              <a:t>Commande (</a:t>
            </a:r>
            <a:r>
              <a:rPr lang="fr-FR" u="sng" dirty="0" smtClean="0"/>
              <a:t>NCL, N°Produit, Date, </a:t>
            </a:r>
            <a:r>
              <a:rPr lang="fr-FR" u="sng" dirty="0" err="1" smtClean="0"/>
              <a:t>Qte</a:t>
            </a:r>
            <a:r>
              <a:rPr lang="fr-FR" u="sng" dirty="0" smtClean="0"/>
              <a:t>, N°Représentant) </a:t>
            </a:r>
            <a:endParaRPr lang="fr-FR" dirty="0"/>
          </a:p>
        </p:txBody>
      </p:sp>
      <p:pic>
        <p:nvPicPr>
          <p:cNvPr id="6146" name="Picture 2"/>
          <p:cNvPicPr>
            <a:picLocks noChangeAspect="1" noChangeArrowheads="1"/>
          </p:cNvPicPr>
          <p:nvPr/>
        </p:nvPicPr>
        <p:blipFill>
          <a:blip r:embed="rId3" cstate="print"/>
          <a:srcRect/>
          <a:stretch>
            <a:fillRect/>
          </a:stretch>
        </p:blipFill>
        <p:spPr bwMode="auto">
          <a:xfrm>
            <a:off x="251520" y="4005076"/>
            <a:ext cx="3543300" cy="1800225"/>
          </a:xfrm>
          <a:prstGeom prst="rect">
            <a:avLst/>
          </a:prstGeom>
          <a:noFill/>
          <a:ln w="9525">
            <a:noFill/>
            <a:miter lim="800000"/>
            <a:headEnd/>
            <a:tailEnd/>
          </a:ln>
        </p:spPr>
      </p:pic>
      <p:sp>
        <p:nvSpPr>
          <p:cNvPr id="5" name="Rectangle 4"/>
          <p:cNvSpPr/>
          <p:nvPr/>
        </p:nvSpPr>
        <p:spPr>
          <a:xfrm>
            <a:off x="1403651" y="5890053"/>
            <a:ext cx="6444208" cy="923297"/>
          </a:xfrm>
          <a:prstGeom prst="rect">
            <a:avLst/>
          </a:prstGeom>
        </p:spPr>
        <p:txBody>
          <a:bodyPr wrap="square" lIns="91407" tIns="45704" rIns="91407" bIns="45704">
            <a:spAutoFit/>
          </a:bodyPr>
          <a:lstStyle/>
          <a:p>
            <a:pPr defTabSz="914079"/>
            <a:r>
              <a:rPr lang="fr-FR" b="1" dirty="0">
                <a:solidFill>
                  <a:prstClr val="black"/>
                </a:solidFill>
              </a:rPr>
              <a:t>Reconstruction de la relation initiale: </a:t>
            </a:r>
          </a:p>
          <a:p>
            <a:pPr defTabSz="914079"/>
            <a:r>
              <a:rPr lang="fr-FR" b="1" dirty="0">
                <a:solidFill>
                  <a:prstClr val="black"/>
                </a:solidFill>
              </a:rPr>
              <a:t>Commande = Commande1 ∪ Commande2 </a:t>
            </a:r>
          </a:p>
          <a:p>
            <a:pPr defTabSz="914079"/>
            <a:endParaRPr lang="fr-FR" dirty="0">
              <a:solidFill>
                <a:prstClr val="black"/>
              </a:solidFill>
            </a:endParaRPr>
          </a:p>
        </p:txBody>
      </p:sp>
      <p:pic>
        <p:nvPicPr>
          <p:cNvPr id="6147" name="Picture 3"/>
          <p:cNvPicPr>
            <a:picLocks noChangeAspect="1" noChangeArrowheads="1"/>
          </p:cNvPicPr>
          <p:nvPr/>
        </p:nvPicPr>
        <p:blipFill>
          <a:blip r:embed="rId4" cstate="print"/>
          <a:srcRect/>
          <a:stretch>
            <a:fillRect/>
          </a:stretch>
        </p:blipFill>
        <p:spPr bwMode="auto">
          <a:xfrm>
            <a:off x="3819822" y="3838929"/>
            <a:ext cx="4712618" cy="2038351"/>
          </a:xfrm>
          <a:prstGeom prst="rect">
            <a:avLst/>
          </a:prstGeom>
          <a:noFill/>
          <a:ln w="9525">
            <a:noFill/>
            <a:miter lim="800000"/>
            <a:headEnd/>
            <a:tailEnd/>
          </a:ln>
        </p:spPr>
      </p:pic>
      <p:sp>
        <p:nvSpPr>
          <p:cNvPr id="7" name="Espace réservé du numéro de diapositive 6"/>
          <p:cNvSpPr>
            <a:spLocks noGrp="1"/>
          </p:cNvSpPr>
          <p:nvPr>
            <p:ph type="sldNum" sz="quarter" idx="15"/>
          </p:nvPr>
        </p:nvSpPr>
        <p:spPr/>
        <p:txBody>
          <a:bodyPr/>
          <a:lstStyle/>
          <a:p>
            <a:fld id="{F1AAE0E6-1385-44E0-8EAE-F204D7E7A5E9}" type="slidenum">
              <a:rPr lang="fr-FR" smtClean="0"/>
              <a:pPr/>
              <a:t>15</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Fragmentation verticale</a:t>
            </a:r>
            <a:endParaRPr lang="fr-FR" dirty="0"/>
          </a:p>
        </p:txBody>
      </p:sp>
      <p:sp>
        <p:nvSpPr>
          <p:cNvPr id="3" name="Espace réservé du contenu 2"/>
          <p:cNvSpPr>
            <a:spLocks noGrp="1"/>
          </p:cNvSpPr>
          <p:nvPr>
            <p:ph sz="quarter" idx="1"/>
          </p:nvPr>
        </p:nvSpPr>
        <p:spPr/>
        <p:txBody>
          <a:bodyPr>
            <a:normAutofit/>
          </a:bodyPr>
          <a:lstStyle/>
          <a:p>
            <a:r>
              <a:rPr lang="fr-FR" dirty="0" smtClean="0"/>
              <a:t>La fragmentation verticale est le découpage d'une table en sous-tables par des projections permettant de sélectionner les colonnes qui composent chaque fragment</a:t>
            </a:r>
            <a:r>
              <a:rPr lang="fr-FR" dirty="0" smtClean="0">
                <a:sym typeface="Wingdings" pitchFamily="2" charset="2"/>
              </a:rPr>
              <a:t></a:t>
            </a:r>
            <a:r>
              <a:rPr lang="fr-FR" dirty="0" smtClean="0"/>
              <a:t> Répartition des attributs </a:t>
            </a:r>
          </a:p>
          <a:p>
            <a:r>
              <a:rPr lang="fr-FR" dirty="0" smtClean="0"/>
              <a:t>La fragmentation verticale est obtenue par décomposition de la table en groupes de colonnes. </a:t>
            </a:r>
          </a:p>
          <a:p>
            <a:r>
              <a:rPr lang="fr-FR" dirty="0" smtClean="0"/>
              <a:t>Toutes les valeurs des occurrences pour un même attribut se trouvent dans le même fragment </a:t>
            </a:r>
          </a:p>
          <a:p>
            <a:r>
              <a:rPr lang="fr-FR" dirty="0" smtClean="0"/>
              <a:t> L'operateur de partitionnement est la projection (</a:t>
            </a:r>
            <a:r>
              <a:rPr lang="el-GR" dirty="0" smtClean="0"/>
              <a:t>Π</a:t>
            </a:r>
            <a:r>
              <a:rPr lang="fr-FR" dirty="0" smtClean="0"/>
              <a:t>̟)</a:t>
            </a:r>
          </a:p>
          <a:p>
            <a:r>
              <a:rPr lang="fr-FR" dirty="0" smtClean="0"/>
              <a:t> L'operateur de recomposition est la jointure (⋈)</a:t>
            </a:r>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16</a:t>
            </a:fld>
            <a:endParaRPr lang="fr-F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t>fragmentation verticale</a:t>
            </a:r>
            <a:br>
              <a:rPr lang="fr-FR" dirty="0" smtClean="0"/>
            </a:br>
            <a:endParaRPr lang="fr-FR" dirty="0"/>
          </a:p>
        </p:txBody>
      </p:sp>
      <p:sp>
        <p:nvSpPr>
          <p:cNvPr id="3" name="Espace réservé du contenu 2"/>
          <p:cNvSpPr>
            <a:spLocks noGrp="1"/>
          </p:cNvSpPr>
          <p:nvPr>
            <p:ph sz="quarter" idx="1"/>
          </p:nvPr>
        </p:nvSpPr>
        <p:spPr>
          <a:xfrm>
            <a:off x="457200" y="1196752"/>
            <a:ext cx="8003232" cy="2952328"/>
          </a:xfrm>
        </p:spPr>
        <p:txBody>
          <a:bodyPr>
            <a:normAutofit fontScale="85000" lnSpcReduction="10000"/>
          </a:bodyPr>
          <a:lstStyle/>
          <a:p>
            <a:r>
              <a:rPr lang="fr-FR" b="1" dirty="0" smtClean="0"/>
              <a:t>Exemple</a:t>
            </a:r>
          </a:p>
          <a:p>
            <a:r>
              <a:rPr lang="fr-FR" dirty="0" smtClean="0"/>
              <a:t>Soit le partitionnement de la relation </a:t>
            </a:r>
            <a:r>
              <a:rPr lang="fr-FR" i="1" dirty="0" smtClean="0"/>
              <a:t>Client en deux relations :</a:t>
            </a:r>
          </a:p>
          <a:p>
            <a:endParaRPr lang="fr-FR" i="1" dirty="0" smtClean="0"/>
          </a:p>
          <a:p>
            <a:endParaRPr lang="fr-FR" i="1" dirty="0" smtClean="0"/>
          </a:p>
          <a:p>
            <a:endParaRPr lang="fr-FR" i="1" dirty="0" smtClean="0"/>
          </a:p>
          <a:p>
            <a:endParaRPr lang="fr-FR" i="1" dirty="0" smtClean="0"/>
          </a:p>
          <a:p>
            <a:r>
              <a:rPr lang="fr-FR" dirty="0" smtClean="0"/>
              <a:t>Client1 = </a:t>
            </a:r>
            <a:r>
              <a:rPr lang="el-GR" dirty="0" smtClean="0"/>
              <a:t>π[</a:t>
            </a:r>
            <a:r>
              <a:rPr lang="fr-FR" dirty="0" err="1" smtClean="0"/>
              <a:t>NoClient</a:t>
            </a:r>
            <a:r>
              <a:rPr lang="fr-FR" dirty="0" smtClean="0"/>
              <a:t>, </a:t>
            </a:r>
            <a:r>
              <a:rPr lang="fr-FR" dirty="0" err="1" smtClean="0"/>
              <a:t>NomClient</a:t>
            </a:r>
            <a:r>
              <a:rPr lang="fr-FR" dirty="0" smtClean="0"/>
              <a:t>] Client</a:t>
            </a:r>
          </a:p>
          <a:p>
            <a:r>
              <a:rPr lang="fr-FR" dirty="0" smtClean="0"/>
              <a:t>et Client2 = π[</a:t>
            </a:r>
            <a:r>
              <a:rPr lang="fr-FR" dirty="0" err="1" smtClean="0"/>
              <a:t>Noclient</a:t>
            </a:r>
            <a:r>
              <a:rPr lang="fr-FR" dirty="0" smtClean="0"/>
              <a:t>, Prénom, Age] Client</a:t>
            </a:r>
            <a:endParaRPr lang="fr-FR" dirty="0"/>
          </a:p>
        </p:txBody>
      </p:sp>
      <p:pic>
        <p:nvPicPr>
          <p:cNvPr id="3074" name="Picture 2"/>
          <p:cNvPicPr>
            <a:picLocks noChangeAspect="1" noChangeArrowheads="1"/>
          </p:cNvPicPr>
          <p:nvPr/>
        </p:nvPicPr>
        <p:blipFill>
          <a:blip r:embed="rId4" cstate="print"/>
          <a:srcRect/>
          <a:stretch>
            <a:fillRect/>
          </a:stretch>
        </p:blipFill>
        <p:spPr bwMode="auto">
          <a:xfrm>
            <a:off x="755576" y="4221099"/>
            <a:ext cx="5372100" cy="1781175"/>
          </a:xfrm>
          <a:prstGeom prst="rect">
            <a:avLst/>
          </a:prstGeom>
          <a:noFill/>
          <a:ln w="9525">
            <a:noFill/>
            <a:miter lim="800000"/>
            <a:headEnd/>
            <a:tailEnd/>
          </a:ln>
        </p:spPr>
      </p:pic>
      <p:sp>
        <p:nvSpPr>
          <p:cNvPr id="5" name="Rectangle 4"/>
          <p:cNvSpPr/>
          <p:nvPr/>
        </p:nvSpPr>
        <p:spPr>
          <a:xfrm>
            <a:off x="395539" y="6095037"/>
            <a:ext cx="7272808" cy="646298"/>
          </a:xfrm>
          <a:prstGeom prst="rect">
            <a:avLst/>
          </a:prstGeom>
        </p:spPr>
        <p:txBody>
          <a:bodyPr wrap="square" lIns="91407" tIns="45704" rIns="91407" bIns="45704">
            <a:spAutoFit/>
          </a:bodyPr>
          <a:lstStyle/>
          <a:p>
            <a:pPr defTabSz="914079"/>
            <a:r>
              <a:rPr lang="fr-FR" dirty="0">
                <a:solidFill>
                  <a:prstClr val="black"/>
                </a:solidFill>
              </a:rPr>
              <a:t>La relation d'origine est obtenue avec la recomposition suivante : Client = Cli1 ⋈ Cli2</a:t>
            </a:r>
          </a:p>
        </p:txBody>
      </p:sp>
      <p:pic>
        <p:nvPicPr>
          <p:cNvPr id="1026" name="Picture 2"/>
          <p:cNvPicPr>
            <a:picLocks noChangeAspect="1" noChangeArrowheads="1"/>
          </p:cNvPicPr>
          <p:nvPr/>
        </p:nvPicPr>
        <p:blipFill>
          <a:blip r:embed="rId5" cstate="print"/>
          <a:srcRect/>
          <a:stretch>
            <a:fillRect/>
          </a:stretch>
        </p:blipFill>
        <p:spPr bwMode="auto">
          <a:xfrm>
            <a:off x="3203848" y="2063917"/>
            <a:ext cx="2892599" cy="1149059"/>
          </a:xfrm>
          <a:prstGeom prst="rect">
            <a:avLst/>
          </a:prstGeom>
          <a:noFill/>
          <a:ln w="9525">
            <a:noFill/>
            <a:miter lim="800000"/>
            <a:headEnd/>
            <a:tailEnd/>
          </a:ln>
        </p:spPr>
      </p:pic>
      <p:pic>
        <p:nvPicPr>
          <p:cNvPr id="1027" name="Picture 3"/>
          <p:cNvPicPr>
            <a:picLocks noChangeAspect="1" noChangeArrowheads="1"/>
          </p:cNvPicPr>
          <p:nvPr/>
        </p:nvPicPr>
        <p:blipFill>
          <a:blip r:embed="rId6" cstate="print"/>
          <a:srcRect/>
          <a:stretch>
            <a:fillRect/>
          </a:stretch>
        </p:blipFill>
        <p:spPr bwMode="auto">
          <a:xfrm>
            <a:off x="6084168" y="3284984"/>
            <a:ext cx="2777679" cy="893498"/>
          </a:xfrm>
          <a:prstGeom prst="rect">
            <a:avLst/>
          </a:prstGeom>
          <a:noFill/>
          <a:ln w="9525">
            <a:noFill/>
            <a:miter lim="800000"/>
            <a:headEnd/>
            <a:tailEnd/>
          </a:ln>
        </p:spPr>
      </p:pic>
      <p:sp>
        <p:nvSpPr>
          <p:cNvPr id="8" name="Espace réservé du numéro de diapositive 7"/>
          <p:cNvSpPr>
            <a:spLocks noGrp="1"/>
          </p:cNvSpPr>
          <p:nvPr>
            <p:ph type="sldNum" sz="quarter" idx="15"/>
          </p:nvPr>
        </p:nvSpPr>
        <p:spPr/>
        <p:txBody>
          <a:bodyPr/>
          <a:lstStyle/>
          <a:p>
            <a:fld id="{F1AAE0E6-1385-44E0-8EAE-F204D7E7A5E9}" type="slidenum">
              <a:rPr lang="fr-FR" smtClean="0"/>
              <a:pPr/>
              <a:t>17</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221980" y="5896582"/>
            <a:ext cx="127000" cy="189230"/>
          </a:xfrm>
          <a:prstGeom prst="rect">
            <a:avLst/>
          </a:prstGeom>
        </p:spPr>
        <p:txBody>
          <a:bodyPr vert="horz" wrap="square" lIns="0" tIns="13970" rIns="0" bIns="0" rtlCol="0">
            <a:spAutoFit/>
          </a:bodyPr>
          <a:lstStyle/>
          <a:p>
            <a:pPr defTabSz="914079">
              <a:spcBef>
                <a:spcPts val="110"/>
              </a:spcBef>
            </a:pPr>
            <a:r>
              <a:rPr sz="1050" spc="5" dirty="0">
                <a:solidFill>
                  <a:srgbClr val="FFFFFF"/>
                </a:solidFill>
                <a:latin typeface="Arial Black"/>
                <a:cs typeface="Arial Black"/>
              </a:rPr>
              <a:t>M</a:t>
            </a:r>
            <a:endParaRPr sz="1050">
              <a:solidFill>
                <a:prstClr val="black"/>
              </a:solidFill>
              <a:latin typeface="Arial Black"/>
              <a:cs typeface="Arial Black"/>
            </a:endParaRPr>
          </a:p>
        </p:txBody>
      </p:sp>
      <p:sp>
        <p:nvSpPr>
          <p:cNvPr id="5" name="object 5"/>
          <p:cNvSpPr txBox="1">
            <a:spLocks noGrp="1"/>
          </p:cNvSpPr>
          <p:nvPr>
            <p:ph type="title"/>
          </p:nvPr>
        </p:nvSpPr>
        <p:spPr>
          <a:xfrm>
            <a:off x="574649" y="398000"/>
            <a:ext cx="4429760" cy="474489"/>
          </a:xfrm>
          <a:prstGeom prst="rect">
            <a:avLst/>
          </a:prstGeom>
        </p:spPr>
        <p:txBody>
          <a:bodyPr vert="horz" wrap="square" lIns="0" tIns="12700" rIns="0" bIns="0" rtlCol="0">
            <a:spAutoFit/>
          </a:bodyPr>
          <a:lstStyle/>
          <a:p>
            <a:pPr marL="12700">
              <a:lnSpc>
                <a:spcPct val="100000"/>
              </a:lnSpc>
              <a:spcBef>
                <a:spcPts val="100"/>
              </a:spcBef>
            </a:pPr>
            <a:r>
              <a:rPr spc="10" dirty="0"/>
              <a:t>F</a:t>
            </a:r>
            <a:r>
              <a:rPr sz="1900" spc="10" dirty="0"/>
              <a:t>RAGMENTATION </a:t>
            </a:r>
            <a:r>
              <a:rPr spc="10" dirty="0" smtClean="0"/>
              <a:t>V</a:t>
            </a:r>
            <a:r>
              <a:rPr sz="1900" spc="10" dirty="0" smtClean="0"/>
              <a:t>ERTICALE</a:t>
            </a:r>
            <a:endParaRPr sz="1900" dirty="0"/>
          </a:p>
        </p:txBody>
      </p:sp>
      <p:sp>
        <p:nvSpPr>
          <p:cNvPr id="6" name="object 6"/>
          <p:cNvSpPr txBox="1"/>
          <p:nvPr/>
        </p:nvSpPr>
        <p:spPr>
          <a:xfrm>
            <a:off x="241198" y="2299843"/>
            <a:ext cx="2764790" cy="330835"/>
          </a:xfrm>
          <a:prstGeom prst="rect">
            <a:avLst/>
          </a:prstGeom>
        </p:spPr>
        <p:txBody>
          <a:bodyPr vert="horz" wrap="square" lIns="0" tIns="13335" rIns="0" bIns="0" rtlCol="0">
            <a:spAutoFit/>
          </a:bodyPr>
          <a:lstStyle/>
          <a:p>
            <a:pPr marL="12700" defTabSz="914079">
              <a:spcBef>
                <a:spcPts val="105"/>
              </a:spcBef>
            </a:pPr>
            <a:r>
              <a:rPr sz="2000" dirty="0">
                <a:solidFill>
                  <a:prstClr val="black"/>
                </a:solidFill>
                <a:cs typeface="Century Schoolbook"/>
              </a:rPr>
              <a:t>Remarque importante</a:t>
            </a:r>
            <a:r>
              <a:rPr sz="2000" spc="-105" dirty="0">
                <a:solidFill>
                  <a:prstClr val="black"/>
                </a:solidFill>
                <a:cs typeface="Century Schoolbook"/>
              </a:rPr>
              <a:t> </a:t>
            </a:r>
            <a:r>
              <a:rPr sz="2000" dirty="0">
                <a:solidFill>
                  <a:prstClr val="black"/>
                </a:solidFill>
                <a:cs typeface="Century Schoolbook"/>
              </a:rPr>
              <a:t>:</a:t>
            </a:r>
          </a:p>
        </p:txBody>
      </p:sp>
      <p:sp>
        <p:nvSpPr>
          <p:cNvPr id="7" name="object 7"/>
          <p:cNvSpPr txBox="1"/>
          <p:nvPr/>
        </p:nvSpPr>
        <p:spPr>
          <a:xfrm>
            <a:off x="241198" y="2934436"/>
            <a:ext cx="4497070" cy="683895"/>
          </a:xfrm>
          <a:prstGeom prst="rect">
            <a:avLst/>
          </a:prstGeom>
        </p:spPr>
        <p:txBody>
          <a:bodyPr vert="horz" wrap="square" lIns="0" tIns="12700" rIns="0" bIns="0" rtlCol="0">
            <a:spAutoFit/>
          </a:bodyPr>
          <a:lstStyle/>
          <a:p>
            <a:pPr marL="12700" marR="5080" defTabSz="914079">
              <a:lnSpc>
                <a:spcPct val="108000"/>
              </a:lnSpc>
              <a:spcBef>
                <a:spcPts val="100"/>
              </a:spcBef>
            </a:pPr>
            <a:r>
              <a:rPr sz="2000" dirty="0">
                <a:solidFill>
                  <a:prstClr val="black"/>
                </a:solidFill>
                <a:cs typeface="Century Schoolbook"/>
              </a:rPr>
              <a:t>« </a:t>
            </a:r>
            <a:r>
              <a:rPr sz="2000" spc="-5" dirty="0">
                <a:solidFill>
                  <a:prstClr val="black"/>
                </a:solidFill>
                <a:cs typeface="Century Schoolbook"/>
              </a:rPr>
              <a:t>Il </a:t>
            </a:r>
            <a:r>
              <a:rPr sz="2000" dirty="0">
                <a:solidFill>
                  <a:prstClr val="black"/>
                </a:solidFill>
                <a:cs typeface="Century Schoolbook"/>
              </a:rPr>
              <a:t>est important </a:t>
            </a:r>
            <a:r>
              <a:rPr sz="2000" spc="-5" dirty="0">
                <a:solidFill>
                  <a:prstClr val="black"/>
                </a:solidFill>
                <a:cs typeface="Century Schoolbook"/>
              </a:rPr>
              <a:t>de </a:t>
            </a:r>
            <a:r>
              <a:rPr sz="2000" dirty="0">
                <a:solidFill>
                  <a:prstClr val="black"/>
                </a:solidFill>
                <a:cs typeface="Century Schoolbook"/>
              </a:rPr>
              <a:t>conserver les</a:t>
            </a:r>
            <a:r>
              <a:rPr sz="2000" spc="-165" dirty="0">
                <a:solidFill>
                  <a:prstClr val="black"/>
                </a:solidFill>
                <a:cs typeface="Century Schoolbook"/>
              </a:rPr>
              <a:t> </a:t>
            </a:r>
            <a:r>
              <a:rPr sz="2000" dirty="0">
                <a:solidFill>
                  <a:prstClr val="black"/>
                </a:solidFill>
                <a:cs typeface="Century Schoolbook"/>
              </a:rPr>
              <a:t>clés  dans chaque fragment vertical</a:t>
            </a:r>
            <a:r>
              <a:rPr sz="2000" spc="-135" dirty="0">
                <a:solidFill>
                  <a:prstClr val="black"/>
                </a:solidFill>
                <a:cs typeface="Century Schoolbook"/>
              </a:rPr>
              <a:t> </a:t>
            </a:r>
            <a:r>
              <a:rPr sz="2000" dirty="0">
                <a:solidFill>
                  <a:prstClr val="black"/>
                </a:solidFill>
                <a:cs typeface="Century Schoolbook"/>
              </a:rPr>
              <a:t>»</a:t>
            </a:r>
          </a:p>
        </p:txBody>
      </p:sp>
      <p:sp>
        <p:nvSpPr>
          <p:cNvPr id="8" name="object 8"/>
          <p:cNvSpPr txBox="1"/>
          <p:nvPr/>
        </p:nvSpPr>
        <p:spPr>
          <a:xfrm>
            <a:off x="241198" y="3936872"/>
            <a:ext cx="4367530" cy="330835"/>
          </a:xfrm>
          <a:prstGeom prst="rect">
            <a:avLst/>
          </a:prstGeom>
        </p:spPr>
        <p:txBody>
          <a:bodyPr vert="horz" wrap="square" lIns="0" tIns="12700" rIns="0" bIns="0" rtlCol="0">
            <a:spAutoFit/>
          </a:bodyPr>
          <a:lstStyle/>
          <a:p>
            <a:pPr marL="12700" defTabSz="914079">
              <a:spcBef>
                <a:spcPts val="100"/>
              </a:spcBef>
            </a:pPr>
            <a:r>
              <a:rPr sz="2000" dirty="0">
                <a:solidFill>
                  <a:prstClr val="black"/>
                </a:solidFill>
                <a:cs typeface="Century Schoolbook"/>
              </a:rPr>
              <a:t>Sinon </a:t>
            </a:r>
            <a:r>
              <a:rPr sz="2000" b="1" u="sng" dirty="0">
                <a:solidFill>
                  <a:prstClr val="black"/>
                </a:solidFill>
                <a:uFill>
                  <a:solidFill>
                    <a:srgbClr val="000000"/>
                  </a:solidFill>
                </a:uFill>
                <a:cs typeface="Century Schoolbook"/>
              </a:rPr>
              <a:t>reconstruction </a:t>
            </a:r>
            <a:r>
              <a:rPr sz="2000" b="1" u="sng" spc="-5" dirty="0">
                <a:solidFill>
                  <a:prstClr val="black"/>
                </a:solidFill>
                <a:uFill>
                  <a:solidFill>
                    <a:srgbClr val="000000"/>
                  </a:solidFill>
                </a:uFill>
                <a:cs typeface="Century Schoolbook"/>
              </a:rPr>
              <a:t>impossible</a:t>
            </a:r>
            <a:r>
              <a:rPr sz="2000" b="1" spc="-120" dirty="0">
                <a:solidFill>
                  <a:prstClr val="black"/>
                </a:solidFill>
                <a:cs typeface="Century Schoolbook"/>
              </a:rPr>
              <a:t> </a:t>
            </a:r>
            <a:r>
              <a:rPr sz="2000" dirty="0">
                <a:solidFill>
                  <a:prstClr val="black"/>
                </a:solidFill>
                <a:cs typeface="Century Schoolbook"/>
              </a:rPr>
              <a:t>!</a:t>
            </a:r>
            <a:endParaRPr sz="2000">
              <a:solidFill>
                <a:prstClr val="black"/>
              </a:solidFill>
              <a:cs typeface="Century Schoolbook"/>
            </a:endParaRPr>
          </a:p>
        </p:txBody>
      </p:sp>
      <p:sp>
        <p:nvSpPr>
          <p:cNvPr id="9" name="object 9"/>
          <p:cNvSpPr/>
          <p:nvPr/>
        </p:nvSpPr>
        <p:spPr>
          <a:xfrm>
            <a:off x="5295900" y="1924811"/>
            <a:ext cx="3670300" cy="1524000"/>
          </a:xfrm>
          <a:custGeom>
            <a:avLst/>
            <a:gdLst/>
            <a:ahLst/>
            <a:cxnLst/>
            <a:rect l="l" t="t" r="r" b="b"/>
            <a:pathLst>
              <a:path w="3670300" h="1524000">
                <a:moveTo>
                  <a:pt x="0" y="1524000"/>
                </a:moveTo>
                <a:lnTo>
                  <a:pt x="3669792" y="1524000"/>
                </a:lnTo>
                <a:lnTo>
                  <a:pt x="3669792" y="0"/>
                </a:lnTo>
                <a:lnTo>
                  <a:pt x="0" y="0"/>
                </a:lnTo>
                <a:lnTo>
                  <a:pt x="0" y="1524000"/>
                </a:lnTo>
                <a:close/>
              </a:path>
            </a:pathLst>
          </a:custGeom>
          <a:ln w="12192">
            <a:solidFill>
              <a:srgbClr val="000000"/>
            </a:solidFill>
          </a:ln>
        </p:spPr>
        <p:txBody>
          <a:bodyPr wrap="square" lIns="0" tIns="0" rIns="0" bIns="0" rtlCol="0"/>
          <a:lstStyle/>
          <a:p>
            <a:pPr defTabSz="914079"/>
            <a:endParaRPr>
              <a:solidFill>
                <a:prstClr val="black"/>
              </a:solidFill>
            </a:endParaRPr>
          </a:p>
        </p:txBody>
      </p:sp>
      <p:sp>
        <p:nvSpPr>
          <p:cNvPr id="10" name="object 10"/>
          <p:cNvSpPr txBox="1"/>
          <p:nvPr/>
        </p:nvSpPr>
        <p:spPr>
          <a:xfrm>
            <a:off x="5471286" y="1969134"/>
            <a:ext cx="513080" cy="299720"/>
          </a:xfrm>
          <a:prstGeom prst="rect">
            <a:avLst/>
          </a:prstGeom>
        </p:spPr>
        <p:txBody>
          <a:bodyPr vert="horz" wrap="square" lIns="0" tIns="12700" rIns="0" bIns="0" rtlCol="0">
            <a:spAutoFit/>
          </a:bodyPr>
          <a:lstStyle/>
          <a:p>
            <a:pPr marL="12700" defTabSz="914079">
              <a:spcBef>
                <a:spcPts val="100"/>
              </a:spcBef>
            </a:pPr>
            <a:r>
              <a:rPr dirty="0">
                <a:solidFill>
                  <a:prstClr val="black"/>
                </a:solidFill>
                <a:cs typeface="Century Schoolbook"/>
              </a:rPr>
              <a:t>n</a:t>
            </a:r>
            <a:r>
              <a:rPr spc="5" dirty="0">
                <a:solidFill>
                  <a:prstClr val="black"/>
                </a:solidFill>
                <a:cs typeface="Century Schoolbook"/>
              </a:rPr>
              <a:t>c</a:t>
            </a:r>
            <a:r>
              <a:rPr spc="-5" dirty="0">
                <a:solidFill>
                  <a:prstClr val="black"/>
                </a:solidFill>
                <a:cs typeface="Century Schoolbook"/>
              </a:rPr>
              <a:t>de</a:t>
            </a:r>
            <a:endParaRPr>
              <a:solidFill>
                <a:prstClr val="black"/>
              </a:solidFill>
              <a:cs typeface="Century Schoolbook"/>
            </a:endParaRPr>
          </a:p>
        </p:txBody>
      </p:sp>
      <p:sp>
        <p:nvSpPr>
          <p:cNvPr id="11" name="object 11"/>
          <p:cNvSpPr txBox="1"/>
          <p:nvPr/>
        </p:nvSpPr>
        <p:spPr>
          <a:xfrm>
            <a:off x="6336538" y="1981961"/>
            <a:ext cx="753745"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nclient</a:t>
            </a:r>
            <a:endParaRPr>
              <a:solidFill>
                <a:prstClr val="black"/>
              </a:solidFill>
              <a:cs typeface="Century Schoolbook"/>
            </a:endParaRPr>
          </a:p>
        </p:txBody>
      </p:sp>
      <p:sp>
        <p:nvSpPr>
          <p:cNvPr id="12" name="object 12"/>
          <p:cNvSpPr txBox="1"/>
          <p:nvPr/>
        </p:nvSpPr>
        <p:spPr>
          <a:xfrm>
            <a:off x="7359142" y="1956561"/>
            <a:ext cx="805180"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produit</a:t>
            </a:r>
            <a:endParaRPr>
              <a:solidFill>
                <a:prstClr val="black"/>
              </a:solidFill>
              <a:cs typeface="Century Schoolbook"/>
            </a:endParaRPr>
          </a:p>
        </p:txBody>
      </p:sp>
      <p:sp>
        <p:nvSpPr>
          <p:cNvPr id="13" name="object 13"/>
          <p:cNvSpPr/>
          <p:nvPr/>
        </p:nvSpPr>
        <p:spPr>
          <a:xfrm>
            <a:off x="6204203" y="1924811"/>
            <a:ext cx="0" cy="1524000"/>
          </a:xfrm>
          <a:custGeom>
            <a:avLst/>
            <a:gdLst/>
            <a:ahLst/>
            <a:cxnLst/>
            <a:rect l="l" t="t" r="r" b="b"/>
            <a:pathLst>
              <a:path h="1524000">
                <a:moveTo>
                  <a:pt x="0" y="0"/>
                </a:moveTo>
                <a:lnTo>
                  <a:pt x="0" y="1524000"/>
                </a:lnTo>
              </a:path>
            </a:pathLst>
          </a:custGeom>
          <a:ln w="12192">
            <a:solidFill>
              <a:srgbClr val="000000"/>
            </a:solidFill>
          </a:ln>
        </p:spPr>
        <p:txBody>
          <a:bodyPr wrap="square" lIns="0" tIns="0" rIns="0" bIns="0" rtlCol="0"/>
          <a:lstStyle/>
          <a:p>
            <a:pPr defTabSz="914079"/>
            <a:endParaRPr>
              <a:solidFill>
                <a:prstClr val="black"/>
              </a:solidFill>
            </a:endParaRPr>
          </a:p>
        </p:txBody>
      </p:sp>
      <p:sp>
        <p:nvSpPr>
          <p:cNvPr id="14" name="object 14"/>
          <p:cNvSpPr/>
          <p:nvPr/>
        </p:nvSpPr>
        <p:spPr>
          <a:xfrm>
            <a:off x="7245095" y="1937004"/>
            <a:ext cx="0" cy="1524000"/>
          </a:xfrm>
          <a:custGeom>
            <a:avLst/>
            <a:gdLst/>
            <a:ahLst/>
            <a:cxnLst/>
            <a:rect l="l" t="t" r="r" b="b"/>
            <a:pathLst>
              <a:path h="1524000">
                <a:moveTo>
                  <a:pt x="0" y="0"/>
                </a:moveTo>
                <a:lnTo>
                  <a:pt x="0" y="1524000"/>
                </a:lnTo>
              </a:path>
            </a:pathLst>
          </a:custGeom>
          <a:ln w="12192">
            <a:solidFill>
              <a:srgbClr val="000000"/>
            </a:solidFill>
          </a:ln>
        </p:spPr>
        <p:txBody>
          <a:bodyPr wrap="square" lIns="0" tIns="0" rIns="0" bIns="0" rtlCol="0"/>
          <a:lstStyle/>
          <a:p>
            <a:pPr defTabSz="914079"/>
            <a:endParaRPr>
              <a:solidFill>
                <a:prstClr val="black"/>
              </a:solidFill>
            </a:endParaRPr>
          </a:p>
        </p:txBody>
      </p:sp>
      <p:sp>
        <p:nvSpPr>
          <p:cNvPr id="15" name="object 15"/>
          <p:cNvSpPr/>
          <p:nvPr/>
        </p:nvSpPr>
        <p:spPr>
          <a:xfrm>
            <a:off x="5295900" y="2350007"/>
            <a:ext cx="3683635" cy="0"/>
          </a:xfrm>
          <a:custGeom>
            <a:avLst/>
            <a:gdLst/>
            <a:ahLst/>
            <a:cxnLst/>
            <a:rect l="l" t="t" r="r" b="b"/>
            <a:pathLst>
              <a:path w="3683634">
                <a:moveTo>
                  <a:pt x="3683507" y="0"/>
                </a:moveTo>
                <a:lnTo>
                  <a:pt x="0" y="0"/>
                </a:lnTo>
              </a:path>
            </a:pathLst>
          </a:custGeom>
          <a:ln w="12192">
            <a:solidFill>
              <a:srgbClr val="000000"/>
            </a:solidFill>
          </a:ln>
        </p:spPr>
        <p:txBody>
          <a:bodyPr wrap="square" lIns="0" tIns="0" rIns="0" bIns="0" rtlCol="0"/>
          <a:lstStyle/>
          <a:p>
            <a:pPr defTabSz="914079"/>
            <a:endParaRPr>
              <a:solidFill>
                <a:prstClr val="black"/>
              </a:solidFill>
            </a:endParaRPr>
          </a:p>
        </p:txBody>
      </p:sp>
      <p:sp>
        <p:nvSpPr>
          <p:cNvPr id="16" name="object 16"/>
          <p:cNvSpPr txBox="1"/>
          <p:nvPr/>
        </p:nvSpPr>
        <p:spPr>
          <a:xfrm>
            <a:off x="5626989" y="2401061"/>
            <a:ext cx="394335" cy="999490"/>
          </a:xfrm>
          <a:prstGeom prst="rect">
            <a:avLst/>
          </a:prstGeom>
        </p:spPr>
        <p:txBody>
          <a:bodyPr vert="horz" wrap="square" lIns="0" tIns="12700" rIns="0" bIns="0" rtlCol="0">
            <a:spAutoFit/>
          </a:bodyPr>
          <a:lstStyle/>
          <a:p>
            <a:pPr marL="12700" defTabSz="914079">
              <a:lnSpc>
                <a:spcPts val="2000"/>
              </a:lnSpc>
              <a:spcBef>
                <a:spcPts val="100"/>
              </a:spcBef>
            </a:pPr>
            <a:r>
              <a:rPr dirty="0">
                <a:solidFill>
                  <a:prstClr val="black"/>
                </a:solidFill>
                <a:cs typeface="Century Schoolbook"/>
              </a:rPr>
              <a:t>D</a:t>
            </a:r>
            <a:r>
              <a:rPr spc="-100" dirty="0">
                <a:solidFill>
                  <a:prstClr val="black"/>
                </a:solidFill>
                <a:cs typeface="Century Schoolbook"/>
              </a:rPr>
              <a:t> </a:t>
            </a:r>
            <a:r>
              <a:rPr dirty="0">
                <a:solidFill>
                  <a:prstClr val="black"/>
                </a:solidFill>
                <a:cs typeface="Century Schoolbook"/>
              </a:rPr>
              <a:t>1</a:t>
            </a:r>
            <a:endParaRPr>
              <a:solidFill>
                <a:prstClr val="black"/>
              </a:solidFill>
              <a:cs typeface="Century Schoolbook"/>
            </a:endParaRPr>
          </a:p>
          <a:p>
            <a:pPr marL="12700" defTabSz="914079">
              <a:lnSpc>
                <a:spcPts val="1835"/>
              </a:lnSpc>
            </a:pPr>
            <a:r>
              <a:rPr dirty="0">
                <a:solidFill>
                  <a:prstClr val="black"/>
                </a:solidFill>
                <a:cs typeface="Century Schoolbook"/>
              </a:rPr>
              <a:t>D</a:t>
            </a:r>
            <a:r>
              <a:rPr spc="-110" dirty="0">
                <a:solidFill>
                  <a:prstClr val="black"/>
                </a:solidFill>
                <a:cs typeface="Century Schoolbook"/>
              </a:rPr>
              <a:t> </a:t>
            </a:r>
            <a:r>
              <a:rPr dirty="0">
                <a:solidFill>
                  <a:prstClr val="black"/>
                </a:solidFill>
                <a:cs typeface="Century Schoolbook"/>
              </a:rPr>
              <a:t>2</a:t>
            </a:r>
            <a:endParaRPr>
              <a:solidFill>
                <a:prstClr val="black"/>
              </a:solidFill>
              <a:cs typeface="Century Schoolbook"/>
            </a:endParaRPr>
          </a:p>
          <a:p>
            <a:pPr marL="12700" defTabSz="914079">
              <a:lnSpc>
                <a:spcPts val="1835"/>
              </a:lnSpc>
            </a:pPr>
            <a:r>
              <a:rPr dirty="0">
                <a:solidFill>
                  <a:prstClr val="black"/>
                </a:solidFill>
                <a:cs typeface="Century Schoolbook"/>
              </a:rPr>
              <a:t>D</a:t>
            </a:r>
            <a:r>
              <a:rPr spc="-100" dirty="0">
                <a:solidFill>
                  <a:prstClr val="black"/>
                </a:solidFill>
                <a:cs typeface="Century Schoolbook"/>
              </a:rPr>
              <a:t> </a:t>
            </a:r>
            <a:r>
              <a:rPr dirty="0">
                <a:solidFill>
                  <a:prstClr val="black"/>
                </a:solidFill>
                <a:cs typeface="Century Schoolbook"/>
              </a:rPr>
              <a:t>3</a:t>
            </a:r>
            <a:endParaRPr>
              <a:solidFill>
                <a:prstClr val="black"/>
              </a:solidFill>
              <a:cs typeface="Century Schoolbook"/>
            </a:endParaRPr>
          </a:p>
          <a:p>
            <a:pPr marL="12700" defTabSz="914079">
              <a:lnSpc>
                <a:spcPts val="2000"/>
              </a:lnSpc>
            </a:pPr>
            <a:r>
              <a:rPr dirty="0">
                <a:solidFill>
                  <a:prstClr val="black"/>
                </a:solidFill>
                <a:cs typeface="Century Schoolbook"/>
              </a:rPr>
              <a:t>D</a:t>
            </a:r>
            <a:r>
              <a:rPr spc="-100" dirty="0">
                <a:solidFill>
                  <a:prstClr val="black"/>
                </a:solidFill>
                <a:cs typeface="Century Schoolbook"/>
              </a:rPr>
              <a:t> </a:t>
            </a:r>
            <a:r>
              <a:rPr dirty="0">
                <a:solidFill>
                  <a:prstClr val="black"/>
                </a:solidFill>
                <a:cs typeface="Century Schoolbook"/>
              </a:rPr>
              <a:t>4</a:t>
            </a:r>
            <a:endParaRPr>
              <a:solidFill>
                <a:prstClr val="black"/>
              </a:solidFill>
              <a:cs typeface="Century Schoolbook"/>
            </a:endParaRPr>
          </a:p>
        </p:txBody>
      </p:sp>
      <p:sp>
        <p:nvSpPr>
          <p:cNvPr id="17" name="object 17"/>
          <p:cNvSpPr txBox="1"/>
          <p:nvPr/>
        </p:nvSpPr>
        <p:spPr>
          <a:xfrm>
            <a:off x="6503289" y="2388489"/>
            <a:ext cx="381635" cy="999490"/>
          </a:xfrm>
          <a:prstGeom prst="rect">
            <a:avLst/>
          </a:prstGeom>
        </p:spPr>
        <p:txBody>
          <a:bodyPr vert="horz" wrap="square" lIns="0" tIns="12700" rIns="0" bIns="0" rtlCol="0">
            <a:spAutoFit/>
          </a:bodyPr>
          <a:lstStyle/>
          <a:p>
            <a:pPr marL="12700" defTabSz="914079">
              <a:lnSpc>
                <a:spcPts val="2000"/>
              </a:lnSpc>
              <a:spcBef>
                <a:spcPts val="100"/>
              </a:spcBef>
            </a:pPr>
            <a:r>
              <a:rPr dirty="0">
                <a:solidFill>
                  <a:prstClr val="black"/>
                </a:solidFill>
                <a:cs typeface="Century Schoolbook"/>
              </a:rPr>
              <a:t>C</a:t>
            </a:r>
            <a:r>
              <a:rPr spc="-105" dirty="0">
                <a:solidFill>
                  <a:prstClr val="black"/>
                </a:solidFill>
                <a:cs typeface="Century Schoolbook"/>
              </a:rPr>
              <a:t> </a:t>
            </a:r>
            <a:r>
              <a:rPr dirty="0">
                <a:solidFill>
                  <a:prstClr val="black"/>
                </a:solidFill>
                <a:cs typeface="Century Schoolbook"/>
              </a:rPr>
              <a:t>1</a:t>
            </a:r>
            <a:endParaRPr>
              <a:solidFill>
                <a:prstClr val="black"/>
              </a:solidFill>
              <a:cs typeface="Century Schoolbook"/>
            </a:endParaRPr>
          </a:p>
          <a:p>
            <a:pPr marL="12700" defTabSz="914079">
              <a:lnSpc>
                <a:spcPts val="1835"/>
              </a:lnSpc>
            </a:pPr>
            <a:r>
              <a:rPr dirty="0">
                <a:solidFill>
                  <a:prstClr val="black"/>
                </a:solidFill>
                <a:cs typeface="Century Schoolbook"/>
              </a:rPr>
              <a:t>C</a:t>
            </a:r>
            <a:r>
              <a:rPr spc="-105" dirty="0">
                <a:solidFill>
                  <a:prstClr val="black"/>
                </a:solidFill>
                <a:cs typeface="Century Schoolbook"/>
              </a:rPr>
              <a:t> </a:t>
            </a:r>
            <a:r>
              <a:rPr dirty="0">
                <a:solidFill>
                  <a:prstClr val="black"/>
                </a:solidFill>
                <a:cs typeface="Century Schoolbook"/>
              </a:rPr>
              <a:t>1</a:t>
            </a:r>
            <a:endParaRPr>
              <a:solidFill>
                <a:prstClr val="black"/>
              </a:solidFill>
              <a:cs typeface="Century Schoolbook"/>
            </a:endParaRPr>
          </a:p>
          <a:p>
            <a:pPr marL="12700" defTabSz="914079">
              <a:lnSpc>
                <a:spcPts val="1835"/>
              </a:lnSpc>
            </a:pPr>
            <a:r>
              <a:rPr dirty="0">
                <a:solidFill>
                  <a:prstClr val="black"/>
                </a:solidFill>
                <a:cs typeface="Century Schoolbook"/>
              </a:rPr>
              <a:t>C</a:t>
            </a:r>
            <a:r>
              <a:rPr spc="-105" dirty="0">
                <a:solidFill>
                  <a:prstClr val="black"/>
                </a:solidFill>
                <a:cs typeface="Century Schoolbook"/>
              </a:rPr>
              <a:t> </a:t>
            </a:r>
            <a:r>
              <a:rPr dirty="0">
                <a:solidFill>
                  <a:prstClr val="black"/>
                </a:solidFill>
                <a:cs typeface="Century Schoolbook"/>
              </a:rPr>
              <a:t>2</a:t>
            </a:r>
            <a:endParaRPr>
              <a:solidFill>
                <a:prstClr val="black"/>
              </a:solidFill>
              <a:cs typeface="Century Schoolbook"/>
            </a:endParaRPr>
          </a:p>
          <a:p>
            <a:pPr marL="12700" defTabSz="914079">
              <a:lnSpc>
                <a:spcPts val="2000"/>
              </a:lnSpc>
            </a:pPr>
            <a:r>
              <a:rPr dirty="0">
                <a:solidFill>
                  <a:prstClr val="black"/>
                </a:solidFill>
                <a:cs typeface="Century Schoolbook"/>
              </a:rPr>
              <a:t>C</a:t>
            </a:r>
            <a:r>
              <a:rPr spc="-105" dirty="0">
                <a:solidFill>
                  <a:prstClr val="black"/>
                </a:solidFill>
                <a:cs typeface="Century Schoolbook"/>
              </a:rPr>
              <a:t> </a:t>
            </a:r>
            <a:r>
              <a:rPr dirty="0">
                <a:solidFill>
                  <a:prstClr val="black"/>
                </a:solidFill>
                <a:cs typeface="Century Schoolbook"/>
              </a:rPr>
              <a:t>4</a:t>
            </a:r>
            <a:endParaRPr>
              <a:solidFill>
                <a:prstClr val="black"/>
              </a:solidFill>
              <a:cs typeface="Century Schoolbook"/>
            </a:endParaRPr>
          </a:p>
        </p:txBody>
      </p:sp>
      <p:sp>
        <p:nvSpPr>
          <p:cNvPr id="18" name="object 18"/>
          <p:cNvSpPr txBox="1"/>
          <p:nvPr/>
        </p:nvSpPr>
        <p:spPr>
          <a:xfrm>
            <a:off x="7456169" y="2388489"/>
            <a:ext cx="368935" cy="999490"/>
          </a:xfrm>
          <a:prstGeom prst="rect">
            <a:avLst/>
          </a:prstGeom>
        </p:spPr>
        <p:txBody>
          <a:bodyPr vert="horz" wrap="square" lIns="0" tIns="12700" rIns="0" bIns="0" rtlCol="0">
            <a:spAutoFit/>
          </a:bodyPr>
          <a:lstStyle/>
          <a:p>
            <a:pPr marL="12700" defTabSz="914079">
              <a:lnSpc>
                <a:spcPts val="2000"/>
              </a:lnSpc>
              <a:spcBef>
                <a:spcPts val="100"/>
              </a:spcBef>
            </a:pPr>
            <a:r>
              <a:rPr dirty="0">
                <a:solidFill>
                  <a:prstClr val="black"/>
                </a:solidFill>
                <a:cs typeface="Century Schoolbook"/>
              </a:rPr>
              <a:t>P</a:t>
            </a:r>
            <a:r>
              <a:rPr spc="-100" dirty="0">
                <a:solidFill>
                  <a:prstClr val="black"/>
                </a:solidFill>
                <a:cs typeface="Century Schoolbook"/>
              </a:rPr>
              <a:t> </a:t>
            </a:r>
            <a:r>
              <a:rPr dirty="0">
                <a:solidFill>
                  <a:prstClr val="black"/>
                </a:solidFill>
                <a:cs typeface="Century Schoolbook"/>
              </a:rPr>
              <a:t>1</a:t>
            </a:r>
            <a:endParaRPr>
              <a:solidFill>
                <a:prstClr val="black"/>
              </a:solidFill>
              <a:cs typeface="Century Schoolbook"/>
            </a:endParaRPr>
          </a:p>
          <a:p>
            <a:pPr marL="12700" defTabSz="914079">
              <a:lnSpc>
                <a:spcPts val="1835"/>
              </a:lnSpc>
            </a:pPr>
            <a:r>
              <a:rPr dirty="0">
                <a:solidFill>
                  <a:prstClr val="black"/>
                </a:solidFill>
                <a:cs typeface="Century Schoolbook"/>
              </a:rPr>
              <a:t>P</a:t>
            </a:r>
            <a:r>
              <a:rPr spc="-100" dirty="0">
                <a:solidFill>
                  <a:prstClr val="black"/>
                </a:solidFill>
                <a:cs typeface="Century Schoolbook"/>
              </a:rPr>
              <a:t> </a:t>
            </a:r>
            <a:r>
              <a:rPr dirty="0">
                <a:solidFill>
                  <a:prstClr val="black"/>
                </a:solidFill>
                <a:cs typeface="Century Schoolbook"/>
              </a:rPr>
              <a:t>2</a:t>
            </a:r>
            <a:endParaRPr>
              <a:solidFill>
                <a:prstClr val="black"/>
              </a:solidFill>
              <a:cs typeface="Century Schoolbook"/>
            </a:endParaRPr>
          </a:p>
          <a:p>
            <a:pPr marL="12700" defTabSz="914079">
              <a:lnSpc>
                <a:spcPts val="1835"/>
              </a:lnSpc>
            </a:pPr>
            <a:r>
              <a:rPr dirty="0">
                <a:solidFill>
                  <a:prstClr val="black"/>
                </a:solidFill>
                <a:cs typeface="Century Schoolbook"/>
              </a:rPr>
              <a:t>P</a:t>
            </a:r>
            <a:r>
              <a:rPr spc="-100" dirty="0">
                <a:solidFill>
                  <a:prstClr val="black"/>
                </a:solidFill>
                <a:cs typeface="Century Schoolbook"/>
              </a:rPr>
              <a:t> </a:t>
            </a:r>
            <a:r>
              <a:rPr dirty="0">
                <a:solidFill>
                  <a:prstClr val="black"/>
                </a:solidFill>
                <a:cs typeface="Century Schoolbook"/>
              </a:rPr>
              <a:t>3</a:t>
            </a:r>
            <a:endParaRPr>
              <a:solidFill>
                <a:prstClr val="black"/>
              </a:solidFill>
              <a:cs typeface="Century Schoolbook"/>
            </a:endParaRPr>
          </a:p>
          <a:p>
            <a:pPr marL="12700" defTabSz="914079">
              <a:lnSpc>
                <a:spcPts val="2000"/>
              </a:lnSpc>
            </a:pPr>
            <a:r>
              <a:rPr dirty="0">
                <a:solidFill>
                  <a:prstClr val="black"/>
                </a:solidFill>
                <a:cs typeface="Century Schoolbook"/>
              </a:rPr>
              <a:t>P</a:t>
            </a:r>
            <a:r>
              <a:rPr spc="-100" dirty="0">
                <a:solidFill>
                  <a:prstClr val="black"/>
                </a:solidFill>
                <a:cs typeface="Century Schoolbook"/>
              </a:rPr>
              <a:t> </a:t>
            </a:r>
            <a:r>
              <a:rPr dirty="0">
                <a:solidFill>
                  <a:prstClr val="black"/>
                </a:solidFill>
                <a:cs typeface="Century Schoolbook"/>
              </a:rPr>
              <a:t>4</a:t>
            </a:r>
            <a:endParaRPr>
              <a:solidFill>
                <a:prstClr val="black"/>
              </a:solidFill>
              <a:cs typeface="Century Schoolbook"/>
            </a:endParaRPr>
          </a:p>
        </p:txBody>
      </p:sp>
      <p:sp>
        <p:nvSpPr>
          <p:cNvPr id="19" name="object 19"/>
          <p:cNvSpPr txBox="1"/>
          <p:nvPr/>
        </p:nvSpPr>
        <p:spPr>
          <a:xfrm>
            <a:off x="5421884" y="1575308"/>
            <a:ext cx="436245"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Cde</a:t>
            </a:r>
            <a:endParaRPr>
              <a:solidFill>
                <a:prstClr val="black"/>
              </a:solidFill>
              <a:cs typeface="Century Schoolbook"/>
            </a:endParaRPr>
          </a:p>
        </p:txBody>
      </p:sp>
      <p:sp>
        <p:nvSpPr>
          <p:cNvPr id="20" name="object 20"/>
          <p:cNvSpPr/>
          <p:nvPr/>
        </p:nvSpPr>
        <p:spPr>
          <a:xfrm>
            <a:off x="8273795" y="1924811"/>
            <a:ext cx="0" cy="1524000"/>
          </a:xfrm>
          <a:custGeom>
            <a:avLst/>
            <a:gdLst/>
            <a:ahLst/>
            <a:cxnLst/>
            <a:rect l="l" t="t" r="r" b="b"/>
            <a:pathLst>
              <a:path h="1524000">
                <a:moveTo>
                  <a:pt x="0" y="0"/>
                </a:moveTo>
                <a:lnTo>
                  <a:pt x="0" y="1524000"/>
                </a:lnTo>
              </a:path>
            </a:pathLst>
          </a:custGeom>
          <a:ln w="12192">
            <a:solidFill>
              <a:srgbClr val="000000"/>
            </a:solidFill>
          </a:ln>
        </p:spPr>
        <p:txBody>
          <a:bodyPr wrap="square" lIns="0" tIns="0" rIns="0" bIns="0" rtlCol="0"/>
          <a:lstStyle/>
          <a:p>
            <a:pPr defTabSz="914079"/>
            <a:endParaRPr>
              <a:solidFill>
                <a:prstClr val="black"/>
              </a:solidFill>
            </a:endParaRPr>
          </a:p>
        </p:txBody>
      </p:sp>
      <p:sp>
        <p:nvSpPr>
          <p:cNvPr id="21" name="object 21"/>
          <p:cNvSpPr txBox="1"/>
          <p:nvPr/>
        </p:nvSpPr>
        <p:spPr>
          <a:xfrm>
            <a:off x="8472296" y="1969134"/>
            <a:ext cx="354330" cy="299720"/>
          </a:xfrm>
          <a:prstGeom prst="rect">
            <a:avLst/>
          </a:prstGeom>
        </p:spPr>
        <p:txBody>
          <a:bodyPr vert="horz" wrap="square" lIns="0" tIns="12700" rIns="0" bIns="0" rtlCol="0">
            <a:spAutoFit/>
          </a:bodyPr>
          <a:lstStyle/>
          <a:p>
            <a:pPr marL="12700" defTabSz="914079">
              <a:spcBef>
                <a:spcPts val="100"/>
              </a:spcBef>
            </a:pPr>
            <a:r>
              <a:rPr spc="-10" dirty="0">
                <a:solidFill>
                  <a:prstClr val="black"/>
                </a:solidFill>
                <a:cs typeface="Century Schoolbook"/>
              </a:rPr>
              <a:t>qté</a:t>
            </a:r>
            <a:endParaRPr>
              <a:solidFill>
                <a:prstClr val="black"/>
              </a:solidFill>
              <a:cs typeface="Century Schoolbook"/>
            </a:endParaRPr>
          </a:p>
        </p:txBody>
      </p:sp>
      <p:sp>
        <p:nvSpPr>
          <p:cNvPr id="22" name="object 22"/>
          <p:cNvSpPr txBox="1"/>
          <p:nvPr/>
        </p:nvSpPr>
        <p:spPr>
          <a:xfrm>
            <a:off x="8511920" y="2413761"/>
            <a:ext cx="279400" cy="999490"/>
          </a:xfrm>
          <a:prstGeom prst="rect">
            <a:avLst/>
          </a:prstGeom>
        </p:spPr>
        <p:txBody>
          <a:bodyPr vert="horz" wrap="square" lIns="0" tIns="12700" rIns="0" bIns="0" rtlCol="0">
            <a:spAutoFit/>
          </a:bodyPr>
          <a:lstStyle/>
          <a:p>
            <a:pPr marL="12700" defTabSz="914079">
              <a:lnSpc>
                <a:spcPts val="2000"/>
              </a:lnSpc>
              <a:spcBef>
                <a:spcPts val="100"/>
              </a:spcBef>
            </a:pPr>
            <a:r>
              <a:rPr spc="-10" dirty="0">
                <a:solidFill>
                  <a:prstClr val="black"/>
                </a:solidFill>
                <a:cs typeface="Century Schoolbook"/>
              </a:rPr>
              <a:t>10</a:t>
            </a:r>
            <a:endParaRPr>
              <a:solidFill>
                <a:prstClr val="black"/>
              </a:solidFill>
              <a:cs typeface="Century Schoolbook"/>
            </a:endParaRPr>
          </a:p>
          <a:p>
            <a:pPr marL="12700" defTabSz="914079">
              <a:lnSpc>
                <a:spcPts val="1835"/>
              </a:lnSpc>
            </a:pPr>
            <a:r>
              <a:rPr spc="-10" dirty="0">
                <a:solidFill>
                  <a:prstClr val="black"/>
                </a:solidFill>
                <a:cs typeface="Century Schoolbook"/>
              </a:rPr>
              <a:t>20</a:t>
            </a:r>
            <a:endParaRPr>
              <a:solidFill>
                <a:prstClr val="black"/>
              </a:solidFill>
              <a:cs typeface="Century Schoolbook"/>
            </a:endParaRPr>
          </a:p>
          <a:p>
            <a:pPr marL="139065" defTabSz="914079">
              <a:lnSpc>
                <a:spcPts val="1835"/>
              </a:lnSpc>
            </a:pPr>
            <a:r>
              <a:rPr dirty="0">
                <a:solidFill>
                  <a:prstClr val="black"/>
                </a:solidFill>
                <a:cs typeface="Century Schoolbook"/>
              </a:rPr>
              <a:t>5</a:t>
            </a:r>
            <a:endParaRPr>
              <a:solidFill>
                <a:prstClr val="black"/>
              </a:solidFill>
              <a:cs typeface="Century Schoolbook"/>
            </a:endParaRPr>
          </a:p>
          <a:p>
            <a:pPr marL="12700" defTabSz="914079">
              <a:lnSpc>
                <a:spcPts val="2000"/>
              </a:lnSpc>
            </a:pPr>
            <a:r>
              <a:rPr spc="-10" dirty="0">
                <a:solidFill>
                  <a:prstClr val="black"/>
                </a:solidFill>
                <a:cs typeface="Century Schoolbook"/>
              </a:rPr>
              <a:t>10</a:t>
            </a:r>
            <a:endParaRPr>
              <a:solidFill>
                <a:prstClr val="black"/>
              </a:solidFill>
              <a:cs typeface="Century Schoolbook"/>
            </a:endParaRPr>
          </a:p>
        </p:txBody>
      </p:sp>
      <p:graphicFrame>
        <p:nvGraphicFramePr>
          <p:cNvPr id="23" name="object 23"/>
          <p:cNvGraphicFramePr>
            <a:graphicFrameLocks noGrp="1"/>
          </p:cNvGraphicFramePr>
          <p:nvPr/>
        </p:nvGraphicFramePr>
        <p:xfrm>
          <a:off x="3899915" y="5067300"/>
          <a:ext cx="1943100" cy="1524000"/>
        </p:xfrm>
        <a:graphic>
          <a:graphicData uri="http://schemas.openxmlformats.org/drawingml/2006/table">
            <a:tbl>
              <a:tblPr firstRow="1" bandRow="1">
                <a:tableStyleId>{2D5ABB26-0587-4C30-8999-92F81FD0307C}</a:tableStyleId>
              </a:tblPr>
              <a:tblGrid>
                <a:gridCol w="868680"/>
                <a:gridCol w="1074420"/>
              </a:tblGrid>
              <a:tr h="387096">
                <a:tc>
                  <a:txBody>
                    <a:bodyPr/>
                    <a:lstStyle/>
                    <a:p>
                      <a:pPr marL="147320">
                        <a:lnSpc>
                          <a:spcPct val="100000"/>
                        </a:lnSpc>
                        <a:spcBef>
                          <a:spcPts val="459"/>
                        </a:spcBef>
                      </a:pPr>
                      <a:r>
                        <a:rPr sz="1800" spc="-5" dirty="0">
                          <a:latin typeface="Century Schoolbook"/>
                          <a:cs typeface="Century Schoolbook"/>
                        </a:rPr>
                        <a:t>ncde</a:t>
                      </a:r>
                      <a:endParaRPr sz="1800">
                        <a:latin typeface="Century Schoolbook"/>
                        <a:cs typeface="Century Schoolbook"/>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560"/>
                        </a:spcBef>
                      </a:pPr>
                      <a:r>
                        <a:rPr sz="1800" spc="-5" dirty="0">
                          <a:latin typeface="Century Schoolbook"/>
                          <a:cs typeface="Century Schoolbook"/>
                        </a:rPr>
                        <a:t>nclient</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136904">
                <a:tc>
                  <a:txBody>
                    <a:bodyPr/>
                    <a:lstStyle/>
                    <a:p>
                      <a:pPr marL="304800">
                        <a:lnSpc>
                          <a:spcPts val="2000"/>
                        </a:lnSpc>
                        <a:spcBef>
                          <a:spcPts val="815"/>
                        </a:spcBef>
                      </a:pPr>
                      <a:r>
                        <a:rPr sz="1800" dirty="0">
                          <a:latin typeface="Century Schoolbook"/>
                          <a:cs typeface="Century Schoolbook"/>
                        </a:rPr>
                        <a:t>D</a:t>
                      </a:r>
                      <a:r>
                        <a:rPr sz="1800" spc="-100"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p>
                      <a:pPr marL="304800">
                        <a:lnSpc>
                          <a:spcPts val="1835"/>
                        </a:lnSpc>
                      </a:pPr>
                      <a:r>
                        <a:rPr sz="1800" dirty="0">
                          <a:latin typeface="Century Schoolbook"/>
                          <a:cs typeface="Century Schoolbook"/>
                        </a:rPr>
                        <a:t>D</a:t>
                      </a:r>
                      <a:r>
                        <a:rPr sz="1800" spc="-100" dirty="0">
                          <a:latin typeface="Century Schoolbook"/>
                          <a:cs typeface="Century Schoolbook"/>
                        </a:rPr>
                        <a:t> </a:t>
                      </a:r>
                      <a:r>
                        <a:rPr sz="1800" dirty="0">
                          <a:latin typeface="Century Schoolbook"/>
                          <a:cs typeface="Century Schoolbook"/>
                        </a:rPr>
                        <a:t>2</a:t>
                      </a:r>
                      <a:endParaRPr sz="1800">
                        <a:latin typeface="Century Schoolbook"/>
                        <a:cs typeface="Century Schoolbook"/>
                      </a:endParaRPr>
                    </a:p>
                    <a:p>
                      <a:pPr marL="304800">
                        <a:lnSpc>
                          <a:spcPts val="1835"/>
                        </a:lnSpc>
                      </a:pPr>
                      <a:r>
                        <a:rPr sz="1800" dirty="0">
                          <a:latin typeface="Century Schoolbook"/>
                          <a:cs typeface="Century Schoolbook"/>
                        </a:rPr>
                        <a:t>D</a:t>
                      </a:r>
                      <a:r>
                        <a:rPr sz="1800" spc="-100" dirty="0">
                          <a:latin typeface="Century Schoolbook"/>
                          <a:cs typeface="Century Schoolbook"/>
                        </a:rPr>
                        <a:t> </a:t>
                      </a:r>
                      <a:r>
                        <a:rPr sz="1800" dirty="0">
                          <a:latin typeface="Century Schoolbook"/>
                          <a:cs typeface="Century Schoolbook"/>
                        </a:rPr>
                        <a:t>3</a:t>
                      </a:r>
                      <a:endParaRPr sz="1800">
                        <a:latin typeface="Century Schoolbook"/>
                        <a:cs typeface="Century Schoolbook"/>
                      </a:endParaRPr>
                    </a:p>
                    <a:p>
                      <a:pPr marL="304800">
                        <a:lnSpc>
                          <a:spcPts val="2000"/>
                        </a:lnSpc>
                      </a:pPr>
                      <a:r>
                        <a:rPr sz="1800" dirty="0">
                          <a:latin typeface="Century Schoolbook"/>
                          <a:cs typeface="Century Schoolbook"/>
                        </a:rPr>
                        <a:t>D</a:t>
                      </a:r>
                      <a:r>
                        <a:rPr sz="1800" spc="-100" dirty="0">
                          <a:latin typeface="Century Schoolbook"/>
                          <a:cs typeface="Century Schoolbook"/>
                        </a:rPr>
                        <a:t> </a:t>
                      </a:r>
                      <a:r>
                        <a:rPr sz="1800" dirty="0">
                          <a:latin typeface="Century Schoolbook"/>
                          <a:cs typeface="Century Schoolbook"/>
                        </a:rPr>
                        <a:t>4</a:t>
                      </a:r>
                      <a:endParaRPr sz="1800">
                        <a:latin typeface="Century Schoolbook"/>
                        <a:cs typeface="Century Schoolbook"/>
                      </a:endParaRPr>
                    </a:p>
                  </a:txBody>
                  <a:tcPr marL="0" marR="0" marT="1035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2420">
                        <a:lnSpc>
                          <a:spcPts val="2000"/>
                        </a:lnSpc>
                        <a:spcBef>
                          <a:spcPts val="715"/>
                        </a:spcBef>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p>
                      <a:pPr marL="312420">
                        <a:lnSpc>
                          <a:spcPts val="1835"/>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p>
                      <a:pPr marL="312420">
                        <a:lnSpc>
                          <a:spcPts val="1835"/>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2</a:t>
                      </a:r>
                      <a:endParaRPr sz="1800">
                        <a:latin typeface="Century Schoolbook"/>
                        <a:cs typeface="Century Schoolbook"/>
                      </a:endParaRPr>
                    </a:p>
                    <a:p>
                      <a:pPr marL="312420">
                        <a:lnSpc>
                          <a:spcPts val="2000"/>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4</a:t>
                      </a:r>
                      <a:endParaRPr sz="1800">
                        <a:latin typeface="Century Schoolbook"/>
                        <a:cs typeface="Century Schoolbook"/>
                      </a:endParaRPr>
                    </a:p>
                  </a:txBody>
                  <a:tcPr marL="0" marR="0" marT="908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24" name="object 24"/>
          <p:cNvSpPr txBox="1"/>
          <p:nvPr/>
        </p:nvSpPr>
        <p:spPr>
          <a:xfrm>
            <a:off x="4024629" y="4751070"/>
            <a:ext cx="563245" cy="299720"/>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Cde1</a:t>
            </a:r>
            <a:endParaRPr>
              <a:solidFill>
                <a:prstClr val="black"/>
              </a:solidFill>
              <a:cs typeface="Century Schoolbook"/>
            </a:endParaRPr>
          </a:p>
        </p:txBody>
      </p:sp>
      <p:sp>
        <p:nvSpPr>
          <p:cNvPr id="25" name="object 25"/>
          <p:cNvSpPr txBox="1"/>
          <p:nvPr/>
        </p:nvSpPr>
        <p:spPr>
          <a:xfrm>
            <a:off x="6616065" y="4737938"/>
            <a:ext cx="563245" cy="300355"/>
          </a:xfrm>
          <a:prstGeom prst="rect">
            <a:avLst/>
          </a:prstGeom>
        </p:spPr>
        <p:txBody>
          <a:bodyPr vert="horz" wrap="square" lIns="0" tIns="12700" rIns="0" bIns="0" rtlCol="0">
            <a:spAutoFit/>
          </a:bodyPr>
          <a:lstStyle/>
          <a:p>
            <a:pPr marL="12700" defTabSz="914079">
              <a:spcBef>
                <a:spcPts val="100"/>
              </a:spcBef>
            </a:pPr>
            <a:r>
              <a:rPr spc="-5" dirty="0">
                <a:solidFill>
                  <a:prstClr val="black"/>
                </a:solidFill>
                <a:cs typeface="Century Schoolbook"/>
              </a:rPr>
              <a:t>C</a:t>
            </a:r>
            <a:r>
              <a:rPr spc="-10" dirty="0">
                <a:solidFill>
                  <a:prstClr val="black"/>
                </a:solidFill>
                <a:cs typeface="Century Schoolbook"/>
              </a:rPr>
              <a:t>d</a:t>
            </a:r>
            <a:r>
              <a:rPr dirty="0">
                <a:solidFill>
                  <a:prstClr val="black"/>
                </a:solidFill>
                <a:cs typeface="Century Schoolbook"/>
              </a:rPr>
              <a:t>e2</a:t>
            </a:r>
            <a:endParaRPr>
              <a:solidFill>
                <a:prstClr val="black"/>
              </a:solidFill>
              <a:cs typeface="Century Schoolbook"/>
            </a:endParaRPr>
          </a:p>
        </p:txBody>
      </p:sp>
      <p:sp>
        <p:nvSpPr>
          <p:cNvPr id="26" name="object 26"/>
          <p:cNvSpPr/>
          <p:nvPr/>
        </p:nvSpPr>
        <p:spPr>
          <a:xfrm>
            <a:off x="6547104" y="5073396"/>
            <a:ext cx="1752600" cy="1524000"/>
          </a:xfrm>
          <a:custGeom>
            <a:avLst/>
            <a:gdLst/>
            <a:ahLst/>
            <a:cxnLst/>
            <a:rect l="l" t="t" r="r" b="b"/>
            <a:pathLst>
              <a:path w="1752600" h="1524000">
                <a:moveTo>
                  <a:pt x="0" y="1523999"/>
                </a:moveTo>
                <a:lnTo>
                  <a:pt x="1752600" y="1523999"/>
                </a:lnTo>
                <a:lnTo>
                  <a:pt x="1752600" y="0"/>
                </a:lnTo>
                <a:lnTo>
                  <a:pt x="0" y="0"/>
                </a:lnTo>
                <a:lnTo>
                  <a:pt x="0" y="1523999"/>
                </a:lnTo>
                <a:close/>
              </a:path>
            </a:pathLst>
          </a:custGeom>
          <a:solidFill>
            <a:srgbClr val="FFFFFF"/>
          </a:solidFill>
        </p:spPr>
        <p:txBody>
          <a:bodyPr wrap="square" lIns="0" tIns="0" rIns="0" bIns="0" rtlCol="0"/>
          <a:lstStyle/>
          <a:p>
            <a:pPr defTabSz="914079"/>
            <a:endParaRPr>
              <a:solidFill>
                <a:prstClr val="black"/>
              </a:solidFill>
            </a:endParaRPr>
          </a:p>
        </p:txBody>
      </p:sp>
      <p:graphicFrame>
        <p:nvGraphicFramePr>
          <p:cNvPr id="27" name="object 27"/>
          <p:cNvGraphicFramePr>
            <a:graphicFrameLocks noGrp="1"/>
          </p:cNvGraphicFramePr>
          <p:nvPr/>
        </p:nvGraphicFramePr>
        <p:xfrm>
          <a:off x="6541007" y="5067300"/>
          <a:ext cx="1752600" cy="1523999"/>
        </p:xfrm>
        <a:graphic>
          <a:graphicData uri="http://schemas.openxmlformats.org/drawingml/2006/table">
            <a:tbl>
              <a:tblPr firstRow="1" bandRow="1">
                <a:tableStyleId>{2D5ABB26-0587-4C30-8999-92F81FD0307C}</a:tableStyleId>
              </a:tblPr>
              <a:tblGrid>
                <a:gridCol w="1028065"/>
                <a:gridCol w="724535"/>
              </a:tblGrid>
              <a:tr h="387096">
                <a:tc>
                  <a:txBody>
                    <a:bodyPr/>
                    <a:lstStyle/>
                    <a:p>
                      <a:pPr marR="77470" algn="ctr">
                        <a:lnSpc>
                          <a:spcPct val="100000"/>
                        </a:lnSpc>
                        <a:spcBef>
                          <a:spcPts val="360"/>
                        </a:spcBef>
                      </a:pPr>
                      <a:r>
                        <a:rPr sz="1800" spc="-5" dirty="0">
                          <a:latin typeface="Century Schoolbook"/>
                          <a:cs typeface="Century Schoolbook"/>
                        </a:rPr>
                        <a:t>produit</a:t>
                      </a:r>
                      <a:endParaRPr sz="1800">
                        <a:latin typeface="Century Schoolbook"/>
                        <a:cs typeface="Century Schoolbook"/>
                      </a:endParaRPr>
                    </a:p>
                  </a:txBody>
                  <a:tcPr marL="0" marR="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R="221615" algn="r">
                        <a:lnSpc>
                          <a:spcPct val="100000"/>
                        </a:lnSpc>
                        <a:spcBef>
                          <a:spcPts val="459"/>
                        </a:spcBef>
                      </a:pPr>
                      <a:r>
                        <a:rPr sz="1800" spc="-10" dirty="0">
                          <a:latin typeface="Century Schoolbook"/>
                          <a:cs typeface="Century Schoolbook"/>
                        </a:rPr>
                        <a:t>qté</a:t>
                      </a:r>
                      <a:endParaRPr sz="1800">
                        <a:latin typeface="Century Schoolbook"/>
                        <a:cs typeface="Century Schoolbook"/>
                      </a:endParaRPr>
                    </a:p>
                  </a:txBody>
                  <a:tcPr marL="0" marR="0" marT="58419" marB="0">
                    <a:lnR w="12700">
                      <a:solidFill>
                        <a:srgbClr val="000000"/>
                      </a:solidFill>
                      <a:prstDash val="solid"/>
                    </a:lnR>
                    <a:lnT w="12700">
                      <a:solidFill>
                        <a:srgbClr val="000000"/>
                      </a:solidFill>
                      <a:prstDash val="solid"/>
                    </a:lnT>
                    <a:lnB w="12700">
                      <a:solidFill>
                        <a:srgbClr val="000000"/>
                      </a:solidFill>
                      <a:prstDash val="solid"/>
                    </a:lnB>
                  </a:tcPr>
                </a:tc>
              </a:tr>
              <a:tr h="335409">
                <a:tc>
                  <a:txBody>
                    <a:bodyPr/>
                    <a:lstStyle/>
                    <a:p>
                      <a:pPr marR="90805" algn="ctr">
                        <a:lnSpc>
                          <a:spcPts val="2025"/>
                        </a:lnSpc>
                        <a:spcBef>
                          <a:spcPts val="515"/>
                        </a:spcBef>
                      </a:pPr>
                      <a:r>
                        <a:rPr sz="1800" dirty="0">
                          <a:latin typeface="Century Schoolbook"/>
                          <a:cs typeface="Century Schoolbook"/>
                        </a:rPr>
                        <a:t>P</a:t>
                      </a:r>
                      <a:r>
                        <a:rPr sz="1800" spc="-20"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txBody>
                  <a:tcPr marL="0" marR="0" marT="65405" marB="0">
                    <a:lnL w="12700">
                      <a:solidFill>
                        <a:srgbClr val="000000"/>
                      </a:solidFill>
                      <a:prstDash val="solid"/>
                    </a:lnL>
                    <a:lnT w="12700">
                      <a:solidFill>
                        <a:srgbClr val="000000"/>
                      </a:solidFill>
                      <a:prstDash val="solid"/>
                    </a:lnT>
                  </a:tcPr>
                </a:tc>
                <a:tc>
                  <a:txBody>
                    <a:bodyPr/>
                    <a:lstStyle/>
                    <a:p>
                      <a:pPr marR="219075" algn="r">
                        <a:lnSpc>
                          <a:spcPts val="1825"/>
                        </a:lnSpc>
                        <a:spcBef>
                          <a:spcPts val="715"/>
                        </a:spcBef>
                      </a:pPr>
                      <a:r>
                        <a:rPr sz="1800" spc="-10" dirty="0">
                          <a:latin typeface="Century Schoolbook"/>
                          <a:cs typeface="Century Schoolbook"/>
                        </a:rPr>
                        <a:t>10</a:t>
                      </a:r>
                      <a:endParaRPr sz="1800">
                        <a:latin typeface="Century Schoolbook"/>
                        <a:cs typeface="Century Schoolbook"/>
                      </a:endParaRPr>
                    </a:p>
                  </a:txBody>
                  <a:tcPr marL="0" marR="0" marT="90805" marB="0">
                    <a:lnR w="12700">
                      <a:solidFill>
                        <a:srgbClr val="000000"/>
                      </a:solidFill>
                      <a:prstDash val="solid"/>
                    </a:lnR>
                    <a:lnT w="12700">
                      <a:solidFill>
                        <a:srgbClr val="000000"/>
                      </a:solidFill>
                      <a:prstDash val="solid"/>
                    </a:lnT>
                  </a:tcPr>
                </a:tc>
              </a:tr>
              <a:tr h="233172">
                <a:tc>
                  <a:txBody>
                    <a:bodyPr/>
                    <a:lstStyle/>
                    <a:p>
                      <a:pPr marR="90805" algn="ctr">
                        <a:lnSpc>
                          <a:spcPts val="1735"/>
                        </a:lnSpc>
                      </a:pPr>
                      <a:r>
                        <a:rPr sz="1800" dirty="0">
                          <a:latin typeface="Century Schoolbook"/>
                          <a:cs typeface="Century Schoolbook"/>
                        </a:rPr>
                        <a:t>P</a:t>
                      </a:r>
                      <a:r>
                        <a:rPr sz="1800" spc="-20" dirty="0">
                          <a:latin typeface="Century Schoolbook"/>
                          <a:cs typeface="Century Schoolbook"/>
                        </a:rPr>
                        <a:t> </a:t>
                      </a:r>
                      <a:r>
                        <a:rPr sz="1800" dirty="0">
                          <a:latin typeface="Century Schoolbook"/>
                          <a:cs typeface="Century Schoolbook"/>
                        </a:rPr>
                        <a:t>2</a:t>
                      </a:r>
                      <a:endParaRPr sz="1800">
                        <a:latin typeface="Century Schoolbook"/>
                        <a:cs typeface="Century Schoolbook"/>
                      </a:endParaRPr>
                    </a:p>
                  </a:txBody>
                  <a:tcPr marL="0" marR="0" marT="0" marB="0">
                    <a:lnL w="12700">
                      <a:solidFill>
                        <a:srgbClr val="000000"/>
                      </a:solidFill>
                      <a:prstDash val="solid"/>
                    </a:lnL>
                  </a:tcPr>
                </a:tc>
                <a:tc>
                  <a:txBody>
                    <a:bodyPr/>
                    <a:lstStyle/>
                    <a:p>
                      <a:pPr marR="219075" algn="r">
                        <a:lnSpc>
                          <a:spcPts val="1735"/>
                        </a:lnSpc>
                      </a:pPr>
                      <a:r>
                        <a:rPr sz="1800" spc="-10" dirty="0">
                          <a:latin typeface="Century Schoolbook"/>
                          <a:cs typeface="Century Schoolbook"/>
                        </a:rPr>
                        <a:t>20</a:t>
                      </a:r>
                      <a:endParaRPr sz="1800">
                        <a:latin typeface="Century Schoolbook"/>
                        <a:cs typeface="Century Schoolbook"/>
                      </a:endParaRPr>
                    </a:p>
                  </a:txBody>
                  <a:tcPr marL="0" marR="0" marT="0" marB="0">
                    <a:lnR w="12700">
                      <a:solidFill>
                        <a:srgbClr val="000000"/>
                      </a:solidFill>
                      <a:prstDash val="solid"/>
                    </a:lnR>
                  </a:tcPr>
                </a:tc>
              </a:tr>
              <a:tr h="233172">
                <a:tc>
                  <a:txBody>
                    <a:bodyPr/>
                    <a:lstStyle/>
                    <a:p>
                      <a:pPr marR="90805" algn="ctr">
                        <a:lnSpc>
                          <a:spcPts val="1735"/>
                        </a:lnSpc>
                      </a:pPr>
                      <a:r>
                        <a:rPr sz="1800" dirty="0">
                          <a:latin typeface="Century Schoolbook"/>
                          <a:cs typeface="Century Schoolbook"/>
                        </a:rPr>
                        <a:t>P</a:t>
                      </a:r>
                      <a:r>
                        <a:rPr sz="1800" spc="-20" dirty="0">
                          <a:latin typeface="Century Schoolbook"/>
                          <a:cs typeface="Century Schoolbook"/>
                        </a:rPr>
                        <a:t> </a:t>
                      </a:r>
                      <a:r>
                        <a:rPr sz="1800" dirty="0">
                          <a:latin typeface="Century Schoolbook"/>
                          <a:cs typeface="Century Schoolbook"/>
                        </a:rPr>
                        <a:t>3</a:t>
                      </a:r>
                      <a:endParaRPr sz="1800">
                        <a:latin typeface="Century Schoolbook"/>
                        <a:cs typeface="Century Schoolbook"/>
                      </a:endParaRPr>
                    </a:p>
                  </a:txBody>
                  <a:tcPr marL="0" marR="0" marT="0" marB="0">
                    <a:lnL w="12700">
                      <a:solidFill>
                        <a:srgbClr val="000000"/>
                      </a:solidFill>
                      <a:prstDash val="solid"/>
                    </a:lnL>
                  </a:tcPr>
                </a:tc>
                <a:tc>
                  <a:txBody>
                    <a:bodyPr/>
                    <a:lstStyle/>
                    <a:p>
                      <a:pPr marR="218440" algn="r">
                        <a:lnSpc>
                          <a:spcPts val="1735"/>
                        </a:lnSpc>
                      </a:pPr>
                      <a:r>
                        <a:rPr sz="1800" dirty="0">
                          <a:latin typeface="Century Schoolbook"/>
                          <a:cs typeface="Century Schoolbook"/>
                        </a:rPr>
                        <a:t>5</a:t>
                      </a:r>
                      <a:endParaRPr sz="1800">
                        <a:latin typeface="Century Schoolbook"/>
                        <a:cs typeface="Century Schoolbook"/>
                      </a:endParaRPr>
                    </a:p>
                  </a:txBody>
                  <a:tcPr marL="0" marR="0" marT="0" marB="0">
                    <a:lnR w="12700">
                      <a:solidFill>
                        <a:srgbClr val="000000"/>
                      </a:solidFill>
                      <a:prstDash val="solid"/>
                    </a:lnR>
                  </a:tcPr>
                </a:tc>
              </a:tr>
              <a:tr h="335150">
                <a:tc>
                  <a:txBody>
                    <a:bodyPr/>
                    <a:lstStyle/>
                    <a:p>
                      <a:pPr marR="90805" algn="ctr">
                        <a:lnSpc>
                          <a:spcPts val="1870"/>
                        </a:lnSpc>
                      </a:pPr>
                      <a:r>
                        <a:rPr sz="1800" dirty="0">
                          <a:latin typeface="Century Schoolbook"/>
                          <a:cs typeface="Century Schoolbook"/>
                        </a:rPr>
                        <a:t>P</a:t>
                      </a:r>
                      <a:r>
                        <a:rPr sz="1800" spc="-20" dirty="0">
                          <a:latin typeface="Century Schoolbook"/>
                          <a:cs typeface="Century Schoolbook"/>
                        </a:rPr>
                        <a:t> </a:t>
                      </a:r>
                      <a:r>
                        <a:rPr sz="1800" dirty="0">
                          <a:latin typeface="Century Schoolbook"/>
                          <a:cs typeface="Century Schoolbook"/>
                        </a:rPr>
                        <a:t>4</a:t>
                      </a:r>
                      <a:endParaRPr sz="1800">
                        <a:latin typeface="Century Schoolbook"/>
                        <a:cs typeface="Century Schoolbook"/>
                      </a:endParaRPr>
                    </a:p>
                  </a:txBody>
                  <a:tcPr marL="0" marR="0" marT="0" marB="0">
                    <a:lnL w="12700">
                      <a:solidFill>
                        <a:srgbClr val="000000"/>
                      </a:solidFill>
                      <a:prstDash val="solid"/>
                    </a:lnL>
                    <a:lnB w="12700">
                      <a:solidFill>
                        <a:srgbClr val="000000"/>
                      </a:solidFill>
                      <a:prstDash val="solid"/>
                    </a:lnB>
                  </a:tcPr>
                </a:tc>
                <a:tc>
                  <a:txBody>
                    <a:bodyPr/>
                    <a:lstStyle/>
                    <a:p>
                      <a:pPr marR="219075" algn="r">
                        <a:lnSpc>
                          <a:spcPts val="2070"/>
                        </a:lnSpc>
                      </a:pPr>
                      <a:r>
                        <a:rPr sz="1800" spc="-10" dirty="0">
                          <a:latin typeface="Century Schoolbook"/>
                          <a:cs typeface="Century Schoolbook"/>
                        </a:rPr>
                        <a:t>10</a:t>
                      </a:r>
                      <a:endParaRPr sz="1800">
                        <a:latin typeface="Century Schoolbook"/>
                        <a:cs typeface="Century Schoolbook"/>
                      </a:endParaRPr>
                    </a:p>
                  </a:txBody>
                  <a:tcPr marL="0" marR="0" marT="0" marB="0">
                    <a:lnR w="12700">
                      <a:solidFill>
                        <a:srgbClr val="000000"/>
                      </a:solidFill>
                      <a:prstDash val="solid"/>
                    </a:lnR>
                    <a:lnB w="12700">
                      <a:solidFill>
                        <a:srgbClr val="000000"/>
                      </a:solidFill>
                      <a:prstDash val="solid"/>
                    </a:lnB>
                  </a:tcPr>
                </a:tc>
              </a:tr>
            </a:tbl>
          </a:graphicData>
        </a:graphic>
      </p:graphicFrame>
      <p:sp>
        <p:nvSpPr>
          <p:cNvPr id="28" name="object 28"/>
          <p:cNvSpPr/>
          <p:nvPr/>
        </p:nvSpPr>
        <p:spPr>
          <a:xfrm>
            <a:off x="3264408" y="4914900"/>
            <a:ext cx="5511165" cy="1524000"/>
          </a:xfrm>
          <a:custGeom>
            <a:avLst/>
            <a:gdLst/>
            <a:ahLst/>
            <a:cxnLst/>
            <a:rect l="l" t="t" r="r" b="b"/>
            <a:pathLst>
              <a:path w="5511165" h="1524000">
                <a:moveTo>
                  <a:pt x="0" y="1524000"/>
                </a:moveTo>
                <a:lnTo>
                  <a:pt x="5510784" y="0"/>
                </a:lnTo>
              </a:path>
            </a:pathLst>
          </a:custGeom>
          <a:ln w="76200">
            <a:solidFill>
              <a:srgbClr val="FF0000"/>
            </a:solidFill>
          </a:ln>
        </p:spPr>
        <p:txBody>
          <a:bodyPr wrap="square" lIns="0" tIns="0" rIns="0" bIns="0" rtlCol="0"/>
          <a:lstStyle/>
          <a:p>
            <a:pPr defTabSz="914079"/>
            <a:endParaRPr>
              <a:solidFill>
                <a:prstClr val="black"/>
              </a:solidFill>
            </a:endParaRPr>
          </a:p>
        </p:txBody>
      </p:sp>
      <p:sp>
        <p:nvSpPr>
          <p:cNvPr id="29" name="Espace réservé du numéro de diapositive 28"/>
          <p:cNvSpPr>
            <a:spLocks noGrp="1"/>
          </p:cNvSpPr>
          <p:nvPr>
            <p:ph type="sldNum" sz="quarter" idx="15"/>
          </p:nvPr>
        </p:nvSpPr>
        <p:spPr/>
        <p:txBody>
          <a:bodyPr/>
          <a:lstStyle/>
          <a:p>
            <a:fld id="{F1AAE0E6-1385-44E0-8EAE-F204D7E7A5E9}" type="slidenum">
              <a:rPr lang="fr-FR" smtClean="0"/>
              <a:pPr/>
              <a:t>18</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t>fragmentation hybride</a:t>
            </a:r>
            <a:endParaRPr lang="fr-FR" dirty="0"/>
          </a:p>
        </p:txBody>
      </p:sp>
      <p:sp>
        <p:nvSpPr>
          <p:cNvPr id="3" name="Espace réservé du contenu 2"/>
          <p:cNvSpPr>
            <a:spLocks noGrp="1"/>
          </p:cNvSpPr>
          <p:nvPr>
            <p:ph sz="quarter" idx="1"/>
          </p:nvPr>
        </p:nvSpPr>
        <p:spPr/>
        <p:txBody>
          <a:bodyPr>
            <a:normAutofit/>
          </a:bodyPr>
          <a:lstStyle/>
          <a:p>
            <a:r>
              <a:rPr lang="fr-FR" dirty="0" smtClean="0"/>
              <a:t>C'est la combinaison des deux fragmentations précédentes, horizontale et verticale.</a:t>
            </a:r>
          </a:p>
          <a:p>
            <a:r>
              <a:rPr lang="fr-FR" dirty="0" smtClean="0"/>
              <a:t>Les occurrences et les attributs peuvent donc être répartis dans des partitions différentes.</a:t>
            </a:r>
          </a:p>
          <a:p>
            <a:r>
              <a:rPr lang="fr-FR" dirty="0" smtClean="0"/>
              <a:t> L'opération de partitionnement est une combinaison de projections et de sélections.</a:t>
            </a:r>
          </a:p>
          <a:p>
            <a:r>
              <a:rPr lang="fr-FR" dirty="0" smtClean="0"/>
              <a:t>L'opération de recomposition est une combinaison de jointures et d'unions.</a:t>
            </a:r>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19</a:t>
            </a:fld>
            <a:endParaRPr lang="fr-F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763761" y="761"/>
            <a:ext cx="0" cy="3333750"/>
          </a:xfrm>
          <a:custGeom>
            <a:avLst/>
            <a:gdLst/>
            <a:ahLst/>
            <a:cxnLst/>
            <a:rect l="l" t="t" r="r" b="b"/>
            <a:pathLst>
              <a:path h="3333750">
                <a:moveTo>
                  <a:pt x="0" y="0"/>
                </a:moveTo>
                <a:lnTo>
                  <a:pt x="0" y="3333750"/>
                </a:lnTo>
              </a:path>
            </a:pathLst>
          </a:custGeom>
          <a:ln w="38100">
            <a:solidFill>
              <a:srgbClr val="FDC3AD"/>
            </a:solidFill>
          </a:ln>
        </p:spPr>
        <p:txBody>
          <a:bodyPr wrap="square" lIns="0" tIns="0" rIns="0" bIns="0" rtlCol="0"/>
          <a:lstStyle/>
          <a:p>
            <a:endParaRPr>
              <a:solidFill>
                <a:prstClr val="black"/>
              </a:solidFill>
            </a:endParaRPr>
          </a:p>
        </p:txBody>
      </p:sp>
      <p:sp>
        <p:nvSpPr>
          <p:cNvPr id="3" name="object 3"/>
          <p:cNvSpPr/>
          <p:nvPr/>
        </p:nvSpPr>
        <p:spPr>
          <a:xfrm>
            <a:off x="8763761" y="4401311"/>
            <a:ext cx="0" cy="965200"/>
          </a:xfrm>
          <a:custGeom>
            <a:avLst/>
            <a:gdLst/>
            <a:ahLst/>
            <a:cxnLst/>
            <a:rect l="l" t="t" r="r" b="b"/>
            <a:pathLst>
              <a:path h="965200">
                <a:moveTo>
                  <a:pt x="0" y="0"/>
                </a:moveTo>
                <a:lnTo>
                  <a:pt x="0" y="964692"/>
                </a:lnTo>
              </a:path>
            </a:pathLst>
          </a:custGeom>
          <a:ln w="38100">
            <a:solidFill>
              <a:srgbClr val="FDC3AD"/>
            </a:solidFill>
          </a:ln>
        </p:spPr>
        <p:txBody>
          <a:bodyPr wrap="square" lIns="0" tIns="0" rIns="0" bIns="0" rtlCol="0"/>
          <a:lstStyle/>
          <a:p>
            <a:endParaRPr>
              <a:solidFill>
                <a:prstClr val="black"/>
              </a:solidFill>
            </a:endParaRPr>
          </a:p>
        </p:txBody>
      </p:sp>
      <p:sp>
        <p:nvSpPr>
          <p:cNvPr id="4" name="object 4"/>
          <p:cNvSpPr/>
          <p:nvPr/>
        </p:nvSpPr>
        <p:spPr>
          <a:xfrm>
            <a:off x="8763761" y="6432803"/>
            <a:ext cx="0" cy="426084"/>
          </a:xfrm>
          <a:custGeom>
            <a:avLst/>
            <a:gdLst/>
            <a:ahLst/>
            <a:cxnLst/>
            <a:rect l="l" t="t" r="r" b="b"/>
            <a:pathLst>
              <a:path h="426084">
                <a:moveTo>
                  <a:pt x="0" y="0"/>
                </a:moveTo>
                <a:lnTo>
                  <a:pt x="0" y="425957"/>
                </a:lnTo>
              </a:path>
            </a:pathLst>
          </a:custGeom>
          <a:ln w="38100">
            <a:solidFill>
              <a:srgbClr val="FDC3AD"/>
            </a:solidFill>
          </a:ln>
        </p:spPr>
        <p:txBody>
          <a:bodyPr wrap="square" lIns="0" tIns="0" rIns="0" bIns="0" rtlCol="0"/>
          <a:lstStyle/>
          <a:p>
            <a:endParaRPr>
              <a:solidFill>
                <a:prstClr val="black"/>
              </a:solidFill>
            </a:endParaRPr>
          </a:p>
        </p:txBody>
      </p:sp>
      <p:sp>
        <p:nvSpPr>
          <p:cNvPr id="5" name="object 5"/>
          <p:cNvSpPr/>
          <p:nvPr/>
        </p:nvSpPr>
        <p:spPr>
          <a:xfrm>
            <a:off x="87783" y="0"/>
            <a:ext cx="0" cy="6858000"/>
          </a:xfrm>
          <a:custGeom>
            <a:avLst/>
            <a:gdLst/>
            <a:ahLst/>
            <a:cxnLst/>
            <a:rect l="l" t="t" r="r" b="b"/>
            <a:pathLst>
              <a:path h="6858000">
                <a:moveTo>
                  <a:pt x="0" y="0"/>
                </a:moveTo>
                <a:lnTo>
                  <a:pt x="0" y="6857997"/>
                </a:lnTo>
              </a:path>
            </a:pathLst>
          </a:custGeom>
          <a:ln w="34748">
            <a:solidFill>
              <a:srgbClr val="FDC3AD"/>
            </a:solidFill>
          </a:ln>
        </p:spPr>
        <p:txBody>
          <a:bodyPr wrap="square" lIns="0" tIns="0" rIns="0" bIns="0" rtlCol="0"/>
          <a:lstStyle/>
          <a:p>
            <a:endParaRPr>
              <a:solidFill>
                <a:prstClr val="black"/>
              </a:solidFill>
            </a:endParaRPr>
          </a:p>
        </p:txBody>
      </p:sp>
      <p:sp>
        <p:nvSpPr>
          <p:cNvPr id="6" name="object 6"/>
          <p:cNvSpPr/>
          <p:nvPr/>
        </p:nvSpPr>
        <p:spPr>
          <a:xfrm>
            <a:off x="53035" y="0"/>
            <a:ext cx="0" cy="6858000"/>
          </a:xfrm>
          <a:custGeom>
            <a:avLst/>
            <a:gdLst/>
            <a:ahLst/>
            <a:cxnLst/>
            <a:rect l="l" t="t" r="r" b="b"/>
            <a:pathLst>
              <a:path h="6858000">
                <a:moveTo>
                  <a:pt x="0" y="0"/>
                </a:moveTo>
                <a:lnTo>
                  <a:pt x="0" y="6857997"/>
                </a:lnTo>
              </a:path>
            </a:pathLst>
          </a:custGeom>
          <a:ln w="11583">
            <a:solidFill>
              <a:srgbClr val="FDC3AD"/>
            </a:solidFill>
          </a:ln>
        </p:spPr>
        <p:txBody>
          <a:bodyPr wrap="square" lIns="0" tIns="0" rIns="0" bIns="0" rtlCol="0"/>
          <a:lstStyle/>
          <a:p>
            <a:endParaRPr>
              <a:solidFill>
                <a:prstClr val="black"/>
              </a:solidFill>
            </a:endParaRPr>
          </a:p>
        </p:txBody>
      </p:sp>
      <p:sp>
        <p:nvSpPr>
          <p:cNvPr id="7" name="object 7"/>
          <p:cNvSpPr/>
          <p:nvPr/>
        </p:nvSpPr>
        <p:spPr>
          <a:xfrm>
            <a:off x="8839200" y="0"/>
            <a:ext cx="304800" cy="6858000"/>
          </a:xfrm>
          <a:custGeom>
            <a:avLst/>
            <a:gdLst/>
            <a:ahLst/>
            <a:cxnLst/>
            <a:rect l="l" t="t" r="r" b="b"/>
            <a:pathLst>
              <a:path w="304800" h="6858000">
                <a:moveTo>
                  <a:pt x="0" y="6858000"/>
                </a:moveTo>
                <a:lnTo>
                  <a:pt x="304800" y="6858000"/>
                </a:lnTo>
                <a:lnTo>
                  <a:pt x="304800" y="0"/>
                </a:lnTo>
                <a:lnTo>
                  <a:pt x="0" y="0"/>
                </a:lnTo>
                <a:lnTo>
                  <a:pt x="0" y="6858000"/>
                </a:lnTo>
                <a:close/>
              </a:path>
            </a:pathLst>
          </a:custGeom>
          <a:solidFill>
            <a:srgbClr val="FDC3AD">
              <a:alpha val="87057"/>
            </a:srgbClr>
          </a:solidFill>
        </p:spPr>
        <p:txBody>
          <a:bodyPr wrap="square" lIns="0" tIns="0" rIns="0" bIns="0" rtlCol="0"/>
          <a:lstStyle/>
          <a:p>
            <a:endParaRPr>
              <a:solidFill>
                <a:prstClr val="black"/>
              </a:solidFill>
            </a:endParaRPr>
          </a:p>
        </p:txBody>
      </p:sp>
      <p:sp>
        <p:nvSpPr>
          <p:cNvPr id="8" name="object 8"/>
          <p:cNvSpPr/>
          <p:nvPr/>
        </p:nvSpPr>
        <p:spPr>
          <a:xfrm>
            <a:off x="8915400" y="0"/>
            <a:ext cx="0" cy="5366385"/>
          </a:xfrm>
          <a:custGeom>
            <a:avLst/>
            <a:gdLst/>
            <a:ahLst/>
            <a:cxnLst/>
            <a:rect l="l" t="t" r="r" b="b"/>
            <a:pathLst>
              <a:path h="5366385">
                <a:moveTo>
                  <a:pt x="0" y="0"/>
                </a:moveTo>
                <a:lnTo>
                  <a:pt x="0" y="5366004"/>
                </a:lnTo>
              </a:path>
            </a:pathLst>
          </a:custGeom>
          <a:ln w="9144">
            <a:solidFill>
              <a:srgbClr val="FD8537"/>
            </a:solidFill>
          </a:ln>
        </p:spPr>
        <p:txBody>
          <a:bodyPr wrap="square" lIns="0" tIns="0" rIns="0" bIns="0" rtlCol="0"/>
          <a:lstStyle/>
          <a:p>
            <a:endParaRPr>
              <a:solidFill>
                <a:prstClr val="black"/>
              </a:solidFill>
            </a:endParaRPr>
          </a:p>
        </p:txBody>
      </p:sp>
      <p:sp>
        <p:nvSpPr>
          <p:cNvPr id="9" name="object 9"/>
          <p:cNvSpPr/>
          <p:nvPr/>
        </p:nvSpPr>
        <p:spPr>
          <a:xfrm>
            <a:off x="8915400" y="6432803"/>
            <a:ext cx="0" cy="425450"/>
          </a:xfrm>
          <a:custGeom>
            <a:avLst/>
            <a:gdLst/>
            <a:ahLst/>
            <a:cxnLst/>
            <a:rect l="l" t="t" r="r" b="b"/>
            <a:pathLst>
              <a:path h="425450">
                <a:moveTo>
                  <a:pt x="0" y="0"/>
                </a:moveTo>
                <a:lnTo>
                  <a:pt x="0" y="425195"/>
                </a:lnTo>
              </a:path>
            </a:pathLst>
          </a:custGeom>
          <a:ln w="9144">
            <a:solidFill>
              <a:srgbClr val="FD8537"/>
            </a:solidFill>
          </a:ln>
        </p:spPr>
        <p:txBody>
          <a:bodyPr wrap="square" lIns="0" tIns="0" rIns="0" bIns="0" rtlCol="0"/>
          <a:lstStyle/>
          <a:p>
            <a:endParaRPr>
              <a:solidFill>
                <a:prstClr val="black"/>
              </a:solidFill>
            </a:endParaRPr>
          </a:p>
        </p:txBody>
      </p:sp>
      <p:sp>
        <p:nvSpPr>
          <p:cNvPr id="10" name="object 10"/>
          <p:cNvSpPr/>
          <p:nvPr/>
        </p:nvSpPr>
        <p:spPr>
          <a:xfrm>
            <a:off x="8156447" y="5715000"/>
            <a:ext cx="548640" cy="548640"/>
          </a:xfrm>
          <a:custGeom>
            <a:avLst/>
            <a:gdLst/>
            <a:ahLst/>
            <a:cxnLst/>
            <a:rect l="l" t="t" r="r" b="b"/>
            <a:pathLst>
              <a:path w="548640" h="548639">
                <a:moveTo>
                  <a:pt x="274320" y="0"/>
                </a:moveTo>
                <a:lnTo>
                  <a:pt x="225008" y="4419"/>
                </a:lnTo>
                <a:lnTo>
                  <a:pt x="178597" y="17162"/>
                </a:lnTo>
                <a:lnTo>
                  <a:pt x="135861" y="37453"/>
                </a:lnTo>
                <a:lnTo>
                  <a:pt x="97575" y="64518"/>
                </a:lnTo>
                <a:lnTo>
                  <a:pt x="64513" y="97580"/>
                </a:lnTo>
                <a:lnTo>
                  <a:pt x="37450" y="135867"/>
                </a:lnTo>
                <a:lnTo>
                  <a:pt x="17161" y="178602"/>
                </a:lnTo>
                <a:lnTo>
                  <a:pt x="4419" y="225011"/>
                </a:lnTo>
                <a:lnTo>
                  <a:pt x="0" y="274319"/>
                </a:lnTo>
                <a:lnTo>
                  <a:pt x="4419" y="323628"/>
                </a:lnTo>
                <a:lnTo>
                  <a:pt x="17161" y="370037"/>
                </a:lnTo>
                <a:lnTo>
                  <a:pt x="37450" y="412772"/>
                </a:lnTo>
                <a:lnTo>
                  <a:pt x="64513" y="451059"/>
                </a:lnTo>
                <a:lnTo>
                  <a:pt x="97575" y="484121"/>
                </a:lnTo>
                <a:lnTo>
                  <a:pt x="135861" y="511186"/>
                </a:lnTo>
                <a:lnTo>
                  <a:pt x="178597" y="531477"/>
                </a:lnTo>
                <a:lnTo>
                  <a:pt x="225008" y="544220"/>
                </a:lnTo>
                <a:lnTo>
                  <a:pt x="274320" y="548640"/>
                </a:lnTo>
                <a:lnTo>
                  <a:pt x="323631" y="544220"/>
                </a:lnTo>
                <a:lnTo>
                  <a:pt x="370042" y="531477"/>
                </a:lnTo>
                <a:lnTo>
                  <a:pt x="412778" y="511186"/>
                </a:lnTo>
                <a:lnTo>
                  <a:pt x="451064" y="484121"/>
                </a:lnTo>
                <a:lnTo>
                  <a:pt x="484126" y="451059"/>
                </a:lnTo>
                <a:lnTo>
                  <a:pt x="511189" y="412772"/>
                </a:lnTo>
                <a:lnTo>
                  <a:pt x="531478" y="370037"/>
                </a:lnTo>
                <a:lnTo>
                  <a:pt x="544220" y="323628"/>
                </a:lnTo>
                <a:lnTo>
                  <a:pt x="548640" y="274319"/>
                </a:lnTo>
                <a:lnTo>
                  <a:pt x="544220" y="225011"/>
                </a:lnTo>
                <a:lnTo>
                  <a:pt x="531478" y="178602"/>
                </a:lnTo>
                <a:lnTo>
                  <a:pt x="511189" y="135867"/>
                </a:lnTo>
                <a:lnTo>
                  <a:pt x="484126" y="97580"/>
                </a:lnTo>
                <a:lnTo>
                  <a:pt x="451064" y="64518"/>
                </a:lnTo>
                <a:lnTo>
                  <a:pt x="412778" y="37453"/>
                </a:lnTo>
                <a:lnTo>
                  <a:pt x="370042" y="17162"/>
                </a:lnTo>
                <a:lnTo>
                  <a:pt x="323631" y="4419"/>
                </a:lnTo>
                <a:lnTo>
                  <a:pt x="274320" y="0"/>
                </a:lnTo>
                <a:close/>
              </a:path>
            </a:pathLst>
          </a:custGeom>
          <a:solidFill>
            <a:srgbClr val="FD8537"/>
          </a:solidFill>
        </p:spPr>
        <p:txBody>
          <a:bodyPr wrap="square" lIns="0" tIns="0" rIns="0" bIns="0" rtlCol="0"/>
          <a:lstStyle/>
          <a:p>
            <a:endParaRPr>
              <a:solidFill>
                <a:prstClr val="black"/>
              </a:solidFill>
            </a:endParaRPr>
          </a:p>
        </p:txBody>
      </p:sp>
      <p:sp>
        <p:nvSpPr>
          <p:cNvPr id="11" name="object 11"/>
          <p:cNvSpPr txBox="1"/>
          <p:nvPr/>
        </p:nvSpPr>
        <p:spPr>
          <a:xfrm>
            <a:off x="8221980" y="5896582"/>
            <a:ext cx="447675" cy="189230"/>
          </a:xfrm>
          <a:prstGeom prst="rect">
            <a:avLst/>
          </a:prstGeom>
        </p:spPr>
        <p:txBody>
          <a:bodyPr vert="horz" wrap="square" lIns="0" tIns="13970" rIns="0" bIns="0" rtlCol="0">
            <a:spAutoFit/>
          </a:bodyPr>
          <a:lstStyle/>
          <a:p>
            <a:pPr>
              <a:spcBef>
                <a:spcPts val="110"/>
              </a:spcBef>
            </a:pPr>
            <a:r>
              <a:rPr sz="1050" spc="5" dirty="0">
                <a:solidFill>
                  <a:srgbClr val="FFFFFF"/>
                </a:solidFill>
                <a:latin typeface="Arial Black"/>
                <a:cs typeface="Arial Black"/>
              </a:rPr>
              <a:t>M</a:t>
            </a:r>
            <a:r>
              <a:rPr sz="1050" spc="-5" dirty="0">
                <a:solidFill>
                  <a:srgbClr val="FFFFFF"/>
                </a:solidFill>
                <a:latin typeface="Arial Black"/>
                <a:cs typeface="Arial Black"/>
              </a:rPr>
              <a:t>I</a:t>
            </a:r>
            <a:r>
              <a:rPr sz="1050" dirty="0">
                <a:solidFill>
                  <a:srgbClr val="FFFFFF"/>
                </a:solidFill>
                <a:latin typeface="Arial Black"/>
                <a:cs typeface="Arial Black"/>
              </a:rPr>
              <a:t>F37</a:t>
            </a:r>
            <a:endParaRPr sz="1050">
              <a:solidFill>
                <a:prstClr val="black"/>
              </a:solidFill>
              <a:latin typeface="Arial Black"/>
              <a:cs typeface="Arial Black"/>
            </a:endParaRPr>
          </a:p>
        </p:txBody>
      </p:sp>
      <p:sp>
        <p:nvSpPr>
          <p:cNvPr id="12" name="object 12"/>
          <p:cNvSpPr txBox="1">
            <a:spLocks noGrp="1"/>
          </p:cNvSpPr>
          <p:nvPr>
            <p:ph type="title"/>
          </p:nvPr>
        </p:nvSpPr>
        <p:spPr>
          <a:xfrm>
            <a:off x="547827" y="341756"/>
            <a:ext cx="3897629" cy="452120"/>
          </a:xfrm>
          <a:prstGeom prst="rect">
            <a:avLst/>
          </a:prstGeom>
        </p:spPr>
        <p:txBody>
          <a:bodyPr vert="horz" wrap="square" lIns="0" tIns="12065" rIns="0" bIns="0" rtlCol="0">
            <a:spAutoFit/>
          </a:bodyPr>
          <a:lstStyle/>
          <a:p>
            <a:pPr marL="12700">
              <a:lnSpc>
                <a:spcPct val="100000"/>
              </a:lnSpc>
              <a:spcBef>
                <a:spcPts val="95"/>
              </a:spcBef>
            </a:pPr>
            <a:r>
              <a:rPr sz="2800" spc="-10" dirty="0"/>
              <a:t>F</a:t>
            </a:r>
            <a:r>
              <a:rPr sz="2250" spc="-10" dirty="0"/>
              <a:t>RAGMENTATION</a:t>
            </a:r>
            <a:r>
              <a:rPr sz="2250" spc="45" dirty="0"/>
              <a:t> </a:t>
            </a:r>
            <a:r>
              <a:rPr sz="2800" spc="-10" dirty="0"/>
              <a:t>M</a:t>
            </a:r>
            <a:r>
              <a:rPr sz="2250" spc="-10" dirty="0"/>
              <a:t>IXTE</a:t>
            </a:r>
            <a:endParaRPr sz="2250" dirty="0"/>
          </a:p>
        </p:txBody>
      </p:sp>
      <p:graphicFrame>
        <p:nvGraphicFramePr>
          <p:cNvPr id="13" name="object 13"/>
          <p:cNvGraphicFramePr>
            <a:graphicFrameLocks noGrp="1"/>
          </p:cNvGraphicFramePr>
          <p:nvPr/>
        </p:nvGraphicFramePr>
        <p:xfrm>
          <a:off x="4948428" y="864108"/>
          <a:ext cx="3503929" cy="1523999"/>
        </p:xfrm>
        <a:graphic>
          <a:graphicData uri="http://schemas.openxmlformats.org/drawingml/2006/table">
            <a:tbl>
              <a:tblPr firstRow="1" bandRow="1">
                <a:tableStyleId>{2D5ABB26-0587-4C30-8999-92F81FD0307C}</a:tableStyleId>
              </a:tblPr>
              <a:tblGrid>
                <a:gridCol w="1174750"/>
                <a:gridCol w="1206500"/>
                <a:gridCol w="1122679"/>
              </a:tblGrid>
              <a:tr h="425196">
                <a:tc>
                  <a:txBody>
                    <a:bodyPr/>
                    <a:lstStyle/>
                    <a:p>
                      <a:pPr marL="240665">
                        <a:lnSpc>
                          <a:spcPct val="100000"/>
                        </a:lnSpc>
                        <a:spcBef>
                          <a:spcPts val="650"/>
                        </a:spcBef>
                      </a:pPr>
                      <a:r>
                        <a:rPr sz="1800" spc="-5" dirty="0">
                          <a:latin typeface="Century Schoolbook"/>
                          <a:cs typeface="Century Schoolbook"/>
                        </a:rPr>
                        <a:t>nclient</a:t>
                      </a:r>
                      <a:endParaRPr sz="1800">
                        <a:latin typeface="Century Schoolbook"/>
                        <a:cs typeface="Century Schoolbook"/>
                      </a:endParaRPr>
                    </a:p>
                  </a:txBody>
                  <a:tcPr marL="0" marR="0" marT="825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8620">
                        <a:lnSpc>
                          <a:spcPct val="100000"/>
                        </a:lnSpc>
                        <a:spcBef>
                          <a:spcPts val="650"/>
                        </a:spcBef>
                      </a:pPr>
                      <a:r>
                        <a:rPr sz="1800" dirty="0">
                          <a:latin typeface="Century Schoolbook"/>
                          <a:cs typeface="Century Schoolbook"/>
                        </a:rPr>
                        <a:t>nom</a:t>
                      </a:r>
                      <a:endParaRPr sz="1800">
                        <a:latin typeface="Century Schoolbook"/>
                        <a:cs typeface="Century Schoolbook"/>
                      </a:endParaRPr>
                    </a:p>
                  </a:txBody>
                  <a:tcPr marL="0" marR="0" marT="825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28930">
                        <a:lnSpc>
                          <a:spcPct val="100000"/>
                        </a:lnSpc>
                        <a:spcBef>
                          <a:spcPts val="650"/>
                        </a:spcBef>
                      </a:pPr>
                      <a:r>
                        <a:rPr sz="1800" spc="-5" dirty="0">
                          <a:latin typeface="Century Schoolbook"/>
                          <a:cs typeface="Century Schoolbook"/>
                        </a:rPr>
                        <a:t>ville</a:t>
                      </a:r>
                      <a:endParaRPr sz="1800">
                        <a:latin typeface="Century Schoolbook"/>
                        <a:cs typeface="Century Schoolbook"/>
                      </a:endParaRPr>
                    </a:p>
                  </a:txBody>
                  <a:tcPr marL="0" marR="0" marT="825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8803">
                <a:tc>
                  <a:txBody>
                    <a:bodyPr/>
                    <a:lstStyle/>
                    <a:p>
                      <a:pPr marL="344170">
                        <a:lnSpc>
                          <a:spcPts val="2000"/>
                        </a:lnSpc>
                        <a:spcBef>
                          <a:spcPts val="505"/>
                        </a:spcBef>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p>
                      <a:pPr marL="344170">
                        <a:lnSpc>
                          <a:spcPts val="1835"/>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2</a:t>
                      </a:r>
                      <a:endParaRPr sz="1800">
                        <a:latin typeface="Century Schoolbook"/>
                        <a:cs typeface="Century Schoolbook"/>
                      </a:endParaRPr>
                    </a:p>
                    <a:p>
                      <a:pPr marL="344170">
                        <a:lnSpc>
                          <a:spcPts val="1835"/>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3</a:t>
                      </a:r>
                      <a:endParaRPr sz="1800">
                        <a:latin typeface="Century Schoolbook"/>
                        <a:cs typeface="Century Schoolbook"/>
                      </a:endParaRPr>
                    </a:p>
                    <a:p>
                      <a:pPr marL="344170">
                        <a:lnSpc>
                          <a:spcPts val="2000"/>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4</a:t>
                      </a:r>
                      <a:endParaRPr sz="1800">
                        <a:latin typeface="Century Schoolbook"/>
                        <a:cs typeface="Century Schoolbook"/>
                      </a:endParaRPr>
                    </a:p>
                  </a:txBody>
                  <a:tcPr marL="0" marR="0" marT="641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8920" marR="158115" algn="just">
                        <a:lnSpc>
                          <a:spcPts val="1839"/>
                        </a:lnSpc>
                        <a:spcBef>
                          <a:spcPts val="1030"/>
                        </a:spcBef>
                      </a:pPr>
                      <a:r>
                        <a:rPr sz="1800" dirty="0">
                          <a:latin typeface="Century Schoolbook"/>
                          <a:cs typeface="Century Schoolbook"/>
                        </a:rPr>
                        <a:t>D</a:t>
                      </a:r>
                      <a:r>
                        <a:rPr sz="1800" spc="5" dirty="0">
                          <a:latin typeface="Century Schoolbook"/>
                          <a:cs typeface="Century Schoolbook"/>
                        </a:rPr>
                        <a:t>u</a:t>
                      </a:r>
                      <a:r>
                        <a:rPr sz="1800" spc="-5" dirty="0">
                          <a:latin typeface="Century Schoolbook"/>
                          <a:cs typeface="Century Schoolbook"/>
                        </a:rPr>
                        <a:t>pont  </a:t>
                      </a:r>
                      <a:r>
                        <a:rPr sz="1800" dirty="0">
                          <a:latin typeface="Century Schoolbook"/>
                          <a:cs typeface="Century Schoolbook"/>
                        </a:rPr>
                        <a:t>Martin  Martin  </a:t>
                      </a:r>
                      <a:r>
                        <a:rPr sz="1800" spc="-10" dirty="0">
                          <a:latin typeface="Century Schoolbook"/>
                          <a:cs typeface="Century Schoolbook"/>
                        </a:rPr>
                        <a:t>Smith</a:t>
                      </a:r>
                      <a:endParaRPr sz="1800">
                        <a:latin typeface="Century Schoolbook"/>
                        <a:cs typeface="Century Schoolbook"/>
                      </a:endParaRPr>
                    </a:p>
                  </a:txBody>
                  <a:tcPr marL="0" marR="0" marT="130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73685" marR="282575" algn="just">
                        <a:lnSpc>
                          <a:spcPts val="1839"/>
                        </a:lnSpc>
                        <a:spcBef>
                          <a:spcPts val="930"/>
                        </a:spcBef>
                      </a:pPr>
                      <a:r>
                        <a:rPr sz="1800" dirty="0">
                          <a:latin typeface="Century Schoolbook"/>
                          <a:cs typeface="Century Schoolbook"/>
                        </a:rPr>
                        <a:t>P</a:t>
                      </a:r>
                      <a:r>
                        <a:rPr sz="1800" spc="-10" dirty="0">
                          <a:latin typeface="Century Schoolbook"/>
                          <a:cs typeface="Century Schoolbook"/>
                        </a:rPr>
                        <a:t>a</a:t>
                      </a:r>
                      <a:r>
                        <a:rPr sz="1800" dirty="0">
                          <a:latin typeface="Century Schoolbook"/>
                          <a:cs typeface="Century Schoolbook"/>
                        </a:rPr>
                        <a:t>ris  Lyon  P</a:t>
                      </a:r>
                      <a:r>
                        <a:rPr sz="1800" spc="-10" dirty="0">
                          <a:latin typeface="Century Schoolbook"/>
                          <a:cs typeface="Century Schoolbook"/>
                        </a:rPr>
                        <a:t>a</a:t>
                      </a:r>
                      <a:r>
                        <a:rPr sz="1800" dirty="0">
                          <a:latin typeface="Century Schoolbook"/>
                          <a:cs typeface="Century Schoolbook"/>
                        </a:rPr>
                        <a:t>ris  </a:t>
                      </a:r>
                      <a:r>
                        <a:rPr sz="1800" spc="-5" dirty="0">
                          <a:latin typeface="Century Schoolbook"/>
                          <a:cs typeface="Century Schoolbook"/>
                        </a:rPr>
                        <a:t>Lille</a:t>
                      </a:r>
                      <a:endParaRPr sz="1800">
                        <a:latin typeface="Century Schoolbook"/>
                        <a:cs typeface="Century Schoolbook"/>
                      </a:endParaRPr>
                    </a:p>
                  </a:txBody>
                  <a:tcPr marL="0" marR="0" marT="1181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aphicFrame>
        <p:nvGraphicFramePr>
          <p:cNvPr id="14" name="object 14"/>
          <p:cNvGraphicFramePr>
            <a:graphicFrameLocks noGrp="1"/>
          </p:cNvGraphicFramePr>
          <p:nvPr/>
        </p:nvGraphicFramePr>
        <p:xfrm>
          <a:off x="978408" y="3314700"/>
          <a:ext cx="3504564" cy="1066799"/>
        </p:xfrm>
        <a:graphic>
          <a:graphicData uri="http://schemas.openxmlformats.org/drawingml/2006/table">
            <a:tbl>
              <a:tblPr firstRow="1" bandRow="1">
                <a:tableStyleId>{2D5ABB26-0587-4C30-8999-92F81FD0307C}</a:tableStyleId>
              </a:tblPr>
              <a:tblGrid>
                <a:gridCol w="1174750"/>
                <a:gridCol w="1205230"/>
                <a:gridCol w="1124584"/>
              </a:tblGrid>
              <a:tr h="438911">
                <a:tc>
                  <a:txBody>
                    <a:bodyPr/>
                    <a:lstStyle/>
                    <a:p>
                      <a:pPr marL="239395">
                        <a:lnSpc>
                          <a:spcPct val="100000"/>
                        </a:lnSpc>
                        <a:spcBef>
                          <a:spcPts val="560"/>
                        </a:spcBef>
                      </a:pPr>
                      <a:r>
                        <a:rPr sz="1800" spc="-5" dirty="0">
                          <a:latin typeface="Century Schoolbook"/>
                          <a:cs typeface="Century Schoolbook"/>
                        </a:rPr>
                        <a:t>nclient</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7350">
                        <a:lnSpc>
                          <a:spcPct val="100000"/>
                        </a:lnSpc>
                        <a:spcBef>
                          <a:spcPts val="560"/>
                        </a:spcBef>
                      </a:pPr>
                      <a:r>
                        <a:rPr sz="1800" dirty="0">
                          <a:latin typeface="Century Schoolbook"/>
                          <a:cs typeface="Century Schoolbook"/>
                        </a:rPr>
                        <a:t>nom</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27660">
                        <a:lnSpc>
                          <a:spcPct val="100000"/>
                        </a:lnSpc>
                        <a:spcBef>
                          <a:spcPts val="560"/>
                        </a:spcBef>
                      </a:pPr>
                      <a:r>
                        <a:rPr sz="1800" spc="-5" dirty="0">
                          <a:latin typeface="Century Schoolbook"/>
                          <a:cs typeface="Century Schoolbook"/>
                        </a:rPr>
                        <a:t>ville</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27888">
                <a:tc>
                  <a:txBody>
                    <a:bodyPr/>
                    <a:lstStyle/>
                    <a:p>
                      <a:pPr marL="342900">
                        <a:lnSpc>
                          <a:spcPts val="2000"/>
                        </a:lnSpc>
                        <a:spcBef>
                          <a:spcPts val="305"/>
                        </a:spcBef>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p>
                      <a:pPr marL="342900">
                        <a:lnSpc>
                          <a:spcPts val="2000"/>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3</a:t>
                      </a:r>
                      <a:endParaRPr sz="1800">
                        <a:latin typeface="Century Schoolbook"/>
                        <a:cs typeface="Century Schoolbook"/>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7015" marR="158115">
                        <a:lnSpc>
                          <a:spcPts val="1839"/>
                        </a:lnSpc>
                        <a:spcBef>
                          <a:spcPts val="830"/>
                        </a:spcBef>
                      </a:pPr>
                      <a:r>
                        <a:rPr sz="1800" dirty="0">
                          <a:latin typeface="Century Schoolbook"/>
                          <a:cs typeface="Century Schoolbook"/>
                        </a:rPr>
                        <a:t>D</a:t>
                      </a:r>
                      <a:r>
                        <a:rPr sz="1800" spc="5" dirty="0">
                          <a:latin typeface="Century Schoolbook"/>
                          <a:cs typeface="Century Schoolbook"/>
                        </a:rPr>
                        <a:t>u</a:t>
                      </a:r>
                      <a:r>
                        <a:rPr sz="1800" spc="-5" dirty="0">
                          <a:latin typeface="Century Schoolbook"/>
                          <a:cs typeface="Century Schoolbook"/>
                        </a:rPr>
                        <a:t>pont  </a:t>
                      </a:r>
                      <a:r>
                        <a:rPr sz="1800" dirty="0">
                          <a:latin typeface="Century Schoolbook"/>
                          <a:cs typeface="Century Schoolbook"/>
                        </a:rPr>
                        <a:t>Martin</a:t>
                      </a:r>
                      <a:endParaRPr sz="1800">
                        <a:latin typeface="Century Schoolbook"/>
                        <a:cs typeface="Century Schoolbook"/>
                      </a:endParaRPr>
                    </a:p>
                  </a:txBody>
                  <a:tcPr marL="0" marR="0" marT="1054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73685">
                        <a:lnSpc>
                          <a:spcPts val="2000"/>
                        </a:lnSpc>
                        <a:spcBef>
                          <a:spcPts val="400"/>
                        </a:spcBef>
                      </a:pPr>
                      <a:r>
                        <a:rPr sz="1800" spc="-5" dirty="0">
                          <a:latin typeface="Century Schoolbook"/>
                          <a:cs typeface="Century Schoolbook"/>
                        </a:rPr>
                        <a:t>Paris</a:t>
                      </a:r>
                      <a:endParaRPr sz="1800">
                        <a:latin typeface="Century Schoolbook"/>
                        <a:cs typeface="Century Schoolbook"/>
                      </a:endParaRPr>
                    </a:p>
                    <a:p>
                      <a:pPr marL="273685">
                        <a:lnSpc>
                          <a:spcPts val="2000"/>
                        </a:lnSpc>
                      </a:pPr>
                      <a:r>
                        <a:rPr sz="1800" spc="-5" dirty="0">
                          <a:latin typeface="Century Schoolbook"/>
                          <a:cs typeface="Century Schoolbook"/>
                        </a:rPr>
                        <a:t>Paris</a:t>
                      </a:r>
                      <a:endParaRPr sz="1800">
                        <a:latin typeface="Century Schoolbook"/>
                        <a:cs typeface="Century Schoolbook"/>
                      </a:endParaRPr>
                    </a:p>
                  </a:txBody>
                  <a:tcPr marL="0" marR="0" marT="508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5" name="object 15"/>
          <p:cNvSpPr/>
          <p:nvPr/>
        </p:nvSpPr>
        <p:spPr>
          <a:xfrm>
            <a:off x="5340096" y="3334511"/>
            <a:ext cx="3505200" cy="1066800"/>
          </a:xfrm>
          <a:custGeom>
            <a:avLst/>
            <a:gdLst/>
            <a:ahLst/>
            <a:cxnLst/>
            <a:rect l="l" t="t" r="r" b="b"/>
            <a:pathLst>
              <a:path w="3505200" h="1066800">
                <a:moveTo>
                  <a:pt x="0" y="1066800"/>
                </a:moveTo>
                <a:lnTo>
                  <a:pt x="3505200" y="1066800"/>
                </a:lnTo>
                <a:lnTo>
                  <a:pt x="3505200" y="0"/>
                </a:lnTo>
                <a:lnTo>
                  <a:pt x="0" y="0"/>
                </a:lnTo>
                <a:lnTo>
                  <a:pt x="0" y="1066800"/>
                </a:lnTo>
                <a:close/>
              </a:path>
            </a:pathLst>
          </a:custGeom>
          <a:ln w="12192">
            <a:solidFill>
              <a:srgbClr val="000000"/>
            </a:solidFill>
          </a:ln>
        </p:spPr>
        <p:txBody>
          <a:bodyPr wrap="square" lIns="0" tIns="0" rIns="0" bIns="0" rtlCol="0"/>
          <a:lstStyle/>
          <a:p>
            <a:endParaRPr>
              <a:solidFill>
                <a:prstClr val="black"/>
              </a:solidFill>
            </a:endParaRPr>
          </a:p>
        </p:txBody>
      </p:sp>
      <p:sp>
        <p:nvSpPr>
          <p:cNvPr id="16" name="object 16"/>
          <p:cNvSpPr txBox="1"/>
          <p:nvPr/>
        </p:nvSpPr>
        <p:spPr>
          <a:xfrm>
            <a:off x="5567934" y="3391916"/>
            <a:ext cx="753745"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nclient</a:t>
            </a:r>
            <a:endParaRPr>
              <a:solidFill>
                <a:prstClr val="black"/>
              </a:solidFill>
              <a:cs typeface="Century Schoolbook"/>
            </a:endParaRPr>
          </a:p>
        </p:txBody>
      </p:sp>
      <p:sp>
        <p:nvSpPr>
          <p:cNvPr id="17" name="object 17"/>
          <p:cNvSpPr txBox="1"/>
          <p:nvPr/>
        </p:nvSpPr>
        <p:spPr>
          <a:xfrm>
            <a:off x="6891019" y="3391916"/>
            <a:ext cx="483234" cy="299720"/>
          </a:xfrm>
          <a:prstGeom prst="rect">
            <a:avLst/>
          </a:prstGeom>
        </p:spPr>
        <p:txBody>
          <a:bodyPr vert="horz" wrap="square" lIns="0" tIns="12700" rIns="0" bIns="0" rtlCol="0">
            <a:spAutoFit/>
          </a:bodyPr>
          <a:lstStyle/>
          <a:p>
            <a:pPr marL="12700">
              <a:spcBef>
                <a:spcPts val="100"/>
              </a:spcBef>
            </a:pPr>
            <a:r>
              <a:rPr dirty="0">
                <a:solidFill>
                  <a:prstClr val="black"/>
                </a:solidFill>
                <a:cs typeface="Century Schoolbook"/>
              </a:rPr>
              <a:t>nom</a:t>
            </a:r>
            <a:endParaRPr>
              <a:solidFill>
                <a:prstClr val="black"/>
              </a:solidFill>
              <a:cs typeface="Century Schoolbook"/>
            </a:endParaRPr>
          </a:p>
        </p:txBody>
      </p:sp>
      <p:sp>
        <p:nvSpPr>
          <p:cNvPr id="18" name="object 18"/>
          <p:cNvSpPr txBox="1"/>
          <p:nvPr/>
        </p:nvSpPr>
        <p:spPr>
          <a:xfrm>
            <a:off x="8036814" y="3391916"/>
            <a:ext cx="478790" cy="299720"/>
          </a:xfrm>
          <a:prstGeom prst="rect">
            <a:avLst/>
          </a:prstGeom>
        </p:spPr>
        <p:txBody>
          <a:bodyPr vert="horz" wrap="square" lIns="0" tIns="12700" rIns="0" bIns="0" rtlCol="0">
            <a:spAutoFit/>
          </a:bodyPr>
          <a:lstStyle/>
          <a:p>
            <a:pPr marL="12700">
              <a:spcBef>
                <a:spcPts val="100"/>
              </a:spcBef>
            </a:pPr>
            <a:r>
              <a:rPr dirty="0">
                <a:solidFill>
                  <a:prstClr val="black"/>
                </a:solidFill>
                <a:cs typeface="Century Schoolbook"/>
              </a:rPr>
              <a:t>vi</a:t>
            </a:r>
            <a:r>
              <a:rPr spc="-10" dirty="0">
                <a:solidFill>
                  <a:prstClr val="black"/>
                </a:solidFill>
                <a:cs typeface="Century Schoolbook"/>
              </a:rPr>
              <a:t>l</a:t>
            </a:r>
            <a:r>
              <a:rPr dirty="0">
                <a:solidFill>
                  <a:prstClr val="black"/>
                </a:solidFill>
                <a:cs typeface="Century Schoolbook"/>
              </a:rPr>
              <a:t>le</a:t>
            </a:r>
            <a:endParaRPr>
              <a:solidFill>
                <a:prstClr val="black"/>
              </a:solidFill>
              <a:cs typeface="Century Schoolbook"/>
            </a:endParaRPr>
          </a:p>
        </p:txBody>
      </p:sp>
      <p:sp>
        <p:nvSpPr>
          <p:cNvPr id="19" name="object 19"/>
          <p:cNvSpPr/>
          <p:nvPr/>
        </p:nvSpPr>
        <p:spPr>
          <a:xfrm>
            <a:off x="6515100" y="3334511"/>
            <a:ext cx="0" cy="1053465"/>
          </a:xfrm>
          <a:custGeom>
            <a:avLst/>
            <a:gdLst/>
            <a:ahLst/>
            <a:cxnLst/>
            <a:rect l="l" t="t" r="r" b="b"/>
            <a:pathLst>
              <a:path h="1053464">
                <a:moveTo>
                  <a:pt x="0" y="0"/>
                </a:moveTo>
                <a:lnTo>
                  <a:pt x="0" y="1053083"/>
                </a:lnTo>
              </a:path>
            </a:pathLst>
          </a:custGeom>
          <a:ln w="12192">
            <a:solidFill>
              <a:srgbClr val="000000"/>
            </a:solidFill>
          </a:ln>
        </p:spPr>
        <p:txBody>
          <a:bodyPr wrap="square" lIns="0" tIns="0" rIns="0" bIns="0" rtlCol="0"/>
          <a:lstStyle/>
          <a:p>
            <a:endParaRPr>
              <a:solidFill>
                <a:prstClr val="black"/>
              </a:solidFill>
            </a:endParaRPr>
          </a:p>
        </p:txBody>
      </p:sp>
      <p:sp>
        <p:nvSpPr>
          <p:cNvPr id="20" name="object 20"/>
          <p:cNvSpPr/>
          <p:nvPr/>
        </p:nvSpPr>
        <p:spPr>
          <a:xfrm>
            <a:off x="7722107" y="3334511"/>
            <a:ext cx="0" cy="1053465"/>
          </a:xfrm>
          <a:custGeom>
            <a:avLst/>
            <a:gdLst/>
            <a:ahLst/>
            <a:cxnLst/>
            <a:rect l="l" t="t" r="r" b="b"/>
            <a:pathLst>
              <a:path h="1053464">
                <a:moveTo>
                  <a:pt x="0" y="0"/>
                </a:moveTo>
                <a:lnTo>
                  <a:pt x="0" y="1053083"/>
                </a:lnTo>
              </a:path>
            </a:pathLst>
          </a:custGeom>
          <a:ln w="12192">
            <a:solidFill>
              <a:srgbClr val="000000"/>
            </a:solidFill>
          </a:ln>
        </p:spPr>
        <p:txBody>
          <a:bodyPr wrap="square" lIns="0" tIns="0" rIns="0" bIns="0" rtlCol="0"/>
          <a:lstStyle/>
          <a:p>
            <a:endParaRPr>
              <a:solidFill>
                <a:prstClr val="black"/>
              </a:solidFill>
            </a:endParaRPr>
          </a:p>
        </p:txBody>
      </p:sp>
      <p:sp>
        <p:nvSpPr>
          <p:cNvPr id="21" name="object 21"/>
          <p:cNvSpPr/>
          <p:nvPr/>
        </p:nvSpPr>
        <p:spPr>
          <a:xfrm>
            <a:off x="5327903" y="3771900"/>
            <a:ext cx="3505200" cy="0"/>
          </a:xfrm>
          <a:custGeom>
            <a:avLst/>
            <a:gdLst/>
            <a:ahLst/>
            <a:cxnLst/>
            <a:rect l="l" t="t" r="r" b="b"/>
            <a:pathLst>
              <a:path w="3505200">
                <a:moveTo>
                  <a:pt x="3505200" y="0"/>
                </a:moveTo>
                <a:lnTo>
                  <a:pt x="0" y="0"/>
                </a:lnTo>
              </a:path>
            </a:pathLst>
          </a:custGeom>
          <a:ln w="12192">
            <a:solidFill>
              <a:srgbClr val="000000"/>
            </a:solidFill>
          </a:ln>
        </p:spPr>
        <p:txBody>
          <a:bodyPr wrap="square" lIns="0" tIns="0" rIns="0" bIns="0" rtlCol="0"/>
          <a:lstStyle/>
          <a:p>
            <a:endParaRPr>
              <a:solidFill>
                <a:prstClr val="black"/>
              </a:solidFill>
            </a:endParaRPr>
          </a:p>
        </p:txBody>
      </p:sp>
      <p:sp>
        <p:nvSpPr>
          <p:cNvPr id="22" name="object 22"/>
          <p:cNvSpPr txBox="1"/>
          <p:nvPr/>
        </p:nvSpPr>
        <p:spPr>
          <a:xfrm>
            <a:off x="5671565" y="3797884"/>
            <a:ext cx="381635" cy="534035"/>
          </a:xfrm>
          <a:prstGeom prst="rect">
            <a:avLst/>
          </a:prstGeom>
        </p:spPr>
        <p:txBody>
          <a:bodyPr vert="horz" wrap="square" lIns="0" tIns="12700" rIns="0" bIns="0" rtlCol="0">
            <a:spAutoFit/>
          </a:bodyPr>
          <a:lstStyle/>
          <a:p>
            <a:pPr marL="12700">
              <a:lnSpc>
                <a:spcPts val="2000"/>
              </a:lnSpc>
              <a:spcBef>
                <a:spcPts val="100"/>
              </a:spcBef>
            </a:pPr>
            <a:r>
              <a:rPr dirty="0">
                <a:solidFill>
                  <a:prstClr val="black"/>
                </a:solidFill>
                <a:cs typeface="Century Schoolbook"/>
              </a:rPr>
              <a:t>C</a:t>
            </a:r>
            <a:r>
              <a:rPr spc="-100" dirty="0">
                <a:solidFill>
                  <a:prstClr val="black"/>
                </a:solidFill>
                <a:cs typeface="Century Schoolbook"/>
              </a:rPr>
              <a:t> </a:t>
            </a:r>
            <a:r>
              <a:rPr dirty="0">
                <a:solidFill>
                  <a:prstClr val="black"/>
                </a:solidFill>
                <a:cs typeface="Century Schoolbook"/>
              </a:rPr>
              <a:t>2</a:t>
            </a:r>
            <a:endParaRPr>
              <a:solidFill>
                <a:prstClr val="black"/>
              </a:solidFill>
              <a:cs typeface="Century Schoolbook"/>
            </a:endParaRPr>
          </a:p>
          <a:p>
            <a:pPr marL="12700">
              <a:lnSpc>
                <a:spcPts val="2000"/>
              </a:lnSpc>
            </a:pPr>
            <a:r>
              <a:rPr dirty="0">
                <a:solidFill>
                  <a:prstClr val="black"/>
                </a:solidFill>
                <a:cs typeface="Century Schoolbook"/>
              </a:rPr>
              <a:t>C</a:t>
            </a:r>
            <a:r>
              <a:rPr spc="-105" dirty="0">
                <a:solidFill>
                  <a:prstClr val="black"/>
                </a:solidFill>
                <a:cs typeface="Century Schoolbook"/>
              </a:rPr>
              <a:t> </a:t>
            </a:r>
            <a:r>
              <a:rPr dirty="0">
                <a:solidFill>
                  <a:prstClr val="black"/>
                </a:solidFill>
                <a:cs typeface="Century Schoolbook"/>
              </a:rPr>
              <a:t>4</a:t>
            </a:r>
            <a:endParaRPr>
              <a:solidFill>
                <a:prstClr val="black"/>
              </a:solidFill>
              <a:cs typeface="Century Schoolbook"/>
            </a:endParaRPr>
          </a:p>
        </p:txBody>
      </p:sp>
      <p:sp>
        <p:nvSpPr>
          <p:cNvPr id="23" name="object 23"/>
          <p:cNvSpPr txBox="1"/>
          <p:nvPr/>
        </p:nvSpPr>
        <p:spPr>
          <a:xfrm>
            <a:off x="6751066" y="3823842"/>
            <a:ext cx="770890" cy="533400"/>
          </a:xfrm>
          <a:prstGeom prst="rect">
            <a:avLst/>
          </a:prstGeom>
        </p:spPr>
        <p:txBody>
          <a:bodyPr vert="horz" wrap="square" lIns="0" tIns="53975" rIns="0" bIns="0" rtlCol="0">
            <a:spAutoFit/>
          </a:bodyPr>
          <a:lstStyle/>
          <a:p>
            <a:pPr marL="12700" marR="5080">
              <a:lnSpc>
                <a:spcPts val="1839"/>
              </a:lnSpc>
              <a:spcBef>
                <a:spcPts val="425"/>
              </a:spcBef>
            </a:pPr>
            <a:r>
              <a:rPr dirty="0">
                <a:solidFill>
                  <a:prstClr val="black"/>
                </a:solidFill>
                <a:cs typeface="Century Schoolbook"/>
              </a:rPr>
              <a:t>Martin  </a:t>
            </a:r>
            <a:r>
              <a:rPr spc="-10" dirty="0">
                <a:solidFill>
                  <a:prstClr val="black"/>
                </a:solidFill>
                <a:cs typeface="Century Schoolbook"/>
              </a:rPr>
              <a:t>Smith</a:t>
            </a:r>
            <a:endParaRPr>
              <a:solidFill>
                <a:prstClr val="black"/>
              </a:solidFill>
              <a:cs typeface="Century Schoolbook"/>
            </a:endParaRPr>
          </a:p>
        </p:txBody>
      </p:sp>
      <p:sp>
        <p:nvSpPr>
          <p:cNvPr id="24" name="object 24"/>
          <p:cNvSpPr txBox="1"/>
          <p:nvPr/>
        </p:nvSpPr>
        <p:spPr>
          <a:xfrm>
            <a:off x="7983093" y="3811016"/>
            <a:ext cx="554990" cy="533400"/>
          </a:xfrm>
          <a:prstGeom prst="rect">
            <a:avLst/>
          </a:prstGeom>
        </p:spPr>
        <p:txBody>
          <a:bodyPr vert="horz" wrap="square" lIns="0" tIns="53975" rIns="0" bIns="0" rtlCol="0">
            <a:spAutoFit/>
          </a:bodyPr>
          <a:lstStyle/>
          <a:p>
            <a:pPr marL="12700" marR="5080">
              <a:lnSpc>
                <a:spcPts val="1839"/>
              </a:lnSpc>
              <a:spcBef>
                <a:spcPts val="425"/>
              </a:spcBef>
            </a:pPr>
            <a:r>
              <a:rPr dirty="0">
                <a:solidFill>
                  <a:prstClr val="black"/>
                </a:solidFill>
                <a:cs typeface="Century Schoolbook"/>
              </a:rPr>
              <a:t>Lyon  </a:t>
            </a:r>
            <a:r>
              <a:rPr spc="-5" dirty="0">
                <a:solidFill>
                  <a:prstClr val="black"/>
                </a:solidFill>
                <a:cs typeface="Century Schoolbook"/>
              </a:rPr>
              <a:t>Lille</a:t>
            </a:r>
            <a:endParaRPr>
              <a:solidFill>
                <a:prstClr val="black"/>
              </a:solidFill>
              <a:cs typeface="Century Schoolbook"/>
            </a:endParaRPr>
          </a:p>
        </p:txBody>
      </p:sp>
      <p:sp>
        <p:nvSpPr>
          <p:cNvPr id="25" name="object 25"/>
          <p:cNvSpPr txBox="1"/>
          <p:nvPr/>
        </p:nvSpPr>
        <p:spPr>
          <a:xfrm>
            <a:off x="4966842" y="520953"/>
            <a:ext cx="676910"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C</a:t>
            </a:r>
            <a:r>
              <a:rPr spc="-10" dirty="0">
                <a:solidFill>
                  <a:prstClr val="black"/>
                </a:solidFill>
                <a:cs typeface="Century Schoolbook"/>
              </a:rPr>
              <a:t>l</a:t>
            </a:r>
            <a:r>
              <a:rPr dirty="0">
                <a:solidFill>
                  <a:prstClr val="black"/>
                </a:solidFill>
                <a:cs typeface="Century Schoolbook"/>
              </a:rPr>
              <a:t>ient</a:t>
            </a:r>
            <a:endParaRPr>
              <a:solidFill>
                <a:prstClr val="black"/>
              </a:solidFill>
              <a:cs typeface="Century Schoolbook"/>
            </a:endParaRPr>
          </a:p>
        </p:txBody>
      </p:sp>
      <p:sp>
        <p:nvSpPr>
          <p:cNvPr id="26" name="object 26"/>
          <p:cNvSpPr txBox="1"/>
          <p:nvPr/>
        </p:nvSpPr>
        <p:spPr>
          <a:xfrm>
            <a:off x="1034897" y="3023361"/>
            <a:ext cx="803910"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C</a:t>
            </a:r>
            <a:r>
              <a:rPr spc="-10" dirty="0">
                <a:solidFill>
                  <a:prstClr val="black"/>
                </a:solidFill>
                <a:cs typeface="Century Schoolbook"/>
              </a:rPr>
              <a:t>l</a:t>
            </a:r>
            <a:r>
              <a:rPr dirty="0">
                <a:solidFill>
                  <a:prstClr val="black"/>
                </a:solidFill>
                <a:cs typeface="Century Schoolbook"/>
              </a:rPr>
              <a:t>ient1</a:t>
            </a:r>
            <a:endParaRPr>
              <a:solidFill>
                <a:prstClr val="black"/>
              </a:solidFill>
              <a:cs typeface="Century Schoolbook"/>
            </a:endParaRPr>
          </a:p>
        </p:txBody>
      </p:sp>
      <p:sp>
        <p:nvSpPr>
          <p:cNvPr id="27" name="object 27"/>
          <p:cNvSpPr txBox="1"/>
          <p:nvPr/>
        </p:nvSpPr>
        <p:spPr>
          <a:xfrm>
            <a:off x="5404484" y="3023361"/>
            <a:ext cx="803910"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C</a:t>
            </a:r>
            <a:r>
              <a:rPr spc="-10" dirty="0">
                <a:solidFill>
                  <a:prstClr val="black"/>
                </a:solidFill>
                <a:cs typeface="Century Schoolbook"/>
              </a:rPr>
              <a:t>l</a:t>
            </a:r>
            <a:r>
              <a:rPr dirty="0">
                <a:solidFill>
                  <a:prstClr val="black"/>
                </a:solidFill>
                <a:cs typeface="Century Schoolbook"/>
              </a:rPr>
              <a:t>ient2</a:t>
            </a:r>
            <a:endParaRPr>
              <a:solidFill>
                <a:prstClr val="black"/>
              </a:solidFill>
              <a:cs typeface="Century Schoolbook"/>
            </a:endParaRPr>
          </a:p>
        </p:txBody>
      </p:sp>
      <p:sp>
        <p:nvSpPr>
          <p:cNvPr id="28" name="object 28"/>
          <p:cNvSpPr/>
          <p:nvPr/>
        </p:nvSpPr>
        <p:spPr>
          <a:xfrm>
            <a:off x="3022092" y="2564892"/>
            <a:ext cx="3747770" cy="471170"/>
          </a:xfrm>
          <a:custGeom>
            <a:avLst/>
            <a:gdLst/>
            <a:ahLst/>
            <a:cxnLst/>
            <a:rect l="l" t="t" r="r" b="b"/>
            <a:pathLst>
              <a:path w="3747770" h="471169">
                <a:moveTo>
                  <a:pt x="2343022" y="392938"/>
                </a:moveTo>
                <a:lnTo>
                  <a:pt x="1404493" y="392938"/>
                </a:lnTo>
                <a:lnTo>
                  <a:pt x="1873758" y="470916"/>
                </a:lnTo>
                <a:lnTo>
                  <a:pt x="2343022" y="392938"/>
                </a:lnTo>
                <a:close/>
              </a:path>
              <a:path w="3747770" h="471169">
                <a:moveTo>
                  <a:pt x="2050415" y="313944"/>
                </a:moveTo>
                <a:lnTo>
                  <a:pt x="1697100" y="313944"/>
                </a:lnTo>
                <a:lnTo>
                  <a:pt x="1697100" y="392938"/>
                </a:lnTo>
                <a:lnTo>
                  <a:pt x="2050415" y="392938"/>
                </a:lnTo>
                <a:lnTo>
                  <a:pt x="2050415" y="313944"/>
                </a:lnTo>
                <a:close/>
              </a:path>
              <a:path w="3747770" h="471169">
                <a:moveTo>
                  <a:pt x="3747515" y="0"/>
                </a:moveTo>
                <a:lnTo>
                  <a:pt x="0" y="0"/>
                </a:lnTo>
                <a:lnTo>
                  <a:pt x="0" y="313944"/>
                </a:lnTo>
                <a:lnTo>
                  <a:pt x="3747515" y="313944"/>
                </a:lnTo>
                <a:lnTo>
                  <a:pt x="3747515" y="0"/>
                </a:lnTo>
                <a:close/>
              </a:path>
            </a:pathLst>
          </a:custGeom>
          <a:solidFill>
            <a:srgbClr val="FD8537"/>
          </a:solidFill>
        </p:spPr>
        <p:txBody>
          <a:bodyPr wrap="square" lIns="0" tIns="0" rIns="0" bIns="0" rtlCol="0"/>
          <a:lstStyle/>
          <a:p>
            <a:endParaRPr>
              <a:solidFill>
                <a:prstClr val="black"/>
              </a:solidFill>
            </a:endParaRPr>
          </a:p>
        </p:txBody>
      </p:sp>
      <p:sp>
        <p:nvSpPr>
          <p:cNvPr id="29" name="object 29"/>
          <p:cNvSpPr/>
          <p:nvPr/>
        </p:nvSpPr>
        <p:spPr>
          <a:xfrm>
            <a:off x="3022092" y="2564892"/>
            <a:ext cx="3747770" cy="471170"/>
          </a:xfrm>
          <a:custGeom>
            <a:avLst/>
            <a:gdLst/>
            <a:ahLst/>
            <a:cxnLst/>
            <a:rect l="l" t="t" r="r" b="b"/>
            <a:pathLst>
              <a:path w="3747770" h="471169">
                <a:moveTo>
                  <a:pt x="0" y="0"/>
                </a:moveTo>
                <a:lnTo>
                  <a:pt x="3747515" y="0"/>
                </a:lnTo>
                <a:lnTo>
                  <a:pt x="3747515" y="313944"/>
                </a:lnTo>
                <a:lnTo>
                  <a:pt x="2050415" y="313944"/>
                </a:lnTo>
                <a:lnTo>
                  <a:pt x="2050415" y="392938"/>
                </a:lnTo>
                <a:lnTo>
                  <a:pt x="2343022" y="392938"/>
                </a:lnTo>
                <a:lnTo>
                  <a:pt x="1873758" y="470916"/>
                </a:lnTo>
                <a:lnTo>
                  <a:pt x="1404493" y="392938"/>
                </a:lnTo>
                <a:lnTo>
                  <a:pt x="1697100" y="392938"/>
                </a:lnTo>
                <a:lnTo>
                  <a:pt x="1697100" y="313944"/>
                </a:lnTo>
                <a:lnTo>
                  <a:pt x="0" y="313944"/>
                </a:lnTo>
                <a:lnTo>
                  <a:pt x="0" y="0"/>
                </a:lnTo>
                <a:close/>
              </a:path>
            </a:pathLst>
          </a:custGeom>
          <a:ln w="9144">
            <a:solidFill>
              <a:srgbClr val="000000"/>
            </a:solidFill>
          </a:ln>
        </p:spPr>
        <p:txBody>
          <a:bodyPr wrap="square" lIns="0" tIns="0" rIns="0" bIns="0" rtlCol="0"/>
          <a:lstStyle/>
          <a:p>
            <a:endParaRPr>
              <a:solidFill>
                <a:prstClr val="black"/>
              </a:solidFill>
            </a:endParaRPr>
          </a:p>
        </p:txBody>
      </p:sp>
      <p:sp>
        <p:nvSpPr>
          <p:cNvPr id="30" name="object 30"/>
          <p:cNvSpPr txBox="1"/>
          <p:nvPr/>
        </p:nvSpPr>
        <p:spPr>
          <a:xfrm>
            <a:off x="254000" y="1623415"/>
            <a:ext cx="6080125" cy="1246505"/>
          </a:xfrm>
          <a:prstGeom prst="rect">
            <a:avLst/>
          </a:prstGeom>
        </p:spPr>
        <p:txBody>
          <a:bodyPr vert="horz" wrap="square" lIns="0" tIns="43180" rIns="0" bIns="0" rtlCol="0">
            <a:spAutoFit/>
          </a:bodyPr>
          <a:lstStyle/>
          <a:p>
            <a:pPr marL="12700">
              <a:spcBef>
                <a:spcPts val="340"/>
              </a:spcBef>
            </a:pPr>
            <a:r>
              <a:rPr sz="2000" spc="-5" dirty="0">
                <a:solidFill>
                  <a:prstClr val="black"/>
                </a:solidFill>
                <a:cs typeface="Century Schoolbook"/>
              </a:rPr>
              <a:t>Fragments </a:t>
            </a:r>
            <a:r>
              <a:rPr sz="2000" dirty="0">
                <a:solidFill>
                  <a:prstClr val="black"/>
                </a:solidFill>
                <a:cs typeface="Century Schoolbook"/>
              </a:rPr>
              <a:t>définis</a:t>
            </a:r>
            <a:r>
              <a:rPr sz="2000" spc="-65" dirty="0">
                <a:solidFill>
                  <a:prstClr val="black"/>
                </a:solidFill>
                <a:cs typeface="Century Schoolbook"/>
              </a:rPr>
              <a:t> </a:t>
            </a:r>
            <a:r>
              <a:rPr sz="2000" spc="-5" dirty="0">
                <a:solidFill>
                  <a:prstClr val="black"/>
                </a:solidFill>
                <a:cs typeface="Century Schoolbook"/>
              </a:rPr>
              <a:t>par</a:t>
            </a:r>
            <a:endParaRPr sz="2000">
              <a:solidFill>
                <a:prstClr val="black"/>
              </a:solidFill>
              <a:cs typeface="Century Schoolbook"/>
            </a:endParaRPr>
          </a:p>
          <a:p>
            <a:pPr marL="12700">
              <a:spcBef>
                <a:spcPts val="240"/>
              </a:spcBef>
            </a:pPr>
            <a:r>
              <a:rPr sz="2000" b="1" u="sng" dirty="0">
                <a:solidFill>
                  <a:prstClr val="black"/>
                </a:solidFill>
                <a:uFill>
                  <a:solidFill>
                    <a:srgbClr val="000000"/>
                  </a:solidFill>
                </a:uFill>
                <a:cs typeface="Century Schoolbook"/>
              </a:rPr>
              <a:t>sélection </a:t>
            </a:r>
            <a:r>
              <a:rPr sz="2000" b="1" u="sng" spc="-5" dirty="0">
                <a:solidFill>
                  <a:prstClr val="black"/>
                </a:solidFill>
                <a:uFill>
                  <a:solidFill>
                    <a:srgbClr val="000000"/>
                  </a:solidFill>
                </a:uFill>
                <a:cs typeface="Century Schoolbook"/>
              </a:rPr>
              <a:t>et</a:t>
            </a:r>
            <a:r>
              <a:rPr sz="2000" b="1" u="sng" spc="-35" dirty="0">
                <a:solidFill>
                  <a:prstClr val="black"/>
                </a:solidFill>
                <a:uFill>
                  <a:solidFill>
                    <a:srgbClr val="000000"/>
                  </a:solidFill>
                </a:uFill>
                <a:cs typeface="Century Schoolbook"/>
              </a:rPr>
              <a:t> </a:t>
            </a:r>
            <a:r>
              <a:rPr sz="2000" b="1" u="sng" dirty="0">
                <a:solidFill>
                  <a:prstClr val="black"/>
                </a:solidFill>
                <a:uFill>
                  <a:solidFill>
                    <a:srgbClr val="000000"/>
                  </a:solidFill>
                </a:uFill>
                <a:cs typeface="Century Schoolbook"/>
              </a:rPr>
              <a:t>projection</a:t>
            </a:r>
            <a:endParaRPr sz="2000">
              <a:solidFill>
                <a:prstClr val="black"/>
              </a:solidFill>
              <a:cs typeface="Century Schoolbook"/>
            </a:endParaRPr>
          </a:p>
          <a:p>
            <a:pPr>
              <a:spcBef>
                <a:spcPts val="40"/>
              </a:spcBef>
            </a:pPr>
            <a:endParaRPr sz="1850">
              <a:solidFill>
                <a:prstClr val="black"/>
              </a:solidFill>
              <a:latin typeface="Times New Roman"/>
              <a:cs typeface="Times New Roman"/>
            </a:endParaRPr>
          </a:p>
          <a:p>
            <a:pPr marL="3219450"/>
            <a:r>
              <a:rPr spc="-5" dirty="0">
                <a:solidFill>
                  <a:prstClr val="black"/>
                </a:solidFill>
                <a:cs typeface="Century Schoolbook"/>
              </a:rPr>
              <a:t>Fragmentation</a:t>
            </a:r>
            <a:r>
              <a:rPr spc="-15" dirty="0">
                <a:solidFill>
                  <a:prstClr val="black"/>
                </a:solidFill>
                <a:cs typeface="Century Schoolbook"/>
              </a:rPr>
              <a:t> </a:t>
            </a:r>
            <a:r>
              <a:rPr spc="-5" dirty="0">
                <a:solidFill>
                  <a:prstClr val="black"/>
                </a:solidFill>
                <a:cs typeface="Century Schoolbook"/>
              </a:rPr>
              <a:t>horizontale</a:t>
            </a:r>
            <a:endParaRPr>
              <a:solidFill>
                <a:prstClr val="black"/>
              </a:solidFill>
              <a:cs typeface="Century Schoolbook"/>
            </a:endParaRPr>
          </a:p>
        </p:txBody>
      </p:sp>
      <p:sp>
        <p:nvSpPr>
          <p:cNvPr id="31" name="object 31"/>
          <p:cNvSpPr/>
          <p:nvPr/>
        </p:nvSpPr>
        <p:spPr>
          <a:xfrm>
            <a:off x="521208" y="4559808"/>
            <a:ext cx="3746500" cy="469900"/>
          </a:xfrm>
          <a:custGeom>
            <a:avLst/>
            <a:gdLst/>
            <a:ahLst/>
            <a:cxnLst/>
            <a:rect l="l" t="t" r="r" b="b"/>
            <a:pathLst>
              <a:path w="3746500" h="469900">
                <a:moveTo>
                  <a:pt x="2340864" y="391668"/>
                </a:moveTo>
                <a:lnTo>
                  <a:pt x="1405128" y="391668"/>
                </a:lnTo>
                <a:lnTo>
                  <a:pt x="1872996" y="469392"/>
                </a:lnTo>
                <a:lnTo>
                  <a:pt x="2340864" y="391668"/>
                </a:lnTo>
                <a:close/>
              </a:path>
              <a:path w="3746500" h="469900">
                <a:moveTo>
                  <a:pt x="2049018" y="312928"/>
                </a:moveTo>
                <a:lnTo>
                  <a:pt x="1696974" y="312928"/>
                </a:lnTo>
                <a:lnTo>
                  <a:pt x="1696974" y="391668"/>
                </a:lnTo>
                <a:lnTo>
                  <a:pt x="2049018" y="391668"/>
                </a:lnTo>
                <a:lnTo>
                  <a:pt x="2049018" y="312928"/>
                </a:lnTo>
                <a:close/>
              </a:path>
              <a:path w="3746500" h="469900">
                <a:moveTo>
                  <a:pt x="3745991" y="0"/>
                </a:moveTo>
                <a:lnTo>
                  <a:pt x="0" y="0"/>
                </a:lnTo>
                <a:lnTo>
                  <a:pt x="0" y="312928"/>
                </a:lnTo>
                <a:lnTo>
                  <a:pt x="3745991" y="312928"/>
                </a:lnTo>
                <a:lnTo>
                  <a:pt x="3745991" y="0"/>
                </a:lnTo>
                <a:close/>
              </a:path>
            </a:pathLst>
          </a:custGeom>
          <a:solidFill>
            <a:srgbClr val="FD8537"/>
          </a:solidFill>
        </p:spPr>
        <p:txBody>
          <a:bodyPr wrap="square" lIns="0" tIns="0" rIns="0" bIns="0" rtlCol="0"/>
          <a:lstStyle/>
          <a:p>
            <a:endParaRPr>
              <a:solidFill>
                <a:prstClr val="black"/>
              </a:solidFill>
            </a:endParaRPr>
          </a:p>
        </p:txBody>
      </p:sp>
      <p:sp>
        <p:nvSpPr>
          <p:cNvPr id="32" name="object 32"/>
          <p:cNvSpPr/>
          <p:nvPr/>
        </p:nvSpPr>
        <p:spPr>
          <a:xfrm>
            <a:off x="521208" y="4559808"/>
            <a:ext cx="3746500" cy="469900"/>
          </a:xfrm>
          <a:custGeom>
            <a:avLst/>
            <a:gdLst/>
            <a:ahLst/>
            <a:cxnLst/>
            <a:rect l="l" t="t" r="r" b="b"/>
            <a:pathLst>
              <a:path w="3746500" h="469900">
                <a:moveTo>
                  <a:pt x="0" y="0"/>
                </a:moveTo>
                <a:lnTo>
                  <a:pt x="3745991" y="0"/>
                </a:lnTo>
                <a:lnTo>
                  <a:pt x="3745991" y="312928"/>
                </a:lnTo>
                <a:lnTo>
                  <a:pt x="2049018" y="312928"/>
                </a:lnTo>
                <a:lnTo>
                  <a:pt x="2049018" y="391668"/>
                </a:lnTo>
                <a:lnTo>
                  <a:pt x="2340864" y="391668"/>
                </a:lnTo>
                <a:lnTo>
                  <a:pt x="1872996" y="469392"/>
                </a:lnTo>
                <a:lnTo>
                  <a:pt x="1405128" y="391668"/>
                </a:lnTo>
                <a:lnTo>
                  <a:pt x="1696974" y="391668"/>
                </a:lnTo>
                <a:lnTo>
                  <a:pt x="1696974" y="312928"/>
                </a:lnTo>
                <a:lnTo>
                  <a:pt x="0" y="312928"/>
                </a:lnTo>
                <a:lnTo>
                  <a:pt x="0" y="0"/>
                </a:lnTo>
                <a:close/>
              </a:path>
            </a:pathLst>
          </a:custGeom>
          <a:ln w="9144">
            <a:solidFill>
              <a:srgbClr val="000000"/>
            </a:solidFill>
          </a:ln>
        </p:spPr>
        <p:txBody>
          <a:bodyPr wrap="square" lIns="0" tIns="0" rIns="0" bIns="0" rtlCol="0"/>
          <a:lstStyle/>
          <a:p>
            <a:endParaRPr>
              <a:solidFill>
                <a:prstClr val="black"/>
              </a:solidFill>
            </a:endParaRPr>
          </a:p>
        </p:txBody>
      </p:sp>
      <p:sp>
        <p:nvSpPr>
          <p:cNvPr id="33" name="object 33"/>
          <p:cNvSpPr txBox="1"/>
          <p:nvPr/>
        </p:nvSpPr>
        <p:spPr>
          <a:xfrm>
            <a:off x="1097076" y="4563871"/>
            <a:ext cx="2593340"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Fragmentation</a:t>
            </a:r>
            <a:r>
              <a:rPr spc="-20" dirty="0">
                <a:solidFill>
                  <a:prstClr val="black"/>
                </a:solidFill>
                <a:cs typeface="Century Schoolbook"/>
              </a:rPr>
              <a:t> </a:t>
            </a:r>
            <a:r>
              <a:rPr spc="-5" dirty="0">
                <a:solidFill>
                  <a:prstClr val="black"/>
                </a:solidFill>
                <a:cs typeface="Century Schoolbook"/>
              </a:rPr>
              <a:t>verticale</a:t>
            </a:r>
            <a:endParaRPr>
              <a:solidFill>
                <a:prstClr val="black"/>
              </a:solidFill>
              <a:cs typeface="Century Schoolbook"/>
            </a:endParaRPr>
          </a:p>
        </p:txBody>
      </p:sp>
      <p:sp>
        <p:nvSpPr>
          <p:cNvPr id="34" name="object 34"/>
          <p:cNvSpPr/>
          <p:nvPr/>
        </p:nvSpPr>
        <p:spPr>
          <a:xfrm>
            <a:off x="5143500" y="4546091"/>
            <a:ext cx="3746500" cy="471170"/>
          </a:xfrm>
          <a:custGeom>
            <a:avLst/>
            <a:gdLst/>
            <a:ahLst/>
            <a:cxnLst/>
            <a:rect l="l" t="t" r="r" b="b"/>
            <a:pathLst>
              <a:path w="3746500" h="471170">
                <a:moveTo>
                  <a:pt x="2342260" y="392937"/>
                </a:moveTo>
                <a:lnTo>
                  <a:pt x="1403730" y="392937"/>
                </a:lnTo>
                <a:lnTo>
                  <a:pt x="1872996" y="470915"/>
                </a:lnTo>
                <a:lnTo>
                  <a:pt x="2342260" y="392937"/>
                </a:lnTo>
                <a:close/>
              </a:path>
              <a:path w="3746500" h="471170">
                <a:moveTo>
                  <a:pt x="2049652" y="313943"/>
                </a:moveTo>
                <a:lnTo>
                  <a:pt x="1696339" y="313943"/>
                </a:lnTo>
                <a:lnTo>
                  <a:pt x="1696339" y="392937"/>
                </a:lnTo>
                <a:lnTo>
                  <a:pt x="2049652" y="392937"/>
                </a:lnTo>
                <a:lnTo>
                  <a:pt x="2049652" y="313943"/>
                </a:lnTo>
                <a:close/>
              </a:path>
              <a:path w="3746500" h="471170">
                <a:moveTo>
                  <a:pt x="3745992" y="0"/>
                </a:moveTo>
                <a:lnTo>
                  <a:pt x="0" y="0"/>
                </a:lnTo>
                <a:lnTo>
                  <a:pt x="0" y="313943"/>
                </a:lnTo>
                <a:lnTo>
                  <a:pt x="3745992" y="313943"/>
                </a:lnTo>
                <a:lnTo>
                  <a:pt x="3745992" y="0"/>
                </a:lnTo>
                <a:close/>
              </a:path>
            </a:pathLst>
          </a:custGeom>
          <a:solidFill>
            <a:srgbClr val="FD8537"/>
          </a:solidFill>
        </p:spPr>
        <p:txBody>
          <a:bodyPr wrap="square" lIns="0" tIns="0" rIns="0" bIns="0" rtlCol="0"/>
          <a:lstStyle/>
          <a:p>
            <a:endParaRPr>
              <a:solidFill>
                <a:prstClr val="black"/>
              </a:solidFill>
            </a:endParaRPr>
          </a:p>
        </p:txBody>
      </p:sp>
      <p:sp>
        <p:nvSpPr>
          <p:cNvPr id="35" name="object 35"/>
          <p:cNvSpPr/>
          <p:nvPr/>
        </p:nvSpPr>
        <p:spPr>
          <a:xfrm>
            <a:off x="5143500" y="4546091"/>
            <a:ext cx="3746500" cy="471170"/>
          </a:xfrm>
          <a:custGeom>
            <a:avLst/>
            <a:gdLst/>
            <a:ahLst/>
            <a:cxnLst/>
            <a:rect l="l" t="t" r="r" b="b"/>
            <a:pathLst>
              <a:path w="3746500" h="471170">
                <a:moveTo>
                  <a:pt x="0" y="0"/>
                </a:moveTo>
                <a:lnTo>
                  <a:pt x="3745992" y="0"/>
                </a:lnTo>
                <a:lnTo>
                  <a:pt x="3745992" y="313943"/>
                </a:lnTo>
                <a:lnTo>
                  <a:pt x="2049652" y="313943"/>
                </a:lnTo>
                <a:lnTo>
                  <a:pt x="2049652" y="392937"/>
                </a:lnTo>
                <a:lnTo>
                  <a:pt x="2342260" y="392937"/>
                </a:lnTo>
                <a:lnTo>
                  <a:pt x="1872996" y="470915"/>
                </a:lnTo>
                <a:lnTo>
                  <a:pt x="1403730" y="392937"/>
                </a:lnTo>
                <a:lnTo>
                  <a:pt x="1696339" y="392937"/>
                </a:lnTo>
                <a:lnTo>
                  <a:pt x="1696339" y="313943"/>
                </a:lnTo>
                <a:lnTo>
                  <a:pt x="0" y="313943"/>
                </a:lnTo>
                <a:lnTo>
                  <a:pt x="0" y="0"/>
                </a:lnTo>
                <a:close/>
              </a:path>
            </a:pathLst>
          </a:custGeom>
          <a:ln w="9144">
            <a:solidFill>
              <a:srgbClr val="000000"/>
            </a:solidFill>
          </a:ln>
        </p:spPr>
        <p:txBody>
          <a:bodyPr wrap="square" lIns="0" tIns="0" rIns="0" bIns="0" rtlCol="0"/>
          <a:lstStyle/>
          <a:p>
            <a:endParaRPr>
              <a:solidFill>
                <a:prstClr val="black"/>
              </a:solidFill>
            </a:endParaRPr>
          </a:p>
        </p:txBody>
      </p:sp>
      <p:sp>
        <p:nvSpPr>
          <p:cNvPr id="36" name="object 36"/>
          <p:cNvSpPr txBox="1"/>
          <p:nvPr/>
        </p:nvSpPr>
        <p:spPr>
          <a:xfrm>
            <a:off x="5720588" y="4551426"/>
            <a:ext cx="2593340"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Fragmentation</a:t>
            </a:r>
            <a:r>
              <a:rPr spc="-20" dirty="0">
                <a:solidFill>
                  <a:prstClr val="black"/>
                </a:solidFill>
                <a:cs typeface="Century Schoolbook"/>
              </a:rPr>
              <a:t> </a:t>
            </a:r>
            <a:r>
              <a:rPr spc="-5" dirty="0">
                <a:solidFill>
                  <a:prstClr val="black"/>
                </a:solidFill>
                <a:cs typeface="Century Schoolbook"/>
              </a:rPr>
              <a:t>verticale</a:t>
            </a:r>
            <a:endParaRPr>
              <a:solidFill>
                <a:prstClr val="black"/>
              </a:solidFill>
              <a:cs typeface="Century Schoolbook"/>
            </a:endParaRPr>
          </a:p>
        </p:txBody>
      </p:sp>
      <p:graphicFrame>
        <p:nvGraphicFramePr>
          <p:cNvPr id="37" name="object 37"/>
          <p:cNvGraphicFramePr>
            <a:graphicFrameLocks noGrp="1"/>
          </p:cNvGraphicFramePr>
          <p:nvPr/>
        </p:nvGraphicFramePr>
        <p:xfrm>
          <a:off x="330708" y="5398008"/>
          <a:ext cx="2160270" cy="1066800"/>
        </p:xfrm>
        <a:graphic>
          <a:graphicData uri="http://schemas.openxmlformats.org/drawingml/2006/table">
            <a:tbl>
              <a:tblPr firstRow="1" bandRow="1">
                <a:tableStyleId>{2D5ABB26-0587-4C30-8999-92F81FD0307C}</a:tableStyleId>
              </a:tblPr>
              <a:tblGrid>
                <a:gridCol w="1035050"/>
                <a:gridCol w="1125220"/>
              </a:tblGrid>
              <a:tr h="437388">
                <a:tc>
                  <a:txBody>
                    <a:bodyPr/>
                    <a:lstStyle/>
                    <a:p>
                      <a:pPr marL="99060">
                        <a:lnSpc>
                          <a:spcPct val="100000"/>
                        </a:lnSpc>
                        <a:spcBef>
                          <a:spcPts val="560"/>
                        </a:spcBef>
                      </a:pPr>
                      <a:r>
                        <a:rPr sz="1800" spc="-5" dirty="0">
                          <a:latin typeface="Century Schoolbook"/>
                          <a:cs typeface="Century Schoolbook"/>
                        </a:rPr>
                        <a:t>nclient</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7985">
                        <a:lnSpc>
                          <a:spcPct val="100000"/>
                        </a:lnSpc>
                        <a:spcBef>
                          <a:spcPts val="560"/>
                        </a:spcBef>
                      </a:pPr>
                      <a:r>
                        <a:rPr sz="1800" dirty="0">
                          <a:latin typeface="Century Schoolbook"/>
                          <a:cs typeface="Century Schoolbook"/>
                        </a:rPr>
                        <a:t>nom</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29412">
                <a:tc>
                  <a:txBody>
                    <a:bodyPr/>
                    <a:lstStyle/>
                    <a:p>
                      <a:pPr marL="202565">
                        <a:lnSpc>
                          <a:spcPts val="2000"/>
                        </a:lnSpc>
                        <a:spcBef>
                          <a:spcPts val="315"/>
                        </a:spcBef>
                      </a:pPr>
                      <a:r>
                        <a:rPr sz="1800" dirty="0">
                          <a:latin typeface="Century Schoolbook"/>
                          <a:cs typeface="Century Schoolbook"/>
                        </a:rPr>
                        <a:t>C</a:t>
                      </a:r>
                      <a:r>
                        <a:rPr sz="1800" spc="-100"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p>
                      <a:pPr marL="202565">
                        <a:lnSpc>
                          <a:spcPts val="2000"/>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3</a:t>
                      </a:r>
                      <a:endParaRPr sz="1800">
                        <a:latin typeface="Century Schoolbook"/>
                        <a:cs typeface="Century Schoolbook"/>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7650" marR="76835">
                        <a:lnSpc>
                          <a:spcPts val="1839"/>
                        </a:lnSpc>
                        <a:spcBef>
                          <a:spcPts val="840"/>
                        </a:spcBef>
                      </a:pPr>
                      <a:r>
                        <a:rPr sz="1800" dirty="0">
                          <a:latin typeface="Century Schoolbook"/>
                          <a:cs typeface="Century Schoolbook"/>
                        </a:rPr>
                        <a:t>D</a:t>
                      </a:r>
                      <a:r>
                        <a:rPr sz="1800" spc="5" dirty="0">
                          <a:latin typeface="Century Schoolbook"/>
                          <a:cs typeface="Century Schoolbook"/>
                        </a:rPr>
                        <a:t>u</a:t>
                      </a:r>
                      <a:r>
                        <a:rPr sz="1800" spc="-5" dirty="0">
                          <a:latin typeface="Century Schoolbook"/>
                          <a:cs typeface="Century Schoolbook"/>
                        </a:rPr>
                        <a:t>pont  </a:t>
                      </a:r>
                      <a:r>
                        <a:rPr sz="1800" dirty="0">
                          <a:latin typeface="Century Schoolbook"/>
                          <a:cs typeface="Century Schoolbook"/>
                        </a:rPr>
                        <a:t>Martin</a:t>
                      </a:r>
                      <a:endParaRPr sz="1800">
                        <a:latin typeface="Century Schoolbook"/>
                        <a:cs typeface="Century Schoolbook"/>
                      </a:endParaRPr>
                    </a:p>
                  </a:txBody>
                  <a:tcPr marL="0" marR="0" marT="1066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38" name="object 38"/>
          <p:cNvSpPr txBox="1"/>
          <p:nvPr/>
        </p:nvSpPr>
        <p:spPr>
          <a:xfrm>
            <a:off x="183895" y="5106670"/>
            <a:ext cx="930275"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C</a:t>
            </a:r>
            <a:r>
              <a:rPr spc="-10" dirty="0">
                <a:solidFill>
                  <a:prstClr val="black"/>
                </a:solidFill>
                <a:cs typeface="Century Schoolbook"/>
              </a:rPr>
              <a:t>l</a:t>
            </a:r>
            <a:r>
              <a:rPr dirty="0">
                <a:solidFill>
                  <a:prstClr val="black"/>
                </a:solidFill>
                <a:cs typeface="Century Schoolbook"/>
              </a:rPr>
              <a:t>ient</a:t>
            </a:r>
            <a:r>
              <a:rPr spc="-10" dirty="0">
                <a:solidFill>
                  <a:prstClr val="black"/>
                </a:solidFill>
                <a:cs typeface="Century Schoolbook"/>
              </a:rPr>
              <a:t>1</a:t>
            </a:r>
            <a:r>
              <a:rPr dirty="0">
                <a:solidFill>
                  <a:prstClr val="black"/>
                </a:solidFill>
                <a:cs typeface="Century Schoolbook"/>
              </a:rPr>
              <a:t>1</a:t>
            </a:r>
            <a:endParaRPr>
              <a:solidFill>
                <a:prstClr val="black"/>
              </a:solidFill>
              <a:cs typeface="Century Schoolbook"/>
            </a:endParaRPr>
          </a:p>
        </p:txBody>
      </p:sp>
      <p:graphicFrame>
        <p:nvGraphicFramePr>
          <p:cNvPr id="39" name="object 39"/>
          <p:cNvGraphicFramePr>
            <a:graphicFrameLocks noGrp="1"/>
          </p:cNvGraphicFramePr>
          <p:nvPr/>
        </p:nvGraphicFramePr>
        <p:xfrm>
          <a:off x="2628900" y="5398008"/>
          <a:ext cx="1817369" cy="1066800"/>
        </p:xfrm>
        <a:graphic>
          <a:graphicData uri="http://schemas.openxmlformats.org/drawingml/2006/table">
            <a:tbl>
              <a:tblPr firstRow="1" bandRow="1">
                <a:tableStyleId>{2D5ABB26-0587-4C30-8999-92F81FD0307C}</a:tableStyleId>
              </a:tblPr>
              <a:tblGrid>
                <a:gridCol w="1035050"/>
                <a:gridCol w="782319"/>
              </a:tblGrid>
              <a:tr h="437388">
                <a:tc>
                  <a:txBody>
                    <a:bodyPr/>
                    <a:lstStyle/>
                    <a:p>
                      <a:pPr marL="100330">
                        <a:lnSpc>
                          <a:spcPct val="100000"/>
                        </a:lnSpc>
                        <a:spcBef>
                          <a:spcPts val="560"/>
                        </a:spcBef>
                      </a:pPr>
                      <a:r>
                        <a:rPr sz="1800" spc="-5" dirty="0">
                          <a:latin typeface="Century Schoolbook"/>
                          <a:cs typeface="Century Schoolbook"/>
                        </a:rPr>
                        <a:t>nclient</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0660">
                        <a:lnSpc>
                          <a:spcPct val="100000"/>
                        </a:lnSpc>
                        <a:spcBef>
                          <a:spcPts val="360"/>
                        </a:spcBef>
                      </a:pPr>
                      <a:r>
                        <a:rPr sz="1800" spc="-5" dirty="0">
                          <a:latin typeface="Century Schoolbook"/>
                          <a:cs typeface="Century Schoolbook"/>
                        </a:rPr>
                        <a:t>ville</a:t>
                      </a:r>
                      <a:endParaRPr sz="1800">
                        <a:latin typeface="Century Schoolbook"/>
                        <a:cs typeface="Century Schoolbook"/>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29412">
                <a:tc>
                  <a:txBody>
                    <a:bodyPr/>
                    <a:lstStyle/>
                    <a:p>
                      <a:pPr marL="203835">
                        <a:lnSpc>
                          <a:spcPts val="2000"/>
                        </a:lnSpc>
                        <a:spcBef>
                          <a:spcPts val="315"/>
                        </a:spcBef>
                      </a:pPr>
                      <a:r>
                        <a:rPr sz="1800" dirty="0">
                          <a:latin typeface="Century Schoolbook"/>
                          <a:cs typeface="Century Schoolbook"/>
                        </a:rPr>
                        <a:t>C</a:t>
                      </a:r>
                      <a:r>
                        <a:rPr sz="1800" spc="-100" dirty="0">
                          <a:latin typeface="Century Schoolbook"/>
                          <a:cs typeface="Century Schoolbook"/>
                        </a:rPr>
                        <a:t> </a:t>
                      </a:r>
                      <a:r>
                        <a:rPr sz="1800" dirty="0">
                          <a:latin typeface="Century Schoolbook"/>
                          <a:cs typeface="Century Schoolbook"/>
                        </a:rPr>
                        <a:t>1</a:t>
                      </a:r>
                      <a:endParaRPr sz="1800">
                        <a:latin typeface="Century Schoolbook"/>
                        <a:cs typeface="Century Schoolbook"/>
                      </a:endParaRPr>
                    </a:p>
                    <a:p>
                      <a:pPr marL="203835">
                        <a:lnSpc>
                          <a:spcPts val="2000"/>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3</a:t>
                      </a:r>
                      <a:endParaRPr sz="1800">
                        <a:latin typeface="Century Schoolbook"/>
                        <a:cs typeface="Century Schoolbook"/>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6685" marR="68580">
                        <a:lnSpc>
                          <a:spcPts val="1839"/>
                        </a:lnSpc>
                        <a:spcBef>
                          <a:spcPts val="540"/>
                        </a:spcBef>
                      </a:pPr>
                      <a:r>
                        <a:rPr sz="1800" dirty="0">
                          <a:latin typeface="Century Schoolbook"/>
                          <a:cs typeface="Century Schoolbook"/>
                        </a:rPr>
                        <a:t>P</a:t>
                      </a:r>
                      <a:r>
                        <a:rPr sz="1800" spc="-10" dirty="0">
                          <a:latin typeface="Century Schoolbook"/>
                          <a:cs typeface="Century Schoolbook"/>
                        </a:rPr>
                        <a:t>a</a:t>
                      </a:r>
                      <a:r>
                        <a:rPr sz="1800" dirty="0">
                          <a:latin typeface="Century Schoolbook"/>
                          <a:cs typeface="Century Schoolbook"/>
                        </a:rPr>
                        <a:t>ris  P</a:t>
                      </a:r>
                      <a:r>
                        <a:rPr sz="1800" spc="-10" dirty="0">
                          <a:latin typeface="Century Schoolbook"/>
                          <a:cs typeface="Century Schoolbook"/>
                        </a:rPr>
                        <a:t>a</a:t>
                      </a:r>
                      <a:r>
                        <a:rPr sz="1800" dirty="0">
                          <a:latin typeface="Century Schoolbook"/>
                          <a:cs typeface="Century Schoolbook"/>
                        </a:rPr>
                        <a:t>ris</a:t>
                      </a:r>
                      <a:endParaRPr sz="1800">
                        <a:latin typeface="Century Schoolbook"/>
                        <a:cs typeface="Century Schoolbook"/>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40" name="object 40"/>
          <p:cNvSpPr txBox="1"/>
          <p:nvPr/>
        </p:nvSpPr>
        <p:spPr>
          <a:xfrm>
            <a:off x="2622550" y="5106670"/>
            <a:ext cx="930275"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C</a:t>
            </a:r>
            <a:r>
              <a:rPr spc="-10" dirty="0">
                <a:solidFill>
                  <a:prstClr val="black"/>
                </a:solidFill>
                <a:cs typeface="Century Schoolbook"/>
              </a:rPr>
              <a:t>l</a:t>
            </a:r>
            <a:r>
              <a:rPr dirty="0">
                <a:solidFill>
                  <a:prstClr val="black"/>
                </a:solidFill>
                <a:cs typeface="Century Schoolbook"/>
              </a:rPr>
              <a:t>ient</a:t>
            </a:r>
            <a:r>
              <a:rPr spc="-10" dirty="0">
                <a:solidFill>
                  <a:prstClr val="black"/>
                </a:solidFill>
                <a:cs typeface="Century Schoolbook"/>
              </a:rPr>
              <a:t>1</a:t>
            </a:r>
            <a:r>
              <a:rPr dirty="0">
                <a:solidFill>
                  <a:prstClr val="black"/>
                </a:solidFill>
                <a:cs typeface="Century Schoolbook"/>
              </a:rPr>
              <a:t>2</a:t>
            </a:r>
            <a:endParaRPr>
              <a:solidFill>
                <a:prstClr val="black"/>
              </a:solidFill>
              <a:cs typeface="Century Schoolbook"/>
            </a:endParaRPr>
          </a:p>
        </p:txBody>
      </p:sp>
      <p:sp>
        <p:nvSpPr>
          <p:cNvPr id="41" name="object 41"/>
          <p:cNvSpPr txBox="1"/>
          <p:nvPr/>
        </p:nvSpPr>
        <p:spPr>
          <a:xfrm>
            <a:off x="4667758" y="5068570"/>
            <a:ext cx="930275"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C</a:t>
            </a:r>
            <a:r>
              <a:rPr spc="-10" dirty="0">
                <a:solidFill>
                  <a:prstClr val="black"/>
                </a:solidFill>
                <a:cs typeface="Century Schoolbook"/>
              </a:rPr>
              <a:t>l</a:t>
            </a:r>
            <a:r>
              <a:rPr dirty="0">
                <a:solidFill>
                  <a:prstClr val="black"/>
                </a:solidFill>
                <a:cs typeface="Century Schoolbook"/>
              </a:rPr>
              <a:t>ient</a:t>
            </a:r>
            <a:r>
              <a:rPr spc="-10" dirty="0">
                <a:solidFill>
                  <a:prstClr val="black"/>
                </a:solidFill>
                <a:cs typeface="Century Schoolbook"/>
              </a:rPr>
              <a:t>2</a:t>
            </a:r>
            <a:r>
              <a:rPr dirty="0">
                <a:solidFill>
                  <a:prstClr val="black"/>
                </a:solidFill>
                <a:cs typeface="Century Schoolbook"/>
              </a:rPr>
              <a:t>1</a:t>
            </a:r>
            <a:endParaRPr>
              <a:solidFill>
                <a:prstClr val="black"/>
              </a:solidFill>
              <a:cs typeface="Century Schoolbook"/>
            </a:endParaRPr>
          </a:p>
        </p:txBody>
      </p:sp>
      <p:sp>
        <p:nvSpPr>
          <p:cNvPr id="42" name="object 42"/>
          <p:cNvSpPr/>
          <p:nvPr/>
        </p:nvSpPr>
        <p:spPr>
          <a:xfrm>
            <a:off x="7118604" y="5366003"/>
            <a:ext cx="1816735" cy="1066800"/>
          </a:xfrm>
          <a:custGeom>
            <a:avLst/>
            <a:gdLst/>
            <a:ahLst/>
            <a:cxnLst/>
            <a:rect l="l" t="t" r="r" b="b"/>
            <a:pathLst>
              <a:path w="1816734" h="1066800">
                <a:moveTo>
                  <a:pt x="0" y="1066800"/>
                </a:moveTo>
                <a:lnTo>
                  <a:pt x="1816607" y="1066800"/>
                </a:lnTo>
                <a:lnTo>
                  <a:pt x="1816607" y="0"/>
                </a:lnTo>
                <a:lnTo>
                  <a:pt x="0" y="0"/>
                </a:lnTo>
                <a:lnTo>
                  <a:pt x="0" y="1066800"/>
                </a:lnTo>
                <a:close/>
              </a:path>
            </a:pathLst>
          </a:custGeom>
          <a:solidFill>
            <a:srgbClr val="FFFFFF"/>
          </a:solidFill>
        </p:spPr>
        <p:txBody>
          <a:bodyPr wrap="square" lIns="0" tIns="0" rIns="0" bIns="0" rtlCol="0"/>
          <a:lstStyle/>
          <a:p>
            <a:endParaRPr>
              <a:solidFill>
                <a:prstClr val="black"/>
              </a:solidFill>
            </a:endParaRPr>
          </a:p>
        </p:txBody>
      </p:sp>
      <p:sp>
        <p:nvSpPr>
          <p:cNvPr id="43" name="object 43"/>
          <p:cNvSpPr/>
          <p:nvPr/>
        </p:nvSpPr>
        <p:spPr>
          <a:xfrm>
            <a:off x="7118604" y="5366003"/>
            <a:ext cx="1816735" cy="1066800"/>
          </a:xfrm>
          <a:custGeom>
            <a:avLst/>
            <a:gdLst/>
            <a:ahLst/>
            <a:cxnLst/>
            <a:rect l="l" t="t" r="r" b="b"/>
            <a:pathLst>
              <a:path w="1816734" h="1066800">
                <a:moveTo>
                  <a:pt x="0" y="1066800"/>
                </a:moveTo>
                <a:lnTo>
                  <a:pt x="1816607" y="1066800"/>
                </a:lnTo>
                <a:lnTo>
                  <a:pt x="1816607" y="0"/>
                </a:lnTo>
                <a:lnTo>
                  <a:pt x="0" y="0"/>
                </a:lnTo>
                <a:lnTo>
                  <a:pt x="0" y="1066800"/>
                </a:lnTo>
                <a:close/>
              </a:path>
            </a:pathLst>
          </a:custGeom>
          <a:ln w="12192">
            <a:solidFill>
              <a:srgbClr val="000000"/>
            </a:solidFill>
          </a:ln>
        </p:spPr>
        <p:txBody>
          <a:bodyPr wrap="square" lIns="0" tIns="0" rIns="0" bIns="0" rtlCol="0"/>
          <a:lstStyle/>
          <a:p>
            <a:endParaRPr>
              <a:solidFill>
                <a:prstClr val="black"/>
              </a:solidFill>
            </a:endParaRPr>
          </a:p>
        </p:txBody>
      </p:sp>
      <p:sp>
        <p:nvSpPr>
          <p:cNvPr id="44" name="object 44"/>
          <p:cNvSpPr txBox="1"/>
          <p:nvPr/>
        </p:nvSpPr>
        <p:spPr>
          <a:xfrm>
            <a:off x="7206488" y="5424322"/>
            <a:ext cx="753745"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nclient</a:t>
            </a:r>
            <a:endParaRPr>
              <a:solidFill>
                <a:prstClr val="black"/>
              </a:solidFill>
              <a:cs typeface="Century Schoolbook"/>
            </a:endParaRPr>
          </a:p>
        </p:txBody>
      </p:sp>
      <p:sp>
        <p:nvSpPr>
          <p:cNvPr id="45" name="object 45"/>
          <p:cNvSpPr txBox="1"/>
          <p:nvPr/>
        </p:nvSpPr>
        <p:spPr>
          <a:xfrm>
            <a:off x="8341614" y="5398414"/>
            <a:ext cx="478155" cy="300355"/>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vil</a:t>
            </a:r>
            <a:r>
              <a:rPr spc="-10" dirty="0">
                <a:solidFill>
                  <a:prstClr val="black"/>
                </a:solidFill>
                <a:cs typeface="Century Schoolbook"/>
              </a:rPr>
              <a:t>l</a:t>
            </a:r>
            <a:r>
              <a:rPr dirty="0">
                <a:solidFill>
                  <a:prstClr val="black"/>
                </a:solidFill>
                <a:cs typeface="Century Schoolbook"/>
              </a:rPr>
              <a:t>e</a:t>
            </a:r>
            <a:endParaRPr>
              <a:solidFill>
                <a:prstClr val="black"/>
              </a:solidFill>
              <a:cs typeface="Century Schoolbook"/>
            </a:endParaRPr>
          </a:p>
        </p:txBody>
      </p:sp>
      <p:sp>
        <p:nvSpPr>
          <p:cNvPr id="46" name="object 46"/>
          <p:cNvSpPr/>
          <p:nvPr/>
        </p:nvSpPr>
        <p:spPr>
          <a:xfrm>
            <a:off x="8153400" y="5353811"/>
            <a:ext cx="0" cy="1053465"/>
          </a:xfrm>
          <a:custGeom>
            <a:avLst/>
            <a:gdLst/>
            <a:ahLst/>
            <a:cxnLst/>
            <a:rect l="l" t="t" r="r" b="b"/>
            <a:pathLst>
              <a:path h="1053464">
                <a:moveTo>
                  <a:pt x="0" y="0"/>
                </a:moveTo>
                <a:lnTo>
                  <a:pt x="0" y="1053083"/>
                </a:lnTo>
              </a:path>
            </a:pathLst>
          </a:custGeom>
          <a:ln w="12192">
            <a:solidFill>
              <a:srgbClr val="000000"/>
            </a:solidFill>
          </a:ln>
        </p:spPr>
        <p:txBody>
          <a:bodyPr wrap="square" lIns="0" tIns="0" rIns="0" bIns="0" rtlCol="0"/>
          <a:lstStyle/>
          <a:p>
            <a:endParaRPr>
              <a:solidFill>
                <a:prstClr val="black"/>
              </a:solidFill>
            </a:endParaRPr>
          </a:p>
        </p:txBody>
      </p:sp>
      <p:sp>
        <p:nvSpPr>
          <p:cNvPr id="47" name="object 47"/>
          <p:cNvSpPr/>
          <p:nvPr/>
        </p:nvSpPr>
        <p:spPr>
          <a:xfrm>
            <a:off x="7130795" y="5803391"/>
            <a:ext cx="1766570" cy="0"/>
          </a:xfrm>
          <a:custGeom>
            <a:avLst/>
            <a:gdLst/>
            <a:ahLst/>
            <a:cxnLst/>
            <a:rect l="l" t="t" r="r" b="b"/>
            <a:pathLst>
              <a:path w="1766570">
                <a:moveTo>
                  <a:pt x="1766315" y="0"/>
                </a:moveTo>
                <a:lnTo>
                  <a:pt x="0" y="0"/>
                </a:lnTo>
              </a:path>
            </a:pathLst>
          </a:custGeom>
          <a:ln w="12192">
            <a:solidFill>
              <a:srgbClr val="000000"/>
            </a:solidFill>
          </a:ln>
        </p:spPr>
        <p:txBody>
          <a:bodyPr wrap="square" lIns="0" tIns="0" rIns="0" bIns="0" rtlCol="0"/>
          <a:lstStyle/>
          <a:p>
            <a:endParaRPr>
              <a:solidFill>
                <a:prstClr val="black"/>
              </a:solidFill>
            </a:endParaRPr>
          </a:p>
        </p:txBody>
      </p:sp>
      <p:graphicFrame>
        <p:nvGraphicFramePr>
          <p:cNvPr id="48" name="object 48"/>
          <p:cNvGraphicFramePr>
            <a:graphicFrameLocks noGrp="1"/>
          </p:cNvGraphicFramePr>
          <p:nvPr/>
        </p:nvGraphicFramePr>
        <p:xfrm>
          <a:off x="4814315" y="5359908"/>
          <a:ext cx="2158364" cy="1066799"/>
        </p:xfrm>
        <a:graphic>
          <a:graphicData uri="http://schemas.openxmlformats.org/drawingml/2006/table">
            <a:tbl>
              <a:tblPr firstRow="1" bandRow="1">
                <a:tableStyleId>{2D5ABB26-0587-4C30-8999-92F81FD0307C}</a:tableStyleId>
              </a:tblPr>
              <a:tblGrid>
                <a:gridCol w="1035050"/>
                <a:gridCol w="1123314"/>
              </a:tblGrid>
              <a:tr h="437387">
                <a:tc>
                  <a:txBody>
                    <a:bodyPr/>
                    <a:lstStyle/>
                    <a:p>
                      <a:pPr marL="99695">
                        <a:lnSpc>
                          <a:spcPct val="100000"/>
                        </a:lnSpc>
                        <a:spcBef>
                          <a:spcPts val="560"/>
                        </a:spcBef>
                      </a:pPr>
                      <a:r>
                        <a:rPr sz="1800" spc="-5" dirty="0">
                          <a:latin typeface="Century Schoolbook"/>
                          <a:cs typeface="Century Schoolbook"/>
                        </a:rPr>
                        <a:t>nclient</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7350">
                        <a:lnSpc>
                          <a:spcPct val="100000"/>
                        </a:lnSpc>
                        <a:spcBef>
                          <a:spcPts val="560"/>
                        </a:spcBef>
                      </a:pPr>
                      <a:r>
                        <a:rPr sz="1800" dirty="0">
                          <a:latin typeface="Century Schoolbook"/>
                          <a:cs typeface="Century Schoolbook"/>
                        </a:rPr>
                        <a:t>nom</a:t>
                      </a:r>
                      <a:endParaRPr sz="1800">
                        <a:latin typeface="Century Schoolbook"/>
                        <a:cs typeface="Century Schoolbook"/>
                      </a:endParaRPr>
                    </a:p>
                  </a:txBody>
                  <a:tcPr marL="0" marR="0" marT="711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29412">
                <a:tc>
                  <a:txBody>
                    <a:bodyPr/>
                    <a:lstStyle/>
                    <a:p>
                      <a:pPr marL="279400">
                        <a:lnSpc>
                          <a:spcPts val="2000"/>
                        </a:lnSpc>
                        <a:spcBef>
                          <a:spcPts val="114"/>
                        </a:spcBef>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2</a:t>
                      </a:r>
                      <a:endParaRPr sz="1800">
                        <a:latin typeface="Century Schoolbook"/>
                        <a:cs typeface="Century Schoolbook"/>
                      </a:endParaRPr>
                    </a:p>
                    <a:p>
                      <a:pPr marL="279400">
                        <a:lnSpc>
                          <a:spcPts val="2000"/>
                        </a:lnSpc>
                      </a:pPr>
                      <a:r>
                        <a:rPr sz="1800" dirty="0">
                          <a:latin typeface="Century Schoolbook"/>
                          <a:cs typeface="Century Schoolbook"/>
                        </a:rPr>
                        <a:t>C</a:t>
                      </a:r>
                      <a:r>
                        <a:rPr sz="1800" spc="-105" dirty="0">
                          <a:latin typeface="Century Schoolbook"/>
                          <a:cs typeface="Century Schoolbook"/>
                        </a:rPr>
                        <a:t> </a:t>
                      </a:r>
                      <a:r>
                        <a:rPr sz="1800" dirty="0">
                          <a:latin typeface="Century Schoolbook"/>
                          <a:cs typeface="Century Schoolbook"/>
                        </a:rPr>
                        <a:t>4</a:t>
                      </a:r>
                      <a:endParaRPr sz="1800">
                        <a:latin typeface="Century Schoolbook"/>
                        <a:cs typeface="Century Schoolbook"/>
                      </a:endParaRPr>
                    </a:p>
                  </a:txBody>
                  <a:tcPr marL="0" marR="0" marT="146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85750">
                        <a:lnSpc>
                          <a:spcPts val="2000"/>
                        </a:lnSpc>
                        <a:spcBef>
                          <a:spcPts val="315"/>
                        </a:spcBef>
                      </a:pPr>
                      <a:r>
                        <a:rPr sz="1800" spc="-5" dirty="0">
                          <a:latin typeface="Century Schoolbook"/>
                          <a:cs typeface="Century Schoolbook"/>
                        </a:rPr>
                        <a:t>Martin</a:t>
                      </a:r>
                      <a:endParaRPr sz="1800">
                        <a:latin typeface="Century Schoolbook"/>
                        <a:cs typeface="Century Schoolbook"/>
                      </a:endParaRPr>
                    </a:p>
                    <a:p>
                      <a:pPr marL="285750">
                        <a:lnSpc>
                          <a:spcPts val="2000"/>
                        </a:lnSpc>
                      </a:pPr>
                      <a:r>
                        <a:rPr sz="1800" spc="-10" dirty="0">
                          <a:latin typeface="Century Schoolbook"/>
                          <a:cs typeface="Century Schoolbook"/>
                        </a:rPr>
                        <a:t>Smith</a:t>
                      </a:r>
                      <a:endParaRPr sz="1800">
                        <a:latin typeface="Century Schoolbook"/>
                        <a:cs typeface="Century Schoolbook"/>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49" name="object 49"/>
          <p:cNvSpPr txBox="1"/>
          <p:nvPr/>
        </p:nvSpPr>
        <p:spPr>
          <a:xfrm>
            <a:off x="7106539" y="5068570"/>
            <a:ext cx="930275" cy="299720"/>
          </a:xfrm>
          <a:prstGeom prst="rect">
            <a:avLst/>
          </a:prstGeom>
        </p:spPr>
        <p:txBody>
          <a:bodyPr vert="horz" wrap="square" lIns="0" tIns="12700" rIns="0" bIns="0" rtlCol="0">
            <a:spAutoFit/>
          </a:bodyPr>
          <a:lstStyle/>
          <a:p>
            <a:pPr marL="12700">
              <a:spcBef>
                <a:spcPts val="100"/>
              </a:spcBef>
            </a:pPr>
            <a:r>
              <a:rPr spc="-5" dirty="0">
                <a:solidFill>
                  <a:prstClr val="black"/>
                </a:solidFill>
                <a:cs typeface="Century Schoolbook"/>
              </a:rPr>
              <a:t>C</a:t>
            </a:r>
            <a:r>
              <a:rPr spc="-10" dirty="0">
                <a:solidFill>
                  <a:prstClr val="black"/>
                </a:solidFill>
                <a:cs typeface="Century Schoolbook"/>
              </a:rPr>
              <a:t>l</a:t>
            </a:r>
            <a:r>
              <a:rPr dirty="0">
                <a:solidFill>
                  <a:prstClr val="black"/>
                </a:solidFill>
                <a:cs typeface="Century Schoolbook"/>
              </a:rPr>
              <a:t>ient</a:t>
            </a:r>
            <a:r>
              <a:rPr spc="-10" dirty="0">
                <a:solidFill>
                  <a:prstClr val="black"/>
                </a:solidFill>
                <a:cs typeface="Century Schoolbook"/>
              </a:rPr>
              <a:t>2</a:t>
            </a:r>
            <a:r>
              <a:rPr dirty="0">
                <a:solidFill>
                  <a:prstClr val="black"/>
                </a:solidFill>
                <a:cs typeface="Century Schoolbook"/>
              </a:rPr>
              <a:t>2</a:t>
            </a:r>
            <a:endParaRPr>
              <a:solidFill>
                <a:prstClr val="black"/>
              </a:solidFill>
              <a:cs typeface="Century Schoolbook"/>
            </a:endParaRPr>
          </a:p>
        </p:txBody>
      </p:sp>
      <p:sp>
        <p:nvSpPr>
          <p:cNvPr id="50" name="object 50"/>
          <p:cNvSpPr txBox="1"/>
          <p:nvPr/>
        </p:nvSpPr>
        <p:spPr>
          <a:xfrm>
            <a:off x="7398766" y="5805322"/>
            <a:ext cx="381635" cy="533400"/>
          </a:xfrm>
          <a:prstGeom prst="rect">
            <a:avLst/>
          </a:prstGeom>
        </p:spPr>
        <p:txBody>
          <a:bodyPr vert="horz" wrap="square" lIns="0" tIns="12700" rIns="0" bIns="0" rtlCol="0">
            <a:spAutoFit/>
          </a:bodyPr>
          <a:lstStyle/>
          <a:p>
            <a:pPr marL="12700">
              <a:lnSpc>
                <a:spcPts val="2000"/>
              </a:lnSpc>
              <a:spcBef>
                <a:spcPts val="100"/>
              </a:spcBef>
            </a:pPr>
            <a:r>
              <a:rPr dirty="0">
                <a:solidFill>
                  <a:prstClr val="black"/>
                </a:solidFill>
                <a:cs typeface="Century Schoolbook"/>
              </a:rPr>
              <a:t>C</a:t>
            </a:r>
            <a:r>
              <a:rPr spc="-105" dirty="0">
                <a:solidFill>
                  <a:prstClr val="black"/>
                </a:solidFill>
                <a:cs typeface="Century Schoolbook"/>
              </a:rPr>
              <a:t> </a:t>
            </a:r>
            <a:r>
              <a:rPr dirty="0">
                <a:solidFill>
                  <a:prstClr val="black"/>
                </a:solidFill>
                <a:cs typeface="Century Schoolbook"/>
              </a:rPr>
              <a:t>2</a:t>
            </a:r>
            <a:endParaRPr>
              <a:solidFill>
                <a:prstClr val="black"/>
              </a:solidFill>
              <a:cs typeface="Century Schoolbook"/>
            </a:endParaRPr>
          </a:p>
          <a:p>
            <a:pPr marL="12700">
              <a:lnSpc>
                <a:spcPts val="2000"/>
              </a:lnSpc>
            </a:pPr>
            <a:r>
              <a:rPr dirty="0">
                <a:solidFill>
                  <a:prstClr val="black"/>
                </a:solidFill>
                <a:cs typeface="Century Schoolbook"/>
              </a:rPr>
              <a:t>C</a:t>
            </a:r>
            <a:r>
              <a:rPr spc="-105" dirty="0">
                <a:solidFill>
                  <a:prstClr val="black"/>
                </a:solidFill>
                <a:cs typeface="Century Schoolbook"/>
              </a:rPr>
              <a:t> </a:t>
            </a:r>
            <a:r>
              <a:rPr dirty="0">
                <a:solidFill>
                  <a:prstClr val="black"/>
                </a:solidFill>
                <a:cs typeface="Century Schoolbook"/>
              </a:rPr>
              <a:t>4</a:t>
            </a:r>
            <a:endParaRPr>
              <a:solidFill>
                <a:prstClr val="black"/>
              </a:solidFill>
              <a:cs typeface="Century Schoolbook"/>
            </a:endParaRPr>
          </a:p>
        </p:txBody>
      </p:sp>
      <p:sp>
        <p:nvSpPr>
          <p:cNvPr id="51" name="object 51"/>
          <p:cNvSpPr txBox="1"/>
          <p:nvPr/>
        </p:nvSpPr>
        <p:spPr>
          <a:xfrm>
            <a:off x="8262619" y="5818123"/>
            <a:ext cx="554990" cy="533400"/>
          </a:xfrm>
          <a:prstGeom prst="rect">
            <a:avLst/>
          </a:prstGeom>
        </p:spPr>
        <p:txBody>
          <a:bodyPr vert="horz" wrap="square" lIns="0" tIns="53975" rIns="0" bIns="0" rtlCol="0">
            <a:spAutoFit/>
          </a:bodyPr>
          <a:lstStyle/>
          <a:p>
            <a:pPr marL="12700" marR="5080">
              <a:lnSpc>
                <a:spcPts val="1839"/>
              </a:lnSpc>
              <a:spcBef>
                <a:spcPts val="425"/>
              </a:spcBef>
            </a:pPr>
            <a:r>
              <a:rPr dirty="0">
                <a:solidFill>
                  <a:prstClr val="black"/>
                </a:solidFill>
                <a:cs typeface="Century Schoolbook"/>
              </a:rPr>
              <a:t>Lyon  </a:t>
            </a:r>
            <a:r>
              <a:rPr spc="-5" dirty="0">
                <a:solidFill>
                  <a:prstClr val="black"/>
                </a:solidFill>
                <a:cs typeface="Century Schoolbook"/>
              </a:rPr>
              <a:t>Lille</a:t>
            </a:r>
            <a:endParaRPr>
              <a:solidFill>
                <a:prstClr val="black"/>
              </a:solidFill>
              <a:cs typeface="Century Schoolbook"/>
            </a:endParaRPr>
          </a:p>
        </p:txBody>
      </p:sp>
      <p:sp>
        <p:nvSpPr>
          <p:cNvPr id="52" name="Espace réservé du numéro de diapositive 51"/>
          <p:cNvSpPr>
            <a:spLocks noGrp="1"/>
          </p:cNvSpPr>
          <p:nvPr>
            <p:ph type="sldNum" sz="quarter" idx="15"/>
          </p:nvPr>
        </p:nvSpPr>
        <p:spPr/>
        <p:txBody>
          <a:bodyPr/>
          <a:lstStyle/>
          <a:p>
            <a:fld id="{F1AAE0E6-1385-44E0-8EAE-F204D7E7A5E9}" type="slidenum">
              <a:rPr lang="fr-FR" smtClean="0"/>
              <a:pPr/>
              <a:t>20</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600" spc="-10" dirty="0" smtClean="0"/>
              <a:t>F</a:t>
            </a:r>
            <a:r>
              <a:rPr lang="fr-FR" sz="3200" spc="-10" dirty="0" smtClean="0"/>
              <a:t>RAGMENTATION</a:t>
            </a:r>
            <a:r>
              <a:rPr lang="fr-FR" sz="3200" spc="45" dirty="0" smtClean="0"/>
              <a:t> </a:t>
            </a:r>
            <a:r>
              <a:rPr lang="fr-FR" sz="3600" spc="-10" dirty="0" smtClean="0"/>
              <a:t>M</a:t>
            </a:r>
            <a:r>
              <a:rPr lang="fr-FR" sz="3200" spc="-10" dirty="0" smtClean="0"/>
              <a:t>IXTE</a:t>
            </a:r>
            <a:endParaRPr lang="fr-FR" dirty="0"/>
          </a:p>
        </p:txBody>
      </p:sp>
      <p:sp>
        <p:nvSpPr>
          <p:cNvPr id="3" name="Espace réservé du contenu 2"/>
          <p:cNvSpPr>
            <a:spLocks noGrp="1"/>
          </p:cNvSpPr>
          <p:nvPr>
            <p:ph sz="quarter" idx="1"/>
          </p:nvPr>
        </p:nvSpPr>
        <p:spPr>
          <a:xfrm>
            <a:off x="457200" y="1600200"/>
            <a:ext cx="8686800" cy="4873752"/>
          </a:xfrm>
        </p:spPr>
        <p:txBody>
          <a:bodyPr/>
          <a:lstStyle/>
          <a:p>
            <a:r>
              <a:rPr lang="fr-FR" dirty="0" smtClean="0"/>
              <a:t>Relation </a:t>
            </a:r>
            <a:r>
              <a:rPr lang="fr-FR" i="1" dirty="0" smtClean="0"/>
              <a:t>Cli11 π[</a:t>
            </a:r>
            <a:r>
              <a:rPr lang="fr-FR" i="1" dirty="0" err="1" smtClean="0"/>
              <a:t>NoClient</a:t>
            </a:r>
            <a:r>
              <a:rPr lang="fr-FR" i="1" dirty="0" smtClean="0"/>
              <a:t>, Nom] (σ[Ville=Paris] Client)</a:t>
            </a:r>
          </a:p>
          <a:p>
            <a:r>
              <a:rPr lang="fr-FR" dirty="0" smtClean="0"/>
              <a:t>Relation </a:t>
            </a:r>
            <a:r>
              <a:rPr lang="fr-FR" i="1" dirty="0" smtClean="0"/>
              <a:t>Cli12 π[</a:t>
            </a:r>
            <a:r>
              <a:rPr lang="fr-FR" i="1" dirty="0" err="1" smtClean="0"/>
              <a:t>NoClient</a:t>
            </a:r>
            <a:r>
              <a:rPr lang="fr-FR" i="1" dirty="0" smtClean="0"/>
              <a:t>, Ville] (σ[Ville=Paris]Client)</a:t>
            </a:r>
          </a:p>
          <a:p>
            <a:r>
              <a:rPr lang="fr-FR" dirty="0" smtClean="0"/>
              <a:t>Relation </a:t>
            </a:r>
            <a:r>
              <a:rPr lang="fr-FR" i="1" dirty="0" smtClean="0"/>
              <a:t>Cli21 </a:t>
            </a:r>
            <a:r>
              <a:rPr lang="el-GR" i="1" dirty="0" smtClean="0"/>
              <a:t>π[</a:t>
            </a:r>
            <a:r>
              <a:rPr lang="fr-FR" i="1" dirty="0" err="1" smtClean="0"/>
              <a:t>NoClient</a:t>
            </a:r>
            <a:r>
              <a:rPr lang="fr-FR" i="1" dirty="0" smtClean="0"/>
              <a:t>, Nom] (σ[Ville&lt;&gt;Paris] Client)</a:t>
            </a:r>
          </a:p>
          <a:p>
            <a:r>
              <a:rPr lang="fr-FR" dirty="0" smtClean="0"/>
              <a:t>Relation </a:t>
            </a:r>
            <a:r>
              <a:rPr lang="fr-FR" i="1" dirty="0" smtClean="0"/>
              <a:t>Cli22 </a:t>
            </a:r>
            <a:r>
              <a:rPr lang="el-GR" i="1" dirty="0" smtClean="0"/>
              <a:t>π[</a:t>
            </a:r>
            <a:r>
              <a:rPr lang="fr-FR" i="1" dirty="0" err="1" smtClean="0"/>
              <a:t>NoClient</a:t>
            </a:r>
            <a:r>
              <a:rPr lang="fr-FR" i="1" dirty="0" smtClean="0"/>
              <a:t>, Ville] (σ[Ville&lt;&gt;Paris] Client)</a:t>
            </a:r>
          </a:p>
          <a:p>
            <a:endParaRPr lang="fr-FR" dirty="0" smtClean="0"/>
          </a:p>
          <a:p>
            <a:r>
              <a:rPr lang="fr-FR" dirty="0" smtClean="0"/>
              <a:t>La relation </a:t>
            </a:r>
            <a:r>
              <a:rPr lang="fr-FR" i="1" dirty="0" smtClean="0"/>
              <a:t>Client est obtenue avec : (Cli11 </a:t>
            </a:r>
            <a:r>
              <a:rPr lang="fr-FR" dirty="0" smtClean="0">
                <a:solidFill>
                  <a:prstClr val="black"/>
                </a:solidFill>
              </a:rPr>
              <a:t>⋈</a:t>
            </a:r>
            <a:r>
              <a:rPr lang="fr-FR" i="1" dirty="0" smtClean="0"/>
              <a:t> Cli12) ∪ (Cli21 </a:t>
            </a:r>
            <a:r>
              <a:rPr lang="fr-FR" dirty="0" smtClean="0">
                <a:solidFill>
                  <a:prstClr val="black"/>
                </a:solidFill>
              </a:rPr>
              <a:t>⋈</a:t>
            </a:r>
            <a:r>
              <a:rPr lang="fr-FR" i="1" dirty="0" smtClean="0"/>
              <a:t> Cli22)</a:t>
            </a:r>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21</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 des fragments</a:t>
            </a:r>
            <a:br>
              <a:rPr lang="fr-FR" dirty="0" smtClean="0"/>
            </a:br>
            <a:endParaRPr lang="fr-FR" dirty="0"/>
          </a:p>
        </p:txBody>
      </p:sp>
      <p:sp>
        <p:nvSpPr>
          <p:cNvPr id="3" name="Espace réservé du contenu 2"/>
          <p:cNvSpPr>
            <a:spLocks noGrp="1"/>
          </p:cNvSpPr>
          <p:nvPr>
            <p:ph sz="quarter" idx="1"/>
          </p:nvPr>
        </p:nvSpPr>
        <p:spPr/>
        <p:txBody>
          <a:bodyPr>
            <a:normAutofit fontScale="92500" lnSpcReduction="10000"/>
          </a:bodyPr>
          <a:lstStyle/>
          <a:p>
            <a:r>
              <a:rPr lang="fr-FR" dirty="0" smtClean="0"/>
              <a:t>Le principe est de baser la fragmentation sur l'ensemble des requêtes d'interrogation ou de mise à jour prédéfinies. </a:t>
            </a:r>
          </a:p>
          <a:p>
            <a:r>
              <a:rPr lang="fr-FR" dirty="0" smtClean="0"/>
              <a:t>Il faut extraire de ces requêtes toutes les conditions de sélections, les attributs projetés et les jointures. </a:t>
            </a:r>
          </a:p>
          <a:p>
            <a:r>
              <a:rPr lang="fr-FR" dirty="0" smtClean="0"/>
              <a:t>Les opérations de sélection sont à la base des fragmentations horizontales, les opérations de projection sont à la base des fragmentations verticales.</a:t>
            </a:r>
          </a:p>
          <a:p>
            <a:r>
              <a:rPr lang="fr-FR" dirty="0" smtClean="0"/>
              <a:t>Pour éviter le risque d'émietter la base de données, on peut restreindre le nombre de requêtes prises en considération. </a:t>
            </a:r>
          </a:p>
          <a:p>
            <a:pPr lvl="1"/>
            <a:r>
              <a:rPr lang="fr-FR" dirty="0" smtClean="0"/>
              <a:t>On ne s'intéresse alors qu'aux requêtes les plus fréquentes ou les plus sensibles.</a:t>
            </a:r>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22</a:t>
            </a:fld>
            <a:endParaRPr lang="fr-F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507288" y="167984"/>
            <a:ext cx="6525259" cy="936154"/>
          </a:xfrm>
          <a:prstGeom prst="rect">
            <a:avLst/>
          </a:prstGeom>
        </p:spPr>
        <p:txBody>
          <a:bodyPr vert="horz" wrap="square" lIns="0" tIns="12700" rIns="0" bIns="0" rtlCol="0">
            <a:spAutoFit/>
          </a:bodyPr>
          <a:lstStyle/>
          <a:p>
            <a:pPr marL="12700">
              <a:lnSpc>
                <a:spcPct val="100000"/>
              </a:lnSpc>
              <a:spcBef>
                <a:spcPts val="100"/>
              </a:spcBef>
            </a:pPr>
            <a:r>
              <a:rPr lang="fr-FR" dirty="0" smtClean="0"/>
              <a:t>Définition des fragments</a:t>
            </a:r>
            <a:br>
              <a:rPr lang="fr-FR" dirty="0" smtClean="0"/>
            </a:br>
            <a:endParaRPr sz="3000" dirty="0"/>
          </a:p>
        </p:txBody>
      </p:sp>
      <p:sp>
        <p:nvSpPr>
          <p:cNvPr id="5" name="object 5"/>
          <p:cNvSpPr txBox="1"/>
          <p:nvPr/>
        </p:nvSpPr>
        <p:spPr>
          <a:xfrm>
            <a:off x="535940" y="1311400"/>
            <a:ext cx="6314440" cy="2226310"/>
          </a:xfrm>
          <a:prstGeom prst="rect">
            <a:avLst/>
          </a:prstGeom>
        </p:spPr>
        <p:txBody>
          <a:bodyPr vert="horz" wrap="square" lIns="0" tIns="86995" rIns="0" bIns="0" rtlCol="0">
            <a:spAutoFit/>
          </a:bodyPr>
          <a:lstStyle/>
          <a:p>
            <a:pPr marL="287020" indent="-274320">
              <a:lnSpc>
                <a:spcPct val="100000"/>
              </a:lnSpc>
              <a:spcBef>
                <a:spcPts val="685"/>
              </a:spcBef>
              <a:buClr>
                <a:srgbClr val="FD8537"/>
              </a:buClr>
              <a:buSzPct val="68750"/>
              <a:buFont typeface="Wingdings"/>
              <a:buChar char=""/>
              <a:tabLst>
                <a:tab pos="287020" algn="l"/>
              </a:tabLst>
            </a:pPr>
            <a:r>
              <a:rPr sz="2400" spc="-5" dirty="0">
                <a:latin typeface="Century Schoolbook"/>
                <a:cs typeface="Century Schoolbook"/>
              </a:rPr>
              <a:t>Approche </a:t>
            </a:r>
            <a:r>
              <a:rPr sz="2400" dirty="0">
                <a:latin typeface="Century Schoolbook"/>
                <a:cs typeface="Century Schoolbook"/>
              </a:rPr>
              <a:t>orientée</a:t>
            </a:r>
            <a:r>
              <a:rPr sz="2400" spc="-45" dirty="0">
                <a:latin typeface="Century Schoolbook"/>
                <a:cs typeface="Century Schoolbook"/>
              </a:rPr>
              <a:t> </a:t>
            </a:r>
            <a:r>
              <a:rPr sz="2400" spc="-5" dirty="0">
                <a:latin typeface="Century Schoolbook"/>
                <a:cs typeface="Century Schoolbook"/>
              </a:rPr>
              <a:t>données</a:t>
            </a:r>
            <a:endParaRPr sz="2400">
              <a:latin typeface="Century Schoolbook"/>
              <a:cs typeface="Century Schoolbook"/>
            </a:endParaRPr>
          </a:p>
          <a:p>
            <a:pPr marL="927100" lvl="1" indent="-183515">
              <a:lnSpc>
                <a:spcPct val="100000"/>
              </a:lnSpc>
              <a:spcBef>
                <a:spcPts val="445"/>
              </a:spcBef>
              <a:buClr>
                <a:srgbClr val="DF752E"/>
              </a:buClr>
              <a:buSzPct val="58333"/>
              <a:buFont typeface="Wingdings"/>
              <a:buChar char=""/>
              <a:tabLst>
                <a:tab pos="927735" algn="l"/>
              </a:tabLst>
            </a:pPr>
            <a:r>
              <a:rPr sz="1800" spc="-5" dirty="0">
                <a:latin typeface="Century Schoolbook"/>
                <a:cs typeface="Century Schoolbook"/>
              </a:rPr>
              <a:t>Selon </a:t>
            </a:r>
            <a:r>
              <a:rPr sz="1800" dirty="0">
                <a:latin typeface="Century Schoolbook"/>
                <a:cs typeface="Century Schoolbook"/>
              </a:rPr>
              <a:t>un </a:t>
            </a:r>
            <a:r>
              <a:rPr sz="1800" spc="-5" dirty="0">
                <a:latin typeface="Century Schoolbook"/>
                <a:cs typeface="Century Schoolbook"/>
              </a:rPr>
              <a:t>ensemble d’hypothèses</a:t>
            </a:r>
            <a:r>
              <a:rPr sz="1800" spc="5" dirty="0">
                <a:latin typeface="Century Schoolbook"/>
                <a:cs typeface="Century Schoolbook"/>
              </a:rPr>
              <a:t> </a:t>
            </a:r>
            <a:r>
              <a:rPr sz="1800" dirty="0">
                <a:latin typeface="Century Schoolbook"/>
                <a:cs typeface="Century Schoolbook"/>
              </a:rPr>
              <a:t>:</a:t>
            </a:r>
            <a:endParaRPr sz="1800">
              <a:latin typeface="Century Schoolbook"/>
              <a:cs typeface="Century Schoolbook"/>
            </a:endParaRPr>
          </a:p>
          <a:p>
            <a:pPr marL="1201420" lvl="2" indent="-183515">
              <a:lnSpc>
                <a:spcPct val="100000"/>
              </a:lnSpc>
              <a:spcBef>
                <a:spcPts val="434"/>
              </a:spcBef>
              <a:buClr>
                <a:srgbClr val="FDC3AD"/>
              </a:buClr>
              <a:buSzPct val="58333"/>
              <a:buFont typeface="Wingdings"/>
              <a:buChar char=""/>
              <a:tabLst>
                <a:tab pos="1202055" algn="l"/>
              </a:tabLst>
            </a:pPr>
            <a:r>
              <a:rPr sz="1800" spc="-5" dirty="0">
                <a:latin typeface="Century Schoolbook"/>
                <a:cs typeface="Century Schoolbook"/>
              </a:rPr>
              <a:t>Informations sur </a:t>
            </a:r>
            <a:r>
              <a:rPr sz="1800" dirty="0">
                <a:latin typeface="Century Schoolbook"/>
                <a:cs typeface="Century Schoolbook"/>
              </a:rPr>
              <a:t>les </a:t>
            </a:r>
            <a:r>
              <a:rPr sz="1800" spc="-5" dirty="0">
                <a:latin typeface="Century Schoolbook"/>
                <a:cs typeface="Century Schoolbook"/>
              </a:rPr>
              <a:t>contraintes de</a:t>
            </a:r>
            <a:r>
              <a:rPr sz="1800" spc="15" dirty="0">
                <a:latin typeface="Century Schoolbook"/>
                <a:cs typeface="Century Schoolbook"/>
              </a:rPr>
              <a:t> </a:t>
            </a:r>
            <a:r>
              <a:rPr sz="1800" spc="-5" dirty="0">
                <a:latin typeface="Century Schoolbook"/>
                <a:cs typeface="Century Schoolbook"/>
              </a:rPr>
              <a:t>placement</a:t>
            </a:r>
            <a:endParaRPr sz="1800">
              <a:latin typeface="Century Schoolbook"/>
              <a:cs typeface="Century Schoolbook"/>
            </a:endParaRPr>
          </a:p>
          <a:p>
            <a:pPr lvl="2">
              <a:lnSpc>
                <a:spcPct val="100000"/>
              </a:lnSpc>
              <a:spcBef>
                <a:spcPts val="15"/>
              </a:spcBef>
              <a:buClr>
                <a:srgbClr val="FDC3AD"/>
              </a:buClr>
              <a:buFont typeface="Wingdings"/>
              <a:buChar char=""/>
            </a:pPr>
            <a:endParaRPr sz="2750">
              <a:latin typeface="Times New Roman"/>
              <a:cs typeface="Times New Roman"/>
            </a:endParaRPr>
          </a:p>
          <a:p>
            <a:pPr marL="287020" indent="-274320">
              <a:lnSpc>
                <a:spcPct val="100000"/>
              </a:lnSpc>
              <a:buClr>
                <a:srgbClr val="FD8537"/>
              </a:buClr>
              <a:buSzPct val="68750"/>
              <a:buFont typeface="Wingdings"/>
              <a:buChar char=""/>
              <a:tabLst>
                <a:tab pos="287020" algn="l"/>
              </a:tabLst>
            </a:pPr>
            <a:r>
              <a:rPr sz="2400" spc="-5" dirty="0">
                <a:latin typeface="Century Schoolbook"/>
                <a:cs typeface="Century Schoolbook"/>
              </a:rPr>
              <a:t>Approche </a:t>
            </a:r>
            <a:r>
              <a:rPr sz="2400" dirty="0">
                <a:latin typeface="Century Schoolbook"/>
                <a:cs typeface="Century Schoolbook"/>
              </a:rPr>
              <a:t>orientée requêtes</a:t>
            </a:r>
            <a:r>
              <a:rPr sz="2400" spc="-50" dirty="0">
                <a:latin typeface="Century Schoolbook"/>
                <a:cs typeface="Century Schoolbook"/>
              </a:rPr>
              <a:t> </a:t>
            </a:r>
            <a:r>
              <a:rPr sz="2400" dirty="0">
                <a:latin typeface="Century Schoolbook"/>
                <a:cs typeface="Century Schoolbook"/>
              </a:rPr>
              <a:t>:</a:t>
            </a:r>
            <a:endParaRPr sz="2400">
              <a:latin typeface="Century Schoolbook"/>
              <a:cs typeface="Century Schoolbook"/>
            </a:endParaRPr>
          </a:p>
          <a:p>
            <a:pPr marL="927100" lvl="1" indent="-183515">
              <a:lnSpc>
                <a:spcPct val="100000"/>
              </a:lnSpc>
              <a:spcBef>
                <a:spcPts val="445"/>
              </a:spcBef>
              <a:buClr>
                <a:srgbClr val="DF752E"/>
              </a:buClr>
              <a:buSzPct val="58333"/>
              <a:buFont typeface="Wingdings"/>
              <a:buChar char=""/>
              <a:tabLst>
                <a:tab pos="927735" algn="l"/>
              </a:tabLst>
            </a:pPr>
            <a:r>
              <a:rPr sz="1800" spc="-5" dirty="0">
                <a:latin typeface="Century Schoolbook"/>
                <a:cs typeface="Century Schoolbook"/>
              </a:rPr>
              <a:t>Informations sur </a:t>
            </a:r>
            <a:r>
              <a:rPr sz="1800" dirty="0">
                <a:latin typeface="Century Schoolbook"/>
                <a:cs typeface="Century Schoolbook"/>
              </a:rPr>
              <a:t>les requêtes </a:t>
            </a:r>
            <a:r>
              <a:rPr sz="1800" spc="-5" dirty="0">
                <a:latin typeface="Century Schoolbook"/>
                <a:cs typeface="Century Schoolbook"/>
              </a:rPr>
              <a:t>généralement</a:t>
            </a:r>
            <a:r>
              <a:rPr sz="1800" spc="-15" dirty="0">
                <a:latin typeface="Century Schoolbook"/>
                <a:cs typeface="Century Schoolbook"/>
              </a:rPr>
              <a:t> </a:t>
            </a:r>
            <a:r>
              <a:rPr sz="1800" spc="-5" dirty="0">
                <a:latin typeface="Century Schoolbook"/>
                <a:cs typeface="Century Schoolbook"/>
              </a:rPr>
              <a:t>posées</a:t>
            </a:r>
            <a:endParaRPr sz="1800">
              <a:latin typeface="Century Schoolbook"/>
              <a:cs typeface="Century Schoolbook"/>
            </a:endParaRPr>
          </a:p>
        </p:txBody>
      </p:sp>
      <p:sp>
        <p:nvSpPr>
          <p:cNvPr id="6" name="Espace réservé du numéro de diapositive 5"/>
          <p:cNvSpPr>
            <a:spLocks noGrp="1"/>
          </p:cNvSpPr>
          <p:nvPr>
            <p:ph type="sldNum" sz="quarter" idx="15"/>
          </p:nvPr>
        </p:nvSpPr>
        <p:spPr/>
        <p:txBody>
          <a:bodyPr/>
          <a:lstStyle/>
          <a:p>
            <a:fld id="{F1AAE0E6-1385-44E0-8EAE-F204D7E7A5E9}" type="slidenum">
              <a:rPr lang="fr-FR" smtClean="0"/>
              <a:pPr/>
              <a:t>23</a:t>
            </a:fld>
            <a:endParaRPr lang="fr-F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58267" y="459104"/>
            <a:ext cx="8512175" cy="482600"/>
          </a:xfrm>
          <a:prstGeom prst="rect">
            <a:avLst/>
          </a:prstGeom>
        </p:spPr>
        <p:txBody>
          <a:bodyPr vert="horz" wrap="square" lIns="0" tIns="12700" rIns="0" bIns="0" rtlCol="0">
            <a:spAutoFit/>
          </a:bodyPr>
          <a:lstStyle/>
          <a:p>
            <a:pPr marL="12700">
              <a:lnSpc>
                <a:spcPct val="100000"/>
              </a:lnSpc>
              <a:spcBef>
                <a:spcPts val="100"/>
              </a:spcBef>
            </a:pPr>
            <a:r>
              <a:rPr spc="-5" dirty="0" smtClean="0"/>
              <a:t>FRAGMENTATION </a:t>
            </a:r>
            <a:r>
              <a:rPr spc="-5" dirty="0"/>
              <a:t>ORIENTÉE</a:t>
            </a:r>
            <a:r>
              <a:rPr spc="20" dirty="0"/>
              <a:t> </a:t>
            </a:r>
            <a:r>
              <a:rPr dirty="0" smtClean="0"/>
              <a:t>DONNÉE</a:t>
            </a:r>
            <a:r>
              <a:rPr lang="fr-FR" dirty="0" smtClean="0"/>
              <a:t>S</a:t>
            </a:r>
            <a:endParaRPr sz="3000" dirty="0"/>
          </a:p>
        </p:txBody>
      </p:sp>
      <p:sp>
        <p:nvSpPr>
          <p:cNvPr id="6" name="object 6"/>
          <p:cNvSpPr txBox="1"/>
          <p:nvPr/>
        </p:nvSpPr>
        <p:spPr>
          <a:xfrm>
            <a:off x="535940" y="1311402"/>
            <a:ext cx="7694930" cy="2068195"/>
          </a:xfrm>
          <a:prstGeom prst="rect">
            <a:avLst/>
          </a:prstGeom>
        </p:spPr>
        <p:txBody>
          <a:bodyPr vert="horz" wrap="square" lIns="0" tIns="61594" rIns="0" bIns="0" rtlCol="0">
            <a:spAutoFit/>
          </a:bodyPr>
          <a:lstStyle/>
          <a:p>
            <a:pPr marL="287020" indent="-274320">
              <a:lnSpc>
                <a:spcPct val="100000"/>
              </a:lnSpc>
              <a:spcBef>
                <a:spcPts val="484"/>
              </a:spcBef>
              <a:buClr>
                <a:srgbClr val="FD8537"/>
              </a:buClr>
              <a:buSzPct val="69444"/>
              <a:buFont typeface="Wingdings"/>
              <a:buChar char=""/>
              <a:tabLst>
                <a:tab pos="286385" algn="l"/>
                <a:tab pos="287020" algn="l"/>
              </a:tabLst>
            </a:pPr>
            <a:r>
              <a:rPr sz="1800" spc="-5" dirty="0">
                <a:latin typeface="Century Schoolbook"/>
                <a:cs typeface="Century Schoolbook"/>
              </a:rPr>
              <a:t>Contexte</a:t>
            </a:r>
            <a:endParaRPr sz="1800">
              <a:latin typeface="Century Schoolbook"/>
              <a:cs typeface="Century Schoolbook"/>
            </a:endParaRPr>
          </a:p>
          <a:p>
            <a:pPr marL="286385">
              <a:lnSpc>
                <a:spcPct val="100000"/>
              </a:lnSpc>
              <a:spcBef>
                <a:spcPts val="380"/>
              </a:spcBef>
            </a:pPr>
            <a:r>
              <a:rPr sz="1800" dirty="0">
                <a:latin typeface="Century Schoolbook"/>
                <a:cs typeface="Century Schoolbook"/>
              </a:rPr>
              <a:t>On </a:t>
            </a:r>
            <a:r>
              <a:rPr sz="1800" spc="-5" dirty="0">
                <a:latin typeface="Century Schoolbook"/>
                <a:cs typeface="Century Schoolbook"/>
              </a:rPr>
              <a:t>considère </a:t>
            </a:r>
            <a:r>
              <a:rPr sz="1800" dirty="0">
                <a:latin typeface="Century Schoolbook"/>
                <a:cs typeface="Century Schoolbook"/>
              </a:rPr>
              <a:t>une </a:t>
            </a:r>
            <a:r>
              <a:rPr sz="1800" spc="-10" dirty="0">
                <a:latin typeface="Century Schoolbook"/>
                <a:cs typeface="Century Schoolbook"/>
              </a:rPr>
              <a:t>base </a:t>
            </a:r>
            <a:r>
              <a:rPr sz="1800" spc="-5" dirty="0">
                <a:latin typeface="Century Schoolbook"/>
                <a:cs typeface="Century Schoolbook"/>
              </a:rPr>
              <a:t>de données </a:t>
            </a:r>
            <a:r>
              <a:rPr sz="1800" dirty="0">
                <a:latin typeface="Century Schoolbook"/>
                <a:cs typeface="Century Schoolbook"/>
              </a:rPr>
              <a:t>comprenant la</a:t>
            </a:r>
            <a:r>
              <a:rPr sz="1800" spc="5" dirty="0">
                <a:latin typeface="Century Schoolbook"/>
                <a:cs typeface="Century Schoolbook"/>
              </a:rPr>
              <a:t> </a:t>
            </a:r>
            <a:r>
              <a:rPr sz="1800" spc="-5" dirty="0">
                <a:latin typeface="Century Schoolbook"/>
                <a:cs typeface="Century Schoolbook"/>
              </a:rPr>
              <a:t>table:</a:t>
            </a:r>
            <a:endParaRPr sz="1800">
              <a:latin typeface="Century Schoolbook"/>
              <a:cs typeface="Century Schoolbook"/>
            </a:endParaRPr>
          </a:p>
          <a:p>
            <a:pPr marL="652780" lvl="1" indent="-275590">
              <a:lnSpc>
                <a:spcPct val="100000"/>
              </a:lnSpc>
              <a:spcBef>
                <a:spcPts val="190"/>
              </a:spcBef>
              <a:buClr>
                <a:srgbClr val="FD8537"/>
              </a:buClr>
              <a:buSzPct val="78125"/>
              <a:buFont typeface="Wingdings 2"/>
              <a:buChar char=""/>
              <a:tabLst>
                <a:tab pos="652780" algn="l"/>
                <a:tab pos="653415" algn="l"/>
              </a:tabLst>
            </a:pPr>
            <a:r>
              <a:rPr sz="1600" b="1" spc="-5" dirty="0">
                <a:latin typeface="Century Schoolbook"/>
                <a:cs typeface="Century Schoolbook"/>
              </a:rPr>
              <a:t>ETUDIANT </a:t>
            </a:r>
            <a:r>
              <a:rPr sz="1600" spc="-10" dirty="0">
                <a:latin typeface="Century Schoolbook"/>
                <a:cs typeface="Century Schoolbook"/>
              </a:rPr>
              <a:t>(</a:t>
            </a:r>
            <a:r>
              <a:rPr sz="1600" u="sng" spc="-10" dirty="0">
                <a:uFill>
                  <a:solidFill>
                    <a:srgbClr val="000000"/>
                  </a:solidFill>
                </a:uFill>
                <a:latin typeface="Century Schoolbook"/>
                <a:cs typeface="Century Schoolbook"/>
              </a:rPr>
              <a:t>numE</a:t>
            </a:r>
            <a:r>
              <a:rPr sz="1600" spc="-10" dirty="0">
                <a:latin typeface="Century Schoolbook"/>
                <a:cs typeface="Century Schoolbook"/>
              </a:rPr>
              <a:t>, </a:t>
            </a:r>
            <a:r>
              <a:rPr sz="1600" spc="-5" dirty="0">
                <a:latin typeface="Century Schoolbook"/>
                <a:cs typeface="Century Schoolbook"/>
              </a:rPr>
              <a:t>nomE, </a:t>
            </a:r>
            <a:r>
              <a:rPr sz="1600" spc="-10" dirty="0">
                <a:latin typeface="Century Schoolbook"/>
                <a:cs typeface="Century Schoolbook"/>
              </a:rPr>
              <a:t>pnomE,</a:t>
            </a:r>
            <a:r>
              <a:rPr sz="1600" spc="105" dirty="0">
                <a:latin typeface="Century Schoolbook"/>
                <a:cs typeface="Century Schoolbook"/>
              </a:rPr>
              <a:t> </a:t>
            </a:r>
            <a:r>
              <a:rPr sz="1600" spc="-10" dirty="0">
                <a:latin typeface="Century Schoolbook"/>
                <a:cs typeface="Century Schoolbook"/>
              </a:rPr>
              <a:t>numC)</a:t>
            </a:r>
            <a:endParaRPr sz="1600">
              <a:latin typeface="Century Schoolbook"/>
              <a:cs typeface="Century Schoolbook"/>
            </a:endParaRPr>
          </a:p>
          <a:p>
            <a:pPr marL="652780" lvl="1" indent="-275590">
              <a:lnSpc>
                <a:spcPct val="100000"/>
              </a:lnSpc>
              <a:spcBef>
                <a:spcPts val="195"/>
              </a:spcBef>
              <a:buClr>
                <a:srgbClr val="FD8537"/>
              </a:buClr>
              <a:buSzPct val="78125"/>
              <a:buFont typeface="Wingdings 2"/>
              <a:buChar char=""/>
              <a:tabLst>
                <a:tab pos="652780" algn="l"/>
                <a:tab pos="653415" algn="l"/>
              </a:tabLst>
            </a:pPr>
            <a:r>
              <a:rPr sz="1600" b="1" spc="-5" dirty="0">
                <a:latin typeface="Century Schoolbook"/>
                <a:cs typeface="Century Schoolbook"/>
              </a:rPr>
              <a:t>VACATAIRE </a:t>
            </a:r>
            <a:r>
              <a:rPr sz="1600" spc="-10" dirty="0">
                <a:latin typeface="Century Schoolbook"/>
                <a:cs typeface="Century Schoolbook"/>
              </a:rPr>
              <a:t>(</a:t>
            </a:r>
            <a:r>
              <a:rPr sz="1600" u="sng" spc="-10" dirty="0">
                <a:uFill>
                  <a:solidFill>
                    <a:srgbClr val="000000"/>
                  </a:solidFill>
                </a:uFill>
                <a:latin typeface="Century Schoolbook"/>
                <a:cs typeface="Century Schoolbook"/>
              </a:rPr>
              <a:t>numV</a:t>
            </a:r>
            <a:r>
              <a:rPr sz="1600" spc="-10" dirty="0">
                <a:latin typeface="Century Schoolbook"/>
                <a:cs typeface="Century Schoolbook"/>
              </a:rPr>
              <a:t>, </a:t>
            </a:r>
            <a:r>
              <a:rPr sz="1600" spc="-5" dirty="0">
                <a:latin typeface="Century Schoolbook"/>
                <a:cs typeface="Century Schoolbook"/>
              </a:rPr>
              <a:t>nomV,</a:t>
            </a:r>
            <a:r>
              <a:rPr sz="1600" spc="70" dirty="0">
                <a:latin typeface="Century Schoolbook"/>
                <a:cs typeface="Century Schoolbook"/>
              </a:rPr>
              <a:t> </a:t>
            </a:r>
            <a:r>
              <a:rPr sz="1600" spc="-10" dirty="0">
                <a:latin typeface="Century Schoolbook"/>
                <a:cs typeface="Century Schoolbook"/>
              </a:rPr>
              <a:t>pnomV)</a:t>
            </a:r>
            <a:endParaRPr sz="1600">
              <a:latin typeface="Century Schoolbook"/>
              <a:cs typeface="Century Schoolbook"/>
            </a:endParaRPr>
          </a:p>
          <a:p>
            <a:pPr marL="652780" lvl="1" indent="-275590">
              <a:lnSpc>
                <a:spcPct val="100000"/>
              </a:lnSpc>
              <a:spcBef>
                <a:spcPts val="190"/>
              </a:spcBef>
              <a:buClr>
                <a:srgbClr val="FD8537"/>
              </a:buClr>
              <a:buSzPct val="78125"/>
              <a:buFont typeface="Wingdings 2"/>
              <a:buChar char=""/>
              <a:tabLst>
                <a:tab pos="652780" algn="l"/>
                <a:tab pos="653415" algn="l"/>
              </a:tabLst>
            </a:pPr>
            <a:r>
              <a:rPr sz="1600" b="1" spc="-5" dirty="0">
                <a:latin typeface="Century Schoolbook"/>
                <a:cs typeface="Century Schoolbook"/>
              </a:rPr>
              <a:t>CENTRE </a:t>
            </a:r>
            <a:r>
              <a:rPr sz="1600" spc="-10" dirty="0">
                <a:latin typeface="Century Schoolbook"/>
                <a:cs typeface="Century Schoolbook"/>
              </a:rPr>
              <a:t>(</a:t>
            </a:r>
            <a:r>
              <a:rPr sz="1600" u="sng" spc="-10" dirty="0">
                <a:uFill>
                  <a:solidFill>
                    <a:srgbClr val="000000"/>
                  </a:solidFill>
                </a:uFill>
                <a:latin typeface="Century Schoolbook"/>
                <a:cs typeface="Century Schoolbook"/>
              </a:rPr>
              <a:t>numC</a:t>
            </a:r>
            <a:r>
              <a:rPr sz="1600" spc="-10" dirty="0">
                <a:latin typeface="Century Schoolbook"/>
                <a:cs typeface="Century Schoolbook"/>
              </a:rPr>
              <a:t>, </a:t>
            </a:r>
            <a:r>
              <a:rPr sz="1600" spc="-5" dirty="0">
                <a:latin typeface="Century Schoolbook"/>
                <a:cs typeface="Century Schoolbook"/>
              </a:rPr>
              <a:t>villeC, </a:t>
            </a:r>
            <a:r>
              <a:rPr sz="1600" spc="-10" dirty="0">
                <a:latin typeface="Century Schoolbook"/>
                <a:cs typeface="Century Schoolbook"/>
              </a:rPr>
              <a:t>adrC, </a:t>
            </a:r>
            <a:r>
              <a:rPr sz="1600" spc="-5" dirty="0">
                <a:latin typeface="Century Schoolbook"/>
                <a:cs typeface="Century Schoolbook"/>
              </a:rPr>
              <a:t>telC,</a:t>
            </a:r>
            <a:r>
              <a:rPr sz="1600" spc="100" dirty="0">
                <a:latin typeface="Century Schoolbook"/>
                <a:cs typeface="Century Schoolbook"/>
              </a:rPr>
              <a:t> </a:t>
            </a:r>
            <a:r>
              <a:rPr sz="1600" spc="-5" dirty="0">
                <a:latin typeface="Century Schoolbook"/>
                <a:cs typeface="Century Schoolbook"/>
              </a:rPr>
              <a:t>zoneC)</a:t>
            </a:r>
            <a:endParaRPr sz="1600">
              <a:latin typeface="Century Schoolbook"/>
              <a:cs typeface="Century Schoolbook"/>
            </a:endParaRPr>
          </a:p>
          <a:p>
            <a:pPr marL="652780" lvl="1" indent="-275590">
              <a:lnSpc>
                <a:spcPct val="100000"/>
              </a:lnSpc>
              <a:spcBef>
                <a:spcPts val="190"/>
              </a:spcBef>
              <a:buClr>
                <a:srgbClr val="FD8537"/>
              </a:buClr>
              <a:buSzPct val="78125"/>
              <a:buFont typeface="Wingdings 2"/>
              <a:buChar char=""/>
              <a:tabLst>
                <a:tab pos="652780" algn="l"/>
                <a:tab pos="653415" algn="l"/>
              </a:tabLst>
            </a:pPr>
            <a:r>
              <a:rPr sz="1600" b="1" spc="-10" dirty="0">
                <a:latin typeface="Century Schoolbook"/>
                <a:cs typeface="Century Schoolbook"/>
              </a:rPr>
              <a:t>FORMATION</a:t>
            </a:r>
            <a:r>
              <a:rPr sz="1600" spc="-10" dirty="0">
                <a:latin typeface="Century Schoolbook"/>
                <a:cs typeface="Century Schoolbook"/>
              </a:rPr>
              <a:t>( </a:t>
            </a:r>
            <a:r>
              <a:rPr sz="1600" u="sng" spc="-10" dirty="0">
                <a:uFill>
                  <a:solidFill>
                    <a:srgbClr val="000000"/>
                  </a:solidFill>
                </a:uFill>
                <a:latin typeface="Century Schoolbook"/>
                <a:cs typeface="Century Schoolbook"/>
              </a:rPr>
              <a:t>numC, numF</a:t>
            </a:r>
            <a:r>
              <a:rPr sz="1600" spc="-10" dirty="0">
                <a:latin typeface="Century Schoolbook"/>
                <a:cs typeface="Century Schoolbook"/>
              </a:rPr>
              <a:t>, </a:t>
            </a:r>
            <a:r>
              <a:rPr sz="1600" spc="-5" dirty="0">
                <a:latin typeface="Century Schoolbook"/>
                <a:cs typeface="Century Schoolbook"/>
              </a:rPr>
              <a:t>nomF, nbHeure, </a:t>
            </a:r>
            <a:r>
              <a:rPr sz="1600" spc="-10" dirty="0">
                <a:latin typeface="Century Schoolbook"/>
                <a:cs typeface="Century Schoolbook"/>
              </a:rPr>
              <a:t>numV, </a:t>
            </a:r>
            <a:r>
              <a:rPr sz="1600" spc="-5" dirty="0">
                <a:latin typeface="Century Schoolbook"/>
                <a:cs typeface="Century Schoolbook"/>
              </a:rPr>
              <a:t>coutF,</a:t>
            </a:r>
            <a:r>
              <a:rPr sz="1600" spc="295" dirty="0">
                <a:latin typeface="Century Schoolbook"/>
                <a:cs typeface="Century Schoolbook"/>
              </a:rPr>
              <a:t> </a:t>
            </a:r>
            <a:r>
              <a:rPr sz="1600" spc="-5" dirty="0">
                <a:latin typeface="Century Schoolbook"/>
                <a:cs typeface="Century Schoolbook"/>
              </a:rPr>
              <a:t>rentabilitéF)</a:t>
            </a:r>
            <a:endParaRPr sz="1600">
              <a:latin typeface="Century Schoolbook"/>
              <a:cs typeface="Century Schoolbook"/>
            </a:endParaRPr>
          </a:p>
          <a:p>
            <a:pPr marL="286385">
              <a:lnSpc>
                <a:spcPct val="100000"/>
              </a:lnSpc>
              <a:spcBef>
                <a:spcPts val="390"/>
              </a:spcBef>
            </a:pPr>
            <a:r>
              <a:rPr sz="1800" spc="-5" dirty="0">
                <a:latin typeface="Century Schoolbook"/>
                <a:cs typeface="Century Schoolbook"/>
              </a:rPr>
              <a:t>avec </a:t>
            </a:r>
            <a:r>
              <a:rPr sz="1800" dirty="0">
                <a:latin typeface="Century Schoolbook"/>
                <a:cs typeface="Century Schoolbook"/>
              </a:rPr>
              <a:t>: zoneC </a:t>
            </a:r>
            <a:r>
              <a:rPr sz="1800" dirty="0">
                <a:latin typeface="Symbol"/>
                <a:cs typeface="Symbol"/>
              </a:rPr>
              <a:t></a:t>
            </a:r>
            <a:r>
              <a:rPr sz="1800" dirty="0">
                <a:latin typeface="Times New Roman"/>
                <a:cs typeface="Times New Roman"/>
              </a:rPr>
              <a:t> </a:t>
            </a:r>
            <a:r>
              <a:rPr sz="1800" dirty="0">
                <a:latin typeface="Century Schoolbook"/>
                <a:cs typeface="Century Schoolbook"/>
              </a:rPr>
              <a:t>{‘Nord’, </a:t>
            </a:r>
            <a:r>
              <a:rPr sz="1800" spc="-5" dirty="0">
                <a:latin typeface="Century Schoolbook"/>
                <a:cs typeface="Century Schoolbook"/>
              </a:rPr>
              <a:t>‘Est’, ‘Sud’ </a:t>
            </a:r>
            <a:r>
              <a:rPr sz="1800" dirty="0">
                <a:latin typeface="Century Schoolbook"/>
                <a:cs typeface="Century Schoolbook"/>
              </a:rPr>
              <a:t>,</a:t>
            </a:r>
            <a:r>
              <a:rPr sz="1800" spc="20" dirty="0">
                <a:latin typeface="Century Schoolbook"/>
                <a:cs typeface="Century Schoolbook"/>
              </a:rPr>
              <a:t> </a:t>
            </a:r>
            <a:r>
              <a:rPr sz="1800" spc="-5" dirty="0">
                <a:latin typeface="Century Schoolbook"/>
                <a:cs typeface="Century Schoolbook"/>
              </a:rPr>
              <a:t>‘Ouest’}</a:t>
            </a:r>
            <a:endParaRPr sz="1800">
              <a:latin typeface="Century Schoolbook"/>
              <a:cs typeface="Century Schoolbook"/>
            </a:endParaRPr>
          </a:p>
        </p:txBody>
      </p:sp>
      <p:sp>
        <p:nvSpPr>
          <p:cNvPr id="7" name="object 7"/>
          <p:cNvSpPr txBox="1"/>
          <p:nvPr/>
        </p:nvSpPr>
        <p:spPr>
          <a:xfrm>
            <a:off x="535940" y="3725926"/>
            <a:ext cx="61849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entury Schoolbook"/>
                <a:cs typeface="Century Schoolbook"/>
              </a:rPr>
              <a:t>Sites </a:t>
            </a:r>
            <a:r>
              <a:rPr sz="1800" dirty="0">
                <a:latin typeface="Century Schoolbook"/>
                <a:cs typeface="Century Schoolbook"/>
              </a:rPr>
              <a:t>géographiques : </a:t>
            </a:r>
            <a:r>
              <a:rPr sz="1800" spc="-5" dirty="0">
                <a:latin typeface="Century Schoolbook"/>
                <a:cs typeface="Century Schoolbook"/>
              </a:rPr>
              <a:t>‘Paris’, </a:t>
            </a:r>
            <a:r>
              <a:rPr sz="1800" dirty="0">
                <a:latin typeface="Century Schoolbook"/>
                <a:cs typeface="Century Schoolbook"/>
              </a:rPr>
              <a:t>‘Lyon’, </a:t>
            </a:r>
            <a:r>
              <a:rPr sz="1800" spc="-5" dirty="0">
                <a:latin typeface="Century Schoolbook"/>
                <a:cs typeface="Century Schoolbook"/>
              </a:rPr>
              <a:t>‘Marseille’,</a:t>
            </a:r>
            <a:r>
              <a:rPr sz="1800" spc="-95" dirty="0">
                <a:latin typeface="Century Schoolbook"/>
                <a:cs typeface="Century Schoolbook"/>
              </a:rPr>
              <a:t> </a:t>
            </a:r>
            <a:r>
              <a:rPr sz="1800" spc="-5" dirty="0">
                <a:latin typeface="Century Schoolbook"/>
                <a:cs typeface="Century Schoolbook"/>
              </a:rPr>
              <a:t>‘Bordeaux’</a:t>
            </a:r>
            <a:endParaRPr sz="1800">
              <a:latin typeface="Century Schoolbook"/>
              <a:cs typeface="Century Schoolbook"/>
            </a:endParaRPr>
          </a:p>
        </p:txBody>
      </p:sp>
      <p:sp>
        <p:nvSpPr>
          <p:cNvPr id="8" name="object 8"/>
          <p:cNvSpPr txBox="1"/>
          <p:nvPr/>
        </p:nvSpPr>
        <p:spPr>
          <a:xfrm>
            <a:off x="535940" y="4344601"/>
            <a:ext cx="7781925" cy="1570990"/>
          </a:xfrm>
          <a:prstGeom prst="rect">
            <a:avLst/>
          </a:prstGeom>
        </p:spPr>
        <p:txBody>
          <a:bodyPr vert="horz" wrap="square" lIns="0" tIns="40005" rIns="0" bIns="0" rtlCol="0">
            <a:spAutoFit/>
          </a:bodyPr>
          <a:lstStyle/>
          <a:p>
            <a:pPr marL="287020" indent="-274320">
              <a:lnSpc>
                <a:spcPct val="100000"/>
              </a:lnSpc>
              <a:spcBef>
                <a:spcPts val="315"/>
              </a:spcBef>
              <a:buClr>
                <a:srgbClr val="FD8537"/>
              </a:buClr>
              <a:buSzPct val="69444"/>
              <a:buFont typeface="Wingdings"/>
              <a:buChar char=""/>
              <a:tabLst>
                <a:tab pos="286385" algn="l"/>
                <a:tab pos="287020" algn="l"/>
              </a:tabLst>
            </a:pPr>
            <a:r>
              <a:rPr sz="1800" spc="-5" dirty="0">
                <a:latin typeface="Century Schoolbook"/>
                <a:cs typeface="Century Schoolbook"/>
              </a:rPr>
              <a:t>Hypothèses</a:t>
            </a:r>
            <a:endParaRPr sz="1800">
              <a:latin typeface="Century Schoolbook"/>
              <a:cs typeface="Century Schoolbook"/>
            </a:endParaRPr>
          </a:p>
          <a:p>
            <a:pPr marL="652780" marR="5080" lvl="1" indent="-274955">
              <a:lnSpc>
                <a:spcPct val="90100"/>
              </a:lnSpc>
              <a:spcBef>
                <a:spcPts val="380"/>
              </a:spcBef>
              <a:buClr>
                <a:srgbClr val="FD8537"/>
              </a:buClr>
              <a:buSzPct val="78125"/>
              <a:buFont typeface="Wingdings 2"/>
              <a:buChar char=""/>
              <a:tabLst>
                <a:tab pos="652780" algn="l"/>
                <a:tab pos="653415" algn="l"/>
              </a:tabLst>
            </a:pPr>
            <a:r>
              <a:rPr sz="1600" b="1" spc="-5" dirty="0">
                <a:latin typeface="Century Schoolbook"/>
                <a:cs typeface="Century Schoolbook"/>
              </a:rPr>
              <a:t>H1 </a:t>
            </a:r>
            <a:r>
              <a:rPr sz="1600" spc="-5" dirty="0">
                <a:latin typeface="Century Schoolbook"/>
                <a:cs typeface="Century Schoolbook"/>
              </a:rPr>
              <a:t>: Paris </a:t>
            </a:r>
            <a:r>
              <a:rPr sz="1600" spc="-10" dirty="0">
                <a:latin typeface="Century Schoolbook"/>
                <a:cs typeface="Century Schoolbook"/>
              </a:rPr>
              <a:t>gère </a:t>
            </a:r>
            <a:r>
              <a:rPr sz="1600" dirty="0">
                <a:latin typeface="Century Schoolbook"/>
                <a:cs typeface="Century Schoolbook"/>
              </a:rPr>
              <a:t>les </a:t>
            </a:r>
            <a:r>
              <a:rPr sz="1600" spc="-5" dirty="0">
                <a:latin typeface="Century Schoolbook"/>
                <a:cs typeface="Century Schoolbook"/>
              </a:rPr>
              <a:t>centres du nord de la France, Lyon </a:t>
            </a:r>
            <a:r>
              <a:rPr sz="1600" dirty="0">
                <a:latin typeface="Century Schoolbook"/>
                <a:cs typeface="Century Schoolbook"/>
              </a:rPr>
              <a:t>les </a:t>
            </a:r>
            <a:r>
              <a:rPr sz="1600" spc="-5" dirty="0">
                <a:latin typeface="Century Schoolbook"/>
                <a:cs typeface="Century Schoolbook"/>
              </a:rPr>
              <a:t>centres de la zone  Est, Marseille les centres </a:t>
            </a:r>
            <a:r>
              <a:rPr sz="1600" spc="-10" dirty="0">
                <a:latin typeface="Century Schoolbook"/>
                <a:cs typeface="Century Schoolbook"/>
              </a:rPr>
              <a:t>de </a:t>
            </a:r>
            <a:r>
              <a:rPr sz="1600" spc="-5" dirty="0">
                <a:latin typeface="Century Schoolbook"/>
                <a:cs typeface="Century Schoolbook"/>
              </a:rPr>
              <a:t>zone sud et </a:t>
            </a:r>
            <a:r>
              <a:rPr sz="1600" spc="-10" dirty="0">
                <a:latin typeface="Century Schoolbook"/>
                <a:cs typeface="Century Schoolbook"/>
              </a:rPr>
              <a:t>Bordeaux </a:t>
            </a:r>
            <a:r>
              <a:rPr sz="1600" spc="-5" dirty="0">
                <a:latin typeface="Century Schoolbook"/>
                <a:cs typeface="Century Schoolbook"/>
              </a:rPr>
              <a:t>les centres </a:t>
            </a:r>
            <a:r>
              <a:rPr sz="1600" spc="-10" dirty="0">
                <a:latin typeface="Century Schoolbook"/>
                <a:cs typeface="Century Schoolbook"/>
              </a:rPr>
              <a:t>de </a:t>
            </a:r>
            <a:r>
              <a:rPr sz="1600" spc="-5" dirty="0">
                <a:latin typeface="Century Schoolbook"/>
                <a:cs typeface="Century Schoolbook"/>
              </a:rPr>
              <a:t>la zone  Ouest.</a:t>
            </a:r>
            <a:endParaRPr sz="1600">
              <a:latin typeface="Century Schoolbook"/>
              <a:cs typeface="Century Schoolbook"/>
            </a:endParaRPr>
          </a:p>
          <a:p>
            <a:pPr marL="652780" lvl="1" indent="-275590">
              <a:lnSpc>
                <a:spcPct val="100000"/>
              </a:lnSpc>
              <a:spcBef>
                <a:spcPts val="190"/>
              </a:spcBef>
              <a:buClr>
                <a:srgbClr val="FD8537"/>
              </a:buClr>
              <a:buSzPct val="78125"/>
              <a:buFont typeface="Wingdings 2"/>
              <a:buChar char=""/>
              <a:tabLst>
                <a:tab pos="652780" algn="l"/>
                <a:tab pos="653415" algn="l"/>
              </a:tabLst>
            </a:pPr>
            <a:r>
              <a:rPr sz="1600" b="1" spc="-10" dirty="0">
                <a:latin typeface="Century Schoolbook"/>
                <a:cs typeface="Century Schoolbook"/>
              </a:rPr>
              <a:t>H2 </a:t>
            </a:r>
            <a:r>
              <a:rPr sz="1600" spc="-5" dirty="0">
                <a:latin typeface="Century Schoolbook"/>
                <a:cs typeface="Century Schoolbook"/>
              </a:rPr>
              <a:t>: </a:t>
            </a:r>
            <a:r>
              <a:rPr sz="1600" spc="-10" dirty="0">
                <a:latin typeface="Century Schoolbook"/>
                <a:cs typeface="Century Schoolbook"/>
              </a:rPr>
              <a:t>Chaque </a:t>
            </a:r>
            <a:r>
              <a:rPr sz="1600" spc="-5" dirty="0">
                <a:latin typeface="Century Schoolbook"/>
                <a:cs typeface="Century Schoolbook"/>
              </a:rPr>
              <a:t>centre gère ses</a:t>
            </a:r>
            <a:r>
              <a:rPr sz="1600" spc="80" dirty="0">
                <a:latin typeface="Century Schoolbook"/>
                <a:cs typeface="Century Schoolbook"/>
              </a:rPr>
              <a:t> </a:t>
            </a:r>
            <a:r>
              <a:rPr sz="1600" spc="-10" dirty="0">
                <a:latin typeface="Century Schoolbook"/>
                <a:cs typeface="Century Schoolbook"/>
              </a:rPr>
              <a:t>étudiants</a:t>
            </a:r>
            <a:endParaRPr sz="1600">
              <a:latin typeface="Century Schoolbook"/>
              <a:cs typeface="Century Schoolbook"/>
            </a:endParaRPr>
          </a:p>
          <a:p>
            <a:pPr marL="652780" lvl="1" indent="-275590">
              <a:lnSpc>
                <a:spcPct val="100000"/>
              </a:lnSpc>
              <a:spcBef>
                <a:spcPts val="190"/>
              </a:spcBef>
              <a:buClr>
                <a:srgbClr val="FD8537"/>
              </a:buClr>
              <a:buSzPct val="78125"/>
              <a:buFont typeface="Wingdings 2"/>
              <a:buChar char=""/>
              <a:tabLst>
                <a:tab pos="652780" algn="l"/>
                <a:tab pos="653415" algn="l"/>
              </a:tabLst>
            </a:pPr>
            <a:r>
              <a:rPr sz="1600" b="1" spc="-5" dirty="0">
                <a:latin typeface="Century Schoolbook"/>
                <a:cs typeface="Century Schoolbook"/>
              </a:rPr>
              <a:t>H3 </a:t>
            </a:r>
            <a:r>
              <a:rPr sz="1600" spc="-5" dirty="0">
                <a:latin typeface="Century Schoolbook"/>
                <a:cs typeface="Century Schoolbook"/>
              </a:rPr>
              <a:t>: Les vacataires </a:t>
            </a:r>
            <a:r>
              <a:rPr sz="1600" spc="-10" dirty="0">
                <a:latin typeface="Century Schoolbook"/>
                <a:cs typeface="Century Schoolbook"/>
              </a:rPr>
              <a:t>délivrent des </a:t>
            </a:r>
            <a:r>
              <a:rPr sz="1600" spc="-5" dirty="0">
                <a:latin typeface="Century Schoolbook"/>
                <a:cs typeface="Century Schoolbook"/>
              </a:rPr>
              <a:t>formations </a:t>
            </a:r>
            <a:r>
              <a:rPr sz="1600" spc="-10" dirty="0">
                <a:latin typeface="Century Schoolbook"/>
                <a:cs typeface="Century Schoolbook"/>
              </a:rPr>
              <a:t>dans </a:t>
            </a:r>
            <a:r>
              <a:rPr sz="1600" spc="-5" dirty="0">
                <a:latin typeface="Century Schoolbook"/>
                <a:cs typeface="Century Schoolbook"/>
              </a:rPr>
              <a:t>tous </a:t>
            </a:r>
            <a:r>
              <a:rPr sz="1600" dirty="0">
                <a:latin typeface="Century Schoolbook"/>
                <a:cs typeface="Century Schoolbook"/>
              </a:rPr>
              <a:t>les</a:t>
            </a:r>
            <a:r>
              <a:rPr sz="1600" spc="155" dirty="0">
                <a:latin typeface="Century Schoolbook"/>
                <a:cs typeface="Century Schoolbook"/>
              </a:rPr>
              <a:t> </a:t>
            </a:r>
            <a:r>
              <a:rPr sz="1600" spc="-5" dirty="0">
                <a:latin typeface="Century Schoolbook"/>
                <a:cs typeface="Century Schoolbook"/>
              </a:rPr>
              <a:t>centres</a:t>
            </a:r>
            <a:endParaRPr sz="1600">
              <a:latin typeface="Century Schoolbook"/>
              <a:cs typeface="Century Schoolbook"/>
            </a:endParaRPr>
          </a:p>
        </p:txBody>
      </p:sp>
      <p:sp>
        <p:nvSpPr>
          <p:cNvPr id="9" name="object 9"/>
          <p:cNvSpPr txBox="1"/>
          <p:nvPr/>
        </p:nvSpPr>
        <p:spPr>
          <a:xfrm>
            <a:off x="901700" y="5914745"/>
            <a:ext cx="7028180" cy="488315"/>
          </a:xfrm>
          <a:prstGeom prst="rect">
            <a:avLst/>
          </a:prstGeom>
        </p:spPr>
        <p:txBody>
          <a:bodyPr vert="horz" wrap="square" lIns="0" tIns="39370" rIns="0" bIns="0" rtlCol="0">
            <a:spAutoFit/>
          </a:bodyPr>
          <a:lstStyle/>
          <a:p>
            <a:pPr marL="287020" marR="5080" indent="-274955">
              <a:lnSpc>
                <a:spcPts val="1730"/>
              </a:lnSpc>
              <a:spcBef>
                <a:spcPts val="310"/>
              </a:spcBef>
              <a:buClr>
                <a:srgbClr val="FD8537"/>
              </a:buClr>
              <a:buSzPct val="78125"/>
              <a:buFont typeface="Wingdings 2"/>
              <a:buChar char=""/>
              <a:tabLst>
                <a:tab pos="287020" algn="l"/>
                <a:tab pos="287655" algn="l"/>
              </a:tabLst>
            </a:pPr>
            <a:r>
              <a:rPr sz="1600" b="1" spc="-10" dirty="0">
                <a:latin typeface="Century Schoolbook"/>
                <a:cs typeface="Century Schoolbook"/>
              </a:rPr>
              <a:t>H4 </a:t>
            </a:r>
            <a:r>
              <a:rPr sz="1600" spc="-5" dirty="0">
                <a:latin typeface="Century Schoolbook"/>
                <a:cs typeface="Century Schoolbook"/>
              </a:rPr>
              <a:t>: Les informations sur les formations sont gérées à Paris, hormis </a:t>
            </a:r>
            <a:r>
              <a:rPr sz="1600" dirty="0">
                <a:latin typeface="Century Schoolbook"/>
                <a:cs typeface="Century Schoolbook"/>
              </a:rPr>
              <a:t>les  </a:t>
            </a:r>
            <a:r>
              <a:rPr sz="1600" spc="-5" dirty="0">
                <a:latin typeface="Century Schoolbook"/>
                <a:cs typeface="Century Schoolbook"/>
              </a:rPr>
              <a:t>informations liées au coût et à la rentabilité </a:t>
            </a:r>
            <a:r>
              <a:rPr sz="1600" spc="-10" dirty="0">
                <a:latin typeface="Century Schoolbook"/>
                <a:cs typeface="Century Schoolbook"/>
              </a:rPr>
              <a:t>qui </a:t>
            </a:r>
            <a:r>
              <a:rPr sz="1600" spc="-5" dirty="0">
                <a:latin typeface="Century Schoolbook"/>
                <a:cs typeface="Century Schoolbook"/>
              </a:rPr>
              <a:t>sont stockées à</a:t>
            </a:r>
            <a:r>
              <a:rPr sz="1600" spc="120" dirty="0">
                <a:latin typeface="Century Schoolbook"/>
                <a:cs typeface="Century Schoolbook"/>
              </a:rPr>
              <a:t> </a:t>
            </a:r>
            <a:r>
              <a:rPr sz="1600" spc="-5" dirty="0">
                <a:latin typeface="Century Schoolbook"/>
                <a:cs typeface="Century Schoolbook"/>
              </a:rPr>
              <a:t>Lyon</a:t>
            </a:r>
            <a:endParaRPr sz="1600">
              <a:latin typeface="Century Schoolbook"/>
              <a:cs typeface="Century Schoolbook"/>
            </a:endParaRPr>
          </a:p>
        </p:txBody>
      </p:sp>
      <p:sp>
        <p:nvSpPr>
          <p:cNvPr id="11" name="Espace réservé du numéro de diapositive 10"/>
          <p:cNvSpPr>
            <a:spLocks noGrp="1"/>
          </p:cNvSpPr>
          <p:nvPr>
            <p:ph type="sldNum" sz="quarter" idx="15"/>
          </p:nvPr>
        </p:nvSpPr>
        <p:spPr/>
        <p:txBody>
          <a:bodyPr/>
          <a:lstStyle/>
          <a:p>
            <a:fld id="{F1AAE0E6-1385-44E0-8EAE-F204D7E7A5E9}" type="slidenum">
              <a:rPr lang="fr-FR" smtClean="0"/>
              <a:pPr/>
              <a:t>24</a:t>
            </a:fld>
            <a:endParaRPr lang="fr-F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10259" y="1319497"/>
            <a:ext cx="4517390" cy="688340"/>
          </a:xfrm>
          <a:prstGeom prst="rect">
            <a:avLst/>
          </a:prstGeom>
        </p:spPr>
        <p:txBody>
          <a:bodyPr vert="horz" wrap="square" lIns="0" tIns="80010" rIns="0" bIns="0" rtlCol="0">
            <a:spAutoFit/>
          </a:bodyPr>
          <a:lstStyle/>
          <a:p>
            <a:pPr marL="104139">
              <a:lnSpc>
                <a:spcPct val="100000"/>
              </a:lnSpc>
              <a:spcBef>
                <a:spcPts val="630"/>
              </a:spcBef>
            </a:pPr>
            <a:r>
              <a:rPr sz="1600" b="1" spc="-5" dirty="0">
                <a:latin typeface="Century Schoolbook"/>
                <a:cs typeface="Century Schoolbook"/>
              </a:rPr>
              <a:t>CENTRE </a:t>
            </a:r>
            <a:r>
              <a:rPr sz="1600" spc="-10" dirty="0">
                <a:latin typeface="Century Schoolbook"/>
                <a:cs typeface="Century Schoolbook"/>
              </a:rPr>
              <a:t>(</a:t>
            </a:r>
            <a:r>
              <a:rPr sz="1600" u="sng" spc="-10" dirty="0">
                <a:uFill>
                  <a:solidFill>
                    <a:srgbClr val="000000"/>
                  </a:solidFill>
                </a:uFill>
                <a:latin typeface="Century Schoolbook"/>
                <a:cs typeface="Century Schoolbook"/>
              </a:rPr>
              <a:t>numC</a:t>
            </a:r>
            <a:r>
              <a:rPr sz="1600" spc="-10" dirty="0">
                <a:latin typeface="Century Schoolbook"/>
                <a:cs typeface="Century Schoolbook"/>
              </a:rPr>
              <a:t>, </a:t>
            </a:r>
            <a:r>
              <a:rPr sz="1600" spc="-5" dirty="0">
                <a:latin typeface="Century Schoolbook"/>
                <a:cs typeface="Century Schoolbook"/>
              </a:rPr>
              <a:t>villeC, </a:t>
            </a:r>
            <a:r>
              <a:rPr sz="1600" spc="-10" dirty="0">
                <a:latin typeface="Century Schoolbook"/>
                <a:cs typeface="Century Schoolbook"/>
              </a:rPr>
              <a:t>adrC, </a:t>
            </a:r>
            <a:r>
              <a:rPr sz="1600" spc="-5" dirty="0">
                <a:latin typeface="Century Schoolbook"/>
                <a:cs typeface="Century Schoolbook"/>
              </a:rPr>
              <a:t>telC,</a:t>
            </a:r>
            <a:r>
              <a:rPr sz="1600" spc="95" dirty="0">
                <a:latin typeface="Century Schoolbook"/>
                <a:cs typeface="Century Schoolbook"/>
              </a:rPr>
              <a:t> </a:t>
            </a:r>
            <a:r>
              <a:rPr sz="1600" spc="-5" dirty="0">
                <a:latin typeface="Century Schoolbook"/>
                <a:cs typeface="Century Schoolbook"/>
              </a:rPr>
              <a:t>zoneC)</a:t>
            </a:r>
            <a:endParaRPr sz="1600">
              <a:latin typeface="Century Schoolbook"/>
              <a:cs typeface="Century Schoolbook"/>
            </a:endParaRPr>
          </a:p>
          <a:p>
            <a:pPr marL="12700">
              <a:lnSpc>
                <a:spcPct val="100000"/>
              </a:lnSpc>
              <a:spcBef>
                <a:spcPts val="605"/>
              </a:spcBef>
            </a:pPr>
            <a:r>
              <a:rPr sz="1800" spc="-5" dirty="0">
                <a:latin typeface="Century Schoolbook"/>
                <a:cs typeface="Century Schoolbook"/>
              </a:rPr>
              <a:t>avec </a:t>
            </a:r>
            <a:r>
              <a:rPr sz="1800" dirty="0">
                <a:latin typeface="Century Schoolbook"/>
                <a:cs typeface="Century Schoolbook"/>
              </a:rPr>
              <a:t>: zoneC </a:t>
            </a:r>
            <a:r>
              <a:rPr sz="1800" dirty="0">
                <a:latin typeface="Symbol"/>
                <a:cs typeface="Symbol"/>
              </a:rPr>
              <a:t></a:t>
            </a:r>
            <a:r>
              <a:rPr sz="1800" dirty="0">
                <a:latin typeface="Times New Roman"/>
                <a:cs typeface="Times New Roman"/>
              </a:rPr>
              <a:t> </a:t>
            </a:r>
            <a:r>
              <a:rPr sz="1800" dirty="0">
                <a:latin typeface="Century Schoolbook"/>
                <a:cs typeface="Century Schoolbook"/>
              </a:rPr>
              <a:t>{‘Nord’, </a:t>
            </a:r>
            <a:r>
              <a:rPr sz="1800" spc="-5" dirty="0">
                <a:latin typeface="Century Schoolbook"/>
                <a:cs typeface="Century Schoolbook"/>
              </a:rPr>
              <a:t>‘Est’, ‘Sud’ </a:t>
            </a:r>
            <a:r>
              <a:rPr sz="1800" dirty="0">
                <a:latin typeface="Century Schoolbook"/>
                <a:cs typeface="Century Schoolbook"/>
              </a:rPr>
              <a:t>,</a:t>
            </a:r>
            <a:r>
              <a:rPr sz="1800" spc="-35" dirty="0">
                <a:latin typeface="Century Schoolbook"/>
                <a:cs typeface="Century Schoolbook"/>
              </a:rPr>
              <a:t> </a:t>
            </a:r>
            <a:r>
              <a:rPr sz="1800" spc="-5" dirty="0">
                <a:latin typeface="Century Schoolbook"/>
                <a:cs typeface="Century Schoolbook"/>
              </a:rPr>
              <a:t>‘Ouest’}</a:t>
            </a:r>
            <a:endParaRPr sz="1800">
              <a:latin typeface="Century Schoolbook"/>
              <a:cs typeface="Century Schoolbook"/>
            </a:endParaRPr>
          </a:p>
        </p:txBody>
      </p:sp>
      <p:sp>
        <p:nvSpPr>
          <p:cNvPr id="5" name="object 5"/>
          <p:cNvSpPr txBox="1"/>
          <p:nvPr/>
        </p:nvSpPr>
        <p:spPr>
          <a:xfrm>
            <a:off x="493166" y="3709542"/>
            <a:ext cx="1501140" cy="330835"/>
          </a:xfrm>
          <a:prstGeom prst="rect">
            <a:avLst/>
          </a:prstGeom>
        </p:spPr>
        <p:txBody>
          <a:bodyPr vert="horz" wrap="square" lIns="0" tIns="12700" rIns="0" bIns="0" rtlCol="0">
            <a:spAutoFit/>
          </a:bodyPr>
          <a:lstStyle/>
          <a:p>
            <a:pPr marL="38100">
              <a:lnSpc>
                <a:spcPct val="100000"/>
              </a:lnSpc>
              <a:spcBef>
                <a:spcPts val="100"/>
              </a:spcBef>
            </a:pPr>
            <a:r>
              <a:rPr sz="2000" spc="5" dirty="0">
                <a:latin typeface="Courier New"/>
                <a:cs typeface="Courier New"/>
              </a:rPr>
              <a:t>Centre</a:t>
            </a:r>
            <a:r>
              <a:rPr sz="1950" spc="7" baseline="-21367" dirty="0">
                <a:latin typeface="Courier New"/>
                <a:cs typeface="Courier New"/>
              </a:rPr>
              <a:t>Paris</a:t>
            </a:r>
            <a:endParaRPr sz="1950" baseline="-21367">
              <a:latin typeface="Courier New"/>
              <a:cs typeface="Courier New"/>
            </a:endParaRPr>
          </a:p>
        </p:txBody>
      </p:sp>
      <p:sp>
        <p:nvSpPr>
          <p:cNvPr id="6" name="object 6"/>
          <p:cNvSpPr txBox="1"/>
          <p:nvPr/>
        </p:nvSpPr>
        <p:spPr>
          <a:xfrm>
            <a:off x="493166" y="4433696"/>
            <a:ext cx="1399540" cy="330835"/>
          </a:xfrm>
          <a:prstGeom prst="rect">
            <a:avLst/>
          </a:prstGeom>
        </p:spPr>
        <p:txBody>
          <a:bodyPr vert="horz" wrap="square" lIns="0" tIns="12700" rIns="0" bIns="0" rtlCol="0">
            <a:spAutoFit/>
          </a:bodyPr>
          <a:lstStyle/>
          <a:p>
            <a:pPr marL="38100">
              <a:lnSpc>
                <a:spcPct val="100000"/>
              </a:lnSpc>
              <a:spcBef>
                <a:spcPts val="100"/>
              </a:spcBef>
            </a:pPr>
            <a:r>
              <a:rPr sz="2000" spc="5" dirty="0">
                <a:latin typeface="Courier New"/>
                <a:cs typeface="Courier New"/>
              </a:rPr>
              <a:t>Centre</a:t>
            </a:r>
            <a:r>
              <a:rPr sz="1950" spc="7" baseline="-21367" dirty="0">
                <a:latin typeface="Courier New"/>
                <a:cs typeface="Courier New"/>
              </a:rPr>
              <a:t>Lyon</a:t>
            </a:r>
            <a:endParaRPr sz="1950" baseline="-21367">
              <a:latin typeface="Courier New"/>
              <a:cs typeface="Courier New"/>
            </a:endParaRPr>
          </a:p>
        </p:txBody>
      </p:sp>
      <p:sp>
        <p:nvSpPr>
          <p:cNvPr id="7" name="object 7"/>
          <p:cNvSpPr txBox="1"/>
          <p:nvPr/>
        </p:nvSpPr>
        <p:spPr>
          <a:xfrm>
            <a:off x="1966848" y="3414242"/>
            <a:ext cx="3464560" cy="1473835"/>
          </a:xfrm>
          <a:prstGeom prst="rect">
            <a:avLst/>
          </a:prstGeom>
        </p:spPr>
        <p:txBody>
          <a:bodyPr vert="horz" wrap="square" lIns="0" tIns="66040" rIns="0" bIns="0" rtlCol="0">
            <a:spAutoFit/>
          </a:bodyPr>
          <a:lstStyle/>
          <a:p>
            <a:pPr marL="138430">
              <a:lnSpc>
                <a:spcPct val="100000"/>
              </a:lnSpc>
              <a:spcBef>
                <a:spcPts val="520"/>
              </a:spcBef>
            </a:pPr>
            <a:r>
              <a:rPr sz="3000" baseline="13888" dirty="0">
                <a:latin typeface="Courier New"/>
                <a:cs typeface="Courier New"/>
              </a:rPr>
              <a:t>=</a:t>
            </a:r>
            <a:r>
              <a:rPr sz="3000" spc="-7" baseline="13888" dirty="0">
                <a:latin typeface="Courier New"/>
                <a:cs typeface="Courier New"/>
              </a:rPr>
              <a:t> </a:t>
            </a:r>
            <a:r>
              <a:rPr sz="6600" spc="-7" baseline="6313" dirty="0">
                <a:latin typeface="Symbol"/>
                <a:cs typeface="Symbol"/>
              </a:rPr>
              <a:t></a:t>
            </a:r>
            <a:r>
              <a:rPr sz="1300" spc="15" dirty="0">
                <a:latin typeface="Courier New"/>
                <a:cs typeface="Courier New"/>
              </a:rPr>
              <a:t>zoneC</a:t>
            </a:r>
            <a:r>
              <a:rPr sz="1300" dirty="0">
                <a:latin typeface="Courier New"/>
                <a:cs typeface="Courier New"/>
              </a:rPr>
              <a:t> </a:t>
            </a:r>
            <a:r>
              <a:rPr sz="1300" spc="15" dirty="0">
                <a:latin typeface="Courier New"/>
                <a:cs typeface="Courier New"/>
              </a:rPr>
              <a:t>=</a:t>
            </a:r>
            <a:r>
              <a:rPr sz="1300" spc="25" dirty="0">
                <a:latin typeface="Courier New"/>
                <a:cs typeface="Courier New"/>
              </a:rPr>
              <a:t> </a:t>
            </a:r>
            <a:r>
              <a:rPr sz="1300" spc="15" dirty="0">
                <a:latin typeface="Courier New"/>
                <a:cs typeface="Courier New"/>
              </a:rPr>
              <a:t>‘Nord’</a:t>
            </a:r>
            <a:r>
              <a:rPr sz="3000" spc="-7" baseline="13888" dirty="0">
                <a:latin typeface="Courier New"/>
                <a:cs typeface="Courier New"/>
              </a:rPr>
              <a:t>(Centre)</a:t>
            </a:r>
            <a:endParaRPr sz="3000" baseline="13888">
              <a:latin typeface="Courier New"/>
              <a:cs typeface="Courier New"/>
            </a:endParaRPr>
          </a:p>
          <a:p>
            <a:pPr marL="38100">
              <a:lnSpc>
                <a:spcPct val="100000"/>
              </a:lnSpc>
              <a:spcBef>
                <a:spcPts val="420"/>
              </a:spcBef>
            </a:pPr>
            <a:r>
              <a:rPr sz="3000" baseline="13888" dirty="0">
                <a:latin typeface="Courier New"/>
                <a:cs typeface="Courier New"/>
              </a:rPr>
              <a:t>=</a:t>
            </a:r>
            <a:r>
              <a:rPr sz="3000" spc="-7" baseline="13888" dirty="0">
                <a:latin typeface="Courier New"/>
                <a:cs typeface="Courier New"/>
              </a:rPr>
              <a:t> </a:t>
            </a:r>
            <a:r>
              <a:rPr sz="6600" spc="-7" baseline="6313" dirty="0">
                <a:latin typeface="Symbol"/>
                <a:cs typeface="Symbol"/>
              </a:rPr>
              <a:t></a:t>
            </a:r>
            <a:r>
              <a:rPr sz="1300" spc="15" dirty="0">
                <a:latin typeface="Courier New"/>
                <a:cs typeface="Courier New"/>
              </a:rPr>
              <a:t>zoneC</a:t>
            </a:r>
            <a:r>
              <a:rPr sz="1300" dirty="0">
                <a:latin typeface="Courier New"/>
                <a:cs typeface="Courier New"/>
              </a:rPr>
              <a:t> </a:t>
            </a:r>
            <a:r>
              <a:rPr sz="1300" spc="15" dirty="0">
                <a:latin typeface="Courier New"/>
                <a:cs typeface="Courier New"/>
              </a:rPr>
              <a:t>= ‘Est’</a:t>
            </a:r>
            <a:r>
              <a:rPr sz="3000" spc="-7" baseline="13888" dirty="0">
                <a:latin typeface="Courier New"/>
                <a:cs typeface="Courier New"/>
              </a:rPr>
              <a:t>(Centre)</a:t>
            </a:r>
            <a:endParaRPr sz="3000" baseline="13888">
              <a:latin typeface="Courier New"/>
              <a:cs typeface="Courier New"/>
            </a:endParaRPr>
          </a:p>
        </p:txBody>
      </p:sp>
      <p:sp>
        <p:nvSpPr>
          <p:cNvPr id="8" name="object 8"/>
          <p:cNvSpPr txBox="1"/>
          <p:nvPr/>
        </p:nvSpPr>
        <p:spPr>
          <a:xfrm>
            <a:off x="493166" y="4863744"/>
            <a:ext cx="5345430" cy="1474470"/>
          </a:xfrm>
          <a:prstGeom prst="rect">
            <a:avLst/>
          </a:prstGeom>
        </p:spPr>
        <p:txBody>
          <a:bodyPr vert="horz" wrap="square" lIns="0" tIns="12700" rIns="0" bIns="0" rtlCol="0">
            <a:spAutoFit/>
          </a:bodyPr>
          <a:lstStyle/>
          <a:p>
            <a:pPr marL="38100" marR="30480">
              <a:lnSpc>
                <a:spcPct val="108000"/>
              </a:lnSpc>
              <a:spcBef>
                <a:spcPts val="100"/>
              </a:spcBef>
              <a:tabLst>
                <a:tab pos="2019300" algn="l"/>
              </a:tabLst>
            </a:pPr>
            <a:r>
              <a:rPr sz="3000" spc="-7" baseline="13888" dirty="0">
                <a:latin typeface="Courier New"/>
                <a:cs typeface="Courier New"/>
              </a:rPr>
              <a:t>Centre</a:t>
            </a:r>
            <a:r>
              <a:rPr sz="1300" spc="15" dirty="0">
                <a:latin typeface="Courier New"/>
                <a:cs typeface="Courier New"/>
              </a:rPr>
              <a:t>Marseille</a:t>
            </a:r>
            <a:r>
              <a:rPr sz="1300" dirty="0">
                <a:latin typeface="Courier New"/>
                <a:cs typeface="Courier New"/>
              </a:rPr>
              <a:t>	</a:t>
            </a:r>
            <a:r>
              <a:rPr sz="3000" baseline="13888" dirty="0">
                <a:latin typeface="Courier New"/>
                <a:cs typeface="Courier New"/>
              </a:rPr>
              <a:t>=</a:t>
            </a:r>
            <a:r>
              <a:rPr sz="3000" spc="-7" baseline="13888" dirty="0">
                <a:latin typeface="Courier New"/>
                <a:cs typeface="Courier New"/>
              </a:rPr>
              <a:t> </a:t>
            </a:r>
            <a:r>
              <a:rPr sz="6600" spc="-7" baseline="6313" dirty="0">
                <a:latin typeface="Symbol"/>
                <a:cs typeface="Symbol"/>
              </a:rPr>
              <a:t></a:t>
            </a:r>
            <a:r>
              <a:rPr sz="1300" spc="15" dirty="0">
                <a:latin typeface="Courier New"/>
                <a:cs typeface="Courier New"/>
              </a:rPr>
              <a:t>zoneC</a:t>
            </a:r>
            <a:r>
              <a:rPr sz="1300" dirty="0">
                <a:latin typeface="Courier New"/>
                <a:cs typeface="Courier New"/>
              </a:rPr>
              <a:t> </a:t>
            </a:r>
            <a:r>
              <a:rPr sz="1300" spc="15" dirty="0">
                <a:latin typeface="Courier New"/>
                <a:cs typeface="Courier New"/>
              </a:rPr>
              <a:t>= ‘Sud</a:t>
            </a:r>
            <a:r>
              <a:rPr sz="1300" spc="20" dirty="0">
                <a:latin typeface="Courier New"/>
                <a:cs typeface="Courier New"/>
              </a:rPr>
              <a:t>’</a:t>
            </a:r>
            <a:r>
              <a:rPr sz="3000" spc="-7" baseline="13888" dirty="0">
                <a:latin typeface="Courier New"/>
                <a:cs typeface="Courier New"/>
              </a:rPr>
              <a:t>(Centre)  Centre</a:t>
            </a:r>
            <a:r>
              <a:rPr sz="1300" spc="15" dirty="0">
                <a:latin typeface="Courier New"/>
                <a:cs typeface="Courier New"/>
              </a:rPr>
              <a:t>Bordeaux</a:t>
            </a:r>
            <a:r>
              <a:rPr sz="1300" spc="385" dirty="0">
                <a:latin typeface="Courier New"/>
                <a:cs typeface="Courier New"/>
              </a:rPr>
              <a:t> </a:t>
            </a:r>
            <a:r>
              <a:rPr sz="3000" baseline="13888" dirty="0">
                <a:latin typeface="Courier New"/>
                <a:cs typeface="Courier New"/>
              </a:rPr>
              <a:t>= </a:t>
            </a:r>
            <a:r>
              <a:rPr sz="6600" spc="-7" baseline="6313" dirty="0">
                <a:latin typeface="Symbol"/>
                <a:cs typeface="Symbol"/>
              </a:rPr>
              <a:t></a:t>
            </a:r>
            <a:r>
              <a:rPr sz="1300" spc="15" dirty="0">
                <a:latin typeface="Courier New"/>
                <a:cs typeface="Courier New"/>
              </a:rPr>
              <a:t>zoneC</a:t>
            </a:r>
            <a:r>
              <a:rPr sz="1300" dirty="0">
                <a:latin typeface="Courier New"/>
                <a:cs typeface="Courier New"/>
              </a:rPr>
              <a:t> </a:t>
            </a:r>
            <a:r>
              <a:rPr sz="1300" spc="15" dirty="0">
                <a:latin typeface="Courier New"/>
                <a:cs typeface="Courier New"/>
              </a:rPr>
              <a:t>=</a:t>
            </a:r>
            <a:r>
              <a:rPr sz="1300" spc="25" dirty="0">
                <a:latin typeface="Courier New"/>
                <a:cs typeface="Courier New"/>
              </a:rPr>
              <a:t> </a:t>
            </a:r>
            <a:r>
              <a:rPr sz="1300" spc="15" dirty="0">
                <a:latin typeface="Courier New"/>
                <a:cs typeface="Courier New"/>
              </a:rPr>
              <a:t>‘Ouest</a:t>
            </a:r>
            <a:r>
              <a:rPr sz="1300" spc="20" dirty="0">
                <a:latin typeface="Courier New"/>
                <a:cs typeface="Courier New"/>
              </a:rPr>
              <a:t>’</a:t>
            </a:r>
            <a:r>
              <a:rPr sz="3000" spc="-7" baseline="13888" dirty="0">
                <a:latin typeface="Courier New"/>
                <a:cs typeface="Courier New"/>
              </a:rPr>
              <a:t>(Centre)</a:t>
            </a:r>
            <a:endParaRPr sz="3000" baseline="13888">
              <a:latin typeface="Courier New"/>
              <a:cs typeface="Courier New"/>
            </a:endParaRPr>
          </a:p>
        </p:txBody>
      </p:sp>
      <p:sp>
        <p:nvSpPr>
          <p:cNvPr id="9" name="object 9"/>
          <p:cNvSpPr txBox="1"/>
          <p:nvPr/>
        </p:nvSpPr>
        <p:spPr>
          <a:xfrm>
            <a:off x="535940" y="2408936"/>
            <a:ext cx="7573645" cy="989330"/>
          </a:xfrm>
          <a:prstGeom prst="rect">
            <a:avLst/>
          </a:prstGeom>
        </p:spPr>
        <p:txBody>
          <a:bodyPr vert="horz" wrap="square" lIns="0" tIns="12065" rIns="0" bIns="0" rtlCol="0">
            <a:spAutoFit/>
          </a:bodyPr>
          <a:lstStyle/>
          <a:p>
            <a:pPr marL="286385" marR="5080" indent="-274320">
              <a:lnSpc>
                <a:spcPct val="100000"/>
              </a:lnSpc>
              <a:spcBef>
                <a:spcPts val="95"/>
              </a:spcBef>
            </a:pPr>
            <a:r>
              <a:rPr sz="1600" b="1" spc="-5" dirty="0">
                <a:latin typeface="Century Schoolbook"/>
                <a:cs typeface="Century Schoolbook"/>
              </a:rPr>
              <a:t>H1 </a:t>
            </a:r>
            <a:r>
              <a:rPr sz="1600" spc="-5" dirty="0">
                <a:latin typeface="Century Schoolbook"/>
                <a:cs typeface="Century Schoolbook"/>
              </a:rPr>
              <a:t>: Paris </a:t>
            </a:r>
            <a:r>
              <a:rPr sz="1600" spc="-10" dirty="0">
                <a:latin typeface="Century Schoolbook"/>
                <a:cs typeface="Century Schoolbook"/>
              </a:rPr>
              <a:t>gère </a:t>
            </a:r>
            <a:r>
              <a:rPr sz="1600" dirty="0">
                <a:latin typeface="Century Schoolbook"/>
                <a:cs typeface="Century Schoolbook"/>
              </a:rPr>
              <a:t>les </a:t>
            </a:r>
            <a:r>
              <a:rPr sz="1600" spc="-5" dirty="0">
                <a:latin typeface="Century Schoolbook"/>
                <a:cs typeface="Century Schoolbook"/>
              </a:rPr>
              <a:t>centres du nord de la France, Lyon </a:t>
            </a:r>
            <a:r>
              <a:rPr sz="1600" dirty="0">
                <a:latin typeface="Century Schoolbook"/>
                <a:cs typeface="Century Schoolbook"/>
              </a:rPr>
              <a:t>les </a:t>
            </a:r>
            <a:r>
              <a:rPr sz="1600" spc="-5" dirty="0">
                <a:latin typeface="Century Schoolbook"/>
                <a:cs typeface="Century Schoolbook"/>
              </a:rPr>
              <a:t>centres de la zone Est,  Marseille </a:t>
            </a:r>
            <a:r>
              <a:rPr sz="1600" dirty="0">
                <a:latin typeface="Century Schoolbook"/>
                <a:cs typeface="Century Schoolbook"/>
              </a:rPr>
              <a:t>les </a:t>
            </a:r>
            <a:r>
              <a:rPr sz="1600" spc="-5" dirty="0">
                <a:latin typeface="Century Schoolbook"/>
                <a:cs typeface="Century Schoolbook"/>
              </a:rPr>
              <a:t>centres de zone sud et Bordeaux </a:t>
            </a:r>
            <a:r>
              <a:rPr sz="1600" dirty="0">
                <a:latin typeface="Century Schoolbook"/>
                <a:cs typeface="Century Schoolbook"/>
              </a:rPr>
              <a:t>les </a:t>
            </a:r>
            <a:r>
              <a:rPr sz="1600" spc="-5" dirty="0">
                <a:latin typeface="Century Schoolbook"/>
                <a:cs typeface="Century Schoolbook"/>
              </a:rPr>
              <a:t>centres de la zone</a:t>
            </a:r>
            <a:r>
              <a:rPr sz="1600" spc="160" dirty="0">
                <a:latin typeface="Century Schoolbook"/>
                <a:cs typeface="Century Schoolbook"/>
              </a:rPr>
              <a:t> </a:t>
            </a:r>
            <a:r>
              <a:rPr sz="1600" spc="-5" dirty="0">
                <a:latin typeface="Century Schoolbook"/>
                <a:cs typeface="Century Schoolbook"/>
              </a:rPr>
              <a:t>Ouest.</a:t>
            </a:r>
            <a:endParaRPr sz="1600">
              <a:latin typeface="Century Schoolbook"/>
              <a:cs typeface="Century Schoolbook"/>
            </a:endParaRPr>
          </a:p>
          <a:p>
            <a:pPr marL="814705">
              <a:lnSpc>
                <a:spcPct val="100000"/>
              </a:lnSpc>
              <a:spcBef>
                <a:spcPts val="1590"/>
              </a:spcBef>
            </a:pPr>
            <a:r>
              <a:rPr sz="1800" b="1" spc="-5" dirty="0">
                <a:solidFill>
                  <a:srgbClr val="FF0000"/>
                </a:solidFill>
                <a:latin typeface="Century Schoolbook"/>
                <a:cs typeface="Century Schoolbook"/>
              </a:rPr>
              <a:t>FRAGMENTATION </a:t>
            </a:r>
            <a:r>
              <a:rPr sz="1800" b="1" dirty="0">
                <a:solidFill>
                  <a:srgbClr val="FF0000"/>
                </a:solidFill>
                <a:latin typeface="Century Schoolbook"/>
                <a:cs typeface="Century Schoolbook"/>
              </a:rPr>
              <a:t>HORIZONTALE de</a:t>
            </a:r>
            <a:r>
              <a:rPr sz="1800" b="1" spc="-50" dirty="0">
                <a:solidFill>
                  <a:srgbClr val="FF0000"/>
                </a:solidFill>
                <a:latin typeface="Century Schoolbook"/>
                <a:cs typeface="Century Schoolbook"/>
              </a:rPr>
              <a:t> </a:t>
            </a:r>
            <a:r>
              <a:rPr sz="1800" b="1" dirty="0">
                <a:solidFill>
                  <a:srgbClr val="FF0000"/>
                </a:solidFill>
                <a:latin typeface="Century Schoolbook"/>
                <a:cs typeface="Century Schoolbook"/>
              </a:rPr>
              <a:t>CENTRE</a:t>
            </a:r>
            <a:endParaRPr sz="1800">
              <a:latin typeface="Century Schoolbook"/>
              <a:cs typeface="Century Schoolbook"/>
            </a:endParaRPr>
          </a:p>
        </p:txBody>
      </p:sp>
      <p:sp>
        <p:nvSpPr>
          <p:cNvPr id="10" name="object 10"/>
          <p:cNvSpPr txBox="1">
            <a:spLocks noGrp="1"/>
          </p:cNvSpPr>
          <p:nvPr>
            <p:ph type="title"/>
          </p:nvPr>
        </p:nvSpPr>
        <p:spPr>
          <a:xfrm>
            <a:off x="258267" y="459104"/>
            <a:ext cx="8512175" cy="482600"/>
          </a:xfrm>
          <a:prstGeom prst="rect">
            <a:avLst/>
          </a:prstGeom>
        </p:spPr>
        <p:txBody>
          <a:bodyPr vert="horz" wrap="square" lIns="0" tIns="12700" rIns="0" bIns="0" rtlCol="0">
            <a:spAutoFit/>
          </a:bodyPr>
          <a:lstStyle/>
          <a:p>
            <a:pPr marL="12700">
              <a:lnSpc>
                <a:spcPct val="100000"/>
              </a:lnSpc>
              <a:spcBef>
                <a:spcPts val="100"/>
              </a:spcBef>
            </a:pPr>
            <a:r>
              <a:rPr spc="-5" dirty="0" smtClean="0"/>
              <a:t>FRAGMENTATION </a:t>
            </a:r>
            <a:r>
              <a:rPr spc="-5" dirty="0"/>
              <a:t>ORIENTÉE</a:t>
            </a:r>
            <a:r>
              <a:rPr spc="20" dirty="0"/>
              <a:t> </a:t>
            </a:r>
            <a:r>
              <a:rPr dirty="0"/>
              <a:t>DONNÉE</a:t>
            </a:r>
            <a:endParaRPr sz="3000" dirty="0"/>
          </a:p>
        </p:txBody>
      </p:sp>
      <p:sp>
        <p:nvSpPr>
          <p:cNvPr id="11" name="Espace réservé du numéro de diapositive 10"/>
          <p:cNvSpPr>
            <a:spLocks noGrp="1"/>
          </p:cNvSpPr>
          <p:nvPr>
            <p:ph type="sldNum" sz="quarter" idx="15"/>
          </p:nvPr>
        </p:nvSpPr>
        <p:spPr/>
        <p:txBody>
          <a:bodyPr/>
          <a:lstStyle/>
          <a:p>
            <a:fld id="{F1AAE0E6-1385-44E0-8EAE-F204D7E7A5E9}" type="slidenum">
              <a:rPr lang="fr-FR" smtClean="0"/>
              <a:pPr/>
              <a:t>25</a:t>
            </a:fld>
            <a:endParaRPr lang="fr-F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901700" y="1387602"/>
            <a:ext cx="4132579"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Century Schoolbook"/>
                <a:cs typeface="Century Schoolbook"/>
              </a:rPr>
              <a:t>ETUDIANT </a:t>
            </a:r>
            <a:r>
              <a:rPr sz="1600" spc="-10" dirty="0">
                <a:latin typeface="Century Schoolbook"/>
                <a:cs typeface="Century Schoolbook"/>
              </a:rPr>
              <a:t>(</a:t>
            </a:r>
            <a:r>
              <a:rPr sz="1600" u="sng" spc="-10" dirty="0">
                <a:uFill>
                  <a:solidFill>
                    <a:srgbClr val="000000"/>
                  </a:solidFill>
                </a:uFill>
                <a:latin typeface="Century Schoolbook"/>
                <a:cs typeface="Century Schoolbook"/>
              </a:rPr>
              <a:t>numE</a:t>
            </a:r>
            <a:r>
              <a:rPr sz="1600" spc="-10" dirty="0">
                <a:latin typeface="Century Schoolbook"/>
                <a:cs typeface="Century Schoolbook"/>
              </a:rPr>
              <a:t>, </a:t>
            </a:r>
            <a:r>
              <a:rPr sz="1600" spc="-5" dirty="0">
                <a:latin typeface="Century Schoolbook"/>
                <a:cs typeface="Century Schoolbook"/>
              </a:rPr>
              <a:t>nomE, </a:t>
            </a:r>
            <a:r>
              <a:rPr sz="1600" spc="-10" dirty="0">
                <a:latin typeface="Century Schoolbook"/>
                <a:cs typeface="Century Schoolbook"/>
              </a:rPr>
              <a:t>pnomE,</a:t>
            </a:r>
            <a:r>
              <a:rPr sz="1600" spc="90" dirty="0">
                <a:latin typeface="Century Schoolbook"/>
                <a:cs typeface="Century Schoolbook"/>
              </a:rPr>
              <a:t> </a:t>
            </a:r>
            <a:r>
              <a:rPr sz="1600" spc="-10" dirty="0">
                <a:latin typeface="Century Schoolbook"/>
                <a:cs typeface="Century Schoolbook"/>
              </a:rPr>
              <a:t>numC)</a:t>
            </a:r>
            <a:endParaRPr sz="1600">
              <a:latin typeface="Century Schoolbook"/>
              <a:cs typeface="Century Schoolbook"/>
            </a:endParaRPr>
          </a:p>
        </p:txBody>
      </p:sp>
      <p:sp>
        <p:nvSpPr>
          <p:cNvPr id="5" name="object 5"/>
          <p:cNvSpPr txBox="1"/>
          <p:nvPr/>
        </p:nvSpPr>
        <p:spPr>
          <a:xfrm>
            <a:off x="408228" y="3508375"/>
            <a:ext cx="3493770" cy="330835"/>
          </a:xfrm>
          <a:prstGeom prst="rect">
            <a:avLst/>
          </a:prstGeom>
        </p:spPr>
        <p:txBody>
          <a:bodyPr vert="horz" wrap="square" lIns="0" tIns="13335" rIns="0" bIns="0" rtlCol="0">
            <a:spAutoFit/>
          </a:bodyPr>
          <a:lstStyle/>
          <a:p>
            <a:pPr marL="50800">
              <a:lnSpc>
                <a:spcPct val="100000"/>
              </a:lnSpc>
              <a:spcBef>
                <a:spcPts val="105"/>
              </a:spcBef>
              <a:tabLst>
                <a:tab pos="1931670" algn="l"/>
              </a:tabLst>
            </a:pPr>
            <a:r>
              <a:rPr sz="2000" spc="5" dirty="0">
                <a:latin typeface="Courier New"/>
                <a:cs typeface="Courier New"/>
              </a:rPr>
              <a:t>Etudiant</a:t>
            </a:r>
            <a:r>
              <a:rPr sz="1950" spc="7" baseline="-21367" dirty="0">
                <a:latin typeface="Courier New"/>
                <a:cs typeface="Courier New"/>
              </a:rPr>
              <a:t>Paris	</a:t>
            </a:r>
            <a:r>
              <a:rPr sz="2000" dirty="0">
                <a:latin typeface="Courier New"/>
                <a:cs typeface="Courier New"/>
              </a:rPr>
              <a:t>=</a:t>
            </a:r>
            <a:r>
              <a:rPr sz="2000" spc="-55" dirty="0">
                <a:latin typeface="Courier New"/>
                <a:cs typeface="Courier New"/>
              </a:rPr>
              <a:t> </a:t>
            </a:r>
            <a:r>
              <a:rPr sz="2000" spc="-10" dirty="0">
                <a:latin typeface="Courier New"/>
                <a:cs typeface="Courier New"/>
              </a:rPr>
              <a:t>Etudiant</a:t>
            </a:r>
            <a:endParaRPr sz="2000">
              <a:latin typeface="Courier New"/>
              <a:cs typeface="Courier New"/>
            </a:endParaRPr>
          </a:p>
        </p:txBody>
      </p:sp>
      <p:sp>
        <p:nvSpPr>
          <p:cNvPr id="6" name="object 6"/>
          <p:cNvSpPr txBox="1"/>
          <p:nvPr/>
        </p:nvSpPr>
        <p:spPr>
          <a:xfrm>
            <a:off x="4891404" y="3508375"/>
            <a:ext cx="1499235" cy="330835"/>
          </a:xfrm>
          <a:prstGeom prst="rect">
            <a:avLst/>
          </a:prstGeom>
        </p:spPr>
        <p:txBody>
          <a:bodyPr vert="horz" wrap="square" lIns="0" tIns="13335" rIns="0" bIns="0" rtlCol="0">
            <a:spAutoFit/>
          </a:bodyPr>
          <a:lstStyle/>
          <a:p>
            <a:pPr marL="38100">
              <a:lnSpc>
                <a:spcPct val="100000"/>
              </a:lnSpc>
              <a:spcBef>
                <a:spcPts val="105"/>
              </a:spcBef>
            </a:pPr>
            <a:r>
              <a:rPr sz="2000" spc="5" dirty="0">
                <a:latin typeface="Courier New"/>
                <a:cs typeface="Courier New"/>
              </a:rPr>
              <a:t>Centre</a:t>
            </a:r>
            <a:r>
              <a:rPr sz="1950" spc="7" baseline="-21367" dirty="0">
                <a:latin typeface="Courier New"/>
                <a:cs typeface="Courier New"/>
              </a:rPr>
              <a:t>Paris</a:t>
            </a:r>
            <a:endParaRPr sz="1950" baseline="-21367">
              <a:latin typeface="Courier New"/>
              <a:cs typeface="Courier New"/>
            </a:endParaRPr>
          </a:p>
        </p:txBody>
      </p:sp>
      <p:sp>
        <p:nvSpPr>
          <p:cNvPr id="7" name="object 7"/>
          <p:cNvSpPr txBox="1"/>
          <p:nvPr/>
        </p:nvSpPr>
        <p:spPr>
          <a:xfrm>
            <a:off x="408228" y="4363339"/>
            <a:ext cx="3391535" cy="330835"/>
          </a:xfrm>
          <a:prstGeom prst="rect">
            <a:avLst/>
          </a:prstGeom>
        </p:spPr>
        <p:txBody>
          <a:bodyPr vert="horz" wrap="square" lIns="0" tIns="12700" rIns="0" bIns="0" rtlCol="0">
            <a:spAutoFit/>
          </a:bodyPr>
          <a:lstStyle/>
          <a:p>
            <a:pPr marL="50800">
              <a:lnSpc>
                <a:spcPct val="100000"/>
              </a:lnSpc>
              <a:spcBef>
                <a:spcPts val="100"/>
              </a:spcBef>
              <a:tabLst>
                <a:tab pos="1829435" algn="l"/>
              </a:tabLst>
            </a:pPr>
            <a:r>
              <a:rPr sz="2000" dirty="0">
                <a:latin typeface="Courier New"/>
                <a:cs typeface="Courier New"/>
              </a:rPr>
              <a:t>Etudiant</a:t>
            </a:r>
            <a:r>
              <a:rPr sz="1950" baseline="-21367" dirty="0">
                <a:latin typeface="Courier New"/>
                <a:cs typeface="Courier New"/>
              </a:rPr>
              <a:t>Lyon	</a:t>
            </a:r>
            <a:r>
              <a:rPr sz="2000" dirty="0">
                <a:latin typeface="Courier New"/>
                <a:cs typeface="Courier New"/>
              </a:rPr>
              <a:t>=</a:t>
            </a:r>
            <a:r>
              <a:rPr sz="2000" spc="-70" dirty="0">
                <a:latin typeface="Courier New"/>
                <a:cs typeface="Courier New"/>
              </a:rPr>
              <a:t> </a:t>
            </a:r>
            <a:r>
              <a:rPr sz="2000" spc="-5" dirty="0">
                <a:latin typeface="Courier New"/>
                <a:cs typeface="Courier New"/>
              </a:rPr>
              <a:t>Etudiant</a:t>
            </a:r>
            <a:endParaRPr sz="2000">
              <a:latin typeface="Courier New"/>
              <a:cs typeface="Courier New"/>
            </a:endParaRPr>
          </a:p>
        </p:txBody>
      </p:sp>
      <p:sp>
        <p:nvSpPr>
          <p:cNvPr id="8" name="object 8"/>
          <p:cNvSpPr txBox="1"/>
          <p:nvPr/>
        </p:nvSpPr>
        <p:spPr>
          <a:xfrm>
            <a:off x="4790821" y="4363339"/>
            <a:ext cx="1399540" cy="330835"/>
          </a:xfrm>
          <a:prstGeom prst="rect">
            <a:avLst/>
          </a:prstGeom>
        </p:spPr>
        <p:txBody>
          <a:bodyPr vert="horz" wrap="square" lIns="0" tIns="12700" rIns="0" bIns="0" rtlCol="0">
            <a:spAutoFit/>
          </a:bodyPr>
          <a:lstStyle/>
          <a:p>
            <a:pPr marL="38100">
              <a:lnSpc>
                <a:spcPct val="100000"/>
              </a:lnSpc>
              <a:spcBef>
                <a:spcPts val="100"/>
              </a:spcBef>
            </a:pPr>
            <a:r>
              <a:rPr sz="2000" spc="5" dirty="0">
                <a:latin typeface="Courier New"/>
                <a:cs typeface="Courier New"/>
              </a:rPr>
              <a:t>Centre</a:t>
            </a:r>
            <a:r>
              <a:rPr sz="1950" spc="7" baseline="-21367" dirty="0">
                <a:latin typeface="Courier New"/>
                <a:cs typeface="Courier New"/>
              </a:rPr>
              <a:t>Lyon</a:t>
            </a:r>
            <a:endParaRPr sz="1950" baseline="-21367">
              <a:latin typeface="Courier New"/>
              <a:cs typeface="Courier New"/>
            </a:endParaRPr>
          </a:p>
        </p:txBody>
      </p:sp>
      <p:sp>
        <p:nvSpPr>
          <p:cNvPr id="9" name="object 9"/>
          <p:cNvSpPr txBox="1"/>
          <p:nvPr/>
        </p:nvSpPr>
        <p:spPr>
          <a:xfrm>
            <a:off x="420928" y="5282565"/>
            <a:ext cx="2211070" cy="330835"/>
          </a:xfrm>
          <a:prstGeom prst="rect">
            <a:avLst/>
          </a:prstGeom>
        </p:spPr>
        <p:txBody>
          <a:bodyPr vert="horz" wrap="square" lIns="0" tIns="12700" rIns="0" bIns="0" rtlCol="0">
            <a:spAutoFit/>
          </a:bodyPr>
          <a:lstStyle/>
          <a:p>
            <a:pPr marL="38100">
              <a:lnSpc>
                <a:spcPct val="100000"/>
              </a:lnSpc>
              <a:spcBef>
                <a:spcPts val="100"/>
              </a:spcBef>
            </a:pPr>
            <a:r>
              <a:rPr sz="3000" spc="7" baseline="13888" dirty="0">
                <a:latin typeface="Courier New"/>
                <a:cs typeface="Courier New"/>
              </a:rPr>
              <a:t>Etudiant</a:t>
            </a:r>
            <a:r>
              <a:rPr sz="1300" spc="5" dirty="0">
                <a:latin typeface="Courier New"/>
                <a:cs typeface="Courier New"/>
              </a:rPr>
              <a:t>Marseille</a:t>
            </a:r>
            <a:endParaRPr sz="1300">
              <a:latin typeface="Courier New"/>
              <a:cs typeface="Courier New"/>
            </a:endParaRPr>
          </a:p>
        </p:txBody>
      </p:sp>
      <p:sp>
        <p:nvSpPr>
          <p:cNvPr id="10" name="object 10"/>
          <p:cNvSpPr txBox="1"/>
          <p:nvPr/>
        </p:nvSpPr>
        <p:spPr>
          <a:xfrm>
            <a:off x="2734182" y="5220080"/>
            <a:ext cx="1548765"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Courier New"/>
                <a:cs typeface="Courier New"/>
              </a:rPr>
              <a:t>=</a:t>
            </a:r>
            <a:r>
              <a:rPr sz="2000" spc="-65" dirty="0">
                <a:latin typeface="Courier New"/>
                <a:cs typeface="Courier New"/>
              </a:rPr>
              <a:t> </a:t>
            </a:r>
            <a:r>
              <a:rPr sz="2000" spc="-10" dirty="0">
                <a:latin typeface="Courier New"/>
                <a:cs typeface="Courier New"/>
              </a:rPr>
              <a:t>Etudiant</a:t>
            </a:r>
            <a:endParaRPr sz="2000">
              <a:latin typeface="Courier New"/>
              <a:cs typeface="Courier New"/>
            </a:endParaRPr>
          </a:p>
        </p:txBody>
      </p:sp>
      <p:sp>
        <p:nvSpPr>
          <p:cNvPr id="11" name="object 11"/>
          <p:cNvSpPr txBox="1"/>
          <p:nvPr/>
        </p:nvSpPr>
        <p:spPr>
          <a:xfrm>
            <a:off x="5297742" y="5282565"/>
            <a:ext cx="1906905" cy="330835"/>
          </a:xfrm>
          <a:prstGeom prst="rect">
            <a:avLst/>
          </a:prstGeom>
        </p:spPr>
        <p:txBody>
          <a:bodyPr vert="horz" wrap="square" lIns="0" tIns="12700" rIns="0" bIns="0" rtlCol="0">
            <a:spAutoFit/>
          </a:bodyPr>
          <a:lstStyle/>
          <a:p>
            <a:pPr marL="38100">
              <a:lnSpc>
                <a:spcPct val="100000"/>
              </a:lnSpc>
              <a:spcBef>
                <a:spcPts val="100"/>
              </a:spcBef>
            </a:pPr>
            <a:r>
              <a:rPr sz="3000" spc="7" baseline="13888" dirty="0">
                <a:latin typeface="Courier New"/>
                <a:cs typeface="Courier New"/>
              </a:rPr>
              <a:t>Centre</a:t>
            </a:r>
            <a:r>
              <a:rPr sz="1300" spc="5" dirty="0">
                <a:latin typeface="Courier New"/>
                <a:cs typeface="Courier New"/>
              </a:rPr>
              <a:t>Marseille</a:t>
            </a:r>
            <a:endParaRPr sz="1300">
              <a:latin typeface="Courier New"/>
              <a:cs typeface="Courier New"/>
            </a:endParaRPr>
          </a:p>
        </p:txBody>
      </p:sp>
      <p:sp>
        <p:nvSpPr>
          <p:cNvPr id="12" name="object 12"/>
          <p:cNvSpPr txBox="1"/>
          <p:nvPr/>
        </p:nvSpPr>
        <p:spPr>
          <a:xfrm>
            <a:off x="408228" y="5878474"/>
            <a:ext cx="3799840" cy="330835"/>
          </a:xfrm>
          <a:prstGeom prst="rect">
            <a:avLst/>
          </a:prstGeom>
        </p:spPr>
        <p:txBody>
          <a:bodyPr vert="horz" wrap="square" lIns="0" tIns="12700" rIns="0" bIns="0" rtlCol="0">
            <a:spAutoFit/>
          </a:bodyPr>
          <a:lstStyle/>
          <a:p>
            <a:pPr marL="50800">
              <a:lnSpc>
                <a:spcPct val="100000"/>
              </a:lnSpc>
              <a:spcBef>
                <a:spcPts val="100"/>
              </a:spcBef>
              <a:tabLst>
                <a:tab pos="2236470" algn="l"/>
              </a:tabLst>
            </a:pPr>
            <a:r>
              <a:rPr sz="2000" spc="5" dirty="0">
                <a:latin typeface="Courier New"/>
                <a:cs typeface="Courier New"/>
              </a:rPr>
              <a:t>Etudiant</a:t>
            </a:r>
            <a:r>
              <a:rPr sz="1950" spc="7" baseline="-21367" dirty="0">
                <a:latin typeface="Courier New"/>
                <a:cs typeface="Courier New"/>
              </a:rPr>
              <a:t>Bordeaux	</a:t>
            </a:r>
            <a:r>
              <a:rPr sz="2000" dirty="0">
                <a:latin typeface="Courier New"/>
                <a:cs typeface="Courier New"/>
              </a:rPr>
              <a:t>=</a:t>
            </a:r>
            <a:r>
              <a:rPr sz="2000" spc="-75" dirty="0">
                <a:latin typeface="Courier New"/>
                <a:cs typeface="Courier New"/>
              </a:rPr>
              <a:t> </a:t>
            </a:r>
            <a:r>
              <a:rPr sz="2000" spc="-5" dirty="0">
                <a:latin typeface="Courier New"/>
                <a:cs typeface="Courier New"/>
              </a:rPr>
              <a:t>Etudiant</a:t>
            </a:r>
            <a:endParaRPr sz="2000">
              <a:latin typeface="Courier New"/>
              <a:cs typeface="Courier New"/>
            </a:endParaRPr>
          </a:p>
        </p:txBody>
      </p:sp>
      <p:sp>
        <p:nvSpPr>
          <p:cNvPr id="13" name="object 13"/>
          <p:cNvSpPr txBox="1"/>
          <p:nvPr/>
        </p:nvSpPr>
        <p:spPr>
          <a:xfrm>
            <a:off x="5200395" y="5940958"/>
            <a:ext cx="1800225" cy="330835"/>
          </a:xfrm>
          <a:prstGeom prst="rect">
            <a:avLst/>
          </a:prstGeom>
        </p:spPr>
        <p:txBody>
          <a:bodyPr vert="horz" wrap="square" lIns="0" tIns="12700" rIns="0" bIns="0" rtlCol="0">
            <a:spAutoFit/>
          </a:bodyPr>
          <a:lstStyle/>
          <a:p>
            <a:pPr marL="38100">
              <a:lnSpc>
                <a:spcPct val="100000"/>
              </a:lnSpc>
              <a:spcBef>
                <a:spcPts val="100"/>
              </a:spcBef>
            </a:pPr>
            <a:r>
              <a:rPr sz="3000" spc="7" baseline="13888" dirty="0">
                <a:latin typeface="Courier New"/>
                <a:cs typeface="Courier New"/>
              </a:rPr>
              <a:t>Centre</a:t>
            </a:r>
            <a:r>
              <a:rPr sz="1300" spc="5" dirty="0">
                <a:latin typeface="Courier New"/>
                <a:cs typeface="Courier New"/>
              </a:rPr>
              <a:t>Bordeaux</a:t>
            </a:r>
            <a:endParaRPr sz="1300">
              <a:latin typeface="Courier New"/>
              <a:cs typeface="Courier New"/>
            </a:endParaRPr>
          </a:p>
        </p:txBody>
      </p:sp>
      <p:sp>
        <p:nvSpPr>
          <p:cNvPr id="14" name="object 14"/>
          <p:cNvSpPr/>
          <p:nvPr/>
        </p:nvSpPr>
        <p:spPr>
          <a:xfrm>
            <a:off x="3994403" y="3558540"/>
            <a:ext cx="0" cy="312420"/>
          </a:xfrm>
          <a:custGeom>
            <a:avLst/>
            <a:gdLst/>
            <a:ahLst/>
            <a:cxnLst/>
            <a:rect l="l" t="t" r="r" b="b"/>
            <a:pathLst>
              <a:path h="312420">
                <a:moveTo>
                  <a:pt x="0" y="0"/>
                </a:moveTo>
                <a:lnTo>
                  <a:pt x="0" y="312420"/>
                </a:lnTo>
              </a:path>
            </a:pathLst>
          </a:custGeom>
          <a:ln w="9144">
            <a:solidFill>
              <a:srgbClr val="000000"/>
            </a:solidFill>
          </a:ln>
        </p:spPr>
        <p:txBody>
          <a:bodyPr wrap="square" lIns="0" tIns="0" rIns="0" bIns="0" rtlCol="0"/>
          <a:lstStyle/>
          <a:p>
            <a:endParaRPr/>
          </a:p>
        </p:txBody>
      </p:sp>
      <p:sp>
        <p:nvSpPr>
          <p:cNvPr id="15" name="object 15"/>
          <p:cNvSpPr/>
          <p:nvPr/>
        </p:nvSpPr>
        <p:spPr>
          <a:xfrm>
            <a:off x="3988308" y="3561588"/>
            <a:ext cx="828040" cy="334010"/>
          </a:xfrm>
          <a:custGeom>
            <a:avLst/>
            <a:gdLst/>
            <a:ahLst/>
            <a:cxnLst/>
            <a:rect l="l" t="t" r="r" b="b"/>
            <a:pathLst>
              <a:path w="828039" h="334010">
                <a:moveTo>
                  <a:pt x="0" y="0"/>
                </a:moveTo>
                <a:lnTo>
                  <a:pt x="827531" y="333756"/>
                </a:lnTo>
              </a:path>
            </a:pathLst>
          </a:custGeom>
          <a:ln w="9144">
            <a:solidFill>
              <a:srgbClr val="000000"/>
            </a:solidFill>
          </a:ln>
        </p:spPr>
        <p:txBody>
          <a:bodyPr wrap="square" lIns="0" tIns="0" rIns="0" bIns="0" rtlCol="0"/>
          <a:lstStyle/>
          <a:p>
            <a:endParaRPr/>
          </a:p>
        </p:txBody>
      </p:sp>
      <p:sp>
        <p:nvSpPr>
          <p:cNvPr id="16" name="object 16"/>
          <p:cNvSpPr/>
          <p:nvPr/>
        </p:nvSpPr>
        <p:spPr>
          <a:xfrm>
            <a:off x="3995928" y="3558540"/>
            <a:ext cx="828040" cy="334010"/>
          </a:xfrm>
          <a:custGeom>
            <a:avLst/>
            <a:gdLst/>
            <a:ahLst/>
            <a:cxnLst/>
            <a:rect l="l" t="t" r="r" b="b"/>
            <a:pathLst>
              <a:path w="828039" h="334010">
                <a:moveTo>
                  <a:pt x="827532" y="0"/>
                </a:moveTo>
                <a:lnTo>
                  <a:pt x="0" y="333756"/>
                </a:lnTo>
              </a:path>
            </a:pathLst>
          </a:custGeom>
          <a:ln w="9144">
            <a:solidFill>
              <a:srgbClr val="000000"/>
            </a:solidFill>
          </a:ln>
        </p:spPr>
        <p:txBody>
          <a:bodyPr wrap="square" lIns="0" tIns="0" rIns="0" bIns="0" rtlCol="0"/>
          <a:lstStyle/>
          <a:p>
            <a:endParaRPr/>
          </a:p>
        </p:txBody>
      </p:sp>
      <p:sp>
        <p:nvSpPr>
          <p:cNvPr id="17" name="object 17"/>
          <p:cNvSpPr/>
          <p:nvPr/>
        </p:nvSpPr>
        <p:spPr>
          <a:xfrm>
            <a:off x="3922776" y="4422647"/>
            <a:ext cx="0" cy="312420"/>
          </a:xfrm>
          <a:custGeom>
            <a:avLst/>
            <a:gdLst/>
            <a:ahLst/>
            <a:cxnLst/>
            <a:rect l="l" t="t" r="r" b="b"/>
            <a:pathLst>
              <a:path h="312420">
                <a:moveTo>
                  <a:pt x="0" y="0"/>
                </a:moveTo>
                <a:lnTo>
                  <a:pt x="0" y="312419"/>
                </a:lnTo>
              </a:path>
            </a:pathLst>
          </a:custGeom>
          <a:ln w="9144">
            <a:solidFill>
              <a:srgbClr val="000000"/>
            </a:solidFill>
          </a:ln>
        </p:spPr>
        <p:txBody>
          <a:bodyPr wrap="square" lIns="0" tIns="0" rIns="0" bIns="0" rtlCol="0"/>
          <a:lstStyle/>
          <a:p>
            <a:endParaRPr/>
          </a:p>
        </p:txBody>
      </p:sp>
      <p:sp>
        <p:nvSpPr>
          <p:cNvPr id="18" name="object 18"/>
          <p:cNvSpPr/>
          <p:nvPr/>
        </p:nvSpPr>
        <p:spPr>
          <a:xfrm>
            <a:off x="3916679" y="4425696"/>
            <a:ext cx="826135" cy="334010"/>
          </a:xfrm>
          <a:custGeom>
            <a:avLst/>
            <a:gdLst/>
            <a:ahLst/>
            <a:cxnLst/>
            <a:rect l="l" t="t" r="r" b="b"/>
            <a:pathLst>
              <a:path w="826135" h="334010">
                <a:moveTo>
                  <a:pt x="0" y="0"/>
                </a:moveTo>
                <a:lnTo>
                  <a:pt x="826008" y="333755"/>
                </a:lnTo>
              </a:path>
            </a:pathLst>
          </a:custGeom>
          <a:ln w="9144">
            <a:solidFill>
              <a:srgbClr val="000000"/>
            </a:solidFill>
          </a:ln>
        </p:spPr>
        <p:txBody>
          <a:bodyPr wrap="square" lIns="0" tIns="0" rIns="0" bIns="0" rtlCol="0"/>
          <a:lstStyle/>
          <a:p>
            <a:endParaRPr/>
          </a:p>
        </p:txBody>
      </p:sp>
      <p:sp>
        <p:nvSpPr>
          <p:cNvPr id="19" name="object 19"/>
          <p:cNvSpPr/>
          <p:nvPr/>
        </p:nvSpPr>
        <p:spPr>
          <a:xfrm>
            <a:off x="3924300" y="4422647"/>
            <a:ext cx="826135" cy="334010"/>
          </a:xfrm>
          <a:custGeom>
            <a:avLst/>
            <a:gdLst/>
            <a:ahLst/>
            <a:cxnLst/>
            <a:rect l="l" t="t" r="r" b="b"/>
            <a:pathLst>
              <a:path w="826135" h="334010">
                <a:moveTo>
                  <a:pt x="826008" y="0"/>
                </a:moveTo>
                <a:lnTo>
                  <a:pt x="0" y="333756"/>
                </a:lnTo>
              </a:path>
            </a:pathLst>
          </a:custGeom>
          <a:ln w="9144">
            <a:solidFill>
              <a:srgbClr val="000000"/>
            </a:solidFill>
          </a:ln>
        </p:spPr>
        <p:txBody>
          <a:bodyPr wrap="square" lIns="0" tIns="0" rIns="0" bIns="0" rtlCol="0"/>
          <a:lstStyle/>
          <a:p>
            <a:endParaRPr/>
          </a:p>
        </p:txBody>
      </p:sp>
      <p:sp>
        <p:nvSpPr>
          <p:cNvPr id="20" name="object 20"/>
          <p:cNvSpPr/>
          <p:nvPr/>
        </p:nvSpPr>
        <p:spPr>
          <a:xfrm>
            <a:off x="4354067" y="5215128"/>
            <a:ext cx="0" cy="312420"/>
          </a:xfrm>
          <a:custGeom>
            <a:avLst/>
            <a:gdLst/>
            <a:ahLst/>
            <a:cxnLst/>
            <a:rect l="l" t="t" r="r" b="b"/>
            <a:pathLst>
              <a:path h="312420">
                <a:moveTo>
                  <a:pt x="0" y="0"/>
                </a:moveTo>
                <a:lnTo>
                  <a:pt x="0" y="312420"/>
                </a:lnTo>
              </a:path>
            </a:pathLst>
          </a:custGeom>
          <a:ln w="9144">
            <a:solidFill>
              <a:srgbClr val="000000"/>
            </a:solidFill>
          </a:ln>
        </p:spPr>
        <p:txBody>
          <a:bodyPr wrap="square" lIns="0" tIns="0" rIns="0" bIns="0" rtlCol="0"/>
          <a:lstStyle/>
          <a:p>
            <a:endParaRPr/>
          </a:p>
        </p:txBody>
      </p:sp>
      <p:sp>
        <p:nvSpPr>
          <p:cNvPr id="21" name="object 21"/>
          <p:cNvSpPr/>
          <p:nvPr/>
        </p:nvSpPr>
        <p:spPr>
          <a:xfrm>
            <a:off x="4347971" y="5218176"/>
            <a:ext cx="828040" cy="334010"/>
          </a:xfrm>
          <a:custGeom>
            <a:avLst/>
            <a:gdLst/>
            <a:ahLst/>
            <a:cxnLst/>
            <a:rect l="l" t="t" r="r" b="b"/>
            <a:pathLst>
              <a:path w="828039" h="334010">
                <a:moveTo>
                  <a:pt x="0" y="0"/>
                </a:moveTo>
                <a:lnTo>
                  <a:pt x="827531" y="333756"/>
                </a:lnTo>
              </a:path>
            </a:pathLst>
          </a:custGeom>
          <a:ln w="9144">
            <a:solidFill>
              <a:srgbClr val="000000"/>
            </a:solidFill>
          </a:ln>
        </p:spPr>
        <p:txBody>
          <a:bodyPr wrap="square" lIns="0" tIns="0" rIns="0" bIns="0" rtlCol="0"/>
          <a:lstStyle/>
          <a:p>
            <a:endParaRPr/>
          </a:p>
        </p:txBody>
      </p:sp>
      <p:sp>
        <p:nvSpPr>
          <p:cNvPr id="22" name="object 22"/>
          <p:cNvSpPr/>
          <p:nvPr/>
        </p:nvSpPr>
        <p:spPr>
          <a:xfrm>
            <a:off x="4355591" y="5215128"/>
            <a:ext cx="828040" cy="334010"/>
          </a:xfrm>
          <a:custGeom>
            <a:avLst/>
            <a:gdLst/>
            <a:ahLst/>
            <a:cxnLst/>
            <a:rect l="l" t="t" r="r" b="b"/>
            <a:pathLst>
              <a:path w="828039" h="334010">
                <a:moveTo>
                  <a:pt x="827532" y="0"/>
                </a:moveTo>
                <a:lnTo>
                  <a:pt x="0" y="333756"/>
                </a:lnTo>
              </a:path>
            </a:pathLst>
          </a:custGeom>
          <a:ln w="9144">
            <a:solidFill>
              <a:srgbClr val="000000"/>
            </a:solidFill>
          </a:ln>
        </p:spPr>
        <p:txBody>
          <a:bodyPr wrap="square" lIns="0" tIns="0" rIns="0" bIns="0" rtlCol="0"/>
          <a:lstStyle/>
          <a:p>
            <a:endParaRPr/>
          </a:p>
        </p:txBody>
      </p:sp>
      <p:sp>
        <p:nvSpPr>
          <p:cNvPr id="23" name="object 23"/>
          <p:cNvSpPr/>
          <p:nvPr/>
        </p:nvSpPr>
        <p:spPr>
          <a:xfrm>
            <a:off x="4282440" y="5934455"/>
            <a:ext cx="0" cy="314325"/>
          </a:xfrm>
          <a:custGeom>
            <a:avLst/>
            <a:gdLst/>
            <a:ahLst/>
            <a:cxnLst/>
            <a:rect l="l" t="t" r="r" b="b"/>
            <a:pathLst>
              <a:path h="314325">
                <a:moveTo>
                  <a:pt x="0" y="0"/>
                </a:moveTo>
                <a:lnTo>
                  <a:pt x="0" y="313944"/>
                </a:lnTo>
              </a:path>
            </a:pathLst>
          </a:custGeom>
          <a:ln w="9144">
            <a:solidFill>
              <a:srgbClr val="000000"/>
            </a:solidFill>
          </a:ln>
        </p:spPr>
        <p:txBody>
          <a:bodyPr wrap="square" lIns="0" tIns="0" rIns="0" bIns="0" rtlCol="0"/>
          <a:lstStyle/>
          <a:p>
            <a:endParaRPr/>
          </a:p>
        </p:txBody>
      </p:sp>
      <p:sp>
        <p:nvSpPr>
          <p:cNvPr id="24" name="object 24"/>
          <p:cNvSpPr/>
          <p:nvPr/>
        </p:nvSpPr>
        <p:spPr>
          <a:xfrm>
            <a:off x="4276344" y="5939028"/>
            <a:ext cx="828040" cy="332740"/>
          </a:xfrm>
          <a:custGeom>
            <a:avLst/>
            <a:gdLst/>
            <a:ahLst/>
            <a:cxnLst/>
            <a:rect l="l" t="t" r="r" b="b"/>
            <a:pathLst>
              <a:path w="828039" h="332739">
                <a:moveTo>
                  <a:pt x="0" y="0"/>
                </a:moveTo>
                <a:lnTo>
                  <a:pt x="827531" y="332232"/>
                </a:lnTo>
              </a:path>
            </a:pathLst>
          </a:custGeom>
          <a:ln w="9144">
            <a:solidFill>
              <a:srgbClr val="000000"/>
            </a:solidFill>
          </a:ln>
        </p:spPr>
        <p:txBody>
          <a:bodyPr wrap="square" lIns="0" tIns="0" rIns="0" bIns="0" rtlCol="0"/>
          <a:lstStyle/>
          <a:p>
            <a:endParaRPr/>
          </a:p>
        </p:txBody>
      </p:sp>
      <p:sp>
        <p:nvSpPr>
          <p:cNvPr id="25" name="object 25"/>
          <p:cNvSpPr/>
          <p:nvPr/>
        </p:nvSpPr>
        <p:spPr>
          <a:xfrm>
            <a:off x="4283964" y="5934455"/>
            <a:ext cx="828040" cy="334010"/>
          </a:xfrm>
          <a:custGeom>
            <a:avLst/>
            <a:gdLst/>
            <a:ahLst/>
            <a:cxnLst/>
            <a:rect l="l" t="t" r="r" b="b"/>
            <a:pathLst>
              <a:path w="828039" h="334010">
                <a:moveTo>
                  <a:pt x="827532" y="0"/>
                </a:moveTo>
                <a:lnTo>
                  <a:pt x="0" y="333756"/>
                </a:lnTo>
              </a:path>
            </a:pathLst>
          </a:custGeom>
          <a:ln w="9144">
            <a:solidFill>
              <a:srgbClr val="000000"/>
            </a:solidFill>
          </a:ln>
        </p:spPr>
        <p:txBody>
          <a:bodyPr wrap="square" lIns="0" tIns="0" rIns="0" bIns="0" rtlCol="0"/>
          <a:lstStyle/>
          <a:p>
            <a:endParaRPr/>
          </a:p>
        </p:txBody>
      </p:sp>
      <p:sp>
        <p:nvSpPr>
          <p:cNvPr id="26" name="object 26"/>
          <p:cNvSpPr txBox="1"/>
          <p:nvPr/>
        </p:nvSpPr>
        <p:spPr>
          <a:xfrm>
            <a:off x="4075303" y="3805554"/>
            <a:ext cx="529590"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Century Schoolbook"/>
                <a:cs typeface="Century Schoolbook"/>
              </a:rPr>
              <a:t>nu</a:t>
            </a:r>
            <a:r>
              <a:rPr sz="1400" spc="-5" dirty="0">
                <a:latin typeface="Century Schoolbook"/>
                <a:cs typeface="Century Schoolbook"/>
              </a:rPr>
              <a:t>mC</a:t>
            </a:r>
            <a:endParaRPr sz="1400">
              <a:latin typeface="Century Schoolbook"/>
              <a:cs typeface="Century Schoolbook"/>
            </a:endParaRPr>
          </a:p>
        </p:txBody>
      </p:sp>
      <p:sp>
        <p:nvSpPr>
          <p:cNvPr id="27" name="object 27"/>
          <p:cNvSpPr txBox="1"/>
          <p:nvPr/>
        </p:nvSpPr>
        <p:spPr>
          <a:xfrm>
            <a:off x="4075303" y="4669916"/>
            <a:ext cx="529590"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Century Schoolbook"/>
                <a:cs typeface="Century Schoolbook"/>
              </a:rPr>
              <a:t>nu</a:t>
            </a:r>
            <a:r>
              <a:rPr sz="1400" spc="-5" dirty="0">
                <a:latin typeface="Century Schoolbook"/>
                <a:cs typeface="Century Schoolbook"/>
              </a:rPr>
              <a:t>mC</a:t>
            </a:r>
            <a:endParaRPr sz="1400">
              <a:latin typeface="Century Schoolbook"/>
              <a:cs typeface="Century Schoolbook"/>
            </a:endParaRPr>
          </a:p>
        </p:txBody>
      </p:sp>
      <p:sp>
        <p:nvSpPr>
          <p:cNvPr id="28" name="object 28"/>
          <p:cNvSpPr txBox="1"/>
          <p:nvPr/>
        </p:nvSpPr>
        <p:spPr>
          <a:xfrm>
            <a:off x="4507484" y="5442305"/>
            <a:ext cx="529590"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Century Schoolbook"/>
                <a:cs typeface="Century Schoolbook"/>
              </a:rPr>
              <a:t>nu</a:t>
            </a:r>
            <a:r>
              <a:rPr sz="1400" spc="-5" dirty="0">
                <a:latin typeface="Century Schoolbook"/>
                <a:cs typeface="Century Schoolbook"/>
              </a:rPr>
              <a:t>mC</a:t>
            </a:r>
            <a:endParaRPr sz="1400">
              <a:latin typeface="Century Schoolbook"/>
              <a:cs typeface="Century Schoolbook"/>
            </a:endParaRPr>
          </a:p>
        </p:txBody>
      </p:sp>
      <p:sp>
        <p:nvSpPr>
          <p:cNvPr id="29" name="object 29"/>
          <p:cNvSpPr txBox="1"/>
          <p:nvPr/>
        </p:nvSpPr>
        <p:spPr>
          <a:xfrm>
            <a:off x="4363339" y="6182359"/>
            <a:ext cx="529590"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Century Schoolbook"/>
                <a:cs typeface="Century Schoolbook"/>
              </a:rPr>
              <a:t>nu</a:t>
            </a:r>
            <a:r>
              <a:rPr sz="1400" spc="-5" dirty="0">
                <a:latin typeface="Century Schoolbook"/>
                <a:cs typeface="Century Schoolbook"/>
              </a:rPr>
              <a:t>mC</a:t>
            </a:r>
            <a:endParaRPr sz="1400">
              <a:latin typeface="Century Schoolbook"/>
              <a:cs typeface="Century Schoolbook"/>
            </a:endParaRPr>
          </a:p>
        </p:txBody>
      </p:sp>
      <p:sp>
        <p:nvSpPr>
          <p:cNvPr id="30" name="object 30"/>
          <p:cNvSpPr txBox="1"/>
          <p:nvPr/>
        </p:nvSpPr>
        <p:spPr>
          <a:xfrm>
            <a:off x="618540" y="2179091"/>
            <a:ext cx="7782559" cy="685165"/>
          </a:xfrm>
          <a:prstGeom prst="rect">
            <a:avLst/>
          </a:prstGeom>
        </p:spPr>
        <p:txBody>
          <a:bodyPr vert="horz" wrap="square" lIns="0" tIns="98425" rIns="0" bIns="0" rtlCol="0">
            <a:spAutoFit/>
          </a:bodyPr>
          <a:lstStyle/>
          <a:p>
            <a:pPr marL="295275">
              <a:lnSpc>
                <a:spcPct val="100000"/>
              </a:lnSpc>
              <a:spcBef>
                <a:spcPts val="775"/>
              </a:spcBef>
            </a:pPr>
            <a:r>
              <a:rPr sz="1600" b="1" spc="-5" dirty="0">
                <a:latin typeface="Century Schoolbook"/>
                <a:cs typeface="Century Schoolbook"/>
              </a:rPr>
              <a:t>H2 </a:t>
            </a:r>
            <a:r>
              <a:rPr sz="1600" spc="-5" dirty="0">
                <a:latin typeface="Century Schoolbook"/>
                <a:cs typeface="Century Schoolbook"/>
              </a:rPr>
              <a:t>: </a:t>
            </a:r>
            <a:r>
              <a:rPr sz="1600" spc="-10" dirty="0">
                <a:latin typeface="Century Schoolbook"/>
                <a:cs typeface="Century Schoolbook"/>
              </a:rPr>
              <a:t>Chaque </a:t>
            </a:r>
            <a:r>
              <a:rPr sz="1600" spc="-5" dirty="0">
                <a:latin typeface="Century Schoolbook"/>
                <a:cs typeface="Century Schoolbook"/>
              </a:rPr>
              <a:t>centre gère ses</a:t>
            </a:r>
            <a:r>
              <a:rPr sz="1600" spc="75" dirty="0">
                <a:latin typeface="Century Schoolbook"/>
                <a:cs typeface="Century Schoolbook"/>
              </a:rPr>
              <a:t> </a:t>
            </a:r>
            <a:r>
              <a:rPr sz="1600" spc="-10" dirty="0">
                <a:latin typeface="Century Schoolbook"/>
                <a:cs typeface="Century Schoolbook"/>
              </a:rPr>
              <a:t>étudiants</a:t>
            </a:r>
            <a:endParaRPr sz="1600">
              <a:latin typeface="Century Schoolbook"/>
              <a:cs typeface="Century Schoolbook"/>
            </a:endParaRPr>
          </a:p>
          <a:p>
            <a:pPr marL="12700">
              <a:lnSpc>
                <a:spcPct val="100000"/>
              </a:lnSpc>
              <a:spcBef>
                <a:spcPts val="680"/>
              </a:spcBef>
            </a:pPr>
            <a:r>
              <a:rPr sz="1600" b="1" spc="-5" dirty="0">
                <a:solidFill>
                  <a:srgbClr val="FF0000"/>
                </a:solidFill>
                <a:latin typeface="Century Schoolbook"/>
                <a:cs typeface="Century Schoolbook"/>
              </a:rPr>
              <a:t>FRAGMENTATION HORIZONTALE de ETUDIANT DERIVEE de</a:t>
            </a:r>
            <a:r>
              <a:rPr sz="1600" b="1" spc="120" dirty="0">
                <a:solidFill>
                  <a:srgbClr val="FF0000"/>
                </a:solidFill>
                <a:latin typeface="Century Schoolbook"/>
                <a:cs typeface="Century Schoolbook"/>
              </a:rPr>
              <a:t> </a:t>
            </a:r>
            <a:r>
              <a:rPr sz="1600" b="1" spc="-5" dirty="0">
                <a:solidFill>
                  <a:srgbClr val="FF0000"/>
                </a:solidFill>
                <a:latin typeface="Century Schoolbook"/>
                <a:cs typeface="Century Schoolbook"/>
              </a:rPr>
              <a:t>CENTRE</a:t>
            </a:r>
            <a:endParaRPr sz="1600">
              <a:latin typeface="Century Schoolbook"/>
              <a:cs typeface="Century Schoolbook"/>
            </a:endParaRPr>
          </a:p>
        </p:txBody>
      </p:sp>
      <p:sp>
        <p:nvSpPr>
          <p:cNvPr id="31" name="object 31"/>
          <p:cNvSpPr txBox="1">
            <a:spLocks noGrp="1"/>
          </p:cNvSpPr>
          <p:nvPr>
            <p:ph type="title"/>
          </p:nvPr>
        </p:nvSpPr>
        <p:spPr>
          <a:xfrm>
            <a:off x="258267" y="5550"/>
            <a:ext cx="8512175" cy="936154"/>
          </a:xfrm>
          <a:prstGeom prst="rect">
            <a:avLst/>
          </a:prstGeom>
        </p:spPr>
        <p:txBody>
          <a:bodyPr vert="horz" wrap="square" lIns="0" tIns="12700" rIns="0" bIns="0" rtlCol="0">
            <a:spAutoFit/>
          </a:bodyPr>
          <a:lstStyle/>
          <a:p>
            <a:pPr marL="12700">
              <a:lnSpc>
                <a:spcPct val="100000"/>
              </a:lnSpc>
              <a:spcBef>
                <a:spcPts val="100"/>
              </a:spcBef>
            </a:pPr>
            <a:r>
              <a:rPr sz="3000" spc="-5" dirty="0"/>
              <a:t>E</a:t>
            </a:r>
            <a:r>
              <a:rPr spc="-5" dirty="0"/>
              <a:t>XEMPLE </a:t>
            </a:r>
            <a:r>
              <a:rPr dirty="0"/>
              <a:t>DE </a:t>
            </a:r>
            <a:r>
              <a:rPr spc="-5" dirty="0"/>
              <a:t>FRAGMENTATION ORIENTÉE</a:t>
            </a:r>
            <a:r>
              <a:rPr spc="20" dirty="0"/>
              <a:t> </a:t>
            </a:r>
            <a:r>
              <a:rPr dirty="0" smtClean="0"/>
              <a:t>DONNÉE</a:t>
            </a:r>
            <a:r>
              <a:rPr lang="fr-FR" dirty="0" smtClean="0"/>
              <a:t>S</a:t>
            </a:r>
            <a:endParaRPr sz="3000" dirty="0"/>
          </a:p>
        </p:txBody>
      </p:sp>
      <p:sp>
        <p:nvSpPr>
          <p:cNvPr id="32" name="Espace réservé du numéro de diapositive 31"/>
          <p:cNvSpPr>
            <a:spLocks noGrp="1"/>
          </p:cNvSpPr>
          <p:nvPr>
            <p:ph type="sldNum" sz="quarter" idx="15"/>
          </p:nvPr>
        </p:nvSpPr>
        <p:spPr/>
        <p:txBody>
          <a:bodyPr/>
          <a:lstStyle/>
          <a:p>
            <a:fld id="{F1AAE0E6-1385-44E0-8EAE-F204D7E7A5E9}" type="slidenum">
              <a:rPr lang="fr-FR" smtClean="0"/>
              <a:pPr/>
              <a:t>26</a:t>
            </a:fld>
            <a:endParaRPr lang="fr-F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object 3"/>
          <p:cNvSpPr txBox="1"/>
          <p:nvPr/>
        </p:nvSpPr>
        <p:spPr>
          <a:xfrm>
            <a:off x="8209280" y="5897371"/>
            <a:ext cx="473075" cy="186690"/>
          </a:xfrm>
          <a:prstGeom prst="rect">
            <a:avLst/>
          </a:prstGeom>
        </p:spPr>
        <p:txBody>
          <a:bodyPr vert="horz" wrap="square" lIns="0" tIns="13335" rIns="0" bIns="0" rtlCol="0">
            <a:spAutoFit/>
          </a:bodyPr>
          <a:lstStyle/>
          <a:p>
            <a:pPr marL="12700">
              <a:lnSpc>
                <a:spcPct val="100000"/>
              </a:lnSpc>
              <a:spcBef>
                <a:spcPts val="105"/>
              </a:spcBef>
            </a:pPr>
            <a:r>
              <a:rPr sz="1050" spc="5" dirty="0">
                <a:solidFill>
                  <a:srgbClr val="FFFFFF"/>
                </a:solidFill>
                <a:latin typeface="Arial Black"/>
                <a:cs typeface="Arial Black"/>
              </a:rPr>
              <a:t>M</a:t>
            </a:r>
            <a:r>
              <a:rPr sz="1050" spc="-5" dirty="0">
                <a:solidFill>
                  <a:srgbClr val="FFFFFF"/>
                </a:solidFill>
                <a:latin typeface="Arial Black"/>
                <a:cs typeface="Arial Black"/>
              </a:rPr>
              <a:t>I</a:t>
            </a:r>
            <a:r>
              <a:rPr sz="1050" dirty="0">
                <a:solidFill>
                  <a:srgbClr val="FFFFFF"/>
                </a:solidFill>
                <a:latin typeface="Arial Black"/>
                <a:cs typeface="Arial Black"/>
              </a:rPr>
              <a:t>F37</a:t>
            </a:r>
            <a:endParaRPr sz="1050">
              <a:latin typeface="Arial Black"/>
              <a:cs typeface="Arial Black"/>
            </a:endParaRPr>
          </a:p>
        </p:txBody>
      </p:sp>
      <p:sp>
        <p:nvSpPr>
          <p:cNvPr id="4" name="object 4"/>
          <p:cNvSpPr txBox="1"/>
          <p:nvPr/>
        </p:nvSpPr>
        <p:spPr>
          <a:xfrm>
            <a:off x="901700" y="1387602"/>
            <a:ext cx="357314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Century Schoolbook"/>
                <a:cs typeface="Century Schoolbook"/>
              </a:rPr>
              <a:t>VACATAIRE </a:t>
            </a:r>
            <a:r>
              <a:rPr sz="1600" spc="-10" dirty="0">
                <a:latin typeface="Century Schoolbook"/>
                <a:cs typeface="Century Schoolbook"/>
              </a:rPr>
              <a:t>(</a:t>
            </a:r>
            <a:r>
              <a:rPr sz="1600" u="sng" spc="-10" dirty="0">
                <a:uFill>
                  <a:solidFill>
                    <a:srgbClr val="000000"/>
                  </a:solidFill>
                </a:uFill>
                <a:latin typeface="Century Schoolbook"/>
                <a:cs typeface="Century Schoolbook"/>
              </a:rPr>
              <a:t>numV</a:t>
            </a:r>
            <a:r>
              <a:rPr sz="1600" spc="-10" dirty="0">
                <a:latin typeface="Century Schoolbook"/>
                <a:cs typeface="Century Schoolbook"/>
              </a:rPr>
              <a:t>, </a:t>
            </a:r>
            <a:r>
              <a:rPr sz="1600" spc="-5" dirty="0">
                <a:latin typeface="Century Schoolbook"/>
                <a:cs typeface="Century Schoolbook"/>
              </a:rPr>
              <a:t>nomV,</a:t>
            </a:r>
            <a:r>
              <a:rPr sz="1600" spc="35" dirty="0">
                <a:latin typeface="Century Schoolbook"/>
                <a:cs typeface="Century Schoolbook"/>
              </a:rPr>
              <a:t> </a:t>
            </a:r>
            <a:r>
              <a:rPr sz="1600" spc="-10" dirty="0">
                <a:latin typeface="Century Schoolbook"/>
                <a:cs typeface="Century Schoolbook"/>
              </a:rPr>
              <a:t>pnomV)</a:t>
            </a:r>
            <a:endParaRPr sz="1600">
              <a:latin typeface="Century Schoolbook"/>
              <a:cs typeface="Century Schoolbook"/>
            </a:endParaRPr>
          </a:p>
        </p:txBody>
      </p:sp>
      <p:sp>
        <p:nvSpPr>
          <p:cNvPr id="5" name="object 5"/>
          <p:cNvSpPr txBox="1"/>
          <p:nvPr/>
        </p:nvSpPr>
        <p:spPr>
          <a:xfrm>
            <a:off x="901700" y="1973072"/>
            <a:ext cx="620966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Century Schoolbook"/>
                <a:cs typeface="Century Schoolbook"/>
              </a:rPr>
              <a:t>H3 </a:t>
            </a:r>
            <a:r>
              <a:rPr sz="1600" spc="-5" dirty="0">
                <a:latin typeface="Century Schoolbook"/>
                <a:cs typeface="Century Schoolbook"/>
              </a:rPr>
              <a:t>: Les vacataires </a:t>
            </a:r>
            <a:r>
              <a:rPr sz="1600" spc="-10" dirty="0">
                <a:latin typeface="Century Schoolbook"/>
                <a:cs typeface="Century Schoolbook"/>
              </a:rPr>
              <a:t>délivrent des </a:t>
            </a:r>
            <a:r>
              <a:rPr sz="1600" spc="-5" dirty="0">
                <a:latin typeface="Century Schoolbook"/>
                <a:cs typeface="Century Schoolbook"/>
              </a:rPr>
              <a:t>formations </a:t>
            </a:r>
            <a:r>
              <a:rPr sz="1600" spc="-10" dirty="0">
                <a:latin typeface="Century Schoolbook"/>
                <a:cs typeface="Century Schoolbook"/>
              </a:rPr>
              <a:t>dans </a:t>
            </a:r>
            <a:r>
              <a:rPr sz="1600" spc="-5" dirty="0">
                <a:latin typeface="Century Schoolbook"/>
                <a:cs typeface="Century Schoolbook"/>
              </a:rPr>
              <a:t>tous </a:t>
            </a:r>
            <a:r>
              <a:rPr sz="1600" dirty="0">
                <a:latin typeface="Century Schoolbook"/>
                <a:cs typeface="Century Schoolbook"/>
              </a:rPr>
              <a:t>les</a:t>
            </a:r>
            <a:r>
              <a:rPr sz="1600" spc="190" dirty="0">
                <a:latin typeface="Century Schoolbook"/>
                <a:cs typeface="Century Schoolbook"/>
              </a:rPr>
              <a:t> </a:t>
            </a:r>
            <a:r>
              <a:rPr sz="1600" spc="-5" dirty="0">
                <a:latin typeface="Century Schoolbook"/>
                <a:cs typeface="Century Schoolbook"/>
              </a:rPr>
              <a:t>centres</a:t>
            </a:r>
            <a:endParaRPr sz="1600">
              <a:latin typeface="Century Schoolbook"/>
              <a:cs typeface="Century Schoolbook"/>
            </a:endParaRPr>
          </a:p>
        </p:txBody>
      </p:sp>
      <p:sp>
        <p:nvSpPr>
          <p:cNvPr id="6" name="object 6"/>
          <p:cNvSpPr txBox="1"/>
          <p:nvPr/>
        </p:nvSpPr>
        <p:spPr>
          <a:xfrm>
            <a:off x="959205" y="2449829"/>
            <a:ext cx="4008754" cy="1372870"/>
          </a:xfrm>
          <a:prstGeom prst="rect">
            <a:avLst/>
          </a:prstGeom>
        </p:spPr>
        <p:txBody>
          <a:bodyPr vert="horz" wrap="square" lIns="0" tIns="12700" rIns="0" bIns="0" rtlCol="0">
            <a:spAutoFit/>
          </a:bodyPr>
          <a:lstStyle/>
          <a:p>
            <a:pPr marL="247650">
              <a:lnSpc>
                <a:spcPct val="100000"/>
              </a:lnSpc>
              <a:spcBef>
                <a:spcPts val="100"/>
              </a:spcBef>
            </a:pPr>
            <a:r>
              <a:rPr sz="1800" b="1" spc="-5" dirty="0">
                <a:solidFill>
                  <a:srgbClr val="FF0000"/>
                </a:solidFill>
                <a:latin typeface="Century Schoolbook"/>
                <a:cs typeface="Century Schoolbook"/>
              </a:rPr>
              <a:t>REPLICATION </a:t>
            </a:r>
            <a:r>
              <a:rPr sz="1800" b="1" dirty="0">
                <a:solidFill>
                  <a:srgbClr val="FF0000"/>
                </a:solidFill>
                <a:latin typeface="Century Schoolbook"/>
                <a:cs typeface="Century Schoolbook"/>
              </a:rPr>
              <a:t>de</a:t>
            </a:r>
            <a:r>
              <a:rPr sz="1800" b="1" spc="-50" dirty="0">
                <a:solidFill>
                  <a:srgbClr val="FF0000"/>
                </a:solidFill>
                <a:latin typeface="Century Schoolbook"/>
                <a:cs typeface="Century Schoolbook"/>
              </a:rPr>
              <a:t> </a:t>
            </a:r>
            <a:r>
              <a:rPr sz="1800" b="1" spc="-5" dirty="0">
                <a:solidFill>
                  <a:srgbClr val="FF0000"/>
                </a:solidFill>
                <a:latin typeface="Century Schoolbook"/>
                <a:cs typeface="Century Schoolbook"/>
              </a:rPr>
              <a:t>VACATAIRE</a:t>
            </a:r>
            <a:endParaRPr sz="1800">
              <a:latin typeface="Century Schoolbook"/>
              <a:cs typeface="Century Schoolbook"/>
            </a:endParaRPr>
          </a:p>
          <a:p>
            <a:pPr>
              <a:lnSpc>
                <a:spcPct val="100000"/>
              </a:lnSpc>
              <a:spcBef>
                <a:spcPts val="40"/>
              </a:spcBef>
            </a:pPr>
            <a:endParaRPr sz="2800">
              <a:latin typeface="Times New Roman"/>
              <a:cs typeface="Times New Roman"/>
            </a:endParaRPr>
          </a:p>
          <a:p>
            <a:pPr marL="76200" marR="214629">
              <a:lnSpc>
                <a:spcPct val="108000"/>
              </a:lnSpc>
              <a:tabLst>
                <a:tab pos="2008505" algn="l"/>
                <a:tab pos="2110740" algn="l"/>
              </a:tabLst>
            </a:pPr>
            <a:r>
              <a:rPr sz="2000" spc="5" dirty="0">
                <a:latin typeface="Courier New"/>
                <a:cs typeface="Courier New"/>
              </a:rPr>
              <a:t>Vacataire</a:t>
            </a:r>
            <a:r>
              <a:rPr sz="1950" spc="7" baseline="-21367" dirty="0">
                <a:latin typeface="Courier New"/>
                <a:cs typeface="Courier New"/>
              </a:rPr>
              <a:t>Paris		</a:t>
            </a:r>
            <a:r>
              <a:rPr sz="2000" dirty="0">
                <a:latin typeface="Courier New"/>
                <a:cs typeface="Courier New"/>
              </a:rPr>
              <a:t>=</a:t>
            </a:r>
            <a:r>
              <a:rPr sz="2000" spc="-60" dirty="0">
                <a:latin typeface="Courier New"/>
                <a:cs typeface="Courier New"/>
              </a:rPr>
              <a:t> </a:t>
            </a:r>
            <a:r>
              <a:rPr sz="2000" spc="-10" dirty="0">
                <a:latin typeface="Courier New"/>
                <a:cs typeface="Courier New"/>
              </a:rPr>
              <a:t>Vacataire  </a:t>
            </a:r>
            <a:r>
              <a:rPr sz="2000" dirty="0">
                <a:latin typeface="Courier New"/>
                <a:cs typeface="Courier New"/>
              </a:rPr>
              <a:t>Vacataire</a:t>
            </a:r>
            <a:r>
              <a:rPr sz="1950" baseline="-21367" dirty="0">
                <a:latin typeface="Courier New"/>
                <a:cs typeface="Courier New"/>
              </a:rPr>
              <a:t>Lyon	</a:t>
            </a:r>
            <a:r>
              <a:rPr sz="2000" dirty="0">
                <a:latin typeface="Courier New"/>
                <a:cs typeface="Courier New"/>
              </a:rPr>
              <a:t>=</a:t>
            </a:r>
            <a:r>
              <a:rPr sz="2000" spc="-55" dirty="0">
                <a:latin typeface="Courier New"/>
                <a:cs typeface="Courier New"/>
              </a:rPr>
              <a:t> </a:t>
            </a:r>
            <a:r>
              <a:rPr sz="2000" spc="-5" dirty="0">
                <a:latin typeface="Courier New"/>
                <a:cs typeface="Courier New"/>
              </a:rPr>
              <a:t>Vacataire</a:t>
            </a:r>
            <a:endParaRPr sz="2000">
              <a:latin typeface="Courier New"/>
              <a:cs typeface="Courier New"/>
            </a:endParaRPr>
          </a:p>
        </p:txBody>
      </p:sp>
      <p:sp>
        <p:nvSpPr>
          <p:cNvPr id="7" name="object 7"/>
          <p:cNvSpPr txBox="1"/>
          <p:nvPr/>
        </p:nvSpPr>
        <p:spPr>
          <a:xfrm>
            <a:off x="971905" y="3797353"/>
            <a:ext cx="4229735" cy="683895"/>
          </a:xfrm>
          <a:prstGeom prst="rect">
            <a:avLst/>
          </a:prstGeom>
        </p:spPr>
        <p:txBody>
          <a:bodyPr vert="horz" wrap="square" lIns="0" tIns="36195" rIns="0" bIns="0" rtlCol="0">
            <a:spAutoFit/>
          </a:bodyPr>
          <a:lstStyle/>
          <a:p>
            <a:pPr marL="63500">
              <a:lnSpc>
                <a:spcPct val="100000"/>
              </a:lnSpc>
              <a:spcBef>
                <a:spcPts val="285"/>
              </a:spcBef>
              <a:tabLst>
                <a:tab pos="2503170" algn="l"/>
              </a:tabLst>
            </a:pPr>
            <a:r>
              <a:rPr sz="2000" spc="5" dirty="0">
                <a:latin typeface="Courier New"/>
                <a:cs typeface="Courier New"/>
              </a:rPr>
              <a:t>Vacataire</a:t>
            </a:r>
            <a:r>
              <a:rPr sz="1950" spc="7" baseline="-21367" dirty="0">
                <a:latin typeface="Courier New"/>
                <a:cs typeface="Courier New"/>
              </a:rPr>
              <a:t>Marseille	</a:t>
            </a:r>
            <a:r>
              <a:rPr sz="2000" dirty="0">
                <a:latin typeface="Courier New"/>
                <a:cs typeface="Courier New"/>
              </a:rPr>
              <a:t>=</a:t>
            </a:r>
            <a:r>
              <a:rPr sz="2000" spc="-45" dirty="0">
                <a:latin typeface="Courier New"/>
                <a:cs typeface="Courier New"/>
              </a:rPr>
              <a:t> </a:t>
            </a:r>
            <a:r>
              <a:rPr sz="2000" spc="-10" dirty="0">
                <a:latin typeface="Courier New"/>
                <a:cs typeface="Courier New"/>
              </a:rPr>
              <a:t>Vacataire</a:t>
            </a:r>
            <a:endParaRPr sz="2000">
              <a:latin typeface="Courier New"/>
              <a:cs typeface="Courier New"/>
            </a:endParaRPr>
          </a:p>
          <a:p>
            <a:pPr marL="63500">
              <a:lnSpc>
                <a:spcPct val="100000"/>
              </a:lnSpc>
              <a:spcBef>
                <a:spcPts val="195"/>
              </a:spcBef>
              <a:tabLst>
                <a:tab pos="2402840" algn="l"/>
              </a:tabLst>
            </a:pPr>
            <a:r>
              <a:rPr sz="2000" spc="5" dirty="0">
                <a:latin typeface="Courier New"/>
                <a:cs typeface="Courier New"/>
              </a:rPr>
              <a:t>Vacataire</a:t>
            </a:r>
            <a:r>
              <a:rPr sz="1950" spc="7" baseline="-21367" dirty="0">
                <a:latin typeface="Courier New"/>
                <a:cs typeface="Courier New"/>
              </a:rPr>
              <a:t>Bordeaux	</a:t>
            </a:r>
            <a:r>
              <a:rPr sz="2000" dirty="0">
                <a:latin typeface="Courier New"/>
                <a:cs typeface="Courier New"/>
              </a:rPr>
              <a:t>=</a:t>
            </a:r>
            <a:r>
              <a:rPr sz="2000" spc="-55" dirty="0">
                <a:latin typeface="Courier New"/>
                <a:cs typeface="Courier New"/>
              </a:rPr>
              <a:t> </a:t>
            </a:r>
            <a:r>
              <a:rPr sz="2000" spc="-5" dirty="0">
                <a:latin typeface="Courier New"/>
                <a:cs typeface="Courier New"/>
              </a:rPr>
              <a:t>Vacataire</a:t>
            </a:r>
            <a:endParaRPr sz="2000">
              <a:latin typeface="Courier New"/>
              <a:cs typeface="Courier New"/>
            </a:endParaRPr>
          </a:p>
        </p:txBody>
      </p:sp>
      <p:sp>
        <p:nvSpPr>
          <p:cNvPr id="8" name="object 8"/>
          <p:cNvSpPr txBox="1">
            <a:spLocks noGrp="1"/>
          </p:cNvSpPr>
          <p:nvPr>
            <p:ph type="title"/>
          </p:nvPr>
        </p:nvSpPr>
        <p:spPr>
          <a:xfrm>
            <a:off x="258267" y="459104"/>
            <a:ext cx="8512175" cy="482600"/>
          </a:xfrm>
          <a:prstGeom prst="rect">
            <a:avLst/>
          </a:prstGeom>
        </p:spPr>
        <p:txBody>
          <a:bodyPr vert="horz" wrap="square" lIns="0" tIns="12700" rIns="0" bIns="0" rtlCol="0">
            <a:spAutoFit/>
          </a:bodyPr>
          <a:lstStyle/>
          <a:p>
            <a:pPr marL="12700">
              <a:lnSpc>
                <a:spcPct val="100000"/>
              </a:lnSpc>
              <a:spcBef>
                <a:spcPts val="100"/>
              </a:spcBef>
            </a:pPr>
            <a:r>
              <a:rPr sz="3000" spc="-5" dirty="0"/>
              <a:t>E</a:t>
            </a:r>
            <a:r>
              <a:rPr spc="-5" dirty="0"/>
              <a:t>XEMPLE </a:t>
            </a:r>
            <a:r>
              <a:rPr dirty="0"/>
              <a:t>DE </a:t>
            </a:r>
            <a:r>
              <a:rPr spc="-5" dirty="0"/>
              <a:t>FRAGMENTATION ORIENTÉE</a:t>
            </a:r>
            <a:r>
              <a:rPr spc="20" dirty="0"/>
              <a:t> </a:t>
            </a:r>
            <a:r>
              <a:rPr dirty="0"/>
              <a:t>DONNÉE</a:t>
            </a:r>
            <a:endParaRPr sz="3000"/>
          </a:p>
        </p:txBody>
      </p:sp>
      <p:sp>
        <p:nvSpPr>
          <p:cNvPr id="9" name="Espace réservé du numéro de diapositive 8"/>
          <p:cNvSpPr>
            <a:spLocks noGrp="1"/>
          </p:cNvSpPr>
          <p:nvPr>
            <p:ph type="sldNum" sz="quarter" idx="15"/>
          </p:nvPr>
        </p:nvSpPr>
        <p:spPr/>
        <p:txBody>
          <a:bodyPr/>
          <a:lstStyle/>
          <a:p>
            <a:fld id="{F1AAE0E6-1385-44E0-8EAE-F204D7E7A5E9}" type="slidenum">
              <a:rPr lang="fr-FR" smtClean="0"/>
              <a:pPr/>
              <a:t>27</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object 3"/>
          <p:cNvSpPr/>
          <p:nvPr/>
        </p:nvSpPr>
        <p:spPr>
          <a:xfrm>
            <a:off x="87783" y="0"/>
            <a:ext cx="0" cy="6858000"/>
          </a:xfrm>
          <a:custGeom>
            <a:avLst/>
            <a:gdLst/>
            <a:ahLst/>
            <a:cxnLst/>
            <a:rect l="l" t="t" r="r" b="b"/>
            <a:pathLst>
              <a:path h="6858000">
                <a:moveTo>
                  <a:pt x="0" y="0"/>
                </a:moveTo>
                <a:lnTo>
                  <a:pt x="0" y="6857997"/>
                </a:lnTo>
              </a:path>
            </a:pathLst>
          </a:custGeom>
          <a:ln w="34748">
            <a:solidFill>
              <a:srgbClr val="FDC3AD"/>
            </a:solidFill>
          </a:ln>
        </p:spPr>
        <p:txBody>
          <a:bodyPr wrap="square" lIns="0" tIns="0" rIns="0" bIns="0" rtlCol="0"/>
          <a:lstStyle/>
          <a:p>
            <a:endParaRPr/>
          </a:p>
        </p:txBody>
      </p:sp>
      <p:sp>
        <p:nvSpPr>
          <p:cNvPr id="4" name="object 4"/>
          <p:cNvSpPr/>
          <p:nvPr/>
        </p:nvSpPr>
        <p:spPr>
          <a:xfrm>
            <a:off x="53035" y="0"/>
            <a:ext cx="0" cy="6858000"/>
          </a:xfrm>
          <a:custGeom>
            <a:avLst/>
            <a:gdLst/>
            <a:ahLst/>
            <a:cxnLst/>
            <a:rect l="l" t="t" r="r" b="b"/>
            <a:pathLst>
              <a:path h="6858000">
                <a:moveTo>
                  <a:pt x="0" y="0"/>
                </a:moveTo>
                <a:lnTo>
                  <a:pt x="0" y="6857997"/>
                </a:lnTo>
              </a:path>
            </a:pathLst>
          </a:custGeom>
          <a:ln w="11583">
            <a:solidFill>
              <a:srgbClr val="FDC3AD"/>
            </a:solidFill>
          </a:ln>
        </p:spPr>
        <p:txBody>
          <a:bodyPr wrap="square" lIns="0" tIns="0" rIns="0" bIns="0" rtlCol="0"/>
          <a:lstStyle/>
          <a:p>
            <a:endParaRPr/>
          </a:p>
        </p:txBody>
      </p:sp>
      <p:sp>
        <p:nvSpPr>
          <p:cNvPr id="11" name="object 11"/>
          <p:cNvSpPr txBox="1"/>
          <p:nvPr/>
        </p:nvSpPr>
        <p:spPr>
          <a:xfrm>
            <a:off x="493166" y="3587622"/>
            <a:ext cx="1958339" cy="857250"/>
          </a:xfrm>
          <a:prstGeom prst="rect">
            <a:avLst/>
          </a:prstGeom>
        </p:spPr>
        <p:txBody>
          <a:bodyPr vert="horz" wrap="square" lIns="0" tIns="13335" rIns="0" bIns="0" rtlCol="0">
            <a:spAutoFit/>
          </a:bodyPr>
          <a:lstStyle/>
          <a:p>
            <a:pPr marL="38100">
              <a:lnSpc>
                <a:spcPct val="100000"/>
              </a:lnSpc>
              <a:spcBef>
                <a:spcPts val="105"/>
              </a:spcBef>
            </a:pPr>
            <a:r>
              <a:rPr sz="2000" spc="5" dirty="0" err="1" smtClean="0">
                <a:latin typeface="Courier New"/>
                <a:cs typeface="Courier New"/>
              </a:rPr>
              <a:t>Formation</a:t>
            </a:r>
            <a:r>
              <a:rPr sz="1950" spc="7" baseline="-21367" dirty="0" err="1" smtClean="0">
                <a:latin typeface="Courier New"/>
                <a:cs typeface="Courier New"/>
              </a:rPr>
              <a:t>Paris</a:t>
            </a:r>
            <a:endParaRPr sz="1950" baseline="-21367" dirty="0" smtClean="0">
              <a:latin typeface="Courier New"/>
              <a:cs typeface="Courier New"/>
            </a:endParaRPr>
          </a:p>
          <a:p>
            <a:pPr marL="38100">
              <a:lnSpc>
                <a:spcPct val="100000"/>
              </a:lnSpc>
              <a:spcBef>
                <a:spcPts val="1735"/>
              </a:spcBef>
            </a:pPr>
            <a:r>
              <a:rPr sz="2000" spc="5" dirty="0" err="1" smtClean="0">
                <a:latin typeface="Courier New"/>
                <a:cs typeface="Courier New"/>
              </a:rPr>
              <a:t>Formation</a:t>
            </a:r>
            <a:r>
              <a:rPr sz="1950" spc="7" baseline="-21367" dirty="0" err="1" smtClean="0">
                <a:latin typeface="Courier New"/>
                <a:cs typeface="Courier New"/>
              </a:rPr>
              <a:t>Lyon</a:t>
            </a:r>
            <a:endParaRPr sz="1950" baseline="-21367" dirty="0">
              <a:latin typeface="Courier New"/>
              <a:cs typeface="Courier New"/>
            </a:endParaRPr>
          </a:p>
        </p:txBody>
      </p:sp>
      <p:sp>
        <p:nvSpPr>
          <p:cNvPr id="12" name="object 12"/>
          <p:cNvSpPr txBox="1"/>
          <p:nvPr/>
        </p:nvSpPr>
        <p:spPr>
          <a:xfrm>
            <a:off x="2424048" y="3460549"/>
            <a:ext cx="5561965" cy="1076960"/>
          </a:xfrm>
          <a:prstGeom prst="rect">
            <a:avLst/>
          </a:prstGeom>
        </p:spPr>
        <p:txBody>
          <a:bodyPr vert="horz" wrap="square" lIns="0" tIns="50165" rIns="0" bIns="0" rtlCol="0">
            <a:spAutoFit/>
          </a:bodyPr>
          <a:lstStyle/>
          <a:p>
            <a:pPr marL="138430">
              <a:lnSpc>
                <a:spcPct val="100000"/>
              </a:lnSpc>
              <a:spcBef>
                <a:spcPts val="395"/>
              </a:spcBef>
            </a:pPr>
            <a:r>
              <a:rPr sz="3000" baseline="13888" dirty="0" smtClean="0">
                <a:latin typeface="Courier New"/>
                <a:cs typeface="Courier New"/>
              </a:rPr>
              <a:t>=</a:t>
            </a:r>
            <a:r>
              <a:rPr sz="3000" spc="-7" baseline="13888" dirty="0" smtClean="0">
                <a:latin typeface="Courier New"/>
                <a:cs typeface="Courier New"/>
              </a:rPr>
              <a:t> </a:t>
            </a:r>
            <a:r>
              <a:rPr sz="4800" spc="-7" baseline="8680" dirty="0" smtClean="0">
                <a:latin typeface="Symbol"/>
                <a:cs typeface="Symbol"/>
              </a:rPr>
              <a:t></a:t>
            </a:r>
            <a:r>
              <a:rPr sz="1300" b="1" spc="15" dirty="0" err="1" smtClean="0">
                <a:latin typeface="Century Schoolbook"/>
                <a:cs typeface="Century Schoolbook"/>
              </a:rPr>
              <a:t>numC</a:t>
            </a:r>
            <a:r>
              <a:rPr sz="1300" b="1" spc="5" dirty="0" smtClean="0">
                <a:latin typeface="Century Schoolbook"/>
                <a:cs typeface="Century Schoolbook"/>
              </a:rPr>
              <a:t>,</a:t>
            </a:r>
            <a:r>
              <a:rPr sz="1300" b="1" spc="35" dirty="0" smtClean="0">
                <a:latin typeface="Century Schoolbook"/>
                <a:cs typeface="Century Schoolbook"/>
              </a:rPr>
              <a:t> </a:t>
            </a:r>
            <a:r>
              <a:rPr sz="1300" b="1" spc="15" dirty="0" err="1" smtClean="0">
                <a:latin typeface="Century Schoolbook"/>
                <a:cs typeface="Century Schoolbook"/>
              </a:rPr>
              <a:t>numF</a:t>
            </a:r>
            <a:r>
              <a:rPr sz="1300" spc="5" dirty="0" smtClean="0">
                <a:latin typeface="Century Schoolbook"/>
                <a:cs typeface="Century Schoolbook"/>
              </a:rPr>
              <a:t>,</a:t>
            </a:r>
            <a:r>
              <a:rPr sz="1300" spc="20" dirty="0" smtClean="0">
                <a:latin typeface="Century Schoolbook"/>
                <a:cs typeface="Century Schoolbook"/>
              </a:rPr>
              <a:t> </a:t>
            </a:r>
            <a:r>
              <a:rPr sz="1300" spc="15" dirty="0" err="1" smtClean="0">
                <a:latin typeface="Century Schoolbook"/>
                <a:cs typeface="Century Schoolbook"/>
              </a:rPr>
              <a:t>n</a:t>
            </a:r>
            <a:r>
              <a:rPr sz="1300" spc="25" dirty="0" err="1" smtClean="0">
                <a:latin typeface="Century Schoolbook"/>
                <a:cs typeface="Century Schoolbook"/>
              </a:rPr>
              <a:t>om</a:t>
            </a:r>
            <a:r>
              <a:rPr sz="1300" spc="15" dirty="0" err="1" smtClean="0">
                <a:latin typeface="Century Schoolbook"/>
                <a:cs typeface="Century Schoolbook"/>
              </a:rPr>
              <a:t>F</a:t>
            </a:r>
            <a:r>
              <a:rPr sz="1300" spc="15" dirty="0" smtClean="0">
                <a:latin typeface="Century Schoolbook"/>
                <a:cs typeface="Century Schoolbook"/>
              </a:rPr>
              <a:t>,</a:t>
            </a:r>
            <a:r>
              <a:rPr sz="1300" dirty="0" smtClean="0">
                <a:latin typeface="Century Schoolbook"/>
                <a:cs typeface="Century Schoolbook"/>
              </a:rPr>
              <a:t> </a:t>
            </a:r>
            <a:r>
              <a:rPr sz="1300" spc="15" dirty="0" err="1" smtClean="0">
                <a:latin typeface="Century Schoolbook"/>
                <a:cs typeface="Century Schoolbook"/>
              </a:rPr>
              <a:t>nbH</a:t>
            </a:r>
            <a:r>
              <a:rPr sz="1300" spc="20" dirty="0" err="1" smtClean="0">
                <a:latin typeface="Century Schoolbook"/>
                <a:cs typeface="Century Schoolbook"/>
              </a:rPr>
              <a:t>e</a:t>
            </a:r>
            <a:r>
              <a:rPr sz="1300" spc="15" dirty="0" err="1" smtClean="0">
                <a:latin typeface="Century Schoolbook"/>
                <a:cs typeface="Century Schoolbook"/>
              </a:rPr>
              <a:t>ur</a:t>
            </a:r>
            <a:r>
              <a:rPr sz="1300" spc="20" dirty="0" err="1" smtClean="0">
                <a:latin typeface="Century Schoolbook"/>
                <a:cs typeface="Century Schoolbook"/>
              </a:rPr>
              <a:t>e</a:t>
            </a:r>
            <a:r>
              <a:rPr sz="1300" spc="5" dirty="0" smtClean="0">
                <a:latin typeface="Century Schoolbook"/>
                <a:cs typeface="Century Schoolbook"/>
              </a:rPr>
              <a:t>,</a:t>
            </a:r>
            <a:r>
              <a:rPr sz="1300" dirty="0" smtClean="0">
                <a:latin typeface="Century Schoolbook"/>
                <a:cs typeface="Century Schoolbook"/>
              </a:rPr>
              <a:t> </a:t>
            </a:r>
            <a:r>
              <a:rPr sz="1300" spc="15" dirty="0" err="1" smtClean="0">
                <a:latin typeface="Century Schoolbook"/>
                <a:cs typeface="Century Schoolbook"/>
              </a:rPr>
              <a:t>nu</a:t>
            </a:r>
            <a:r>
              <a:rPr sz="1300" spc="20" dirty="0" err="1" smtClean="0">
                <a:latin typeface="Century Schoolbook"/>
                <a:cs typeface="Century Schoolbook"/>
              </a:rPr>
              <a:t>mV</a:t>
            </a:r>
            <a:r>
              <a:rPr sz="1300" spc="10" dirty="0" smtClean="0">
                <a:latin typeface="Century Schoolbook"/>
                <a:cs typeface="Century Schoolbook"/>
              </a:rPr>
              <a:t> </a:t>
            </a:r>
            <a:r>
              <a:rPr sz="3000" spc="-7" baseline="13888" dirty="0" smtClean="0">
                <a:latin typeface="Courier New"/>
                <a:cs typeface="Courier New"/>
              </a:rPr>
              <a:t>(Formation)</a:t>
            </a:r>
            <a:endParaRPr sz="3000" baseline="13888" dirty="0" smtClean="0">
              <a:latin typeface="Courier New"/>
              <a:cs typeface="Courier New"/>
            </a:endParaRPr>
          </a:p>
          <a:p>
            <a:pPr marL="38100">
              <a:lnSpc>
                <a:spcPct val="100000"/>
              </a:lnSpc>
              <a:spcBef>
                <a:spcPts val="300"/>
              </a:spcBef>
            </a:pPr>
            <a:r>
              <a:rPr sz="3000" baseline="13888" dirty="0" smtClean="0">
                <a:latin typeface="Courier New"/>
                <a:cs typeface="Courier New"/>
              </a:rPr>
              <a:t>=</a:t>
            </a:r>
            <a:r>
              <a:rPr sz="3000" spc="-7" baseline="13888" dirty="0" smtClean="0">
                <a:latin typeface="Courier New"/>
                <a:cs typeface="Courier New"/>
              </a:rPr>
              <a:t> </a:t>
            </a:r>
            <a:r>
              <a:rPr sz="4800" spc="-7" baseline="8680" dirty="0">
                <a:latin typeface="Symbol"/>
                <a:cs typeface="Symbol"/>
              </a:rPr>
              <a:t></a:t>
            </a:r>
            <a:r>
              <a:rPr sz="1300" b="1" spc="15" dirty="0">
                <a:latin typeface="Century Schoolbook"/>
                <a:cs typeface="Century Schoolbook"/>
              </a:rPr>
              <a:t>nu</a:t>
            </a:r>
            <a:r>
              <a:rPr sz="1300" b="1" spc="30" dirty="0">
                <a:latin typeface="Century Schoolbook"/>
                <a:cs typeface="Century Schoolbook"/>
              </a:rPr>
              <a:t>m</a:t>
            </a:r>
            <a:r>
              <a:rPr sz="1300" b="1" spc="15" dirty="0">
                <a:latin typeface="Century Schoolbook"/>
                <a:cs typeface="Century Schoolbook"/>
              </a:rPr>
              <a:t>C</a:t>
            </a:r>
            <a:r>
              <a:rPr sz="1300" b="1" spc="5" dirty="0">
                <a:latin typeface="Century Schoolbook"/>
                <a:cs typeface="Century Schoolbook"/>
              </a:rPr>
              <a:t>,</a:t>
            </a:r>
            <a:r>
              <a:rPr sz="1300" b="1" spc="20" dirty="0">
                <a:latin typeface="Century Schoolbook"/>
                <a:cs typeface="Century Schoolbook"/>
              </a:rPr>
              <a:t> </a:t>
            </a:r>
            <a:r>
              <a:rPr sz="1300" b="1" spc="15" dirty="0">
                <a:latin typeface="Century Schoolbook"/>
                <a:cs typeface="Century Schoolbook"/>
              </a:rPr>
              <a:t>nu</a:t>
            </a:r>
            <a:r>
              <a:rPr sz="1300" b="1" spc="30" dirty="0">
                <a:latin typeface="Century Schoolbook"/>
                <a:cs typeface="Century Schoolbook"/>
              </a:rPr>
              <a:t>m</a:t>
            </a:r>
            <a:r>
              <a:rPr sz="1300" b="1" spc="15" dirty="0">
                <a:latin typeface="Century Schoolbook"/>
                <a:cs typeface="Century Schoolbook"/>
              </a:rPr>
              <a:t>F</a:t>
            </a:r>
            <a:r>
              <a:rPr sz="1300" spc="5" dirty="0">
                <a:latin typeface="Century Schoolbook"/>
                <a:cs typeface="Century Schoolbook"/>
              </a:rPr>
              <a:t>,</a:t>
            </a:r>
            <a:r>
              <a:rPr sz="1300" spc="20" dirty="0">
                <a:latin typeface="Century Schoolbook"/>
                <a:cs typeface="Century Schoolbook"/>
              </a:rPr>
              <a:t> </a:t>
            </a:r>
            <a:r>
              <a:rPr sz="1300" spc="10" dirty="0">
                <a:latin typeface="Century Schoolbook"/>
                <a:cs typeface="Century Schoolbook"/>
              </a:rPr>
              <a:t>c</a:t>
            </a:r>
            <a:r>
              <a:rPr sz="1300" spc="15" dirty="0">
                <a:latin typeface="Century Schoolbook"/>
                <a:cs typeface="Century Schoolbook"/>
              </a:rPr>
              <a:t>outF</a:t>
            </a:r>
            <a:r>
              <a:rPr sz="1300" spc="5" dirty="0">
                <a:latin typeface="Century Schoolbook"/>
                <a:cs typeface="Century Schoolbook"/>
              </a:rPr>
              <a:t>,</a:t>
            </a:r>
            <a:r>
              <a:rPr sz="1300" spc="10" dirty="0">
                <a:latin typeface="Century Schoolbook"/>
                <a:cs typeface="Century Schoolbook"/>
              </a:rPr>
              <a:t> r</a:t>
            </a:r>
            <a:r>
              <a:rPr sz="1300" spc="15" dirty="0">
                <a:latin typeface="Century Schoolbook"/>
                <a:cs typeface="Century Schoolbook"/>
              </a:rPr>
              <a:t>entabilitéF</a:t>
            </a:r>
            <a:r>
              <a:rPr sz="3000" spc="-7" baseline="13888" dirty="0">
                <a:latin typeface="Courier New"/>
                <a:cs typeface="Courier New"/>
              </a:rPr>
              <a:t>(Formation)</a:t>
            </a:r>
            <a:endParaRPr sz="3000" baseline="13888" dirty="0">
              <a:latin typeface="Courier New"/>
              <a:cs typeface="Courier New"/>
            </a:endParaRPr>
          </a:p>
        </p:txBody>
      </p:sp>
      <p:sp>
        <p:nvSpPr>
          <p:cNvPr id="13" name="object 13"/>
          <p:cNvSpPr txBox="1"/>
          <p:nvPr/>
        </p:nvSpPr>
        <p:spPr>
          <a:xfrm>
            <a:off x="493166" y="4488560"/>
            <a:ext cx="3155315" cy="1024255"/>
          </a:xfrm>
          <a:prstGeom prst="rect">
            <a:avLst/>
          </a:prstGeom>
        </p:spPr>
        <p:txBody>
          <a:bodyPr vert="horz" wrap="square" lIns="0" tIns="12700" rIns="0" bIns="0" rtlCol="0">
            <a:spAutoFit/>
          </a:bodyPr>
          <a:lstStyle/>
          <a:p>
            <a:pPr marL="38100">
              <a:lnSpc>
                <a:spcPct val="100000"/>
              </a:lnSpc>
              <a:spcBef>
                <a:spcPts val="100"/>
              </a:spcBef>
              <a:tabLst>
                <a:tab pos="2476500" algn="l"/>
              </a:tabLst>
            </a:pPr>
            <a:r>
              <a:rPr sz="2000" spc="5" dirty="0">
                <a:latin typeface="Courier New"/>
                <a:cs typeface="Courier New"/>
              </a:rPr>
              <a:t>Formation</a:t>
            </a:r>
            <a:r>
              <a:rPr sz="1950" spc="7" baseline="-21367" dirty="0">
                <a:latin typeface="Courier New"/>
                <a:cs typeface="Courier New"/>
              </a:rPr>
              <a:t>Marseille	</a:t>
            </a:r>
            <a:r>
              <a:rPr sz="2000" dirty="0">
                <a:latin typeface="Courier New"/>
                <a:cs typeface="Courier New"/>
              </a:rPr>
              <a:t>=</a:t>
            </a:r>
            <a:r>
              <a:rPr sz="2000" spc="-100" dirty="0">
                <a:latin typeface="Courier New"/>
                <a:cs typeface="Courier New"/>
              </a:rPr>
              <a:t> </a:t>
            </a:r>
            <a:r>
              <a:rPr sz="3200" dirty="0">
                <a:latin typeface="Symbol"/>
                <a:cs typeface="Symbol"/>
              </a:rPr>
              <a:t></a:t>
            </a:r>
          </a:p>
          <a:p>
            <a:pPr marL="38100">
              <a:lnSpc>
                <a:spcPct val="100000"/>
              </a:lnSpc>
              <a:spcBef>
                <a:spcPts val="180"/>
              </a:spcBef>
              <a:tabLst>
                <a:tab pos="2374265" algn="l"/>
              </a:tabLst>
            </a:pPr>
            <a:r>
              <a:rPr sz="2000" spc="5" dirty="0">
                <a:latin typeface="Courier New"/>
                <a:cs typeface="Courier New"/>
              </a:rPr>
              <a:t>Formation</a:t>
            </a:r>
            <a:r>
              <a:rPr sz="1950" spc="7" baseline="-21367" dirty="0">
                <a:latin typeface="Courier New"/>
                <a:cs typeface="Courier New"/>
              </a:rPr>
              <a:t>Bordeaux	</a:t>
            </a:r>
            <a:r>
              <a:rPr sz="2000" dirty="0">
                <a:latin typeface="Courier New"/>
                <a:cs typeface="Courier New"/>
              </a:rPr>
              <a:t>=</a:t>
            </a:r>
            <a:r>
              <a:rPr sz="2000" spc="-100" dirty="0">
                <a:latin typeface="Courier New"/>
                <a:cs typeface="Courier New"/>
              </a:rPr>
              <a:t> </a:t>
            </a:r>
            <a:r>
              <a:rPr sz="3200" dirty="0">
                <a:latin typeface="Symbol"/>
                <a:cs typeface="Symbol"/>
              </a:rPr>
              <a:t></a:t>
            </a:r>
          </a:p>
        </p:txBody>
      </p:sp>
      <p:sp>
        <p:nvSpPr>
          <p:cNvPr id="16" name="Titre 15"/>
          <p:cNvSpPr>
            <a:spLocks noGrp="1"/>
          </p:cNvSpPr>
          <p:nvPr>
            <p:ph type="title"/>
          </p:nvPr>
        </p:nvSpPr>
        <p:spPr/>
        <p:txBody>
          <a:bodyPr>
            <a:normAutofit fontScale="90000"/>
          </a:bodyPr>
          <a:lstStyle/>
          <a:p>
            <a:r>
              <a:rPr lang="fr-FR" sz="4000" spc="-5" dirty="0" smtClean="0">
                <a:solidFill>
                  <a:srgbClr val="565F6C"/>
                </a:solidFill>
                <a:cs typeface="Century Schoolbook"/>
              </a:rPr>
              <a:t>E</a:t>
            </a:r>
            <a:r>
              <a:rPr lang="fr-FR" sz="3200" spc="-5" dirty="0" smtClean="0">
                <a:solidFill>
                  <a:srgbClr val="565F6C"/>
                </a:solidFill>
                <a:cs typeface="Century Schoolbook"/>
              </a:rPr>
              <a:t>XEMPLE </a:t>
            </a:r>
            <a:r>
              <a:rPr lang="fr-FR" sz="3200" dirty="0" smtClean="0">
                <a:solidFill>
                  <a:srgbClr val="565F6C"/>
                </a:solidFill>
                <a:cs typeface="Century Schoolbook"/>
              </a:rPr>
              <a:t>DE </a:t>
            </a:r>
            <a:r>
              <a:rPr lang="fr-FR" sz="3200" spc="-5" dirty="0" smtClean="0">
                <a:solidFill>
                  <a:srgbClr val="565F6C"/>
                </a:solidFill>
                <a:cs typeface="Century Schoolbook"/>
              </a:rPr>
              <a:t>FRAGMENTATION ORIENTÉE</a:t>
            </a:r>
            <a:r>
              <a:rPr lang="fr-FR" sz="3200" spc="20" dirty="0" smtClean="0">
                <a:solidFill>
                  <a:srgbClr val="565F6C"/>
                </a:solidFill>
                <a:cs typeface="Century Schoolbook"/>
              </a:rPr>
              <a:t> </a:t>
            </a:r>
            <a:r>
              <a:rPr lang="fr-FR" sz="3200" dirty="0" smtClean="0">
                <a:solidFill>
                  <a:srgbClr val="565F6C"/>
                </a:solidFill>
                <a:cs typeface="Century Schoolbook"/>
              </a:rPr>
              <a:t>DONNÉE</a:t>
            </a:r>
            <a:r>
              <a:rPr lang="fr-FR" sz="3200" dirty="0" smtClean="0">
                <a:cs typeface="Century Schoolbook"/>
              </a:rPr>
              <a:t/>
            </a:r>
            <a:br>
              <a:rPr lang="fr-FR" sz="3200" dirty="0" smtClean="0">
                <a:cs typeface="Century Schoolbook"/>
              </a:rPr>
            </a:br>
            <a:endParaRPr lang="fr-FR" dirty="0"/>
          </a:p>
        </p:txBody>
      </p:sp>
      <p:sp>
        <p:nvSpPr>
          <p:cNvPr id="17" name="Espace réservé du contenu 16"/>
          <p:cNvSpPr>
            <a:spLocks noGrp="1"/>
          </p:cNvSpPr>
          <p:nvPr>
            <p:ph sz="quarter" idx="1"/>
          </p:nvPr>
        </p:nvSpPr>
        <p:spPr>
          <a:xfrm>
            <a:off x="539552" y="1556792"/>
            <a:ext cx="7467600" cy="4873752"/>
          </a:xfrm>
        </p:spPr>
        <p:txBody>
          <a:bodyPr/>
          <a:lstStyle/>
          <a:p>
            <a:r>
              <a:rPr lang="fr-FR" sz="2000" b="1" spc="-5" dirty="0" smtClean="0">
                <a:cs typeface="Century Schoolbook"/>
              </a:rPr>
              <a:t>FORMATION</a:t>
            </a:r>
            <a:r>
              <a:rPr lang="fr-FR" sz="2000" spc="-5" dirty="0" smtClean="0">
                <a:cs typeface="Century Schoolbook"/>
              </a:rPr>
              <a:t>( </a:t>
            </a:r>
            <a:r>
              <a:rPr lang="fr-FR" sz="2000" u="sng" spc="-10" dirty="0" err="1" smtClean="0">
                <a:uFill>
                  <a:solidFill>
                    <a:srgbClr val="000000"/>
                  </a:solidFill>
                </a:uFill>
                <a:cs typeface="Century Schoolbook"/>
              </a:rPr>
              <a:t>numC</a:t>
            </a:r>
            <a:r>
              <a:rPr lang="fr-FR" sz="2000" u="sng" spc="-10" dirty="0" smtClean="0">
                <a:uFill>
                  <a:solidFill>
                    <a:srgbClr val="000000"/>
                  </a:solidFill>
                </a:uFill>
                <a:cs typeface="Century Schoolbook"/>
              </a:rPr>
              <a:t>, </a:t>
            </a:r>
            <a:r>
              <a:rPr lang="fr-FR" sz="2000" u="sng" spc="-10" dirty="0" err="1" smtClean="0">
                <a:uFill>
                  <a:solidFill>
                    <a:srgbClr val="000000"/>
                  </a:solidFill>
                </a:uFill>
                <a:cs typeface="Century Schoolbook"/>
              </a:rPr>
              <a:t>numF</a:t>
            </a:r>
            <a:r>
              <a:rPr lang="fr-FR" sz="2000" spc="-10" dirty="0" smtClean="0">
                <a:cs typeface="Century Schoolbook"/>
              </a:rPr>
              <a:t>, </a:t>
            </a:r>
            <a:r>
              <a:rPr lang="fr-FR" sz="2000" spc="-5" dirty="0" err="1" smtClean="0">
                <a:cs typeface="Century Schoolbook"/>
              </a:rPr>
              <a:t>nomF</a:t>
            </a:r>
            <a:r>
              <a:rPr lang="fr-FR" sz="2000" spc="-5" dirty="0" smtClean="0">
                <a:cs typeface="Century Schoolbook"/>
              </a:rPr>
              <a:t>, </a:t>
            </a:r>
            <a:r>
              <a:rPr lang="fr-FR" sz="2000" spc="-5" dirty="0" err="1" smtClean="0">
                <a:cs typeface="Century Schoolbook"/>
              </a:rPr>
              <a:t>nbHeure</a:t>
            </a:r>
            <a:r>
              <a:rPr lang="fr-FR" sz="2000" spc="-5" dirty="0" smtClean="0">
                <a:cs typeface="Century Schoolbook"/>
              </a:rPr>
              <a:t>, </a:t>
            </a:r>
            <a:r>
              <a:rPr lang="fr-FR" sz="2000" spc="-10" dirty="0" err="1" smtClean="0">
                <a:cs typeface="Century Schoolbook"/>
              </a:rPr>
              <a:t>numV</a:t>
            </a:r>
            <a:r>
              <a:rPr lang="fr-FR" sz="2000" spc="-10" dirty="0" smtClean="0">
                <a:cs typeface="Century Schoolbook"/>
              </a:rPr>
              <a:t>, </a:t>
            </a:r>
            <a:r>
              <a:rPr lang="fr-FR" sz="2000" spc="-5" dirty="0" err="1" smtClean="0">
                <a:cs typeface="Century Schoolbook"/>
              </a:rPr>
              <a:t>coutF</a:t>
            </a:r>
            <a:r>
              <a:rPr lang="fr-FR" sz="2000" spc="-5" dirty="0" smtClean="0">
                <a:cs typeface="Century Schoolbook"/>
              </a:rPr>
              <a:t>,</a:t>
            </a:r>
            <a:r>
              <a:rPr lang="fr-FR" sz="2000" spc="250" dirty="0" smtClean="0">
                <a:cs typeface="Century Schoolbook"/>
              </a:rPr>
              <a:t> </a:t>
            </a:r>
            <a:r>
              <a:rPr lang="fr-FR" sz="2000" spc="-5" dirty="0" err="1" smtClean="0">
                <a:cs typeface="Century Schoolbook"/>
              </a:rPr>
              <a:t>rentabilitéF</a:t>
            </a:r>
            <a:r>
              <a:rPr lang="fr-FR" sz="2000" spc="-5" dirty="0" smtClean="0">
                <a:cs typeface="Century Schoolbook"/>
              </a:rPr>
              <a:t>)</a:t>
            </a:r>
            <a:endParaRPr lang="fr-FR" sz="2000" dirty="0" smtClean="0">
              <a:cs typeface="Century Schoolbook"/>
            </a:endParaRPr>
          </a:p>
          <a:p>
            <a:pPr marL="12700" marR="5080">
              <a:lnSpc>
                <a:spcPct val="100000"/>
              </a:lnSpc>
              <a:spcBef>
                <a:spcPts val="95"/>
              </a:spcBef>
            </a:pPr>
            <a:r>
              <a:rPr lang="fr-FR" sz="1800" b="1" spc="-10" dirty="0" smtClean="0">
                <a:cs typeface="Century Schoolbook"/>
              </a:rPr>
              <a:t>H4 </a:t>
            </a:r>
            <a:r>
              <a:rPr lang="fr-FR" sz="1800" spc="-5" dirty="0" smtClean="0">
                <a:cs typeface="Century Schoolbook"/>
              </a:rPr>
              <a:t>: Les informations sur les formations sont gérées à Paris, hormis </a:t>
            </a:r>
            <a:r>
              <a:rPr lang="fr-FR" sz="1800" dirty="0" smtClean="0">
                <a:cs typeface="Century Schoolbook"/>
              </a:rPr>
              <a:t>les  </a:t>
            </a:r>
            <a:r>
              <a:rPr lang="fr-FR" sz="1800" spc="-5" dirty="0" smtClean="0">
                <a:cs typeface="Century Schoolbook"/>
              </a:rPr>
              <a:t>informations liées au coût et à la rentabilité </a:t>
            </a:r>
            <a:r>
              <a:rPr lang="fr-FR" sz="1800" spc="-10" dirty="0" smtClean="0">
                <a:cs typeface="Century Schoolbook"/>
              </a:rPr>
              <a:t>qui </a:t>
            </a:r>
            <a:r>
              <a:rPr lang="fr-FR" sz="1800" spc="-5" dirty="0" smtClean="0">
                <a:cs typeface="Century Schoolbook"/>
              </a:rPr>
              <a:t>sont stockées à</a:t>
            </a:r>
            <a:r>
              <a:rPr lang="fr-FR" sz="1800" spc="120" dirty="0" smtClean="0">
                <a:cs typeface="Century Schoolbook"/>
              </a:rPr>
              <a:t> </a:t>
            </a:r>
            <a:r>
              <a:rPr lang="fr-FR" sz="1800" spc="-5" dirty="0" smtClean="0">
                <a:cs typeface="Century Schoolbook"/>
              </a:rPr>
              <a:t>Lyon</a:t>
            </a:r>
            <a:endParaRPr lang="fr-FR" sz="1800" dirty="0" smtClean="0">
              <a:cs typeface="Century Schoolbook"/>
            </a:endParaRPr>
          </a:p>
          <a:p>
            <a:pPr marL="468630">
              <a:lnSpc>
                <a:spcPct val="100000"/>
              </a:lnSpc>
              <a:spcBef>
                <a:spcPts val="1515"/>
              </a:spcBef>
            </a:pPr>
            <a:r>
              <a:rPr lang="fr-FR" sz="1800" b="1" spc="-5" dirty="0" smtClean="0">
                <a:solidFill>
                  <a:srgbClr val="FF0000"/>
                </a:solidFill>
                <a:cs typeface="Century Schoolbook"/>
              </a:rPr>
              <a:t>FRAGMENTATION </a:t>
            </a:r>
            <a:r>
              <a:rPr lang="fr-FR" sz="1800" b="1" dirty="0" smtClean="0">
                <a:solidFill>
                  <a:srgbClr val="FF0000"/>
                </a:solidFill>
                <a:cs typeface="Century Schoolbook"/>
              </a:rPr>
              <a:t>VERTICALE de</a:t>
            </a:r>
            <a:r>
              <a:rPr lang="fr-FR" sz="1800" b="1" spc="-55" dirty="0" smtClean="0">
                <a:solidFill>
                  <a:srgbClr val="FF0000"/>
                </a:solidFill>
                <a:cs typeface="Century Schoolbook"/>
              </a:rPr>
              <a:t> </a:t>
            </a:r>
            <a:r>
              <a:rPr lang="fr-FR" sz="1800" b="1" spc="-5" dirty="0" smtClean="0">
                <a:solidFill>
                  <a:srgbClr val="FF0000"/>
                </a:solidFill>
                <a:cs typeface="Century Schoolbook"/>
              </a:rPr>
              <a:t>FORMATION</a:t>
            </a:r>
            <a:endParaRPr lang="fr-FR" sz="1800" dirty="0" smtClean="0">
              <a:cs typeface="Century Schoolbook"/>
            </a:endParaRPr>
          </a:p>
          <a:p>
            <a:endParaRPr lang="fr-FR" dirty="0"/>
          </a:p>
        </p:txBody>
      </p:sp>
      <p:sp>
        <p:nvSpPr>
          <p:cNvPr id="9" name="Espace réservé du numéro de diapositive 8"/>
          <p:cNvSpPr>
            <a:spLocks noGrp="1"/>
          </p:cNvSpPr>
          <p:nvPr>
            <p:ph type="sldNum" sz="quarter" idx="15"/>
          </p:nvPr>
        </p:nvSpPr>
        <p:spPr/>
        <p:txBody>
          <a:bodyPr/>
          <a:lstStyle/>
          <a:p>
            <a:fld id="{F1AAE0E6-1385-44E0-8EAE-F204D7E7A5E9}" type="slidenum">
              <a:rPr lang="fr-FR" smtClean="0"/>
              <a:pPr/>
              <a:t>28</a:t>
            </a:fld>
            <a:endParaRPr lang="fr-F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Fragmentation orientée requête</a:t>
            </a:r>
            <a:br>
              <a:rPr lang="fr-FR" dirty="0" smtClean="0"/>
            </a:br>
            <a:endParaRPr lang="fr-FR" dirty="0"/>
          </a:p>
        </p:txBody>
      </p:sp>
      <p:sp>
        <p:nvSpPr>
          <p:cNvPr id="3" name="Espace réservé du contenu 2"/>
          <p:cNvSpPr>
            <a:spLocks noGrp="1"/>
          </p:cNvSpPr>
          <p:nvPr>
            <p:ph sz="quarter" idx="1"/>
          </p:nvPr>
        </p:nvSpPr>
        <p:spPr>
          <a:xfrm>
            <a:off x="457200" y="1600200"/>
            <a:ext cx="8219256" cy="4873752"/>
          </a:xfrm>
        </p:spPr>
        <p:txBody>
          <a:bodyPr>
            <a:normAutofit fontScale="70000" lnSpcReduction="20000"/>
          </a:bodyPr>
          <a:lstStyle/>
          <a:p>
            <a:r>
              <a:rPr lang="fr-FR" b="1" u="sng" dirty="0" smtClean="0"/>
              <a:t>Fragmentation Horizontale</a:t>
            </a:r>
          </a:p>
          <a:p>
            <a:r>
              <a:rPr lang="fr-FR" i="1" spc="-10" dirty="0" smtClean="0">
                <a:cs typeface="Century Schoolbook"/>
              </a:rPr>
              <a:t>Exploitation </a:t>
            </a:r>
            <a:r>
              <a:rPr lang="fr-FR" i="1" spc="-5" dirty="0" smtClean="0">
                <a:cs typeface="Century Schoolbook"/>
              </a:rPr>
              <a:t>des clauses WHERE des</a:t>
            </a:r>
            <a:r>
              <a:rPr lang="fr-FR" i="1" spc="150" dirty="0" smtClean="0">
                <a:cs typeface="Century Schoolbook"/>
              </a:rPr>
              <a:t> </a:t>
            </a:r>
            <a:r>
              <a:rPr lang="fr-FR" i="1" spc="-5" dirty="0" smtClean="0">
                <a:cs typeface="Century Schoolbook"/>
              </a:rPr>
              <a:t>requêtes</a:t>
            </a:r>
            <a:endParaRPr lang="fr-FR" dirty="0" smtClean="0">
              <a:cs typeface="Century Schoolbook"/>
            </a:endParaRPr>
          </a:p>
          <a:p>
            <a:r>
              <a:rPr lang="fr-FR" dirty="0" smtClean="0"/>
              <a:t>⇒ Informations sur la base de données : Avoir les prédicats simples </a:t>
            </a:r>
          </a:p>
          <a:p>
            <a:endParaRPr lang="fr-FR" dirty="0" smtClean="0"/>
          </a:p>
          <a:p>
            <a:r>
              <a:rPr lang="fr-FR" b="1" u="sng" dirty="0" smtClean="0"/>
              <a:t>Définition : </a:t>
            </a:r>
          </a:p>
          <a:p>
            <a:r>
              <a:rPr lang="fr-FR" dirty="0" smtClean="0"/>
              <a:t>Étant donnée une relation </a:t>
            </a:r>
            <a:r>
              <a:rPr lang="fr-FR" i="1" dirty="0" smtClean="0"/>
              <a:t>R(A1 , A2 , ..., An ) </a:t>
            </a:r>
          </a:p>
          <a:p>
            <a:r>
              <a:rPr lang="fr-FR" dirty="0" smtClean="0"/>
              <a:t>Un prédicat simple </a:t>
            </a:r>
            <a:r>
              <a:rPr lang="fr-FR" dirty="0" err="1" smtClean="0"/>
              <a:t>pj</a:t>
            </a:r>
            <a:r>
              <a:rPr lang="fr-FR" dirty="0" smtClean="0"/>
              <a:t> défini sur R est défini: </a:t>
            </a:r>
          </a:p>
          <a:p>
            <a:r>
              <a:rPr lang="fr-FR" b="1" dirty="0" err="1" smtClean="0"/>
              <a:t>pj</a:t>
            </a:r>
            <a:r>
              <a:rPr lang="fr-FR" b="1" dirty="0" smtClean="0"/>
              <a:t> : Ai </a:t>
            </a:r>
            <a:r>
              <a:rPr lang="el-GR" sz="3200" b="1" dirty="0" smtClean="0"/>
              <a:t>θ </a:t>
            </a:r>
            <a:r>
              <a:rPr lang="fr-FR" b="1" dirty="0" smtClean="0"/>
              <a:t>valeur </a:t>
            </a:r>
            <a:r>
              <a:rPr lang="fr-FR" i="1" dirty="0" smtClean="0"/>
              <a:t>avec: θ ∈ {=, &lt;, &gt;, ≤, ≥, ≠}; et valeur ∈ domaine(Di) </a:t>
            </a:r>
          </a:p>
          <a:p>
            <a:r>
              <a:rPr lang="fr-FR" dirty="0" smtClean="0"/>
              <a:t>Soit </a:t>
            </a:r>
            <a:r>
              <a:rPr lang="fr-FR" sz="3200" i="1" dirty="0" smtClean="0"/>
              <a:t>Pr = {p1, p2, ..., pm} </a:t>
            </a:r>
            <a:r>
              <a:rPr lang="fr-FR" i="1" dirty="0" smtClean="0"/>
              <a:t>un ensemble de prédicats simples définis sur la relation Ri, l’ensemble de </a:t>
            </a:r>
            <a:r>
              <a:rPr lang="fr-FR" i="1" dirty="0" err="1" smtClean="0"/>
              <a:t>minterms</a:t>
            </a:r>
            <a:r>
              <a:rPr lang="fr-FR" i="1" dirty="0" smtClean="0"/>
              <a:t> M = {m1, m2 , ..., </a:t>
            </a:r>
            <a:r>
              <a:rPr lang="fr-FR" i="1" dirty="0" err="1" smtClean="0"/>
              <a:t>mz</a:t>
            </a:r>
            <a:r>
              <a:rPr lang="fr-FR" i="1" dirty="0" smtClean="0"/>
              <a:t> } est défini comme suit: </a:t>
            </a:r>
          </a:p>
          <a:p>
            <a:r>
              <a:rPr lang="fr-FR" b="1" dirty="0" smtClean="0"/>
              <a:t>M = {mi | mi = ∧</a:t>
            </a:r>
            <a:r>
              <a:rPr lang="fr-FR" b="1" dirty="0" err="1" smtClean="0"/>
              <a:t>pj</a:t>
            </a:r>
            <a:r>
              <a:rPr lang="fr-FR" b="1" dirty="0" smtClean="0"/>
              <a:t> ∈ Pr p*j }, 1 ≤ i ≤ z, 1 ≤ j ≤ z; </a:t>
            </a:r>
          </a:p>
          <a:p>
            <a:r>
              <a:rPr lang="en-US" sz="1800" dirty="0" smtClean="0"/>
              <a:t>where </a:t>
            </a:r>
            <a:r>
              <a:rPr lang="en-US" dirty="0" smtClean="0"/>
              <a:t>p*j = </a:t>
            </a:r>
            <a:r>
              <a:rPr lang="en-US" dirty="0" err="1" smtClean="0"/>
              <a:t>pj</a:t>
            </a:r>
            <a:r>
              <a:rPr lang="en-US" dirty="0" smtClean="0"/>
              <a:t> or ¬</a:t>
            </a:r>
            <a:r>
              <a:rPr lang="en-US" dirty="0" err="1" smtClean="0"/>
              <a:t>pj</a:t>
            </a:r>
            <a:r>
              <a:rPr lang="en-US" dirty="0" smtClean="0"/>
              <a:t> </a:t>
            </a:r>
          </a:p>
          <a:p>
            <a:r>
              <a:rPr lang="fr-FR" dirty="0" smtClean="0"/>
              <a:t>Pour appliquer cet algorithme, il faut suivre les étapes suivantes : </a:t>
            </a:r>
          </a:p>
          <a:p>
            <a:pPr lvl="1"/>
            <a:r>
              <a:rPr lang="fr-FR" sz="2400" dirty="0" smtClean="0"/>
              <a:t>• </a:t>
            </a:r>
            <a:r>
              <a:rPr lang="fr-FR" sz="2400" b="1" dirty="0" smtClean="0"/>
              <a:t>Génération des </a:t>
            </a:r>
            <a:r>
              <a:rPr lang="fr-FR" sz="2400" b="1" dirty="0" err="1" smtClean="0"/>
              <a:t>minterms</a:t>
            </a:r>
            <a:r>
              <a:rPr lang="fr-FR" sz="2400" b="1" dirty="0" smtClean="0"/>
              <a:t> </a:t>
            </a:r>
          </a:p>
          <a:p>
            <a:pPr lvl="1"/>
            <a:r>
              <a:rPr lang="fr-FR" sz="2400" dirty="0" smtClean="0"/>
              <a:t>• </a:t>
            </a:r>
            <a:r>
              <a:rPr lang="fr-FR" sz="2400" b="1" dirty="0" smtClean="0"/>
              <a:t>élimination des </a:t>
            </a:r>
            <a:r>
              <a:rPr lang="fr-FR" sz="2400" b="1" dirty="0" err="1" smtClean="0"/>
              <a:t>minterms</a:t>
            </a:r>
            <a:r>
              <a:rPr lang="fr-FR" sz="2400" b="1" dirty="0" smtClean="0"/>
              <a:t> contradictoires </a:t>
            </a:r>
          </a:p>
          <a:p>
            <a:endParaRPr lang="en-US" dirty="0" smtClean="0"/>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29</a:t>
            </a:fld>
            <a:endParaRPr lang="fr-F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 des fragments</a:t>
            </a:r>
            <a:br>
              <a:rPr lang="fr-FR" dirty="0" smtClean="0"/>
            </a:br>
            <a:endParaRPr lang="fr-FR" dirty="0"/>
          </a:p>
        </p:txBody>
      </p:sp>
      <p:sp>
        <p:nvSpPr>
          <p:cNvPr id="3" name="Espace réservé du contenu 2"/>
          <p:cNvSpPr>
            <a:spLocks noGrp="1"/>
          </p:cNvSpPr>
          <p:nvPr>
            <p:ph sz="quarter" idx="1"/>
          </p:nvPr>
        </p:nvSpPr>
        <p:spPr>
          <a:xfrm>
            <a:off x="457200" y="1600200"/>
            <a:ext cx="8686800" cy="4873752"/>
          </a:xfrm>
        </p:spPr>
        <p:txBody>
          <a:bodyPr>
            <a:normAutofit/>
          </a:bodyPr>
          <a:lstStyle/>
          <a:p>
            <a:r>
              <a:rPr lang="fr-FR" b="1" u="sng" dirty="0" smtClean="0"/>
              <a:t>Exemple 1</a:t>
            </a:r>
          </a:p>
          <a:p>
            <a:r>
              <a:rPr lang="fr-FR" dirty="0" smtClean="0"/>
              <a:t>p1: Ville =“Tunis” </a:t>
            </a:r>
          </a:p>
          <a:p>
            <a:r>
              <a:rPr lang="fr-FR" dirty="0" smtClean="0"/>
              <a:t>p2: Salaire ≤ 10 000 </a:t>
            </a:r>
          </a:p>
          <a:p>
            <a:r>
              <a:rPr lang="fr-FR" b="1" u="sng" dirty="0" smtClean="0"/>
              <a:t>Exemple: </a:t>
            </a:r>
          </a:p>
          <a:p>
            <a:r>
              <a:rPr lang="fr-FR" i="1" dirty="0" smtClean="0"/>
              <a:t>m1 : (Ville =“Tunis ”) ∧ (Salaire ≤ 10 000) </a:t>
            </a:r>
          </a:p>
          <a:p>
            <a:r>
              <a:rPr lang="fr-FR" i="1" dirty="0" smtClean="0"/>
              <a:t>m2 : NOT(Ville=“ Tunis ”) ∧ (Salaire ≤ 10 000) </a:t>
            </a:r>
          </a:p>
          <a:p>
            <a:r>
              <a:rPr lang="fr-FR" i="1" dirty="0" smtClean="0"/>
              <a:t>m3 : (Ville =“ Tunis ”) ∧ NOT(Salaire ≤ 10 000) </a:t>
            </a:r>
          </a:p>
          <a:p>
            <a:r>
              <a:rPr lang="fr-FR" i="1" dirty="0" smtClean="0"/>
              <a:t>m4 : NOT(Ville =“ Tunis ”) ∧ NOT(Salaire ≤ 10 000) </a:t>
            </a:r>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30</a:t>
            </a:fld>
            <a:endParaRPr lang="fr-F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 des fragments</a:t>
            </a:r>
            <a:br>
              <a:rPr lang="fr-FR" dirty="0" smtClean="0"/>
            </a:br>
            <a:endParaRPr lang="fr-FR" dirty="0"/>
          </a:p>
        </p:txBody>
      </p:sp>
      <p:sp>
        <p:nvSpPr>
          <p:cNvPr id="3" name="Espace réservé du contenu 2"/>
          <p:cNvSpPr>
            <a:spLocks noGrp="1"/>
          </p:cNvSpPr>
          <p:nvPr>
            <p:ph sz="quarter" idx="1"/>
          </p:nvPr>
        </p:nvSpPr>
        <p:spPr/>
        <p:txBody>
          <a:bodyPr>
            <a:noAutofit/>
          </a:bodyPr>
          <a:lstStyle/>
          <a:p>
            <a:r>
              <a:rPr lang="fr-FR" sz="1200" b="1" u="sng" dirty="0" smtClean="0"/>
              <a:t>Exemple 2</a:t>
            </a:r>
          </a:p>
          <a:p>
            <a:r>
              <a:rPr lang="fr-FR" sz="1200" dirty="0" smtClean="0"/>
              <a:t>Considérons les prédicats simples suivants: </a:t>
            </a:r>
          </a:p>
          <a:p>
            <a:r>
              <a:rPr lang="fr-FR" sz="1200" dirty="0" smtClean="0"/>
              <a:t>A&lt;10, A&gt;5, </a:t>
            </a:r>
            <a:r>
              <a:rPr lang="fr-FR" sz="1200" dirty="0" err="1" smtClean="0"/>
              <a:t>Loc</a:t>
            </a:r>
            <a:r>
              <a:rPr lang="fr-FR" sz="1200" dirty="0" smtClean="0"/>
              <a:t> = SA, </a:t>
            </a:r>
            <a:r>
              <a:rPr lang="fr-FR" sz="1200" dirty="0" err="1" smtClean="0"/>
              <a:t>Loc</a:t>
            </a:r>
            <a:r>
              <a:rPr lang="fr-FR" sz="1200" dirty="0" smtClean="0"/>
              <a:t> = SB</a:t>
            </a:r>
          </a:p>
          <a:p>
            <a:r>
              <a:rPr lang="fr-FR" sz="1200" dirty="0" smtClean="0"/>
              <a:t>Les </a:t>
            </a:r>
            <a:r>
              <a:rPr lang="fr-FR" sz="1200" dirty="0" err="1" smtClean="0"/>
              <a:t>minterms</a:t>
            </a:r>
            <a:r>
              <a:rPr lang="fr-FR" sz="1200" dirty="0" smtClean="0"/>
              <a:t> à générer sont : </a:t>
            </a:r>
          </a:p>
          <a:p>
            <a:r>
              <a:rPr lang="fr-FR" sz="1200" dirty="0" smtClean="0">
                <a:solidFill>
                  <a:srgbClr val="FF0000"/>
                </a:solidFill>
              </a:rPr>
              <a:t>(1) A&lt;10 ∧ A&gt;5 ∧ </a:t>
            </a:r>
            <a:r>
              <a:rPr lang="fr-FR" sz="1200" dirty="0" err="1" smtClean="0">
                <a:solidFill>
                  <a:srgbClr val="FF0000"/>
                </a:solidFill>
              </a:rPr>
              <a:t>Loc</a:t>
            </a:r>
            <a:r>
              <a:rPr lang="fr-FR" sz="1200" dirty="0" smtClean="0">
                <a:solidFill>
                  <a:srgbClr val="FF0000"/>
                </a:solidFill>
              </a:rPr>
              <a:t>=SA ∧ </a:t>
            </a:r>
            <a:r>
              <a:rPr lang="fr-FR" sz="1200" dirty="0" err="1" smtClean="0">
                <a:solidFill>
                  <a:srgbClr val="FF0000"/>
                </a:solidFill>
              </a:rPr>
              <a:t>Loc</a:t>
            </a:r>
            <a:r>
              <a:rPr lang="fr-FR" sz="1200" dirty="0" smtClean="0">
                <a:solidFill>
                  <a:srgbClr val="FF0000"/>
                </a:solidFill>
              </a:rPr>
              <a:t>=SB</a:t>
            </a:r>
            <a:r>
              <a:rPr lang="fr-FR" sz="1200" dirty="0" smtClean="0"/>
              <a:t> </a:t>
            </a:r>
          </a:p>
          <a:p>
            <a:r>
              <a:rPr lang="fr-FR" sz="1200" dirty="0" smtClean="0"/>
              <a:t>(2) A&lt;10 ∧ A&gt;5 ∧ </a:t>
            </a:r>
            <a:r>
              <a:rPr lang="fr-FR" sz="1200" dirty="0" err="1" smtClean="0"/>
              <a:t>Loc</a:t>
            </a:r>
            <a:r>
              <a:rPr lang="fr-FR" sz="1200" dirty="0" smtClean="0"/>
              <a:t>=SA ∧ ¬(</a:t>
            </a:r>
            <a:r>
              <a:rPr lang="fr-FR" sz="1200" dirty="0" err="1" smtClean="0"/>
              <a:t>Loc</a:t>
            </a:r>
            <a:r>
              <a:rPr lang="fr-FR" sz="1200" dirty="0" smtClean="0"/>
              <a:t>=SB) </a:t>
            </a:r>
          </a:p>
          <a:p>
            <a:r>
              <a:rPr lang="fr-FR" sz="1200" dirty="0" smtClean="0"/>
              <a:t>(3) A&lt;10 ∧ A&gt;5 ∧ ¬(</a:t>
            </a:r>
            <a:r>
              <a:rPr lang="fr-FR" sz="1200" dirty="0" err="1" smtClean="0"/>
              <a:t>Loc</a:t>
            </a:r>
            <a:r>
              <a:rPr lang="fr-FR" sz="1200" dirty="0" smtClean="0"/>
              <a:t>=SA) ∧ </a:t>
            </a:r>
            <a:r>
              <a:rPr lang="fr-FR" sz="1200" dirty="0" err="1" smtClean="0"/>
              <a:t>Loc</a:t>
            </a:r>
            <a:r>
              <a:rPr lang="fr-FR" sz="1200" dirty="0" smtClean="0"/>
              <a:t>=SB </a:t>
            </a:r>
          </a:p>
          <a:p>
            <a:r>
              <a:rPr lang="fr-FR" sz="1200" dirty="0" smtClean="0">
                <a:solidFill>
                  <a:srgbClr val="FF0000"/>
                </a:solidFill>
              </a:rPr>
              <a:t>(4) A&lt;10 ∧ A&gt;5 ∧ ¬(</a:t>
            </a:r>
            <a:r>
              <a:rPr lang="fr-FR" sz="1200" dirty="0" err="1" smtClean="0">
                <a:solidFill>
                  <a:srgbClr val="FF0000"/>
                </a:solidFill>
              </a:rPr>
              <a:t>Loc</a:t>
            </a:r>
            <a:r>
              <a:rPr lang="fr-FR" sz="1200" dirty="0" smtClean="0">
                <a:solidFill>
                  <a:srgbClr val="FF0000"/>
                </a:solidFill>
              </a:rPr>
              <a:t>=SA) ∧ ¬(</a:t>
            </a:r>
            <a:r>
              <a:rPr lang="fr-FR" sz="1200" dirty="0" err="1" smtClean="0">
                <a:solidFill>
                  <a:srgbClr val="FF0000"/>
                </a:solidFill>
              </a:rPr>
              <a:t>Loc</a:t>
            </a:r>
            <a:r>
              <a:rPr lang="fr-FR" sz="1200" dirty="0" smtClean="0">
                <a:solidFill>
                  <a:srgbClr val="FF0000"/>
                </a:solidFill>
              </a:rPr>
              <a:t>=SB) </a:t>
            </a:r>
          </a:p>
          <a:p>
            <a:r>
              <a:rPr lang="fr-FR" sz="1200" dirty="0" smtClean="0">
                <a:solidFill>
                  <a:srgbClr val="FF0000"/>
                </a:solidFill>
              </a:rPr>
              <a:t>(5) A&lt;10 ∧ ¬(A&gt;5) ∧ </a:t>
            </a:r>
            <a:r>
              <a:rPr lang="fr-FR" sz="1200" dirty="0" err="1" smtClean="0">
                <a:solidFill>
                  <a:srgbClr val="FF0000"/>
                </a:solidFill>
              </a:rPr>
              <a:t>Loc</a:t>
            </a:r>
            <a:r>
              <a:rPr lang="fr-FR" sz="1200" dirty="0" smtClean="0">
                <a:solidFill>
                  <a:srgbClr val="FF0000"/>
                </a:solidFill>
              </a:rPr>
              <a:t>=SA ∧ </a:t>
            </a:r>
            <a:r>
              <a:rPr lang="fr-FR" sz="1200" dirty="0" err="1" smtClean="0">
                <a:solidFill>
                  <a:srgbClr val="FF0000"/>
                </a:solidFill>
              </a:rPr>
              <a:t>Loc</a:t>
            </a:r>
            <a:r>
              <a:rPr lang="fr-FR" sz="1200" dirty="0" smtClean="0">
                <a:solidFill>
                  <a:srgbClr val="FF0000"/>
                </a:solidFill>
              </a:rPr>
              <a:t>=SB </a:t>
            </a:r>
          </a:p>
          <a:p>
            <a:r>
              <a:rPr lang="fr-FR" sz="1200" dirty="0" smtClean="0"/>
              <a:t>(6) A&lt;10 ∧ ¬(A&gt;5) ∧ </a:t>
            </a:r>
            <a:r>
              <a:rPr lang="fr-FR" sz="1200" dirty="0" err="1" smtClean="0"/>
              <a:t>Loc</a:t>
            </a:r>
            <a:r>
              <a:rPr lang="fr-FR" sz="1200" dirty="0" smtClean="0"/>
              <a:t>=SA ∧ ¬(</a:t>
            </a:r>
            <a:r>
              <a:rPr lang="fr-FR" sz="1200" dirty="0" err="1" smtClean="0"/>
              <a:t>Loc</a:t>
            </a:r>
            <a:r>
              <a:rPr lang="fr-FR" sz="1200" dirty="0" smtClean="0"/>
              <a:t>=SB) </a:t>
            </a:r>
          </a:p>
          <a:p>
            <a:r>
              <a:rPr lang="fr-FR" sz="1200" dirty="0" smtClean="0"/>
              <a:t>(7) A&lt;10 ∧ ¬(A&gt;5) ∧ ¬(</a:t>
            </a:r>
            <a:r>
              <a:rPr lang="fr-FR" sz="1200" dirty="0" err="1" smtClean="0"/>
              <a:t>Loc</a:t>
            </a:r>
            <a:r>
              <a:rPr lang="fr-FR" sz="1200" dirty="0" smtClean="0"/>
              <a:t>=SA) ∧ </a:t>
            </a:r>
            <a:r>
              <a:rPr lang="fr-FR" sz="1200" dirty="0" err="1" smtClean="0"/>
              <a:t>Loc</a:t>
            </a:r>
            <a:r>
              <a:rPr lang="fr-FR" sz="1200" dirty="0" smtClean="0"/>
              <a:t>=SB </a:t>
            </a:r>
          </a:p>
          <a:p>
            <a:r>
              <a:rPr lang="fr-FR" sz="1200" dirty="0" smtClean="0">
                <a:solidFill>
                  <a:srgbClr val="FF0000"/>
                </a:solidFill>
              </a:rPr>
              <a:t>(8) A&lt;10 ∧ ¬(A&gt;5) ∧ ¬(</a:t>
            </a:r>
            <a:r>
              <a:rPr lang="fr-FR" sz="1200" dirty="0" err="1" smtClean="0">
                <a:solidFill>
                  <a:srgbClr val="FF0000"/>
                </a:solidFill>
              </a:rPr>
              <a:t>Loc</a:t>
            </a:r>
            <a:r>
              <a:rPr lang="fr-FR" sz="1200" dirty="0" smtClean="0">
                <a:solidFill>
                  <a:srgbClr val="FF0000"/>
                </a:solidFill>
              </a:rPr>
              <a:t>=SA) ∧ ¬(</a:t>
            </a:r>
            <a:r>
              <a:rPr lang="fr-FR" sz="1200" dirty="0" err="1" smtClean="0">
                <a:solidFill>
                  <a:srgbClr val="FF0000"/>
                </a:solidFill>
              </a:rPr>
              <a:t>Loc</a:t>
            </a:r>
            <a:r>
              <a:rPr lang="fr-FR" sz="1200" dirty="0" smtClean="0">
                <a:solidFill>
                  <a:srgbClr val="FF0000"/>
                </a:solidFill>
              </a:rPr>
              <a:t>=SB) </a:t>
            </a:r>
          </a:p>
          <a:p>
            <a:r>
              <a:rPr lang="fr-FR" sz="1200" dirty="0" smtClean="0">
                <a:solidFill>
                  <a:srgbClr val="FF0000"/>
                </a:solidFill>
              </a:rPr>
              <a:t>(9) ¬(A&lt;10) ∧ A&gt;5 ∧ </a:t>
            </a:r>
            <a:r>
              <a:rPr lang="fr-FR" sz="1200" dirty="0" err="1" smtClean="0">
                <a:solidFill>
                  <a:srgbClr val="FF0000"/>
                </a:solidFill>
              </a:rPr>
              <a:t>Loc</a:t>
            </a:r>
            <a:r>
              <a:rPr lang="fr-FR" sz="1200" dirty="0" smtClean="0">
                <a:solidFill>
                  <a:srgbClr val="FF0000"/>
                </a:solidFill>
              </a:rPr>
              <a:t>=SA ∧ </a:t>
            </a:r>
            <a:r>
              <a:rPr lang="fr-FR" sz="1200" dirty="0" err="1" smtClean="0">
                <a:solidFill>
                  <a:srgbClr val="FF0000"/>
                </a:solidFill>
              </a:rPr>
              <a:t>Loc</a:t>
            </a:r>
            <a:r>
              <a:rPr lang="fr-FR" sz="1200" dirty="0" smtClean="0">
                <a:solidFill>
                  <a:srgbClr val="FF0000"/>
                </a:solidFill>
              </a:rPr>
              <a:t>=SB </a:t>
            </a:r>
          </a:p>
          <a:p>
            <a:r>
              <a:rPr lang="fr-FR" sz="1200" dirty="0" smtClean="0"/>
              <a:t>(10) ¬(A&lt;10) ∧ A&gt;5 ∧ </a:t>
            </a:r>
            <a:r>
              <a:rPr lang="fr-FR" sz="1200" dirty="0" err="1" smtClean="0"/>
              <a:t>Loc</a:t>
            </a:r>
            <a:r>
              <a:rPr lang="fr-FR" sz="1200" dirty="0" smtClean="0"/>
              <a:t>=SA ∧¬(</a:t>
            </a:r>
            <a:r>
              <a:rPr lang="fr-FR" sz="1200" dirty="0" err="1" smtClean="0"/>
              <a:t>Loc</a:t>
            </a:r>
            <a:r>
              <a:rPr lang="fr-FR" sz="1200" dirty="0" smtClean="0"/>
              <a:t>=SB) </a:t>
            </a:r>
          </a:p>
          <a:p>
            <a:r>
              <a:rPr lang="fr-FR" sz="1200" dirty="0" smtClean="0"/>
              <a:t>(11) ¬(A&lt;10) ∧ A&gt;5 ∧¬(</a:t>
            </a:r>
            <a:r>
              <a:rPr lang="fr-FR" sz="1200" dirty="0" err="1" smtClean="0"/>
              <a:t>Loc</a:t>
            </a:r>
            <a:r>
              <a:rPr lang="fr-FR" sz="1200" dirty="0" smtClean="0"/>
              <a:t>=SA) ∧ </a:t>
            </a:r>
            <a:r>
              <a:rPr lang="fr-FR" sz="1200" dirty="0" err="1" smtClean="0"/>
              <a:t>Loc</a:t>
            </a:r>
            <a:r>
              <a:rPr lang="fr-FR" sz="1200" dirty="0" smtClean="0"/>
              <a:t>=SB </a:t>
            </a:r>
          </a:p>
          <a:p>
            <a:r>
              <a:rPr lang="fr-FR" sz="1200" dirty="0" smtClean="0">
                <a:solidFill>
                  <a:srgbClr val="FF0000"/>
                </a:solidFill>
              </a:rPr>
              <a:t>(12) ¬(A&lt;10) ∧ A&gt;5 ∧¬(</a:t>
            </a:r>
            <a:r>
              <a:rPr lang="fr-FR" sz="1200" dirty="0" err="1" smtClean="0">
                <a:solidFill>
                  <a:srgbClr val="FF0000"/>
                </a:solidFill>
              </a:rPr>
              <a:t>Loc</a:t>
            </a:r>
            <a:r>
              <a:rPr lang="fr-FR" sz="1200" dirty="0" smtClean="0">
                <a:solidFill>
                  <a:srgbClr val="FF0000"/>
                </a:solidFill>
              </a:rPr>
              <a:t>=SA) ∧¬(</a:t>
            </a:r>
            <a:r>
              <a:rPr lang="fr-FR" sz="1200" dirty="0" err="1" smtClean="0">
                <a:solidFill>
                  <a:srgbClr val="FF0000"/>
                </a:solidFill>
              </a:rPr>
              <a:t>Loc</a:t>
            </a:r>
            <a:r>
              <a:rPr lang="fr-FR" sz="1200" dirty="0" smtClean="0">
                <a:solidFill>
                  <a:srgbClr val="FF0000"/>
                </a:solidFill>
              </a:rPr>
              <a:t>=SB) </a:t>
            </a:r>
          </a:p>
          <a:p>
            <a:r>
              <a:rPr lang="fr-FR" sz="1200" dirty="0" smtClean="0">
                <a:solidFill>
                  <a:srgbClr val="FF0000"/>
                </a:solidFill>
              </a:rPr>
              <a:t>(13) ¬(A&lt;10) ∧¬(A&gt;5) ∧ </a:t>
            </a:r>
            <a:r>
              <a:rPr lang="fr-FR" sz="1200" dirty="0" err="1" smtClean="0">
                <a:solidFill>
                  <a:srgbClr val="FF0000"/>
                </a:solidFill>
              </a:rPr>
              <a:t>Loc</a:t>
            </a:r>
            <a:r>
              <a:rPr lang="fr-FR" sz="1200" dirty="0" smtClean="0">
                <a:solidFill>
                  <a:srgbClr val="FF0000"/>
                </a:solidFill>
              </a:rPr>
              <a:t>=SA ∧ </a:t>
            </a:r>
            <a:r>
              <a:rPr lang="fr-FR" sz="1200" dirty="0" err="1" smtClean="0">
                <a:solidFill>
                  <a:srgbClr val="FF0000"/>
                </a:solidFill>
              </a:rPr>
              <a:t>Loc</a:t>
            </a:r>
            <a:r>
              <a:rPr lang="fr-FR" sz="1200" dirty="0" smtClean="0">
                <a:solidFill>
                  <a:srgbClr val="FF0000"/>
                </a:solidFill>
              </a:rPr>
              <a:t>=SB </a:t>
            </a:r>
          </a:p>
          <a:p>
            <a:r>
              <a:rPr lang="fr-FR" sz="1200" dirty="0" smtClean="0">
                <a:solidFill>
                  <a:srgbClr val="FF0000"/>
                </a:solidFill>
              </a:rPr>
              <a:t>(14) ¬(A&lt;10) ∧¬(A&gt;5) ∧ </a:t>
            </a:r>
            <a:r>
              <a:rPr lang="fr-FR" sz="1200" dirty="0" err="1" smtClean="0">
                <a:solidFill>
                  <a:srgbClr val="FF0000"/>
                </a:solidFill>
              </a:rPr>
              <a:t>Loc</a:t>
            </a:r>
            <a:r>
              <a:rPr lang="fr-FR" sz="1200" dirty="0" smtClean="0">
                <a:solidFill>
                  <a:srgbClr val="FF0000"/>
                </a:solidFill>
              </a:rPr>
              <a:t>=SA ∧¬(</a:t>
            </a:r>
            <a:r>
              <a:rPr lang="fr-FR" sz="1200" dirty="0" err="1" smtClean="0">
                <a:solidFill>
                  <a:srgbClr val="FF0000"/>
                </a:solidFill>
              </a:rPr>
              <a:t>Loc</a:t>
            </a:r>
            <a:r>
              <a:rPr lang="fr-FR" sz="1200" dirty="0" smtClean="0">
                <a:solidFill>
                  <a:srgbClr val="FF0000"/>
                </a:solidFill>
              </a:rPr>
              <a:t>=SB) </a:t>
            </a:r>
          </a:p>
          <a:p>
            <a:r>
              <a:rPr lang="fr-FR" sz="1200" dirty="0" smtClean="0">
                <a:solidFill>
                  <a:srgbClr val="FF0000"/>
                </a:solidFill>
              </a:rPr>
              <a:t>(15) ¬(A&lt;10) ∧¬(A&gt;5) ∧¬(</a:t>
            </a:r>
            <a:r>
              <a:rPr lang="fr-FR" sz="1200" dirty="0" err="1" smtClean="0">
                <a:solidFill>
                  <a:srgbClr val="FF0000"/>
                </a:solidFill>
              </a:rPr>
              <a:t>Loc</a:t>
            </a:r>
            <a:r>
              <a:rPr lang="fr-FR" sz="1200" dirty="0" smtClean="0">
                <a:solidFill>
                  <a:srgbClr val="FF0000"/>
                </a:solidFill>
              </a:rPr>
              <a:t>=SA) ∧ </a:t>
            </a:r>
            <a:r>
              <a:rPr lang="fr-FR" sz="1200" dirty="0" err="1" smtClean="0">
                <a:solidFill>
                  <a:srgbClr val="FF0000"/>
                </a:solidFill>
              </a:rPr>
              <a:t>Loc</a:t>
            </a:r>
            <a:r>
              <a:rPr lang="fr-FR" sz="1200" dirty="0" smtClean="0">
                <a:solidFill>
                  <a:srgbClr val="FF0000"/>
                </a:solidFill>
              </a:rPr>
              <a:t>=SB </a:t>
            </a:r>
          </a:p>
          <a:p>
            <a:r>
              <a:rPr lang="fr-FR" sz="1200" dirty="0" smtClean="0">
                <a:solidFill>
                  <a:srgbClr val="FF0000"/>
                </a:solidFill>
              </a:rPr>
              <a:t>(16) ¬(A&lt;10) ∧¬(A&gt;5) ∧¬(</a:t>
            </a:r>
            <a:r>
              <a:rPr lang="fr-FR" sz="1200" dirty="0" err="1" smtClean="0">
                <a:solidFill>
                  <a:srgbClr val="FF0000"/>
                </a:solidFill>
              </a:rPr>
              <a:t>Loc</a:t>
            </a:r>
            <a:r>
              <a:rPr lang="fr-FR" sz="1200" dirty="0" smtClean="0">
                <a:solidFill>
                  <a:srgbClr val="FF0000"/>
                </a:solidFill>
              </a:rPr>
              <a:t>=SA) ∧¬(</a:t>
            </a:r>
            <a:r>
              <a:rPr lang="fr-FR" sz="1200" dirty="0" err="1" smtClean="0">
                <a:solidFill>
                  <a:srgbClr val="FF0000"/>
                </a:solidFill>
              </a:rPr>
              <a:t>Loc</a:t>
            </a:r>
            <a:r>
              <a:rPr lang="fr-FR" sz="1200" dirty="0" smtClean="0">
                <a:solidFill>
                  <a:srgbClr val="FF0000"/>
                </a:solidFill>
              </a:rPr>
              <a:t>=SB) </a:t>
            </a:r>
          </a:p>
          <a:p>
            <a:endParaRPr lang="fr-FR" sz="1200" dirty="0"/>
          </a:p>
        </p:txBody>
      </p:sp>
      <p:sp>
        <p:nvSpPr>
          <p:cNvPr id="4" name="Rectangle 3"/>
          <p:cNvSpPr/>
          <p:nvPr/>
        </p:nvSpPr>
        <p:spPr>
          <a:xfrm>
            <a:off x="3923928" y="2132856"/>
            <a:ext cx="4572000" cy="2769989"/>
          </a:xfrm>
          <a:prstGeom prst="rect">
            <a:avLst/>
          </a:prstGeom>
          <a:ln w="12700">
            <a:solidFill>
              <a:schemeClr val="tx1"/>
            </a:solidFill>
          </a:ln>
        </p:spPr>
        <p:txBody>
          <a:bodyPr>
            <a:spAutoFit/>
          </a:bodyPr>
          <a:lstStyle/>
          <a:p>
            <a:r>
              <a:rPr lang="fr-FR" dirty="0" smtClean="0"/>
              <a:t>Après éliminations des fragments contradictoires, </a:t>
            </a:r>
            <a:r>
              <a:rPr lang="fr-FR" sz="2400" b="1" dirty="0" smtClean="0"/>
              <a:t>les fragments finaux sont : </a:t>
            </a:r>
          </a:p>
          <a:p>
            <a:r>
              <a:rPr lang="fr-FR" b="1" dirty="0" smtClean="0"/>
              <a:t>F2: 5 &lt; A &lt; 10 ∧ </a:t>
            </a:r>
            <a:r>
              <a:rPr lang="fr-FR" b="1" dirty="0" err="1" smtClean="0"/>
              <a:t>Loc</a:t>
            </a:r>
            <a:r>
              <a:rPr lang="fr-FR" b="1" dirty="0" smtClean="0"/>
              <a:t>=SA </a:t>
            </a:r>
          </a:p>
          <a:p>
            <a:r>
              <a:rPr lang="en-US" b="1" dirty="0" smtClean="0"/>
              <a:t>F3: 5 &lt; A &lt; 10 ∧ Loc=SB </a:t>
            </a:r>
          </a:p>
          <a:p>
            <a:r>
              <a:rPr lang="fr-FR" b="1" dirty="0" smtClean="0"/>
              <a:t>F6: A ≤ 5 ∧ </a:t>
            </a:r>
            <a:r>
              <a:rPr lang="fr-FR" b="1" dirty="0" err="1" smtClean="0"/>
              <a:t>Loc</a:t>
            </a:r>
            <a:r>
              <a:rPr lang="fr-FR" b="1" dirty="0" smtClean="0"/>
              <a:t>=SA </a:t>
            </a:r>
          </a:p>
          <a:p>
            <a:r>
              <a:rPr lang="fr-FR" b="1" dirty="0" smtClean="0"/>
              <a:t>F7: A ≤ 5 ∧ </a:t>
            </a:r>
            <a:r>
              <a:rPr lang="fr-FR" b="1" dirty="0" err="1" smtClean="0"/>
              <a:t>Loc</a:t>
            </a:r>
            <a:r>
              <a:rPr lang="fr-FR" b="1" dirty="0" smtClean="0"/>
              <a:t>=SB </a:t>
            </a:r>
          </a:p>
          <a:p>
            <a:r>
              <a:rPr lang="fr-FR" b="1" dirty="0" smtClean="0"/>
              <a:t>F10: A ≥ 10 ∧ </a:t>
            </a:r>
            <a:r>
              <a:rPr lang="fr-FR" b="1" dirty="0" err="1" smtClean="0"/>
              <a:t>Loc</a:t>
            </a:r>
            <a:r>
              <a:rPr lang="fr-FR" b="1" dirty="0" smtClean="0"/>
              <a:t>=SA </a:t>
            </a:r>
          </a:p>
          <a:p>
            <a:r>
              <a:rPr lang="fr-FR" b="1" dirty="0" smtClean="0"/>
              <a:t>F11: A ≥ 10 ∧ </a:t>
            </a:r>
            <a:r>
              <a:rPr lang="fr-FR" b="1" dirty="0" err="1" smtClean="0"/>
              <a:t>Loc</a:t>
            </a:r>
            <a:r>
              <a:rPr lang="fr-FR" b="1" dirty="0" smtClean="0"/>
              <a:t>=SB</a:t>
            </a:r>
            <a:endParaRPr lang="fr-FR" dirty="0" smtClean="0"/>
          </a:p>
        </p:txBody>
      </p:sp>
      <p:sp>
        <p:nvSpPr>
          <p:cNvPr id="5" name="Espace réservé du numéro de diapositive 4"/>
          <p:cNvSpPr>
            <a:spLocks noGrp="1"/>
          </p:cNvSpPr>
          <p:nvPr>
            <p:ph type="sldNum" sz="quarter" idx="15"/>
          </p:nvPr>
        </p:nvSpPr>
        <p:spPr/>
        <p:txBody>
          <a:bodyPr/>
          <a:lstStyle/>
          <a:p>
            <a:fld id="{F1AAE0E6-1385-44E0-8EAE-F204D7E7A5E9}" type="slidenum">
              <a:rPr lang="fr-FR" smtClean="0"/>
              <a:pPr/>
              <a:t>31</a:t>
            </a:fld>
            <a:endParaRPr lang="fr-F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62945"/>
            <a:ext cx="7467600" cy="754694"/>
          </a:xfrm>
          <a:prstGeom prst="rect">
            <a:avLst/>
          </a:prstGeom>
        </p:spPr>
        <p:txBody>
          <a:bodyPr vert="horz" wrap="square" lIns="0" tIns="15875" rIns="0" bIns="0" rtlCol="0">
            <a:spAutoFit/>
          </a:bodyPr>
          <a:lstStyle/>
          <a:p>
            <a:pPr marL="12700">
              <a:lnSpc>
                <a:spcPct val="100000"/>
              </a:lnSpc>
              <a:spcBef>
                <a:spcPts val="125"/>
              </a:spcBef>
            </a:pPr>
            <a:r>
              <a:rPr lang="fr-FR" sz="2400" spc="-10" dirty="0" smtClean="0"/>
              <a:t>FRAGMENTATION</a:t>
            </a:r>
            <a:r>
              <a:rPr lang="fr-FR" sz="2400" spc="345" dirty="0" smtClean="0"/>
              <a:t> </a:t>
            </a:r>
            <a:r>
              <a:rPr lang="fr-FR" sz="2400" spc="-10" dirty="0" smtClean="0"/>
              <a:t>ORIENT</a:t>
            </a:r>
            <a:r>
              <a:rPr lang="fr-FR" sz="2400" spc="-10" dirty="0" smtClean="0">
                <a:solidFill>
                  <a:srgbClr val="565F6C"/>
                </a:solidFill>
                <a:cs typeface="Century Schoolbook"/>
              </a:rPr>
              <a:t>ÉE</a:t>
            </a:r>
            <a:r>
              <a:rPr lang="fr-FR" sz="2400" spc="60" dirty="0" smtClean="0">
                <a:solidFill>
                  <a:srgbClr val="565F6C"/>
                </a:solidFill>
                <a:cs typeface="Century Schoolbook"/>
              </a:rPr>
              <a:t> </a:t>
            </a:r>
            <a:r>
              <a:rPr lang="fr-FR" sz="2400" spc="-15" dirty="0" smtClean="0">
                <a:solidFill>
                  <a:srgbClr val="565F6C"/>
                </a:solidFill>
                <a:cs typeface="Century Schoolbook"/>
              </a:rPr>
              <a:t>REQUÊTES</a:t>
            </a:r>
            <a:r>
              <a:rPr lang="fr-FR" sz="2400" dirty="0" smtClean="0">
                <a:cs typeface="Century Schoolbook"/>
              </a:rPr>
              <a:t/>
            </a:r>
            <a:br>
              <a:rPr lang="fr-FR" sz="2400" dirty="0" smtClean="0">
                <a:cs typeface="Century Schoolbook"/>
              </a:rPr>
            </a:br>
            <a:endParaRPr sz="2400" spc="-110" dirty="0"/>
          </a:p>
        </p:txBody>
      </p:sp>
      <p:sp>
        <p:nvSpPr>
          <p:cNvPr id="5" name="object 5"/>
          <p:cNvSpPr txBox="1"/>
          <p:nvPr/>
        </p:nvSpPr>
        <p:spPr>
          <a:xfrm>
            <a:off x="539553" y="1488413"/>
            <a:ext cx="7842040" cy="3013004"/>
          </a:xfrm>
          <a:prstGeom prst="rect">
            <a:avLst/>
          </a:prstGeom>
        </p:spPr>
        <p:txBody>
          <a:bodyPr vert="horz" wrap="square" lIns="0" tIns="12065" rIns="0" bIns="0" rtlCol="0">
            <a:spAutoFit/>
          </a:bodyPr>
          <a:lstStyle/>
          <a:p>
            <a:pPr marL="342900" indent="-267335">
              <a:buNone/>
              <a:tabLst>
                <a:tab pos="343535" algn="l"/>
              </a:tabLst>
            </a:pPr>
            <a:r>
              <a:rPr lang="fr-FR" sz="2400" b="1" spc="-5" dirty="0" smtClean="0"/>
              <a:t>Fragmentation</a:t>
            </a:r>
            <a:r>
              <a:rPr lang="fr-FR" sz="2400" b="1" spc="-10" dirty="0" smtClean="0"/>
              <a:t> </a:t>
            </a:r>
            <a:r>
              <a:rPr lang="fr-FR" sz="2400" b="1" spc="-5" dirty="0" smtClean="0"/>
              <a:t>verticale</a:t>
            </a:r>
          </a:p>
          <a:p>
            <a:pPr marL="360363">
              <a:lnSpc>
                <a:spcPct val="100000"/>
              </a:lnSpc>
              <a:spcBef>
                <a:spcPts val="595"/>
              </a:spcBef>
              <a:buFont typeface="Courier New" pitchFamily="49" charset="0"/>
              <a:buChar char="o"/>
              <a:tabLst>
                <a:tab pos="360363" algn="l"/>
                <a:tab pos="1349375" algn="l"/>
              </a:tabLst>
            </a:pPr>
            <a:r>
              <a:rPr lang="fr-FR" sz="2400" i="1" spc="-5" dirty="0" smtClean="0">
                <a:cs typeface="Century Schoolbook"/>
              </a:rPr>
              <a:t>Exploitation </a:t>
            </a:r>
            <a:r>
              <a:rPr lang="fr-FR" sz="2400" i="1" dirty="0" smtClean="0">
                <a:cs typeface="Century Schoolbook"/>
              </a:rPr>
              <a:t>des clauses </a:t>
            </a:r>
            <a:r>
              <a:rPr lang="fr-FR" sz="2400" i="1" spc="-5" dirty="0" smtClean="0">
                <a:cs typeface="Century Schoolbook"/>
              </a:rPr>
              <a:t>SELECT </a:t>
            </a:r>
            <a:r>
              <a:rPr lang="fr-FR" sz="2400" i="1" dirty="0" smtClean="0">
                <a:cs typeface="Century Schoolbook"/>
              </a:rPr>
              <a:t>des</a:t>
            </a:r>
            <a:r>
              <a:rPr lang="fr-FR" sz="2400" i="1" spc="5" dirty="0" smtClean="0">
                <a:cs typeface="Century Schoolbook"/>
              </a:rPr>
              <a:t> </a:t>
            </a:r>
            <a:r>
              <a:rPr lang="fr-FR" sz="2400" i="1" dirty="0" smtClean="0">
                <a:cs typeface="Century Schoolbook"/>
              </a:rPr>
              <a:t>requêtes</a:t>
            </a:r>
          </a:p>
          <a:p>
            <a:pPr marL="360363">
              <a:lnSpc>
                <a:spcPct val="100000"/>
              </a:lnSpc>
              <a:spcBef>
                <a:spcPts val="595"/>
              </a:spcBef>
              <a:buFont typeface="Courier New" pitchFamily="49" charset="0"/>
              <a:buChar char="o"/>
              <a:tabLst>
                <a:tab pos="360363" algn="l"/>
                <a:tab pos="1349375" algn="l"/>
              </a:tabLst>
            </a:pPr>
            <a:r>
              <a:rPr sz="2000" dirty="0" smtClean="0">
                <a:latin typeface="Times New Roman"/>
                <a:cs typeface="Times New Roman"/>
              </a:rPr>
              <a:t>On </a:t>
            </a:r>
            <a:r>
              <a:rPr sz="2000" dirty="0">
                <a:latin typeface="Times New Roman"/>
                <a:cs typeface="Times New Roman"/>
              </a:rPr>
              <a:t>se </a:t>
            </a:r>
            <a:r>
              <a:rPr sz="2000" spc="-5" dirty="0">
                <a:latin typeface="Times New Roman"/>
                <a:cs typeface="Times New Roman"/>
              </a:rPr>
              <a:t>base les requêtes d’interrogation ou </a:t>
            </a:r>
            <a:r>
              <a:rPr sz="2000" dirty="0">
                <a:latin typeface="Times New Roman"/>
                <a:cs typeface="Times New Roman"/>
              </a:rPr>
              <a:t>de </a:t>
            </a:r>
            <a:r>
              <a:rPr sz="2000" spc="-5" dirty="0">
                <a:latin typeface="Times New Roman"/>
                <a:cs typeface="Times New Roman"/>
              </a:rPr>
              <a:t>mise </a:t>
            </a:r>
            <a:r>
              <a:rPr sz="2000" dirty="0">
                <a:latin typeface="Times New Roman"/>
                <a:cs typeface="Times New Roman"/>
              </a:rPr>
              <a:t>à </a:t>
            </a:r>
            <a:r>
              <a:rPr sz="2000" spc="-5" dirty="0">
                <a:latin typeface="Times New Roman"/>
                <a:cs typeface="Times New Roman"/>
              </a:rPr>
              <a:t>jour  prédéfinies les plus importantes et </a:t>
            </a:r>
            <a:r>
              <a:rPr sz="2000" spc="-10" dirty="0">
                <a:latin typeface="Times New Roman"/>
                <a:cs typeface="Times New Roman"/>
              </a:rPr>
              <a:t>les </a:t>
            </a:r>
            <a:r>
              <a:rPr sz="2000" spc="-5" dirty="0">
                <a:latin typeface="Times New Roman"/>
                <a:cs typeface="Times New Roman"/>
              </a:rPr>
              <a:t>plus fréquentes </a:t>
            </a:r>
            <a:r>
              <a:rPr sz="2000" dirty="0">
                <a:latin typeface="Times New Roman"/>
                <a:cs typeface="Times New Roman"/>
              </a:rPr>
              <a:t>pour </a:t>
            </a:r>
            <a:r>
              <a:rPr sz="2000" spc="-5" dirty="0">
                <a:latin typeface="Times New Roman"/>
                <a:cs typeface="Times New Roman"/>
              </a:rPr>
              <a:t>extraire  les </a:t>
            </a:r>
            <a:r>
              <a:rPr sz="2000" dirty="0" err="1">
                <a:latin typeface="Times New Roman"/>
                <a:cs typeface="Times New Roman"/>
              </a:rPr>
              <a:t>attributs</a:t>
            </a:r>
            <a:r>
              <a:rPr sz="2000" spc="-75" dirty="0">
                <a:latin typeface="Times New Roman"/>
                <a:cs typeface="Times New Roman"/>
              </a:rPr>
              <a:t> </a:t>
            </a:r>
            <a:r>
              <a:rPr sz="2000" dirty="0" err="1" smtClean="0">
                <a:latin typeface="Times New Roman"/>
                <a:cs typeface="Times New Roman"/>
              </a:rPr>
              <a:t>concernés</a:t>
            </a:r>
            <a:endParaRPr lang="fr-FR" sz="2000" dirty="0" smtClean="0">
              <a:latin typeface="Times New Roman"/>
              <a:cs typeface="Times New Roman"/>
            </a:endParaRPr>
          </a:p>
          <a:p>
            <a:pPr marL="360363">
              <a:lnSpc>
                <a:spcPct val="100000"/>
              </a:lnSpc>
              <a:spcBef>
                <a:spcPts val="595"/>
              </a:spcBef>
              <a:buFont typeface="Courier New" pitchFamily="49" charset="0"/>
              <a:buChar char="o"/>
              <a:tabLst>
                <a:tab pos="360363" algn="l"/>
                <a:tab pos="1349375" algn="l"/>
              </a:tabLst>
            </a:pPr>
            <a:r>
              <a:rPr sz="1800" spc="-5" dirty="0" smtClean="0">
                <a:latin typeface="Times New Roman"/>
                <a:cs typeface="Times New Roman"/>
              </a:rPr>
              <a:t>Les </a:t>
            </a:r>
            <a:r>
              <a:rPr sz="1800" spc="-5" dirty="0">
                <a:latin typeface="Times New Roman"/>
                <a:cs typeface="Times New Roman"/>
              </a:rPr>
              <a:t>fragments verticaux </a:t>
            </a:r>
            <a:r>
              <a:rPr sz="1800" dirty="0">
                <a:latin typeface="Times New Roman"/>
                <a:cs typeface="Times New Roman"/>
              </a:rPr>
              <a:t>sont </a:t>
            </a:r>
            <a:r>
              <a:rPr sz="1800" spc="-5" dirty="0">
                <a:latin typeface="Times New Roman"/>
                <a:cs typeface="Times New Roman"/>
              </a:rPr>
              <a:t>exclusifs, sauf </a:t>
            </a:r>
            <a:r>
              <a:rPr sz="1800" dirty="0">
                <a:latin typeface="Times New Roman"/>
                <a:cs typeface="Times New Roman"/>
              </a:rPr>
              <a:t>en </a:t>
            </a:r>
            <a:r>
              <a:rPr sz="1800" spc="-5" dirty="0">
                <a:latin typeface="Times New Roman"/>
                <a:cs typeface="Times New Roman"/>
              </a:rPr>
              <a:t>ce </a:t>
            </a:r>
            <a:r>
              <a:rPr sz="1800" dirty="0">
                <a:latin typeface="Times New Roman"/>
                <a:cs typeface="Times New Roman"/>
              </a:rPr>
              <a:t>qui </a:t>
            </a:r>
            <a:r>
              <a:rPr sz="1800" spc="-5" dirty="0">
                <a:latin typeface="Times New Roman"/>
                <a:cs typeface="Times New Roman"/>
              </a:rPr>
              <a:t>concerne le </a:t>
            </a:r>
            <a:r>
              <a:rPr sz="1800" dirty="0">
                <a:latin typeface="Times New Roman"/>
                <a:cs typeface="Times New Roman"/>
              </a:rPr>
              <a:t>(ou  les) attribut(s) </a:t>
            </a:r>
            <a:r>
              <a:rPr sz="1800" spc="-10" dirty="0">
                <a:latin typeface="Times New Roman"/>
                <a:cs typeface="Times New Roman"/>
              </a:rPr>
              <a:t>de </a:t>
            </a:r>
            <a:r>
              <a:rPr sz="1800" spc="-5" dirty="0">
                <a:latin typeface="Times New Roman"/>
                <a:cs typeface="Times New Roman"/>
              </a:rPr>
              <a:t>jointure (clé, </a:t>
            </a:r>
            <a:r>
              <a:rPr sz="1800" spc="-5" dirty="0" err="1" smtClean="0">
                <a:latin typeface="Times New Roman"/>
                <a:cs typeface="Times New Roman"/>
              </a:rPr>
              <a:t>identifiant</a:t>
            </a:r>
            <a:r>
              <a:rPr sz="1800" spc="-5" dirty="0" smtClean="0">
                <a:latin typeface="Times New Roman"/>
                <a:cs typeface="Times New Roman"/>
              </a:rPr>
              <a:t>) </a:t>
            </a:r>
            <a:r>
              <a:rPr sz="1800" dirty="0">
                <a:latin typeface="Times New Roman"/>
                <a:cs typeface="Times New Roman"/>
              </a:rPr>
              <a:t>qui sont </a:t>
            </a:r>
            <a:r>
              <a:rPr sz="1800" spc="-5" dirty="0">
                <a:latin typeface="Times New Roman"/>
                <a:cs typeface="Times New Roman"/>
              </a:rPr>
              <a:t>communs </a:t>
            </a:r>
            <a:r>
              <a:rPr sz="1800" dirty="0">
                <a:latin typeface="Times New Roman"/>
                <a:cs typeface="Times New Roman"/>
              </a:rPr>
              <a:t>à  tous les </a:t>
            </a:r>
            <a:r>
              <a:rPr sz="1800" spc="-5" dirty="0">
                <a:latin typeface="Times New Roman"/>
                <a:cs typeface="Times New Roman"/>
              </a:rPr>
              <a:t>fragments </a:t>
            </a:r>
            <a:r>
              <a:rPr sz="1800" dirty="0">
                <a:latin typeface="Times New Roman"/>
                <a:cs typeface="Times New Roman"/>
              </a:rPr>
              <a:t>et </a:t>
            </a:r>
            <a:r>
              <a:rPr sz="1800" spc="-5" dirty="0">
                <a:latin typeface="Times New Roman"/>
                <a:cs typeface="Times New Roman"/>
              </a:rPr>
              <a:t>qui seront utilisés </a:t>
            </a:r>
            <a:r>
              <a:rPr sz="1800" dirty="0">
                <a:latin typeface="Times New Roman"/>
                <a:cs typeface="Times New Roman"/>
              </a:rPr>
              <a:t>pour que </a:t>
            </a:r>
            <a:r>
              <a:rPr sz="1800" spc="-5" dirty="0">
                <a:latin typeface="Times New Roman"/>
                <a:cs typeface="Times New Roman"/>
              </a:rPr>
              <a:t>la décomposition soit  sans </a:t>
            </a:r>
            <a:r>
              <a:rPr sz="1800" dirty="0">
                <a:latin typeface="Times New Roman"/>
                <a:cs typeface="Times New Roman"/>
              </a:rPr>
              <a:t>perte d'information</a:t>
            </a:r>
            <a:r>
              <a:rPr sz="1800" spc="-35" dirty="0">
                <a:latin typeface="Times New Roman"/>
                <a:cs typeface="Times New Roman"/>
              </a:rPr>
              <a:t> </a:t>
            </a:r>
            <a:r>
              <a:rPr sz="1800" dirty="0">
                <a:latin typeface="Times New Roman"/>
                <a:cs typeface="Times New Roman"/>
              </a:rPr>
              <a:t>(reconstruction).</a:t>
            </a:r>
          </a:p>
        </p:txBody>
      </p:sp>
      <p:sp>
        <p:nvSpPr>
          <p:cNvPr id="6" name="object 6"/>
          <p:cNvSpPr txBox="1"/>
          <p:nvPr/>
        </p:nvSpPr>
        <p:spPr>
          <a:xfrm>
            <a:off x="8478773" y="312801"/>
            <a:ext cx="20574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42</a:t>
            </a:r>
            <a:endParaRPr sz="1400">
              <a:latin typeface="Times New Roman"/>
              <a:cs typeface="Times New Roman"/>
            </a:endParaRPr>
          </a:p>
        </p:txBody>
      </p:sp>
      <p:sp>
        <p:nvSpPr>
          <p:cNvPr id="8" name="Espace réservé du numéro de diapositive 7"/>
          <p:cNvSpPr>
            <a:spLocks noGrp="1"/>
          </p:cNvSpPr>
          <p:nvPr>
            <p:ph type="sldNum" sz="quarter" idx="15"/>
          </p:nvPr>
        </p:nvSpPr>
        <p:spPr/>
        <p:txBody>
          <a:bodyPr/>
          <a:lstStyle/>
          <a:p>
            <a:fld id="{F1AAE0E6-1385-44E0-8EAE-F204D7E7A5E9}" type="slidenum">
              <a:rPr lang="fr-FR" smtClean="0"/>
              <a:pPr/>
              <a:t>32</a:t>
            </a:fld>
            <a:endParaRPr lang="fr-F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62945"/>
            <a:ext cx="7467600" cy="754694"/>
          </a:xfrm>
          <a:prstGeom prst="rect">
            <a:avLst/>
          </a:prstGeom>
        </p:spPr>
        <p:txBody>
          <a:bodyPr vert="horz" wrap="square" lIns="0" tIns="15875" rIns="0" bIns="0" rtlCol="0">
            <a:spAutoFit/>
          </a:bodyPr>
          <a:lstStyle/>
          <a:p>
            <a:pPr marL="12700">
              <a:lnSpc>
                <a:spcPct val="100000"/>
              </a:lnSpc>
              <a:spcBef>
                <a:spcPts val="125"/>
              </a:spcBef>
            </a:pPr>
            <a:r>
              <a:rPr lang="fr-FR" sz="2400" spc="-10" dirty="0" smtClean="0"/>
              <a:t>FRAGMENTATION</a:t>
            </a:r>
            <a:r>
              <a:rPr lang="fr-FR" sz="2400" spc="345" dirty="0" smtClean="0"/>
              <a:t> </a:t>
            </a:r>
            <a:r>
              <a:rPr lang="fr-FR" sz="2400" spc="-10" dirty="0" smtClean="0"/>
              <a:t>ORIENT</a:t>
            </a:r>
            <a:r>
              <a:rPr lang="fr-FR" sz="2400" spc="-10" dirty="0" smtClean="0">
                <a:solidFill>
                  <a:srgbClr val="565F6C"/>
                </a:solidFill>
                <a:cs typeface="Century Schoolbook"/>
              </a:rPr>
              <a:t>ÉE</a:t>
            </a:r>
            <a:r>
              <a:rPr lang="fr-FR" sz="2400" spc="60" dirty="0" smtClean="0">
                <a:solidFill>
                  <a:srgbClr val="565F6C"/>
                </a:solidFill>
                <a:cs typeface="Century Schoolbook"/>
              </a:rPr>
              <a:t> </a:t>
            </a:r>
            <a:r>
              <a:rPr lang="fr-FR" sz="2400" spc="-15" dirty="0" smtClean="0">
                <a:solidFill>
                  <a:srgbClr val="565F6C"/>
                </a:solidFill>
                <a:cs typeface="Century Schoolbook"/>
              </a:rPr>
              <a:t>REQUÊTES</a:t>
            </a:r>
            <a:r>
              <a:rPr lang="fr-FR" sz="2400" dirty="0" smtClean="0">
                <a:cs typeface="Century Schoolbook"/>
              </a:rPr>
              <a:t/>
            </a:r>
            <a:br>
              <a:rPr lang="fr-FR" sz="2400" dirty="0" smtClean="0">
                <a:cs typeface="Century Schoolbook"/>
              </a:rPr>
            </a:br>
            <a:endParaRPr sz="2400" spc="-110" dirty="0"/>
          </a:p>
        </p:txBody>
      </p:sp>
      <p:sp>
        <p:nvSpPr>
          <p:cNvPr id="7" name="object 7"/>
          <p:cNvSpPr/>
          <p:nvPr/>
        </p:nvSpPr>
        <p:spPr>
          <a:xfrm>
            <a:off x="3214623" y="4357751"/>
            <a:ext cx="4276725" cy="647700"/>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35496" y="1488413"/>
            <a:ext cx="8412394" cy="5262338"/>
          </a:xfrm>
          <a:prstGeom prst="rect">
            <a:avLst/>
          </a:prstGeom>
        </p:spPr>
        <p:txBody>
          <a:bodyPr vert="horz" wrap="square" lIns="0" tIns="12065" rIns="0" bIns="0" rtlCol="0">
            <a:spAutoFit/>
          </a:bodyPr>
          <a:lstStyle/>
          <a:p>
            <a:pPr marL="858838" indent="-409575" algn="just">
              <a:lnSpc>
                <a:spcPct val="100000"/>
              </a:lnSpc>
              <a:spcBef>
                <a:spcPts val="1840"/>
              </a:spcBef>
              <a:buFont typeface="Courier New" pitchFamily="49" charset="0"/>
              <a:buChar char="o"/>
            </a:pPr>
            <a:r>
              <a:rPr sz="2400" dirty="0" smtClean="0">
                <a:latin typeface="Times New Roman"/>
                <a:cs typeface="Times New Roman"/>
              </a:rPr>
              <a:t>Pour</a:t>
            </a:r>
            <a:r>
              <a:rPr sz="2400" spc="100" dirty="0" smtClean="0">
                <a:latin typeface="Times New Roman"/>
                <a:cs typeface="Times New Roman"/>
              </a:rPr>
              <a:t> </a:t>
            </a:r>
            <a:r>
              <a:rPr sz="2400" dirty="0">
                <a:latin typeface="Times New Roman"/>
                <a:cs typeface="Times New Roman"/>
              </a:rPr>
              <a:t>le</a:t>
            </a:r>
            <a:r>
              <a:rPr sz="2400" spc="105" dirty="0">
                <a:latin typeface="Times New Roman"/>
                <a:cs typeface="Times New Roman"/>
              </a:rPr>
              <a:t> </a:t>
            </a:r>
            <a:r>
              <a:rPr sz="2400" spc="-5" dirty="0">
                <a:latin typeface="Times New Roman"/>
                <a:cs typeface="Times New Roman"/>
              </a:rPr>
              <a:t>cas</a:t>
            </a:r>
            <a:r>
              <a:rPr sz="2400" spc="95" dirty="0">
                <a:latin typeface="Times New Roman"/>
                <a:cs typeface="Times New Roman"/>
              </a:rPr>
              <a:t> </a:t>
            </a:r>
            <a:r>
              <a:rPr sz="2400" spc="-5" dirty="0">
                <a:latin typeface="Times New Roman"/>
                <a:cs typeface="Times New Roman"/>
              </a:rPr>
              <a:t>de</a:t>
            </a:r>
            <a:r>
              <a:rPr sz="2400" spc="105" dirty="0">
                <a:latin typeface="Times New Roman"/>
                <a:cs typeface="Times New Roman"/>
              </a:rPr>
              <a:t> </a:t>
            </a:r>
            <a:r>
              <a:rPr sz="2400" spc="-5" dirty="0">
                <a:latin typeface="Times New Roman"/>
                <a:cs typeface="Times New Roman"/>
              </a:rPr>
              <a:t>la</a:t>
            </a:r>
            <a:r>
              <a:rPr sz="2400" spc="110" dirty="0">
                <a:latin typeface="Times New Roman"/>
                <a:cs typeface="Times New Roman"/>
              </a:rPr>
              <a:t> </a:t>
            </a:r>
            <a:r>
              <a:rPr sz="2400" spc="-5" dirty="0">
                <a:latin typeface="Times New Roman"/>
                <a:cs typeface="Times New Roman"/>
              </a:rPr>
              <a:t>fragmentation</a:t>
            </a:r>
            <a:r>
              <a:rPr sz="2400" spc="110" dirty="0">
                <a:latin typeface="Times New Roman"/>
                <a:cs typeface="Times New Roman"/>
              </a:rPr>
              <a:t> </a:t>
            </a:r>
            <a:r>
              <a:rPr sz="2400" spc="-5" dirty="0">
                <a:latin typeface="Times New Roman"/>
                <a:cs typeface="Times New Roman"/>
              </a:rPr>
              <a:t>verticale</a:t>
            </a:r>
            <a:r>
              <a:rPr sz="2400" spc="114" dirty="0">
                <a:latin typeface="Times New Roman"/>
                <a:cs typeface="Times New Roman"/>
              </a:rPr>
              <a:t> </a:t>
            </a:r>
            <a:r>
              <a:rPr sz="2400" spc="-5" dirty="0">
                <a:latin typeface="Times New Roman"/>
                <a:cs typeface="Times New Roman"/>
              </a:rPr>
              <a:t>on</a:t>
            </a:r>
            <a:r>
              <a:rPr sz="2400" spc="105" dirty="0">
                <a:latin typeface="Times New Roman"/>
                <a:cs typeface="Times New Roman"/>
              </a:rPr>
              <a:t> </a:t>
            </a:r>
            <a:r>
              <a:rPr sz="2400" dirty="0">
                <a:latin typeface="Times New Roman"/>
                <a:cs typeface="Times New Roman"/>
              </a:rPr>
              <a:t>se</a:t>
            </a:r>
            <a:r>
              <a:rPr sz="2400" spc="105" dirty="0">
                <a:latin typeface="Times New Roman"/>
                <a:cs typeface="Times New Roman"/>
              </a:rPr>
              <a:t> </a:t>
            </a:r>
            <a:r>
              <a:rPr sz="2400" spc="-5" dirty="0">
                <a:latin typeface="Times New Roman"/>
                <a:cs typeface="Times New Roman"/>
              </a:rPr>
              <a:t>base</a:t>
            </a:r>
            <a:r>
              <a:rPr sz="2400" spc="105" dirty="0">
                <a:latin typeface="Times New Roman"/>
                <a:cs typeface="Times New Roman"/>
              </a:rPr>
              <a:t> </a:t>
            </a:r>
            <a:r>
              <a:rPr sz="2400" dirty="0">
                <a:latin typeface="Times New Roman"/>
                <a:cs typeface="Times New Roman"/>
              </a:rPr>
              <a:t>sur</a:t>
            </a:r>
            <a:r>
              <a:rPr sz="2400" spc="100" dirty="0">
                <a:latin typeface="Times New Roman"/>
                <a:cs typeface="Times New Roman"/>
              </a:rPr>
              <a:t> </a:t>
            </a:r>
            <a:r>
              <a:rPr sz="2400" dirty="0">
                <a:latin typeface="Times New Roman"/>
                <a:cs typeface="Times New Roman"/>
              </a:rPr>
              <a:t>les</a:t>
            </a:r>
          </a:p>
          <a:p>
            <a:pPr marL="449263" indent="85725" algn="just">
              <a:lnSpc>
                <a:spcPct val="100000"/>
              </a:lnSpc>
              <a:tabLst>
                <a:tab pos="811213" algn="l"/>
              </a:tabLst>
            </a:pPr>
            <a:r>
              <a:rPr sz="2400" dirty="0">
                <a:latin typeface="Times New Roman"/>
                <a:cs typeface="Times New Roman"/>
              </a:rPr>
              <a:t>conditions de</a:t>
            </a:r>
            <a:r>
              <a:rPr sz="2400" spc="-50" dirty="0">
                <a:latin typeface="Times New Roman"/>
                <a:cs typeface="Times New Roman"/>
              </a:rPr>
              <a:t> </a:t>
            </a:r>
            <a:r>
              <a:rPr sz="2400" dirty="0">
                <a:latin typeface="Times New Roman"/>
                <a:cs typeface="Times New Roman"/>
              </a:rPr>
              <a:t>projections.</a:t>
            </a:r>
          </a:p>
          <a:p>
            <a:pPr marL="1259840" marR="359410" algn="just">
              <a:lnSpc>
                <a:spcPct val="100000"/>
              </a:lnSpc>
              <a:spcBef>
                <a:spcPts val="495"/>
              </a:spcBef>
              <a:buFont typeface="Courier New" pitchFamily="49" charset="0"/>
              <a:buChar char="o"/>
            </a:pPr>
            <a:r>
              <a:rPr sz="2000" spc="-5" dirty="0">
                <a:latin typeface="Times New Roman"/>
                <a:cs typeface="Times New Roman"/>
              </a:rPr>
              <a:t>Soient </a:t>
            </a:r>
            <a:r>
              <a:rPr sz="2000" dirty="0">
                <a:latin typeface="Times New Roman"/>
                <a:cs typeface="Times New Roman"/>
              </a:rPr>
              <a:t>p1, p2, ..., </a:t>
            </a:r>
            <a:r>
              <a:rPr sz="2000" spc="-5" dirty="0">
                <a:latin typeface="Times New Roman"/>
                <a:cs typeface="Times New Roman"/>
              </a:rPr>
              <a:t>pn les conditions </a:t>
            </a:r>
            <a:r>
              <a:rPr sz="2000" dirty="0">
                <a:latin typeface="Times New Roman"/>
                <a:cs typeface="Times New Roman"/>
              </a:rPr>
              <a:t>de </a:t>
            </a:r>
            <a:r>
              <a:rPr sz="2000" spc="-5" dirty="0">
                <a:latin typeface="Times New Roman"/>
                <a:cs typeface="Times New Roman"/>
              </a:rPr>
              <a:t>projection </a:t>
            </a:r>
            <a:r>
              <a:rPr sz="2000" dirty="0">
                <a:latin typeface="Times New Roman"/>
                <a:cs typeface="Times New Roman"/>
              </a:rPr>
              <a:t>qui ont </a:t>
            </a:r>
            <a:r>
              <a:rPr sz="2000" spc="-5" dirty="0">
                <a:latin typeface="Times New Roman"/>
                <a:cs typeface="Times New Roman"/>
              </a:rPr>
              <a:t>été  </a:t>
            </a:r>
            <a:r>
              <a:rPr sz="2000" dirty="0">
                <a:latin typeface="Times New Roman"/>
                <a:cs typeface="Times New Roman"/>
              </a:rPr>
              <a:t>extraites des</a:t>
            </a:r>
            <a:r>
              <a:rPr sz="2000" spc="-55" dirty="0">
                <a:latin typeface="Times New Roman"/>
                <a:cs typeface="Times New Roman"/>
              </a:rPr>
              <a:t> </a:t>
            </a:r>
            <a:r>
              <a:rPr sz="2000" dirty="0" err="1" smtClean="0">
                <a:latin typeface="Times New Roman"/>
                <a:cs typeface="Times New Roman"/>
              </a:rPr>
              <a:t>requêtes</a:t>
            </a:r>
            <a:r>
              <a:rPr sz="2000" dirty="0" smtClean="0">
                <a:latin typeface="Times New Roman"/>
                <a:cs typeface="Times New Roman"/>
              </a:rPr>
              <a:t>,</a:t>
            </a:r>
          </a:p>
          <a:p>
            <a:pPr marL="1259840" marR="358775" algn="just">
              <a:lnSpc>
                <a:spcPct val="100000"/>
              </a:lnSpc>
              <a:spcBef>
                <a:spcPts val="480"/>
              </a:spcBef>
              <a:buFont typeface="Courier New" pitchFamily="49" charset="0"/>
              <a:buChar char="o"/>
            </a:pPr>
            <a:r>
              <a:rPr sz="2000" dirty="0" smtClean="0">
                <a:latin typeface="Times New Roman"/>
                <a:cs typeface="Times New Roman"/>
              </a:rPr>
              <a:t>On </a:t>
            </a:r>
            <a:r>
              <a:rPr sz="2000" spc="-5" dirty="0" err="1" smtClean="0">
                <a:latin typeface="Times New Roman"/>
                <a:cs typeface="Times New Roman"/>
              </a:rPr>
              <a:t>forme</a:t>
            </a:r>
            <a:r>
              <a:rPr sz="2000" spc="-5" dirty="0" smtClean="0">
                <a:latin typeface="Times New Roman"/>
                <a:cs typeface="Times New Roman"/>
              </a:rPr>
              <a:t> </a:t>
            </a:r>
            <a:r>
              <a:rPr sz="2000" spc="-5" dirty="0" err="1" smtClean="0">
                <a:latin typeface="Times New Roman"/>
                <a:cs typeface="Times New Roman"/>
              </a:rPr>
              <a:t>l'ensemble</a:t>
            </a:r>
            <a:r>
              <a:rPr sz="2000" spc="-5" dirty="0" smtClean="0">
                <a:latin typeface="Times New Roman"/>
                <a:cs typeface="Times New Roman"/>
              </a:rPr>
              <a:t> </a:t>
            </a:r>
            <a:r>
              <a:rPr sz="2000" dirty="0" smtClean="0">
                <a:latin typeface="Times New Roman"/>
                <a:cs typeface="Times New Roman"/>
              </a:rPr>
              <a:t>des </a:t>
            </a:r>
            <a:r>
              <a:rPr sz="2000" spc="10" dirty="0" smtClean="0">
                <a:latin typeface="Times New Roman"/>
                <a:cs typeface="Times New Roman"/>
              </a:rPr>
              <a:t>2</a:t>
            </a:r>
            <a:r>
              <a:rPr sz="1950" spc="15" baseline="25641" dirty="0" smtClean="0">
                <a:latin typeface="Times New Roman"/>
                <a:cs typeface="Times New Roman"/>
              </a:rPr>
              <a:t>n </a:t>
            </a:r>
            <a:r>
              <a:rPr sz="2000" spc="-5" dirty="0" smtClean="0">
                <a:latin typeface="Times New Roman"/>
                <a:cs typeface="Times New Roman"/>
              </a:rPr>
              <a:t>intersections des expressions </a:t>
            </a:r>
            <a:r>
              <a:rPr sz="2000" spc="5" dirty="0" smtClean="0">
                <a:latin typeface="Times New Roman"/>
                <a:cs typeface="Times New Roman"/>
              </a:rPr>
              <a:t>de  </a:t>
            </a:r>
            <a:r>
              <a:rPr sz="2000" spc="-5" dirty="0" smtClean="0">
                <a:latin typeface="Times New Roman"/>
                <a:cs typeface="Times New Roman"/>
              </a:rPr>
              <a:t>projection </a:t>
            </a:r>
            <a:r>
              <a:rPr sz="2000" spc="-5" dirty="0" err="1" smtClean="0">
                <a:latin typeface="Times New Roman"/>
                <a:cs typeface="Times New Roman"/>
              </a:rPr>
              <a:t>où</a:t>
            </a:r>
            <a:r>
              <a:rPr sz="2000" spc="-5" dirty="0" smtClean="0">
                <a:latin typeface="Times New Roman"/>
                <a:cs typeface="Times New Roman"/>
              </a:rPr>
              <a:t> </a:t>
            </a:r>
            <a:r>
              <a:rPr sz="2000" spc="-5" dirty="0" err="1" smtClean="0">
                <a:latin typeface="Times New Roman"/>
                <a:cs typeface="Times New Roman"/>
              </a:rPr>
              <a:t>chacune</a:t>
            </a:r>
            <a:r>
              <a:rPr sz="2000" spc="-5" dirty="0" smtClean="0">
                <a:latin typeface="Times New Roman"/>
                <a:cs typeface="Times New Roman"/>
              </a:rPr>
              <a:t> </a:t>
            </a:r>
            <a:r>
              <a:rPr sz="2000" dirty="0" err="1" smtClean="0">
                <a:latin typeface="Times New Roman"/>
                <a:cs typeface="Times New Roman"/>
              </a:rPr>
              <a:t>est</a:t>
            </a:r>
            <a:r>
              <a:rPr sz="2000" dirty="0" smtClean="0">
                <a:latin typeface="Times New Roman"/>
                <a:cs typeface="Times New Roman"/>
              </a:rPr>
              <a:t> </a:t>
            </a:r>
            <a:r>
              <a:rPr sz="2000" spc="-5" dirty="0" err="1" smtClean="0">
                <a:latin typeface="Times New Roman"/>
                <a:cs typeface="Times New Roman"/>
              </a:rPr>
              <a:t>soit</a:t>
            </a:r>
            <a:r>
              <a:rPr sz="2000" spc="-5" dirty="0" smtClean="0">
                <a:latin typeface="Times New Roman"/>
                <a:cs typeface="Times New Roman"/>
              </a:rPr>
              <a:t> </a:t>
            </a:r>
            <a:r>
              <a:rPr sz="2000" spc="-5" dirty="0" err="1" smtClean="0">
                <a:latin typeface="Times New Roman"/>
                <a:cs typeface="Times New Roman"/>
              </a:rPr>
              <a:t>l'expression</a:t>
            </a:r>
            <a:r>
              <a:rPr sz="2000" spc="-5" dirty="0" smtClean="0">
                <a:latin typeface="Times New Roman"/>
                <a:cs typeface="Times New Roman"/>
              </a:rPr>
              <a:t> </a:t>
            </a:r>
            <a:r>
              <a:rPr sz="2000" spc="-5" dirty="0" err="1" smtClean="0">
                <a:latin typeface="Times New Roman"/>
                <a:cs typeface="Times New Roman"/>
              </a:rPr>
              <a:t>initiale</a:t>
            </a:r>
            <a:r>
              <a:rPr sz="2000" spc="-5" dirty="0" smtClean="0">
                <a:latin typeface="Times New Roman"/>
                <a:cs typeface="Times New Roman"/>
              </a:rPr>
              <a:t> </a:t>
            </a:r>
            <a:r>
              <a:rPr sz="2000" dirty="0" err="1" smtClean="0">
                <a:latin typeface="Times New Roman"/>
                <a:cs typeface="Times New Roman"/>
              </a:rPr>
              <a:t>soit</a:t>
            </a:r>
            <a:r>
              <a:rPr sz="2000" dirty="0" smtClean="0">
                <a:latin typeface="Times New Roman"/>
                <a:cs typeface="Times New Roman"/>
              </a:rPr>
              <a:t> </a:t>
            </a:r>
            <a:r>
              <a:rPr sz="2000" spc="-10" dirty="0" smtClean="0">
                <a:latin typeface="Times New Roman"/>
                <a:cs typeface="Times New Roman"/>
              </a:rPr>
              <a:t>son  </a:t>
            </a:r>
            <a:r>
              <a:rPr sz="2000" spc="-5" dirty="0" err="1" smtClean="0">
                <a:latin typeface="Times New Roman"/>
                <a:cs typeface="Times New Roman"/>
              </a:rPr>
              <a:t>complément</a:t>
            </a:r>
            <a:r>
              <a:rPr sz="2000" spc="-5" dirty="0" smtClean="0">
                <a:latin typeface="Times New Roman"/>
                <a:cs typeface="Times New Roman"/>
              </a:rPr>
              <a:t>.</a:t>
            </a:r>
            <a:endParaRPr lang="fr-FR" sz="2000" spc="-5" dirty="0" smtClean="0">
              <a:latin typeface="Times New Roman"/>
              <a:cs typeface="Times New Roman"/>
            </a:endParaRPr>
          </a:p>
          <a:p>
            <a:pPr marL="1259840" marR="358775" algn="just">
              <a:lnSpc>
                <a:spcPct val="100000"/>
              </a:lnSpc>
              <a:spcBef>
                <a:spcPts val="480"/>
              </a:spcBef>
            </a:pPr>
            <a:endParaRPr lang="fr-FR" sz="2000" spc="-5" dirty="0" smtClean="0">
              <a:latin typeface="Times New Roman"/>
              <a:cs typeface="Times New Roman"/>
            </a:endParaRPr>
          </a:p>
          <a:p>
            <a:pPr marL="1259840" marR="358775" algn="just">
              <a:lnSpc>
                <a:spcPct val="100000"/>
              </a:lnSpc>
              <a:spcBef>
                <a:spcPts val="480"/>
              </a:spcBef>
            </a:pPr>
            <a:endParaRPr sz="2000" dirty="0" smtClean="0">
              <a:latin typeface="Times New Roman"/>
              <a:cs typeface="Times New Roman"/>
            </a:endParaRPr>
          </a:p>
          <a:p>
            <a:pPr>
              <a:lnSpc>
                <a:spcPct val="100000"/>
              </a:lnSpc>
              <a:spcBef>
                <a:spcPts val="20"/>
              </a:spcBef>
            </a:pPr>
            <a:endParaRPr sz="2750" dirty="0">
              <a:latin typeface="Times New Roman"/>
              <a:cs typeface="Times New Roman"/>
            </a:endParaRPr>
          </a:p>
          <a:p>
            <a:pPr marL="1288415" marR="30480" indent="-287020">
              <a:lnSpc>
                <a:spcPct val="100000"/>
              </a:lnSpc>
              <a:tabLst>
                <a:tab pos="1737995" algn="l"/>
                <a:tab pos="2199640" algn="l"/>
                <a:tab pos="2592705" algn="l"/>
                <a:tab pos="3041015" algn="l"/>
                <a:tab pos="4150360" algn="l"/>
                <a:tab pos="4584700" algn="l"/>
                <a:tab pos="6033135" algn="l"/>
                <a:tab pos="6426200" algn="l"/>
                <a:tab pos="7536180" algn="l"/>
                <a:tab pos="8013065" algn="l"/>
              </a:tabLst>
            </a:pPr>
            <a:r>
              <a:rPr sz="2000" spc="-5" dirty="0">
                <a:latin typeface="Wingdings"/>
                <a:cs typeface="Wingdings"/>
              </a:rPr>
              <a:t></a:t>
            </a:r>
            <a:r>
              <a:rPr sz="2000" spc="5" dirty="0">
                <a:latin typeface="Times New Roman"/>
                <a:cs typeface="Times New Roman"/>
              </a:rPr>
              <a:t>O</a:t>
            </a:r>
            <a:r>
              <a:rPr sz="2000" dirty="0">
                <a:latin typeface="Times New Roman"/>
                <a:cs typeface="Times New Roman"/>
              </a:rPr>
              <a:t>n	ôte	</a:t>
            </a:r>
            <a:r>
              <a:rPr sz="2000" spc="5" dirty="0">
                <a:latin typeface="Times New Roman"/>
                <a:cs typeface="Times New Roman"/>
              </a:rPr>
              <a:t>d</a:t>
            </a:r>
            <a:r>
              <a:rPr sz="2000" dirty="0">
                <a:latin typeface="Times New Roman"/>
                <a:cs typeface="Times New Roman"/>
              </a:rPr>
              <a:t>e	</a:t>
            </a:r>
            <a:r>
              <a:rPr sz="2000" spc="-5" dirty="0">
                <a:latin typeface="Times New Roman"/>
                <a:cs typeface="Times New Roman"/>
              </a:rPr>
              <a:t>ce</a:t>
            </a:r>
            <a:r>
              <a:rPr sz="2000" dirty="0">
                <a:latin typeface="Times New Roman"/>
                <a:cs typeface="Times New Roman"/>
              </a:rPr>
              <a:t>t	e</a:t>
            </a:r>
            <a:r>
              <a:rPr sz="2000" spc="-10" dirty="0">
                <a:latin typeface="Times New Roman"/>
                <a:cs typeface="Times New Roman"/>
              </a:rPr>
              <a:t>n</a:t>
            </a:r>
            <a:r>
              <a:rPr sz="2000" dirty="0">
                <a:latin typeface="Times New Roman"/>
                <a:cs typeface="Times New Roman"/>
              </a:rPr>
              <a:t>se</a:t>
            </a:r>
            <a:r>
              <a:rPr sz="2000" spc="-25" dirty="0">
                <a:latin typeface="Times New Roman"/>
                <a:cs typeface="Times New Roman"/>
              </a:rPr>
              <a:t>m</a:t>
            </a:r>
            <a:r>
              <a:rPr sz="2000" dirty="0">
                <a:latin typeface="Times New Roman"/>
                <a:cs typeface="Times New Roman"/>
              </a:rPr>
              <a:t>ble	l</a:t>
            </a:r>
            <a:r>
              <a:rPr sz="2000" spc="-10" dirty="0">
                <a:latin typeface="Times New Roman"/>
                <a:cs typeface="Times New Roman"/>
              </a:rPr>
              <a:t>e</a:t>
            </a:r>
            <a:r>
              <a:rPr sz="2000" dirty="0">
                <a:latin typeface="Times New Roman"/>
                <a:cs typeface="Times New Roman"/>
              </a:rPr>
              <a:t>s	</a:t>
            </a:r>
            <a:r>
              <a:rPr sz="2000" spc="-15" dirty="0">
                <a:latin typeface="Times New Roman"/>
                <a:cs typeface="Times New Roman"/>
              </a:rPr>
              <a:t>c</a:t>
            </a:r>
            <a:r>
              <a:rPr sz="2000" dirty="0">
                <a:latin typeface="Times New Roman"/>
                <a:cs typeface="Times New Roman"/>
              </a:rPr>
              <a:t>o</a:t>
            </a:r>
            <a:r>
              <a:rPr sz="2000" spc="-15" dirty="0">
                <a:latin typeface="Times New Roman"/>
                <a:cs typeface="Times New Roman"/>
              </a:rPr>
              <a:t>n</a:t>
            </a:r>
            <a:r>
              <a:rPr sz="2000" dirty="0">
                <a:latin typeface="Times New Roman"/>
                <a:cs typeface="Times New Roman"/>
              </a:rPr>
              <a:t>jonc</a:t>
            </a:r>
            <a:r>
              <a:rPr sz="2000" spc="-10" dirty="0">
                <a:latin typeface="Times New Roman"/>
                <a:cs typeface="Times New Roman"/>
              </a:rPr>
              <a:t>t</a:t>
            </a:r>
            <a:r>
              <a:rPr sz="2000" spc="-20" dirty="0">
                <a:latin typeface="Times New Roman"/>
                <a:cs typeface="Times New Roman"/>
              </a:rPr>
              <a:t>i</a:t>
            </a:r>
            <a:r>
              <a:rPr sz="2000" dirty="0">
                <a:latin typeface="Times New Roman"/>
                <a:cs typeface="Times New Roman"/>
              </a:rPr>
              <a:t>ons	</a:t>
            </a:r>
            <a:r>
              <a:rPr sz="2000" spc="5" dirty="0">
                <a:latin typeface="Times New Roman"/>
                <a:cs typeface="Times New Roman"/>
              </a:rPr>
              <a:t>d</a:t>
            </a:r>
            <a:r>
              <a:rPr sz="2000" dirty="0">
                <a:latin typeface="Times New Roman"/>
                <a:cs typeface="Times New Roman"/>
              </a:rPr>
              <a:t>e	</a:t>
            </a:r>
            <a:r>
              <a:rPr sz="2000" spc="-15" dirty="0">
                <a:latin typeface="Times New Roman"/>
                <a:cs typeface="Times New Roman"/>
              </a:rPr>
              <a:t>c</a:t>
            </a:r>
            <a:r>
              <a:rPr sz="2000" dirty="0">
                <a:latin typeface="Times New Roman"/>
                <a:cs typeface="Times New Roman"/>
              </a:rPr>
              <a:t>ondi</a:t>
            </a:r>
            <a:r>
              <a:rPr sz="2000" spc="-20" dirty="0">
                <a:latin typeface="Times New Roman"/>
                <a:cs typeface="Times New Roman"/>
              </a:rPr>
              <a:t>t</a:t>
            </a:r>
            <a:r>
              <a:rPr sz="2000" dirty="0">
                <a:latin typeface="Times New Roman"/>
                <a:cs typeface="Times New Roman"/>
              </a:rPr>
              <a:t>i</a:t>
            </a:r>
            <a:r>
              <a:rPr sz="2000" spc="-15" dirty="0">
                <a:latin typeface="Times New Roman"/>
                <a:cs typeface="Times New Roman"/>
              </a:rPr>
              <a:t>o</a:t>
            </a:r>
            <a:r>
              <a:rPr sz="2000" dirty="0">
                <a:latin typeface="Times New Roman"/>
                <a:cs typeface="Times New Roman"/>
              </a:rPr>
              <a:t>n	qui	</a:t>
            </a:r>
            <a:r>
              <a:rPr sz="2000" spc="-15" dirty="0">
                <a:latin typeface="Times New Roman"/>
                <a:cs typeface="Times New Roman"/>
              </a:rPr>
              <a:t>s</a:t>
            </a:r>
            <a:r>
              <a:rPr sz="2000" dirty="0">
                <a:latin typeface="Times New Roman"/>
                <a:cs typeface="Times New Roman"/>
              </a:rPr>
              <a:t>ont  toujours fausses, </a:t>
            </a:r>
            <a:r>
              <a:rPr sz="2000" spc="-5" dirty="0">
                <a:latin typeface="Times New Roman"/>
                <a:cs typeface="Times New Roman"/>
              </a:rPr>
              <a:t>et </a:t>
            </a:r>
            <a:r>
              <a:rPr sz="2000" dirty="0">
                <a:latin typeface="Times New Roman"/>
                <a:cs typeface="Times New Roman"/>
              </a:rPr>
              <a:t>on </a:t>
            </a:r>
            <a:r>
              <a:rPr sz="2000" spc="-5" dirty="0">
                <a:latin typeface="Times New Roman"/>
                <a:cs typeface="Times New Roman"/>
              </a:rPr>
              <a:t>simplifie les</a:t>
            </a:r>
            <a:r>
              <a:rPr sz="2000" spc="-125" dirty="0">
                <a:latin typeface="Times New Roman"/>
                <a:cs typeface="Times New Roman"/>
              </a:rPr>
              <a:t> </a:t>
            </a:r>
            <a:r>
              <a:rPr sz="2000" dirty="0">
                <a:latin typeface="Times New Roman"/>
                <a:cs typeface="Times New Roman"/>
              </a:rPr>
              <a:t>autres.</a:t>
            </a:r>
          </a:p>
          <a:p>
            <a:pPr>
              <a:lnSpc>
                <a:spcPct val="100000"/>
              </a:lnSpc>
              <a:spcBef>
                <a:spcPts val="25"/>
              </a:spcBef>
            </a:pPr>
            <a:endParaRPr sz="2900" dirty="0">
              <a:latin typeface="Times New Roman"/>
              <a:cs typeface="Times New Roman"/>
            </a:endParaRPr>
          </a:p>
          <a:p>
            <a:pPr marL="1288415" marR="33655">
              <a:lnSpc>
                <a:spcPct val="100000"/>
              </a:lnSpc>
            </a:pPr>
            <a:r>
              <a:rPr sz="2000" dirty="0">
                <a:solidFill>
                  <a:srgbClr val="FF0000"/>
                </a:solidFill>
                <a:latin typeface="Times New Roman"/>
                <a:cs typeface="Times New Roman"/>
              </a:rPr>
              <a:t>NB: Dans </a:t>
            </a:r>
            <a:r>
              <a:rPr sz="2000" spc="-5" dirty="0">
                <a:solidFill>
                  <a:srgbClr val="FF0000"/>
                </a:solidFill>
                <a:latin typeface="Times New Roman"/>
                <a:cs typeface="Times New Roman"/>
              </a:rPr>
              <a:t>le cas </a:t>
            </a:r>
            <a:r>
              <a:rPr sz="2000" dirty="0">
                <a:solidFill>
                  <a:srgbClr val="FF0000"/>
                </a:solidFill>
                <a:latin typeface="Times New Roman"/>
                <a:cs typeface="Times New Roman"/>
              </a:rPr>
              <a:t>où </a:t>
            </a:r>
            <a:r>
              <a:rPr sz="2000" spc="-5" dirty="0">
                <a:solidFill>
                  <a:srgbClr val="FF0000"/>
                </a:solidFill>
                <a:latin typeface="Times New Roman"/>
                <a:cs typeface="Times New Roman"/>
              </a:rPr>
              <a:t>la requête </a:t>
            </a:r>
            <a:r>
              <a:rPr sz="2000" dirty="0">
                <a:solidFill>
                  <a:srgbClr val="FF0000"/>
                </a:solidFill>
                <a:latin typeface="Times New Roman"/>
                <a:cs typeface="Times New Roman"/>
              </a:rPr>
              <a:t>ne </a:t>
            </a:r>
            <a:r>
              <a:rPr sz="2000" spc="-5" dirty="0">
                <a:solidFill>
                  <a:srgbClr val="FF0000"/>
                </a:solidFill>
                <a:latin typeface="Times New Roman"/>
                <a:cs typeface="Times New Roman"/>
              </a:rPr>
              <a:t>possède pas d’attributs de jointure </a:t>
            </a:r>
            <a:r>
              <a:rPr sz="2000" spc="-20" dirty="0">
                <a:solidFill>
                  <a:srgbClr val="FF0000"/>
                </a:solidFill>
                <a:latin typeface="Times New Roman"/>
                <a:cs typeface="Times New Roman"/>
              </a:rPr>
              <a:t>il  </a:t>
            </a:r>
            <a:r>
              <a:rPr sz="2000" dirty="0">
                <a:solidFill>
                  <a:srgbClr val="FF0000"/>
                </a:solidFill>
                <a:latin typeface="Times New Roman"/>
                <a:cs typeface="Times New Roman"/>
              </a:rPr>
              <a:t>faut </a:t>
            </a:r>
            <a:r>
              <a:rPr sz="2000" spc="-5" dirty="0">
                <a:solidFill>
                  <a:srgbClr val="FF0000"/>
                </a:solidFill>
                <a:latin typeface="Times New Roman"/>
                <a:cs typeface="Times New Roman"/>
              </a:rPr>
              <a:t>les</a:t>
            </a:r>
            <a:r>
              <a:rPr sz="2000" spc="-50" dirty="0">
                <a:solidFill>
                  <a:srgbClr val="FF0000"/>
                </a:solidFill>
                <a:latin typeface="Times New Roman"/>
                <a:cs typeface="Times New Roman"/>
              </a:rPr>
              <a:t> </a:t>
            </a:r>
            <a:r>
              <a:rPr sz="2000" spc="-15" dirty="0">
                <a:solidFill>
                  <a:srgbClr val="FF0000"/>
                </a:solidFill>
                <a:latin typeface="Times New Roman"/>
                <a:cs typeface="Times New Roman"/>
              </a:rPr>
              <a:t>ajouter.</a:t>
            </a:r>
            <a:endParaRPr sz="2000" dirty="0">
              <a:latin typeface="Times New Roman"/>
              <a:cs typeface="Times New Roman"/>
            </a:endParaRPr>
          </a:p>
        </p:txBody>
      </p:sp>
      <p:sp>
        <p:nvSpPr>
          <p:cNvPr id="10" name="Espace réservé du numéro de diapositive 9"/>
          <p:cNvSpPr>
            <a:spLocks noGrp="1"/>
          </p:cNvSpPr>
          <p:nvPr>
            <p:ph type="sldNum" sz="quarter" idx="15"/>
          </p:nvPr>
        </p:nvSpPr>
        <p:spPr/>
        <p:txBody>
          <a:bodyPr/>
          <a:lstStyle/>
          <a:p>
            <a:fld id="{F1AAE0E6-1385-44E0-8EAE-F204D7E7A5E9}" type="slidenum">
              <a:rPr lang="fr-FR" smtClean="0"/>
              <a:pPr/>
              <a:t>33</a:t>
            </a:fld>
            <a:endParaRPr lang="fr-F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62945"/>
            <a:ext cx="7467600" cy="754694"/>
          </a:xfrm>
          <a:prstGeom prst="rect">
            <a:avLst/>
          </a:prstGeom>
        </p:spPr>
        <p:txBody>
          <a:bodyPr vert="horz" wrap="square" lIns="0" tIns="15875" rIns="0" bIns="0" rtlCol="0">
            <a:spAutoFit/>
          </a:bodyPr>
          <a:lstStyle/>
          <a:p>
            <a:pPr marL="12700">
              <a:lnSpc>
                <a:spcPct val="100000"/>
              </a:lnSpc>
              <a:spcBef>
                <a:spcPts val="125"/>
              </a:spcBef>
            </a:pPr>
            <a:r>
              <a:rPr lang="fr-FR" sz="2400" spc="-10" dirty="0" smtClean="0"/>
              <a:t>FRAGMENTATION</a:t>
            </a:r>
            <a:r>
              <a:rPr lang="fr-FR" sz="2400" spc="345" dirty="0" smtClean="0"/>
              <a:t> </a:t>
            </a:r>
            <a:r>
              <a:rPr lang="fr-FR" sz="2400" spc="-10" dirty="0" smtClean="0"/>
              <a:t>ORIENT</a:t>
            </a:r>
            <a:r>
              <a:rPr lang="fr-FR" sz="2400" spc="-10" dirty="0" smtClean="0">
                <a:solidFill>
                  <a:srgbClr val="565F6C"/>
                </a:solidFill>
                <a:cs typeface="Century Schoolbook"/>
              </a:rPr>
              <a:t>ÉE</a:t>
            </a:r>
            <a:r>
              <a:rPr lang="fr-FR" sz="2400" spc="60" dirty="0" smtClean="0">
                <a:solidFill>
                  <a:srgbClr val="565F6C"/>
                </a:solidFill>
                <a:cs typeface="Century Schoolbook"/>
              </a:rPr>
              <a:t> </a:t>
            </a:r>
            <a:r>
              <a:rPr lang="fr-FR" sz="2400" spc="-15" dirty="0" smtClean="0">
                <a:solidFill>
                  <a:srgbClr val="565F6C"/>
                </a:solidFill>
                <a:cs typeface="Century Schoolbook"/>
              </a:rPr>
              <a:t>REQUÊTES</a:t>
            </a:r>
            <a:r>
              <a:rPr lang="fr-FR" sz="2400" dirty="0" smtClean="0">
                <a:cs typeface="Century Schoolbook"/>
              </a:rPr>
              <a:t/>
            </a:r>
            <a:br>
              <a:rPr lang="fr-FR" sz="2400" dirty="0" smtClean="0">
                <a:cs typeface="Century Schoolbook"/>
              </a:rPr>
            </a:br>
            <a:endParaRPr sz="2400" spc="-110" dirty="0"/>
          </a:p>
        </p:txBody>
      </p:sp>
      <p:sp>
        <p:nvSpPr>
          <p:cNvPr id="5" name="object 5"/>
          <p:cNvSpPr txBox="1"/>
          <p:nvPr/>
        </p:nvSpPr>
        <p:spPr>
          <a:xfrm>
            <a:off x="324713" y="1488413"/>
            <a:ext cx="8055609" cy="1433085"/>
          </a:xfrm>
          <a:prstGeom prst="rect">
            <a:avLst/>
          </a:prstGeom>
        </p:spPr>
        <p:txBody>
          <a:bodyPr vert="horz" wrap="square" lIns="0" tIns="12065" rIns="0" bIns="0" rtlCol="0">
            <a:spAutoFit/>
          </a:bodyPr>
          <a:lstStyle/>
          <a:p>
            <a:pPr marL="795655">
              <a:lnSpc>
                <a:spcPct val="100000"/>
              </a:lnSpc>
              <a:spcBef>
                <a:spcPts val="1840"/>
              </a:spcBef>
            </a:pPr>
            <a:r>
              <a:rPr sz="2400" spc="-5" dirty="0" err="1" smtClean="0">
                <a:latin typeface="Times New Roman"/>
                <a:cs typeface="Times New Roman"/>
              </a:rPr>
              <a:t>Exemple</a:t>
            </a:r>
            <a:r>
              <a:rPr sz="2400" spc="-25" dirty="0" smtClean="0">
                <a:latin typeface="Times New Roman"/>
                <a:cs typeface="Times New Roman"/>
              </a:rPr>
              <a:t> </a:t>
            </a:r>
            <a:r>
              <a:rPr sz="2400" dirty="0">
                <a:latin typeface="Times New Roman"/>
                <a:cs typeface="Times New Roman"/>
              </a:rPr>
              <a:t>:</a:t>
            </a:r>
          </a:p>
          <a:p>
            <a:pPr marL="1196340">
              <a:spcBef>
                <a:spcPts val="495"/>
              </a:spcBef>
            </a:pPr>
            <a:r>
              <a:rPr sz="2000" dirty="0">
                <a:latin typeface="Times New Roman"/>
                <a:cs typeface="Times New Roman"/>
              </a:rPr>
              <a:t>On</a:t>
            </a:r>
            <a:r>
              <a:rPr sz="2000" spc="145" dirty="0">
                <a:latin typeface="Times New Roman"/>
                <a:cs typeface="Times New Roman"/>
              </a:rPr>
              <a:t> </a:t>
            </a:r>
            <a:r>
              <a:rPr sz="2000" spc="-5" dirty="0">
                <a:latin typeface="Times New Roman"/>
                <a:cs typeface="Times New Roman"/>
              </a:rPr>
              <a:t>considère </a:t>
            </a:r>
            <a:r>
              <a:rPr sz="2000" dirty="0">
                <a:latin typeface="Times New Roman"/>
                <a:cs typeface="Times New Roman"/>
              </a:rPr>
              <a:t>une </a:t>
            </a:r>
            <a:r>
              <a:rPr sz="2000" spc="-5" dirty="0">
                <a:latin typeface="Times New Roman"/>
                <a:cs typeface="Times New Roman"/>
              </a:rPr>
              <a:t>table CUISINIER </a:t>
            </a:r>
            <a:r>
              <a:rPr sz="2000" dirty="0">
                <a:latin typeface="Times New Roman"/>
                <a:cs typeface="Times New Roman"/>
              </a:rPr>
              <a:t>que </a:t>
            </a:r>
            <a:r>
              <a:rPr sz="2000" spc="-5" dirty="0">
                <a:latin typeface="Times New Roman"/>
                <a:cs typeface="Times New Roman"/>
              </a:rPr>
              <a:t>l'on </a:t>
            </a:r>
            <a:r>
              <a:rPr sz="2000" dirty="0">
                <a:latin typeface="Times New Roman"/>
                <a:cs typeface="Times New Roman"/>
              </a:rPr>
              <a:t>se </a:t>
            </a:r>
            <a:r>
              <a:rPr sz="2000" spc="-5" dirty="0">
                <a:latin typeface="Times New Roman"/>
                <a:cs typeface="Times New Roman"/>
              </a:rPr>
              <a:t>propose </a:t>
            </a:r>
            <a:r>
              <a:rPr sz="2000" dirty="0">
                <a:latin typeface="Times New Roman"/>
                <a:cs typeface="Times New Roman"/>
              </a:rPr>
              <a:t>de </a:t>
            </a:r>
            <a:r>
              <a:rPr sz="2000" spc="-5" dirty="0" err="1" smtClean="0">
                <a:latin typeface="Times New Roman"/>
                <a:cs typeface="Times New Roman"/>
              </a:rPr>
              <a:t>répartir</a:t>
            </a:r>
            <a:r>
              <a:rPr lang="fr-FR" sz="2000" spc="-5" dirty="0" smtClean="0">
                <a:latin typeface="Times New Roman"/>
                <a:cs typeface="Times New Roman"/>
              </a:rPr>
              <a:t> en </a:t>
            </a:r>
            <a:r>
              <a:rPr lang="fr-FR" sz="2000" dirty="0" smtClean="0">
                <a:latin typeface="Times New Roman"/>
                <a:cs typeface="Times New Roman"/>
              </a:rPr>
              <a:t>fragments</a:t>
            </a:r>
            <a:r>
              <a:rPr lang="fr-FR" sz="2000" spc="-120" dirty="0" smtClean="0">
                <a:latin typeface="Times New Roman"/>
                <a:cs typeface="Times New Roman"/>
              </a:rPr>
              <a:t> </a:t>
            </a:r>
            <a:r>
              <a:rPr lang="fr-FR" sz="2000" dirty="0" smtClean="0">
                <a:latin typeface="Times New Roman"/>
                <a:cs typeface="Times New Roman"/>
              </a:rPr>
              <a:t>verticaux</a:t>
            </a:r>
          </a:p>
          <a:p>
            <a:pPr marL="1196340">
              <a:lnSpc>
                <a:spcPct val="100000"/>
              </a:lnSpc>
              <a:spcBef>
                <a:spcPts val="495"/>
              </a:spcBef>
            </a:pPr>
            <a:endParaRPr sz="2000" dirty="0">
              <a:latin typeface="Times New Roman"/>
              <a:cs typeface="Times New Roman"/>
            </a:endParaRPr>
          </a:p>
        </p:txBody>
      </p:sp>
      <p:sp>
        <p:nvSpPr>
          <p:cNvPr id="8" name="object 8"/>
          <p:cNvSpPr/>
          <p:nvPr/>
        </p:nvSpPr>
        <p:spPr>
          <a:xfrm>
            <a:off x="91439" y="5303520"/>
            <a:ext cx="126492" cy="134112"/>
          </a:xfrm>
          <a:prstGeom prst="rect">
            <a:avLst/>
          </a:prstGeom>
          <a:blipFill>
            <a:blip r:embed="rId2" cstate="print"/>
            <a:stretch>
              <a:fillRect/>
            </a:stretch>
          </a:blipFill>
        </p:spPr>
        <p:txBody>
          <a:bodyPr wrap="square" lIns="0" tIns="0" rIns="0" bIns="0" rtlCol="0"/>
          <a:lstStyle/>
          <a:p>
            <a:endParaRPr/>
          </a:p>
        </p:txBody>
      </p:sp>
      <p:sp>
        <p:nvSpPr>
          <p:cNvPr id="9" name="object 9"/>
          <p:cNvSpPr txBox="1"/>
          <p:nvPr/>
        </p:nvSpPr>
        <p:spPr>
          <a:xfrm>
            <a:off x="365252" y="5168341"/>
            <a:ext cx="8358505" cy="106489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On </a:t>
            </a:r>
            <a:r>
              <a:rPr sz="2000" spc="-5" dirty="0">
                <a:latin typeface="Times New Roman"/>
                <a:cs typeface="Times New Roman"/>
              </a:rPr>
              <a:t>commencera </a:t>
            </a:r>
            <a:r>
              <a:rPr sz="2000" dirty="0">
                <a:latin typeface="Times New Roman"/>
                <a:cs typeface="Times New Roman"/>
              </a:rPr>
              <a:t>par se baser sur </a:t>
            </a:r>
            <a:r>
              <a:rPr sz="2000" spc="-5" dirty="0">
                <a:latin typeface="Times New Roman"/>
                <a:cs typeface="Times New Roman"/>
              </a:rPr>
              <a:t>les </a:t>
            </a:r>
            <a:r>
              <a:rPr sz="2000" dirty="0">
                <a:latin typeface="Times New Roman"/>
                <a:cs typeface="Times New Roman"/>
              </a:rPr>
              <a:t>requêtes </a:t>
            </a:r>
            <a:r>
              <a:rPr sz="2000" spc="-5" dirty="0">
                <a:latin typeface="Times New Roman"/>
                <a:cs typeface="Times New Roman"/>
              </a:rPr>
              <a:t>les </a:t>
            </a:r>
            <a:r>
              <a:rPr sz="2000" dirty="0">
                <a:latin typeface="Times New Roman"/>
                <a:cs typeface="Times New Roman"/>
              </a:rPr>
              <a:t>plus</a:t>
            </a:r>
            <a:r>
              <a:rPr sz="2000" spc="-140" dirty="0">
                <a:latin typeface="Times New Roman"/>
                <a:cs typeface="Times New Roman"/>
              </a:rPr>
              <a:t> </a:t>
            </a:r>
            <a:r>
              <a:rPr sz="2000" dirty="0">
                <a:latin typeface="Times New Roman"/>
                <a:cs typeface="Times New Roman"/>
              </a:rPr>
              <a:t>fréquentes:</a:t>
            </a:r>
            <a:endParaRPr sz="2000">
              <a:latin typeface="Times New Roman"/>
              <a:cs typeface="Times New Roman"/>
            </a:endParaRPr>
          </a:p>
          <a:p>
            <a:pPr marL="85725" marR="5080">
              <a:lnSpc>
                <a:spcPct val="100000"/>
              </a:lnSpc>
              <a:spcBef>
                <a:spcPts val="15"/>
              </a:spcBef>
            </a:pPr>
            <a:r>
              <a:rPr sz="1600" spc="-5" dirty="0">
                <a:solidFill>
                  <a:srgbClr val="006FC0"/>
                </a:solidFill>
                <a:latin typeface="Times New Roman"/>
                <a:cs typeface="Times New Roman"/>
              </a:rPr>
              <a:t>R1</a:t>
            </a:r>
            <a:r>
              <a:rPr sz="1600" spc="-5" dirty="0">
                <a:latin typeface="Times New Roman"/>
                <a:cs typeface="Times New Roman"/>
              </a:rPr>
              <a:t>: SELECT </a:t>
            </a:r>
            <a:r>
              <a:rPr sz="1600" spc="-10" dirty="0">
                <a:latin typeface="Times New Roman"/>
                <a:cs typeface="Times New Roman"/>
              </a:rPr>
              <a:t>numero, numeq </a:t>
            </a:r>
            <a:r>
              <a:rPr sz="1600" spc="-5" dirty="0">
                <a:latin typeface="Times New Roman"/>
                <a:cs typeface="Times New Roman"/>
              </a:rPr>
              <a:t>FROM CUISINIER WHERE prenom = 'Jean' </a:t>
            </a:r>
            <a:r>
              <a:rPr sz="1600" spc="-10" dirty="0">
                <a:latin typeface="Times New Roman"/>
                <a:cs typeface="Times New Roman"/>
              </a:rPr>
              <a:t>AND </a:t>
            </a:r>
            <a:r>
              <a:rPr sz="1600" dirty="0">
                <a:latin typeface="Times New Roman"/>
                <a:cs typeface="Times New Roman"/>
              </a:rPr>
              <a:t>nom </a:t>
            </a:r>
            <a:r>
              <a:rPr sz="1600" spc="-5" dirty="0">
                <a:latin typeface="Times New Roman"/>
                <a:cs typeface="Times New Roman"/>
              </a:rPr>
              <a:t>LIKE '%R%';  </a:t>
            </a:r>
            <a:r>
              <a:rPr sz="1600" spc="-5" dirty="0">
                <a:solidFill>
                  <a:srgbClr val="006FC0"/>
                </a:solidFill>
                <a:latin typeface="Times New Roman"/>
                <a:cs typeface="Times New Roman"/>
              </a:rPr>
              <a:t>R2</a:t>
            </a:r>
            <a:r>
              <a:rPr sz="1600" spc="-5" dirty="0">
                <a:latin typeface="Times New Roman"/>
                <a:cs typeface="Times New Roman"/>
              </a:rPr>
              <a:t>: SELECT * FROM CUISINIER WHERE </a:t>
            </a:r>
            <a:r>
              <a:rPr sz="1600" spc="-10" dirty="0">
                <a:latin typeface="Times New Roman"/>
                <a:cs typeface="Times New Roman"/>
              </a:rPr>
              <a:t>numeq </a:t>
            </a:r>
            <a:r>
              <a:rPr sz="1600" spc="-5" dirty="0">
                <a:latin typeface="Times New Roman"/>
                <a:cs typeface="Times New Roman"/>
              </a:rPr>
              <a:t>=</a:t>
            </a:r>
            <a:r>
              <a:rPr sz="1600" spc="75" dirty="0">
                <a:latin typeface="Times New Roman"/>
                <a:cs typeface="Times New Roman"/>
              </a:rPr>
              <a:t> </a:t>
            </a:r>
            <a:r>
              <a:rPr sz="1600" dirty="0">
                <a:latin typeface="Times New Roman"/>
                <a:cs typeface="Times New Roman"/>
              </a:rPr>
              <a:t>'1';</a:t>
            </a:r>
            <a:endParaRPr sz="1600">
              <a:latin typeface="Times New Roman"/>
              <a:cs typeface="Times New Roman"/>
            </a:endParaRPr>
          </a:p>
          <a:p>
            <a:pPr marL="85725">
              <a:lnSpc>
                <a:spcPct val="100000"/>
              </a:lnSpc>
            </a:pPr>
            <a:r>
              <a:rPr sz="1600" spc="-5" dirty="0">
                <a:solidFill>
                  <a:srgbClr val="006FC0"/>
                </a:solidFill>
                <a:latin typeface="Times New Roman"/>
                <a:cs typeface="Times New Roman"/>
              </a:rPr>
              <a:t>R3</a:t>
            </a:r>
            <a:r>
              <a:rPr sz="1600" spc="-5" dirty="0">
                <a:latin typeface="Times New Roman"/>
                <a:cs typeface="Times New Roman"/>
              </a:rPr>
              <a:t>: SELECT </a:t>
            </a:r>
            <a:r>
              <a:rPr sz="1600" spc="-10" dirty="0">
                <a:latin typeface="Times New Roman"/>
                <a:cs typeface="Times New Roman"/>
              </a:rPr>
              <a:t>numero, </a:t>
            </a:r>
            <a:r>
              <a:rPr sz="1600" dirty="0">
                <a:latin typeface="Times New Roman"/>
                <a:cs typeface="Times New Roman"/>
              </a:rPr>
              <a:t>nom </a:t>
            </a:r>
            <a:r>
              <a:rPr sz="1600" spc="-5" dirty="0">
                <a:latin typeface="Times New Roman"/>
                <a:cs typeface="Times New Roman"/>
              </a:rPr>
              <a:t>FROM CUISINIER WHERE </a:t>
            </a:r>
            <a:r>
              <a:rPr sz="1600" spc="-10" dirty="0">
                <a:latin typeface="Times New Roman"/>
                <a:cs typeface="Times New Roman"/>
              </a:rPr>
              <a:t>numeq </a:t>
            </a:r>
            <a:r>
              <a:rPr sz="1600" spc="-5" dirty="0">
                <a:latin typeface="Times New Roman"/>
                <a:cs typeface="Times New Roman"/>
              </a:rPr>
              <a:t>= </a:t>
            </a:r>
            <a:r>
              <a:rPr sz="1600" dirty="0">
                <a:latin typeface="Times New Roman"/>
                <a:cs typeface="Times New Roman"/>
              </a:rPr>
              <a:t>'2' </a:t>
            </a:r>
            <a:r>
              <a:rPr sz="1600" spc="-10" dirty="0">
                <a:latin typeface="Times New Roman"/>
                <a:cs typeface="Times New Roman"/>
              </a:rPr>
              <a:t>AND </a:t>
            </a:r>
            <a:r>
              <a:rPr sz="1600" spc="-5" dirty="0">
                <a:latin typeface="Times New Roman"/>
                <a:cs typeface="Times New Roman"/>
              </a:rPr>
              <a:t>prenom =</a:t>
            </a:r>
            <a:r>
              <a:rPr sz="1600" spc="165" dirty="0">
                <a:latin typeface="Times New Roman"/>
                <a:cs typeface="Times New Roman"/>
              </a:rPr>
              <a:t> </a:t>
            </a:r>
            <a:r>
              <a:rPr sz="1600" spc="-5" dirty="0">
                <a:latin typeface="Times New Roman"/>
                <a:cs typeface="Times New Roman"/>
              </a:rPr>
              <a:t>'Jean';</a:t>
            </a:r>
            <a:endParaRPr sz="1600">
              <a:latin typeface="Times New Roman"/>
              <a:cs typeface="Times New Roman"/>
            </a:endParaRPr>
          </a:p>
        </p:txBody>
      </p:sp>
      <p:graphicFrame>
        <p:nvGraphicFramePr>
          <p:cNvPr id="10" name="object 10"/>
          <p:cNvGraphicFramePr>
            <a:graphicFrameLocks noGrp="1"/>
          </p:cNvGraphicFramePr>
          <p:nvPr/>
        </p:nvGraphicFramePr>
        <p:xfrm>
          <a:off x="2339752" y="2924944"/>
          <a:ext cx="2931795" cy="2011676"/>
        </p:xfrm>
        <a:graphic>
          <a:graphicData uri="http://schemas.openxmlformats.org/drawingml/2006/table">
            <a:tbl>
              <a:tblPr firstRow="1" bandRow="1">
                <a:tableStyleId>{2D5ABB26-0587-4C30-8999-92F81FD0307C}</a:tableStyleId>
              </a:tblPr>
              <a:tblGrid>
                <a:gridCol w="697230"/>
                <a:gridCol w="967105"/>
                <a:gridCol w="671830"/>
                <a:gridCol w="595630"/>
              </a:tblGrid>
              <a:tr h="182879">
                <a:tc>
                  <a:txBody>
                    <a:bodyPr/>
                    <a:lstStyle/>
                    <a:p>
                      <a:pPr>
                        <a:lnSpc>
                          <a:spcPts val="1340"/>
                        </a:lnSpc>
                      </a:pPr>
                      <a:r>
                        <a:rPr sz="1200" spc="-5" dirty="0">
                          <a:latin typeface="Tahoma"/>
                          <a:cs typeface="Tahoma"/>
                        </a:rPr>
                        <a:t>NUMERO</a:t>
                      </a:r>
                      <a:endParaRPr sz="1200" dirty="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solidFill>
                      <a:srgbClr val="D9D9D9"/>
                    </a:solidFill>
                  </a:tcPr>
                </a:tc>
                <a:tc>
                  <a:txBody>
                    <a:bodyPr/>
                    <a:lstStyle/>
                    <a:p>
                      <a:pPr marL="635">
                        <a:lnSpc>
                          <a:spcPts val="1340"/>
                        </a:lnSpc>
                      </a:pPr>
                      <a:r>
                        <a:rPr sz="1200" dirty="0">
                          <a:latin typeface="Tahoma"/>
                          <a:cs typeface="Tahoma"/>
                        </a:rPr>
                        <a:t>NOM</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solidFill>
                      <a:srgbClr val="D9D9D9"/>
                    </a:solidFill>
                  </a:tcPr>
                </a:tc>
                <a:tc>
                  <a:txBody>
                    <a:bodyPr/>
                    <a:lstStyle/>
                    <a:p>
                      <a:pPr marL="635">
                        <a:lnSpc>
                          <a:spcPts val="1340"/>
                        </a:lnSpc>
                      </a:pPr>
                      <a:r>
                        <a:rPr sz="1200" spc="-5" dirty="0">
                          <a:latin typeface="Tahoma"/>
                          <a:cs typeface="Tahoma"/>
                        </a:rPr>
                        <a:t>PRENOM</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solidFill>
                      <a:srgbClr val="D9D9D9"/>
                    </a:solidFill>
                  </a:tcPr>
                </a:tc>
                <a:tc>
                  <a:txBody>
                    <a:bodyPr/>
                    <a:lstStyle/>
                    <a:p>
                      <a:pPr marL="635">
                        <a:lnSpc>
                          <a:spcPts val="1340"/>
                        </a:lnSpc>
                      </a:pPr>
                      <a:r>
                        <a:rPr sz="1200" dirty="0">
                          <a:latin typeface="Tahoma"/>
                          <a:cs typeface="Tahoma"/>
                        </a:rPr>
                        <a:t>NUMEQ</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solidFill>
                      <a:srgbClr val="D9D9D9"/>
                    </a:solidFill>
                  </a:tcPr>
                </a:tc>
              </a:tr>
              <a:tr h="182879">
                <a:tc>
                  <a:txBody>
                    <a:bodyPr/>
                    <a:lstStyle/>
                    <a:p>
                      <a:pPr>
                        <a:lnSpc>
                          <a:spcPts val="1340"/>
                        </a:lnSpc>
                      </a:pPr>
                      <a:r>
                        <a:rPr sz="1200" dirty="0">
                          <a:latin typeface="Tahoma"/>
                          <a:cs typeface="Tahoma"/>
                        </a:rPr>
                        <a:t>12</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DUPONT</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Jean</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1</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80">
                <a:tc>
                  <a:txBody>
                    <a:bodyPr/>
                    <a:lstStyle/>
                    <a:p>
                      <a:pPr>
                        <a:lnSpc>
                          <a:spcPts val="1340"/>
                        </a:lnSpc>
                      </a:pPr>
                      <a:r>
                        <a:rPr sz="1200" dirty="0">
                          <a:latin typeface="Tahoma"/>
                          <a:cs typeface="Tahoma"/>
                        </a:rPr>
                        <a:t>34</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DUPONT</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Jeanne</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2</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80">
                <a:tc>
                  <a:txBody>
                    <a:bodyPr/>
                    <a:lstStyle/>
                    <a:p>
                      <a:pPr>
                        <a:lnSpc>
                          <a:spcPts val="1340"/>
                        </a:lnSpc>
                      </a:pPr>
                      <a:r>
                        <a:rPr sz="1200" dirty="0">
                          <a:latin typeface="Tahoma"/>
                          <a:cs typeface="Tahoma"/>
                        </a:rPr>
                        <a:t>17</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DUBOIS</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10" dirty="0">
                          <a:latin typeface="Tahoma"/>
                          <a:cs typeface="Tahoma"/>
                        </a:rPr>
                        <a:t>Robert</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1</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79">
                <a:tc>
                  <a:txBody>
                    <a:bodyPr/>
                    <a:lstStyle/>
                    <a:p>
                      <a:pPr>
                        <a:lnSpc>
                          <a:spcPts val="1340"/>
                        </a:lnSpc>
                      </a:pPr>
                      <a:r>
                        <a:rPr sz="1200" dirty="0">
                          <a:latin typeface="Tahoma"/>
                          <a:cs typeface="Tahoma"/>
                        </a:rPr>
                        <a:t>22</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DUBALAI</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Aline</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1</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80">
                <a:tc>
                  <a:txBody>
                    <a:bodyPr/>
                    <a:lstStyle/>
                    <a:p>
                      <a:pPr>
                        <a:lnSpc>
                          <a:spcPts val="1340"/>
                        </a:lnSpc>
                      </a:pPr>
                      <a:r>
                        <a:rPr sz="1200" dirty="0">
                          <a:latin typeface="Tahoma"/>
                          <a:cs typeface="Tahoma"/>
                        </a:rPr>
                        <a:t>26</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DUGENOU</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Jean</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2</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80">
                <a:tc>
                  <a:txBody>
                    <a:bodyPr/>
                    <a:lstStyle/>
                    <a:p>
                      <a:pPr>
                        <a:lnSpc>
                          <a:spcPts val="1340"/>
                        </a:lnSpc>
                      </a:pPr>
                      <a:r>
                        <a:rPr sz="1200" dirty="0">
                          <a:latin typeface="Tahoma"/>
                          <a:cs typeface="Tahoma"/>
                        </a:rPr>
                        <a:t>11</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DURAND</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Aline</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2</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80">
                <a:tc>
                  <a:txBody>
                    <a:bodyPr/>
                    <a:lstStyle/>
                    <a:p>
                      <a:pPr>
                        <a:lnSpc>
                          <a:spcPts val="1340"/>
                        </a:lnSpc>
                      </a:pPr>
                      <a:r>
                        <a:rPr sz="1200" dirty="0">
                          <a:latin typeface="Tahoma"/>
                          <a:cs typeface="Tahoma"/>
                        </a:rPr>
                        <a:t>38</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DURACUIRE</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10" dirty="0">
                          <a:latin typeface="Tahoma"/>
                          <a:cs typeface="Tahoma"/>
                        </a:rPr>
                        <a:t>ROBERT</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2</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80">
                <a:tc>
                  <a:txBody>
                    <a:bodyPr/>
                    <a:lstStyle/>
                    <a:p>
                      <a:pPr>
                        <a:lnSpc>
                          <a:spcPts val="1340"/>
                        </a:lnSpc>
                      </a:pPr>
                      <a:r>
                        <a:rPr sz="1200" dirty="0">
                          <a:latin typeface="Tahoma"/>
                          <a:cs typeface="Tahoma"/>
                        </a:rPr>
                        <a:t>9</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DURALUMIN</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10" dirty="0">
                          <a:latin typeface="Tahoma"/>
                          <a:cs typeface="Tahoma"/>
                        </a:rPr>
                        <a:t>Roberte</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1</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79">
                <a:tc>
                  <a:txBody>
                    <a:bodyPr/>
                    <a:lstStyle/>
                    <a:p>
                      <a:pPr>
                        <a:lnSpc>
                          <a:spcPts val="1340"/>
                        </a:lnSpc>
                      </a:pPr>
                      <a:r>
                        <a:rPr sz="1200" dirty="0">
                          <a:latin typeface="Tahoma"/>
                          <a:cs typeface="Tahoma"/>
                        </a:rPr>
                        <a:t>13</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DURDUR</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Jean</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2</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r h="182880">
                <a:tc>
                  <a:txBody>
                    <a:bodyPr/>
                    <a:lstStyle/>
                    <a:p>
                      <a:pPr>
                        <a:lnSpc>
                          <a:spcPts val="1340"/>
                        </a:lnSpc>
                      </a:pPr>
                      <a:r>
                        <a:rPr sz="1200" dirty="0">
                          <a:latin typeface="Tahoma"/>
                          <a:cs typeface="Tahoma"/>
                        </a:rPr>
                        <a:t>20</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DURALEX</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spc="-5" dirty="0">
                          <a:latin typeface="Tahoma"/>
                          <a:cs typeface="Tahoma"/>
                        </a:rPr>
                        <a:t>Jean</a:t>
                      </a:r>
                      <a:endParaRPr sz="1200">
                        <a:latin typeface="Tahoma"/>
                        <a:cs typeface="Tahoma"/>
                      </a:endParaRP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c>
                  <a:txBody>
                    <a:bodyPr/>
                    <a:lstStyle/>
                    <a:p>
                      <a:pPr marL="635">
                        <a:lnSpc>
                          <a:spcPts val="1340"/>
                        </a:lnSpc>
                      </a:pPr>
                      <a:r>
                        <a:rPr sz="1200" dirty="0">
                          <a:latin typeface="Tahoma"/>
                          <a:cs typeface="Tahoma"/>
                        </a:rPr>
                        <a:t>1</a:t>
                      </a:r>
                    </a:p>
                  </a:txBody>
                  <a:tcPr marL="0" marR="0" marT="0" marB="0">
                    <a:lnL w="12700">
                      <a:solidFill>
                        <a:srgbClr val="A3CACE"/>
                      </a:solidFill>
                      <a:prstDash val="solid"/>
                    </a:lnL>
                    <a:lnR w="12700">
                      <a:solidFill>
                        <a:srgbClr val="A3CACE"/>
                      </a:solidFill>
                      <a:prstDash val="solid"/>
                    </a:lnR>
                    <a:lnT w="12700">
                      <a:solidFill>
                        <a:srgbClr val="A3CACE"/>
                      </a:solidFill>
                      <a:prstDash val="solid"/>
                    </a:lnT>
                    <a:lnB w="12700">
                      <a:solidFill>
                        <a:srgbClr val="A3CACE"/>
                      </a:solidFill>
                      <a:prstDash val="solid"/>
                    </a:lnB>
                  </a:tcPr>
                </a:tc>
              </a:tr>
            </a:tbl>
          </a:graphicData>
        </a:graphic>
      </p:graphicFrame>
      <p:sp>
        <p:nvSpPr>
          <p:cNvPr id="11" name="object 11"/>
          <p:cNvSpPr txBox="1"/>
          <p:nvPr/>
        </p:nvSpPr>
        <p:spPr>
          <a:xfrm>
            <a:off x="1547664" y="2636912"/>
            <a:ext cx="596900" cy="197490"/>
          </a:xfrm>
          <a:prstGeom prst="rect">
            <a:avLst/>
          </a:prstGeom>
        </p:spPr>
        <p:txBody>
          <a:bodyPr vert="horz" wrap="square" lIns="0" tIns="12700" rIns="0" bIns="0" rtlCol="0">
            <a:spAutoFit/>
          </a:bodyPr>
          <a:lstStyle/>
          <a:p>
            <a:pPr marL="12700" algn="ctr">
              <a:lnSpc>
                <a:spcPct val="100000"/>
              </a:lnSpc>
              <a:spcBef>
                <a:spcPts val="100"/>
              </a:spcBef>
            </a:pPr>
            <a:r>
              <a:rPr sz="1200" dirty="0">
                <a:latin typeface="Tahoma"/>
                <a:cs typeface="Tahoma"/>
              </a:rPr>
              <a:t>Cui</a:t>
            </a:r>
            <a:r>
              <a:rPr sz="1200" spc="5" dirty="0">
                <a:latin typeface="Tahoma"/>
                <a:cs typeface="Tahoma"/>
              </a:rPr>
              <a:t>s</a:t>
            </a:r>
            <a:r>
              <a:rPr sz="1200" dirty="0">
                <a:latin typeface="Tahoma"/>
                <a:cs typeface="Tahoma"/>
              </a:rPr>
              <a:t>inier</a:t>
            </a:r>
          </a:p>
        </p:txBody>
      </p:sp>
      <p:sp>
        <p:nvSpPr>
          <p:cNvPr id="13" name="Espace réservé du numéro de diapositive 12"/>
          <p:cNvSpPr>
            <a:spLocks noGrp="1"/>
          </p:cNvSpPr>
          <p:nvPr>
            <p:ph type="sldNum" sz="quarter" idx="15"/>
          </p:nvPr>
        </p:nvSpPr>
        <p:spPr/>
        <p:txBody>
          <a:bodyPr/>
          <a:lstStyle/>
          <a:p>
            <a:fld id="{F1AAE0E6-1385-44E0-8EAE-F204D7E7A5E9}" type="slidenum">
              <a:rPr lang="fr-FR" smtClean="0"/>
              <a:pPr/>
              <a:t>34</a:t>
            </a:fld>
            <a:endParaRPr lang="fr-F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62945"/>
            <a:ext cx="7467600" cy="754694"/>
          </a:xfrm>
          <a:prstGeom prst="rect">
            <a:avLst/>
          </a:prstGeom>
        </p:spPr>
        <p:txBody>
          <a:bodyPr vert="horz" wrap="square" lIns="0" tIns="15875" rIns="0" bIns="0" rtlCol="0">
            <a:spAutoFit/>
          </a:bodyPr>
          <a:lstStyle/>
          <a:p>
            <a:pPr marL="12700">
              <a:lnSpc>
                <a:spcPct val="100000"/>
              </a:lnSpc>
              <a:spcBef>
                <a:spcPts val="125"/>
              </a:spcBef>
            </a:pPr>
            <a:r>
              <a:rPr lang="fr-FR" sz="2400" spc="-10" dirty="0" smtClean="0"/>
              <a:t>FRAGMENTATION</a:t>
            </a:r>
            <a:r>
              <a:rPr lang="fr-FR" sz="2400" spc="345" dirty="0" smtClean="0"/>
              <a:t> </a:t>
            </a:r>
            <a:r>
              <a:rPr lang="fr-FR" sz="2400" spc="-10" dirty="0" smtClean="0"/>
              <a:t>ORIENT</a:t>
            </a:r>
            <a:r>
              <a:rPr lang="fr-FR" sz="2400" spc="-10" dirty="0" smtClean="0">
                <a:solidFill>
                  <a:srgbClr val="565F6C"/>
                </a:solidFill>
                <a:cs typeface="Century Schoolbook"/>
              </a:rPr>
              <a:t>ÉE</a:t>
            </a:r>
            <a:r>
              <a:rPr lang="fr-FR" sz="2400" spc="60" dirty="0" smtClean="0">
                <a:solidFill>
                  <a:srgbClr val="565F6C"/>
                </a:solidFill>
                <a:cs typeface="Century Schoolbook"/>
              </a:rPr>
              <a:t> </a:t>
            </a:r>
            <a:r>
              <a:rPr lang="fr-FR" sz="2400" spc="-15" dirty="0" smtClean="0">
                <a:solidFill>
                  <a:srgbClr val="565F6C"/>
                </a:solidFill>
                <a:cs typeface="Century Schoolbook"/>
              </a:rPr>
              <a:t>REQUÊTES</a:t>
            </a:r>
            <a:r>
              <a:rPr lang="fr-FR" sz="2400" dirty="0" smtClean="0">
                <a:cs typeface="Century Schoolbook"/>
              </a:rPr>
              <a:t/>
            </a:r>
            <a:br>
              <a:rPr lang="fr-FR" sz="2400" dirty="0" smtClean="0">
                <a:cs typeface="Century Schoolbook"/>
              </a:rPr>
            </a:br>
            <a:endParaRPr sz="2400" spc="-110" dirty="0"/>
          </a:p>
        </p:txBody>
      </p:sp>
      <p:sp>
        <p:nvSpPr>
          <p:cNvPr id="6" name="object 6"/>
          <p:cNvSpPr txBox="1"/>
          <p:nvPr/>
        </p:nvSpPr>
        <p:spPr>
          <a:xfrm>
            <a:off x="8478773" y="312801"/>
            <a:ext cx="20574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45</a:t>
            </a:r>
            <a:endParaRPr sz="1400">
              <a:latin typeface="Times New Roman"/>
              <a:cs typeface="Times New Roman"/>
            </a:endParaRPr>
          </a:p>
        </p:txBody>
      </p:sp>
      <p:sp>
        <p:nvSpPr>
          <p:cNvPr id="7" name="object 7"/>
          <p:cNvSpPr/>
          <p:nvPr/>
        </p:nvSpPr>
        <p:spPr>
          <a:xfrm>
            <a:off x="3214623" y="4714875"/>
            <a:ext cx="3242437" cy="540004"/>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324713" y="1340768"/>
            <a:ext cx="8056880" cy="5416226"/>
          </a:xfrm>
          <a:prstGeom prst="rect">
            <a:avLst/>
          </a:prstGeom>
        </p:spPr>
        <p:txBody>
          <a:bodyPr vert="horz" wrap="square" lIns="0" tIns="12065" rIns="0" bIns="0" rtlCol="0">
            <a:spAutoFit/>
          </a:bodyPr>
          <a:lstStyle/>
          <a:p>
            <a:pPr marL="795655">
              <a:lnSpc>
                <a:spcPct val="100000"/>
              </a:lnSpc>
              <a:spcBef>
                <a:spcPts val="1840"/>
              </a:spcBef>
            </a:pPr>
            <a:r>
              <a:rPr sz="2400" spc="-5" dirty="0" err="1" smtClean="0">
                <a:latin typeface="Times New Roman"/>
                <a:cs typeface="Times New Roman"/>
              </a:rPr>
              <a:t>Exemple</a:t>
            </a:r>
            <a:r>
              <a:rPr sz="2400" spc="-25" dirty="0" smtClean="0">
                <a:latin typeface="Times New Roman"/>
                <a:cs typeface="Times New Roman"/>
              </a:rPr>
              <a:t> </a:t>
            </a:r>
            <a:r>
              <a:rPr sz="2400" dirty="0">
                <a:latin typeface="Times New Roman"/>
                <a:cs typeface="Times New Roman"/>
              </a:rPr>
              <a:t>(suite</a:t>
            </a:r>
            <a:r>
              <a:rPr sz="2400" dirty="0" smtClean="0">
                <a:latin typeface="Times New Roman"/>
                <a:cs typeface="Times New Roman"/>
              </a:rPr>
              <a:t>):</a:t>
            </a:r>
            <a:endParaRPr lang="fr-FR" sz="2400" dirty="0" smtClean="0">
              <a:latin typeface="Times New Roman"/>
              <a:cs typeface="Times New Roman"/>
            </a:endParaRPr>
          </a:p>
          <a:p>
            <a:pPr marL="1138555" marR="5080">
              <a:lnSpc>
                <a:spcPct val="100000"/>
              </a:lnSpc>
              <a:spcBef>
                <a:spcPts val="455"/>
              </a:spcBef>
            </a:pPr>
            <a:r>
              <a:rPr sz="1800" spc="-5" dirty="0" smtClean="0">
                <a:latin typeface="Times New Roman"/>
                <a:cs typeface="Times New Roman"/>
              </a:rPr>
              <a:t>Pour </a:t>
            </a:r>
            <a:r>
              <a:rPr sz="1800" spc="-5" dirty="0">
                <a:latin typeface="Times New Roman"/>
                <a:cs typeface="Times New Roman"/>
              </a:rPr>
              <a:t>effectuer </a:t>
            </a:r>
            <a:r>
              <a:rPr sz="1800" spc="-10" dirty="0">
                <a:latin typeface="Times New Roman"/>
                <a:cs typeface="Times New Roman"/>
              </a:rPr>
              <a:t>la </a:t>
            </a:r>
            <a:r>
              <a:rPr sz="1800" spc="-5" dirty="0">
                <a:latin typeface="Times New Roman"/>
                <a:cs typeface="Times New Roman"/>
              </a:rPr>
              <a:t>fragmentation verticale on se </a:t>
            </a:r>
            <a:r>
              <a:rPr sz="1800" dirty="0">
                <a:latin typeface="Times New Roman"/>
                <a:cs typeface="Times New Roman"/>
              </a:rPr>
              <a:t>base </a:t>
            </a:r>
            <a:r>
              <a:rPr sz="1800" spc="-5" dirty="0">
                <a:latin typeface="Times New Roman"/>
                <a:cs typeface="Times New Roman"/>
              </a:rPr>
              <a:t>sur </a:t>
            </a:r>
            <a:r>
              <a:rPr sz="1800" dirty="0">
                <a:latin typeface="Times New Roman"/>
                <a:cs typeface="Times New Roman"/>
              </a:rPr>
              <a:t>les </a:t>
            </a:r>
            <a:r>
              <a:rPr sz="1800" spc="-5" dirty="0">
                <a:latin typeface="Times New Roman"/>
                <a:cs typeface="Times New Roman"/>
              </a:rPr>
              <a:t>projections  </a:t>
            </a:r>
            <a:r>
              <a:rPr sz="1800" dirty="0">
                <a:latin typeface="Times New Roman"/>
                <a:cs typeface="Times New Roman"/>
              </a:rPr>
              <a:t>utilisées:</a:t>
            </a:r>
          </a:p>
          <a:p>
            <a:pPr marL="1595755" indent="-229235">
              <a:lnSpc>
                <a:spcPct val="100000"/>
              </a:lnSpc>
              <a:spcBef>
                <a:spcPts val="390"/>
              </a:spcBef>
              <a:buChar char="•"/>
              <a:tabLst>
                <a:tab pos="1595120" algn="l"/>
                <a:tab pos="1596390" algn="l"/>
              </a:tabLst>
            </a:pPr>
            <a:r>
              <a:rPr sz="1600" spc="-5" dirty="0">
                <a:latin typeface="Times New Roman"/>
                <a:cs typeface="Times New Roman"/>
              </a:rPr>
              <a:t>P1 : </a:t>
            </a:r>
            <a:r>
              <a:rPr sz="1600" spc="-10" dirty="0">
                <a:latin typeface="Times New Roman"/>
                <a:cs typeface="Times New Roman"/>
              </a:rPr>
              <a:t>(numero,</a:t>
            </a:r>
            <a:r>
              <a:rPr sz="1600" spc="55" dirty="0">
                <a:latin typeface="Times New Roman"/>
                <a:cs typeface="Times New Roman"/>
              </a:rPr>
              <a:t> </a:t>
            </a:r>
            <a:r>
              <a:rPr sz="1600" spc="-10" dirty="0">
                <a:latin typeface="Times New Roman"/>
                <a:cs typeface="Times New Roman"/>
              </a:rPr>
              <a:t>numeq)</a:t>
            </a:r>
            <a:endParaRPr sz="1600" dirty="0">
              <a:latin typeface="Times New Roman"/>
              <a:cs typeface="Times New Roman"/>
            </a:endParaRPr>
          </a:p>
          <a:p>
            <a:pPr marL="1595755" indent="-229235">
              <a:lnSpc>
                <a:spcPct val="100000"/>
              </a:lnSpc>
              <a:spcBef>
                <a:spcPts val="385"/>
              </a:spcBef>
              <a:buChar char="•"/>
              <a:tabLst>
                <a:tab pos="1595120" algn="l"/>
                <a:tab pos="1596390" algn="l"/>
              </a:tabLst>
            </a:pPr>
            <a:r>
              <a:rPr sz="1600" spc="-5" dirty="0">
                <a:latin typeface="Times New Roman"/>
                <a:cs typeface="Times New Roman"/>
              </a:rPr>
              <a:t>P3 : </a:t>
            </a:r>
            <a:r>
              <a:rPr sz="1600" spc="-10" dirty="0">
                <a:latin typeface="Times New Roman"/>
                <a:cs typeface="Times New Roman"/>
              </a:rPr>
              <a:t>(numero,</a:t>
            </a:r>
            <a:r>
              <a:rPr sz="1600" spc="55" dirty="0">
                <a:latin typeface="Times New Roman"/>
                <a:cs typeface="Times New Roman"/>
              </a:rPr>
              <a:t> </a:t>
            </a:r>
            <a:r>
              <a:rPr sz="1600" spc="-15" dirty="0">
                <a:latin typeface="Times New Roman"/>
                <a:cs typeface="Times New Roman"/>
              </a:rPr>
              <a:t>nom)</a:t>
            </a:r>
            <a:endParaRPr sz="1600" dirty="0">
              <a:latin typeface="Times New Roman"/>
              <a:cs typeface="Times New Roman"/>
            </a:endParaRPr>
          </a:p>
          <a:p>
            <a:pPr marL="1595755" marR="6985" indent="-228600">
              <a:lnSpc>
                <a:spcPct val="100000"/>
              </a:lnSpc>
              <a:spcBef>
                <a:spcPts val="385"/>
              </a:spcBef>
              <a:buChar char="•"/>
              <a:tabLst>
                <a:tab pos="1595120" algn="l"/>
                <a:tab pos="1596390" algn="l"/>
              </a:tabLst>
            </a:pPr>
            <a:r>
              <a:rPr sz="1600" spc="-5" dirty="0">
                <a:latin typeface="Times New Roman"/>
                <a:cs typeface="Times New Roman"/>
              </a:rPr>
              <a:t>P2 n'est pas </a:t>
            </a:r>
            <a:r>
              <a:rPr sz="1600" dirty="0">
                <a:latin typeface="Times New Roman"/>
                <a:cs typeface="Times New Roman"/>
              </a:rPr>
              <a:t>considérée </a:t>
            </a:r>
            <a:r>
              <a:rPr sz="1600" spc="-5" dirty="0">
                <a:latin typeface="Times New Roman"/>
                <a:cs typeface="Times New Roman"/>
              </a:rPr>
              <a:t>comme </a:t>
            </a:r>
            <a:r>
              <a:rPr sz="1600" dirty="0">
                <a:latin typeface="Times New Roman"/>
                <a:cs typeface="Times New Roman"/>
              </a:rPr>
              <a:t>une </a:t>
            </a:r>
            <a:r>
              <a:rPr sz="1600" spc="-5" dirty="0">
                <a:latin typeface="Times New Roman"/>
                <a:cs typeface="Times New Roman"/>
              </a:rPr>
              <a:t>projection </a:t>
            </a:r>
            <a:r>
              <a:rPr sz="1600" dirty="0">
                <a:latin typeface="Times New Roman"/>
                <a:cs typeface="Times New Roman"/>
              </a:rPr>
              <a:t>car tous </a:t>
            </a:r>
            <a:r>
              <a:rPr sz="1600" spc="-5" dirty="0">
                <a:latin typeface="Times New Roman"/>
                <a:cs typeface="Times New Roman"/>
              </a:rPr>
              <a:t>les </a:t>
            </a:r>
            <a:r>
              <a:rPr sz="1600" dirty="0">
                <a:latin typeface="Times New Roman"/>
                <a:cs typeface="Times New Roman"/>
              </a:rPr>
              <a:t>attributs </a:t>
            </a:r>
            <a:r>
              <a:rPr sz="1600" spc="-5" dirty="0">
                <a:latin typeface="Times New Roman"/>
                <a:cs typeface="Times New Roman"/>
              </a:rPr>
              <a:t>sont  </a:t>
            </a:r>
            <a:r>
              <a:rPr sz="1600" spc="-10" dirty="0">
                <a:latin typeface="Times New Roman"/>
                <a:cs typeface="Times New Roman"/>
              </a:rPr>
              <a:t>demandés </a:t>
            </a:r>
            <a:r>
              <a:rPr sz="1600" spc="-5" dirty="0">
                <a:latin typeface="Times New Roman"/>
                <a:cs typeface="Times New Roman"/>
              </a:rPr>
              <a:t>dans la</a:t>
            </a:r>
            <a:r>
              <a:rPr sz="1600" spc="55" dirty="0">
                <a:latin typeface="Times New Roman"/>
                <a:cs typeface="Times New Roman"/>
              </a:rPr>
              <a:t> </a:t>
            </a:r>
            <a:r>
              <a:rPr sz="1600" spc="-5" dirty="0">
                <a:latin typeface="Times New Roman"/>
                <a:cs typeface="Times New Roman"/>
              </a:rPr>
              <a:t>requête</a:t>
            </a:r>
            <a:endParaRPr sz="1600" dirty="0">
              <a:latin typeface="Times New Roman"/>
              <a:cs typeface="Times New Roman"/>
            </a:endParaRPr>
          </a:p>
          <a:p>
            <a:pPr marL="1196340" marR="5715">
              <a:lnSpc>
                <a:spcPct val="100000"/>
              </a:lnSpc>
              <a:spcBef>
                <a:spcPts val="425"/>
              </a:spcBef>
            </a:pPr>
            <a:r>
              <a:rPr sz="1800" spc="-5" dirty="0">
                <a:latin typeface="Times New Roman"/>
                <a:cs typeface="Times New Roman"/>
              </a:rPr>
              <a:t>A </a:t>
            </a:r>
            <a:r>
              <a:rPr sz="1800" dirty="0">
                <a:latin typeface="Times New Roman"/>
                <a:cs typeface="Times New Roman"/>
              </a:rPr>
              <a:t>partir </a:t>
            </a:r>
            <a:r>
              <a:rPr sz="1800" spc="-5" dirty="0">
                <a:latin typeface="Times New Roman"/>
                <a:cs typeface="Times New Roman"/>
              </a:rPr>
              <a:t>des projection Pi, </a:t>
            </a:r>
            <a:r>
              <a:rPr sz="1800" dirty="0">
                <a:latin typeface="Times New Roman"/>
                <a:cs typeface="Times New Roman"/>
              </a:rPr>
              <a:t>on </a:t>
            </a:r>
            <a:r>
              <a:rPr sz="1800" spc="-5" dirty="0">
                <a:latin typeface="Times New Roman"/>
                <a:cs typeface="Times New Roman"/>
              </a:rPr>
              <a:t>construit l'ensemble IP des intersections de  </a:t>
            </a:r>
            <a:r>
              <a:rPr sz="1800" dirty="0">
                <a:latin typeface="Times New Roman"/>
                <a:cs typeface="Times New Roman"/>
              </a:rPr>
              <a:t>projections</a:t>
            </a:r>
            <a:r>
              <a:rPr sz="1800" spc="-35" dirty="0">
                <a:latin typeface="Times New Roman"/>
                <a:cs typeface="Times New Roman"/>
              </a:rPr>
              <a:t> </a:t>
            </a:r>
            <a:r>
              <a:rPr sz="1800" dirty="0">
                <a:latin typeface="Times New Roman"/>
                <a:cs typeface="Times New Roman"/>
              </a:rPr>
              <a:t>:</a:t>
            </a:r>
          </a:p>
          <a:p>
            <a:pPr>
              <a:lnSpc>
                <a:spcPct val="100000"/>
              </a:lnSpc>
              <a:spcBef>
                <a:spcPts val="35"/>
              </a:spcBef>
            </a:pPr>
            <a:endParaRPr lang="fr-FR" sz="2050" dirty="0" smtClean="0">
              <a:latin typeface="Times New Roman"/>
              <a:cs typeface="Times New Roman"/>
            </a:endParaRPr>
          </a:p>
          <a:p>
            <a:pPr>
              <a:lnSpc>
                <a:spcPct val="100000"/>
              </a:lnSpc>
              <a:spcBef>
                <a:spcPts val="35"/>
              </a:spcBef>
            </a:pPr>
            <a:endParaRPr lang="fr-FR" sz="2050" dirty="0" smtClean="0">
              <a:latin typeface="Times New Roman"/>
              <a:cs typeface="Times New Roman"/>
            </a:endParaRPr>
          </a:p>
          <a:p>
            <a:pPr>
              <a:lnSpc>
                <a:spcPct val="100000"/>
              </a:lnSpc>
              <a:spcBef>
                <a:spcPts val="35"/>
              </a:spcBef>
            </a:pPr>
            <a:endParaRPr lang="fr-FR" sz="2050" dirty="0" smtClean="0">
              <a:latin typeface="Times New Roman"/>
              <a:cs typeface="Times New Roman"/>
            </a:endParaRPr>
          </a:p>
          <a:p>
            <a:pPr>
              <a:lnSpc>
                <a:spcPct val="100000"/>
              </a:lnSpc>
              <a:spcBef>
                <a:spcPts val="35"/>
              </a:spcBef>
            </a:pPr>
            <a:endParaRPr sz="2050" dirty="0">
              <a:latin typeface="Times New Roman"/>
              <a:cs typeface="Times New Roman"/>
            </a:endParaRPr>
          </a:p>
          <a:p>
            <a:pPr marL="1224915">
              <a:lnSpc>
                <a:spcPts val="1914"/>
              </a:lnSpc>
            </a:pPr>
            <a:r>
              <a:rPr sz="1600" spc="-5" dirty="0">
                <a:latin typeface="Times New Roman"/>
                <a:cs typeface="Times New Roman"/>
              </a:rPr>
              <a:t>Où </a:t>
            </a:r>
            <a:r>
              <a:rPr sz="1600" spc="-5" dirty="0">
                <a:latin typeface="Tahoma"/>
                <a:cs typeface="Tahoma"/>
              </a:rPr>
              <a:t>¬</a:t>
            </a:r>
            <a:r>
              <a:rPr sz="1600" spc="-5" dirty="0">
                <a:latin typeface="Times New Roman"/>
                <a:cs typeface="Times New Roman"/>
              </a:rPr>
              <a:t>Pj </a:t>
            </a:r>
            <a:r>
              <a:rPr sz="1600" dirty="0">
                <a:latin typeface="Times New Roman"/>
                <a:cs typeface="Times New Roman"/>
              </a:rPr>
              <a:t>désigne le complément </a:t>
            </a:r>
            <a:r>
              <a:rPr sz="1600" spc="-5" dirty="0">
                <a:latin typeface="Times New Roman"/>
                <a:cs typeface="Times New Roman"/>
              </a:rPr>
              <a:t>de Pj sur </a:t>
            </a:r>
            <a:r>
              <a:rPr sz="1600" dirty="0">
                <a:latin typeface="Times New Roman"/>
                <a:cs typeface="Times New Roman"/>
              </a:rPr>
              <a:t>l'ensemble </a:t>
            </a:r>
            <a:r>
              <a:rPr sz="1600" spc="-5" dirty="0">
                <a:latin typeface="Times New Roman"/>
                <a:cs typeface="Times New Roman"/>
              </a:rPr>
              <a:t>des </a:t>
            </a:r>
            <a:r>
              <a:rPr sz="1600" dirty="0">
                <a:latin typeface="Times New Roman"/>
                <a:cs typeface="Times New Roman"/>
              </a:rPr>
              <a:t>attributs </a:t>
            </a:r>
            <a:r>
              <a:rPr sz="1600" spc="-5" dirty="0">
                <a:latin typeface="Times New Roman"/>
                <a:cs typeface="Times New Roman"/>
              </a:rPr>
              <a:t>de </a:t>
            </a:r>
            <a:r>
              <a:rPr sz="1600" dirty="0">
                <a:latin typeface="Times New Roman"/>
                <a:cs typeface="Times New Roman"/>
              </a:rPr>
              <a:t>la</a:t>
            </a:r>
            <a:r>
              <a:rPr sz="1600" spc="90" dirty="0">
                <a:latin typeface="Times New Roman"/>
                <a:cs typeface="Times New Roman"/>
              </a:rPr>
              <a:t> </a:t>
            </a:r>
            <a:r>
              <a:rPr sz="1600" dirty="0">
                <a:latin typeface="Times New Roman"/>
                <a:cs typeface="Times New Roman"/>
              </a:rPr>
              <a:t>table</a:t>
            </a:r>
          </a:p>
          <a:p>
            <a:pPr marL="1224915">
              <a:lnSpc>
                <a:spcPts val="1914"/>
              </a:lnSpc>
            </a:pPr>
            <a:r>
              <a:rPr sz="1600" spc="-5" dirty="0">
                <a:latin typeface="Times New Roman"/>
                <a:cs typeface="Times New Roman"/>
              </a:rPr>
              <a:t>CUISINIER avec l'ajout obligatoire </a:t>
            </a:r>
            <a:r>
              <a:rPr sz="1600" dirty="0">
                <a:latin typeface="Times New Roman"/>
                <a:cs typeface="Times New Roman"/>
              </a:rPr>
              <a:t>de </a:t>
            </a:r>
            <a:r>
              <a:rPr sz="1600" spc="-5" dirty="0">
                <a:latin typeface="Times New Roman"/>
                <a:cs typeface="Times New Roman"/>
              </a:rPr>
              <a:t>la clé </a:t>
            </a:r>
            <a:r>
              <a:rPr sz="1600" spc="-10" dirty="0">
                <a:latin typeface="Times New Roman"/>
                <a:cs typeface="Times New Roman"/>
              </a:rPr>
              <a:t>numero</a:t>
            </a:r>
            <a:r>
              <a:rPr sz="1600" spc="155" dirty="0">
                <a:latin typeface="Times New Roman"/>
                <a:cs typeface="Times New Roman"/>
              </a:rPr>
              <a:t> </a:t>
            </a:r>
            <a:r>
              <a:rPr sz="1600" spc="-5" dirty="0">
                <a:latin typeface="Times New Roman"/>
                <a:cs typeface="Times New Roman"/>
              </a:rPr>
              <a:t>:</a:t>
            </a:r>
            <a:endParaRPr sz="1600" dirty="0">
              <a:latin typeface="Times New Roman"/>
              <a:cs typeface="Times New Roman"/>
            </a:endParaRPr>
          </a:p>
          <a:p>
            <a:pPr marL="1673225" indent="-278130">
              <a:lnSpc>
                <a:spcPct val="100000"/>
              </a:lnSpc>
              <a:spcBef>
                <a:spcPts val="385"/>
              </a:spcBef>
              <a:buSzPct val="75000"/>
              <a:buChar char="•"/>
              <a:tabLst>
                <a:tab pos="1672589" algn="l"/>
                <a:tab pos="1673860" algn="l"/>
              </a:tabLst>
            </a:pPr>
            <a:r>
              <a:rPr sz="1600" spc="-5" dirty="0">
                <a:latin typeface="Times New Roman"/>
                <a:cs typeface="Times New Roman"/>
              </a:rPr>
              <a:t>¬P1 = </a:t>
            </a:r>
            <a:r>
              <a:rPr sz="1600" spc="-10" dirty="0">
                <a:latin typeface="Times New Roman"/>
                <a:cs typeface="Times New Roman"/>
              </a:rPr>
              <a:t>(numero, </a:t>
            </a:r>
            <a:r>
              <a:rPr sz="1600" spc="-15" dirty="0">
                <a:latin typeface="Times New Roman"/>
                <a:cs typeface="Times New Roman"/>
              </a:rPr>
              <a:t>nom,</a:t>
            </a:r>
            <a:r>
              <a:rPr sz="1600" spc="105" dirty="0">
                <a:latin typeface="Times New Roman"/>
                <a:cs typeface="Times New Roman"/>
              </a:rPr>
              <a:t> </a:t>
            </a:r>
            <a:r>
              <a:rPr sz="1600" spc="-10" dirty="0">
                <a:latin typeface="Times New Roman"/>
                <a:cs typeface="Times New Roman"/>
              </a:rPr>
              <a:t>prenom)</a:t>
            </a:r>
            <a:endParaRPr sz="1600" dirty="0">
              <a:latin typeface="Times New Roman"/>
              <a:cs typeface="Times New Roman"/>
            </a:endParaRPr>
          </a:p>
          <a:p>
            <a:pPr marL="1673225" indent="-278130">
              <a:lnSpc>
                <a:spcPct val="100000"/>
              </a:lnSpc>
              <a:spcBef>
                <a:spcPts val="385"/>
              </a:spcBef>
              <a:buSzPct val="75000"/>
              <a:buChar char="•"/>
              <a:tabLst>
                <a:tab pos="1672589" algn="l"/>
                <a:tab pos="1673860" algn="l"/>
              </a:tabLst>
            </a:pPr>
            <a:r>
              <a:rPr sz="1600" spc="-5" dirty="0">
                <a:latin typeface="Times New Roman"/>
                <a:cs typeface="Times New Roman"/>
              </a:rPr>
              <a:t>¬P3 = </a:t>
            </a:r>
            <a:r>
              <a:rPr sz="1600" spc="-10" dirty="0">
                <a:latin typeface="Times New Roman"/>
                <a:cs typeface="Times New Roman"/>
              </a:rPr>
              <a:t>(numero, </a:t>
            </a:r>
            <a:r>
              <a:rPr sz="1600" spc="-5" dirty="0">
                <a:latin typeface="Times New Roman"/>
                <a:cs typeface="Times New Roman"/>
              </a:rPr>
              <a:t>prenom,</a:t>
            </a:r>
            <a:r>
              <a:rPr sz="1600" spc="100" dirty="0">
                <a:latin typeface="Times New Roman"/>
                <a:cs typeface="Times New Roman"/>
              </a:rPr>
              <a:t> </a:t>
            </a:r>
            <a:r>
              <a:rPr sz="1600" spc="-10" dirty="0">
                <a:latin typeface="Times New Roman"/>
                <a:cs typeface="Times New Roman"/>
              </a:rPr>
              <a:t>numeq)</a:t>
            </a:r>
            <a:endParaRPr sz="1600" dirty="0">
              <a:latin typeface="Times New Roman"/>
              <a:cs typeface="Times New Roman"/>
            </a:endParaRPr>
          </a:p>
          <a:p>
            <a:pPr marL="937894">
              <a:lnSpc>
                <a:spcPct val="100000"/>
              </a:lnSpc>
              <a:spcBef>
                <a:spcPts val="434"/>
              </a:spcBef>
            </a:pPr>
            <a:r>
              <a:rPr sz="1800" dirty="0">
                <a:latin typeface="Wingdings"/>
                <a:cs typeface="Wingdings"/>
              </a:rPr>
              <a:t></a:t>
            </a:r>
            <a:r>
              <a:rPr sz="1800" dirty="0">
                <a:latin typeface="Times New Roman"/>
                <a:cs typeface="Times New Roman"/>
              </a:rPr>
              <a:t> </a:t>
            </a:r>
            <a:r>
              <a:rPr sz="1800" spc="-5" dirty="0">
                <a:latin typeface="Times New Roman"/>
                <a:cs typeface="Times New Roman"/>
              </a:rPr>
              <a:t>IP </a:t>
            </a:r>
            <a:r>
              <a:rPr sz="1800" dirty="0">
                <a:latin typeface="Times New Roman"/>
                <a:cs typeface="Times New Roman"/>
              </a:rPr>
              <a:t>= { </a:t>
            </a:r>
            <a:r>
              <a:rPr sz="1800" spc="-5" dirty="0">
                <a:latin typeface="Times New Roman"/>
                <a:cs typeface="Times New Roman"/>
              </a:rPr>
              <a:t>P1 </a:t>
            </a:r>
            <a:r>
              <a:rPr sz="1800" dirty="0">
                <a:latin typeface="Arial"/>
                <a:cs typeface="Arial"/>
              </a:rPr>
              <a:t>∩ </a:t>
            </a:r>
            <a:r>
              <a:rPr sz="1800" dirty="0">
                <a:latin typeface="Tahoma"/>
                <a:cs typeface="Tahoma"/>
              </a:rPr>
              <a:t>P3, ¬ P1 </a:t>
            </a:r>
            <a:r>
              <a:rPr sz="1800" dirty="0">
                <a:latin typeface="Arial"/>
                <a:cs typeface="Arial"/>
              </a:rPr>
              <a:t>∩ </a:t>
            </a:r>
            <a:r>
              <a:rPr sz="1800" dirty="0">
                <a:latin typeface="Tahoma"/>
                <a:cs typeface="Tahoma"/>
              </a:rPr>
              <a:t>P3, P1 </a:t>
            </a:r>
            <a:r>
              <a:rPr sz="1800" dirty="0">
                <a:latin typeface="Arial"/>
                <a:cs typeface="Arial"/>
              </a:rPr>
              <a:t>∩ </a:t>
            </a:r>
            <a:r>
              <a:rPr sz="1800" spc="-5" dirty="0">
                <a:latin typeface="Tahoma"/>
                <a:cs typeface="Tahoma"/>
              </a:rPr>
              <a:t>¬P3, </a:t>
            </a:r>
            <a:r>
              <a:rPr sz="1800" dirty="0">
                <a:latin typeface="Tahoma"/>
                <a:cs typeface="Tahoma"/>
              </a:rPr>
              <a:t>¬P1 </a:t>
            </a:r>
            <a:r>
              <a:rPr sz="1800" dirty="0">
                <a:latin typeface="Arial"/>
                <a:cs typeface="Arial"/>
              </a:rPr>
              <a:t>∩</a:t>
            </a:r>
            <a:r>
              <a:rPr sz="1800" spc="260" dirty="0">
                <a:latin typeface="Arial"/>
                <a:cs typeface="Arial"/>
              </a:rPr>
              <a:t> </a:t>
            </a:r>
            <a:r>
              <a:rPr sz="1800" spc="-5" dirty="0">
                <a:latin typeface="Tahoma"/>
                <a:cs typeface="Tahoma"/>
              </a:rPr>
              <a:t>¬P3}</a:t>
            </a:r>
            <a:endParaRPr sz="1800" dirty="0">
              <a:latin typeface="Tahoma"/>
              <a:cs typeface="Tahoma"/>
            </a:endParaRPr>
          </a:p>
        </p:txBody>
      </p:sp>
      <p:sp>
        <p:nvSpPr>
          <p:cNvPr id="10" name="Espace réservé du numéro de diapositive 9"/>
          <p:cNvSpPr>
            <a:spLocks noGrp="1"/>
          </p:cNvSpPr>
          <p:nvPr>
            <p:ph type="sldNum" sz="quarter" idx="15"/>
          </p:nvPr>
        </p:nvSpPr>
        <p:spPr/>
        <p:txBody>
          <a:bodyPr/>
          <a:lstStyle/>
          <a:p>
            <a:fld id="{F1AAE0E6-1385-44E0-8EAE-F204D7E7A5E9}" type="slidenum">
              <a:rPr lang="fr-FR" smtClean="0"/>
              <a:pPr/>
              <a:t>35</a:t>
            </a:fld>
            <a:endParaRPr lang="fr-F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32656"/>
            <a:ext cx="7467600" cy="754694"/>
          </a:xfrm>
          <a:prstGeom prst="rect">
            <a:avLst/>
          </a:prstGeom>
        </p:spPr>
        <p:txBody>
          <a:bodyPr vert="horz" wrap="square" lIns="0" tIns="15875" rIns="0" bIns="0" rtlCol="0">
            <a:spAutoFit/>
          </a:bodyPr>
          <a:lstStyle/>
          <a:p>
            <a:pPr marL="12700">
              <a:lnSpc>
                <a:spcPct val="100000"/>
              </a:lnSpc>
              <a:spcBef>
                <a:spcPts val="125"/>
              </a:spcBef>
            </a:pPr>
            <a:r>
              <a:rPr lang="fr-FR" sz="2400" spc="-10" dirty="0" smtClean="0"/>
              <a:t>FRAGMENTATION</a:t>
            </a:r>
            <a:r>
              <a:rPr lang="fr-FR" sz="2400" spc="345" dirty="0" smtClean="0"/>
              <a:t> </a:t>
            </a:r>
            <a:r>
              <a:rPr lang="fr-FR" sz="2400" spc="-10" dirty="0" smtClean="0"/>
              <a:t>ORIENT</a:t>
            </a:r>
            <a:r>
              <a:rPr lang="fr-FR" sz="2400" spc="-10" dirty="0" smtClean="0">
                <a:solidFill>
                  <a:srgbClr val="565F6C"/>
                </a:solidFill>
                <a:cs typeface="Century Schoolbook"/>
              </a:rPr>
              <a:t>ÉE</a:t>
            </a:r>
            <a:r>
              <a:rPr lang="fr-FR" sz="2400" spc="60" dirty="0" smtClean="0">
                <a:solidFill>
                  <a:srgbClr val="565F6C"/>
                </a:solidFill>
                <a:cs typeface="Century Schoolbook"/>
              </a:rPr>
              <a:t> </a:t>
            </a:r>
            <a:r>
              <a:rPr lang="fr-FR" sz="2400" spc="-15" dirty="0" smtClean="0">
                <a:solidFill>
                  <a:srgbClr val="565F6C"/>
                </a:solidFill>
                <a:cs typeface="Century Schoolbook"/>
              </a:rPr>
              <a:t>REQUÊTES</a:t>
            </a:r>
            <a:r>
              <a:rPr lang="fr-FR" sz="2400" dirty="0" smtClean="0">
                <a:cs typeface="Century Schoolbook"/>
              </a:rPr>
              <a:t/>
            </a:r>
            <a:br>
              <a:rPr lang="fr-FR" sz="2400" dirty="0" smtClean="0">
                <a:cs typeface="Century Schoolbook"/>
              </a:rPr>
            </a:br>
            <a:endParaRPr sz="2400" spc="-110" dirty="0"/>
          </a:p>
        </p:txBody>
      </p:sp>
      <p:sp>
        <p:nvSpPr>
          <p:cNvPr id="3" name="object 3"/>
          <p:cNvSpPr/>
          <p:nvPr/>
        </p:nvSpPr>
        <p:spPr>
          <a:xfrm>
            <a:off x="777240" y="2279014"/>
            <a:ext cx="202691" cy="21336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234439" y="2701163"/>
            <a:ext cx="102108" cy="10667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234439" y="2993770"/>
            <a:ext cx="102108" cy="10667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234439" y="3286378"/>
            <a:ext cx="102108" cy="10667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234439" y="3578986"/>
            <a:ext cx="102108" cy="10668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234439" y="4529835"/>
            <a:ext cx="102108" cy="106680"/>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1234439" y="4822444"/>
            <a:ext cx="102108" cy="106680"/>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234439" y="5115178"/>
            <a:ext cx="102108" cy="106680"/>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234439" y="5407786"/>
            <a:ext cx="102108" cy="106680"/>
          </a:xfrm>
          <a:prstGeom prst="rect">
            <a:avLst/>
          </a:prstGeom>
          <a:blipFill>
            <a:blip r:embed="rId3" cstate="print"/>
            <a:stretch>
              <a:fillRect/>
            </a:stretch>
          </a:blipFill>
        </p:spPr>
        <p:txBody>
          <a:bodyPr wrap="square" lIns="0" tIns="0" rIns="0" bIns="0" rtlCol="0"/>
          <a:lstStyle/>
          <a:p>
            <a:endParaRPr/>
          </a:p>
        </p:txBody>
      </p:sp>
      <p:sp>
        <p:nvSpPr>
          <p:cNvPr id="12" name="object 12"/>
          <p:cNvSpPr txBox="1"/>
          <p:nvPr/>
        </p:nvSpPr>
        <p:spPr>
          <a:xfrm>
            <a:off x="324713" y="1488413"/>
            <a:ext cx="8303895" cy="4032771"/>
          </a:xfrm>
          <a:prstGeom prst="rect">
            <a:avLst/>
          </a:prstGeom>
        </p:spPr>
        <p:txBody>
          <a:bodyPr vert="horz" wrap="square" lIns="0" tIns="12065" rIns="0" bIns="0" rtlCol="0">
            <a:spAutoFit/>
          </a:bodyPr>
          <a:lstStyle/>
          <a:p>
            <a:pPr marL="795655">
              <a:lnSpc>
                <a:spcPct val="100000"/>
              </a:lnSpc>
              <a:spcBef>
                <a:spcPts val="1840"/>
              </a:spcBef>
            </a:pPr>
            <a:endParaRPr lang="fr-FR" sz="2400" spc="-5" dirty="0" smtClean="0">
              <a:latin typeface="Times New Roman"/>
              <a:cs typeface="Times New Roman"/>
            </a:endParaRPr>
          </a:p>
          <a:p>
            <a:pPr marL="795655">
              <a:lnSpc>
                <a:spcPct val="100000"/>
              </a:lnSpc>
              <a:spcBef>
                <a:spcPts val="1840"/>
              </a:spcBef>
            </a:pPr>
            <a:r>
              <a:rPr sz="2400" spc="-5" dirty="0" err="1" smtClean="0">
                <a:latin typeface="Times New Roman"/>
                <a:cs typeface="Times New Roman"/>
              </a:rPr>
              <a:t>Exemple</a:t>
            </a:r>
            <a:r>
              <a:rPr sz="2400" spc="-25" dirty="0" smtClean="0">
                <a:latin typeface="Times New Roman"/>
                <a:cs typeface="Times New Roman"/>
              </a:rPr>
              <a:t> </a:t>
            </a:r>
            <a:r>
              <a:rPr sz="2400" dirty="0">
                <a:latin typeface="Times New Roman"/>
                <a:cs typeface="Times New Roman"/>
              </a:rPr>
              <a:t>(suite):</a:t>
            </a:r>
          </a:p>
          <a:p>
            <a:pPr marL="1196340">
              <a:lnSpc>
                <a:spcPct val="100000"/>
              </a:lnSpc>
              <a:spcBef>
                <a:spcPts val="415"/>
              </a:spcBef>
            </a:pPr>
            <a:r>
              <a:rPr sz="1600" spc="-5" dirty="0">
                <a:latin typeface="Times New Roman"/>
                <a:cs typeface="Times New Roman"/>
              </a:rPr>
              <a:t>P1 ∩ P3 = (numero, </a:t>
            </a:r>
            <a:r>
              <a:rPr sz="1600" spc="-10" dirty="0">
                <a:latin typeface="Times New Roman"/>
                <a:cs typeface="Times New Roman"/>
              </a:rPr>
              <a:t>numeq) </a:t>
            </a:r>
            <a:r>
              <a:rPr sz="1600" spc="-5" dirty="0">
                <a:latin typeface="Times New Roman"/>
                <a:cs typeface="Times New Roman"/>
              </a:rPr>
              <a:t>∩ </a:t>
            </a:r>
            <a:r>
              <a:rPr sz="1600" spc="-10" dirty="0">
                <a:latin typeface="Times New Roman"/>
                <a:cs typeface="Times New Roman"/>
              </a:rPr>
              <a:t>(numero, </a:t>
            </a:r>
            <a:r>
              <a:rPr sz="1600" spc="-15" dirty="0">
                <a:latin typeface="Times New Roman"/>
                <a:cs typeface="Times New Roman"/>
              </a:rPr>
              <a:t>nom) </a:t>
            </a:r>
            <a:r>
              <a:rPr sz="1600" spc="-5" dirty="0">
                <a:latin typeface="Times New Roman"/>
                <a:cs typeface="Times New Roman"/>
              </a:rPr>
              <a:t>=</a:t>
            </a:r>
            <a:r>
              <a:rPr sz="1600" spc="190" dirty="0">
                <a:latin typeface="Times New Roman"/>
                <a:cs typeface="Times New Roman"/>
              </a:rPr>
              <a:t> </a:t>
            </a:r>
            <a:r>
              <a:rPr sz="1600" spc="-5" dirty="0">
                <a:latin typeface="Times New Roman"/>
                <a:cs typeface="Times New Roman"/>
              </a:rPr>
              <a:t>(numero)</a:t>
            </a:r>
            <a:endParaRPr sz="1600" dirty="0">
              <a:latin typeface="Times New Roman"/>
              <a:cs typeface="Times New Roman"/>
            </a:endParaRPr>
          </a:p>
          <a:p>
            <a:pPr marL="1196340">
              <a:lnSpc>
                <a:spcPct val="100000"/>
              </a:lnSpc>
              <a:spcBef>
                <a:spcPts val="384"/>
              </a:spcBef>
            </a:pPr>
            <a:r>
              <a:rPr sz="1600" spc="-5" dirty="0">
                <a:latin typeface="Times New Roman"/>
                <a:cs typeface="Times New Roman"/>
              </a:rPr>
              <a:t>¬ P1 ∩ P3= (numero, </a:t>
            </a:r>
            <a:r>
              <a:rPr sz="1600" spc="-15" dirty="0">
                <a:latin typeface="Times New Roman"/>
                <a:cs typeface="Times New Roman"/>
              </a:rPr>
              <a:t>nom, </a:t>
            </a:r>
            <a:r>
              <a:rPr sz="1600" spc="-5" dirty="0">
                <a:latin typeface="Times New Roman"/>
                <a:cs typeface="Times New Roman"/>
              </a:rPr>
              <a:t>prenom) ∩ </a:t>
            </a:r>
            <a:r>
              <a:rPr sz="1600" spc="-10" dirty="0">
                <a:latin typeface="Times New Roman"/>
                <a:cs typeface="Times New Roman"/>
              </a:rPr>
              <a:t>(numero, </a:t>
            </a:r>
            <a:r>
              <a:rPr sz="1600" spc="-15" dirty="0">
                <a:latin typeface="Times New Roman"/>
                <a:cs typeface="Times New Roman"/>
              </a:rPr>
              <a:t>nom) </a:t>
            </a:r>
            <a:r>
              <a:rPr sz="1600" spc="-5" dirty="0">
                <a:latin typeface="Times New Roman"/>
                <a:cs typeface="Times New Roman"/>
              </a:rPr>
              <a:t>= </a:t>
            </a:r>
            <a:r>
              <a:rPr sz="1600" spc="-10" dirty="0">
                <a:latin typeface="Times New Roman"/>
                <a:cs typeface="Times New Roman"/>
              </a:rPr>
              <a:t>(numero,</a:t>
            </a:r>
            <a:r>
              <a:rPr sz="1600" spc="305" dirty="0">
                <a:latin typeface="Times New Roman"/>
                <a:cs typeface="Times New Roman"/>
              </a:rPr>
              <a:t> </a:t>
            </a:r>
            <a:r>
              <a:rPr sz="1600" spc="-15" dirty="0">
                <a:latin typeface="Times New Roman"/>
                <a:cs typeface="Times New Roman"/>
              </a:rPr>
              <a:t>nom)</a:t>
            </a:r>
            <a:endParaRPr sz="1600" dirty="0">
              <a:latin typeface="Times New Roman"/>
              <a:cs typeface="Times New Roman"/>
            </a:endParaRPr>
          </a:p>
          <a:p>
            <a:pPr marL="1196340">
              <a:lnSpc>
                <a:spcPct val="100000"/>
              </a:lnSpc>
              <a:spcBef>
                <a:spcPts val="380"/>
              </a:spcBef>
            </a:pPr>
            <a:r>
              <a:rPr sz="1600" spc="-5" dirty="0">
                <a:latin typeface="Times New Roman"/>
                <a:cs typeface="Times New Roman"/>
              </a:rPr>
              <a:t>P1 ∩ ¬P3= (numero, </a:t>
            </a:r>
            <a:r>
              <a:rPr sz="1600" spc="-10" dirty="0">
                <a:latin typeface="Times New Roman"/>
                <a:cs typeface="Times New Roman"/>
              </a:rPr>
              <a:t>numeq) </a:t>
            </a:r>
            <a:r>
              <a:rPr sz="1600" spc="-5" dirty="0">
                <a:latin typeface="Times New Roman"/>
                <a:cs typeface="Times New Roman"/>
              </a:rPr>
              <a:t>∩ </a:t>
            </a:r>
            <a:r>
              <a:rPr sz="1600" spc="-10" dirty="0">
                <a:latin typeface="Times New Roman"/>
                <a:cs typeface="Times New Roman"/>
              </a:rPr>
              <a:t>(numero, </a:t>
            </a:r>
            <a:r>
              <a:rPr sz="1600" spc="-5" dirty="0">
                <a:latin typeface="Times New Roman"/>
                <a:cs typeface="Times New Roman"/>
              </a:rPr>
              <a:t>prenom, </a:t>
            </a:r>
            <a:r>
              <a:rPr sz="1600" spc="-10" dirty="0">
                <a:latin typeface="Times New Roman"/>
                <a:cs typeface="Times New Roman"/>
              </a:rPr>
              <a:t>numeq)= </a:t>
            </a:r>
            <a:r>
              <a:rPr sz="1600" spc="-5" dirty="0">
                <a:latin typeface="Times New Roman"/>
                <a:cs typeface="Times New Roman"/>
              </a:rPr>
              <a:t>(numero,</a:t>
            </a:r>
            <a:r>
              <a:rPr sz="1600" spc="275" dirty="0">
                <a:latin typeface="Times New Roman"/>
                <a:cs typeface="Times New Roman"/>
              </a:rPr>
              <a:t> </a:t>
            </a:r>
            <a:r>
              <a:rPr sz="1600" spc="-10" dirty="0">
                <a:latin typeface="Times New Roman"/>
                <a:cs typeface="Times New Roman"/>
              </a:rPr>
              <a:t>numeq)</a:t>
            </a:r>
            <a:endParaRPr sz="1600" dirty="0">
              <a:latin typeface="Times New Roman"/>
              <a:cs typeface="Times New Roman"/>
            </a:endParaRPr>
          </a:p>
          <a:p>
            <a:pPr marL="1196340">
              <a:lnSpc>
                <a:spcPct val="100000"/>
              </a:lnSpc>
              <a:spcBef>
                <a:spcPts val="385"/>
              </a:spcBef>
            </a:pPr>
            <a:r>
              <a:rPr sz="1600" spc="-5" dirty="0">
                <a:latin typeface="Times New Roman"/>
                <a:cs typeface="Times New Roman"/>
              </a:rPr>
              <a:t>¬P1 ∩ ¬P3 = (numero, </a:t>
            </a:r>
            <a:r>
              <a:rPr sz="1600" spc="-15" dirty="0">
                <a:latin typeface="Times New Roman"/>
                <a:cs typeface="Times New Roman"/>
              </a:rPr>
              <a:t>nom, </a:t>
            </a:r>
            <a:r>
              <a:rPr sz="1600" spc="-5" dirty="0">
                <a:latin typeface="Times New Roman"/>
                <a:cs typeface="Times New Roman"/>
              </a:rPr>
              <a:t>prenom) ∩ </a:t>
            </a:r>
            <a:r>
              <a:rPr sz="1600" spc="-10" dirty="0">
                <a:latin typeface="Times New Roman"/>
                <a:cs typeface="Times New Roman"/>
              </a:rPr>
              <a:t>(numero, prenom, numeq)= (numero,</a:t>
            </a:r>
            <a:r>
              <a:rPr sz="1600" spc="20" dirty="0">
                <a:latin typeface="Times New Roman"/>
                <a:cs typeface="Times New Roman"/>
              </a:rPr>
              <a:t> </a:t>
            </a:r>
            <a:r>
              <a:rPr sz="1600" spc="-10" dirty="0">
                <a:latin typeface="Times New Roman"/>
                <a:cs typeface="Times New Roman"/>
              </a:rPr>
              <a:t>prenom)</a:t>
            </a:r>
            <a:endParaRPr sz="1600" dirty="0">
              <a:latin typeface="Times New Roman"/>
              <a:cs typeface="Times New Roman"/>
            </a:endParaRPr>
          </a:p>
          <a:p>
            <a:pPr>
              <a:lnSpc>
                <a:spcPct val="100000"/>
              </a:lnSpc>
              <a:spcBef>
                <a:spcPts val="10"/>
              </a:spcBef>
            </a:pPr>
            <a:endParaRPr sz="2400" dirty="0">
              <a:latin typeface="Times New Roman"/>
              <a:cs typeface="Times New Roman"/>
            </a:endParaRPr>
          </a:p>
          <a:p>
            <a:pPr marL="452120">
              <a:lnSpc>
                <a:spcPct val="100000"/>
              </a:lnSpc>
            </a:pPr>
            <a:r>
              <a:rPr sz="2000" spc="5" dirty="0">
                <a:latin typeface="Wingdings"/>
                <a:cs typeface="Wingdings"/>
              </a:rPr>
              <a:t></a:t>
            </a:r>
            <a:r>
              <a:rPr sz="2000" spc="5" dirty="0">
                <a:latin typeface="Times New Roman"/>
                <a:cs typeface="Times New Roman"/>
              </a:rPr>
              <a:t> </a:t>
            </a:r>
            <a:r>
              <a:rPr sz="2000" dirty="0">
                <a:latin typeface="Times New Roman"/>
                <a:cs typeface="Times New Roman"/>
              </a:rPr>
              <a:t>Fragments</a:t>
            </a:r>
            <a:r>
              <a:rPr sz="2000" spc="15" dirty="0">
                <a:latin typeface="Times New Roman"/>
                <a:cs typeface="Times New Roman"/>
              </a:rPr>
              <a:t> </a:t>
            </a:r>
            <a:r>
              <a:rPr sz="2000" dirty="0">
                <a:latin typeface="Times New Roman"/>
                <a:cs typeface="Times New Roman"/>
              </a:rPr>
              <a:t>verticaux:</a:t>
            </a:r>
          </a:p>
          <a:p>
            <a:pPr marL="1196340">
              <a:lnSpc>
                <a:spcPct val="100000"/>
              </a:lnSpc>
              <a:spcBef>
                <a:spcPts val="400"/>
              </a:spcBef>
            </a:pPr>
            <a:r>
              <a:rPr sz="1600" strike="sngStrike" spc="-5" dirty="0">
                <a:latin typeface="Times New Roman"/>
                <a:cs typeface="Times New Roman"/>
              </a:rPr>
              <a:t>F1 =</a:t>
            </a:r>
            <a:r>
              <a:rPr sz="1600" strike="sngStrike" spc="-15" dirty="0">
                <a:latin typeface="Times New Roman"/>
                <a:cs typeface="Times New Roman"/>
              </a:rPr>
              <a:t> </a:t>
            </a:r>
            <a:r>
              <a:rPr sz="1600" strike="sngStrike" spc="-5" dirty="0">
                <a:latin typeface="Times New Roman"/>
                <a:cs typeface="Times New Roman"/>
              </a:rPr>
              <a:t>∏numero(Cuisinier)</a:t>
            </a:r>
            <a:endParaRPr sz="1600" strike="sngStrike" dirty="0">
              <a:latin typeface="Times New Roman"/>
              <a:cs typeface="Times New Roman"/>
            </a:endParaRPr>
          </a:p>
          <a:p>
            <a:pPr marL="1196340" marR="4278630">
              <a:lnSpc>
                <a:spcPct val="120000"/>
              </a:lnSpc>
            </a:pPr>
            <a:r>
              <a:rPr sz="1600" spc="-5" dirty="0">
                <a:latin typeface="Times New Roman"/>
                <a:cs typeface="Times New Roman"/>
              </a:rPr>
              <a:t>F2 = </a:t>
            </a:r>
            <a:r>
              <a:rPr sz="1600" spc="-10" dirty="0">
                <a:latin typeface="Times New Roman"/>
                <a:cs typeface="Times New Roman"/>
              </a:rPr>
              <a:t>∏numero, </a:t>
            </a:r>
            <a:r>
              <a:rPr sz="1600" spc="-5" dirty="0">
                <a:latin typeface="Times New Roman"/>
                <a:cs typeface="Times New Roman"/>
              </a:rPr>
              <a:t>nom(Cuisinier)  F3 = </a:t>
            </a:r>
            <a:r>
              <a:rPr sz="1600" spc="-10" dirty="0">
                <a:latin typeface="Times New Roman"/>
                <a:cs typeface="Times New Roman"/>
              </a:rPr>
              <a:t>∏numero, </a:t>
            </a:r>
            <a:r>
              <a:rPr sz="1600" spc="-5" dirty="0">
                <a:latin typeface="Times New Roman"/>
                <a:cs typeface="Times New Roman"/>
              </a:rPr>
              <a:t>numeq(Cuisinier)  F4 = </a:t>
            </a:r>
            <a:r>
              <a:rPr sz="1600" spc="-10" dirty="0">
                <a:latin typeface="Times New Roman"/>
                <a:cs typeface="Times New Roman"/>
              </a:rPr>
              <a:t>∏numero,</a:t>
            </a:r>
            <a:r>
              <a:rPr sz="1600" spc="35" dirty="0">
                <a:latin typeface="Times New Roman"/>
                <a:cs typeface="Times New Roman"/>
              </a:rPr>
              <a:t> </a:t>
            </a:r>
            <a:r>
              <a:rPr sz="1600" spc="-5" dirty="0">
                <a:latin typeface="Times New Roman"/>
                <a:cs typeface="Times New Roman"/>
              </a:rPr>
              <a:t>prenom(Cuisinier)</a:t>
            </a:r>
            <a:endParaRPr sz="1600" dirty="0">
              <a:latin typeface="Times New Roman"/>
              <a:cs typeface="Times New Roman"/>
            </a:endParaRPr>
          </a:p>
        </p:txBody>
      </p:sp>
      <p:sp>
        <p:nvSpPr>
          <p:cNvPr id="15" name="Espace réservé du numéro de diapositive 14"/>
          <p:cNvSpPr>
            <a:spLocks noGrp="1"/>
          </p:cNvSpPr>
          <p:nvPr>
            <p:ph type="sldNum" sz="quarter" idx="15"/>
          </p:nvPr>
        </p:nvSpPr>
        <p:spPr/>
        <p:txBody>
          <a:bodyPr/>
          <a:lstStyle/>
          <a:p>
            <a:fld id="{F1AAE0E6-1385-44E0-8EAE-F204D7E7A5E9}" type="slidenum">
              <a:rPr lang="fr-FR" smtClean="0"/>
              <a:pPr/>
              <a:t>36</a:t>
            </a:fld>
            <a:endParaRPr lang="fr-F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smtClean="0"/>
              <a:t>Allocation des fragments</a:t>
            </a:r>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37</a:t>
            </a:fld>
            <a:endParaRPr lang="fr-F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smtClean="0"/>
              <a:t>Allocation de fragments aux sites</a:t>
            </a:r>
            <a:br>
              <a:rPr lang="fr-FR" b="1" smtClean="0"/>
            </a:br>
            <a:endParaRPr lang="fr-FR" dirty="0"/>
          </a:p>
        </p:txBody>
      </p:sp>
      <p:sp>
        <p:nvSpPr>
          <p:cNvPr id="3" name="Espace réservé du contenu 2"/>
          <p:cNvSpPr>
            <a:spLocks noGrp="1"/>
          </p:cNvSpPr>
          <p:nvPr>
            <p:ph sz="quarter" idx="1"/>
          </p:nvPr>
        </p:nvSpPr>
        <p:spPr/>
        <p:txBody>
          <a:bodyPr>
            <a:normAutofit/>
          </a:bodyPr>
          <a:lstStyle/>
          <a:p>
            <a:r>
              <a:rPr lang="fr-FR" b="1" dirty="0" smtClean="0"/>
              <a:t>Non-Dupliquée :</a:t>
            </a:r>
          </a:p>
          <a:p>
            <a:pPr lvl="1"/>
            <a:r>
              <a:rPr lang="fr-FR" b="1" dirty="0" smtClean="0"/>
              <a:t> </a:t>
            </a:r>
            <a:r>
              <a:rPr lang="fr-FR" b="1" dirty="0" smtClean="0"/>
              <a:t>chaque fragment </a:t>
            </a:r>
            <a:r>
              <a:rPr lang="fr-FR" b="1" dirty="0" err="1" smtClean="0"/>
              <a:t>nʼexiste</a:t>
            </a:r>
            <a:r>
              <a:rPr lang="fr-FR" b="1" dirty="0" smtClean="0"/>
              <a:t> que sur un seul site</a:t>
            </a:r>
          </a:p>
          <a:p>
            <a:r>
              <a:rPr lang="fr-FR" b="1" dirty="0" smtClean="0"/>
              <a:t>Dupliquée :</a:t>
            </a:r>
          </a:p>
          <a:p>
            <a:pPr lvl="1"/>
            <a:r>
              <a:rPr lang="fr-FR" dirty="0" smtClean="0"/>
              <a:t> chaque fragment est </a:t>
            </a:r>
            <a:r>
              <a:rPr lang="fr-FR" b="1" dirty="0" smtClean="0"/>
              <a:t>sur plus </a:t>
            </a:r>
            <a:r>
              <a:rPr lang="fr-FR" b="1" dirty="0" err="1" smtClean="0"/>
              <a:t>dʼun</a:t>
            </a:r>
            <a:r>
              <a:rPr lang="fr-FR" b="1" dirty="0" smtClean="0"/>
              <a:t> site</a:t>
            </a:r>
          </a:p>
          <a:p>
            <a:pPr lvl="1"/>
            <a:r>
              <a:rPr lang="fr-FR" dirty="0" smtClean="0"/>
              <a:t> maintien de la </a:t>
            </a:r>
            <a:r>
              <a:rPr lang="fr-FR" b="1" dirty="0" smtClean="0"/>
              <a:t>cohérence des copies multiples</a:t>
            </a:r>
          </a:p>
        </p:txBody>
      </p:sp>
      <p:pic>
        <p:nvPicPr>
          <p:cNvPr id="1026" name="Picture 2"/>
          <p:cNvPicPr>
            <a:picLocks noChangeAspect="1" noChangeArrowheads="1"/>
          </p:cNvPicPr>
          <p:nvPr/>
        </p:nvPicPr>
        <p:blipFill>
          <a:blip r:embed="rId2" cstate="print"/>
          <a:srcRect/>
          <a:stretch>
            <a:fillRect/>
          </a:stretch>
        </p:blipFill>
        <p:spPr bwMode="auto">
          <a:xfrm>
            <a:off x="2051720" y="4149080"/>
            <a:ext cx="4680520" cy="2051670"/>
          </a:xfrm>
          <a:prstGeom prst="rect">
            <a:avLst/>
          </a:prstGeom>
          <a:noFill/>
          <a:ln w="9525">
            <a:noFill/>
            <a:miter lim="800000"/>
            <a:headEnd/>
            <a:tailEnd/>
          </a:ln>
        </p:spPr>
      </p:pic>
      <p:sp>
        <p:nvSpPr>
          <p:cNvPr id="5" name="Espace réservé du numéro de diapositive 4"/>
          <p:cNvSpPr>
            <a:spLocks noGrp="1"/>
          </p:cNvSpPr>
          <p:nvPr>
            <p:ph type="sldNum" sz="quarter" idx="15"/>
          </p:nvPr>
        </p:nvSpPr>
        <p:spPr/>
        <p:txBody>
          <a:bodyPr/>
          <a:lstStyle/>
          <a:p>
            <a:fld id="{F1AAE0E6-1385-44E0-8EAE-F204D7E7A5E9}" type="slidenum">
              <a:rPr lang="fr-FR" smtClean="0"/>
              <a:pPr/>
              <a:t>38</a:t>
            </a:fld>
            <a:endParaRPr lang="fr-F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Processus d’allocation des fragments.</a:t>
            </a:r>
            <a:endParaRPr lang="fr-FR" dirty="0"/>
          </a:p>
        </p:txBody>
      </p:sp>
      <p:sp>
        <p:nvSpPr>
          <p:cNvPr id="3" name="Espace réservé du contenu 2"/>
          <p:cNvSpPr>
            <a:spLocks noGrp="1"/>
          </p:cNvSpPr>
          <p:nvPr>
            <p:ph sz="quarter" idx="1"/>
          </p:nvPr>
        </p:nvSpPr>
        <p:spPr/>
        <p:txBody>
          <a:bodyPr>
            <a:normAutofit/>
          </a:bodyPr>
          <a:lstStyle/>
          <a:p>
            <a:r>
              <a:rPr lang="fr-FR" dirty="0" smtClean="0"/>
              <a:t>L’affectation des fragments sur les sites est décidée en fonction de l’origine prévue des requêtes qui ont servi à la fragmentation. </a:t>
            </a:r>
          </a:p>
          <a:p>
            <a:r>
              <a:rPr lang="fr-FR" dirty="0" smtClean="0"/>
              <a:t>Le but est de placer les fragments pour minimiser les transferts de données entre les sites. </a:t>
            </a:r>
          </a:p>
          <a:p>
            <a:r>
              <a:rPr lang="fr-FR" dirty="0" smtClean="0"/>
              <a:t>L’allocation peut se faire avec </a:t>
            </a:r>
            <a:r>
              <a:rPr lang="fr-FR" b="1" dirty="0" smtClean="0"/>
              <a:t>réplication ou sans réplication. </a:t>
            </a:r>
          </a:p>
          <a:p>
            <a:r>
              <a:rPr lang="fr-FR" b="1" dirty="0" smtClean="0"/>
              <a:t>La réplication favorise les performances des requêtes et augmente la disponibilité des données, mais est coûteuse en mise à jour des différents fragments. </a:t>
            </a:r>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39</a:t>
            </a:fld>
            <a:endParaRPr lang="fr-F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Problème d’allocation: </a:t>
            </a:r>
            <a:br>
              <a:rPr lang="fr-FR" b="1" dirty="0" smtClean="0"/>
            </a:br>
            <a:endParaRPr lang="fr-FR" dirty="0"/>
          </a:p>
        </p:txBody>
      </p:sp>
      <p:sp>
        <p:nvSpPr>
          <p:cNvPr id="3" name="Espace réservé du contenu 2"/>
          <p:cNvSpPr>
            <a:spLocks noGrp="1"/>
          </p:cNvSpPr>
          <p:nvPr>
            <p:ph sz="quarter" idx="1"/>
          </p:nvPr>
        </p:nvSpPr>
        <p:spPr/>
        <p:txBody>
          <a:bodyPr>
            <a:normAutofit lnSpcReduction="10000"/>
          </a:bodyPr>
          <a:lstStyle/>
          <a:p>
            <a:endParaRPr lang="fr-FR" dirty="0" smtClean="0"/>
          </a:p>
          <a:p>
            <a:r>
              <a:rPr lang="fr-FR" b="1" u="sng" dirty="0" smtClean="0"/>
              <a:t>Entrées: </a:t>
            </a:r>
          </a:p>
          <a:p>
            <a:pPr lvl="1"/>
            <a:r>
              <a:rPr lang="fr-FR" sz="2400" dirty="0" smtClean="0"/>
              <a:t>􀂃 F = {F1, F2, …, Fn} - ensemble de fragments </a:t>
            </a:r>
          </a:p>
          <a:p>
            <a:pPr lvl="1"/>
            <a:r>
              <a:rPr lang="fr-FR" sz="2400" dirty="0" smtClean="0"/>
              <a:t>􀂃 S = {S1, S2, …, </a:t>
            </a:r>
            <a:r>
              <a:rPr lang="fr-FR" sz="2400" dirty="0" err="1" smtClean="0"/>
              <a:t>Sm</a:t>
            </a:r>
            <a:r>
              <a:rPr lang="fr-FR" sz="2400" dirty="0" smtClean="0"/>
              <a:t>} - ensemble de sites </a:t>
            </a:r>
          </a:p>
          <a:p>
            <a:pPr lvl="1"/>
            <a:r>
              <a:rPr lang="fr-FR" sz="2400" dirty="0" smtClean="0"/>
              <a:t>􀂃 Q = {Q1, Q2, …, </a:t>
            </a:r>
            <a:r>
              <a:rPr lang="fr-FR" sz="2400" dirty="0" err="1" smtClean="0"/>
              <a:t>Ql</a:t>
            </a:r>
            <a:r>
              <a:rPr lang="fr-FR" sz="2400" dirty="0" smtClean="0"/>
              <a:t>} - ensemble de requêtes </a:t>
            </a:r>
          </a:p>
          <a:p>
            <a:endParaRPr lang="fr-FR" dirty="0" smtClean="0"/>
          </a:p>
          <a:p>
            <a:pPr lvl="1"/>
            <a:r>
              <a:rPr lang="fr-FR" sz="2400" dirty="0" smtClean="0"/>
              <a:t>⇒ </a:t>
            </a:r>
            <a:r>
              <a:rPr lang="fr-FR" sz="2400" b="1" dirty="0" smtClean="0"/>
              <a:t>Le problème d’allocation consiste à trouver une distribution optimale de F sur S afin d’améliorer la performance (temps de réponse, données transférées, etc.) </a:t>
            </a:r>
          </a:p>
          <a:p>
            <a:endParaRPr lang="fr-FR" dirty="0" smtClean="0"/>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40</a:t>
            </a:fld>
            <a:endParaRPr lang="fr-F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Problème d’allocation</a:t>
            </a:r>
            <a:br>
              <a:rPr lang="fr-FR" b="1" dirty="0" smtClean="0"/>
            </a:br>
            <a:endParaRPr lang="fr-FR" dirty="0"/>
          </a:p>
        </p:txBody>
      </p:sp>
      <p:sp>
        <p:nvSpPr>
          <p:cNvPr id="3" name="Espace réservé du contenu 2"/>
          <p:cNvSpPr>
            <a:spLocks noGrp="1"/>
          </p:cNvSpPr>
          <p:nvPr>
            <p:ph sz="quarter" idx="1"/>
          </p:nvPr>
        </p:nvSpPr>
        <p:spPr/>
        <p:txBody>
          <a:bodyPr/>
          <a:lstStyle/>
          <a:p>
            <a:r>
              <a:rPr lang="fr-FR" dirty="0" smtClean="0"/>
              <a:t>Pour assurer l’optimalité, nous devons respecter les deux conditions:</a:t>
            </a:r>
          </a:p>
          <a:p>
            <a:endParaRPr lang="fr-FR" dirty="0" smtClean="0"/>
          </a:p>
          <a:p>
            <a:pPr lvl="1"/>
            <a:r>
              <a:rPr lang="fr-FR" dirty="0" smtClean="0"/>
              <a:t>1. Le coût minimal </a:t>
            </a:r>
          </a:p>
          <a:p>
            <a:pPr lvl="1"/>
            <a:endParaRPr lang="fr-FR" dirty="0" smtClean="0"/>
          </a:p>
          <a:p>
            <a:pPr lvl="1"/>
            <a:r>
              <a:rPr lang="fr-FR" dirty="0" smtClean="0"/>
              <a:t>2.La performance</a:t>
            </a:r>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41</a:t>
            </a:fld>
            <a:endParaRPr lang="fr-F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Problème d’allocation</a:t>
            </a:r>
            <a:br>
              <a:rPr lang="fr-FR" b="1" dirty="0" smtClean="0"/>
            </a:br>
            <a:endParaRPr lang="fr-FR" dirty="0"/>
          </a:p>
        </p:txBody>
      </p:sp>
      <p:sp>
        <p:nvSpPr>
          <p:cNvPr id="3" name="Espace réservé du contenu 2"/>
          <p:cNvSpPr>
            <a:spLocks noGrp="1"/>
          </p:cNvSpPr>
          <p:nvPr>
            <p:ph sz="quarter" idx="1"/>
          </p:nvPr>
        </p:nvSpPr>
        <p:spPr/>
        <p:txBody>
          <a:bodyPr/>
          <a:lstStyle/>
          <a:p>
            <a:pPr lvl="1"/>
            <a:r>
              <a:rPr lang="fr-FR" dirty="0" smtClean="0"/>
              <a:t>1. Le coût minimal</a:t>
            </a:r>
          </a:p>
          <a:p>
            <a:pPr lvl="1">
              <a:buNone/>
            </a:pPr>
            <a:r>
              <a:rPr lang="fr-FR" dirty="0" smtClean="0"/>
              <a:t>Les coûts traités dans cette condition sont:</a:t>
            </a:r>
          </a:p>
          <a:p>
            <a:pPr lvl="2"/>
            <a:r>
              <a:rPr lang="fr-FR" dirty="0" smtClean="0"/>
              <a:t> Le coût de stockage de chaque fragment Fi sur le site </a:t>
            </a:r>
            <a:r>
              <a:rPr lang="fr-FR" dirty="0" err="1" smtClean="0"/>
              <a:t>Sj</a:t>
            </a:r>
            <a:r>
              <a:rPr lang="fr-FR" dirty="0" smtClean="0"/>
              <a:t>;</a:t>
            </a:r>
          </a:p>
          <a:p>
            <a:pPr lvl="2"/>
            <a:r>
              <a:rPr lang="fr-FR" dirty="0" smtClean="0"/>
              <a:t> Le coût de consultation de Fi localisé sur </a:t>
            </a:r>
            <a:r>
              <a:rPr lang="fr-FR" dirty="0" err="1" smtClean="0"/>
              <a:t>Sj</a:t>
            </a:r>
            <a:r>
              <a:rPr lang="fr-FR" dirty="0" smtClean="0"/>
              <a:t>;</a:t>
            </a:r>
          </a:p>
          <a:p>
            <a:pPr lvl="2"/>
            <a:r>
              <a:rPr lang="fr-FR" dirty="0" smtClean="0"/>
              <a:t> Le coût de mise à jour de Fi sur tous les sites où il est stocké;</a:t>
            </a:r>
          </a:p>
          <a:p>
            <a:pPr lvl="2"/>
            <a:r>
              <a:rPr lang="fr-FR" dirty="0" smtClean="0"/>
              <a:t> Le coût de communication.</a:t>
            </a:r>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42</a:t>
            </a:fld>
            <a:endParaRPr lang="fr-F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Problème d’allocation </a:t>
            </a:r>
            <a:br>
              <a:rPr lang="fr-FR" b="1" dirty="0" smtClean="0"/>
            </a:br>
            <a:endParaRPr lang="fr-FR" dirty="0"/>
          </a:p>
        </p:txBody>
      </p:sp>
      <p:sp>
        <p:nvSpPr>
          <p:cNvPr id="3" name="Espace réservé du contenu 2"/>
          <p:cNvSpPr>
            <a:spLocks noGrp="1"/>
          </p:cNvSpPr>
          <p:nvPr>
            <p:ph sz="quarter" idx="1"/>
          </p:nvPr>
        </p:nvSpPr>
        <p:spPr/>
        <p:txBody>
          <a:bodyPr/>
          <a:lstStyle/>
          <a:p>
            <a:r>
              <a:rPr lang="fr-FR" dirty="0" smtClean="0"/>
              <a:t>2. La performance</a:t>
            </a:r>
          </a:p>
          <a:p>
            <a:pPr>
              <a:buNone/>
            </a:pPr>
            <a:r>
              <a:rPr lang="fr-FR" dirty="0" smtClean="0"/>
              <a:t>Dans cette condition nous essayons de:</a:t>
            </a:r>
          </a:p>
          <a:p>
            <a:pPr lvl="1"/>
            <a:r>
              <a:rPr lang="fr-FR" dirty="0" smtClean="0"/>
              <a:t> Minimiser le temps de réponse;</a:t>
            </a:r>
          </a:p>
          <a:p>
            <a:pPr lvl="1"/>
            <a:r>
              <a:rPr lang="fr-FR" dirty="0" smtClean="0"/>
              <a:t> Maximiser le débit de chaque site.</a:t>
            </a:r>
          </a:p>
          <a:p>
            <a:r>
              <a:rPr lang="fr-FR" dirty="0" smtClean="0"/>
              <a:t>Remarque:</a:t>
            </a:r>
          </a:p>
          <a:p>
            <a:r>
              <a:rPr lang="fr-FR" dirty="0" smtClean="0"/>
              <a:t>Suite à la complexité du problème, on ne peut pas satisfaire toutes ces conditions. </a:t>
            </a:r>
          </a:p>
          <a:p>
            <a:r>
              <a:rPr lang="fr-FR" dirty="0" smtClean="0"/>
              <a:t>Les modèles existants essaient de satisfaire les conditions qui les intéresse.</a:t>
            </a:r>
          </a:p>
          <a:p>
            <a:r>
              <a:rPr lang="fr-FR" b="1" u="sng" dirty="0" smtClean="0"/>
              <a:t>Autres contraintes </a:t>
            </a:r>
          </a:p>
          <a:p>
            <a:pPr lvl="2"/>
            <a:r>
              <a:rPr lang="fr-FR" dirty="0" smtClean="0"/>
              <a:t>o Stockage, équilibrage de la charge entre les sites </a:t>
            </a:r>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43</a:t>
            </a:fld>
            <a:endParaRPr lang="fr-F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err="1" smtClean="0"/>
              <a:t>Algortihmes</a:t>
            </a:r>
            <a:r>
              <a:rPr lang="fr-FR" b="1" dirty="0" smtClean="0"/>
              <a:t> d’allocation </a:t>
            </a:r>
            <a:br>
              <a:rPr lang="fr-FR" b="1" dirty="0" smtClean="0"/>
            </a:br>
            <a:endParaRPr lang="fr-FR" dirty="0"/>
          </a:p>
        </p:txBody>
      </p:sp>
      <p:sp>
        <p:nvSpPr>
          <p:cNvPr id="3" name="Espace réservé du contenu 2"/>
          <p:cNvSpPr>
            <a:spLocks noGrp="1"/>
          </p:cNvSpPr>
          <p:nvPr>
            <p:ph sz="quarter" idx="1"/>
          </p:nvPr>
        </p:nvSpPr>
        <p:spPr/>
        <p:txBody>
          <a:bodyPr/>
          <a:lstStyle/>
          <a:p>
            <a:r>
              <a:rPr lang="fr-FR" dirty="0" smtClean="0"/>
              <a:t>Il existe plusieurs algorithmes, nous présentons ici l’algorithme « </a:t>
            </a:r>
            <a:r>
              <a:rPr lang="fr-FR" b="1" dirty="0" smtClean="0"/>
              <a:t>BEST FIT » </a:t>
            </a:r>
          </a:p>
          <a:p>
            <a:r>
              <a:rPr lang="fr-FR" b="1" u="sng" dirty="0" smtClean="0"/>
              <a:t>Principe </a:t>
            </a:r>
          </a:p>
          <a:p>
            <a:pPr lvl="1"/>
            <a:r>
              <a:rPr lang="fr-FR" dirty="0" smtClean="0"/>
              <a:t> Permet de déterminer le site sur lequel stocker le fragment, là où l’on maximise les traitements locaux </a:t>
            </a:r>
          </a:p>
          <a:p>
            <a:pPr lvl="1"/>
            <a:r>
              <a:rPr lang="fr-FR" dirty="0" smtClean="0"/>
              <a:t> n’intègre pas le problème de la réplication </a:t>
            </a:r>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44</a:t>
            </a:fld>
            <a:endParaRPr lang="fr-F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err="1" smtClean="0"/>
              <a:t>Algortihmes</a:t>
            </a:r>
            <a:r>
              <a:rPr lang="fr-FR" b="1" dirty="0" smtClean="0"/>
              <a:t> d’allocation </a:t>
            </a:r>
            <a:br>
              <a:rPr lang="fr-FR" b="1" dirty="0" smtClean="0"/>
            </a:br>
            <a:endParaRPr lang="fr-FR" dirty="0"/>
          </a:p>
        </p:txBody>
      </p:sp>
      <p:sp>
        <p:nvSpPr>
          <p:cNvPr id="3" name="Espace réservé du contenu 2"/>
          <p:cNvSpPr>
            <a:spLocks noGrp="1"/>
          </p:cNvSpPr>
          <p:nvPr>
            <p:ph sz="quarter" idx="1"/>
          </p:nvPr>
        </p:nvSpPr>
        <p:spPr>
          <a:xfrm>
            <a:off x="457200" y="1268760"/>
            <a:ext cx="7467600" cy="4873752"/>
          </a:xfrm>
        </p:spPr>
        <p:txBody>
          <a:bodyPr/>
          <a:lstStyle/>
          <a:p>
            <a:r>
              <a:rPr lang="fr-FR" b="1" i="1" u="sng" dirty="0" smtClean="0"/>
              <a:t>Exemple </a:t>
            </a:r>
          </a:p>
          <a:p>
            <a:r>
              <a:rPr lang="fr-FR" i="1" dirty="0" smtClean="0"/>
              <a:t>Soient les informations suivantes relatives aux différents fragments : </a:t>
            </a:r>
          </a:p>
          <a:p>
            <a:endParaRPr lang="fr-FR" dirty="0"/>
          </a:p>
        </p:txBody>
      </p:sp>
      <p:pic>
        <p:nvPicPr>
          <p:cNvPr id="8194" name="Picture 2"/>
          <p:cNvPicPr>
            <a:picLocks noChangeAspect="1" noChangeArrowheads="1"/>
          </p:cNvPicPr>
          <p:nvPr/>
        </p:nvPicPr>
        <p:blipFill>
          <a:blip r:embed="rId3" cstate="print"/>
          <a:srcRect/>
          <a:stretch>
            <a:fillRect/>
          </a:stretch>
        </p:blipFill>
        <p:spPr bwMode="auto">
          <a:xfrm>
            <a:off x="1187628" y="2708921"/>
            <a:ext cx="4848225" cy="1847851"/>
          </a:xfrm>
          <a:prstGeom prst="rect">
            <a:avLst/>
          </a:prstGeom>
          <a:noFill/>
          <a:ln w="9525">
            <a:noFill/>
            <a:miter lim="800000"/>
            <a:headEnd/>
            <a:tailEnd/>
          </a:ln>
        </p:spPr>
      </p:pic>
      <p:pic>
        <p:nvPicPr>
          <p:cNvPr id="8195" name="Picture 3"/>
          <p:cNvPicPr>
            <a:picLocks noChangeAspect="1" noChangeArrowheads="1"/>
          </p:cNvPicPr>
          <p:nvPr/>
        </p:nvPicPr>
        <p:blipFill>
          <a:blip r:embed="rId4" cstate="print"/>
          <a:srcRect/>
          <a:stretch>
            <a:fillRect/>
          </a:stretch>
        </p:blipFill>
        <p:spPr bwMode="auto">
          <a:xfrm>
            <a:off x="1187635" y="4600641"/>
            <a:ext cx="4490095" cy="2257360"/>
          </a:xfrm>
          <a:prstGeom prst="rect">
            <a:avLst/>
          </a:prstGeom>
          <a:noFill/>
          <a:ln w="9525">
            <a:noFill/>
            <a:miter lim="800000"/>
            <a:headEnd/>
            <a:tailEnd/>
          </a:ln>
        </p:spPr>
      </p:pic>
      <p:sp>
        <p:nvSpPr>
          <p:cNvPr id="6" name="Espace réservé du numéro de diapositive 5"/>
          <p:cNvSpPr>
            <a:spLocks noGrp="1"/>
          </p:cNvSpPr>
          <p:nvPr>
            <p:ph type="sldNum" sz="quarter" idx="15"/>
          </p:nvPr>
        </p:nvSpPr>
        <p:spPr/>
        <p:txBody>
          <a:bodyPr/>
          <a:lstStyle/>
          <a:p>
            <a:fld id="{F1AAE0E6-1385-44E0-8EAE-F204D7E7A5E9}" type="slidenum">
              <a:rPr lang="fr-FR" smtClean="0"/>
              <a:pPr/>
              <a:t>45</a:t>
            </a:fld>
            <a:endParaRPr lang="fr-FR"/>
          </a:p>
        </p:txBody>
      </p:sp>
      <p:sp>
        <p:nvSpPr>
          <p:cNvPr id="7" name="Rectangle 6"/>
          <p:cNvSpPr/>
          <p:nvPr/>
        </p:nvSpPr>
        <p:spPr>
          <a:xfrm>
            <a:off x="6012160" y="2924944"/>
            <a:ext cx="2232248" cy="1200329"/>
          </a:xfrm>
          <a:prstGeom prst="rect">
            <a:avLst/>
          </a:prstGeom>
        </p:spPr>
        <p:txBody>
          <a:bodyPr wrap="square">
            <a:spAutoFit/>
          </a:bodyPr>
          <a:lstStyle/>
          <a:p>
            <a:r>
              <a:rPr lang="fr-FR" dirty="0" err="1" smtClean="0"/>
              <a:t>But:allouer</a:t>
            </a:r>
            <a:r>
              <a:rPr lang="fr-FR" dirty="0" smtClean="0"/>
              <a:t> chaque fragment sur le site qui l’invoque le plus</a:t>
            </a:r>
            <a:endParaRPr lang="fr-FR"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err="1" smtClean="0"/>
              <a:t>Algortihmes</a:t>
            </a:r>
            <a:r>
              <a:rPr lang="fr-FR" b="1" dirty="0" smtClean="0"/>
              <a:t> d’allocation </a:t>
            </a:r>
            <a:br>
              <a:rPr lang="fr-FR" b="1" dirty="0" smtClean="0"/>
            </a:br>
            <a:endParaRPr lang="fr-FR" dirty="0"/>
          </a:p>
        </p:txBody>
      </p:sp>
      <p:sp>
        <p:nvSpPr>
          <p:cNvPr id="3" name="Espace réservé du contenu 2"/>
          <p:cNvSpPr>
            <a:spLocks noGrp="1"/>
          </p:cNvSpPr>
          <p:nvPr>
            <p:ph sz="quarter" idx="1"/>
          </p:nvPr>
        </p:nvSpPr>
        <p:spPr>
          <a:xfrm>
            <a:off x="457200" y="1484784"/>
            <a:ext cx="7467600" cy="4873752"/>
          </a:xfrm>
        </p:spPr>
        <p:txBody>
          <a:bodyPr/>
          <a:lstStyle/>
          <a:p>
            <a:r>
              <a:rPr lang="fr-FR" dirty="0" smtClean="0"/>
              <a:t>Si on récapitule les deux tableaux dans un seul tableau de synthèse on aura : </a:t>
            </a:r>
          </a:p>
          <a:p>
            <a:r>
              <a:rPr lang="fr-FR" dirty="0" smtClean="0"/>
              <a:t>Combien de fois un fragment est sollicité par un site lors de toutes les transactions</a:t>
            </a:r>
          </a:p>
          <a:p>
            <a:endParaRPr lang="fr-FR" dirty="0"/>
          </a:p>
        </p:txBody>
      </p:sp>
      <p:pic>
        <p:nvPicPr>
          <p:cNvPr id="9218" name="Picture 2"/>
          <p:cNvPicPr>
            <a:picLocks noChangeAspect="1" noChangeArrowheads="1"/>
          </p:cNvPicPr>
          <p:nvPr/>
        </p:nvPicPr>
        <p:blipFill>
          <a:blip r:embed="rId3" cstate="print"/>
          <a:srcRect/>
          <a:stretch>
            <a:fillRect/>
          </a:stretch>
        </p:blipFill>
        <p:spPr bwMode="auto">
          <a:xfrm>
            <a:off x="1619682" y="3284984"/>
            <a:ext cx="6179443" cy="3043843"/>
          </a:xfrm>
          <a:prstGeom prst="rect">
            <a:avLst/>
          </a:prstGeom>
          <a:noFill/>
          <a:ln w="9525">
            <a:noFill/>
            <a:miter lim="800000"/>
            <a:headEnd/>
            <a:tailEnd/>
          </a:ln>
        </p:spPr>
      </p:pic>
      <p:sp>
        <p:nvSpPr>
          <p:cNvPr id="5" name="Espace réservé du numéro de diapositive 4"/>
          <p:cNvSpPr>
            <a:spLocks noGrp="1"/>
          </p:cNvSpPr>
          <p:nvPr>
            <p:ph type="sldNum" sz="quarter" idx="15"/>
          </p:nvPr>
        </p:nvSpPr>
        <p:spPr/>
        <p:txBody>
          <a:bodyPr/>
          <a:lstStyle/>
          <a:p>
            <a:fld id="{F1AAE0E6-1385-44E0-8EAE-F204D7E7A5E9}" type="slidenum">
              <a:rPr lang="fr-FR" smtClean="0"/>
              <a:pPr/>
              <a:t>46</a:t>
            </a:fld>
            <a:endParaRPr lang="fr-F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err="1" smtClean="0"/>
              <a:t>Algortihmes</a:t>
            </a:r>
            <a:r>
              <a:rPr lang="fr-FR" b="1" dirty="0" smtClean="0"/>
              <a:t> d’allocation </a:t>
            </a:r>
            <a:br>
              <a:rPr lang="fr-FR" b="1" dirty="0" smtClean="0"/>
            </a:br>
            <a:endParaRPr lang="fr-FR" dirty="0"/>
          </a:p>
        </p:txBody>
      </p:sp>
      <p:sp>
        <p:nvSpPr>
          <p:cNvPr id="3" name="Espace réservé du contenu 2"/>
          <p:cNvSpPr>
            <a:spLocks noGrp="1"/>
          </p:cNvSpPr>
          <p:nvPr>
            <p:ph sz="quarter" idx="1"/>
          </p:nvPr>
        </p:nvSpPr>
        <p:spPr/>
        <p:txBody>
          <a:bodyPr/>
          <a:lstStyle/>
          <a:p>
            <a:r>
              <a:rPr lang="fr-FR" dirty="0" smtClean="0"/>
              <a:t>Selon les données de la colonne « Total pondéré » on a : </a:t>
            </a:r>
          </a:p>
          <a:p>
            <a:r>
              <a:rPr lang="en-US" dirty="0" smtClean="0"/>
              <a:t>􀂪 </a:t>
            </a:r>
            <a:r>
              <a:rPr lang="en-US" b="1" dirty="0" smtClean="0"/>
              <a:t>On </a:t>
            </a:r>
            <a:r>
              <a:rPr lang="en-US" b="1" dirty="0" err="1" smtClean="0"/>
              <a:t>stocke</a:t>
            </a:r>
            <a:r>
              <a:rPr lang="en-US" b="1" dirty="0" smtClean="0"/>
              <a:t> R1 </a:t>
            </a:r>
            <a:r>
              <a:rPr lang="en-US" b="1" dirty="0" err="1" smtClean="0"/>
              <a:t>sur</a:t>
            </a:r>
            <a:r>
              <a:rPr lang="en-US" b="1" dirty="0" smtClean="0"/>
              <a:t> S4 </a:t>
            </a:r>
          </a:p>
          <a:p>
            <a:r>
              <a:rPr lang="en-US" dirty="0" smtClean="0"/>
              <a:t>􀂪 </a:t>
            </a:r>
            <a:r>
              <a:rPr lang="en-US" b="1" dirty="0" smtClean="0"/>
              <a:t>On </a:t>
            </a:r>
            <a:r>
              <a:rPr lang="en-US" b="1" dirty="0" err="1" smtClean="0"/>
              <a:t>stocke</a:t>
            </a:r>
            <a:r>
              <a:rPr lang="en-US" b="1" dirty="0" smtClean="0"/>
              <a:t> R2 </a:t>
            </a:r>
            <a:r>
              <a:rPr lang="en-US" b="1" dirty="0" err="1" smtClean="0"/>
              <a:t>sur</a:t>
            </a:r>
            <a:r>
              <a:rPr lang="en-US" b="1" dirty="0" smtClean="0"/>
              <a:t> S5 </a:t>
            </a:r>
          </a:p>
          <a:p>
            <a:r>
              <a:rPr lang="fr-FR" dirty="0" smtClean="0"/>
              <a:t>􀂪 </a:t>
            </a:r>
            <a:r>
              <a:rPr lang="fr-FR" b="1" dirty="0" smtClean="0"/>
              <a:t>On stocke R3 sur S2 ou S4 (S2 pour mieux répartir) </a:t>
            </a:r>
          </a:p>
          <a:p>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47</a:t>
            </a:fld>
            <a:endParaRPr lang="fr-F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err="1" smtClean="0"/>
              <a:t>Replication</a:t>
            </a:r>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48</a:t>
            </a:fld>
            <a:endParaRPr lang="fr-F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fr-FR"/>
              <a:t>Définitions</a:t>
            </a:r>
          </a:p>
        </p:txBody>
      </p:sp>
      <p:sp>
        <p:nvSpPr>
          <p:cNvPr id="132099" name="Rectangle 3"/>
          <p:cNvSpPr>
            <a:spLocks noGrp="1" noChangeArrowheads="1"/>
          </p:cNvSpPr>
          <p:nvPr>
            <p:ph type="body" idx="1"/>
          </p:nvPr>
        </p:nvSpPr>
        <p:spPr/>
        <p:txBody>
          <a:bodyPr/>
          <a:lstStyle/>
          <a:p>
            <a:pPr marL="282575" indent="-282575"/>
            <a:r>
              <a:rPr lang="fr-FR" dirty="0"/>
              <a:t>Réplica ou copie de données</a:t>
            </a:r>
          </a:p>
          <a:p>
            <a:pPr marL="657225" lvl="1" indent="-184150"/>
            <a:r>
              <a:rPr lang="fr-FR" dirty="0"/>
              <a:t>Fragment horizontal ou vertical d’une table stockée dans une base de données qui est copiée et transféré vers une autre base de données</a:t>
            </a:r>
          </a:p>
          <a:p>
            <a:pPr marL="657225" lvl="1" indent="-184150"/>
            <a:r>
              <a:rPr lang="fr-FR" dirty="0"/>
              <a:t>L’original est appelé la copie primaire et les copies sont appelées copies secondaires</a:t>
            </a:r>
          </a:p>
          <a:p>
            <a:pPr marL="282575" indent="-282575"/>
            <a:r>
              <a:rPr lang="fr-FR" dirty="0"/>
              <a:t>Transparence</a:t>
            </a:r>
          </a:p>
          <a:p>
            <a:pPr marL="657225" lvl="1" indent="-184150"/>
            <a:r>
              <a:rPr lang="fr-FR" dirty="0"/>
              <a:t>Les applications clientes croient à l’existence d’une seule copie des données qu’ils </a:t>
            </a:r>
            <a:r>
              <a:rPr lang="fr-FR" dirty="0" smtClean="0"/>
              <a:t>manipulent</a:t>
            </a:r>
            <a:endParaRPr lang="fr-FR" dirty="0"/>
          </a:p>
          <a:p>
            <a:pPr marL="657225" lvl="1" indent="-184150"/>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49</a:t>
            </a:fld>
            <a:endParaRPr lang="fr-F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fr-FR"/>
              <a:t>Les avantages de la réplication</a:t>
            </a:r>
          </a:p>
        </p:txBody>
      </p:sp>
      <p:sp>
        <p:nvSpPr>
          <p:cNvPr id="134147" name="Rectangle 3"/>
          <p:cNvSpPr>
            <a:spLocks noGrp="1" noChangeArrowheads="1"/>
          </p:cNvSpPr>
          <p:nvPr>
            <p:ph type="body" idx="1"/>
          </p:nvPr>
        </p:nvSpPr>
        <p:spPr/>
        <p:txBody>
          <a:bodyPr/>
          <a:lstStyle/>
          <a:p>
            <a:r>
              <a:rPr lang="fr-FR" dirty="0"/>
              <a:t>Amélioration des performances</a:t>
            </a:r>
          </a:p>
          <a:p>
            <a:pPr lvl="1"/>
            <a:r>
              <a:rPr lang="fr-FR" dirty="0"/>
              <a:t>lecture de la copie la plus proche</a:t>
            </a:r>
          </a:p>
          <a:p>
            <a:pPr lvl="1"/>
            <a:r>
              <a:rPr lang="fr-FR" dirty="0"/>
              <a:t>évitement du goulot d'étranglement du serveur unique</a:t>
            </a:r>
          </a:p>
          <a:p>
            <a:r>
              <a:rPr lang="fr-FR" dirty="0"/>
              <a:t>Amélioration de la disponibilité</a:t>
            </a:r>
          </a:p>
          <a:p>
            <a:pPr lvl="1"/>
            <a:r>
              <a:rPr lang="fr-FR" dirty="0"/>
              <a:t>lors d'une panne d'un serveur, on peut se replier sur l'autre</a:t>
            </a:r>
          </a:p>
          <a:p>
            <a:pPr lvl="1"/>
            <a:r>
              <a:rPr lang="fr-FR" dirty="0"/>
              <a:t>Disponibilité = </a:t>
            </a:r>
            <a:r>
              <a:rPr lang="fr-FR" dirty="0" smtClean="0"/>
              <a:t>1 </a:t>
            </a:r>
            <a:r>
              <a:rPr lang="fr-FR" dirty="0"/>
              <a:t>- </a:t>
            </a:r>
            <a:r>
              <a:rPr lang="fr-FR" dirty="0" err="1" smtClean="0"/>
              <a:t>probabilité_panne</a:t>
            </a:r>
            <a:r>
              <a:rPr lang="fr-FR" baseline="30000" dirty="0" err="1" smtClean="0"/>
              <a:t>N</a:t>
            </a:r>
            <a:r>
              <a:rPr lang="fr-FR" baseline="30000" dirty="0" smtClean="0"/>
              <a:t> </a:t>
            </a:r>
            <a:endParaRPr lang="fr-FR" baseline="30000" dirty="0"/>
          </a:p>
          <a:p>
            <a:pPr lvl="2"/>
            <a:r>
              <a:rPr lang="fr-FR" dirty="0"/>
              <a:t>probabilité de panne = 5% et 2 copies =&gt; disponibilité = 99.75</a:t>
            </a:r>
            <a:r>
              <a:rPr lang="fr-FR" dirty="0" smtClean="0"/>
              <a:t>%</a:t>
            </a:r>
            <a:endParaRPr lang="fr-FR" dirty="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50</a:t>
            </a:fld>
            <a:endParaRPr lang="fr-F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43158" y="352528"/>
            <a:ext cx="6849122" cy="475153"/>
          </a:xfrm>
          <a:prstGeom prst="rect">
            <a:avLst/>
          </a:prstGeom>
        </p:spPr>
        <p:txBody>
          <a:bodyPr vert="horz" wrap="square" lIns="0" tIns="13358" rIns="0" bIns="0" rtlCol="0">
            <a:spAutoFit/>
          </a:bodyPr>
          <a:lstStyle/>
          <a:p>
            <a:pPr marL="11132">
              <a:spcBef>
                <a:spcPts val="105"/>
              </a:spcBef>
            </a:pPr>
            <a:r>
              <a:rPr lang="fr-FR" spc="-140" dirty="0" smtClean="0"/>
              <a:t>Disponibilité: valeurs usuelles</a:t>
            </a:r>
            <a:endParaRPr spc="-140" dirty="0"/>
          </a:p>
        </p:txBody>
      </p:sp>
      <p:sp>
        <p:nvSpPr>
          <p:cNvPr id="6" name="object 6"/>
          <p:cNvSpPr/>
          <p:nvPr/>
        </p:nvSpPr>
        <p:spPr>
          <a:xfrm>
            <a:off x="1797643" y="2344503"/>
            <a:ext cx="6682069" cy="343418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1797643" y="2344503"/>
            <a:ext cx="6682069" cy="3434182"/>
          </a:xfrm>
          <a:prstGeom prst="rect">
            <a:avLst/>
          </a:prstGeom>
          <a:blipFill>
            <a:blip r:embed="rId2" cstate="print"/>
            <a:stretch>
              <a:fillRect/>
            </a:stretch>
          </a:blipFill>
        </p:spPr>
        <p:txBody>
          <a:bodyPr wrap="square" lIns="0" tIns="0" rIns="0" bIns="0" rtlCol="0"/>
          <a:lstStyle/>
          <a:p>
            <a:endParaRPr/>
          </a:p>
        </p:txBody>
      </p:sp>
      <p:graphicFrame>
        <p:nvGraphicFramePr>
          <p:cNvPr id="8" name="object 8"/>
          <p:cNvGraphicFramePr>
            <a:graphicFrameLocks noGrp="1"/>
          </p:cNvGraphicFramePr>
          <p:nvPr/>
        </p:nvGraphicFramePr>
        <p:xfrm>
          <a:off x="899592" y="1268760"/>
          <a:ext cx="6682071" cy="3960708"/>
        </p:xfrm>
        <a:graphic>
          <a:graphicData uri="http://schemas.openxmlformats.org/drawingml/2006/table">
            <a:tbl>
              <a:tblPr firstRow="1" bandRow="1">
                <a:tableStyleId>{2D5ABB26-0587-4C30-8999-92F81FD0307C}</a:tableStyleId>
              </a:tblPr>
              <a:tblGrid>
                <a:gridCol w="1475855"/>
                <a:gridCol w="5206216"/>
              </a:tblGrid>
              <a:tr h="526529">
                <a:tc>
                  <a:txBody>
                    <a:bodyPr/>
                    <a:lstStyle/>
                    <a:p>
                      <a:pPr marL="98425">
                        <a:lnSpc>
                          <a:spcPct val="100000"/>
                        </a:lnSpc>
                        <a:spcBef>
                          <a:spcPts val="1055"/>
                        </a:spcBef>
                      </a:pPr>
                      <a:r>
                        <a:rPr sz="1800" b="1" spc="-45" dirty="0">
                          <a:latin typeface="Arial"/>
                          <a:cs typeface="Arial"/>
                        </a:rPr>
                        <a:t>Taux</a:t>
                      </a:r>
                      <a:endParaRPr sz="1800" dirty="0">
                        <a:latin typeface="Arial"/>
                        <a:cs typeface="Arial"/>
                      </a:endParaRPr>
                    </a:p>
                  </a:txBody>
                  <a:tcPr marL="0" marR="0" marT="121498"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C5C5"/>
                    </a:solidFill>
                  </a:tcPr>
                </a:tc>
                <a:tc>
                  <a:txBody>
                    <a:bodyPr/>
                    <a:lstStyle/>
                    <a:p>
                      <a:pPr marL="98425">
                        <a:lnSpc>
                          <a:spcPct val="100000"/>
                        </a:lnSpc>
                        <a:spcBef>
                          <a:spcPts val="1055"/>
                        </a:spcBef>
                      </a:pPr>
                      <a:r>
                        <a:rPr sz="1800" b="1" spc="-40" dirty="0">
                          <a:latin typeface="Arial"/>
                          <a:cs typeface="Arial"/>
                        </a:rPr>
                        <a:t>Temps </a:t>
                      </a:r>
                      <a:r>
                        <a:rPr sz="1800" b="1" spc="-10" dirty="0">
                          <a:latin typeface="Arial"/>
                          <a:cs typeface="Arial"/>
                        </a:rPr>
                        <a:t>d'arrêt par</a:t>
                      </a:r>
                      <a:r>
                        <a:rPr sz="1800" b="1" spc="15" dirty="0">
                          <a:latin typeface="Arial"/>
                          <a:cs typeface="Arial"/>
                        </a:rPr>
                        <a:t> </a:t>
                      </a:r>
                      <a:r>
                        <a:rPr sz="1800" b="1" spc="-10" dirty="0">
                          <a:latin typeface="Arial"/>
                          <a:cs typeface="Arial"/>
                        </a:rPr>
                        <a:t>an</a:t>
                      </a:r>
                      <a:endParaRPr sz="1800" dirty="0">
                        <a:latin typeface="Arial"/>
                        <a:cs typeface="Arial"/>
                      </a:endParaRPr>
                    </a:p>
                  </a:txBody>
                  <a:tcPr marL="0" marR="0" marT="121498"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5C5C5"/>
                    </a:solidFill>
                  </a:tcPr>
                </a:tc>
              </a:tr>
              <a:tr h="572132">
                <a:tc>
                  <a:txBody>
                    <a:bodyPr/>
                    <a:lstStyle/>
                    <a:p>
                      <a:pPr marL="98425">
                        <a:lnSpc>
                          <a:spcPct val="100000"/>
                        </a:lnSpc>
                        <a:spcBef>
                          <a:spcPts val="1250"/>
                        </a:spcBef>
                      </a:pPr>
                      <a:r>
                        <a:rPr sz="1800" spc="-10" dirty="0">
                          <a:latin typeface="Arial"/>
                          <a:cs typeface="Arial"/>
                        </a:rPr>
                        <a:t>90</a:t>
                      </a:r>
                      <a:r>
                        <a:rPr sz="1800" spc="-15" dirty="0">
                          <a:latin typeface="Arial"/>
                          <a:cs typeface="Arial"/>
                        </a:rPr>
                        <a:t> </a:t>
                      </a:r>
                      <a:r>
                        <a:rPr sz="1800" spc="-10" dirty="0">
                          <a:latin typeface="Arial"/>
                          <a:cs typeface="Arial"/>
                        </a:rPr>
                        <a:t>%</a:t>
                      </a:r>
                      <a:endParaRPr sz="1800">
                        <a:latin typeface="Arial"/>
                        <a:cs typeface="Arial"/>
                      </a:endParaRPr>
                    </a:p>
                  </a:txBody>
                  <a:tcPr marL="0" marR="0" marT="1439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8425">
                        <a:lnSpc>
                          <a:spcPct val="100000"/>
                        </a:lnSpc>
                        <a:spcBef>
                          <a:spcPts val="1250"/>
                        </a:spcBef>
                      </a:pPr>
                      <a:r>
                        <a:rPr sz="1800" spc="-10" dirty="0">
                          <a:latin typeface="Arial"/>
                          <a:cs typeface="Arial"/>
                        </a:rPr>
                        <a:t>876 heures soit plus de 36</a:t>
                      </a:r>
                      <a:r>
                        <a:rPr sz="1800" spc="-15" dirty="0">
                          <a:latin typeface="Arial"/>
                          <a:cs typeface="Arial"/>
                        </a:rPr>
                        <a:t> </a:t>
                      </a:r>
                      <a:r>
                        <a:rPr sz="1800" spc="-10" dirty="0">
                          <a:latin typeface="Arial"/>
                          <a:cs typeface="Arial"/>
                        </a:rPr>
                        <a:t>jours</a:t>
                      </a:r>
                      <a:endParaRPr sz="1800">
                        <a:latin typeface="Arial"/>
                        <a:cs typeface="Arial"/>
                      </a:endParaRPr>
                    </a:p>
                  </a:txBody>
                  <a:tcPr marL="0" marR="0" marT="1439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74014">
                <a:tc>
                  <a:txBody>
                    <a:bodyPr/>
                    <a:lstStyle/>
                    <a:p>
                      <a:pPr marL="98425">
                        <a:lnSpc>
                          <a:spcPct val="100000"/>
                        </a:lnSpc>
                        <a:spcBef>
                          <a:spcPts val="825"/>
                        </a:spcBef>
                      </a:pPr>
                      <a:r>
                        <a:rPr sz="1800" spc="-10" dirty="0">
                          <a:latin typeface="Arial"/>
                          <a:cs typeface="Arial"/>
                        </a:rPr>
                        <a:t>95</a:t>
                      </a:r>
                      <a:r>
                        <a:rPr sz="1800" spc="-15" dirty="0">
                          <a:latin typeface="Arial"/>
                          <a:cs typeface="Arial"/>
                        </a:rPr>
                        <a:t> </a:t>
                      </a:r>
                      <a:r>
                        <a:rPr sz="1800" spc="-10" dirty="0">
                          <a:latin typeface="Arial"/>
                          <a:cs typeface="Arial"/>
                        </a:rPr>
                        <a:t>%</a:t>
                      </a:r>
                      <a:endParaRPr sz="1800">
                        <a:latin typeface="Arial"/>
                        <a:cs typeface="Arial"/>
                      </a:endParaRPr>
                    </a:p>
                  </a:txBody>
                  <a:tcPr marL="0" marR="0" marT="9501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8425">
                        <a:lnSpc>
                          <a:spcPct val="100000"/>
                        </a:lnSpc>
                        <a:spcBef>
                          <a:spcPts val="825"/>
                        </a:spcBef>
                      </a:pPr>
                      <a:r>
                        <a:rPr sz="1800" spc="-10" dirty="0">
                          <a:latin typeface="Arial"/>
                          <a:cs typeface="Arial"/>
                        </a:rPr>
                        <a:t>438 heures soit plus de 18</a:t>
                      </a:r>
                      <a:r>
                        <a:rPr sz="1800" spc="-15" dirty="0">
                          <a:latin typeface="Arial"/>
                          <a:cs typeface="Arial"/>
                        </a:rPr>
                        <a:t> </a:t>
                      </a:r>
                      <a:r>
                        <a:rPr sz="1800" spc="-10" dirty="0">
                          <a:latin typeface="Arial"/>
                          <a:cs typeface="Arial"/>
                        </a:rPr>
                        <a:t>jours</a:t>
                      </a:r>
                      <a:endParaRPr sz="1800">
                        <a:latin typeface="Arial"/>
                        <a:cs typeface="Arial"/>
                      </a:endParaRPr>
                    </a:p>
                  </a:txBody>
                  <a:tcPr marL="0" marR="0" marT="9501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89216">
                <a:tc>
                  <a:txBody>
                    <a:bodyPr/>
                    <a:lstStyle/>
                    <a:p>
                      <a:pPr marL="98425">
                        <a:lnSpc>
                          <a:spcPct val="100000"/>
                        </a:lnSpc>
                        <a:spcBef>
                          <a:spcPts val="890"/>
                        </a:spcBef>
                      </a:pPr>
                      <a:r>
                        <a:rPr sz="1800" spc="-10" dirty="0">
                          <a:latin typeface="Arial"/>
                          <a:cs typeface="Arial"/>
                        </a:rPr>
                        <a:t>99</a:t>
                      </a:r>
                      <a:r>
                        <a:rPr sz="1800" spc="-15" dirty="0">
                          <a:latin typeface="Arial"/>
                          <a:cs typeface="Arial"/>
                        </a:rPr>
                        <a:t> </a:t>
                      </a:r>
                      <a:r>
                        <a:rPr sz="1800" spc="-10" dirty="0">
                          <a:latin typeface="Arial"/>
                          <a:cs typeface="Arial"/>
                        </a:rPr>
                        <a:t>%</a:t>
                      </a:r>
                      <a:endParaRPr sz="1800">
                        <a:latin typeface="Arial"/>
                        <a:cs typeface="Arial"/>
                      </a:endParaRPr>
                    </a:p>
                  </a:txBody>
                  <a:tcPr marL="0" marR="0" marT="102496"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8425">
                        <a:lnSpc>
                          <a:spcPct val="100000"/>
                        </a:lnSpc>
                        <a:spcBef>
                          <a:spcPts val="890"/>
                        </a:spcBef>
                      </a:pPr>
                      <a:r>
                        <a:rPr sz="1800" spc="-10" dirty="0">
                          <a:latin typeface="Arial"/>
                          <a:cs typeface="Arial"/>
                        </a:rPr>
                        <a:t>87 heures, 36 minutes soit plus de </a:t>
                      </a:r>
                      <a:r>
                        <a:rPr sz="1800" spc="-5" dirty="0">
                          <a:latin typeface="Arial"/>
                          <a:cs typeface="Arial"/>
                        </a:rPr>
                        <a:t>3 </a:t>
                      </a:r>
                      <a:r>
                        <a:rPr sz="1800" spc="-10" dirty="0">
                          <a:latin typeface="Arial"/>
                          <a:cs typeface="Arial"/>
                        </a:rPr>
                        <a:t>jours </a:t>
                      </a:r>
                      <a:r>
                        <a:rPr sz="1800" spc="-5" dirty="0">
                          <a:latin typeface="Arial"/>
                          <a:cs typeface="Arial"/>
                        </a:rPr>
                        <a:t>et</a:t>
                      </a:r>
                      <a:r>
                        <a:rPr sz="1800" spc="-10" dirty="0">
                          <a:latin typeface="Arial"/>
                          <a:cs typeface="Arial"/>
                        </a:rPr>
                        <a:t> demi</a:t>
                      </a:r>
                      <a:endParaRPr sz="1800">
                        <a:latin typeface="Arial"/>
                        <a:cs typeface="Arial"/>
                      </a:endParaRPr>
                    </a:p>
                  </a:txBody>
                  <a:tcPr marL="0" marR="0" marT="102496"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517546">
                <a:tc>
                  <a:txBody>
                    <a:bodyPr/>
                    <a:lstStyle/>
                    <a:p>
                      <a:pPr marL="98425">
                        <a:lnSpc>
                          <a:spcPct val="100000"/>
                        </a:lnSpc>
                        <a:spcBef>
                          <a:spcPts val="1020"/>
                        </a:spcBef>
                      </a:pPr>
                      <a:r>
                        <a:rPr sz="1800" spc="-10" dirty="0">
                          <a:latin typeface="Arial"/>
                          <a:cs typeface="Arial"/>
                        </a:rPr>
                        <a:t>99,9</a:t>
                      </a:r>
                      <a:r>
                        <a:rPr sz="1800" spc="-20" dirty="0">
                          <a:latin typeface="Arial"/>
                          <a:cs typeface="Arial"/>
                        </a:rPr>
                        <a:t> </a:t>
                      </a:r>
                      <a:r>
                        <a:rPr sz="1800" spc="-10" dirty="0">
                          <a:latin typeface="Arial"/>
                          <a:cs typeface="Arial"/>
                        </a:rPr>
                        <a:t>%</a:t>
                      </a:r>
                      <a:endParaRPr sz="1800">
                        <a:latin typeface="Arial"/>
                        <a:cs typeface="Arial"/>
                      </a:endParaRPr>
                    </a:p>
                  </a:txBody>
                  <a:tcPr marL="0" marR="0" marT="117467"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8425">
                        <a:lnSpc>
                          <a:spcPct val="100000"/>
                        </a:lnSpc>
                        <a:spcBef>
                          <a:spcPts val="1020"/>
                        </a:spcBef>
                      </a:pPr>
                      <a:r>
                        <a:rPr sz="1800" spc="-5" dirty="0">
                          <a:latin typeface="Arial"/>
                          <a:cs typeface="Arial"/>
                        </a:rPr>
                        <a:t>8 </a:t>
                      </a:r>
                      <a:r>
                        <a:rPr sz="1800" spc="-10" dirty="0">
                          <a:latin typeface="Arial"/>
                          <a:cs typeface="Arial"/>
                        </a:rPr>
                        <a:t>heures, 45 minutes, 36</a:t>
                      </a:r>
                      <a:r>
                        <a:rPr sz="1800" spc="-20" dirty="0">
                          <a:latin typeface="Arial"/>
                          <a:cs typeface="Arial"/>
                        </a:rPr>
                        <a:t> </a:t>
                      </a:r>
                      <a:r>
                        <a:rPr sz="1800" spc="-10" dirty="0">
                          <a:latin typeface="Arial"/>
                          <a:cs typeface="Arial"/>
                        </a:rPr>
                        <a:t>secondes</a:t>
                      </a:r>
                      <a:endParaRPr sz="1800">
                        <a:latin typeface="Arial"/>
                        <a:cs typeface="Arial"/>
                      </a:endParaRPr>
                    </a:p>
                  </a:txBody>
                  <a:tcPr marL="0" marR="0" marT="117467"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503035">
                <a:tc>
                  <a:txBody>
                    <a:bodyPr/>
                    <a:lstStyle/>
                    <a:p>
                      <a:pPr marL="98425">
                        <a:lnSpc>
                          <a:spcPct val="100000"/>
                        </a:lnSpc>
                        <a:spcBef>
                          <a:spcPts val="950"/>
                        </a:spcBef>
                      </a:pPr>
                      <a:r>
                        <a:rPr sz="1800" spc="-10" dirty="0">
                          <a:latin typeface="Arial"/>
                          <a:cs typeface="Arial"/>
                        </a:rPr>
                        <a:t>99,99</a:t>
                      </a:r>
                      <a:r>
                        <a:rPr sz="1800" spc="-20" dirty="0">
                          <a:latin typeface="Arial"/>
                          <a:cs typeface="Arial"/>
                        </a:rPr>
                        <a:t> </a:t>
                      </a:r>
                      <a:r>
                        <a:rPr sz="1800" spc="-10" dirty="0">
                          <a:latin typeface="Arial"/>
                          <a:cs typeface="Arial"/>
                        </a:rPr>
                        <a:t>%</a:t>
                      </a:r>
                      <a:endParaRPr sz="1800">
                        <a:latin typeface="Arial"/>
                        <a:cs typeface="Arial"/>
                      </a:endParaRPr>
                    </a:p>
                  </a:txBody>
                  <a:tcPr marL="0" marR="0" marT="109406"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8425">
                        <a:lnSpc>
                          <a:spcPct val="100000"/>
                        </a:lnSpc>
                        <a:spcBef>
                          <a:spcPts val="950"/>
                        </a:spcBef>
                      </a:pPr>
                      <a:r>
                        <a:rPr sz="1800" spc="-10" dirty="0">
                          <a:latin typeface="Arial"/>
                          <a:cs typeface="Arial"/>
                        </a:rPr>
                        <a:t>52 minutes, 33,6</a:t>
                      </a:r>
                      <a:r>
                        <a:rPr sz="1800" spc="-15" dirty="0">
                          <a:latin typeface="Arial"/>
                          <a:cs typeface="Arial"/>
                        </a:rPr>
                        <a:t> </a:t>
                      </a:r>
                      <a:r>
                        <a:rPr sz="1800" spc="-10" dirty="0">
                          <a:latin typeface="Arial"/>
                          <a:cs typeface="Arial"/>
                        </a:rPr>
                        <a:t>secondes</a:t>
                      </a:r>
                      <a:endParaRPr sz="1800">
                        <a:latin typeface="Arial"/>
                        <a:cs typeface="Arial"/>
                      </a:endParaRPr>
                    </a:p>
                  </a:txBody>
                  <a:tcPr marL="0" marR="0" marT="109406"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56047">
                <a:tc>
                  <a:txBody>
                    <a:bodyPr/>
                    <a:lstStyle/>
                    <a:p>
                      <a:pPr marL="98425">
                        <a:lnSpc>
                          <a:spcPct val="100000"/>
                        </a:lnSpc>
                        <a:spcBef>
                          <a:spcPts val="750"/>
                        </a:spcBef>
                      </a:pPr>
                      <a:r>
                        <a:rPr sz="1800" spc="-10" dirty="0">
                          <a:latin typeface="Arial"/>
                          <a:cs typeface="Arial"/>
                        </a:rPr>
                        <a:t>99,999</a:t>
                      </a:r>
                      <a:r>
                        <a:rPr sz="1800" spc="-20" dirty="0">
                          <a:latin typeface="Arial"/>
                          <a:cs typeface="Arial"/>
                        </a:rPr>
                        <a:t> </a:t>
                      </a:r>
                      <a:r>
                        <a:rPr sz="1800" spc="-10" dirty="0">
                          <a:latin typeface="Arial"/>
                          <a:cs typeface="Arial"/>
                        </a:rPr>
                        <a:t>%</a:t>
                      </a:r>
                      <a:endParaRPr sz="1800">
                        <a:latin typeface="Arial"/>
                        <a:cs typeface="Arial"/>
                      </a:endParaRPr>
                    </a:p>
                  </a:txBody>
                  <a:tcPr marL="0" marR="0" marT="86373"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8425">
                        <a:lnSpc>
                          <a:spcPct val="100000"/>
                        </a:lnSpc>
                        <a:spcBef>
                          <a:spcPts val="750"/>
                        </a:spcBef>
                      </a:pPr>
                      <a:r>
                        <a:rPr sz="1800" spc="-5" dirty="0">
                          <a:latin typeface="Arial"/>
                          <a:cs typeface="Arial"/>
                        </a:rPr>
                        <a:t>5 </a:t>
                      </a:r>
                      <a:r>
                        <a:rPr sz="1800" spc="-10" dirty="0">
                          <a:latin typeface="Arial"/>
                          <a:cs typeface="Arial"/>
                        </a:rPr>
                        <a:t>minutes, 15,36</a:t>
                      </a:r>
                      <a:r>
                        <a:rPr sz="1800" spc="-20" dirty="0">
                          <a:latin typeface="Arial"/>
                          <a:cs typeface="Arial"/>
                        </a:rPr>
                        <a:t> </a:t>
                      </a:r>
                      <a:r>
                        <a:rPr sz="1800" spc="-10" dirty="0">
                          <a:latin typeface="Arial"/>
                          <a:cs typeface="Arial"/>
                        </a:rPr>
                        <a:t>secondes</a:t>
                      </a:r>
                      <a:endParaRPr sz="1800">
                        <a:latin typeface="Arial"/>
                        <a:cs typeface="Arial"/>
                      </a:endParaRPr>
                    </a:p>
                  </a:txBody>
                  <a:tcPr marL="0" marR="0" marT="86373"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22189">
                <a:tc>
                  <a:txBody>
                    <a:bodyPr/>
                    <a:lstStyle/>
                    <a:p>
                      <a:pPr marL="98425">
                        <a:lnSpc>
                          <a:spcPct val="100000"/>
                        </a:lnSpc>
                        <a:spcBef>
                          <a:spcPts val="605"/>
                        </a:spcBef>
                      </a:pPr>
                      <a:r>
                        <a:rPr sz="1800" spc="-10" dirty="0">
                          <a:latin typeface="Arial"/>
                          <a:cs typeface="Arial"/>
                        </a:rPr>
                        <a:t>99,9999</a:t>
                      </a:r>
                      <a:r>
                        <a:rPr sz="1800" spc="-25" dirty="0">
                          <a:latin typeface="Arial"/>
                          <a:cs typeface="Arial"/>
                        </a:rPr>
                        <a:t> </a:t>
                      </a:r>
                      <a:r>
                        <a:rPr sz="1800" spc="-10" dirty="0">
                          <a:latin typeface="Arial"/>
                          <a:cs typeface="Arial"/>
                        </a:rPr>
                        <a:t>%</a:t>
                      </a:r>
                      <a:endParaRPr sz="1800">
                        <a:latin typeface="Arial"/>
                        <a:cs typeface="Arial"/>
                      </a:endParaRPr>
                    </a:p>
                  </a:txBody>
                  <a:tcPr marL="0" marR="0" marT="6967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8425">
                        <a:lnSpc>
                          <a:spcPct val="100000"/>
                        </a:lnSpc>
                        <a:spcBef>
                          <a:spcPts val="605"/>
                        </a:spcBef>
                      </a:pPr>
                      <a:r>
                        <a:rPr sz="1800" spc="-10" dirty="0">
                          <a:latin typeface="Arial"/>
                          <a:cs typeface="Arial"/>
                        </a:rPr>
                        <a:t>31,68</a:t>
                      </a:r>
                      <a:r>
                        <a:rPr sz="1800" spc="-15" dirty="0">
                          <a:latin typeface="Arial"/>
                          <a:cs typeface="Arial"/>
                        </a:rPr>
                        <a:t> </a:t>
                      </a:r>
                      <a:r>
                        <a:rPr sz="1800" spc="-10" dirty="0">
                          <a:latin typeface="Arial"/>
                          <a:cs typeface="Arial"/>
                        </a:rPr>
                        <a:t>secondes</a:t>
                      </a:r>
                      <a:endParaRPr sz="1800" dirty="0">
                        <a:latin typeface="Arial"/>
                        <a:cs typeface="Arial"/>
                      </a:endParaRPr>
                    </a:p>
                  </a:txBody>
                  <a:tcPr marL="0" marR="0" marT="6967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bl>
          </a:graphicData>
        </a:graphic>
      </p:graphicFrame>
      <p:sp>
        <p:nvSpPr>
          <p:cNvPr id="9" name="Espace réservé du numéro de diapositive 8"/>
          <p:cNvSpPr>
            <a:spLocks noGrp="1"/>
          </p:cNvSpPr>
          <p:nvPr>
            <p:ph type="sldNum" sz="quarter" idx="15"/>
          </p:nvPr>
        </p:nvSpPr>
        <p:spPr/>
        <p:txBody>
          <a:bodyPr/>
          <a:lstStyle/>
          <a:p>
            <a:fld id="{19DD80D6-00DD-47E5-9BEC-1B3FE8D7A2BC}" type="slidenum">
              <a:rPr lang="fr-FR" smtClean="0"/>
              <a:pPr/>
              <a:t>51</a:t>
            </a:fld>
            <a:endParaRPr lang="fr-F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fr-FR"/>
              <a:t>Les problèmes de la réplication</a:t>
            </a:r>
          </a:p>
        </p:txBody>
      </p:sp>
      <p:sp>
        <p:nvSpPr>
          <p:cNvPr id="135171" name="Rectangle 3"/>
          <p:cNvSpPr>
            <a:spLocks noGrp="1" noChangeArrowheads="1"/>
          </p:cNvSpPr>
          <p:nvPr>
            <p:ph type="body" idx="1"/>
          </p:nvPr>
        </p:nvSpPr>
        <p:spPr/>
        <p:txBody>
          <a:bodyPr>
            <a:normAutofit lnSpcReduction="10000"/>
          </a:bodyPr>
          <a:lstStyle/>
          <a:p>
            <a:r>
              <a:rPr lang="fr-FR" dirty="0"/>
              <a:t>Convergence</a:t>
            </a:r>
          </a:p>
          <a:p>
            <a:pPr lvl="1"/>
            <a:r>
              <a:rPr lang="fr-FR" dirty="0"/>
              <a:t>les copies doivent être maintenues à jour</a:t>
            </a:r>
          </a:p>
          <a:p>
            <a:pPr lvl="1"/>
            <a:r>
              <a:rPr lang="fr-FR" dirty="0"/>
              <a:t>à un instant donné, elles peuvent être différentes</a:t>
            </a:r>
          </a:p>
          <a:p>
            <a:pPr lvl="1"/>
            <a:r>
              <a:rPr lang="fr-FR" dirty="0"/>
              <a:t>mais elles doivent converger vers un même état cohérent où toutes les mises à jour sont exécutées partout dans le même ordre</a:t>
            </a:r>
          </a:p>
          <a:p>
            <a:r>
              <a:rPr lang="fr-FR" dirty="0"/>
              <a:t>Transparence : le SGBD doit assurer</a:t>
            </a:r>
          </a:p>
          <a:p>
            <a:pPr lvl="1"/>
            <a:r>
              <a:rPr lang="fr-FR" dirty="0"/>
              <a:t>la diffusion et la réconciliation des mises à jour</a:t>
            </a:r>
          </a:p>
          <a:p>
            <a:pPr lvl="1"/>
            <a:r>
              <a:rPr lang="fr-FR" dirty="0"/>
              <a:t>la résistance aux </a:t>
            </a:r>
            <a:r>
              <a:rPr lang="fr-FR" dirty="0" smtClean="0"/>
              <a:t>défaillances</a:t>
            </a:r>
          </a:p>
          <a:p>
            <a:pPr lvl="1"/>
            <a:endParaRPr lang="fr-FR" dirty="0"/>
          </a:p>
          <a:p>
            <a:pPr>
              <a:tabLst>
                <a:tab pos="287020" algn="l"/>
              </a:tabLst>
            </a:pPr>
            <a:r>
              <a:rPr lang="fr-FR" dirty="0" smtClean="0"/>
              <a:t>Règle :</a:t>
            </a:r>
          </a:p>
          <a:p>
            <a:pPr marL="548447" lvl="2">
              <a:spcBef>
                <a:spcPts val="600"/>
              </a:spcBef>
              <a:buSzPct val="70000"/>
              <a:tabLst>
                <a:tab pos="718185" algn="l"/>
                <a:tab pos="718820" algn="l"/>
              </a:tabLst>
            </a:pPr>
            <a:r>
              <a:rPr lang="fr-FR" dirty="0" smtClean="0"/>
              <a:t>La réplication est avantageuse s’il y a plus de lectures que d’écritures</a:t>
            </a:r>
          </a:p>
          <a:p>
            <a:pPr lvl="1"/>
            <a:endParaRPr lang="fr-FR" dirty="0" smtClean="0"/>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52</a:t>
            </a:fld>
            <a:endParaRPr lang="fr-F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83568" y="332656"/>
            <a:ext cx="7052927" cy="482600"/>
          </a:xfrm>
          <a:prstGeom prst="rect">
            <a:avLst/>
          </a:prstGeom>
        </p:spPr>
        <p:txBody>
          <a:bodyPr vert="horz" wrap="square" lIns="0" tIns="12700" rIns="0" bIns="0" rtlCol="0">
            <a:spAutoFit/>
          </a:bodyPr>
          <a:lstStyle/>
          <a:p>
            <a:pPr marL="12700">
              <a:lnSpc>
                <a:spcPct val="100000"/>
              </a:lnSpc>
              <a:spcBef>
                <a:spcPts val="100"/>
              </a:spcBef>
            </a:pPr>
            <a:r>
              <a:rPr lang="fr-FR" sz="3000" spc="-5" dirty="0" smtClean="0"/>
              <a:t>Operations de </a:t>
            </a:r>
            <a:r>
              <a:rPr lang="fr-FR" sz="3000" spc="-5" dirty="0" err="1" smtClean="0"/>
              <a:t>replication</a:t>
            </a:r>
            <a:endParaRPr sz="3000" dirty="0"/>
          </a:p>
        </p:txBody>
      </p:sp>
      <p:sp>
        <p:nvSpPr>
          <p:cNvPr id="5" name="object 5"/>
          <p:cNvSpPr txBox="1"/>
          <p:nvPr/>
        </p:nvSpPr>
        <p:spPr>
          <a:xfrm>
            <a:off x="447852" y="1230858"/>
            <a:ext cx="8183245" cy="4412615"/>
          </a:xfrm>
          <a:prstGeom prst="rect">
            <a:avLst/>
          </a:prstGeom>
        </p:spPr>
        <p:txBody>
          <a:bodyPr vert="horz" wrap="square" lIns="0" tIns="73660" rIns="0" bIns="0" rtlCol="0">
            <a:spAutoFit/>
          </a:bodyPr>
          <a:lstStyle/>
          <a:p>
            <a:pPr marL="234950" indent="-222885">
              <a:lnSpc>
                <a:spcPct val="100000"/>
              </a:lnSpc>
              <a:spcBef>
                <a:spcPts val="580"/>
              </a:spcBef>
              <a:buClr>
                <a:srgbClr val="FD8537"/>
              </a:buClr>
              <a:buSzPct val="70000"/>
              <a:buFont typeface="Wingdings"/>
              <a:buChar char=""/>
              <a:tabLst>
                <a:tab pos="235585" algn="l"/>
              </a:tabLst>
            </a:pPr>
            <a:r>
              <a:rPr sz="2000" spc="-5" dirty="0">
                <a:latin typeface="Century Schoolbook"/>
                <a:cs typeface="Century Schoolbook"/>
              </a:rPr>
              <a:t>Définition </a:t>
            </a:r>
            <a:r>
              <a:rPr sz="2000" dirty="0">
                <a:latin typeface="Century Schoolbook"/>
                <a:cs typeface="Century Schoolbook"/>
              </a:rPr>
              <a:t>des objets</a:t>
            </a:r>
            <a:r>
              <a:rPr sz="2000" spc="-105" dirty="0">
                <a:latin typeface="Century Schoolbook"/>
                <a:cs typeface="Century Schoolbook"/>
              </a:rPr>
              <a:t> </a:t>
            </a:r>
            <a:r>
              <a:rPr sz="2000" dirty="0">
                <a:latin typeface="Century Schoolbook"/>
                <a:cs typeface="Century Schoolbook"/>
              </a:rPr>
              <a:t>répliqués</a:t>
            </a:r>
          </a:p>
          <a:p>
            <a:pPr marL="678180" marR="371475" lvl="1" indent="-222885">
              <a:lnSpc>
                <a:spcPct val="100000"/>
              </a:lnSpc>
              <a:spcBef>
                <a:spcPts val="480"/>
              </a:spcBef>
              <a:buClr>
                <a:srgbClr val="FD8537"/>
              </a:buClr>
              <a:buSzPct val="80000"/>
              <a:buFont typeface="Wingdings 2"/>
              <a:buChar char=""/>
              <a:tabLst>
                <a:tab pos="678815" algn="l"/>
              </a:tabLst>
            </a:pPr>
            <a:r>
              <a:rPr sz="2000" spc="-5" dirty="0">
                <a:latin typeface="Century Schoolbook"/>
                <a:cs typeface="Century Schoolbook"/>
              </a:rPr>
              <a:t>table </a:t>
            </a:r>
            <a:r>
              <a:rPr sz="2000" dirty="0">
                <a:latin typeface="Century Schoolbook"/>
                <a:cs typeface="Century Schoolbook"/>
              </a:rPr>
              <a:t>cible = sous-ensemble horizontal et/ou vertical </a:t>
            </a:r>
            <a:r>
              <a:rPr sz="2000" spc="-5" dirty="0">
                <a:latin typeface="Century Schoolbook"/>
                <a:cs typeface="Century Schoolbook"/>
              </a:rPr>
              <a:t>d'une</a:t>
            </a:r>
            <a:r>
              <a:rPr sz="2000" spc="-215" dirty="0">
                <a:latin typeface="Century Schoolbook"/>
                <a:cs typeface="Century Schoolbook"/>
              </a:rPr>
              <a:t> </a:t>
            </a:r>
            <a:r>
              <a:rPr sz="2000" dirty="0">
                <a:latin typeface="Century Schoolbook"/>
                <a:cs typeface="Century Schoolbook"/>
              </a:rPr>
              <a:t>ou  plusieurs</a:t>
            </a:r>
            <a:r>
              <a:rPr sz="2000" spc="-55" dirty="0">
                <a:latin typeface="Century Schoolbook"/>
                <a:cs typeface="Century Schoolbook"/>
              </a:rPr>
              <a:t> </a:t>
            </a:r>
            <a:r>
              <a:rPr sz="2000" dirty="0">
                <a:latin typeface="Century Schoolbook"/>
                <a:cs typeface="Century Schoolbook"/>
              </a:rPr>
              <a:t>tables</a:t>
            </a:r>
          </a:p>
          <a:p>
            <a:pPr lvl="1">
              <a:lnSpc>
                <a:spcPct val="100000"/>
              </a:lnSpc>
              <a:spcBef>
                <a:spcPts val="35"/>
              </a:spcBef>
              <a:buClr>
                <a:srgbClr val="FD8537"/>
              </a:buClr>
              <a:buFont typeface="Wingdings 2"/>
              <a:buChar char=""/>
            </a:pPr>
            <a:endParaRPr sz="3100" dirty="0">
              <a:latin typeface="Times New Roman"/>
              <a:cs typeface="Times New Roman"/>
            </a:endParaRPr>
          </a:p>
          <a:p>
            <a:pPr marL="234950" indent="-222885">
              <a:lnSpc>
                <a:spcPct val="100000"/>
              </a:lnSpc>
              <a:buClr>
                <a:srgbClr val="FD8537"/>
              </a:buClr>
              <a:buSzPct val="70000"/>
              <a:buFont typeface="Wingdings"/>
              <a:buChar char=""/>
              <a:tabLst>
                <a:tab pos="235585" algn="l"/>
              </a:tabLst>
            </a:pPr>
            <a:r>
              <a:rPr sz="2000" spc="-5" dirty="0">
                <a:latin typeface="Century Schoolbook"/>
                <a:cs typeface="Century Schoolbook"/>
              </a:rPr>
              <a:t>Définition de </a:t>
            </a:r>
            <a:r>
              <a:rPr sz="2000" dirty="0">
                <a:latin typeface="Century Schoolbook"/>
                <a:cs typeface="Century Schoolbook"/>
              </a:rPr>
              <a:t>la fréquence </a:t>
            </a:r>
            <a:r>
              <a:rPr sz="2000" spc="-5" dirty="0">
                <a:latin typeface="Century Schoolbook"/>
                <a:cs typeface="Century Schoolbook"/>
              </a:rPr>
              <a:t>de</a:t>
            </a:r>
            <a:r>
              <a:rPr sz="2000" spc="-135" dirty="0">
                <a:latin typeface="Century Schoolbook"/>
                <a:cs typeface="Century Schoolbook"/>
              </a:rPr>
              <a:t> </a:t>
            </a:r>
            <a:r>
              <a:rPr sz="2000" dirty="0">
                <a:latin typeface="Century Schoolbook"/>
                <a:cs typeface="Century Schoolbook"/>
              </a:rPr>
              <a:t>rafraichissement</a:t>
            </a:r>
          </a:p>
          <a:p>
            <a:pPr marL="678180" lvl="1" indent="-222885">
              <a:lnSpc>
                <a:spcPct val="100000"/>
              </a:lnSpc>
              <a:spcBef>
                <a:spcPts val="480"/>
              </a:spcBef>
              <a:buClr>
                <a:srgbClr val="FD8537"/>
              </a:buClr>
              <a:buSzPct val="80000"/>
              <a:buFont typeface="Wingdings 2"/>
              <a:buChar char=""/>
              <a:tabLst>
                <a:tab pos="678815" algn="l"/>
              </a:tabLst>
            </a:pPr>
            <a:r>
              <a:rPr sz="2000" dirty="0">
                <a:latin typeface="Century Schoolbook"/>
                <a:cs typeface="Century Schoolbook"/>
              </a:rPr>
              <a:t>immédiat </a:t>
            </a:r>
            <a:r>
              <a:rPr sz="2000" spc="-5" dirty="0">
                <a:latin typeface="Century Schoolbook"/>
                <a:cs typeface="Century Schoolbook"/>
              </a:rPr>
              <a:t>(après mise </a:t>
            </a:r>
            <a:r>
              <a:rPr sz="2000" dirty="0">
                <a:latin typeface="Century Schoolbook"/>
                <a:cs typeface="Century Schoolbook"/>
              </a:rPr>
              <a:t>à jour des tables</a:t>
            </a:r>
            <a:r>
              <a:rPr sz="2000" spc="-180" dirty="0">
                <a:latin typeface="Century Schoolbook"/>
                <a:cs typeface="Century Schoolbook"/>
              </a:rPr>
              <a:t> </a:t>
            </a:r>
            <a:r>
              <a:rPr sz="2000" spc="-5" dirty="0">
                <a:latin typeface="Century Schoolbook"/>
                <a:cs typeface="Century Schoolbook"/>
              </a:rPr>
              <a:t>primaires)</a:t>
            </a:r>
            <a:endParaRPr sz="2000" dirty="0">
              <a:latin typeface="Century Schoolbook"/>
              <a:cs typeface="Century Schoolbook"/>
            </a:endParaRPr>
          </a:p>
          <a:p>
            <a:pPr marL="678180" lvl="1" indent="-222885">
              <a:lnSpc>
                <a:spcPct val="100000"/>
              </a:lnSpc>
              <a:spcBef>
                <a:spcPts val="480"/>
              </a:spcBef>
              <a:buClr>
                <a:srgbClr val="FD8537"/>
              </a:buClr>
              <a:buSzPct val="80000"/>
              <a:buFont typeface="Wingdings 2"/>
              <a:buChar char=""/>
              <a:tabLst>
                <a:tab pos="678815" algn="l"/>
              </a:tabLst>
            </a:pPr>
            <a:r>
              <a:rPr sz="2000" dirty="0">
                <a:latin typeface="Century Schoolbook"/>
                <a:cs typeface="Century Schoolbook"/>
              </a:rPr>
              <a:t>à intervalles réguliers (heure, jour,</a:t>
            </a:r>
            <a:r>
              <a:rPr sz="2000" spc="-165" dirty="0">
                <a:latin typeface="Century Schoolbook"/>
                <a:cs typeface="Century Schoolbook"/>
              </a:rPr>
              <a:t> </a:t>
            </a:r>
            <a:r>
              <a:rPr sz="2000" spc="-5" dirty="0">
                <a:latin typeface="Century Schoolbook"/>
                <a:cs typeface="Century Schoolbook"/>
              </a:rPr>
              <a:t>etc.)</a:t>
            </a:r>
            <a:endParaRPr sz="2000" dirty="0">
              <a:latin typeface="Century Schoolbook"/>
              <a:cs typeface="Century Schoolbook"/>
            </a:endParaRPr>
          </a:p>
          <a:p>
            <a:pPr marL="678180" lvl="1" indent="-222885">
              <a:lnSpc>
                <a:spcPct val="100000"/>
              </a:lnSpc>
              <a:spcBef>
                <a:spcPts val="480"/>
              </a:spcBef>
              <a:buClr>
                <a:srgbClr val="FD8537"/>
              </a:buClr>
              <a:buSzPct val="80000"/>
              <a:buFont typeface="Wingdings 2"/>
              <a:buChar char=""/>
              <a:tabLst>
                <a:tab pos="678815" algn="l"/>
              </a:tabLst>
            </a:pPr>
            <a:r>
              <a:rPr sz="2000" dirty="0">
                <a:latin typeface="Century Schoolbook"/>
                <a:cs typeface="Century Schoolbook"/>
              </a:rPr>
              <a:t>à </a:t>
            </a:r>
            <a:r>
              <a:rPr sz="2000" spc="-5" dirty="0">
                <a:latin typeface="Century Schoolbook"/>
                <a:cs typeface="Century Schoolbook"/>
              </a:rPr>
              <a:t>partir d'un </a:t>
            </a:r>
            <a:r>
              <a:rPr sz="2000" dirty="0">
                <a:latin typeface="Century Schoolbook"/>
                <a:cs typeface="Century Schoolbook"/>
              </a:rPr>
              <a:t>événement produit </a:t>
            </a:r>
            <a:r>
              <a:rPr sz="2000" spc="-5" dirty="0">
                <a:latin typeface="Century Schoolbook"/>
                <a:cs typeface="Century Schoolbook"/>
              </a:rPr>
              <a:t>par</a:t>
            </a:r>
            <a:r>
              <a:rPr sz="2000" spc="-140" dirty="0">
                <a:latin typeface="Century Schoolbook"/>
                <a:cs typeface="Century Schoolbook"/>
              </a:rPr>
              <a:t> </a:t>
            </a:r>
            <a:r>
              <a:rPr sz="2000" dirty="0">
                <a:latin typeface="Century Schoolbook"/>
                <a:cs typeface="Century Schoolbook"/>
              </a:rPr>
              <a:t>l'application</a:t>
            </a:r>
          </a:p>
          <a:p>
            <a:pPr lvl="1">
              <a:lnSpc>
                <a:spcPct val="100000"/>
              </a:lnSpc>
              <a:spcBef>
                <a:spcPts val="35"/>
              </a:spcBef>
              <a:buClr>
                <a:srgbClr val="FD8537"/>
              </a:buClr>
              <a:buFont typeface="Wingdings 2"/>
              <a:buChar char=""/>
            </a:pPr>
            <a:endParaRPr sz="3100" dirty="0">
              <a:latin typeface="Times New Roman"/>
              <a:cs typeface="Times New Roman"/>
            </a:endParaRPr>
          </a:p>
          <a:p>
            <a:pPr marL="234950" indent="-222885">
              <a:lnSpc>
                <a:spcPct val="100000"/>
              </a:lnSpc>
              <a:spcBef>
                <a:spcPts val="5"/>
              </a:spcBef>
              <a:buClr>
                <a:srgbClr val="FD8537"/>
              </a:buClr>
              <a:buSzPct val="70000"/>
              <a:buFont typeface="Wingdings"/>
              <a:buChar char=""/>
              <a:tabLst>
                <a:tab pos="235585" algn="l"/>
              </a:tabLst>
            </a:pPr>
            <a:r>
              <a:rPr sz="2000" spc="-5" dirty="0">
                <a:latin typeface="Century Schoolbook"/>
                <a:cs typeface="Century Schoolbook"/>
              </a:rPr>
              <a:t>Rafraichissement</a:t>
            </a:r>
            <a:endParaRPr sz="2000" dirty="0">
              <a:latin typeface="Century Schoolbook"/>
              <a:cs typeface="Century Schoolbook"/>
            </a:endParaRPr>
          </a:p>
          <a:p>
            <a:pPr marL="678180" lvl="1" indent="-222885">
              <a:lnSpc>
                <a:spcPct val="100000"/>
              </a:lnSpc>
              <a:spcBef>
                <a:spcPts val="480"/>
              </a:spcBef>
              <a:buClr>
                <a:srgbClr val="FD8537"/>
              </a:buClr>
              <a:buSzPct val="80000"/>
              <a:buFont typeface="Wingdings 2"/>
              <a:buChar char=""/>
              <a:tabLst>
                <a:tab pos="678815" algn="l"/>
              </a:tabLst>
            </a:pPr>
            <a:r>
              <a:rPr sz="2000" dirty="0">
                <a:latin typeface="Century Schoolbook"/>
                <a:cs typeface="Century Schoolbook"/>
              </a:rPr>
              <a:t>complet ou </a:t>
            </a:r>
            <a:r>
              <a:rPr sz="2000" spc="-5" dirty="0">
                <a:latin typeface="Century Schoolbook"/>
                <a:cs typeface="Century Schoolbook"/>
              </a:rPr>
              <a:t>partiel (propagation </a:t>
            </a:r>
            <a:r>
              <a:rPr sz="2000" dirty="0">
                <a:latin typeface="Century Schoolbook"/>
                <a:cs typeface="Century Schoolbook"/>
              </a:rPr>
              <a:t>des</a:t>
            </a:r>
            <a:r>
              <a:rPr sz="2000" spc="-125" dirty="0">
                <a:latin typeface="Century Schoolbook"/>
                <a:cs typeface="Century Schoolbook"/>
              </a:rPr>
              <a:t> </a:t>
            </a:r>
            <a:r>
              <a:rPr sz="2000" spc="-5" dirty="0">
                <a:latin typeface="Century Schoolbook"/>
                <a:cs typeface="Century Schoolbook"/>
              </a:rPr>
              <a:t>modifications)</a:t>
            </a:r>
            <a:endParaRPr sz="2000" dirty="0">
              <a:latin typeface="Century Schoolbook"/>
              <a:cs typeface="Century Schoolbook"/>
            </a:endParaRPr>
          </a:p>
          <a:p>
            <a:pPr marL="678180" lvl="1" indent="-222885">
              <a:lnSpc>
                <a:spcPct val="100000"/>
              </a:lnSpc>
              <a:spcBef>
                <a:spcPts val="455"/>
              </a:spcBef>
              <a:buClr>
                <a:srgbClr val="FD8537"/>
              </a:buClr>
              <a:buSzPct val="80000"/>
              <a:buFont typeface="Wingdings 2"/>
              <a:buChar char=""/>
              <a:tabLst>
                <a:tab pos="678815" algn="l"/>
              </a:tabLst>
            </a:pPr>
            <a:r>
              <a:rPr sz="2000" spc="-5" dirty="0">
                <a:latin typeface="Century Schoolbook"/>
                <a:cs typeface="Century Schoolbook"/>
              </a:rPr>
              <a:t>push </a:t>
            </a:r>
            <a:r>
              <a:rPr sz="2000" dirty="0">
                <a:latin typeface="Century Schoolbook"/>
                <a:cs typeface="Century Schoolbook"/>
              </a:rPr>
              <a:t>(primaire </a:t>
            </a:r>
            <a:r>
              <a:rPr sz="2000" dirty="0">
                <a:latin typeface="Wingdings"/>
                <a:cs typeface="Wingdings"/>
              </a:rPr>
              <a:t></a:t>
            </a:r>
            <a:r>
              <a:rPr sz="2000" dirty="0">
                <a:latin typeface="Times New Roman"/>
                <a:cs typeface="Times New Roman"/>
              </a:rPr>
              <a:t> </a:t>
            </a:r>
            <a:r>
              <a:rPr sz="2000" dirty="0">
                <a:latin typeface="Century Schoolbook"/>
                <a:cs typeface="Century Schoolbook"/>
              </a:rPr>
              <a:t>secondaires) ou </a:t>
            </a:r>
            <a:r>
              <a:rPr sz="2000" spc="-5" dirty="0">
                <a:latin typeface="Century Schoolbook"/>
                <a:cs typeface="Century Schoolbook"/>
              </a:rPr>
              <a:t>pull </a:t>
            </a:r>
            <a:r>
              <a:rPr sz="2000" dirty="0">
                <a:latin typeface="Century Schoolbook"/>
                <a:cs typeface="Century Schoolbook"/>
              </a:rPr>
              <a:t>(secondaires </a:t>
            </a:r>
            <a:r>
              <a:rPr sz="2000" dirty="0">
                <a:latin typeface="Wingdings"/>
                <a:cs typeface="Wingdings"/>
              </a:rPr>
              <a:t></a:t>
            </a:r>
            <a:r>
              <a:rPr sz="2000" spc="-35" dirty="0">
                <a:latin typeface="Times New Roman"/>
                <a:cs typeface="Times New Roman"/>
              </a:rPr>
              <a:t> </a:t>
            </a:r>
            <a:r>
              <a:rPr sz="2000" spc="-5" dirty="0">
                <a:latin typeface="Century Schoolbook"/>
                <a:cs typeface="Century Schoolbook"/>
              </a:rPr>
              <a:t>primaire)</a:t>
            </a:r>
            <a:endParaRPr sz="2000" dirty="0">
              <a:latin typeface="Century Schoolbook"/>
              <a:cs typeface="Century Schoolbook"/>
            </a:endParaRPr>
          </a:p>
        </p:txBody>
      </p:sp>
      <p:sp>
        <p:nvSpPr>
          <p:cNvPr id="6" name="Espace réservé du numéro de diapositive 5"/>
          <p:cNvSpPr>
            <a:spLocks noGrp="1"/>
          </p:cNvSpPr>
          <p:nvPr>
            <p:ph type="sldNum" sz="quarter" idx="15"/>
          </p:nvPr>
        </p:nvSpPr>
        <p:spPr/>
        <p:txBody>
          <a:bodyPr/>
          <a:lstStyle/>
          <a:p>
            <a:fld id="{F1AAE0E6-1385-44E0-8EAE-F204D7E7A5E9}" type="slidenum">
              <a:rPr lang="fr-FR" smtClean="0"/>
              <a:pPr/>
              <a:t>53</a:t>
            </a:fld>
            <a:endParaRPr lang="fr-F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fr-FR"/>
              <a:t>Diffusion synchrone</a:t>
            </a:r>
          </a:p>
        </p:txBody>
      </p:sp>
      <p:sp>
        <p:nvSpPr>
          <p:cNvPr id="136195" name="Rectangle 3"/>
          <p:cNvSpPr>
            <a:spLocks noGrp="1" noChangeArrowheads="1"/>
          </p:cNvSpPr>
          <p:nvPr>
            <p:ph type="body" idx="1"/>
          </p:nvPr>
        </p:nvSpPr>
        <p:spPr/>
        <p:txBody>
          <a:bodyPr/>
          <a:lstStyle/>
          <a:p>
            <a:r>
              <a:rPr lang="fr-FR" dirty="0"/>
              <a:t>Une transaction met à jour toutes les copies de toutes les données </a:t>
            </a:r>
            <a:r>
              <a:rPr lang="fr-FR" dirty="0" err="1"/>
              <a:t>qu</a:t>
            </a:r>
            <a:r>
              <a:rPr lang="fr-FR" dirty="0"/>
              <a:t> ’elle modifie.</a:t>
            </a:r>
          </a:p>
          <a:p>
            <a:pPr lvl="1">
              <a:buFontTx/>
              <a:buNone/>
            </a:pPr>
            <a:r>
              <a:rPr lang="fr-FR" dirty="0"/>
              <a:t> + mise à jour en temps réel des données</a:t>
            </a:r>
          </a:p>
          <a:p>
            <a:pPr lvl="1">
              <a:buFontTx/>
              <a:buNone/>
            </a:pPr>
            <a:r>
              <a:rPr lang="fr-FR" dirty="0"/>
              <a:t> - trop coûteux pour la plupart des </a:t>
            </a:r>
            <a:r>
              <a:rPr lang="fr-FR" dirty="0" smtClean="0"/>
              <a:t>applications</a:t>
            </a:r>
            <a:endParaRPr lang="fr-FR" dirty="0"/>
          </a:p>
        </p:txBody>
      </p:sp>
      <p:sp>
        <p:nvSpPr>
          <p:cNvPr id="136196" name="Text Box 4"/>
          <p:cNvSpPr txBox="1">
            <a:spLocks noChangeArrowheads="1"/>
          </p:cNvSpPr>
          <p:nvPr/>
        </p:nvSpPr>
        <p:spPr bwMode="invGray">
          <a:xfrm>
            <a:off x="2514600" y="4089400"/>
            <a:ext cx="1257300" cy="1625600"/>
          </a:xfrm>
          <a:prstGeom prst="rect">
            <a:avLst/>
          </a:prstGeom>
          <a:solidFill>
            <a:srgbClr val="9999FF"/>
          </a:solidFill>
          <a:ln w="9525">
            <a:solidFill>
              <a:schemeClr val="tx1"/>
            </a:solidFill>
            <a:miter lim="800000"/>
            <a:headEnd/>
            <a:tailEnd/>
          </a:ln>
          <a:effectLst/>
        </p:spPr>
        <p:txBody>
          <a:bodyPr wrap="none">
            <a:spAutoFit/>
          </a:bodyPr>
          <a:lstStyle/>
          <a:p>
            <a:r>
              <a:rPr lang="en-US" sz="2000" b="1">
                <a:solidFill>
                  <a:schemeClr val="bg1"/>
                </a:solidFill>
                <a:latin typeface="Arial Narrow" pitchFamily="34" charset="0"/>
              </a:rPr>
              <a:t>Start</a:t>
            </a:r>
          </a:p>
          <a:p>
            <a:r>
              <a:rPr lang="en-US" sz="2000" b="1">
                <a:solidFill>
                  <a:schemeClr val="bg1"/>
                </a:solidFill>
                <a:latin typeface="Arial Narrow" pitchFamily="34" charset="0"/>
              </a:rPr>
              <a:t>  Write (x1)</a:t>
            </a:r>
          </a:p>
          <a:p>
            <a:r>
              <a:rPr lang="en-US" sz="2000" b="1">
                <a:solidFill>
                  <a:schemeClr val="bg1"/>
                </a:solidFill>
                <a:latin typeface="Arial Narrow" pitchFamily="34" charset="0"/>
              </a:rPr>
              <a:t>  Write (x2)</a:t>
            </a:r>
          </a:p>
          <a:p>
            <a:r>
              <a:rPr lang="en-US" sz="2000" b="1">
                <a:solidFill>
                  <a:schemeClr val="bg1"/>
                </a:solidFill>
                <a:latin typeface="Arial Narrow" pitchFamily="34" charset="0"/>
              </a:rPr>
              <a:t>  Write (x3)</a:t>
            </a:r>
          </a:p>
          <a:p>
            <a:r>
              <a:rPr lang="en-US" sz="2000" b="1">
                <a:solidFill>
                  <a:schemeClr val="bg1"/>
                </a:solidFill>
                <a:latin typeface="Arial Narrow" pitchFamily="34" charset="0"/>
              </a:rPr>
              <a:t>Commit</a:t>
            </a:r>
          </a:p>
        </p:txBody>
      </p:sp>
      <p:sp>
        <p:nvSpPr>
          <p:cNvPr id="136197" name="AutoShape 5"/>
          <p:cNvSpPr>
            <a:spLocks noChangeArrowheads="1"/>
          </p:cNvSpPr>
          <p:nvPr/>
        </p:nvSpPr>
        <p:spPr bwMode="invGray">
          <a:xfrm>
            <a:off x="4846027" y="4038600"/>
            <a:ext cx="914400" cy="609600"/>
          </a:xfrm>
          <a:prstGeom prst="flowChartMagneticDisk">
            <a:avLst/>
          </a:prstGeom>
          <a:solidFill>
            <a:srgbClr val="777777"/>
          </a:solidFill>
          <a:ln w="9525">
            <a:solidFill>
              <a:schemeClr val="tx1"/>
            </a:solidFill>
            <a:round/>
            <a:headEnd/>
            <a:tailEnd/>
          </a:ln>
          <a:effectLst/>
        </p:spPr>
        <p:txBody>
          <a:bodyPr wrap="none" anchor="ctr"/>
          <a:lstStyle/>
          <a:p>
            <a:pPr algn="ctr"/>
            <a:r>
              <a:rPr lang="en-US" sz="2000" b="1">
                <a:solidFill>
                  <a:schemeClr val="bg1"/>
                </a:solidFill>
                <a:latin typeface="Arial Narrow" pitchFamily="34" charset="0"/>
              </a:rPr>
              <a:t>x1</a:t>
            </a:r>
          </a:p>
        </p:txBody>
      </p:sp>
      <p:sp>
        <p:nvSpPr>
          <p:cNvPr id="136198" name="AutoShape 6"/>
          <p:cNvSpPr>
            <a:spLocks noChangeArrowheads="1"/>
          </p:cNvSpPr>
          <p:nvPr/>
        </p:nvSpPr>
        <p:spPr bwMode="invGray">
          <a:xfrm>
            <a:off x="6172200" y="4648200"/>
            <a:ext cx="914400" cy="609600"/>
          </a:xfrm>
          <a:prstGeom prst="flowChartMagneticDisk">
            <a:avLst/>
          </a:prstGeom>
          <a:solidFill>
            <a:srgbClr val="777777"/>
          </a:solidFill>
          <a:ln w="9525">
            <a:solidFill>
              <a:schemeClr val="tx1"/>
            </a:solidFill>
            <a:round/>
            <a:headEnd/>
            <a:tailEnd/>
          </a:ln>
          <a:effectLst/>
        </p:spPr>
        <p:txBody>
          <a:bodyPr wrap="none" anchor="ctr"/>
          <a:lstStyle/>
          <a:p>
            <a:pPr algn="ctr"/>
            <a:r>
              <a:rPr lang="en-US" sz="2000" b="1">
                <a:solidFill>
                  <a:schemeClr val="bg1"/>
                </a:solidFill>
                <a:latin typeface="Arial Narrow" pitchFamily="34" charset="0"/>
              </a:rPr>
              <a:t>x2</a:t>
            </a:r>
          </a:p>
        </p:txBody>
      </p:sp>
      <p:sp>
        <p:nvSpPr>
          <p:cNvPr id="136199" name="AutoShape 7"/>
          <p:cNvSpPr>
            <a:spLocks noChangeArrowheads="1"/>
          </p:cNvSpPr>
          <p:nvPr/>
        </p:nvSpPr>
        <p:spPr bwMode="invGray">
          <a:xfrm>
            <a:off x="4800600" y="5257800"/>
            <a:ext cx="914400" cy="609600"/>
          </a:xfrm>
          <a:prstGeom prst="flowChartMagneticDisk">
            <a:avLst/>
          </a:prstGeom>
          <a:solidFill>
            <a:srgbClr val="777777"/>
          </a:solidFill>
          <a:ln w="9525">
            <a:solidFill>
              <a:schemeClr val="tx1"/>
            </a:solidFill>
            <a:round/>
            <a:headEnd/>
            <a:tailEnd/>
          </a:ln>
          <a:effectLst/>
        </p:spPr>
        <p:txBody>
          <a:bodyPr wrap="none" anchor="ctr"/>
          <a:lstStyle/>
          <a:p>
            <a:pPr algn="ctr"/>
            <a:r>
              <a:rPr lang="en-US" sz="2000" b="1">
                <a:solidFill>
                  <a:schemeClr val="bg1"/>
                </a:solidFill>
                <a:latin typeface="Arial Narrow" pitchFamily="34" charset="0"/>
              </a:rPr>
              <a:t>x3</a:t>
            </a:r>
          </a:p>
        </p:txBody>
      </p:sp>
      <p:sp>
        <p:nvSpPr>
          <p:cNvPr id="136200" name="Line 8"/>
          <p:cNvSpPr>
            <a:spLocks noChangeShapeType="1"/>
          </p:cNvSpPr>
          <p:nvPr/>
        </p:nvSpPr>
        <p:spPr bwMode="invGray">
          <a:xfrm flipV="1">
            <a:off x="3714750" y="4451350"/>
            <a:ext cx="1131277" cy="196850"/>
          </a:xfrm>
          <a:prstGeom prst="line">
            <a:avLst/>
          </a:prstGeom>
          <a:noFill/>
          <a:ln w="9525">
            <a:solidFill>
              <a:schemeClr val="tx1"/>
            </a:solidFill>
            <a:round/>
            <a:headEnd/>
            <a:tailEnd type="triangle" w="med" len="med"/>
          </a:ln>
          <a:effectLst/>
        </p:spPr>
        <p:txBody>
          <a:bodyPr wrap="none" anchor="ctr"/>
          <a:lstStyle/>
          <a:p>
            <a:endParaRPr lang="fr-FR"/>
          </a:p>
        </p:txBody>
      </p:sp>
      <p:sp>
        <p:nvSpPr>
          <p:cNvPr id="136201" name="Line 9"/>
          <p:cNvSpPr>
            <a:spLocks noChangeShapeType="1"/>
          </p:cNvSpPr>
          <p:nvPr/>
        </p:nvSpPr>
        <p:spPr bwMode="invGray">
          <a:xfrm>
            <a:off x="3714751" y="4953000"/>
            <a:ext cx="2472103" cy="6350"/>
          </a:xfrm>
          <a:prstGeom prst="line">
            <a:avLst/>
          </a:prstGeom>
          <a:noFill/>
          <a:ln w="9525">
            <a:solidFill>
              <a:schemeClr val="tx1"/>
            </a:solidFill>
            <a:round/>
            <a:headEnd/>
            <a:tailEnd type="triangle" w="med" len="med"/>
          </a:ln>
          <a:effectLst/>
        </p:spPr>
        <p:txBody>
          <a:bodyPr wrap="none" anchor="ctr"/>
          <a:lstStyle/>
          <a:p>
            <a:endParaRPr lang="fr-FR"/>
          </a:p>
        </p:txBody>
      </p:sp>
      <p:sp>
        <p:nvSpPr>
          <p:cNvPr id="136202" name="Line 10"/>
          <p:cNvSpPr>
            <a:spLocks noChangeShapeType="1"/>
          </p:cNvSpPr>
          <p:nvPr/>
        </p:nvSpPr>
        <p:spPr bwMode="invGray">
          <a:xfrm>
            <a:off x="3714750" y="5257801"/>
            <a:ext cx="1043354" cy="322263"/>
          </a:xfrm>
          <a:prstGeom prst="line">
            <a:avLst/>
          </a:prstGeom>
          <a:noFill/>
          <a:ln w="9525">
            <a:solidFill>
              <a:schemeClr val="tx1"/>
            </a:solidFill>
            <a:round/>
            <a:headEnd/>
            <a:tailEnd type="triangle" w="med" len="med"/>
          </a:ln>
          <a:effectLst/>
        </p:spPr>
        <p:txBody>
          <a:bodyPr wrap="none" anchor="ctr"/>
          <a:lstStyle/>
          <a:p>
            <a:endParaRPr lang="fr-FR"/>
          </a:p>
        </p:txBody>
      </p:sp>
      <p:sp>
        <p:nvSpPr>
          <p:cNvPr id="11" name="Espace réservé du numéro de diapositive 10"/>
          <p:cNvSpPr>
            <a:spLocks noGrp="1"/>
          </p:cNvSpPr>
          <p:nvPr>
            <p:ph type="sldNum" sz="quarter" idx="15"/>
          </p:nvPr>
        </p:nvSpPr>
        <p:spPr/>
        <p:txBody>
          <a:bodyPr/>
          <a:lstStyle/>
          <a:p>
            <a:fld id="{F1AAE0E6-1385-44E0-8EAE-F204D7E7A5E9}" type="slidenum">
              <a:rPr lang="fr-FR" smtClean="0"/>
              <a:pPr/>
              <a:t>54</a:t>
            </a:fld>
            <a:endParaRPr lang="fr-F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fr-FR"/>
              <a:t>Diffusion asynchrone</a:t>
            </a:r>
          </a:p>
        </p:txBody>
      </p:sp>
      <p:sp>
        <p:nvSpPr>
          <p:cNvPr id="137219" name="Rectangle 3"/>
          <p:cNvSpPr>
            <a:spLocks noGrp="1" noChangeArrowheads="1"/>
          </p:cNvSpPr>
          <p:nvPr>
            <p:ph type="body" idx="1"/>
          </p:nvPr>
        </p:nvSpPr>
        <p:spPr/>
        <p:txBody>
          <a:bodyPr/>
          <a:lstStyle/>
          <a:p>
            <a:r>
              <a:rPr lang="fr-FR" dirty="0"/>
              <a:t>Chaque transaction met à jour une seule copie et la mise-à-jour des autres copies est différée (dans d’autres transactions)</a:t>
            </a:r>
          </a:p>
          <a:p>
            <a:pPr lvl="1">
              <a:buFontTx/>
              <a:buNone/>
            </a:pPr>
            <a:r>
              <a:rPr lang="fr-FR" dirty="0" smtClean="0"/>
              <a:t>+  </a:t>
            </a:r>
            <a:r>
              <a:rPr lang="fr-FR" dirty="0"/>
              <a:t>mise-à-jour en temps choisi des données</a:t>
            </a:r>
          </a:p>
          <a:p>
            <a:pPr lvl="1">
              <a:buFontTx/>
              <a:buNone/>
            </a:pPr>
            <a:r>
              <a:rPr lang="fr-FR" dirty="0" smtClean="0"/>
              <a:t>-   </a:t>
            </a:r>
            <a:r>
              <a:rPr lang="fr-FR" dirty="0"/>
              <a:t>l'accès à la dernière version n'est pas garanti</a:t>
            </a:r>
          </a:p>
        </p:txBody>
      </p:sp>
      <p:sp>
        <p:nvSpPr>
          <p:cNvPr id="4" name="Espace réservé du numéro de diapositive 3"/>
          <p:cNvSpPr>
            <a:spLocks noGrp="1"/>
          </p:cNvSpPr>
          <p:nvPr>
            <p:ph type="sldNum" sz="quarter" idx="15"/>
          </p:nvPr>
        </p:nvSpPr>
        <p:spPr/>
        <p:txBody>
          <a:bodyPr/>
          <a:lstStyle/>
          <a:p>
            <a:fld id="{F1AAE0E6-1385-44E0-8EAE-F204D7E7A5E9}" type="slidenum">
              <a:rPr lang="fr-FR" smtClean="0"/>
              <a:pPr/>
              <a:t>55</a:t>
            </a:fld>
            <a:endParaRPr lang="fr-F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riel">
  <a:themeElements>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2_Oriel">
  <a:themeElements>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2.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3.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4.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5.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6.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7.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8.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9.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0.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1.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2.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3.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4.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5.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6.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ppt/theme/themeOverride17.xml><?xml version="1.0" encoding="utf-8"?>
<a:themeOverride xmlns:a="http://schemas.openxmlformats.org/drawingml/2006/main">
  <a:clrScheme name="Urbai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docProps/app.xml><?xml version="1.0" encoding="utf-8"?>
<Properties xmlns="http://schemas.openxmlformats.org/officeDocument/2006/extended-properties" xmlns:vt="http://schemas.openxmlformats.org/officeDocument/2006/docPropsVTypes">
  <TotalTime>18177</TotalTime>
  <Words>3590</Words>
  <Application>Microsoft Office PowerPoint</Application>
  <PresentationFormat>Affichage à l'écran (4:3)</PresentationFormat>
  <Paragraphs>663</Paragraphs>
  <Slides>55</Slides>
  <Notes>14</Notes>
  <HiddenSlides>0</HiddenSlides>
  <MMClips>0</MMClips>
  <ScaleCrop>false</ScaleCrop>
  <HeadingPairs>
    <vt:vector size="4" baseType="variant">
      <vt:variant>
        <vt:lpstr>Thème</vt:lpstr>
      </vt:variant>
      <vt:variant>
        <vt:i4>2</vt:i4>
      </vt:variant>
      <vt:variant>
        <vt:lpstr>Titres des diapositives</vt:lpstr>
      </vt:variant>
      <vt:variant>
        <vt:i4>55</vt:i4>
      </vt:variant>
    </vt:vector>
  </HeadingPairs>
  <TitlesOfParts>
    <vt:vector size="57" baseType="lpstr">
      <vt:lpstr>1_Oriel</vt:lpstr>
      <vt:lpstr>2_Oriel</vt:lpstr>
      <vt:lpstr>Chapitre2: conception des BD réparties</vt:lpstr>
      <vt:lpstr>Schémas d’une BD répartie</vt:lpstr>
      <vt:lpstr>CONTEXTE DÉCENTRALISÉ</vt:lpstr>
      <vt:lpstr>CONTEXTE DÉCENTRALISÉ</vt:lpstr>
      <vt:lpstr>MIGRATION</vt:lpstr>
      <vt:lpstr>RÉPLICATION/DUPLICATION</vt:lpstr>
      <vt:lpstr>Fragmentation/DÉCOMPOSITION</vt:lpstr>
      <vt:lpstr>Diapositive 8</vt:lpstr>
      <vt:lpstr>Définition de la fragmentation</vt:lpstr>
      <vt:lpstr>Les règles de fragmentation </vt:lpstr>
      <vt:lpstr>Interet de la fragmentation</vt:lpstr>
      <vt:lpstr>Intérêt de la fragmentation</vt:lpstr>
      <vt:lpstr>Techniques de Fragmentation </vt:lpstr>
      <vt:lpstr>Fragmentation horizontale </vt:lpstr>
      <vt:lpstr>Fragmentation horizontale </vt:lpstr>
      <vt:lpstr>Fragmentation verticale</vt:lpstr>
      <vt:lpstr>fragmentation verticale </vt:lpstr>
      <vt:lpstr>FRAGMENTATION VERTICALE</vt:lpstr>
      <vt:lpstr>fragmentation hybride</vt:lpstr>
      <vt:lpstr>FRAGMENTATION MIXTE</vt:lpstr>
      <vt:lpstr>FRAGMENTATION MIXTE</vt:lpstr>
      <vt:lpstr>Définition des fragments </vt:lpstr>
      <vt:lpstr>Définition des fragments </vt:lpstr>
      <vt:lpstr>FRAGMENTATION ORIENTÉE DONNÉES</vt:lpstr>
      <vt:lpstr>FRAGMENTATION ORIENTÉE DONNÉE</vt:lpstr>
      <vt:lpstr>EXEMPLE DE FRAGMENTATION ORIENTÉE DONNÉES</vt:lpstr>
      <vt:lpstr>EXEMPLE DE FRAGMENTATION ORIENTÉE DONNÉE</vt:lpstr>
      <vt:lpstr>EXEMPLE DE FRAGMENTATION ORIENTÉE DONNÉE </vt:lpstr>
      <vt:lpstr>Fragmentation orientée requête </vt:lpstr>
      <vt:lpstr>Définition des fragments </vt:lpstr>
      <vt:lpstr>Définition des fragments </vt:lpstr>
      <vt:lpstr>FRAGMENTATION ORIENTÉE REQUÊTES </vt:lpstr>
      <vt:lpstr>FRAGMENTATION ORIENTÉE REQUÊTES </vt:lpstr>
      <vt:lpstr>FRAGMENTATION ORIENTÉE REQUÊTES </vt:lpstr>
      <vt:lpstr>FRAGMENTATION ORIENTÉE REQUÊTES </vt:lpstr>
      <vt:lpstr>FRAGMENTATION ORIENTÉE REQUÊTES </vt:lpstr>
      <vt:lpstr>Diapositive 37</vt:lpstr>
      <vt:lpstr>Allocation de fragments aux sites </vt:lpstr>
      <vt:lpstr>Processus d’allocation des fragments.</vt:lpstr>
      <vt:lpstr>Problème d’allocation:  </vt:lpstr>
      <vt:lpstr>Problème d’allocation </vt:lpstr>
      <vt:lpstr>Problème d’allocation </vt:lpstr>
      <vt:lpstr>Problème d’allocation  </vt:lpstr>
      <vt:lpstr>Algortihmes d’allocation  </vt:lpstr>
      <vt:lpstr>Algortihmes d’allocation  </vt:lpstr>
      <vt:lpstr>Algortihmes d’allocation  </vt:lpstr>
      <vt:lpstr>Algortihmes d’allocation  </vt:lpstr>
      <vt:lpstr>Diapositive 48</vt:lpstr>
      <vt:lpstr>Définitions</vt:lpstr>
      <vt:lpstr>Les avantages de la réplication</vt:lpstr>
      <vt:lpstr>Disponibilité: valeurs usuelles</vt:lpstr>
      <vt:lpstr>Les problèmes de la réplication</vt:lpstr>
      <vt:lpstr>Operations de replication</vt:lpstr>
      <vt:lpstr>Diffusion synchrone</vt:lpstr>
      <vt:lpstr>Diffusion asynchrone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Chapitre2: conception des BD réparties</dc:title>
  <dc:creator>Soumaya</dc:creator>
  <cp:lastModifiedBy>Soumaya</cp:lastModifiedBy>
  <cp:revision>41</cp:revision>
  <dcterms:created xsi:type="dcterms:W3CDTF">2020-10-23T10:35:10Z</dcterms:created>
  <dcterms:modified xsi:type="dcterms:W3CDTF">2024-10-17T19:17:49Z</dcterms:modified>
</cp:coreProperties>
</file>