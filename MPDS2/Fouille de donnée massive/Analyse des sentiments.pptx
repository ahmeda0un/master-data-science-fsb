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Archivo Black" charset="1" panose="020B0A03020202020B04"/>
      <p:regular r:id="rId41"/>
    </p:embeddedFont>
    <p:embeddedFont>
      <p:font typeface="Montserrat Classic Bold" charset="1" panose="00000800000000000000"/>
      <p:regular r:id="rId42"/>
    </p:embeddedFont>
    <p:embeddedFont>
      <p:font typeface="Aileron Ultra-Bold" charset="1" panose="00000A00000000000000"/>
      <p:regular r:id="rId43"/>
    </p:embeddedFont>
    <p:embeddedFont>
      <p:font typeface="Aileron" charset="1" panose="00000500000000000000"/>
      <p:regular r:id="rId44"/>
    </p:embeddedFont>
    <p:embeddedFont>
      <p:font typeface="Montserrat Light" charset="1" panose="00000400000000000000"/>
      <p:regular r:id="rId45"/>
    </p:embeddedFont>
    <p:embeddedFont>
      <p:font typeface="Montserrat Light Bold" charset="1" panose="00000800000000000000"/>
      <p:regular r:id="rId46"/>
    </p:embeddedFont>
    <p:embeddedFont>
      <p:font typeface="Muli" charset="1" panose="00000500000000000000"/>
      <p:regular r:id="rId47"/>
    </p:embeddedFont>
    <p:embeddedFont>
      <p:font typeface="Muli Bold" charset="1" panose="00000800000000000000"/>
      <p:regular r:id="rId48"/>
    </p:embeddedFont>
    <p:embeddedFont>
      <p:font typeface="Muli Ultra-Bold" charset="1" panose="00000900000000000000"/>
      <p:regular r:id="rId49"/>
    </p:embeddedFont>
    <p:embeddedFont>
      <p:font typeface="Open Sauce" charset="1" panose="00000500000000000000"/>
      <p:regular r:id="rId50"/>
    </p:embeddedFont>
    <p:embeddedFont>
      <p:font typeface="Kollektif Bold" charset="1" panose="020B0604020101010102"/>
      <p:regular r:id="rId51"/>
    </p:embeddedFont>
    <p:embeddedFont>
      <p:font typeface="Montserrat Light Italics" charset="1" panose="00000400000000000000"/>
      <p:regular r:id="rId55"/>
    </p:embeddedFont>
    <p:embeddedFont>
      <p:font typeface="Open Sauce Bold" charset="1" panose="00000800000000000000"/>
      <p:regular r:id="rId59"/>
    </p:embeddedFont>
    <p:embeddedFont>
      <p:font typeface="Montserrat Classic" charset="1" panose="00000500000000000000"/>
      <p:regular r:id="rId60"/>
    </p:embeddedFont>
    <p:embeddedFont>
      <p:font typeface="Open Sauce Bold Italics" charset="1" panose="00000800000000000000"/>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notesMasters/notesMaster1.xml" Type="http://schemas.openxmlformats.org/officeDocument/2006/relationships/notesMaster"/><Relationship Id="rId53" Target="theme/theme2.xml" Type="http://schemas.openxmlformats.org/officeDocument/2006/relationships/theme"/><Relationship Id="rId54" Target="notesSlides/notesSlide1.xml" Type="http://schemas.openxmlformats.org/officeDocument/2006/relationships/notesSlide"/><Relationship Id="rId55" Target="fonts/font55.fntdata" Type="http://schemas.openxmlformats.org/officeDocument/2006/relationships/font"/><Relationship Id="rId56" Target="notesSlides/notesSlide2.xml" Type="http://schemas.openxmlformats.org/officeDocument/2006/relationships/notesSlide"/><Relationship Id="rId57" Target="notesSlides/notesSlide3.xml" Type="http://schemas.openxmlformats.org/officeDocument/2006/relationships/notesSlide"/><Relationship Id="rId58" Target="notesSlides/notesSlide4.xml" Type="http://schemas.openxmlformats.org/officeDocument/2006/relationships/notesSlide"/><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notesSlides/notesSlide5.xml" Type="http://schemas.openxmlformats.org/officeDocument/2006/relationships/notesSlide"/><Relationship Id="rId62" Target="fonts/font62.fntdata" Type="http://schemas.openxmlformats.org/officeDocument/2006/relationships/font"/><Relationship Id="rId63" Target="notesSlides/notesSlide6.xml" Type="http://schemas.openxmlformats.org/officeDocument/2006/relationships/notesSlide"/><Relationship Id="rId64" Target="notesSlides/notesSlide7.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cbow + skipgram</a:t>
            </a:r>
          </a:p>
          <a:p>
            <a:r>
              <a:rPr lang="en-US"/>
              <a:t>on sepose le resultat suivant </a:t>
            </a:r>
          </a:p>
          <a:p>
            <a:r>
              <a:rPr lang="en-US"/>
              <a:t>Ces vecteurs montrent que les mots "chat" et "chien" sont proches l'un de l'autre, ce qui reflète leur relation sémantique (ce sont des animaux). De même, "manger" et "nourriture" sont proches, car ils apparaissent dans des contextes similaires (liés à la consommation alimentaire).</a:t>
            </a:r>
          </a:p>
          <a:p>
            <a:r>
              <a:rPr lang="en-US"/>
              <a:t>Si vous utilisez l'architecture Skip-Gram, le modèle pourrait, pour le mot "chat", prédire des mots comme "manger", "nourriture", ou "jouer", car ils apparaissent souvent à proximité dans les phrases. Cette approche permet au modèle de mieux comprendre les relations contextuelles entre les mots dans un corpus donné.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similaire à Word2Vec, mais avec une approche différente. Tandis que Word2Vec se base sur un apprentissage local (en analysant les mots voisins d'un mot donné), GloVe utilise des statistiques de co-occurrence globale des mots dans un corpus pour construire des représentations vectorielles. </a:t>
            </a:r>
          </a:p>
          <a:p>
            <a:r>
              <a:rPr lang="en-US"/>
              <a:t/>
            </a:r>
          </a:p>
          <a:p>
            <a:r>
              <a:rPr lang="en-US"/>
              <a:t>matrice co -occurence(ligne/ colonne =mots + diagonale =0 w lo5rin =1/2....)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memoire du reseau =stoke les infp</a:t>
            </a:r>
          </a:p>
          <a:p>
            <a:r>
              <a:rPr lang="en-US"/>
              <a:t>*calcul </a:t>
            </a:r>
          </a:p>
          <a:p>
            <a:r>
              <a:rPr lang="en-US"/>
              <a:t>*vector de chaque mots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ajoute </a:t>
            </a:r>
          </a:p>
          <a:p>
            <a:r>
              <a:rPr lang="en-US"/>
              <a:t>*oubli les info non pertinement</a:t>
            </a:r>
          </a:p>
          <a:p>
            <a:r>
              <a:rPr lang="en-US"/>
              <a:t>*Génère l'état caché pour la prochaine étape.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tp - fn</a:t>
            </a:r>
          </a:p>
          <a:p>
            <a:r>
              <a:rPr lang="en-US"/>
              <a:t>fp -tn</a:t>
            </a:r>
          </a:p>
          <a:p>
            <a:r>
              <a:rPr lang="en-US"/>
              <a:t/>
            </a:r>
          </a:p>
          <a:p>
            <a:r>
              <a:rPr lang="en-US"/>
              <a:t>matrice de confusion </a:t>
            </a:r>
          </a:p>
          <a:p>
            <a:r>
              <a:rPr lang="en-US"/>
              <a:t>accuracy courbe roc /auc ...</a:t>
            </a:r>
          </a:p>
          <a:p>
            <a:r>
              <a:rPr lang="en-US"/>
              <a:t/>
            </a:r>
          </a:p>
          <a:p>
            <a:r>
              <a:rPr lang="en-US"/>
              <a:t>tp+tn/total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183815" y="283014"/>
            <a:ext cx="8698393" cy="10400373"/>
            <a:chOff x="0" y="0"/>
            <a:chExt cx="8603361" cy="10286746"/>
          </a:xfrm>
        </p:grpSpPr>
        <p:sp>
          <p:nvSpPr>
            <p:cNvPr name="Freeform 3" id="3"/>
            <p:cNvSpPr/>
            <p:nvPr/>
          </p:nvSpPr>
          <p:spPr>
            <a:xfrm flipH="false" flipV="false" rot="0">
              <a:off x="-2794" y="-128"/>
              <a:ext cx="8606155" cy="10286874"/>
            </a:xfrm>
            <a:custGeom>
              <a:avLst/>
              <a:gdLst/>
              <a:ahLst/>
              <a:cxnLst/>
              <a:rect r="r" b="b" t="t" l="l"/>
              <a:pathLst>
                <a:path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a:blip r:embed="rId2"/>
              <a:stretch>
                <a:fillRect l="-9783" t="0" r="-9783" b="0"/>
              </a:stretch>
            </a:blipFill>
          </p:spPr>
        </p:sp>
      </p:grpSp>
      <p:grpSp>
        <p:nvGrpSpPr>
          <p:cNvPr name="Group 4" id="4"/>
          <p:cNvGrpSpPr/>
          <p:nvPr/>
        </p:nvGrpSpPr>
        <p:grpSpPr>
          <a:xfrm rot="0">
            <a:off x="-315352" y="3688778"/>
            <a:ext cx="9904959" cy="3588846"/>
            <a:chOff x="0" y="0"/>
            <a:chExt cx="2608713" cy="945211"/>
          </a:xfrm>
        </p:grpSpPr>
        <p:sp>
          <p:nvSpPr>
            <p:cNvPr name="Freeform 5" id="5"/>
            <p:cNvSpPr/>
            <p:nvPr/>
          </p:nvSpPr>
          <p:spPr>
            <a:xfrm flipH="false" flipV="false" rot="0">
              <a:off x="0" y="0"/>
              <a:ext cx="2608713" cy="945211"/>
            </a:xfrm>
            <a:custGeom>
              <a:avLst/>
              <a:gdLst/>
              <a:ahLst/>
              <a:cxnLst/>
              <a:rect r="r" b="b" t="t" l="l"/>
              <a:pathLst>
                <a:path h="945211" w="2608713">
                  <a:moveTo>
                    <a:pt x="0" y="0"/>
                  </a:moveTo>
                  <a:lnTo>
                    <a:pt x="2608713" y="0"/>
                  </a:lnTo>
                  <a:lnTo>
                    <a:pt x="2608713" y="945211"/>
                  </a:lnTo>
                  <a:lnTo>
                    <a:pt x="0" y="945211"/>
                  </a:lnTo>
                  <a:close/>
                </a:path>
              </a:pathLst>
            </a:custGeom>
            <a:solidFill>
              <a:srgbClr val="FFFFFF"/>
            </a:solidFill>
          </p:spPr>
        </p:sp>
        <p:sp>
          <p:nvSpPr>
            <p:cNvPr name="TextBox 6" id="6"/>
            <p:cNvSpPr txBox="true"/>
            <p:nvPr/>
          </p:nvSpPr>
          <p:spPr>
            <a:xfrm>
              <a:off x="0" y="-19050"/>
              <a:ext cx="2608713" cy="964261"/>
            </a:xfrm>
            <a:prstGeom prst="rect">
              <a:avLst/>
            </a:prstGeom>
          </p:spPr>
          <p:txBody>
            <a:bodyPr anchor="ctr" rtlCol="false" tIns="50800" lIns="50800" bIns="50800" rIns="50800"/>
            <a:lstStyle/>
            <a:p>
              <a:pPr algn="ctr">
                <a:lnSpc>
                  <a:spcPts val="2859"/>
                </a:lnSpc>
              </a:pPr>
            </a:p>
          </p:txBody>
        </p:sp>
      </p:grpSp>
      <p:sp>
        <p:nvSpPr>
          <p:cNvPr name="TextBox 7" id="7"/>
          <p:cNvSpPr txBox="true"/>
          <p:nvPr/>
        </p:nvSpPr>
        <p:spPr>
          <a:xfrm rot="0">
            <a:off x="269436" y="3896737"/>
            <a:ext cx="9405358" cy="3011002"/>
          </a:xfrm>
          <a:prstGeom prst="rect">
            <a:avLst/>
          </a:prstGeom>
        </p:spPr>
        <p:txBody>
          <a:bodyPr anchor="t" rtlCol="false" tIns="0" lIns="0" bIns="0" rIns="0">
            <a:spAutoFit/>
          </a:bodyPr>
          <a:lstStyle/>
          <a:p>
            <a:pPr algn="ctr">
              <a:lnSpc>
                <a:spcPts val="12008"/>
              </a:lnSpc>
            </a:pPr>
            <a:r>
              <a:rPr lang="en-US" sz="8701" spc="121">
                <a:solidFill>
                  <a:srgbClr val="040506"/>
                </a:solidFill>
                <a:latin typeface="Archivo Black"/>
                <a:ea typeface="Archivo Black"/>
                <a:cs typeface="Archivo Black"/>
                <a:sym typeface="Archivo Black"/>
              </a:rPr>
              <a:t>ANALYSE DES SENTIMENT</a:t>
            </a:r>
          </a:p>
        </p:txBody>
      </p:sp>
      <p:sp>
        <p:nvSpPr>
          <p:cNvPr name="TextBox 8" id="8"/>
          <p:cNvSpPr txBox="true"/>
          <p:nvPr/>
        </p:nvSpPr>
        <p:spPr>
          <a:xfrm rot="0">
            <a:off x="269436" y="8218750"/>
            <a:ext cx="3922084" cy="444176"/>
          </a:xfrm>
          <a:prstGeom prst="rect">
            <a:avLst/>
          </a:prstGeom>
        </p:spPr>
        <p:txBody>
          <a:bodyPr anchor="t" rtlCol="false" tIns="0" lIns="0" bIns="0" rIns="0">
            <a:spAutoFit/>
          </a:bodyPr>
          <a:lstStyle/>
          <a:p>
            <a:pPr algn="ctr">
              <a:lnSpc>
                <a:spcPts val="3661"/>
              </a:lnSpc>
            </a:pPr>
            <a:r>
              <a:rPr lang="en-US" b="true" sz="2653" spc="140">
                <a:solidFill>
                  <a:srgbClr val="231F20"/>
                </a:solidFill>
                <a:latin typeface="Montserrat Classic Bold"/>
                <a:ea typeface="Montserrat Classic Bold"/>
                <a:cs typeface="Montserrat Classic Bold"/>
                <a:sym typeface="Montserrat Classic Bold"/>
              </a:rPr>
              <a:t>Présenté par</a:t>
            </a:r>
          </a:p>
        </p:txBody>
      </p:sp>
      <p:sp>
        <p:nvSpPr>
          <p:cNvPr name="Freeform 9" id="9"/>
          <p:cNvSpPr/>
          <p:nvPr/>
        </p:nvSpPr>
        <p:spPr>
          <a:xfrm flipH="false" flipV="false" rot="0">
            <a:off x="765140" y="388668"/>
            <a:ext cx="2166635" cy="2166635"/>
          </a:xfrm>
          <a:custGeom>
            <a:avLst/>
            <a:gdLst/>
            <a:ahLst/>
            <a:cxnLst/>
            <a:rect r="r" b="b" t="t" l="l"/>
            <a:pathLst>
              <a:path h="2166635" w="2166635">
                <a:moveTo>
                  <a:pt x="0" y="0"/>
                </a:moveTo>
                <a:lnTo>
                  <a:pt x="2166634" y="0"/>
                </a:lnTo>
                <a:lnTo>
                  <a:pt x="2166634" y="2166635"/>
                </a:lnTo>
                <a:lnTo>
                  <a:pt x="0" y="2166635"/>
                </a:lnTo>
                <a:lnTo>
                  <a:pt x="0" y="0"/>
                </a:lnTo>
                <a:close/>
              </a:path>
            </a:pathLst>
          </a:custGeom>
          <a:blipFill>
            <a:blip r:embed="rId3"/>
            <a:stretch>
              <a:fillRect l="0" t="0" r="0" b="0"/>
            </a:stretch>
          </a:blipFill>
        </p:spPr>
      </p:sp>
      <p:sp>
        <p:nvSpPr>
          <p:cNvPr name="TextBox 10" id="10"/>
          <p:cNvSpPr txBox="true"/>
          <p:nvPr/>
        </p:nvSpPr>
        <p:spPr>
          <a:xfrm rot="0">
            <a:off x="4191521" y="7967612"/>
            <a:ext cx="4212824" cy="444176"/>
          </a:xfrm>
          <a:prstGeom prst="rect">
            <a:avLst/>
          </a:prstGeom>
        </p:spPr>
        <p:txBody>
          <a:bodyPr anchor="t" rtlCol="false" tIns="0" lIns="0" bIns="0" rIns="0">
            <a:spAutoFit/>
          </a:bodyPr>
          <a:lstStyle/>
          <a:p>
            <a:pPr algn="ctr">
              <a:lnSpc>
                <a:spcPts val="3661"/>
              </a:lnSpc>
            </a:pPr>
            <a:r>
              <a:rPr lang="en-US" b="true" sz="2653" spc="140">
                <a:solidFill>
                  <a:srgbClr val="231F20"/>
                </a:solidFill>
                <a:latin typeface="Montserrat Classic Bold"/>
                <a:ea typeface="Montserrat Classic Bold"/>
                <a:cs typeface="Montserrat Classic Bold"/>
                <a:sym typeface="Montserrat Classic Bold"/>
              </a:rPr>
              <a:t>Nourhen Maddouri</a:t>
            </a:r>
          </a:p>
        </p:txBody>
      </p:sp>
      <p:sp>
        <p:nvSpPr>
          <p:cNvPr name="TextBox 11" id="11"/>
          <p:cNvSpPr txBox="true"/>
          <p:nvPr/>
        </p:nvSpPr>
        <p:spPr>
          <a:xfrm rot="0">
            <a:off x="4191521" y="8559900"/>
            <a:ext cx="4367741" cy="444176"/>
          </a:xfrm>
          <a:prstGeom prst="rect">
            <a:avLst/>
          </a:prstGeom>
        </p:spPr>
        <p:txBody>
          <a:bodyPr anchor="t" rtlCol="false" tIns="0" lIns="0" bIns="0" rIns="0">
            <a:spAutoFit/>
          </a:bodyPr>
          <a:lstStyle/>
          <a:p>
            <a:pPr algn="ctr">
              <a:lnSpc>
                <a:spcPts val="3661"/>
              </a:lnSpc>
            </a:pPr>
            <a:r>
              <a:rPr lang="en-US" b="true" sz="2653" spc="140">
                <a:solidFill>
                  <a:srgbClr val="231F20"/>
                </a:solidFill>
                <a:latin typeface="Montserrat Classic Bold"/>
                <a:ea typeface="Montserrat Classic Bold"/>
                <a:cs typeface="Montserrat Classic Bold"/>
                <a:sym typeface="Montserrat Classic Bold"/>
              </a:rPr>
              <a:t>Nourhen Hammami</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28458" y="3740706"/>
            <a:ext cx="1420730" cy="1243922"/>
            <a:chOff x="0" y="0"/>
            <a:chExt cx="461246" cy="403844"/>
          </a:xfrm>
        </p:grpSpPr>
        <p:sp>
          <p:nvSpPr>
            <p:cNvPr name="Freeform 3" id="3"/>
            <p:cNvSpPr/>
            <p:nvPr/>
          </p:nvSpPr>
          <p:spPr>
            <a:xfrm flipH="false" flipV="false" rot="0">
              <a:off x="0" y="0"/>
              <a:ext cx="461246" cy="403844"/>
            </a:xfrm>
            <a:custGeom>
              <a:avLst/>
              <a:gdLst/>
              <a:ahLst/>
              <a:cxnLst/>
              <a:rect r="r" b="b" t="t" l="l"/>
              <a:pathLst>
                <a:path h="403844" w="461246">
                  <a:moveTo>
                    <a:pt x="0" y="0"/>
                  </a:moveTo>
                  <a:lnTo>
                    <a:pt x="461246" y="0"/>
                  </a:lnTo>
                  <a:lnTo>
                    <a:pt x="461246" y="403844"/>
                  </a:lnTo>
                  <a:lnTo>
                    <a:pt x="0" y="403844"/>
                  </a:lnTo>
                  <a:close/>
                </a:path>
              </a:pathLst>
            </a:custGeom>
            <a:solidFill>
              <a:srgbClr val="4FCDCC"/>
            </a:solidFill>
          </p:spPr>
        </p:sp>
        <p:sp>
          <p:nvSpPr>
            <p:cNvPr name="TextBox 4" id="4"/>
            <p:cNvSpPr txBox="true"/>
            <p:nvPr/>
          </p:nvSpPr>
          <p:spPr>
            <a:xfrm>
              <a:off x="0" y="-76200"/>
              <a:ext cx="461246" cy="480044"/>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1</a:t>
              </a:r>
            </a:p>
          </p:txBody>
        </p:sp>
      </p:grpSp>
      <p:grpSp>
        <p:nvGrpSpPr>
          <p:cNvPr name="Group 5" id="5"/>
          <p:cNvGrpSpPr/>
          <p:nvPr/>
        </p:nvGrpSpPr>
        <p:grpSpPr>
          <a:xfrm rot="0">
            <a:off x="5200593" y="6039018"/>
            <a:ext cx="1372642" cy="1243922"/>
            <a:chOff x="0" y="0"/>
            <a:chExt cx="445634" cy="403844"/>
          </a:xfrm>
        </p:grpSpPr>
        <p:sp>
          <p:nvSpPr>
            <p:cNvPr name="Freeform 6" id="6"/>
            <p:cNvSpPr/>
            <p:nvPr/>
          </p:nvSpPr>
          <p:spPr>
            <a:xfrm flipH="false" flipV="false" rot="0">
              <a:off x="0" y="0"/>
              <a:ext cx="445634" cy="403844"/>
            </a:xfrm>
            <a:custGeom>
              <a:avLst/>
              <a:gdLst/>
              <a:ahLst/>
              <a:cxnLst/>
              <a:rect r="r" b="b" t="t" l="l"/>
              <a:pathLst>
                <a:path h="403844" w="445634">
                  <a:moveTo>
                    <a:pt x="0" y="0"/>
                  </a:moveTo>
                  <a:lnTo>
                    <a:pt x="445634" y="0"/>
                  </a:lnTo>
                  <a:lnTo>
                    <a:pt x="445634" y="403844"/>
                  </a:lnTo>
                  <a:lnTo>
                    <a:pt x="0" y="403844"/>
                  </a:lnTo>
                  <a:close/>
                </a:path>
              </a:pathLst>
            </a:custGeom>
            <a:solidFill>
              <a:srgbClr val="18B6B4"/>
            </a:solidFill>
          </p:spPr>
        </p:sp>
        <p:sp>
          <p:nvSpPr>
            <p:cNvPr name="TextBox 7" id="7"/>
            <p:cNvSpPr txBox="true"/>
            <p:nvPr/>
          </p:nvSpPr>
          <p:spPr>
            <a:xfrm>
              <a:off x="0" y="-76200"/>
              <a:ext cx="445634" cy="480044"/>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2</a:t>
              </a:r>
            </a:p>
          </p:txBody>
        </p:sp>
      </p:grpSp>
      <p:grpSp>
        <p:nvGrpSpPr>
          <p:cNvPr name="Group 8" id="8"/>
          <p:cNvGrpSpPr/>
          <p:nvPr/>
        </p:nvGrpSpPr>
        <p:grpSpPr>
          <a:xfrm rot="0">
            <a:off x="9468628" y="3899578"/>
            <a:ext cx="1354722" cy="1243922"/>
            <a:chOff x="0" y="0"/>
            <a:chExt cx="439816" cy="403844"/>
          </a:xfrm>
        </p:grpSpPr>
        <p:sp>
          <p:nvSpPr>
            <p:cNvPr name="Freeform 9" id="9"/>
            <p:cNvSpPr/>
            <p:nvPr/>
          </p:nvSpPr>
          <p:spPr>
            <a:xfrm flipH="false" flipV="false" rot="0">
              <a:off x="0" y="0"/>
              <a:ext cx="439816" cy="403844"/>
            </a:xfrm>
            <a:custGeom>
              <a:avLst/>
              <a:gdLst/>
              <a:ahLst/>
              <a:cxnLst/>
              <a:rect r="r" b="b" t="t" l="l"/>
              <a:pathLst>
                <a:path h="403844" w="439816">
                  <a:moveTo>
                    <a:pt x="0" y="0"/>
                  </a:moveTo>
                  <a:lnTo>
                    <a:pt x="439816" y="0"/>
                  </a:lnTo>
                  <a:lnTo>
                    <a:pt x="439816" y="403844"/>
                  </a:lnTo>
                  <a:lnTo>
                    <a:pt x="0" y="403844"/>
                  </a:lnTo>
                  <a:close/>
                </a:path>
              </a:pathLst>
            </a:custGeom>
            <a:solidFill>
              <a:srgbClr val="2C92D5"/>
            </a:solidFill>
          </p:spPr>
        </p:sp>
        <p:sp>
          <p:nvSpPr>
            <p:cNvPr name="TextBox 10" id="10"/>
            <p:cNvSpPr txBox="true"/>
            <p:nvPr/>
          </p:nvSpPr>
          <p:spPr>
            <a:xfrm>
              <a:off x="0" y="-76200"/>
              <a:ext cx="439816" cy="480044"/>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3</a:t>
              </a:r>
            </a:p>
          </p:txBody>
        </p:sp>
      </p:grpSp>
      <p:grpSp>
        <p:nvGrpSpPr>
          <p:cNvPr name="Group 11" id="11"/>
          <p:cNvGrpSpPr/>
          <p:nvPr/>
        </p:nvGrpSpPr>
        <p:grpSpPr>
          <a:xfrm rot="0">
            <a:off x="14484435" y="6219943"/>
            <a:ext cx="1251794" cy="1158664"/>
            <a:chOff x="0" y="0"/>
            <a:chExt cx="406400" cy="376165"/>
          </a:xfrm>
        </p:grpSpPr>
        <p:sp>
          <p:nvSpPr>
            <p:cNvPr name="Freeform 12" id="12"/>
            <p:cNvSpPr/>
            <p:nvPr/>
          </p:nvSpPr>
          <p:spPr>
            <a:xfrm flipH="false" flipV="false" rot="0">
              <a:off x="0" y="0"/>
              <a:ext cx="406400" cy="376165"/>
            </a:xfrm>
            <a:custGeom>
              <a:avLst/>
              <a:gdLst/>
              <a:ahLst/>
              <a:cxnLst/>
              <a:rect r="r" b="b" t="t" l="l"/>
              <a:pathLst>
                <a:path h="376165" w="406400">
                  <a:moveTo>
                    <a:pt x="0" y="0"/>
                  </a:moveTo>
                  <a:lnTo>
                    <a:pt x="406400" y="0"/>
                  </a:lnTo>
                  <a:lnTo>
                    <a:pt x="406400" y="376165"/>
                  </a:lnTo>
                  <a:lnTo>
                    <a:pt x="0" y="376165"/>
                  </a:lnTo>
                  <a:close/>
                </a:path>
              </a:pathLst>
            </a:custGeom>
            <a:solidFill>
              <a:srgbClr val="13538A"/>
            </a:solidFill>
          </p:spPr>
        </p:sp>
        <p:sp>
          <p:nvSpPr>
            <p:cNvPr name="TextBox 13" id="13"/>
            <p:cNvSpPr txBox="true"/>
            <p:nvPr/>
          </p:nvSpPr>
          <p:spPr>
            <a:xfrm>
              <a:off x="0" y="-76200"/>
              <a:ext cx="406400" cy="452365"/>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4</a:t>
              </a:r>
            </a:p>
          </p:txBody>
        </p:sp>
      </p:grpSp>
      <p:grpSp>
        <p:nvGrpSpPr>
          <p:cNvPr name="Group 14" id="14"/>
          <p:cNvGrpSpPr/>
          <p:nvPr/>
        </p:nvGrpSpPr>
        <p:grpSpPr>
          <a:xfrm rot="0">
            <a:off x="12738245" y="6219943"/>
            <a:ext cx="536633" cy="717629"/>
            <a:chOff x="0" y="0"/>
            <a:chExt cx="607801" cy="812800"/>
          </a:xfrm>
        </p:grpSpPr>
        <p:sp>
          <p:nvSpPr>
            <p:cNvPr name="Freeform 15" id="15"/>
            <p:cNvSpPr/>
            <p:nvPr/>
          </p:nvSpPr>
          <p:spPr>
            <a:xfrm flipH="false" flipV="false" rot="0">
              <a:off x="0" y="0"/>
              <a:ext cx="607801" cy="812800"/>
            </a:xfrm>
            <a:custGeom>
              <a:avLst/>
              <a:gdLst/>
              <a:ahLst/>
              <a:cxnLst/>
              <a:rect r="r" b="b" t="t" l="l"/>
              <a:pathLst>
                <a:path h="812800" w="607801">
                  <a:moveTo>
                    <a:pt x="607801" y="406400"/>
                  </a:moveTo>
                  <a:lnTo>
                    <a:pt x="201401" y="0"/>
                  </a:lnTo>
                  <a:lnTo>
                    <a:pt x="201401" y="203200"/>
                  </a:lnTo>
                  <a:lnTo>
                    <a:pt x="0" y="203200"/>
                  </a:lnTo>
                  <a:lnTo>
                    <a:pt x="0" y="609600"/>
                  </a:lnTo>
                  <a:lnTo>
                    <a:pt x="201401" y="609600"/>
                  </a:lnTo>
                  <a:lnTo>
                    <a:pt x="201401" y="812800"/>
                  </a:lnTo>
                  <a:lnTo>
                    <a:pt x="607801" y="406400"/>
                  </a:lnTo>
                  <a:close/>
                </a:path>
              </a:pathLst>
            </a:custGeom>
            <a:solidFill>
              <a:srgbClr val="37C9EF"/>
            </a:solidFill>
          </p:spPr>
        </p:sp>
        <p:sp>
          <p:nvSpPr>
            <p:cNvPr name="TextBox 16" id="16"/>
            <p:cNvSpPr txBox="true"/>
            <p:nvPr/>
          </p:nvSpPr>
          <p:spPr>
            <a:xfrm>
              <a:off x="0" y="146050"/>
              <a:ext cx="506201" cy="463550"/>
            </a:xfrm>
            <a:prstGeom prst="rect">
              <a:avLst/>
            </a:prstGeom>
          </p:spPr>
          <p:txBody>
            <a:bodyPr anchor="ctr" rtlCol="false" tIns="50800" lIns="50800" bIns="50800" rIns="50800"/>
            <a:lstStyle/>
            <a:p>
              <a:pPr algn="ctr">
                <a:lnSpc>
                  <a:spcPts val="3640"/>
                </a:lnSpc>
              </a:pPr>
            </a:p>
          </p:txBody>
        </p:sp>
      </p:grpSp>
      <p:grpSp>
        <p:nvGrpSpPr>
          <p:cNvPr name="Group 17" id="17"/>
          <p:cNvGrpSpPr/>
          <p:nvPr/>
        </p:nvGrpSpPr>
        <p:grpSpPr>
          <a:xfrm rot="0">
            <a:off x="3550138" y="5861129"/>
            <a:ext cx="536633" cy="717629"/>
            <a:chOff x="0" y="0"/>
            <a:chExt cx="607801" cy="812800"/>
          </a:xfrm>
        </p:grpSpPr>
        <p:sp>
          <p:nvSpPr>
            <p:cNvPr name="Freeform 18" id="18"/>
            <p:cNvSpPr/>
            <p:nvPr/>
          </p:nvSpPr>
          <p:spPr>
            <a:xfrm flipH="false" flipV="false" rot="0">
              <a:off x="0" y="0"/>
              <a:ext cx="607801" cy="812800"/>
            </a:xfrm>
            <a:custGeom>
              <a:avLst/>
              <a:gdLst/>
              <a:ahLst/>
              <a:cxnLst/>
              <a:rect r="r" b="b" t="t" l="l"/>
              <a:pathLst>
                <a:path h="812800" w="607801">
                  <a:moveTo>
                    <a:pt x="607801" y="406400"/>
                  </a:moveTo>
                  <a:lnTo>
                    <a:pt x="201401" y="0"/>
                  </a:lnTo>
                  <a:lnTo>
                    <a:pt x="201401" y="203200"/>
                  </a:lnTo>
                  <a:lnTo>
                    <a:pt x="0" y="203200"/>
                  </a:lnTo>
                  <a:lnTo>
                    <a:pt x="0" y="609600"/>
                  </a:lnTo>
                  <a:lnTo>
                    <a:pt x="201401" y="609600"/>
                  </a:lnTo>
                  <a:lnTo>
                    <a:pt x="201401" y="812800"/>
                  </a:lnTo>
                  <a:lnTo>
                    <a:pt x="607801" y="406400"/>
                  </a:lnTo>
                  <a:close/>
                </a:path>
              </a:pathLst>
            </a:custGeom>
            <a:solidFill>
              <a:srgbClr val="4FCDCC"/>
            </a:solidFill>
          </p:spPr>
        </p:sp>
        <p:sp>
          <p:nvSpPr>
            <p:cNvPr name="TextBox 19" id="19"/>
            <p:cNvSpPr txBox="true"/>
            <p:nvPr/>
          </p:nvSpPr>
          <p:spPr>
            <a:xfrm>
              <a:off x="0" y="146050"/>
              <a:ext cx="506201" cy="463550"/>
            </a:xfrm>
            <a:prstGeom prst="rect">
              <a:avLst/>
            </a:prstGeom>
          </p:spPr>
          <p:txBody>
            <a:bodyPr anchor="ctr" rtlCol="false" tIns="50800" lIns="50800" bIns="50800" rIns="50800"/>
            <a:lstStyle/>
            <a:p>
              <a:pPr algn="ctr">
                <a:lnSpc>
                  <a:spcPts val="3640"/>
                </a:lnSpc>
              </a:pPr>
            </a:p>
          </p:txBody>
        </p:sp>
      </p:grpSp>
      <p:grpSp>
        <p:nvGrpSpPr>
          <p:cNvPr name="Group 20" id="20"/>
          <p:cNvGrpSpPr/>
          <p:nvPr/>
        </p:nvGrpSpPr>
        <p:grpSpPr>
          <a:xfrm rot="0">
            <a:off x="7651828" y="4962575"/>
            <a:ext cx="536633" cy="717629"/>
            <a:chOff x="0" y="0"/>
            <a:chExt cx="607801" cy="812800"/>
          </a:xfrm>
        </p:grpSpPr>
        <p:sp>
          <p:nvSpPr>
            <p:cNvPr name="Freeform 21" id="21"/>
            <p:cNvSpPr/>
            <p:nvPr/>
          </p:nvSpPr>
          <p:spPr>
            <a:xfrm flipH="false" flipV="false" rot="0">
              <a:off x="0" y="0"/>
              <a:ext cx="607801" cy="812800"/>
            </a:xfrm>
            <a:custGeom>
              <a:avLst/>
              <a:gdLst/>
              <a:ahLst/>
              <a:cxnLst/>
              <a:rect r="r" b="b" t="t" l="l"/>
              <a:pathLst>
                <a:path h="812800" w="607801">
                  <a:moveTo>
                    <a:pt x="607801" y="406400"/>
                  </a:moveTo>
                  <a:lnTo>
                    <a:pt x="201401" y="0"/>
                  </a:lnTo>
                  <a:lnTo>
                    <a:pt x="201401" y="203200"/>
                  </a:lnTo>
                  <a:lnTo>
                    <a:pt x="0" y="203200"/>
                  </a:lnTo>
                  <a:lnTo>
                    <a:pt x="0" y="609600"/>
                  </a:lnTo>
                  <a:lnTo>
                    <a:pt x="201401" y="609600"/>
                  </a:lnTo>
                  <a:lnTo>
                    <a:pt x="201401" y="812800"/>
                  </a:lnTo>
                  <a:lnTo>
                    <a:pt x="607801" y="406400"/>
                  </a:lnTo>
                  <a:close/>
                </a:path>
              </a:pathLst>
            </a:custGeom>
            <a:solidFill>
              <a:srgbClr val="18B6B4"/>
            </a:solidFill>
          </p:spPr>
        </p:sp>
        <p:sp>
          <p:nvSpPr>
            <p:cNvPr name="TextBox 22" id="22"/>
            <p:cNvSpPr txBox="true"/>
            <p:nvPr/>
          </p:nvSpPr>
          <p:spPr>
            <a:xfrm>
              <a:off x="0" y="146050"/>
              <a:ext cx="506201" cy="463550"/>
            </a:xfrm>
            <a:prstGeom prst="rect">
              <a:avLst/>
            </a:prstGeom>
          </p:spPr>
          <p:txBody>
            <a:bodyPr anchor="ctr" rtlCol="false" tIns="50800" lIns="50800" bIns="50800" rIns="50800"/>
            <a:lstStyle/>
            <a:p>
              <a:pPr algn="ctr">
                <a:lnSpc>
                  <a:spcPts val="3640"/>
                </a:lnSpc>
              </a:pPr>
            </a:p>
          </p:txBody>
        </p:sp>
      </p:grpSp>
      <p:sp>
        <p:nvSpPr>
          <p:cNvPr name="TextBox 23" id="23"/>
          <p:cNvSpPr txBox="true"/>
          <p:nvPr/>
        </p:nvSpPr>
        <p:spPr>
          <a:xfrm rot="0">
            <a:off x="1028700" y="5231893"/>
            <a:ext cx="2410013" cy="448310"/>
          </a:xfrm>
          <a:prstGeom prst="rect">
            <a:avLst/>
          </a:prstGeom>
        </p:spPr>
        <p:txBody>
          <a:bodyPr anchor="t" rtlCol="false" tIns="0" lIns="0" bIns="0" rIns="0">
            <a:spAutoFit/>
          </a:bodyPr>
          <a:lstStyle/>
          <a:p>
            <a:pPr algn="ctr" marL="0" indent="0" lvl="0">
              <a:lnSpc>
                <a:spcPts val="3640"/>
              </a:lnSpc>
            </a:pPr>
            <a:r>
              <a:rPr lang="en-US" sz="2600" spc="78">
                <a:solidFill>
                  <a:srgbClr val="191919"/>
                </a:solidFill>
                <a:latin typeface="Aileron"/>
                <a:ea typeface="Aileron"/>
                <a:cs typeface="Aileron"/>
                <a:sym typeface="Aileron"/>
              </a:rPr>
              <a:t>Introduction</a:t>
            </a:r>
          </a:p>
        </p:txBody>
      </p:sp>
      <p:sp>
        <p:nvSpPr>
          <p:cNvPr name="TextBox 24" id="24"/>
          <p:cNvSpPr txBox="true"/>
          <p:nvPr/>
        </p:nvSpPr>
        <p:spPr>
          <a:xfrm rot="0">
            <a:off x="4885240" y="7441696"/>
            <a:ext cx="2410013" cy="1362710"/>
          </a:xfrm>
          <a:prstGeom prst="rect">
            <a:avLst/>
          </a:prstGeom>
        </p:spPr>
        <p:txBody>
          <a:bodyPr anchor="t" rtlCol="false" tIns="0" lIns="0" bIns="0" rIns="0">
            <a:spAutoFit/>
          </a:bodyPr>
          <a:lstStyle/>
          <a:p>
            <a:pPr algn="ctr" marL="0" indent="0" lvl="0">
              <a:lnSpc>
                <a:spcPts val="3640"/>
              </a:lnSpc>
            </a:pPr>
            <a:r>
              <a:rPr lang="en-US" sz="2600" spc="78">
                <a:solidFill>
                  <a:srgbClr val="191919"/>
                </a:solidFill>
                <a:latin typeface="Aileron"/>
                <a:ea typeface="Aileron"/>
                <a:cs typeface="Aileron"/>
                <a:sym typeface="Aileron"/>
              </a:rPr>
              <a:t>Processus d’analyse des sentiments</a:t>
            </a:r>
          </a:p>
        </p:txBody>
      </p:sp>
      <p:sp>
        <p:nvSpPr>
          <p:cNvPr name="TextBox 25" id="25"/>
          <p:cNvSpPr txBox="true"/>
          <p:nvPr/>
        </p:nvSpPr>
        <p:spPr>
          <a:xfrm rot="0">
            <a:off x="9144000" y="5992794"/>
            <a:ext cx="2976052" cy="1362710"/>
          </a:xfrm>
          <a:prstGeom prst="rect">
            <a:avLst/>
          </a:prstGeom>
        </p:spPr>
        <p:txBody>
          <a:bodyPr anchor="t" rtlCol="false" tIns="0" lIns="0" bIns="0" rIns="0">
            <a:spAutoFit/>
          </a:bodyPr>
          <a:lstStyle/>
          <a:p>
            <a:pPr algn="ctr" marL="0" indent="0" lvl="0">
              <a:lnSpc>
                <a:spcPts val="3640"/>
              </a:lnSpc>
            </a:pPr>
            <a:r>
              <a:rPr lang="en-US" sz="2600" spc="78">
                <a:solidFill>
                  <a:srgbClr val="191919"/>
                </a:solidFill>
                <a:latin typeface="Aileron"/>
                <a:ea typeface="Aileron"/>
                <a:cs typeface="Aileron"/>
                <a:sym typeface="Aileron"/>
              </a:rPr>
              <a:t>Mise en Pratique : Atelier et Implémentation</a:t>
            </a:r>
          </a:p>
        </p:txBody>
      </p:sp>
      <p:sp>
        <p:nvSpPr>
          <p:cNvPr name="TextBox 26" id="26"/>
          <p:cNvSpPr txBox="true"/>
          <p:nvPr/>
        </p:nvSpPr>
        <p:spPr>
          <a:xfrm rot="0">
            <a:off x="13905326" y="7703316"/>
            <a:ext cx="2410013" cy="448310"/>
          </a:xfrm>
          <a:prstGeom prst="rect">
            <a:avLst/>
          </a:prstGeom>
        </p:spPr>
        <p:txBody>
          <a:bodyPr anchor="t" rtlCol="false" tIns="0" lIns="0" bIns="0" rIns="0">
            <a:spAutoFit/>
          </a:bodyPr>
          <a:lstStyle/>
          <a:p>
            <a:pPr algn="ctr" marL="0" indent="0" lvl="0">
              <a:lnSpc>
                <a:spcPts val="3640"/>
              </a:lnSpc>
            </a:pPr>
            <a:r>
              <a:rPr lang="en-US" sz="2600" spc="78">
                <a:solidFill>
                  <a:srgbClr val="191919"/>
                </a:solidFill>
                <a:latin typeface="Aileron"/>
                <a:ea typeface="Aileron"/>
                <a:cs typeface="Aileron"/>
                <a:sym typeface="Aileron"/>
              </a:rPr>
              <a:t>Conclusion</a:t>
            </a:r>
          </a:p>
        </p:txBody>
      </p:sp>
      <p:grpSp>
        <p:nvGrpSpPr>
          <p:cNvPr name="Group 27" id="27"/>
          <p:cNvGrpSpPr/>
          <p:nvPr/>
        </p:nvGrpSpPr>
        <p:grpSpPr>
          <a:xfrm rot="0">
            <a:off x="3550138" y="972870"/>
            <a:ext cx="11187724" cy="1563835"/>
            <a:chOff x="0" y="0"/>
            <a:chExt cx="14916965" cy="2085114"/>
          </a:xfrm>
        </p:grpSpPr>
        <p:sp>
          <p:nvSpPr>
            <p:cNvPr name="TextBox 28" id="28"/>
            <p:cNvSpPr txBox="true"/>
            <p:nvPr/>
          </p:nvSpPr>
          <p:spPr>
            <a:xfrm rot="0">
              <a:off x="0" y="1506417"/>
              <a:ext cx="14916965" cy="578697"/>
            </a:xfrm>
            <a:prstGeom prst="rect">
              <a:avLst/>
            </a:prstGeom>
          </p:spPr>
          <p:txBody>
            <a:bodyPr anchor="t" rtlCol="false" tIns="0" lIns="0" bIns="0" rIns="0">
              <a:spAutoFit/>
            </a:bodyPr>
            <a:lstStyle/>
            <a:p>
              <a:pPr algn="ctr" marL="0" indent="0" lvl="0">
                <a:lnSpc>
                  <a:spcPts val="3640"/>
                </a:lnSpc>
              </a:pPr>
            </a:p>
          </p:txBody>
        </p:sp>
        <p:sp>
          <p:nvSpPr>
            <p:cNvPr name="TextBox 29" id="29"/>
            <p:cNvSpPr txBox="true"/>
            <p:nvPr/>
          </p:nvSpPr>
          <p:spPr>
            <a:xfrm rot="0">
              <a:off x="0" y="-76200"/>
              <a:ext cx="14916965" cy="1495215"/>
            </a:xfrm>
            <a:prstGeom prst="rect">
              <a:avLst/>
            </a:prstGeom>
          </p:spPr>
          <p:txBody>
            <a:bodyPr anchor="t" rtlCol="false" tIns="0" lIns="0" bIns="0" rIns="0">
              <a:spAutoFit/>
            </a:bodyPr>
            <a:lstStyle/>
            <a:p>
              <a:pPr algn="ctr" marL="0" indent="0" lvl="0">
                <a:lnSpc>
                  <a:spcPts val="9169"/>
                </a:lnSpc>
              </a:pPr>
              <a:r>
                <a:rPr lang="en-US" b="true" sz="6999" spc="209">
                  <a:solidFill>
                    <a:srgbClr val="727070"/>
                  </a:solidFill>
                  <a:latin typeface="Aileron Ultra-Bold"/>
                  <a:ea typeface="Aileron Ultra-Bold"/>
                  <a:cs typeface="Aileron Ultra-Bold"/>
                  <a:sym typeface="Aileron Ultra-Bold"/>
                </a:rPr>
                <a:t>PLAN</a:t>
              </a:r>
            </a:p>
          </p:txBody>
        </p:sp>
      </p:grpSp>
      <p:grpSp>
        <p:nvGrpSpPr>
          <p:cNvPr name="Group 30" id="30"/>
          <p:cNvGrpSpPr/>
          <p:nvPr/>
        </p:nvGrpSpPr>
        <p:grpSpPr>
          <a:xfrm rot="0">
            <a:off x="12390350" y="173580"/>
            <a:ext cx="9534019" cy="1112295"/>
            <a:chOff x="0" y="0"/>
            <a:chExt cx="1876002" cy="218865"/>
          </a:xfrm>
        </p:grpSpPr>
        <p:sp>
          <p:nvSpPr>
            <p:cNvPr name="Freeform 31" id="31"/>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2" id="32"/>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3" id="33"/>
          <p:cNvGrpSpPr/>
          <p:nvPr/>
        </p:nvGrpSpPr>
        <p:grpSpPr>
          <a:xfrm rot="0">
            <a:off x="-3207915" y="9023481"/>
            <a:ext cx="9534019" cy="1112295"/>
            <a:chOff x="0" y="0"/>
            <a:chExt cx="1876002" cy="218865"/>
          </a:xfrm>
        </p:grpSpPr>
        <p:sp>
          <p:nvSpPr>
            <p:cNvPr name="Freeform 34" id="3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5" id="3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grpSp>
        <p:nvGrpSpPr>
          <p:cNvPr name="Group 2" id="2"/>
          <p:cNvGrpSpPr/>
          <p:nvPr/>
        </p:nvGrpSpPr>
        <p:grpSpPr>
          <a:xfrm rot="0">
            <a:off x="-140550" y="1028700"/>
            <a:ext cx="15859325" cy="2258023"/>
            <a:chOff x="0" y="0"/>
            <a:chExt cx="1537211" cy="218865"/>
          </a:xfrm>
        </p:grpSpPr>
        <p:sp>
          <p:nvSpPr>
            <p:cNvPr name="Freeform 3" id="3"/>
            <p:cNvSpPr/>
            <p:nvPr/>
          </p:nvSpPr>
          <p:spPr>
            <a:xfrm flipH="false" flipV="false" rot="0">
              <a:off x="0" y="0"/>
              <a:ext cx="1537211" cy="218865"/>
            </a:xfrm>
            <a:custGeom>
              <a:avLst/>
              <a:gdLst/>
              <a:ahLst/>
              <a:cxnLst/>
              <a:rect r="r" b="b" t="t" l="l"/>
              <a:pathLst>
                <a:path h="218865" w="1537211">
                  <a:moveTo>
                    <a:pt x="1334011" y="0"/>
                  </a:moveTo>
                  <a:lnTo>
                    <a:pt x="0" y="0"/>
                  </a:lnTo>
                  <a:lnTo>
                    <a:pt x="203200" y="218865"/>
                  </a:lnTo>
                  <a:lnTo>
                    <a:pt x="1537211" y="218865"/>
                  </a:lnTo>
                  <a:lnTo>
                    <a:pt x="1334011" y="0"/>
                  </a:lnTo>
                  <a:close/>
                </a:path>
              </a:pathLst>
            </a:custGeom>
            <a:solidFill>
              <a:srgbClr val="727070"/>
            </a:solidFill>
            <a:ln cap="sq">
              <a:noFill/>
              <a:prstDash val="solid"/>
              <a:miter/>
            </a:ln>
          </p:spPr>
        </p:sp>
        <p:sp>
          <p:nvSpPr>
            <p:cNvPr name="TextBox 4" id="4"/>
            <p:cNvSpPr txBox="true"/>
            <p:nvPr/>
          </p:nvSpPr>
          <p:spPr>
            <a:xfrm>
              <a:off x="101600" y="-19050"/>
              <a:ext cx="1334011"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5" id="5"/>
          <p:cNvSpPr/>
          <p:nvPr/>
        </p:nvSpPr>
        <p:spPr>
          <a:xfrm flipH="false" flipV="false" rot="0">
            <a:off x="222828" y="5143500"/>
            <a:ext cx="5200650" cy="3524250"/>
          </a:xfrm>
          <a:custGeom>
            <a:avLst/>
            <a:gdLst/>
            <a:ahLst/>
            <a:cxnLst/>
            <a:rect r="r" b="b" t="t" l="l"/>
            <a:pathLst>
              <a:path h="3524250" w="5200650">
                <a:moveTo>
                  <a:pt x="0" y="0"/>
                </a:moveTo>
                <a:lnTo>
                  <a:pt x="5200650" y="0"/>
                </a:lnTo>
                <a:lnTo>
                  <a:pt x="5200650" y="3524250"/>
                </a:lnTo>
                <a:lnTo>
                  <a:pt x="0" y="3524250"/>
                </a:lnTo>
                <a:lnTo>
                  <a:pt x="0" y="0"/>
                </a:lnTo>
                <a:close/>
              </a:path>
            </a:pathLst>
          </a:custGeom>
          <a:blipFill>
            <a:blip r:embed="rId2"/>
            <a:stretch>
              <a:fillRect l="0" t="0" r="0" b="0"/>
            </a:stretch>
          </a:blipFill>
        </p:spPr>
      </p:sp>
      <p:sp>
        <p:nvSpPr>
          <p:cNvPr name="TextBox 6" id="6"/>
          <p:cNvSpPr txBox="true"/>
          <p:nvPr/>
        </p:nvSpPr>
        <p:spPr>
          <a:xfrm rot="0">
            <a:off x="5753977" y="4926843"/>
            <a:ext cx="10597072" cy="3318504"/>
          </a:xfrm>
          <a:prstGeom prst="rect">
            <a:avLst/>
          </a:prstGeom>
        </p:spPr>
        <p:txBody>
          <a:bodyPr anchor="t" rtlCol="false" tIns="0" lIns="0" bIns="0" rIns="0">
            <a:spAutoFit/>
          </a:bodyPr>
          <a:lstStyle/>
          <a:p>
            <a:pPr algn="l">
              <a:lnSpc>
                <a:spcPts val="3795"/>
              </a:lnSpc>
            </a:pPr>
            <a:r>
              <a:rPr lang="en-US" sz="2750" spc="269">
                <a:solidFill>
                  <a:srgbClr val="231F20"/>
                </a:solidFill>
                <a:latin typeface="Montserrat Light"/>
                <a:ea typeface="Montserrat Light"/>
                <a:cs typeface="Montserrat Light"/>
                <a:sym typeface="Montserrat Light"/>
              </a:rPr>
              <a:t>L'analyse des sentiments fait partie du Text Mining , une branche du Data Mining qui traite spécifiquement des textes non structurés.</a:t>
            </a:r>
          </a:p>
          <a:p>
            <a:pPr algn="l">
              <a:lnSpc>
                <a:spcPts val="3795"/>
              </a:lnSpc>
            </a:pPr>
          </a:p>
          <a:p>
            <a:pPr algn="l" marL="0" indent="0" lvl="0">
              <a:lnSpc>
                <a:spcPts val="3795"/>
              </a:lnSpc>
              <a:spcBef>
                <a:spcPct val="0"/>
              </a:spcBef>
            </a:pPr>
            <a:r>
              <a:rPr lang="en-US" sz="2750" spc="269">
                <a:solidFill>
                  <a:srgbClr val="231F20"/>
                </a:solidFill>
                <a:latin typeface="Montserrat Light"/>
                <a:ea typeface="Montserrat Light"/>
                <a:cs typeface="Montserrat Light"/>
                <a:sym typeface="Montserrat Light"/>
              </a:rPr>
              <a:t>L'objectif est de détecter les émotions, opinions, attitudes ou évaluations dans les textes en classant ces derniers en catégories (positif, négatif, neutre)</a:t>
            </a:r>
          </a:p>
        </p:txBody>
      </p:sp>
      <p:sp>
        <p:nvSpPr>
          <p:cNvPr name="TextBox 7" id="7"/>
          <p:cNvSpPr txBox="true"/>
          <p:nvPr/>
        </p:nvSpPr>
        <p:spPr>
          <a:xfrm rot="0">
            <a:off x="2122031" y="1304859"/>
            <a:ext cx="9306472" cy="1132046"/>
          </a:xfrm>
          <a:prstGeom prst="rect">
            <a:avLst/>
          </a:prstGeom>
        </p:spPr>
        <p:txBody>
          <a:bodyPr anchor="t" rtlCol="false" tIns="0" lIns="0" bIns="0" rIns="0">
            <a:spAutoFit/>
          </a:bodyPr>
          <a:lstStyle/>
          <a:p>
            <a:pPr algn="ctr" marL="1452830" indent="-726415" lvl="1">
              <a:lnSpc>
                <a:spcPts val="9286"/>
              </a:lnSpc>
              <a:spcBef>
                <a:spcPct val="0"/>
              </a:spcBef>
              <a:buAutoNum type="arabicPeriod" startAt="1"/>
            </a:pPr>
            <a:r>
              <a:rPr lang="en-US" sz="6729" spc="53">
                <a:solidFill>
                  <a:srgbClr val="FFFFFF"/>
                </a:solidFill>
                <a:latin typeface="Archivo Black"/>
                <a:ea typeface="Archivo Black"/>
                <a:cs typeface="Archivo Black"/>
                <a:sym typeface="Archivo Black"/>
              </a:rPr>
              <a:t>INTRODUCTION</a:t>
            </a:r>
          </a:p>
        </p:txBody>
      </p:sp>
      <p:sp>
        <p:nvSpPr>
          <p:cNvPr name="TextBox 8" id="8"/>
          <p:cNvSpPr txBox="true"/>
          <p:nvPr/>
        </p:nvSpPr>
        <p:spPr>
          <a:xfrm rot="0">
            <a:off x="17259300" y="9569393"/>
            <a:ext cx="359139" cy="550920"/>
          </a:xfrm>
          <a:prstGeom prst="rect">
            <a:avLst/>
          </a:prstGeom>
        </p:spPr>
        <p:txBody>
          <a:bodyPr anchor="t" rtlCol="false" tIns="0" lIns="0" bIns="0" rIns="0">
            <a:spAutoFit/>
          </a:bodyPr>
          <a:lstStyle/>
          <a:p>
            <a:pPr algn="l" marL="0" indent="0" lvl="0">
              <a:lnSpc>
                <a:spcPts val="4347"/>
              </a:lnSpc>
              <a:spcBef>
                <a:spcPct val="0"/>
              </a:spcBef>
            </a:pPr>
            <a:r>
              <a:rPr lang="en-US" b="true" sz="3150" spc="308">
                <a:solidFill>
                  <a:srgbClr val="231F20"/>
                </a:solidFill>
                <a:latin typeface="Montserrat Light Bold"/>
                <a:ea typeface="Montserrat Light Bold"/>
                <a:cs typeface="Montserrat Light Bold"/>
                <a:sym typeface="Montserrat Light Bold"/>
              </a:rPr>
              <a:t>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5013836" y="1028700"/>
            <a:ext cx="19354610" cy="2258023"/>
            <a:chOff x="0" y="0"/>
            <a:chExt cx="1876002" cy="218865"/>
          </a:xfrm>
        </p:grpSpPr>
        <p:sp>
          <p:nvSpPr>
            <p:cNvPr name="Freeform 4" id="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5" id="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6" id="6"/>
          <p:cNvGrpSpPr/>
          <p:nvPr/>
        </p:nvGrpSpPr>
        <p:grpSpPr>
          <a:xfrm rot="0">
            <a:off x="916860" y="3148979"/>
            <a:ext cx="5689104" cy="275488"/>
            <a:chOff x="0" y="0"/>
            <a:chExt cx="4519796" cy="218865"/>
          </a:xfrm>
        </p:grpSpPr>
        <p:sp>
          <p:nvSpPr>
            <p:cNvPr name="Freeform 7" id="7"/>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8" id="8"/>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9" id="9"/>
          <p:cNvGrpSpPr/>
          <p:nvPr/>
        </p:nvGrpSpPr>
        <p:grpSpPr>
          <a:xfrm rot="0">
            <a:off x="12085550" y="-131220"/>
            <a:ext cx="9534019" cy="1112295"/>
            <a:chOff x="0" y="0"/>
            <a:chExt cx="1876002" cy="218865"/>
          </a:xfrm>
        </p:grpSpPr>
        <p:sp>
          <p:nvSpPr>
            <p:cNvPr name="Freeform 10" id="1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1" id="1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2" id="12"/>
          <p:cNvSpPr/>
          <p:nvPr/>
        </p:nvSpPr>
        <p:spPr>
          <a:xfrm>
            <a:off x="-715490" y="962025"/>
            <a:ext cx="12921291" cy="0"/>
          </a:xfrm>
          <a:prstGeom prst="line">
            <a:avLst/>
          </a:prstGeom>
          <a:ln cap="flat" w="38100">
            <a:solidFill>
              <a:srgbClr val="000000"/>
            </a:solidFill>
            <a:prstDash val="solid"/>
            <a:headEnd type="none" len="sm" w="sm"/>
            <a:tailEnd type="none" len="sm" w="sm"/>
          </a:ln>
        </p:spPr>
      </p:sp>
      <p:grpSp>
        <p:nvGrpSpPr>
          <p:cNvPr name="Group 13" id="13"/>
          <p:cNvGrpSpPr/>
          <p:nvPr/>
        </p:nvGrpSpPr>
        <p:grpSpPr>
          <a:xfrm rot="0">
            <a:off x="12237950" y="21180"/>
            <a:ext cx="9534019" cy="1112295"/>
            <a:chOff x="0" y="0"/>
            <a:chExt cx="1876002" cy="218865"/>
          </a:xfrm>
        </p:grpSpPr>
        <p:sp>
          <p:nvSpPr>
            <p:cNvPr name="Freeform 14" id="1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5" id="1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6" id="16"/>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Freeform 17" id="17"/>
          <p:cNvSpPr/>
          <p:nvPr/>
        </p:nvSpPr>
        <p:spPr>
          <a:xfrm flipH="false" flipV="false" rot="0">
            <a:off x="916860" y="5427777"/>
            <a:ext cx="16873738" cy="4043953"/>
          </a:xfrm>
          <a:custGeom>
            <a:avLst/>
            <a:gdLst/>
            <a:ahLst/>
            <a:cxnLst/>
            <a:rect r="r" b="b" t="t" l="l"/>
            <a:pathLst>
              <a:path h="4043953" w="16873738">
                <a:moveTo>
                  <a:pt x="0" y="0"/>
                </a:moveTo>
                <a:lnTo>
                  <a:pt x="16873738" y="0"/>
                </a:lnTo>
                <a:lnTo>
                  <a:pt x="16873738" y="4043953"/>
                </a:lnTo>
                <a:lnTo>
                  <a:pt x="0" y="4043953"/>
                </a:lnTo>
                <a:lnTo>
                  <a:pt x="0" y="0"/>
                </a:lnTo>
                <a:close/>
              </a:path>
            </a:pathLst>
          </a:custGeom>
          <a:blipFill>
            <a:blip r:embed="rId3"/>
            <a:stretch>
              <a:fillRect l="0" t="-10347" r="0" b="-10347"/>
            </a:stretch>
          </a:blipFill>
        </p:spPr>
      </p:sp>
      <p:sp>
        <p:nvSpPr>
          <p:cNvPr name="TextBox 18" id="18"/>
          <p:cNvSpPr txBox="true"/>
          <p:nvPr/>
        </p:nvSpPr>
        <p:spPr>
          <a:xfrm rot="0">
            <a:off x="2274431" y="1457259"/>
            <a:ext cx="9306472" cy="1132046"/>
          </a:xfrm>
          <a:prstGeom prst="rect">
            <a:avLst/>
          </a:prstGeom>
        </p:spPr>
        <p:txBody>
          <a:bodyPr anchor="t" rtlCol="false" tIns="0" lIns="0" bIns="0" rIns="0">
            <a:spAutoFit/>
          </a:bodyPr>
          <a:lstStyle/>
          <a:p>
            <a:pPr algn="ctr" marL="1452830" indent="-726415" lvl="1">
              <a:lnSpc>
                <a:spcPts val="9286"/>
              </a:lnSpc>
              <a:spcBef>
                <a:spcPct val="0"/>
              </a:spcBef>
              <a:buAutoNum type="arabicPeriod" startAt="1"/>
            </a:pPr>
            <a:r>
              <a:rPr lang="en-US" sz="6729" spc="53">
                <a:solidFill>
                  <a:srgbClr val="FFFFFF"/>
                </a:solidFill>
                <a:latin typeface="Archivo Black"/>
                <a:ea typeface="Archivo Black"/>
                <a:cs typeface="Archivo Black"/>
                <a:sym typeface="Archivo Black"/>
              </a:rPr>
              <a:t>INTRODUCTION</a:t>
            </a:r>
          </a:p>
        </p:txBody>
      </p:sp>
      <p:sp>
        <p:nvSpPr>
          <p:cNvPr name="TextBox 19" id="19"/>
          <p:cNvSpPr txBox="true"/>
          <p:nvPr/>
        </p:nvSpPr>
        <p:spPr>
          <a:xfrm rot="0">
            <a:off x="17411700" y="9721793"/>
            <a:ext cx="359139" cy="550920"/>
          </a:xfrm>
          <a:prstGeom prst="rect">
            <a:avLst/>
          </a:prstGeom>
        </p:spPr>
        <p:txBody>
          <a:bodyPr anchor="t" rtlCol="false" tIns="0" lIns="0" bIns="0" rIns="0">
            <a:spAutoFit/>
          </a:bodyPr>
          <a:lstStyle/>
          <a:p>
            <a:pPr algn="l" marL="0" indent="0" lvl="0">
              <a:lnSpc>
                <a:spcPts val="4347"/>
              </a:lnSpc>
              <a:spcBef>
                <a:spcPct val="0"/>
              </a:spcBef>
            </a:pPr>
            <a:r>
              <a:rPr lang="en-US" b="true" sz="3150" spc="308">
                <a:solidFill>
                  <a:srgbClr val="231F20"/>
                </a:solidFill>
                <a:latin typeface="Montserrat Light Bold"/>
                <a:ea typeface="Montserrat Light Bold"/>
                <a:cs typeface="Montserrat Light Bold"/>
                <a:sym typeface="Montserrat Light Bold"/>
              </a:rPr>
              <a:t>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0" y="6244274"/>
            <a:ext cx="4194955" cy="3573491"/>
            <a:chOff x="0" y="0"/>
            <a:chExt cx="1104844" cy="941166"/>
          </a:xfrm>
        </p:grpSpPr>
        <p:sp>
          <p:nvSpPr>
            <p:cNvPr name="Freeform 4" id="4"/>
            <p:cNvSpPr/>
            <p:nvPr/>
          </p:nvSpPr>
          <p:spPr>
            <a:xfrm flipH="false" flipV="false" rot="0">
              <a:off x="0" y="0"/>
              <a:ext cx="1104844" cy="941166"/>
            </a:xfrm>
            <a:custGeom>
              <a:avLst/>
              <a:gdLst/>
              <a:ahLst/>
              <a:cxnLst/>
              <a:rect r="r" b="b" t="t" l="l"/>
              <a:pathLst>
                <a:path h="941166" w="1104844">
                  <a:moveTo>
                    <a:pt x="36911" y="0"/>
                  </a:moveTo>
                  <a:lnTo>
                    <a:pt x="1067933" y="0"/>
                  </a:lnTo>
                  <a:cubicBezTo>
                    <a:pt x="1088319" y="0"/>
                    <a:pt x="1104844" y="16525"/>
                    <a:pt x="1104844" y="36911"/>
                  </a:cubicBezTo>
                  <a:lnTo>
                    <a:pt x="1104844" y="904256"/>
                  </a:lnTo>
                  <a:cubicBezTo>
                    <a:pt x="1104844" y="924641"/>
                    <a:pt x="1088319" y="941166"/>
                    <a:pt x="1067933" y="941166"/>
                  </a:cubicBezTo>
                  <a:lnTo>
                    <a:pt x="36911" y="941166"/>
                  </a:lnTo>
                  <a:cubicBezTo>
                    <a:pt x="16525" y="941166"/>
                    <a:pt x="0" y="924641"/>
                    <a:pt x="0" y="904256"/>
                  </a:cubicBezTo>
                  <a:lnTo>
                    <a:pt x="0" y="36911"/>
                  </a:lnTo>
                  <a:cubicBezTo>
                    <a:pt x="0" y="16525"/>
                    <a:pt x="16525" y="0"/>
                    <a:pt x="36911" y="0"/>
                  </a:cubicBezTo>
                  <a:close/>
                </a:path>
              </a:pathLst>
            </a:custGeom>
            <a:solidFill>
              <a:srgbClr val="FFFFFF"/>
            </a:solidFill>
            <a:ln w="38100" cap="sq">
              <a:solidFill>
                <a:srgbClr val="727070"/>
              </a:solidFill>
              <a:prstDash val="solid"/>
              <a:miter/>
            </a:ln>
          </p:spPr>
        </p:sp>
        <p:sp>
          <p:nvSpPr>
            <p:cNvPr name="TextBox 5" id="5"/>
            <p:cNvSpPr txBox="true"/>
            <p:nvPr/>
          </p:nvSpPr>
          <p:spPr>
            <a:xfrm>
              <a:off x="0" y="-19050"/>
              <a:ext cx="1104844" cy="960216"/>
            </a:xfrm>
            <a:prstGeom prst="rect">
              <a:avLst/>
            </a:prstGeom>
          </p:spPr>
          <p:txBody>
            <a:bodyPr anchor="ctr" rtlCol="false" tIns="50800" lIns="50800" bIns="50800" rIns="50800"/>
            <a:lstStyle/>
            <a:p>
              <a:pPr algn="ctr">
                <a:lnSpc>
                  <a:spcPts val="2859"/>
                </a:lnSpc>
              </a:pPr>
            </a:p>
          </p:txBody>
        </p:sp>
      </p:grpSp>
      <p:grpSp>
        <p:nvGrpSpPr>
          <p:cNvPr name="Group 6" id="6"/>
          <p:cNvGrpSpPr/>
          <p:nvPr/>
        </p:nvGrpSpPr>
        <p:grpSpPr>
          <a:xfrm rot="0">
            <a:off x="1214614" y="6087905"/>
            <a:ext cx="157787" cy="156369"/>
            <a:chOff x="0" y="0"/>
            <a:chExt cx="320400" cy="317520"/>
          </a:xfrm>
        </p:grpSpPr>
        <p:sp>
          <p:nvSpPr>
            <p:cNvPr name="Freeform 7" id="7"/>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8" id="8"/>
          <p:cNvGrpSpPr/>
          <p:nvPr/>
        </p:nvGrpSpPr>
        <p:grpSpPr>
          <a:xfrm rot="0">
            <a:off x="242006" y="6087905"/>
            <a:ext cx="1047779" cy="1124013"/>
            <a:chOff x="0" y="0"/>
            <a:chExt cx="2127600" cy="2282400"/>
          </a:xfrm>
        </p:grpSpPr>
        <p:sp>
          <p:nvSpPr>
            <p:cNvPr name="Freeform 9" id="9"/>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sp>
        <p:nvSpPr>
          <p:cNvPr name="TextBox 10" id="10"/>
          <p:cNvSpPr txBox="true"/>
          <p:nvPr/>
        </p:nvSpPr>
        <p:spPr>
          <a:xfrm rot="0">
            <a:off x="1472046" y="6467898"/>
            <a:ext cx="3122959" cy="731477"/>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Commerce et marketing :</a:t>
            </a:r>
          </a:p>
        </p:txBody>
      </p:sp>
      <p:sp>
        <p:nvSpPr>
          <p:cNvPr name="Freeform 11" id="11"/>
          <p:cNvSpPr/>
          <p:nvPr/>
        </p:nvSpPr>
        <p:spPr>
          <a:xfrm flipH="false" flipV="false" rot="0">
            <a:off x="-8060" y="3919454"/>
            <a:ext cx="4047293" cy="1911276"/>
          </a:xfrm>
          <a:custGeom>
            <a:avLst/>
            <a:gdLst/>
            <a:ahLst/>
            <a:cxnLst/>
            <a:rect r="r" b="b" t="t" l="l"/>
            <a:pathLst>
              <a:path h="1911276" w="4047293">
                <a:moveTo>
                  <a:pt x="0" y="0"/>
                </a:moveTo>
                <a:lnTo>
                  <a:pt x="4047293" y="0"/>
                </a:lnTo>
                <a:lnTo>
                  <a:pt x="4047293" y="1911276"/>
                </a:lnTo>
                <a:lnTo>
                  <a:pt x="0" y="1911276"/>
                </a:lnTo>
                <a:lnTo>
                  <a:pt x="0" y="0"/>
                </a:lnTo>
                <a:close/>
              </a:path>
            </a:pathLst>
          </a:custGeom>
          <a:blipFill>
            <a:blip r:embed="rId3"/>
            <a:stretch>
              <a:fillRect l="-7389" t="0" r="-7389" b="0"/>
            </a:stretch>
          </a:blipFill>
        </p:spPr>
      </p:sp>
      <p:sp>
        <p:nvSpPr>
          <p:cNvPr name="TextBox 12" id="12"/>
          <p:cNvSpPr txBox="true"/>
          <p:nvPr/>
        </p:nvSpPr>
        <p:spPr>
          <a:xfrm rot="0">
            <a:off x="1981480" y="130308"/>
            <a:ext cx="12964813" cy="898392"/>
          </a:xfrm>
          <a:prstGeom prst="rect">
            <a:avLst/>
          </a:prstGeom>
        </p:spPr>
        <p:txBody>
          <a:bodyPr anchor="t" rtlCol="false" tIns="0" lIns="0" bIns="0" rIns="0">
            <a:spAutoFit/>
          </a:bodyPr>
          <a:lstStyle/>
          <a:p>
            <a:pPr algn="ctr" marL="0" indent="0" lvl="0">
              <a:lnSpc>
                <a:spcPts val="7291"/>
              </a:lnSpc>
              <a:spcBef>
                <a:spcPct val="0"/>
              </a:spcBef>
            </a:pPr>
            <a:r>
              <a:rPr lang="en-US" sz="5283" spc="184">
                <a:solidFill>
                  <a:srgbClr val="010101"/>
                </a:solidFill>
                <a:latin typeface="Archivo Black"/>
                <a:ea typeface="Archivo Black"/>
                <a:cs typeface="Archivo Black"/>
                <a:sym typeface="Archivo Black"/>
              </a:rPr>
              <a:t>CAS D'UTILISATION COURANT :</a:t>
            </a:r>
            <a:r>
              <a:rPr lang="en-US" sz="5283" spc="184">
                <a:solidFill>
                  <a:srgbClr val="010101"/>
                </a:solidFill>
                <a:latin typeface="Archivo Black"/>
                <a:ea typeface="Archivo Black"/>
                <a:cs typeface="Archivo Black"/>
                <a:sym typeface="Archivo Black"/>
              </a:rPr>
              <a:t> </a:t>
            </a:r>
          </a:p>
        </p:txBody>
      </p:sp>
      <p:sp>
        <p:nvSpPr>
          <p:cNvPr name="TextBox 13" id="13"/>
          <p:cNvSpPr txBox="true"/>
          <p:nvPr/>
        </p:nvSpPr>
        <p:spPr>
          <a:xfrm rot="0">
            <a:off x="242006" y="7569462"/>
            <a:ext cx="3547162" cy="1521290"/>
          </a:xfrm>
          <a:prstGeom prst="rect">
            <a:avLst/>
          </a:prstGeom>
        </p:spPr>
        <p:txBody>
          <a:bodyPr anchor="t" rtlCol="false" tIns="0" lIns="0" bIns="0" rIns="0">
            <a:spAutoFit/>
          </a:bodyPr>
          <a:lstStyle/>
          <a:p>
            <a:pPr algn="l">
              <a:lnSpc>
                <a:spcPts val="2463"/>
              </a:lnSpc>
            </a:pPr>
            <a:r>
              <a:rPr lang="en-US" sz="1785" spc="174">
                <a:solidFill>
                  <a:srgbClr val="000000"/>
                </a:solidFill>
                <a:latin typeface="Montserrat Light"/>
                <a:ea typeface="Montserrat Light"/>
                <a:cs typeface="Montserrat Light"/>
                <a:sym typeface="Montserrat Light"/>
              </a:rPr>
              <a:t>Pour améliorer les campagnes publicitaires, cibler les bonnes audiences, et analyser les avis clients.</a:t>
            </a:r>
          </a:p>
        </p:txBody>
      </p:sp>
      <p:sp>
        <p:nvSpPr>
          <p:cNvPr name="TextBox 14" id="14"/>
          <p:cNvSpPr txBox="true"/>
          <p:nvPr/>
        </p:nvSpPr>
        <p:spPr>
          <a:xfrm rot="0">
            <a:off x="17564100" y="9760615"/>
            <a:ext cx="359139" cy="550920"/>
          </a:xfrm>
          <a:prstGeom prst="rect">
            <a:avLst/>
          </a:prstGeom>
        </p:spPr>
        <p:txBody>
          <a:bodyPr anchor="t" rtlCol="false" tIns="0" lIns="0" bIns="0" rIns="0">
            <a:spAutoFit/>
          </a:bodyPr>
          <a:lstStyle/>
          <a:p>
            <a:pPr algn="l" marL="0" indent="0" lvl="0">
              <a:lnSpc>
                <a:spcPts val="4347"/>
              </a:lnSpc>
              <a:spcBef>
                <a:spcPct val="0"/>
              </a:spcBef>
            </a:pPr>
            <a:r>
              <a:rPr lang="en-US" b="true" sz="3150" spc="308">
                <a:solidFill>
                  <a:srgbClr val="231F20"/>
                </a:solidFill>
                <a:latin typeface="Montserrat Light Bold"/>
                <a:ea typeface="Montserrat Light Bold"/>
                <a:cs typeface="Montserrat Light Bold"/>
                <a:sym typeface="Montserrat Light Bold"/>
              </a:rPr>
              <a:t>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0" y="6244274"/>
            <a:ext cx="4194955" cy="3573491"/>
            <a:chOff x="0" y="0"/>
            <a:chExt cx="1104844" cy="941166"/>
          </a:xfrm>
        </p:grpSpPr>
        <p:sp>
          <p:nvSpPr>
            <p:cNvPr name="Freeform 4" id="4"/>
            <p:cNvSpPr/>
            <p:nvPr/>
          </p:nvSpPr>
          <p:spPr>
            <a:xfrm flipH="false" flipV="false" rot="0">
              <a:off x="0" y="0"/>
              <a:ext cx="1104844" cy="941166"/>
            </a:xfrm>
            <a:custGeom>
              <a:avLst/>
              <a:gdLst/>
              <a:ahLst/>
              <a:cxnLst/>
              <a:rect r="r" b="b" t="t" l="l"/>
              <a:pathLst>
                <a:path h="941166" w="1104844">
                  <a:moveTo>
                    <a:pt x="36911" y="0"/>
                  </a:moveTo>
                  <a:lnTo>
                    <a:pt x="1067933" y="0"/>
                  </a:lnTo>
                  <a:cubicBezTo>
                    <a:pt x="1088319" y="0"/>
                    <a:pt x="1104844" y="16525"/>
                    <a:pt x="1104844" y="36911"/>
                  </a:cubicBezTo>
                  <a:lnTo>
                    <a:pt x="1104844" y="904256"/>
                  </a:lnTo>
                  <a:cubicBezTo>
                    <a:pt x="1104844" y="924641"/>
                    <a:pt x="1088319" y="941166"/>
                    <a:pt x="1067933" y="941166"/>
                  </a:cubicBezTo>
                  <a:lnTo>
                    <a:pt x="36911" y="941166"/>
                  </a:lnTo>
                  <a:cubicBezTo>
                    <a:pt x="16525" y="941166"/>
                    <a:pt x="0" y="924641"/>
                    <a:pt x="0" y="904256"/>
                  </a:cubicBezTo>
                  <a:lnTo>
                    <a:pt x="0" y="36911"/>
                  </a:lnTo>
                  <a:cubicBezTo>
                    <a:pt x="0" y="16525"/>
                    <a:pt x="16525" y="0"/>
                    <a:pt x="36911" y="0"/>
                  </a:cubicBezTo>
                  <a:close/>
                </a:path>
              </a:pathLst>
            </a:custGeom>
            <a:solidFill>
              <a:srgbClr val="FFFFFF"/>
            </a:solidFill>
            <a:ln w="38100" cap="sq">
              <a:solidFill>
                <a:srgbClr val="727070"/>
              </a:solidFill>
              <a:prstDash val="solid"/>
              <a:miter/>
            </a:ln>
          </p:spPr>
        </p:sp>
        <p:sp>
          <p:nvSpPr>
            <p:cNvPr name="TextBox 5" id="5"/>
            <p:cNvSpPr txBox="true"/>
            <p:nvPr/>
          </p:nvSpPr>
          <p:spPr>
            <a:xfrm>
              <a:off x="0" y="-19050"/>
              <a:ext cx="1104844" cy="960216"/>
            </a:xfrm>
            <a:prstGeom prst="rect">
              <a:avLst/>
            </a:prstGeom>
          </p:spPr>
          <p:txBody>
            <a:bodyPr anchor="ctr" rtlCol="false" tIns="50800" lIns="50800" bIns="50800" rIns="50800"/>
            <a:lstStyle/>
            <a:p>
              <a:pPr algn="ctr">
                <a:lnSpc>
                  <a:spcPts val="2859"/>
                </a:lnSpc>
              </a:pPr>
            </a:p>
          </p:txBody>
        </p:sp>
      </p:grpSp>
      <p:grpSp>
        <p:nvGrpSpPr>
          <p:cNvPr name="Group 6" id="6"/>
          <p:cNvGrpSpPr/>
          <p:nvPr/>
        </p:nvGrpSpPr>
        <p:grpSpPr>
          <a:xfrm rot="0">
            <a:off x="1214614" y="6087905"/>
            <a:ext cx="157787" cy="156369"/>
            <a:chOff x="0" y="0"/>
            <a:chExt cx="320400" cy="317520"/>
          </a:xfrm>
        </p:grpSpPr>
        <p:sp>
          <p:nvSpPr>
            <p:cNvPr name="Freeform 7" id="7"/>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8" id="8"/>
          <p:cNvGrpSpPr/>
          <p:nvPr/>
        </p:nvGrpSpPr>
        <p:grpSpPr>
          <a:xfrm rot="0">
            <a:off x="242006" y="6087905"/>
            <a:ext cx="1047779" cy="1124013"/>
            <a:chOff x="0" y="0"/>
            <a:chExt cx="2127600" cy="2282400"/>
          </a:xfrm>
        </p:grpSpPr>
        <p:sp>
          <p:nvSpPr>
            <p:cNvPr name="Freeform 9" id="9"/>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sp>
        <p:nvSpPr>
          <p:cNvPr name="TextBox 10" id="10"/>
          <p:cNvSpPr txBox="true"/>
          <p:nvPr/>
        </p:nvSpPr>
        <p:spPr>
          <a:xfrm rot="0">
            <a:off x="1472046" y="6467898"/>
            <a:ext cx="3122959" cy="731477"/>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Commerce et marketing :</a:t>
            </a:r>
          </a:p>
        </p:txBody>
      </p:sp>
      <p:grpSp>
        <p:nvGrpSpPr>
          <p:cNvPr name="Group 11" id="11"/>
          <p:cNvGrpSpPr/>
          <p:nvPr/>
        </p:nvGrpSpPr>
        <p:grpSpPr>
          <a:xfrm rot="0">
            <a:off x="4309255" y="6275625"/>
            <a:ext cx="4528330" cy="3573491"/>
            <a:chOff x="0" y="0"/>
            <a:chExt cx="1192647" cy="941166"/>
          </a:xfrm>
        </p:grpSpPr>
        <p:sp>
          <p:nvSpPr>
            <p:cNvPr name="Freeform 12" id="12"/>
            <p:cNvSpPr/>
            <p:nvPr/>
          </p:nvSpPr>
          <p:spPr>
            <a:xfrm flipH="false" flipV="false" rot="0">
              <a:off x="0" y="0"/>
              <a:ext cx="1192647" cy="941166"/>
            </a:xfrm>
            <a:custGeom>
              <a:avLst/>
              <a:gdLst/>
              <a:ahLst/>
              <a:cxnLst/>
              <a:rect r="r" b="b" t="t" l="l"/>
              <a:pathLst>
                <a:path h="941166" w="1192647">
                  <a:moveTo>
                    <a:pt x="34193" y="0"/>
                  </a:moveTo>
                  <a:lnTo>
                    <a:pt x="1158453" y="0"/>
                  </a:lnTo>
                  <a:cubicBezTo>
                    <a:pt x="1177338" y="0"/>
                    <a:pt x="1192647" y="15309"/>
                    <a:pt x="1192647" y="34193"/>
                  </a:cubicBezTo>
                  <a:lnTo>
                    <a:pt x="1192647" y="906973"/>
                  </a:lnTo>
                  <a:cubicBezTo>
                    <a:pt x="1192647" y="925858"/>
                    <a:pt x="1177338" y="941166"/>
                    <a:pt x="1158453" y="941166"/>
                  </a:cubicBezTo>
                  <a:lnTo>
                    <a:pt x="34193" y="941166"/>
                  </a:lnTo>
                  <a:cubicBezTo>
                    <a:pt x="15309" y="941166"/>
                    <a:pt x="0" y="925858"/>
                    <a:pt x="0" y="906973"/>
                  </a:cubicBezTo>
                  <a:lnTo>
                    <a:pt x="0" y="34193"/>
                  </a:lnTo>
                  <a:cubicBezTo>
                    <a:pt x="0" y="15309"/>
                    <a:pt x="15309" y="0"/>
                    <a:pt x="34193" y="0"/>
                  </a:cubicBezTo>
                  <a:close/>
                </a:path>
              </a:pathLst>
            </a:custGeom>
            <a:solidFill>
              <a:srgbClr val="FFFFFF"/>
            </a:solidFill>
            <a:ln w="38100" cap="sq">
              <a:solidFill>
                <a:srgbClr val="727070"/>
              </a:solidFill>
              <a:prstDash val="solid"/>
              <a:miter/>
            </a:ln>
          </p:spPr>
        </p:sp>
        <p:sp>
          <p:nvSpPr>
            <p:cNvPr name="TextBox 13" id="13"/>
            <p:cNvSpPr txBox="true"/>
            <p:nvPr/>
          </p:nvSpPr>
          <p:spPr>
            <a:xfrm>
              <a:off x="0" y="-19050"/>
              <a:ext cx="1192647" cy="960216"/>
            </a:xfrm>
            <a:prstGeom prst="rect">
              <a:avLst/>
            </a:prstGeom>
          </p:spPr>
          <p:txBody>
            <a:bodyPr anchor="ctr" rtlCol="false" tIns="50800" lIns="50800" bIns="50800" rIns="50800"/>
            <a:lstStyle/>
            <a:p>
              <a:pPr algn="ctr">
                <a:lnSpc>
                  <a:spcPts val="2859"/>
                </a:lnSpc>
              </a:pPr>
            </a:p>
          </p:txBody>
        </p:sp>
      </p:grpSp>
      <p:grpSp>
        <p:nvGrpSpPr>
          <p:cNvPr name="Group 14" id="14"/>
          <p:cNvGrpSpPr/>
          <p:nvPr/>
        </p:nvGrpSpPr>
        <p:grpSpPr>
          <a:xfrm rot="0">
            <a:off x="5523869" y="6119256"/>
            <a:ext cx="157787" cy="156369"/>
            <a:chOff x="0" y="0"/>
            <a:chExt cx="320400" cy="317520"/>
          </a:xfrm>
        </p:grpSpPr>
        <p:sp>
          <p:nvSpPr>
            <p:cNvPr name="Freeform 15" id="15"/>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16" id="16"/>
          <p:cNvGrpSpPr/>
          <p:nvPr/>
        </p:nvGrpSpPr>
        <p:grpSpPr>
          <a:xfrm rot="0">
            <a:off x="4551261" y="6119256"/>
            <a:ext cx="1047779" cy="1124013"/>
            <a:chOff x="0" y="0"/>
            <a:chExt cx="2127600" cy="2282400"/>
          </a:xfrm>
        </p:grpSpPr>
        <p:sp>
          <p:nvSpPr>
            <p:cNvPr name="Freeform 17" id="17"/>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sp>
        <p:nvSpPr>
          <p:cNvPr name="Freeform 18" id="18"/>
          <p:cNvSpPr/>
          <p:nvPr/>
        </p:nvSpPr>
        <p:spPr>
          <a:xfrm flipH="false" flipV="false" rot="0">
            <a:off x="-8060" y="3919454"/>
            <a:ext cx="4047293" cy="1911276"/>
          </a:xfrm>
          <a:custGeom>
            <a:avLst/>
            <a:gdLst/>
            <a:ahLst/>
            <a:cxnLst/>
            <a:rect r="r" b="b" t="t" l="l"/>
            <a:pathLst>
              <a:path h="1911276" w="4047293">
                <a:moveTo>
                  <a:pt x="0" y="0"/>
                </a:moveTo>
                <a:lnTo>
                  <a:pt x="4047293" y="0"/>
                </a:lnTo>
                <a:lnTo>
                  <a:pt x="4047293" y="1911276"/>
                </a:lnTo>
                <a:lnTo>
                  <a:pt x="0" y="1911276"/>
                </a:lnTo>
                <a:lnTo>
                  <a:pt x="0" y="0"/>
                </a:lnTo>
                <a:close/>
              </a:path>
            </a:pathLst>
          </a:custGeom>
          <a:blipFill>
            <a:blip r:embed="rId3"/>
            <a:stretch>
              <a:fillRect l="-7389" t="0" r="-7389" b="0"/>
            </a:stretch>
          </a:blipFill>
        </p:spPr>
      </p:sp>
      <p:sp>
        <p:nvSpPr>
          <p:cNvPr name="Freeform 19" id="19"/>
          <p:cNvSpPr/>
          <p:nvPr/>
        </p:nvSpPr>
        <p:spPr>
          <a:xfrm flipH="false" flipV="false" rot="0">
            <a:off x="4719135" y="3808976"/>
            <a:ext cx="3807558" cy="2132233"/>
          </a:xfrm>
          <a:custGeom>
            <a:avLst/>
            <a:gdLst/>
            <a:ahLst/>
            <a:cxnLst/>
            <a:rect r="r" b="b" t="t" l="l"/>
            <a:pathLst>
              <a:path h="2132233" w="3807558">
                <a:moveTo>
                  <a:pt x="0" y="0"/>
                </a:moveTo>
                <a:lnTo>
                  <a:pt x="3807558" y="0"/>
                </a:lnTo>
                <a:lnTo>
                  <a:pt x="3807558" y="2132232"/>
                </a:lnTo>
                <a:lnTo>
                  <a:pt x="0" y="2132232"/>
                </a:lnTo>
                <a:lnTo>
                  <a:pt x="0" y="0"/>
                </a:lnTo>
                <a:close/>
              </a:path>
            </a:pathLst>
          </a:custGeom>
          <a:blipFill>
            <a:blip r:embed="rId4"/>
            <a:stretch>
              <a:fillRect l="0" t="0" r="0" b="0"/>
            </a:stretch>
          </a:blipFill>
        </p:spPr>
      </p:sp>
      <p:sp>
        <p:nvSpPr>
          <p:cNvPr name="TextBox 20" id="20"/>
          <p:cNvSpPr txBox="true"/>
          <p:nvPr/>
        </p:nvSpPr>
        <p:spPr>
          <a:xfrm rot="0">
            <a:off x="1981480" y="130308"/>
            <a:ext cx="12964813" cy="898392"/>
          </a:xfrm>
          <a:prstGeom prst="rect">
            <a:avLst/>
          </a:prstGeom>
        </p:spPr>
        <p:txBody>
          <a:bodyPr anchor="t" rtlCol="false" tIns="0" lIns="0" bIns="0" rIns="0">
            <a:spAutoFit/>
          </a:bodyPr>
          <a:lstStyle/>
          <a:p>
            <a:pPr algn="ctr" marL="0" indent="0" lvl="0">
              <a:lnSpc>
                <a:spcPts val="7291"/>
              </a:lnSpc>
              <a:spcBef>
                <a:spcPct val="0"/>
              </a:spcBef>
            </a:pPr>
            <a:r>
              <a:rPr lang="en-US" sz="5283" spc="184">
                <a:solidFill>
                  <a:srgbClr val="010101"/>
                </a:solidFill>
                <a:latin typeface="Archivo Black"/>
                <a:ea typeface="Archivo Black"/>
                <a:cs typeface="Archivo Black"/>
                <a:sym typeface="Archivo Black"/>
              </a:rPr>
              <a:t>CAS D'UTILISATION COURANT :</a:t>
            </a:r>
            <a:r>
              <a:rPr lang="en-US" sz="5283" spc="184">
                <a:solidFill>
                  <a:srgbClr val="010101"/>
                </a:solidFill>
                <a:latin typeface="Archivo Black"/>
                <a:ea typeface="Archivo Black"/>
                <a:cs typeface="Archivo Black"/>
                <a:sym typeface="Archivo Black"/>
              </a:rPr>
              <a:t> </a:t>
            </a:r>
          </a:p>
        </p:txBody>
      </p:sp>
      <p:sp>
        <p:nvSpPr>
          <p:cNvPr name="TextBox 21" id="21"/>
          <p:cNvSpPr txBox="true"/>
          <p:nvPr/>
        </p:nvSpPr>
        <p:spPr>
          <a:xfrm rot="0">
            <a:off x="242006" y="7569462"/>
            <a:ext cx="3547162" cy="1521290"/>
          </a:xfrm>
          <a:prstGeom prst="rect">
            <a:avLst/>
          </a:prstGeom>
        </p:spPr>
        <p:txBody>
          <a:bodyPr anchor="t" rtlCol="false" tIns="0" lIns="0" bIns="0" rIns="0">
            <a:spAutoFit/>
          </a:bodyPr>
          <a:lstStyle/>
          <a:p>
            <a:pPr algn="l">
              <a:lnSpc>
                <a:spcPts val="2463"/>
              </a:lnSpc>
            </a:pPr>
            <a:r>
              <a:rPr lang="en-US" sz="1785" spc="174">
                <a:solidFill>
                  <a:srgbClr val="000000"/>
                </a:solidFill>
                <a:latin typeface="Montserrat Light"/>
                <a:ea typeface="Montserrat Light"/>
                <a:cs typeface="Montserrat Light"/>
                <a:sym typeface="Montserrat Light"/>
              </a:rPr>
              <a:t>Pour améliorer les campagnes publicitaires, cibler les bonnes audiences, et analyser les avis clients.</a:t>
            </a:r>
          </a:p>
        </p:txBody>
      </p:sp>
      <p:sp>
        <p:nvSpPr>
          <p:cNvPr name="TextBox 22" id="22"/>
          <p:cNvSpPr txBox="true"/>
          <p:nvPr/>
        </p:nvSpPr>
        <p:spPr>
          <a:xfrm rot="0">
            <a:off x="5781301" y="6499249"/>
            <a:ext cx="2745392" cy="358174"/>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Santé :</a:t>
            </a:r>
          </a:p>
        </p:txBody>
      </p:sp>
      <p:sp>
        <p:nvSpPr>
          <p:cNvPr name="TextBox 23" id="23"/>
          <p:cNvSpPr txBox="true"/>
          <p:nvPr/>
        </p:nvSpPr>
        <p:spPr>
          <a:xfrm rot="0">
            <a:off x="4798809" y="7544212"/>
            <a:ext cx="3901950" cy="1826090"/>
          </a:xfrm>
          <a:prstGeom prst="rect">
            <a:avLst/>
          </a:prstGeom>
        </p:spPr>
        <p:txBody>
          <a:bodyPr anchor="t" rtlCol="false" tIns="0" lIns="0" bIns="0" rIns="0">
            <a:spAutoFit/>
          </a:bodyPr>
          <a:lstStyle/>
          <a:p>
            <a:pPr algn="l">
              <a:lnSpc>
                <a:spcPts val="2463"/>
              </a:lnSpc>
            </a:pPr>
            <a:r>
              <a:rPr lang="en-US" sz="1785" spc="174">
                <a:solidFill>
                  <a:srgbClr val="000000"/>
                </a:solidFill>
                <a:latin typeface="Montserrat Light"/>
                <a:ea typeface="Montserrat Light"/>
                <a:cs typeface="Montserrat Light"/>
                <a:sym typeface="Montserrat Light"/>
              </a:rPr>
              <a:t>Dans le suivi de l'expérience patient et pour identifier des signes précoces de troubles mentaux en analysant les expressions verbales et écrites.</a:t>
            </a:r>
          </a:p>
        </p:txBody>
      </p:sp>
      <p:sp>
        <p:nvSpPr>
          <p:cNvPr name="TextBox 24" id="24"/>
          <p:cNvSpPr txBox="true"/>
          <p:nvPr/>
        </p:nvSpPr>
        <p:spPr>
          <a:xfrm rot="0">
            <a:off x="17716500" y="9751090"/>
            <a:ext cx="359139" cy="550920"/>
          </a:xfrm>
          <a:prstGeom prst="rect">
            <a:avLst/>
          </a:prstGeom>
        </p:spPr>
        <p:txBody>
          <a:bodyPr anchor="t" rtlCol="false" tIns="0" lIns="0" bIns="0" rIns="0">
            <a:spAutoFit/>
          </a:bodyPr>
          <a:lstStyle/>
          <a:p>
            <a:pPr algn="l" marL="0" indent="0" lvl="0">
              <a:lnSpc>
                <a:spcPts val="4347"/>
              </a:lnSpc>
              <a:spcBef>
                <a:spcPct val="0"/>
              </a:spcBef>
            </a:pPr>
            <a:r>
              <a:rPr lang="en-US" b="true" sz="3150" spc="308">
                <a:solidFill>
                  <a:srgbClr val="231F20"/>
                </a:solidFill>
                <a:latin typeface="Montserrat Light Bold"/>
                <a:ea typeface="Montserrat Light Bold"/>
                <a:cs typeface="Montserrat Light Bold"/>
                <a:sym typeface="Montserrat Light Bold"/>
              </a:rPr>
              <a:t>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0" y="6244274"/>
            <a:ext cx="4194955" cy="3573491"/>
            <a:chOff x="0" y="0"/>
            <a:chExt cx="1104844" cy="941166"/>
          </a:xfrm>
        </p:grpSpPr>
        <p:sp>
          <p:nvSpPr>
            <p:cNvPr name="Freeform 4" id="4"/>
            <p:cNvSpPr/>
            <p:nvPr/>
          </p:nvSpPr>
          <p:spPr>
            <a:xfrm flipH="false" flipV="false" rot="0">
              <a:off x="0" y="0"/>
              <a:ext cx="1104844" cy="941166"/>
            </a:xfrm>
            <a:custGeom>
              <a:avLst/>
              <a:gdLst/>
              <a:ahLst/>
              <a:cxnLst/>
              <a:rect r="r" b="b" t="t" l="l"/>
              <a:pathLst>
                <a:path h="941166" w="1104844">
                  <a:moveTo>
                    <a:pt x="36911" y="0"/>
                  </a:moveTo>
                  <a:lnTo>
                    <a:pt x="1067933" y="0"/>
                  </a:lnTo>
                  <a:cubicBezTo>
                    <a:pt x="1088319" y="0"/>
                    <a:pt x="1104844" y="16525"/>
                    <a:pt x="1104844" y="36911"/>
                  </a:cubicBezTo>
                  <a:lnTo>
                    <a:pt x="1104844" y="904256"/>
                  </a:lnTo>
                  <a:cubicBezTo>
                    <a:pt x="1104844" y="924641"/>
                    <a:pt x="1088319" y="941166"/>
                    <a:pt x="1067933" y="941166"/>
                  </a:cubicBezTo>
                  <a:lnTo>
                    <a:pt x="36911" y="941166"/>
                  </a:lnTo>
                  <a:cubicBezTo>
                    <a:pt x="16525" y="941166"/>
                    <a:pt x="0" y="924641"/>
                    <a:pt x="0" y="904256"/>
                  </a:cubicBezTo>
                  <a:lnTo>
                    <a:pt x="0" y="36911"/>
                  </a:lnTo>
                  <a:cubicBezTo>
                    <a:pt x="0" y="16525"/>
                    <a:pt x="16525" y="0"/>
                    <a:pt x="36911" y="0"/>
                  </a:cubicBezTo>
                  <a:close/>
                </a:path>
              </a:pathLst>
            </a:custGeom>
            <a:solidFill>
              <a:srgbClr val="FFFFFF"/>
            </a:solidFill>
            <a:ln w="38100" cap="sq">
              <a:solidFill>
                <a:srgbClr val="727070"/>
              </a:solidFill>
              <a:prstDash val="solid"/>
              <a:miter/>
            </a:ln>
          </p:spPr>
        </p:sp>
        <p:sp>
          <p:nvSpPr>
            <p:cNvPr name="TextBox 5" id="5"/>
            <p:cNvSpPr txBox="true"/>
            <p:nvPr/>
          </p:nvSpPr>
          <p:spPr>
            <a:xfrm>
              <a:off x="0" y="-19050"/>
              <a:ext cx="1104844" cy="960216"/>
            </a:xfrm>
            <a:prstGeom prst="rect">
              <a:avLst/>
            </a:prstGeom>
          </p:spPr>
          <p:txBody>
            <a:bodyPr anchor="ctr" rtlCol="false" tIns="50800" lIns="50800" bIns="50800" rIns="50800"/>
            <a:lstStyle/>
            <a:p>
              <a:pPr algn="ctr">
                <a:lnSpc>
                  <a:spcPts val="2859"/>
                </a:lnSpc>
              </a:pPr>
            </a:p>
          </p:txBody>
        </p:sp>
      </p:grpSp>
      <p:grpSp>
        <p:nvGrpSpPr>
          <p:cNvPr name="Group 6" id="6"/>
          <p:cNvGrpSpPr/>
          <p:nvPr/>
        </p:nvGrpSpPr>
        <p:grpSpPr>
          <a:xfrm rot="0">
            <a:off x="1214614" y="6087905"/>
            <a:ext cx="157787" cy="156369"/>
            <a:chOff x="0" y="0"/>
            <a:chExt cx="320400" cy="317520"/>
          </a:xfrm>
        </p:grpSpPr>
        <p:sp>
          <p:nvSpPr>
            <p:cNvPr name="Freeform 7" id="7"/>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8" id="8"/>
          <p:cNvGrpSpPr/>
          <p:nvPr/>
        </p:nvGrpSpPr>
        <p:grpSpPr>
          <a:xfrm rot="0">
            <a:off x="242006" y="6087905"/>
            <a:ext cx="1047779" cy="1124013"/>
            <a:chOff x="0" y="0"/>
            <a:chExt cx="2127600" cy="2282400"/>
          </a:xfrm>
        </p:grpSpPr>
        <p:sp>
          <p:nvSpPr>
            <p:cNvPr name="Freeform 9" id="9"/>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sp>
        <p:nvSpPr>
          <p:cNvPr name="TextBox 10" id="10"/>
          <p:cNvSpPr txBox="true"/>
          <p:nvPr/>
        </p:nvSpPr>
        <p:spPr>
          <a:xfrm rot="0">
            <a:off x="1472046" y="6467898"/>
            <a:ext cx="3122959" cy="731477"/>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Commerce et marketing :</a:t>
            </a:r>
          </a:p>
        </p:txBody>
      </p:sp>
      <p:grpSp>
        <p:nvGrpSpPr>
          <p:cNvPr name="Group 11" id="11"/>
          <p:cNvGrpSpPr/>
          <p:nvPr/>
        </p:nvGrpSpPr>
        <p:grpSpPr>
          <a:xfrm rot="0">
            <a:off x="4309255" y="6275625"/>
            <a:ext cx="4528330" cy="3573491"/>
            <a:chOff x="0" y="0"/>
            <a:chExt cx="1192647" cy="941166"/>
          </a:xfrm>
        </p:grpSpPr>
        <p:sp>
          <p:nvSpPr>
            <p:cNvPr name="Freeform 12" id="12"/>
            <p:cNvSpPr/>
            <p:nvPr/>
          </p:nvSpPr>
          <p:spPr>
            <a:xfrm flipH="false" flipV="false" rot="0">
              <a:off x="0" y="0"/>
              <a:ext cx="1192647" cy="941166"/>
            </a:xfrm>
            <a:custGeom>
              <a:avLst/>
              <a:gdLst/>
              <a:ahLst/>
              <a:cxnLst/>
              <a:rect r="r" b="b" t="t" l="l"/>
              <a:pathLst>
                <a:path h="941166" w="1192647">
                  <a:moveTo>
                    <a:pt x="34193" y="0"/>
                  </a:moveTo>
                  <a:lnTo>
                    <a:pt x="1158453" y="0"/>
                  </a:lnTo>
                  <a:cubicBezTo>
                    <a:pt x="1177338" y="0"/>
                    <a:pt x="1192647" y="15309"/>
                    <a:pt x="1192647" y="34193"/>
                  </a:cubicBezTo>
                  <a:lnTo>
                    <a:pt x="1192647" y="906973"/>
                  </a:lnTo>
                  <a:cubicBezTo>
                    <a:pt x="1192647" y="925858"/>
                    <a:pt x="1177338" y="941166"/>
                    <a:pt x="1158453" y="941166"/>
                  </a:cubicBezTo>
                  <a:lnTo>
                    <a:pt x="34193" y="941166"/>
                  </a:lnTo>
                  <a:cubicBezTo>
                    <a:pt x="15309" y="941166"/>
                    <a:pt x="0" y="925858"/>
                    <a:pt x="0" y="906973"/>
                  </a:cubicBezTo>
                  <a:lnTo>
                    <a:pt x="0" y="34193"/>
                  </a:lnTo>
                  <a:cubicBezTo>
                    <a:pt x="0" y="15309"/>
                    <a:pt x="15309" y="0"/>
                    <a:pt x="34193" y="0"/>
                  </a:cubicBezTo>
                  <a:close/>
                </a:path>
              </a:pathLst>
            </a:custGeom>
            <a:solidFill>
              <a:srgbClr val="FFFFFF"/>
            </a:solidFill>
            <a:ln w="38100" cap="sq">
              <a:solidFill>
                <a:srgbClr val="727070"/>
              </a:solidFill>
              <a:prstDash val="solid"/>
              <a:miter/>
            </a:ln>
          </p:spPr>
        </p:sp>
        <p:sp>
          <p:nvSpPr>
            <p:cNvPr name="TextBox 13" id="13"/>
            <p:cNvSpPr txBox="true"/>
            <p:nvPr/>
          </p:nvSpPr>
          <p:spPr>
            <a:xfrm>
              <a:off x="0" y="-19050"/>
              <a:ext cx="1192647" cy="960216"/>
            </a:xfrm>
            <a:prstGeom prst="rect">
              <a:avLst/>
            </a:prstGeom>
          </p:spPr>
          <p:txBody>
            <a:bodyPr anchor="ctr" rtlCol="false" tIns="50800" lIns="50800" bIns="50800" rIns="50800"/>
            <a:lstStyle/>
            <a:p>
              <a:pPr algn="ctr">
                <a:lnSpc>
                  <a:spcPts val="2859"/>
                </a:lnSpc>
              </a:pPr>
            </a:p>
          </p:txBody>
        </p:sp>
      </p:grpSp>
      <p:grpSp>
        <p:nvGrpSpPr>
          <p:cNvPr name="Group 14" id="14"/>
          <p:cNvGrpSpPr/>
          <p:nvPr/>
        </p:nvGrpSpPr>
        <p:grpSpPr>
          <a:xfrm rot="0">
            <a:off x="5523869" y="6119256"/>
            <a:ext cx="157787" cy="156369"/>
            <a:chOff x="0" y="0"/>
            <a:chExt cx="320400" cy="317520"/>
          </a:xfrm>
        </p:grpSpPr>
        <p:sp>
          <p:nvSpPr>
            <p:cNvPr name="Freeform 15" id="15"/>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16" id="16"/>
          <p:cNvGrpSpPr/>
          <p:nvPr/>
        </p:nvGrpSpPr>
        <p:grpSpPr>
          <a:xfrm rot="0">
            <a:off x="4551261" y="6119256"/>
            <a:ext cx="1047779" cy="1124013"/>
            <a:chOff x="0" y="0"/>
            <a:chExt cx="2127600" cy="2282400"/>
          </a:xfrm>
        </p:grpSpPr>
        <p:sp>
          <p:nvSpPr>
            <p:cNvPr name="Freeform 17" id="17"/>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grpSp>
        <p:nvGrpSpPr>
          <p:cNvPr name="Group 18" id="18"/>
          <p:cNvGrpSpPr/>
          <p:nvPr/>
        </p:nvGrpSpPr>
        <p:grpSpPr>
          <a:xfrm rot="0">
            <a:off x="8993461" y="6275625"/>
            <a:ext cx="4391505" cy="3573491"/>
            <a:chOff x="0" y="0"/>
            <a:chExt cx="1156610" cy="941166"/>
          </a:xfrm>
        </p:grpSpPr>
        <p:sp>
          <p:nvSpPr>
            <p:cNvPr name="Freeform 19" id="19"/>
            <p:cNvSpPr/>
            <p:nvPr/>
          </p:nvSpPr>
          <p:spPr>
            <a:xfrm flipH="false" flipV="false" rot="0">
              <a:off x="0" y="0"/>
              <a:ext cx="1156610" cy="941166"/>
            </a:xfrm>
            <a:custGeom>
              <a:avLst/>
              <a:gdLst/>
              <a:ahLst/>
              <a:cxnLst/>
              <a:rect r="r" b="b" t="t" l="l"/>
              <a:pathLst>
                <a:path h="941166" w="1156610">
                  <a:moveTo>
                    <a:pt x="35259" y="0"/>
                  </a:moveTo>
                  <a:lnTo>
                    <a:pt x="1121352" y="0"/>
                  </a:lnTo>
                  <a:cubicBezTo>
                    <a:pt x="1140824" y="0"/>
                    <a:pt x="1156610" y="15786"/>
                    <a:pt x="1156610" y="35259"/>
                  </a:cubicBezTo>
                  <a:lnTo>
                    <a:pt x="1156610" y="905908"/>
                  </a:lnTo>
                  <a:cubicBezTo>
                    <a:pt x="1156610" y="915259"/>
                    <a:pt x="1152896" y="924227"/>
                    <a:pt x="1146283" y="930839"/>
                  </a:cubicBezTo>
                  <a:cubicBezTo>
                    <a:pt x="1139671" y="937452"/>
                    <a:pt x="1130703" y="941166"/>
                    <a:pt x="1121352" y="941166"/>
                  </a:cubicBezTo>
                  <a:lnTo>
                    <a:pt x="35259" y="941166"/>
                  </a:lnTo>
                  <a:cubicBezTo>
                    <a:pt x="25907" y="941166"/>
                    <a:pt x="16939" y="937452"/>
                    <a:pt x="10327" y="930839"/>
                  </a:cubicBezTo>
                  <a:cubicBezTo>
                    <a:pt x="3715" y="924227"/>
                    <a:pt x="0" y="915259"/>
                    <a:pt x="0" y="905908"/>
                  </a:cubicBezTo>
                  <a:lnTo>
                    <a:pt x="0" y="35259"/>
                  </a:lnTo>
                  <a:cubicBezTo>
                    <a:pt x="0" y="15786"/>
                    <a:pt x="15786" y="0"/>
                    <a:pt x="35259" y="0"/>
                  </a:cubicBezTo>
                  <a:close/>
                </a:path>
              </a:pathLst>
            </a:custGeom>
            <a:solidFill>
              <a:srgbClr val="FFFFFF"/>
            </a:solidFill>
            <a:ln w="38100" cap="sq">
              <a:solidFill>
                <a:srgbClr val="727070"/>
              </a:solidFill>
              <a:prstDash val="solid"/>
              <a:miter/>
            </a:ln>
          </p:spPr>
        </p:sp>
        <p:sp>
          <p:nvSpPr>
            <p:cNvPr name="TextBox 20" id="20"/>
            <p:cNvSpPr txBox="true"/>
            <p:nvPr/>
          </p:nvSpPr>
          <p:spPr>
            <a:xfrm>
              <a:off x="0" y="-19050"/>
              <a:ext cx="1156610" cy="960216"/>
            </a:xfrm>
            <a:prstGeom prst="rect">
              <a:avLst/>
            </a:prstGeom>
          </p:spPr>
          <p:txBody>
            <a:bodyPr anchor="ctr" rtlCol="false" tIns="50800" lIns="50800" bIns="50800" rIns="50800"/>
            <a:lstStyle/>
            <a:p>
              <a:pPr algn="ctr">
                <a:lnSpc>
                  <a:spcPts val="2859"/>
                </a:lnSpc>
              </a:pPr>
            </a:p>
          </p:txBody>
        </p:sp>
      </p:grpSp>
      <p:grpSp>
        <p:nvGrpSpPr>
          <p:cNvPr name="Group 21" id="21"/>
          <p:cNvGrpSpPr/>
          <p:nvPr/>
        </p:nvGrpSpPr>
        <p:grpSpPr>
          <a:xfrm rot="0">
            <a:off x="10208075" y="6119256"/>
            <a:ext cx="157787" cy="156369"/>
            <a:chOff x="0" y="0"/>
            <a:chExt cx="320400" cy="317520"/>
          </a:xfrm>
        </p:grpSpPr>
        <p:sp>
          <p:nvSpPr>
            <p:cNvPr name="Freeform 22" id="22"/>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23" id="23"/>
          <p:cNvGrpSpPr/>
          <p:nvPr/>
        </p:nvGrpSpPr>
        <p:grpSpPr>
          <a:xfrm rot="0">
            <a:off x="9235466" y="6119256"/>
            <a:ext cx="1047779" cy="1124013"/>
            <a:chOff x="0" y="0"/>
            <a:chExt cx="2127600" cy="2282400"/>
          </a:xfrm>
        </p:grpSpPr>
        <p:sp>
          <p:nvSpPr>
            <p:cNvPr name="Freeform 24" id="24"/>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sp>
        <p:nvSpPr>
          <p:cNvPr name="Freeform 25" id="25"/>
          <p:cNvSpPr/>
          <p:nvPr/>
        </p:nvSpPr>
        <p:spPr>
          <a:xfrm flipH="false" flipV="false" rot="0">
            <a:off x="-8060" y="3919454"/>
            <a:ext cx="4047293" cy="1911276"/>
          </a:xfrm>
          <a:custGeom>
            <a:avLst/>
            <a:gdLst/>
            <a:ahLst/>
            <a:cxnLst/>
            <a:rect r="r" b="b" t="t" l="l"/>
            <a:pathLst>
              <a:path h="1911276" w="4047293">
                <a:moveTo>
                  <a:pt x="0" y="0"/>
                </a:moveTo>
                <a:lnTo>
                  <a:pt x="4047293" y="0"/>
                </a:lnTo>
                <a:lnTo>
                  <a:pt x="4047293" y="1911276"/>
                </a:lnTo>
                <a:lnTo>
                  <a:pt x="0" y="1911276"/>
                </a:lnTo>
                <a:lnTo>
                  <a:pt x="0" y="0"/>
                </a:lnTo>
                <a:close/>
              </a:path>
            </a:pathLst>
          </a:custGeom>
          <a:blipFill>
            <a:blip r:embed="rId3"/>
            <a:stretch>
              <a:fillRect l="-7389" t="0" r="-7389" b="0"/>
            </a:stretch>
          </a:blipFill>
        </p:spPr>
      </p:sp>
      <p:sp>
        <p:nvSpPr>
          <p:cNvPr name="Freeform 26" id="26"/>
          <p:cNvSpPr/>
          <p:nvPr/>
        </p:nvSpPr>
        <p:spPr>
          <a:xfrm flipH="false" flipV="false" rot="0">
            <a:off x="4719135" y="3808976"/>
            <a:ext cx="3807558" cy="2132233"/>
          </a:xfrm>
          <a:custGeom>
            <a:avLst/>
            <a:gdLst/>
            <a:ahLst/>
            <a:cxnLst/>
            <a:rect r="r" b="b" t="t" l="l"/>
            <a:pathLst>
              <a:path h="2132233" w="3807558">
                <a:moveTo>
                  <a:pt x="0" y="0"/>
                </a:moveTo>
                <a:lnTo>
                  <a:pt x="3807558" y="0"/>
                </a:lnTo>
                <a:lnTo>
                  <a:pt x="3807558" y="2132232"/>
                </a:lnTo>
                <a:lnTo>
                  <a:pt x="0" y="2132232"/>
                </a:lnTo>
                <a:lnTo>
                  <a:pt x="0" y="0"/>
                </a:lnTo>
                <a:close/>
              </a:path>
            </a:pathLst>
          </a:custGeom>
          <a:blipFill>
            <a:blip r:embed="rId4"/>
            <a:stretch>
              <a:fillRect l="0" t="0" r="0" b="0"/>
            </a:stretch>
          </a:blipFill>
        </p:spPr>
      </p:sp>
      <p:sp>
        <p:nvSpPr>
          <p:cNvPr name="Freeform 27" id="27"/>
          <p:cNvSpPr/>
          <p:nvPr/>
        </p:nvSpPr>
        <p:spPr>
          <a:xfrm flipH="false" flipV="false" rot="0">
            <a:off x="9144000" y="3847666"/>
            <a:ext cx="3738469" cy="2093542"/>
          </a:xfrm>
          <a:custGeom>
            <a:avLst/>
            <a:gdLst/>
            <a:ahLst/>
            <a:cxnLst/>
            <a:rect r="r" b="b" t="t" l="l"/>
            <a:pathLst>
              <a:path h="2093542" w="3738469">
                <a:moveTo>
                  <a:pt x="0" y="0"/>
                </a:moveTo>
                <a:lnTo>
                  <a:pt x="3738469" y="0"/>
                </a:lnTo>
                <a:lnTo>
                  <a:pt x="3738469" y="2093542"/>
                </a:lnTo>
                <a:lnTo>
                  <a:pt x="0" y="2093542"/>
                </a:lnTo>
                <a:lnTo>
                  <a:pt x="0" y="0"/>
                </a:lnTo>
                <a:close/>
              </a:path>
            </a:pathLst>
          </a:custGeom>
          <a:blipFill>
            <a:blip r:embed="rId5"/>
            <a:stretch>
              <a:fillRect l="0" t="0" r="0" b="0"/>
            </a:stretch>
          </a:blipFill>
        </p:spPr>
      </p:sp>
      <p:sp>
        <p:nvSpPr>
          <p:cNvPr name="TextBox 28" id="28"/>
          <p:cNvSpPr txBox="true"/>
          <p:nvPr/>
        </p:nvSpPr>
        <p:spPr>
          <a:xfrm rot="0">
            <a:off x="1981480" y="130308"/>
            <a:ext cx="12964813" cy="898392"/>
          </a:xfrm>
          <a:prstGeom prst="rect">
            <a:avLst/>
          </a:prstGeom>
        </p:spPr>
        <p:txBody>
          <a:bodyPr anchor="t" rtlCol="false" tIns="0" lIns="0" bIns="0" rIns="0">
            <a:spAutoFit/>
          </a:bodyPr>
          <a:lstStyle/>
          <a:p>
            <a:pPr algn="ctr" marL="0" indent="0" lvl="0">
              <a:lnSpc>
                <a:spcPts val="7291"/>
              </a:lnSpc>
              <a:spcBef>
                <a:spcPct val="0"/>
              </a:spcBef>
            </a:pPr>
            <a:r>
              <a:rPr lang="en-US" sz="5283" spc="184">
                <a:solidFill>
                  <a:srgbClr val="010101"/>
                </a:solidFill>
                <a:latin typeface="Archivo Black"/>
                <a:ea typeface="Archivo Black"/>
                <a:cs typeface="Archivo Black"/>
                <a:sym typeface="Archivo Black"/>
              </a:rPr>
              <a:t>CAS D'UTILISATION COURANT :</a:t>
            </a:r>
            <a:r>
              <a:rPr lang="en-US" sz="5283" spc="184">
                <a:solidFill>
                  <a:srgbClr val="010101"/>
                </a:solidFill>
                <a:latin typeface="Archivo Black"/>
                <a:ea typeface="Archivo Black"/>
                <a:cs typeface="Archivo Black"/>
                <a:sym typeface="Archivo Black"/>
              </a:rPr>
              <a:t> </a:t>
            </a:r>
          </a:p>
        </p:txBody>
      </p:sp>
      <p:sp>
        <p:nvSpPr>
          <p:cNvPr name="TextBox 29" id="29"/>
          <p:cNvSpPr txBox="true"/>
          <p:nvPr/>
        </p:nvSpPr>
        <p:spPr>
          <a:xfrm rot="0">
            <a:off x="242006" y="7569462"/>
            <a:ext cx="3547162" cy="1521290"/>
          </a:xfrm>
          <a:prstGeom prst="rect">
            <a:avLst/>
          </a:prstGeom>
        </p:spPr>
        <p:txBody>
          <a:bodyPr anchor="t" rtlCol="false" tIns="0" lIns="0" bIns="0" rIns="0">
            <a:spAutoFit/>
          </a:bodyPr>
          <a:lstStyle/>
          <a:p>
            <a:pPr algn="l">
              <a:lnSpc>
                <a:spcPts val="2463"/>
              </a:lnSpc>
            </a:pPr>
            <a:r>
              <a:rPr lang="en-US" sz="1785" spc="174">
                <a:solidFill>
                  <a:srgbClr val="000000"/>
                </a:solidFill>
                <a:latin typeface="Montserrat Light"/>
                <a:ea typeface="Montserrat Light"/>
                <a:cs typeface="Montserrat Light"/>
                <a:sym typeface="Montserrat Light"/>
              </a:rPr>
              <a:t>Pour améliorer les campagnes publicitaires, cibler les bonnes audiences, et analyser les avis clients.</a:t>
            </a:r>
          </a:p>
        </p:txBody>
      </p:sp>
      <p:sp>
        <p:nvSpPr>
          <p:cNvPr name="TextBox 30" id="30"/>
          <p:cNvSpPr txBox="true"/>
          <p:nvPr/>
        </p:nvSpPr>
        <p:spPr>
          <a:xfrm rot="0">
            <a:off x="5781301" y="6499249"/>
            <a:ext cx="2745392" cy="358174"/>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Santé :</a:t>
            </a:r>
          </a:p>
        </p:txBody>
      </p:sp>
      <p:sp>
        <p:nvSpPr>
          <p:cNvPr name="TextBox 31" id="31"/>
          <p:cNvSpPr txBox="true"/>
          <p:nvPr/>
        </p:nvSpPr>
        <p:spPr>
          <a:xfrm rot="0">
            <a:off x="4798809" y="7544212"/>
            <a:ext cx="3901950" cy="1826090"/>
          </a:xfrm>
          <a:prstGeom prst="rect">
            <a:avLst/>
          </a:prstGeom>
        </p:spPr>
        <p:txBody>
          <a:bodyPr anchor="t" rtlCol="false" tIns="0" lIns="0" bIns="0" rIns="0">
            <a:spAutoFit/>
          </a:bodyPr>
          <a:lstStyle/>
          <a:p>
            <a:pPr algn="l">
              <a:lnSpc>
                <a:spcPts val="2463"/>
              </a:lnSpc>
            </a:pPr>
            <a:r>
              <a:rPr lang="en-US" sz="1785" spc="174">
                <a:solidFill>
                  <a:srgbClr val="000000"/>
                </a:solidFill>
                <a:latin typeface="Montserrat Light"/>
                <a:ea typeface="Montserrat Light"/>
                <a:cs typeface="Montserrat Light"/>
                <a:sym typeface="Montserrat Light"/>
              </a:rPr>
              <a:t>Dans le suivi de l'expérience patient et pour identifier des signes précoces de troubles mentaux en analysant les expressions verbales et écrites.</a:t>
            </a:r>
          </a:p>
        </p:txBody>
      </p:sp>
      <p:sp>
        <p:nvSpPr>
          <p:cNvPr name="TextBox 32" id="32"/>
          <p:cNvSpPr txBox="true"/>
          <p:nvPr/>
        </p:nvSpPr>
        <p:spPr>
          <a:xfrm rot="0">
            <a:off x="10465507" y="6499249"/>
            <a:ext cx="2745392" cy="358174"/>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Finances : </a:t>
            </a:r>
          </a:p>
        </p:txBody>
      </p:sp>
      <p:sp>
        <p:nvSpPr>
          <p:cNvPr name="TextBox 33" id="33"/>
          <p:cNvSpPr txBox="true"/>
          <p:nvPr/>
        </p:nvSpPr>
        <p:spPr>
          <a:xfrm rot="0">
            <a:off x="9361460" y="7529556"/>
            <a:ext cx="3738857" cy="1561196"/>
          </a:xfrm>
          <a:prstGeom prst="rect">
            <a:avLst/>
          </a:prstGeom>
        </p:spPr>
        <p:txBody>
          <a:bodyPr anchor="t" rtlCol="false" tIns="0" lIns="0" bIns="0" rIns="0">
            <a:spAutoFit/>
          </a:bodyPr>
          <a:lstStyle/>
          <a:p>
            <a:pPr algn="l">
              <a:lnSpc>
                <a:spcPts val="2529"/>
              </a:lnSpc>
            </a:pPr>
            <a:r>
              <a:rPr lang="en-US" sz="1833" spc="179">
                <a:solidFill>
                  <a:srgbClr val="000000"/>
                </a:solidFill>
                <a:latin typeface="Montserrat Light"/>
                <a:ea typeface="Montserrat Light"/>
                <a:cs typeface="Montserrat Light"/>
                <a:sym typeface="Montserrat Light"/>
              </a:rPr>
              <a:t>En analysant les tendances et prévisions économiques basées sur les sentiments du marché et des investisseurs.</a:t>
            </a:r>
          </a:p>
        </p:txBody>
      </p:sp>
      <p:sp>
        <p:nvSpPr>
          <p:cNvPr name="TextBox 34" id="34"/>
          <p:cNvSpPr txBox="true"/>
          <p:nvPr/>
        </p:nvSpPr>
        <p:spPr>
          <a:xfrm rot="0">
            <a:off x="17785055" y="9801491"/>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0" y="6244274"/>
            <a:ext cx="4194955" cy="3573491"/>
            <a:chOff x="0" y="0"/>
            <a:chExt cx="1104844" cy="941166"/>
          </a:xfrm>
        </p:grpSpPr>
        <p:sp>
          <p:nvSpPr>
            <p:cNvPr name="Freeform 4" id="4"/>
            <p:cNvSpPr/>
            <p:nvPr/>
          </p:nvSpPr>
          <p:spPr>
            <a:xfrm flipH="false" flipV="false" rot="0">
              <a:off x="0" y="0"/>
              <a:ext cx="1104844" cy="941166"/>
            </a:xfrm>
            <a:custGeom>
              <a:avLst/>
              <a:gdLst/>
              <a:ahLst/>
              <a:cxnLst/>
              <a:rect r="r" b="b" t="t" l="l"/>
              <a:pathLst>
                <a:path h="941166" w="1104844">
                  <a:moveTo>
                    <a:pt x="36911" y="0"/>
                  </a:moveTo>
                  <a:lnTo>
                    <a:pt x="1067933" y="0"/>
                  </a:lnTo>
                  <a:cubicBezTo>
                    <a:pt x="1088319" y="0"/>
                    <a:pt x="1104844" y="16525"/>
                    <a:pt x="1104844" y="36911"/>
                  </a:cubicBezTo>
                  <a:lnTo>
                    <a:pt x="1104844" y="904256"/>
                  </a:lnTo>
                  <a:cubicBezTo>
                    <a:pt x="1104844" y="924641"/>
                    <a:pt x="1088319" y="941166"/>
                    <a:pt x="1067933" y="941166"/>
                  </a:cubicBezTo>
                  <a:lnTo>
                    <a:pt x="36911" y="941166"/>
                  </a:lnTo>
                  <a:cubicBezTo>
                    <a:pt x="16525" y="941166"/>
                    <a:pt x="0" y="924641"/>
                    <a:pt x="0" y="904256"/>
                  </a:cubicBezTo>
                  <a:lnTo>
                    <a:pt x="0" y="36911"/>
                  </a:lnTo>
                  <a:cubicBezTo>
                    <a:pt x="0" y="16525"/>
                    <a:pt x="16525" y="0"/>
                    <a:pt x="36911" y="0"/>
                  </a:cubicBezTo>
                  <a:close/>
                </a:path>
              </a:pathLst>
            </a:custGeom>
            <a:solidFill>
              <a:srgbClr val="FFFFFF"/>
            </a:solidFill>
            <a:ln w="38100" cap="sq">
              <a:solidFill>
                <a:srgbClr val="727070"/>
              </a:solidFill>
              <a:prstDash val="solid"/>
              <a:miter/>
            </a:ln>
          </p:spPr>
        </p:sp>
        <p:sp>
          <p:nvSpPr>
            <p:cNvPr name="TextBox 5" id="5"/>
            <p:cNvSpPr txBox="true"/>
            <p:nvPr/>
          </p:nvSpPr>
          <p:spPr>
            <a:xfrm>
              <a:off x="0" y="-19050"/>
              <a:ext cx="1104844" cy="960216"/>
            </a:xfrm>
            <a:prstGeom prst="rect">
              <a:avLst/>
            </a:prstGeom>
          </p:spPr>
          <p:txBody>
            <a:bodyPr anchor="ctr" rtlCol="false" tIns="50800" lIns="50800" bIns="50800" rIns="50800"/>
            <a:lstStyle/>
            <a:p>
              <a:pPr algn="ctr">
                <a:lnSpc>
                  <a:spcPts val="2859"/>
                </a:lnSpc>
              </a:pPr>
            </a:p>
          </p:txBody>
        </p:sp>
      </p:grpSp>
      <p:grpSp>
        <p:nvGrpSpPr>
          <p:cNvPr name="Group 6" id="6"/>
          <p:cNvGrpSpPr/>
          <p:nvPr/>
        </p:nvGrpSpPr>
        <p:grpSpPr>
          <a:xfrm rot="0">
            <a:off x="1214614" y="6087905"/>
            <a:ext cx="157787" cy="156369"/>
            <a:chOff x="0" y="0"/>
            <a:chExt cx="320400" cy="317520"/>
          </a:xfrm>
        </p:grpSpPr>
        <p:sp>
          <p:nvSpPr>
            <p:cNvPr name="Freeform 7" id="7"/>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8" id="8"/>
          <p:cNvGrpSpPr/>
          <p:nvPr/>
        </p:nvGrpSpPr>
        <p:grpSpPr>
          <a:xfrm rot="0">
            <a:off x="242006" y="6087905"/>
            <a:ext cx="1047779" cy="1124013"/>
            <a:chOff x="0" y="0"/>
            <a:chExt cx="2127600" cy="2282400"/>
          </a:xfrm>
        </p:grpSpPr>
        <p:sp>
          <p:nvSpPr>
            <p:cNvPr name="Freeform 9" id="9"/>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sp>
        <p:nvSpPr>
          <p:cNvPr name="TextBox 10" id="10"/>
          <p:cNvSpPr txBox="true"/>
          <p:nvPr/>
        </p:nvSpPr>
        <p:spPr>
          <a:xfrm rot="0">
            <a:off x="1472046" y="6467898"/>
            <a:ext cx="3122959" cy="731477"/>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Commerce et marketing :</a:t>
            </a:r>
          </a:p>
        </p:txBody>
      </p:sp>
      <p:grpSp>
        <p:nvGrpSpPr>
          <p:cNvPr name="Group 11" id="11"/>
          <p:cNvGrpSpPr/>
          <p:nvPr/>
        </p:nvGrpSpPr>
        <p:grpSpPr>
          <a:xfrm rot="0">
            <a:off x="4309255" y="6275625"/>
            <a:ext cx="4528330" cy="3573491"/>
            <a:chOff x="0" y="0"/>
            <a:chExt cx="1192647" cy="941166"/>
          </a:xfrm>
        </p:grpSpPr>
        <p:sp>
          <p:nvSpPr>
            <p:cNvPr name="Freeform 12" id="12"/>
            <p:cNvSpPr/>
            <p:nvPr/>
          </p:nvSpPr>
          <p:spPr>
            <a:xfrm flipH="false" flipV="false" rot="0">
              <a:off x="0" y="0"/>
              <a:ext cx="1192647" cy="941166"/>
            </a:xfrm>
            <a:custGeom>
              <a:avLst/>
              <a:gdLst/>
              <a:ahLst/>
              <a:cxnLst/>
              <a:rect r="r" b="b" t="t" l="l"/>
              <a:pathLst>
                <a:path h="941166" w="1192647">
                  <a:moveTo>
                    <a:pt x="34193" y="0"/>
                  </a:moveTo>
                  <a:lnTo>
                    <a:pt x="1158453" y="0"/>
                  </a:lnTo>
                  <a:cubicBezTo>
                    <a:pt x="1177338" y="0"/>
                    <a:pt x="1192647" y="15309"/>
                    <a:pt x="1192647" y="34193"/>
                  </a:cubicBezTo>
                  <a:lnTo>
                    <a:pt x="1192647" y="906973"/>
                  </a:lnTo>
                  <a:cubicBezTo>
                    <a:pt x="1192647" y="925858"/>
                    <a:pt x="1177338" y="941166"/>
                    <a:pt x="1158453" y="941166"/>
                  </a:cubicBezTo>
                  <a:lnTo>
                    <a:pt x="34193" y="941166"/>
                  </a:lnTo>
                  <a:cubicBezTo>
                    <a:pt x="15309" y="941166"/>
                    <a:pt x="0" y="925858"/>
                    <a:pt x="0" y="906973"/>
                  </a:cubicBezTo>
                  <a:lnTo>
                    <a:pt x="0" y="34193"/>
                  </a:lnTo>
                  <a:cubicBezTo>
                    <a:pt x="0" y="15309"/>
                    <a:pt x="15309" y="0"/>
                    <a:pt x="34193" y="0"/>
                  </a:cubicBezTo>
                  <a:close/>
                </a:path>
              </a:pathLst>
            </a:custGeom>
            <a:solidFill>
              <a:srgbClr val="FFFFFF"/>
            </a:solidFill>
            <a:ln w="38100" cap="sq">
              <a:solidFill>
                <a:srgbClr val="727070"/>
              </a:solidFill>
              <a:prstDash val="solid"/>
              <a:miter/>
            </a:ln>
          </p:spPr>
        </p:sp>
        <p:sp>
          <p:nvSpPr>
            <p:cNvPr name="TextBox 13" id="13"/>
            <p:cNvSpPr txBox="true"/>
            <p:nvPr/>
          </p:nvSpPr>
          <p:spPr>
            <a:xfrm>
              <a:off x="0" y="-19050"/>
              <a:ext cx="1192647" cy="960216"/>
            </a:xfrm>
            <a:prstGeom prst="rect">
              <a:avLst/>
            </a:prstGeom>
          </p:spPr>
          <p:txBody>
            <a:bodyPr anchor="ctr" rtlCol="false" tIns="50800" lIns="50800" bIns="50800" rIns="50800"/>
            <a:lstStyle/>
            <a:p>
              <a:pPr algn="ctr">
                <a:lnSpc>
                  <a:spcPts val="2859"/>
                </a:lnSpc>
              </a:pPr>
            </a:p>
          </p:txBody>
        </p:sp>
      </p:grpSp>
      <p:grpSp>
        <p:nvGrpSpPr>
          <p:cNvPr name="Group 14" id="14"/>
          <p:cNvGrpSpPr/>
          <p:nvPr/>
        </p:nvGrpSpPr>
        <p:grpSpPr>
          <a:xfrm rot="0">
            <a:off x="5523869" y="6119256"/>
            <a:ext cx="157787" cy="156369"/>
            <a:chOff x="0" y="0"/>
            <a:chExt cx="320400" cy="317520"/>
          </a:xfrm>
        </p:grpSpPr>
        <p:sp>
          <p:nvSpPr>
            <p:cNvPr name="Freeform 15" id="15"/>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16" id="16"/>
          <p:cNvGrpSpPr/>
          <p:nvPr/>
        </p:nvGrpSpPr>
        <p:grpSpPr>
          <a:xfrm rot="0">
            <a:off x="4551261" y="6119256"/>
            <a:ext cx="1047779" cy="1124013"/>
            <a:chOff x="0" y="0"/>
            <a:chExt cx="2127600" cy="2282400"/>
          </a:xfrm>
        </p:grpSpPr>
        <p:sp>
          <p:nvSpPr>
            <p:cNvPr name="Freeform 17" id="17"/>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grpSp>
        <p:nvGrpSpPr>
          <p:cNvPr name="Group 18" id="18"/>
          <p:cNvGrpSpPr/>
          <p:nvPr/>
        </p:nvGrpSpPr>
        <p:grpSpPr>
          <a:xfrm rot="0">
            <a:off x="8993461" y="6275625"/>
            <a:ext cx="4391505" cy="3573491"/>
            <a:chOff x="0" y="0"/>
            <a:chExt cx="1156610" cy="941166"/>
          </a:xfrm>
        </p:grpSpPr>
        <p:sp>
          <p:nvSpPr>
            <p:cNvPr name="Freeform 19" id="19"/>
            <p:cNvSpPr/>
            <p:nvPr/>
          </p:nvSpPr>
          <p:spPr>
            <a:xfrm flipH="false" flipV="false" rot="0">
              <a:off x="0" y="0"/>
              <a:ext cx="1156610" cy="941166"/>
            </a:xfrm>
            <a:custGeom>
              <a:avLst/>
              <a:gdLst/>
              <a:ahLst/>
              <a:cxnLst/>
              <a:rect r="r" b="b" t="t" l="l"/>
              <a:pathLst>
                <a:path h="941166" w="1156610">
                  <a:moveTo>
                    <a:pt x="35259" y="0"/>
                  </a:moveTo>
                  <a:lnTo>
                    <a:pt x="1121352" y="0"/>
                  </a:lnTo>
                  <a:cubicBezTo>
                    <a:pt x="1140824" y="0"/>
                    <a:pt x="1156610" y="15786"/>
                    <a:pt x="1156610" y="35259"/>
                  </a:cubicBezTo>
                  <a:lnTo>
                    <a:pt x="1156610" y="905908"/>
                  </a:lnTo>
                  <a:cubicBezTo>
                    <a:pt x="1156610" y="915259"/>
                    <a:pt x="1152896" y="924227"/>
                    <a:pt x="1146283" y="930839"/>
                  </a:cubicBezTo>
                  <a:cubicBezTo>
                    <a:pt x="1139671" y="937452"/>
                    <a:pt x="1130703" y="941166"/>
                    <a:pt x="1121352" y="941166"/>
                  </a:cubicBezTo>
                  <a:lnTo>
                    <a:pt x="35259" y="941166"/>
                  </a:lnTo>
                  <a:cubicBezTo>
                    <a:pt x="25907" y="941166"/>
                    <a:pt x="16939" y="937452"/>
                    <a:pt x="10327" y="930839"/>
                  </a:cubicBezTo>
                  <a:cubicBezTo>
                    <a:pt x="3715" y="924227"/>
                    <a:pt x="0" y="915259"/>
                    <a:pt x="0" y="905908"/>
                  </a:cubicBezTo>
                  <a:lnTo>
                    <a:pt x="0" y="35259"/>
                  </a:lnTo>
                  <a:cubicBezTo>
                    <a:pt x="0" y="15786"/>
                    <a:pt x="15786" y="0"/>
                    <a:pt x="35259" y="0"/>
                  </a:cubicBezTo>
                  <a:close/>
                </a:path>
              </a:pathLst>
            </a:custGeom>
            <a:solidFill>
              <a:srgbClr val="FFFFFF"/>
            </a:solidFill>
            <a:ln w="38100" cap="sq">
              <a:solidFill>
                <a:srgbClr val="727070"/>
              </a:solidFill>
              <a:prstDash val="solid"/>
              <a:miter/>
            </a:ln>
          </p:spPr>
        </p:sp>
        <p:sp>
          <p:nvSpPr>
            <p:cNvPr name="TextBox 20" id="20"/>
            <p:cNvSpPr txBox="true"/>
            <p:nvPr/>
          </p:nvSpPr>
          <p:spPr>
            <a:xfrm>
              <a:off x="0" y="-19050"/>
              <a:ext cx="1156610" cy="960216"/>
            </a:xfrm>
            <a:prstGeom prst="rect">
              <a:avLst/>
            </a:prstGeom>
          </p:spPr>
          <p:txBody>
            <a:bodyPr anchor="ctr" rtlCol="false" tIns="50800" lIns="50800" bIns="50800" rIns="50800"/>
            <a:lstStyle/>
            <a:p>
              <a:pPr algn="ctr">
                <a:lnSpc>
                  <a:spcPts val="2859"/>
                </a:lnSpc>
              </a:pPr>
            </a:p>
          </p:txBody>
        </p:sp>
      </p:grpSp>
      <p:grpSp>
        <p:nvGrpSpPr>
          <p:cNvPr name="Group 21" id="21"/>
          <p:cNvGrpSpPr/>
          <p:nvPr/>
        </p:nvGrpSpPr>
        <p:grpSpPr>
          <a:xfrm rot="0">
            <a:off x="10208075" y="6119256"/>
            <a:ext cx="157787" cy="156369"/>
            <a:chOff x="0" y="0"/>
            <a:chExt cx="320400" cy="317520"/>
          </a:xfrm>
        </p:grpSpPr>
        <p:sp>
          <p:nvSpPr>
            <p:cNvPr name="Freeform 22" id="22"/>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23" id="23"/>
          <p:cNvGrpSpPr/>
          <p:nvPr/>
        </p:nvGrpSpPr>
        <p:grpSpPr>
          <a:xfrm rot="0">
            <a:off x="9235466" y="6119256"/>
            <a:ext cx="1047779" cy="1124013"/>
            <a:chOff x="0" y="0"/>
            <a:chExt cx="2127600" cy="2282400"/>
          </a:xfrm>
        </p:grpSpPr>
        <p:sp>
          <p:nvSpPr>
            <p:cNvPr name="Freeform 24" id="24"/>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grpSp>
        <p:nvGrpSpPr>
          <p:cNvPr name="Group 25" id="25"/>
          <p:cNvGrpSpPr/>
          <p:nvPr/>
        </p:nvGrpSpPr>
        <p:grpSpPr>
          <a:xfrm rot="0">
            <a:off x="13584990" y="6275625"/>
            <a:ext cx="4217438" cy="3573491"/>
            <a:chOff x="0" y="0"/>
            <a:chExt cx="1110766" cy="941166"/>
          </a:xfrm>
        </p:grpSpPr>
        <p:sp>
          <p:nvSpPr>
            <p:cNvPr name="Freeform 26" id="26"/>
            <p:cNvSpPr/>
            <p:nvPr/>
          </p:nvSpPr>
          <p:spPr>
            <a:xfrm flipH="false" flipV="false" rot="0">
              <a:off x="0" y="0"/>
              <a:ext cx="1110766" cy="941166"/>
            </a:xfrm>
            <a:custGeom>
              <a:avLst/>
              <a:gdLst/>
              <a:ahLst/>
              <a:cxnLst/>
              <a:rect r="r" b="b" t="t" l="l"/>
              <a:pathLst>
                <a:path h="941166" w="1110766">
                  <a:moveTo>
                    <a:pt x="36714" y="0"/>
                  </a:moveTo>
                  <a:lnTo>
                    <a:pt x="1074052" y="0"/>
                  </a:lnTo>
                  <a:cubicBezTo>
                    <a:pt x="1083789" y="0"/>
                    <a:pt x="1093127" y="3868"/>
                    <a:pt x="1100012" y="10753"/>
                  </a:cubicBezTo>
                  <a:cubicBezTo>
                    <a:pt x="1106897" y="17638"/>
                    <a:pt x="1110766" y="26977"/>
                    <a:pt x="1110766" y="36714"/>
                  </a:cubicBezTo>
                  <a:lnTo>
                    <a:pt x="1110766" y="904453"/>
                  </a:lnTo>
                  <a:cubicBezTo>
                    <a:pt x="1110766" y="924729"/>
                    <a:pt x="1094328" y="941166"/>
                    <a:pt x="1074052" y="941166"/>
                  </a:cubicBezTo>
                  <a:lnTo>
                    <a:pt x="36714" y="941166"/>
                  </a:lnTo>
                  <a:cubicBezTo>
                    <a:pt x="26977" y="941166"/>
                    <a:pt x="17638" y="937298"/>
                    <a:pt x="10753" y="930413"/>
                  </a:cubicBezTo>
                  <a:cubicBezTo>
                    <a:pt x="3868" y="923528"/>
                    <a:pt x="0" y="914190"/>
                    <a:pt x="0" y="904453"/>
                  </a:cubicBezTo>
                  <a:lnTo>
                    <a:pt x="0" y="36714"/>
                  </a:lnTo>
                  <a:cubicBezTo>
                    <a:pt x="0" y="26977"/>
                    <a:pt x="3868" y="17638"/>
                    <a:pt x="10753" y="10753"/>
                  </a:cubicBezTo>
                  <a:cubicBezTo>
                    <a:pt x="17638" y="3868"/>
                    <a:pt x="26977" y="0"/>
                    <a:pt x="36714" y="0"/>
                  </a:cubicBezTo>
                  <a:close/>
                </a:path>
              </a:pathLst>
            </a:custGeom>
            <a:solidFill>
              <a:srgbClr val="FFFFFF"/>
            </a:solidFill>
            <a:ln w="38100" cap="sq">
              <a:solidFill>
                <a:srgbClr val="727070"/>
              </a:solidFill>
              <a:prstDash val="solid"/>
              <a:miter/>
            </a:ln>
          </p:spPr>
        </p:sp>
        <p:sp>
          <p:nvSpPr>
            <p:cNvPr name="TextBox 27" id="27"/>
            <p:cNvSpPr txBox="true"/>
            <p:nvPr/>
          </p:nvSpPr>
          <p:spPr>
            <a:xfrm>
              <a:off x="0" y="-19050"/>
              <a:ext cx="1110766" cy="960216"/>
            </a:xfrm>
            <a:prstGeom prst="rect">
              <a:avLst/>
            </a:prstGeom>
          </p:spPr>
          <p:txBody>
            <a:bodyPr anchor="ctr" rtlCol="false" tIns="50800" lIns="50800" bIns="50800" rIns="50800"/>
            <a:lstStyle/>
            <a:p>
              <a:pPr algn="ctr">
                <a:lnSpc>
                  <a:spcPts val="2859"/>
                </a:lnSpc>
              </a:pPr>
            </a:p>
          </p:txBody>
        </p:sp>
      </p:grpSp>
      <p:grpSp>
        <p:nvGrpSpPr>
          <p:cNvPr name="Group 28" id="28"/>
          <p:cNvGrpSpPr/>
          <p:nvPr/>
        </p:nvGrpSpPr>
        <p:grpSpPr>
          <a:xfrm rot="0">
            <a:off x="14799604" y="6119256"/>
            <a:ext cx="157787" cy="156369"/>
            <a:chOff x="0" y="0"/>
            <a:chExt cx="320400" cy="317520"/>
          </a:xfrm>
        </p:grpSpPr>
        <p:sp>
          <p:nvSpPr>
            <p:cNvPr name="Freeform 29" id="29"/>
            <p:cNvSpPr/>
            <p:nvPr/>
          </p:nvSpPr>
          <p:spPr>
            <a:xfrm flipH="false" flipV="false" rot="0">
              <a:off x="0" y="0"/>
              <a:ext cx="320421" cy="329184"/>
            </a:xfrm>
            <a:custGeom>
              <a:avLst/>
              <a:gdLst/>
              <a:ahLst/>
              <a:cxnLst/>
              <a:rect r="r" b="b" t="t" l="l"/>
              <a:pathLst>
                <a:path h="329184" w="320421">
                  <a:moveTo>
                    <a:pt x="320421" y="329184"/>
                  </a:moveTo>
                  <a:lnTo>
                    <a:pt x="0" y="329184"/>
                  </a:lnTo>
                  <a:lnTo>
                    <a:pt x="0" y="158750"/>
                  </a:lnTo>
                  <a:cubicBezTo>
                    <a:pt x="0" y="70866"/>
                    <a:pt x="71501" y="0"/>
                    <a:pt x="160147" y="0"/>
                  </a:cubicBezTo>
                  <a:cubicBezTo>
                    <a:pt x="248793" y="0"/>
                    <a:pt x="320421" y="70866"/>
                    <a:pt x="320421" y="158750"/>
                  </a:cubicBezTo>
                  <a:lnTo>
                    <a:pt x="320421" y="329184"/>
                  </a:lnTo>
                  <a:close/>
                </a:path>
              </a:pathLst>
            </a:custGeom>
            <a:solidFill>
              <a:srgbClr val="040506"/>
            </a:solidFill>
          </p:spPr>
        </p:sp>
      </p:grpSp>
      <p:grpSp>
        <p:nvGrpSpPr>
          <p:cNvPr name="Group 30" id="30"/>
          <p:cNvGrpSpPr/>
          <p:nvPr/>
        </p:nvGrpSpPr>
        <p:grpSpPr>
          <a:xfrm rot="0">
            <a:off x="13826996" y="6119256"/>
            <a:ext cx="1047779" cy="1124013"/>
            <a:chOff x="0" y="0"/>
            <a:chExt cx="2127600" cy="2282400"/>
          </a:xfrm>
        </p:grpSpPr>
        <p:sp>
          <p:nvSpPr>
            <p:cNvPr name="Freeform 31" id="31"/>
            <p:cNvSpPr/>
            <p:nvPr/>
          </p:nvSpPr>
          <p:spPr>
            <a:xfrm flipH="false" flipV="false" rot="0">
              <a:off x="0" y="0"/>
              <a:ext cx="2136648" cy="2334387"/>
            </a:xfrm>
            <a:custGeom>
              <a:avLst/>
              <a:gdLst/>
              <a:ahLst/>
              <a:cxnLst/>
              <a:rect r="r" b="b" t="t" l="l"/>
              <a:pathLst>
                <a:path h="2334387" w="2136648">
                  <a:moveTo>
                    <a:pt x="1983994" y="0"/>
                  </a:moveTo>
                  <a:lnTo>
                    <a:pt x="144145" y="0"/>
                  </a:lnTo>
                  <a:cubicBezTo>
                    <a:pt x="64389" y="0"/>
                    <a:pt x="0" y="64262"/>
                    <a:pt x="0" y="143891"/>
                  </a:cubicBezTo>
                  <a:lnTo>
                    <a:pt x="0" y="2334387"/>
                  </a:lnTo>
                  <a:lnTo>
                    <a:pt x="991997" y="1949577"/>
                  </a:lnTo>
                  <a:lnTo>
                    <a:pt x="1983994" y="2334387"/>
                  </a:lnTo>
                  <a:lnTo>
                    <a:pt x="1983994" y="152400"/>
                  </a:lnTo>
                  <a:cubicBezTo>
                    <a:pt x="1983994" y="67945"/>
                    <a:pt x="2052574" y="0"/>
                    <a:pt x="2136648" y="0"/>
                  </a:cubicBezTo>
                  <a:lnTo>
                    <a:pt x="1983994" y="0"/>
                  </a:lnTo>
                  <a:close/>
                </a:path>
              </a:pathLst>
            </a:custGeom>
            <a:solidFill>
              <a:srgbClr val="727070"/>
            </a:solidFill>
          </p:spPr>
        </p:sp>
      </p:grpSp>
      <p:sp>
        <p:nvSpPr>
          <p:cNvPr name="Freeform 32" id="32"/>
          <p:cNvSpPr/>
          <p:nvPr/>
        </p:nvSpPr>
        <p:spPr>
          <a:xfrm flipH="false" flipV="false" rot="0">
            <a:off x="-8060" y="3919454"/>
            <a:ext cx="4047293" cy="1911276"/>
          </a:xfrm>
          <a:custGeom>
            <a:avLst/>
            <a:gdLst/>
            <a:ahLst/>
            <a:cxnLst/>
            <a:rect r="r" b="b" t="t" l="l"/>
            <a:pathLst>
              <a:path h="1911276" w="4047293">
                <a:moveTo>
                  <a:pt x="0" y="0"/>
                </a:moveTo>
                <a:lnTo>
                  <a:pt x="4047293" y="0"/>
                </a:lnTo>
                <a:lnTo>
                  <a:pt x="4047293" y="1911276"/>
                </a:lnTo>
                <a:lnTo>
                  <a:pt x="0" y="1911276"/>
                </a:lnTo>
                <a:lnTo>
                  <a:pt x="0" y="0"/>
                </a:lnTo>
                <a:close/>
              </a:path>
            </a:pathLst>
          </a:custGeom>
          <a:blipFill>
            <a:blip r:embed="rId3"/>
            <a:stretch>
              <a:fillRect l="-7389" t="0" r="-7389" b="0"/>
            </a:stretch>
          </a:blipFill>
        </p:spPr>
      </p:sp>
      <p:sp>
        <p:nvSpPr>
          <p:cNvPr name="Freeform 33" id="33"/>
          <p:cNvSpPr/>
          <p:nvPr/>
        </p:nvSpPr>
        <p:spPr>
          <a:xfrm flipH="false" flipV="false" rot="0">
            <a:off x="4719135" y="3808976"/>
            <a:ext cx="3807558" cy="2132233"/>
          </a:xfrm>
          <a:custGeom>
            <a:avLst/>
            <a:gdLst/>
            <a:ahLst/>
            <a:cxnLst/>
            <a:rect r="r" b="b" t="t" l="l"/>
            <a:pathLst>
              <a:path h="2132233" w="3807558">
                <a:moveTo>
                  <a:pt x="0" y="0"/>
                </a:moveTo>
                <a:lnTo>
                  <a:pt x="3807558" y="0"/>
                </a:lnTo>
                <a:lnTo>
                  <a:pt x="3807558" y="2132232"/>
                </a:lnTo>
                <a:lnTo>
                  <a:pt x="0" y="2132232"/>
                </a:lnTo>
                <a:lnTo>
                  <a:pt x="0" y="0"/>
                </a:lnTo>
                <a:close/>
              </a:path>
            </a:pathLst>
          </a:custGeom>
          <a:blipFill>
            <a:blip r:embed="rId4"/>
            <a:stretch>
              <a:fillRect l="0" t="0" r="0" b="0"/>
            </a:stretch>
          </a:blipFill>
        </p:spPr>
      </p:sp>
      <p:sp>
        <p:nvSpPr>
          <p:cNvPr name="Freeform 34" id="34"/>
          <p:cNvSpPr/>
          <p:nvPr/>
        </p:nvSpPr>
        <p:spPr>
          <a:xfrm flipH="false" flipV="false" rot="0">
            <a:off x="9144000" y="3847666"/>
            <a:ext cx="3738469" cy="2093542"/>
          </a:xfrm>
          <a:custGeom>
            <a:avLst/>
            <a:gdLst/>
            <a:ahLst/>
            <a:cxnLst/>
            <a:rect r="r" b="b" t="t" l="l"/>
            <a:pathLst>
              <a:path h="2093542" w="3738469">
                <a:moveTo>
                  <a:pt x="0" y="0"/>
                </a:moveTo>
                <a:lnTo>
                  <a:pt x="3738469" y="0"/>
                </a:lnTo>
                <a:lnTo>
                  <a:pt x="3738469" y="2093542"/>
                </a:lnTo>
                <a:lnTo>
                  <a:pt x="0" y="2093542"/>
                </a:lnTo>
                <a:lnTo>
                  <a:pt x="0" y="0"/>
                </a:lnTo>
                <a:close/>
              </a:path>
            </a:pathLst>
          </a:custGeom>
          <a:blipFill>
            <a:blip r:embed="rId5"/>
            <a:stretch>
              <a:fillRect l="0" t="0" r="0" b="0"/>
            </a:stretch>
          </a:blipFill>
        </p:spPr>
      </p:sp>
      <p:sp>
        <p:nvSpPr>
          <p:cNvPr name="Freeform 35" id="35"/>
          <p:cNvSpPr/>
          <p:nvPr/>
        </p:nvSpPr>
        <p:spPr>
          <a:xfrm flipH="false" flipV="false" rot="0">
            <a:off x="13560064" y="3728436"/>
            <a:ext cx="3981540" cy="1990770"/>
          </a:xfrm>
          <a:custGeom>
            <a:avLst/>
            <a:gdLst/>
            <a:ahLst/>
            <a:cxnLst/>
            <a:rect r="r" b="b" t="t" l="l"/>
            <a:pathLst>
              <a:path h="1990770" w="3981540">
                <a:moveTo>
                  <a:pt x="0" y="0"/>
                </a:moveTo>
                <a:lnTo>
                  <a:pt x="3981540" y="0"/>
                </a:lnTo>
                <a:lnTo>
                  <a:pt x="3981540" y="1990770"/>
                </a:lnTo>
                <a:lnTo>
                  <a:pt x="0" y="1990770"/>
                </a:lnTo>
                <a:lnTo>
                  <a:pt x="0" y="0"/>
                </a:lnTo>
                <a:close/>
              </a:path>
            </a:pathLst>
          </a:custGeom>
          <a:blipFill>
            <a:blip r:embed="rId6"/>
            <a:stretch>
              <a:fillRect l="0" t="0" r="0" b="0"/>
            </a:stretch>
          </a:blipFill>
        </p:spPr>
      </p:sp>
      <p:sp>
        <p:nvSpPr>
          <p:cNvPr name="TextBox 36" id="36"/>
          <p:cNvSpPr txBox="true"/>
          <p:nvPr/>
        </p:nvSpPr>
        <p:spPr>
          <a:xfrm rot="0">
            <a:off x="1981480" y="130308"/>
            <a:ext cx="12964813" cy="898392"/>
          </a:xfrm>
          <a:prstGeom prst="rect">
            <a:avLst/>
          </a:prstGeom>
        </p:spPr>
        <p:txBody>
          <a:bodyPr anchor="t" rtlCol="false" tIns="0" lIns="0" bIns="0" rIns="0">
            <a:spAutoFit/>
          </a:bodyPr>
          <a:lstStyle/>
          <a:p>
            <a:pPr algn="ctr" marL="0" indent="0" lvl="0">
              <a:lnSpc>
                <a:spcPts val="7291"/>
              </a:lnSpc>
              <a:spcBef>
                <a:spcPct val="0"/>
              </a:spcBef>
            </a:pPr>
            <a:r>
              <a:rPr lang="en-US" sz="5283" spc="184">
                <a:solidFill>
                  <a:srgbClr val="010101"/>
                </a:solidFill>
                <a:latin typeface="Archivo Black"/>
                <a:ea typeface="Archivo Black"/>
                <a:cs typeface="Archivo Black"/>
                <a:sym typeface="Archivo Black"/>
              </a:rPr>
              <a:t>CAS D'UTILISATION COURANT :</a:t>
            </a:r>
            <a:r>
              <a:rPr lang="en-US" sz="5283" spc="184">
                <a:solidFill>
                  <a:srgbClr val="010101"/>
                </a:solidFill>
                <a:latin typeface="Archivo Black"/>
                <a:ea typeface="Archivo Black"/>
                <a:cs typeface="Archivo Black"/>
                <a:sym typeface="Archivo Black"/>
              </a:rPr>
              <a:t> </a:t>
            </a:r>
          </a:p>
        </p:txBody>
      </p:sp>
      <p:sp>
        <p:nvSpPr>
          <p:cNvPr name="TextBox 37" id="37"/>
          <p:cNvSpPr txBox="true"/>
          <p:nvPr/>
        </p:nvSpPr>
        <p:spPr>
          <a:xfrm rot="0">
            <a:off x="242006" y="7569462"/>
            <a:ext cx="3547162" cy="1521290"/>
          </a:xfrm>
          <a:prstGeom prst="rect">
            <a:avLst/>
          </a:prstGeom>
        </p:spPr>
        <p:txBody>
          <a:bodyPr anchor="t" rtlCol="false" tIns="0" lIns="0" bIns="0" rIns="0">
            <a:spAutoFit/>
          </a:bodyPr>
          <a:lstStyle/>
          <a:p>
            <a:pPr algn="l">
              <a:lnSpc>
                <a:spcPts val="2463"/>
              </a:lnSpc>
            </a:pPr>
            <a:r>
              <a:rPr lang="en-US" sz="1785" spc="174">
                <a:solidFill>
                  <a:srgbClr val="000000"/>
                </a:solidFill>
                <a:latin typeface="Montserrat Light"/>
                <a:ea typeface="Montserrat Light"/>
                <a:cs typeface="Montserrat Light"/>
                <a:sym typeface="Montserrat Light"/>
              </a:rPr>
              <a:t>Pour améliorer les campagnes publicitaires, cibler les bonnes audiences, et analyser les avis clients.</a:t>
            </a:r>
          </a:p>
        </p:txBody>
      </p:sp>
      <p:sp>
        <p:nvSpPr>
          <p:cNvPr name="TextBox 38" id="38"/>
          <p:cNvSpPr txBox="true"/>
          <p:nvPr/>
        </p:nvSpPr>
        <p:spPr>
          <a:xfrm rot="0">
            <a:off x="5781301" y="6499249"/>
            <a:ext cx="2745392" cy="358174"/>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Santé :</a:t>
            </a:r>
          </a:p>
        </p:txBody>
      </p:sp>
      <p:sp>
        <p:nvSpPr>
          <p:cNvPr name="TextBox 39" id="39"/>
          <p:cNvSpPr txBox="true"/>
          <p:nvPr/>
        </p:nvSpPr>
        <p:spPr>
          <a:xfrm rot="0">
            <a:off x="4798809" y="7544212"/>
            <a:ext cx="3901950" cy="1826090"/>
          </a:xfrm>
          <a:prstGeom prst="rect">
            <a:avLst/>
          </a:prstGeom>
        </p:spPr>
        <p:txBody>
          <a:bodyPr anchor="t" rtlCol="false" tIns="0" lIns="0" bIns="0" rIns="0">
            <a:spAutoFit/>
          </a:bodyPr>
          <a:lstStyle/>
          <a:p>
            <a:pPr algn="l">
              <a:lnSpc>
                <a:spcPts val="2463"/>
              </a:lnSpc>
            </a:pPr>
            <a:r>
              <a:rPr lang="en-US" sz="1785" spc="174">
                <a:solidFill>
                  <a:srgbClr val="000000"/>
                </a:solidFill>
                <a:latin typeface="Montserrat Light"/>
                <a:ea typeface="Montserrat Light"/>
                <a:cs typeface="Montserrat Light"/>
                <a:sym typeface="Montserrat Light"/>
              </a:rPr>
              <a:t>Dans le suivi de l'expérience patient et pour identifier des signes précoces de troubles mentaux en analysant les expressions verbales et écrites.</a:t>
            </a:r>
          </a:p>
        </p:txBody>
      </p:sp>
      <p:sp>
        <p:nvSpPr>
          <p:cNvPr name="TextBox 40" id="40"/>
          <p:cNvSpPr txBox="true"/>
          <p:nvPr/>
        </p:nvSpPr>
        <p:spPr>
          <a:xfrm rot="0">
            <a:off x="10465507" y="6499249"/>
            <a:ext cx="2745392" cy="358174"/>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Finances : </a:t>
            </a:r>
          </a:p>
        </p:txBody>
      </p:sp>
      <p:sp>
        <p:nvSpPr>
          <p:cNvPr name="TextBox 41" id="41"/>
          <p:cNvSpPr txBox="true"/>
          <p:nvPr/>
        </p:nvSpPr>
        <p:spPr>
          <a:xfrm rot="0">
            <a:off x="9361460" y="7529556"/>
            <a:ext cx="3738857" cy="1561196"/>
          </a:xfrm>
          <a:prstGeom prst="rect">
            <a:avLst/>
          </a:prstGeom>
        </p:spPr>
        <p:txBody>
          <a:bodyPr anchor="t" rtlCol="false" tIns="0" lIns="0" bIns="0" rIns="0">
            <a:spAutoFit/>
          </a:bodyPr>
          <a:lstStyle/>
          <a:p>
            <a:pPr algn="l">
              <a:lnSpc>
                <a:spcPts val="2529"/>
              </a:lnSpc>
            </a:pPr>
            <a:r>
              <a:rPr lang="en-US" sz="1833" spc="179">
                <a:solidFill>
                  <a:srgbClr val="000000"/>
                </a:solidFill>
                <a:latin typeface="Montserrat Light"/>
                <a:ea typeface="Montserrat Light"/>
                <a:cs typeface="Montserrat Light"/>
                <a:sym typeface="Montserrat Light"/>
              </a:rPr>
              <a:t>En analysant les tendances et prévisions économiques basées sur les sentiments du marché et des investisseurs.</a:t>
            </a:r>
          </a:p>
        </p:txBody>
      </p:sp>
      <p:sp>
        <p:nvSpPr>
          <p:cNvPr name="TextBox 42" id="42"/>
          <p:cNvSpPr txBox="true"/>
          <p:nvPr/>
        </p:nvSpPr>
        <p:spPr>
          <a:xfrm rot="0">
            <a:off x="15057036" y="6499249"/>
            <a:ext cx="2745392" cy="727820"/>
          </a:xfrm>
          <a:prstGeom prst="rect">
            <a:avLst/>
          </a:prstGeom>
        </p:spPr>
        <p:txBody>
          <a:bodyPr anchor="t" rtlCol="false" tIns="0" lIns="0" bIns="0" rIns="0">
            <a:spAutoFit/>
          </a:bodyPr>
          <a:lstStyle/>
          <a:p>
            <a:pPr algn="l" marL="0" indent="0" lvl="1">
              <a:lnSpc>
                <a:spcPts val="2992"/>
              </a:lnSpc>
              <a:spcBef>
                <a:spcPct val="0"/>
              </a:spcBef>
            </a:pPr>
            <a:r>
              <a:rPr lang="en-US" b="true" sz="2168" spc="212">
                <a:solidFill>
                  <a:srgbClr val="000000"/>
                </a:solidFill>
                <a:latin typeface="Montserrat Classic Bold"/>
                <a:ea typeface="Montserrat Classic Bold"/>
                <a:cs typeface="Montserrat Classic Bold"/>
                <a:sym typeface="Montserrat Classic Bold"/>
              </a:rPr>
              <a:t>RH et management :</a:t>
            </a:r>
          </a:p>
        </p:txBody>
      </p:sp>
      <p:sp>
        <p:nvSpPr>
          <p:cNvPr name="TextBox 43" id="43"/>
          <p:cNvSpPr txBox="true"/>
          <p:nvPr/>
        </p:nvSpPr>
        <p:spPr>
          <a:xfrm rot="0">
            <a:off x="14042190" y="7600813"/>
            <a:ext cx="3480187" cy="1826090"/>
          </a:xfrm>
          <a:prstGeom prst="rect">
            <a:avLst/>
          </a:prstGeom>
        </p:spPr>
        <p:txBody>
          <a:bodyPr anchor="t" rtlCol="false" tIns="0" lIns="0" bIns="0" rIns="0">
            <a:spAutoFit/>
          </a:bodyPr>
          <a:lstStyle/>
          <a:p>
            <a:pPr algn="l">
              <a:lnSpc>
                <a:spcPts val="2463"/>
              </a:lnSpc>
            </a:pPr>
            <a:r>
              <a:rPr lang="en-US" sz="1785" spc="174">
                <a:solidFill>
                  <a:srgbClr val="000000"/>
                </a:solidFill>
                <a:latin typeface="Montserrat Light"/>
                <a:ea typeface="Montserrat Light"/>
                <a:cs typeface="Montserrat Light"/>
                <a:sym typeface="Montserrat Light"/>
              </a:rPr>
              <a:t>Permet de mesurer le moral des employés et d'identifier les problèmes internes.</a:t>
            </a:r>
          </a:p>
          <a:p>
            <a:pPr algn="l">
              <a:lnSpc>
                <a:spcPts val="2463"/>
              </a:lnSpc>
            </a:pPr>
          </a:p>
          <a:p>
            <a:pPr algn="l">
              <a:lnSpc>
                <a:spcPts val="2463"/>
              </a:lnSpc>
            </a:pPr>
          </a:p>
        </p:txBody>
      </p:sp>
      <p:sp>
        <p:nvSpPr>
          <p:cNvPr name="TextBox 44" id="44"/>
          <p:cNvSpPr txBox="true"/>
          <p:nvPr/>
        </p:nvSpPr>
        <p:spPr>
          <a:xfrm rot="0">
            <a:off x="17937455" y="9868166"/>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2559904" y="6800390"/>
            <a:ext cx="3329876" cy="1664938"/>
          </a:xfrm>
          <a:custGeom>
            <a:avLst/>
            <a:gdLst/>
            <a:ahLst/>
            <a:cxnLst/>
            <a:rect r="r" b="b" t="t" l="l"/>
            <a:pathLst>
              <a:path h="1664938" w="3329876">
                <a:moveTo>
                  <a:pt x="0" y="0"/>
                </a:moveTo>
                <a:lnTo>
                  <a:pt x="3329876" y="0"/>
                </a:lnTo>
                <a:lnTo>
                  <a:pt x="3329876" y="1664939"/>
                </a:lnTo>
                <a:lnTo>
                  <a:pt x="0" y="16649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07601" y="5148817"/>
            <a:ext cx="3343241" cy="1671621"/>
          </a:xfrm>
          <a:custGeom>
            <a:avLst/>
            <a:gdLst/>
            <a:ahLst/>
            <a:cxnLst/>
            <a:rect r="r" b="b" t="t" l="l"/>
            <a:pathLst>
              <a:path h="1671621" w="3343241">
                <a:moveTo>
                  <a:pt x="0" y="0"/>
                </a:moveTo>
                <a:lnTo>
                  <a:pt x="3343241" y="0"/>
                </a:lnTo>
                <a:lnTo>
                  <a:pt x="3343241" y="1671621"/>
                </a:lnTo>
                <a:lnTo>
                  <a:pt x="0" y="16716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8864124" y="6807073"/>
            <a:ext cx="3329876" cy="1664938"/>
          </a:xfrm>
          <a:custGeom>
            <a:avLst/>
            <a:gdLst/>
            <a:ahLst/>
            <a:cxnLst/>
            <a:rect r="r" b="b" t="t" l="l"/>
            <a:pathLst>
              <a:path h="1664938" w="3329876">
                <a:moveTo>
                  <a:pt x="0" y="0"/>
                </a:moveTo>
                <a:lnTo>
                  <a:pt x="3329877" y="0"/>
                </a:lnTo>
                <a:lnTo>
                  <a:pt x="3329877" y="1664938"/>
                </a:lnTo>
                <a:lnTo>
                  <a:pt x="0" y="16649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13086" y="5155500"/>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8534029" y="6813755"/>
            <a:ext cx="848136" cy="570260"/>
            <a:chOff x="0" y="0"/>
            <a:chExt cx="1930400" cy="1297940"/>
          </a:xfrm>
        </p:grpSpPr>
        <p:sp>
          <p:nvSpPr>
            <p:cNvPr name="Freeform 7" id="7"/>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2C92D5"/>
            </a:solidFill>
          </p:spPr>
        </p:sp>
      </p:grpSp>
      <p:grpSp>
        <p:nvGrpSpPr>
          <p:cNvPr name="Group 8" id="8"/>
          <p:cNvGrpSpPr>
            <a:grpSpLocks noChangeAspect="true"/>
          </p:cNvGrpSpPr>
          <p:nvPr/>
        </p:nvGrpSpPr>
        <p:grpSpPr>
          <a:xfrm rot="0">
            <a:off x="14914669" y="6800390"/>
            <a:ext cx="848136" cy="570260"/>
            <a:chOff x="0" y="0"/>
            <a:chExt cx="1930400" cy="1297940"/>
          </a:xfrm>
        </p:grpSpPr>
        <p:sp>
          <p:nvSpPr>
            <p:cNvPr name="Freeform 9" id="9"/>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13538A"/>
            </a:solidFill>
          </p:spPr>
        </p:sp>
      </p:grpSp>
      <p:grpSp>
        <p:nvGrpSpPr>
          <p:cNvPr name="Group 10" id="10"/>
          <p:cNvGrpSpPr/>
          <p:nvPr/>
        </p:nvGrpSpPr>
        <p:grpSpPr>
          <a:xfrm rot="0">
            <a:off x="3161336" y="5633384"/>
            <a:ext cx="2166177" cy="21661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B6B4"/>
            </a:solidFill>
          </p:spPr>
        </p:sp>
        <p:sp>
          <p:nvSpPr>
            <p:cNvPr name="TextBox 12" id="12"/>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1</a:t>
              </a:r>
            </a:p>
          </p:txBody>
        </p:sp>
      </p:grpSp>
      <p:grpSp>
        <p:nvGrpSpPr>
          <p:cNvPr name="Group 13" id="13"/>
          <p:cNvGrpSpPr/>
          <p:nvPr/>
        </p:nvGrpSpPr>
        <p:grpSpPr>
          <a:xfrm rot="0">
            <a:off x="6309034" y="5633384"/>
            <a:ext cx="2166177" cy="21661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C9EF"/>
            </a:solidFill>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2</a:t>
              </a:r>
            </a:p>
          </p:txBody>
        </p:sp>
      </p:grpSp>
      <p:grpSp>
        <p:nvGrpSpPr>
          <p:cNvPr name="Group 16" id="16"/>
          <p:cNvGrpSpPr/>
          <p:nvPr/>
        </p:nvGrpSpPr>
        <p:grpSpPr>
          <a:xfrm rot="0">
            <a:off x="9382165" y="5633384"/>
            <a:ext cx="2166177" cy="21661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name="TextBox 18" id="18"/>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3</a:t>
              </a:r>
            </a:p>
          </p:txBody>
        </p:sp>
      </p:grpSp>
      <p:grpSp>
        <p:nvGrpSpPr>
          <p:cNvPr name="Group 19" id="19"/>
          <p:cNvGrpSpPr/>
          <p:nvPr/>
        </p:nvGrpSpPr>
        <p:grpSpPr>
          <a:xfrm rot="0">
            <a:off x="12472267" y="5633384"/>
            <a:ext cx="2166177" cy="21661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name="TextBox 21" id="21"/>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4</a:t>
              </a:r>
            </a:p>
          </p:txBody>
        </p:sp>
      </p:grpSp>
      <p:sp>
        <p:nvSpPr>
          <p:cNvPr name="TextBox 22" id="22"/>
          <p:cNvSpPr txBox="true"/>
          <p:nvPr/>
        </p:nvSpPr>
        <p:spPr>
          <a:xfrm rot="0">
            <a:off x="6009661" y="8695310"/>
            <a:ext cx="2654445" cy="44733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 Prétraitement</a:t>
            </a:r>
          </a:p>
        </p:txBody>
      </p:sp>
      <p:sp>
        <p:nvSpPr>
          <p:cNvPr name="TextBox 23" id="23"/>
          <p:cNvSpPr txBox="true"/>
          <p:nvPr/>
        </p:nvSpPr>
        <p:spPr>
          <a:xfrm rot="0">
            <a:off x="12642819" y="8467195"/>
            <a:ext cx="2700143"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Evaluation des modèles</a:t>
            </a:r>
          </a:p>
        </p:txBody>
      </p:sp>
      <p:sp>
        <p:nvSpPr>
          <p:cNvPr name="TextBox 24" id="24"/>
          <p:cNvSpPr txBox="true"/>
          <p:nvPr/>
        </p:nvSpPr>
        <p:spPr>
          <a:xfrm rot="0">
            <a:off x="3242018" y="4663141"/>
            <a:ext cx="1965649"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collecte de données</a:t>
            </a:r>
          </a:p>
        </p:txBody>
      </p:sp>
      <p:sp>
        <p:nvSpPr>
          <p:cNvPr name="TextBox 25" id="25"/>
          <p:cNvSpPr txBox="true"/>
          <p:nvPr/>
        </p:nvSpPr>
        <p:spPr>
          <a:xfrm rot="0">
            <a:off x="8701554" y="4111563"/>
            <a:ext cx="3770713" cy="1359798"/>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Construction et entraînement du modèle </a:t>
            </a:r>
          </a:p>
        </p:txBody>
      </p:sp>
      <p:grpSp>
        <p:nvGrpSpPr>
          <p:cNvPr name="Group 26" id="26"/>
          <p:cNvGrpSpPr/>
          <p:nvPr/>
        </p:nvGrpSpPr>
        <p:grpSpPr>
          <a:xfrm rot="0">
            <a:off x="3550138" y="1234872"/>
            <a:ext cx="11187724" cy="1039832"/>
            <a:chOff x="0" y="0"/>
            <a:chExt cx="14916965" cy="1386443"/>
          </a:xfrm>
        </p:grpSpPr>
        <p:sp>
          <p:nvSpPr>
            <p:cNvPr name="TextBox 27" id="27"/>
            <p:cNvSpPr txBox="true"/>
            <p:nvPr/>
          </p:nvSpPr>
          <p:spPr>
            <a:xfrm rot="0">
              <a:off x="0" y="807746"/>
              <a:ext cx="14916965" cy="578697"/>
            </a:xfrm>
            <a:prstGeom prst="rect">
              <a:avLst/>
            </a:prstGeom>
          </p:spPr>
          <p:txBody>
            <a:bodyPr anchor="t" rtlCol="false" tIns="0" lIns="0" bIns="0" rIns="0">
              <a:spAutoFit/>
            </a:bodyPr>
            <a:lstStyle/>
            <a:p>
              <a:pPr algn="ctr" marL="0" indent="0" lvl="0">
                <a:lnSpc>
                  <a:spcPts val="3640"/>
                </a:lnSpc>
              </a:pPr>
              <a:r>
                <a:rPr lang="en-US" sz="2600" spc="78" u="none">
                  <a:solidFill>
                    <a:srgbClr val="191919"/>
                  </a:solidFill>
                  <a:latin typeface="Aileron"/>
                  <a:ea typeface="Aileron"/>
                  <a:cs typeface="Aileron"/>
                  <a:sym typeface="Aileron"/>
                </a:rPr>
                <a:t>5-Step Ordering Process</a:t>
              </a:r>
            </a:p>
          </p:txBody>
        </p:sp>
        <p:sp>
          <p:nvSpPr>
            <p:cNvPr name="TextBox 28" id="28"/>
            <p:cNvSpPr txBox="true"/>
            <p:nvPr/>
          </p:nvSpPr>
          <p:spPr>
            <a:xfrm rot="0">
              <a:off x="0" y="-47625"/>
              <a:ext cx="14916965" cy="767969"/>
            </a:xfrm>
            <a:prstGeom prst="rect">
              <a:avLst/>
            </a:prstGeom>
          </p:spPr>
          <p:txBody>
            <a:bodyPr anchor="t" rtlCol="false" tIns="0" lIns="0" bIns="0" rIns="0">
              <a:spAutoFit/>
            </a:bodyPr>
            <a:lstStyle/>
            <a:p>
              <a:pPr algn="ctr" marL="0" indent="0" lvl="0">
                <a:lnSpc>
                  <a:spcPts val="4716"/>
                </a:lnSpc>
              </a:pPr>
              <a:r>
                <a:rPr lang="en-US" b="true" sz="3600" spc="107" u="none">
                  <a:solidFill>
                    <a:srgbClr val="191919"/>
                  </a:solidFill>
                  <a:latin typeface="Aileron Ultra-Bold"/>
                  <a:ea typeface="Aileron Ultra-Bold"/>
                  <a:cs typeface="Aileron Ultra-Bold"/>
                  <a:sym typeface="Aileron Ultra-Bold"/>
                </a:rPr>
                <a:t>WAVE'S END SWIMWEAR</a:t>
              </a:r>
            </a:p>
          </p:txBody>
        </p:sp>
      </p:grpSp>
      <p:grpSp>
        <p:nvGrpSpPr>
          <p:cNvPr name="Group 29" id="29"/>
          <p:cNvGrpSpPr/>
          <p:nvPr/>
        </p:nvGrpSpPr>
        <p:grpSpPr>
          <a:xfrm rot="0">
            <a:off x="-4861436" y="1181100"/>
            <a:ext cx="19354610" cy="2258023"/>
            <a:chOff x="0" y="0"/>
            <a:chExt cx="1876002" cy="218865"/>
          </a:xfrm>
        </p:grpSpPr>
        <p:sp>
          <p:nvSpPr>
            <p:cNvPr name="Freeform 30" id="3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1" id="3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2" id="32"/>
          <p:cNvGrpSpPr/>
          <p:nvPr/>
        </p:nvGrpSpPr>
        <p:grpSpPr>
          <a:xfrm rot="0">
            <a:off x="1069260" y="3301379"/>
            <a:ext cx="5689104" cy="275488"/>
            <a:chOff x="0" y="0"/>
            <a:chExt cx="4519796" cy="218865"/>
          </a:xfrm>
        </p:grpSpPr>
        <p:sp>
          <p:nvSpPr>
            <p:cNvPr name="Freeform 33" id="33"/>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34" id="34"/>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35" id="35"/>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36" id="36"/>
          <p:cNvGrpSpPr/>
          <p:nvPr/>
        </p:nvGrpSpPr>
        <p:grpSpPr>
          <a:xfrm rot="0">
            <a:off x="12390350" y="173580"/>
            <a:ext cx="9534019" cy="1112295"/>
            <a:chOff x="0" y="0"/>
            <a:chExt cx="1876002" cy="218865"/>
          </a:xfrm>
        </p:grpSpPr>
        <p:sp>
          <p:nvSpPr>
            <p:cNvPr name="Freeform 37" id="37"/>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8" id="38"/>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2559904" y="6800390"/>
            <a:ext cx="3329876" cy="1664938"/>
          </a:xfrm>
          <a:custGeom>
            <a:avLst/>
            <a:gdLst/>
            <a:ahLst/>
            <a:cxnLst/>
            <a:rect r="r" b="b" t="t" l="l"/>
            <a:pathLst>
              <a:path h="1664938" w="3329876">
                <a:moveTo>
                  <a:pt x="0" y="0"/>
                </a:moveTo>
                <a:lnTo>
                  <a:pt x="3329876" y="0"/>
                </a:lnTo>
                <a:lnTo>
                  <a:pt x="3329876" y="1664939"/>
                </a:lnTo>
                <a:lnTo>
                  <a:pt x="0" y="16649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07601" y="5148817"/>
            <a:ext cx="3343241" cy="1671621"/>
          </a:xfrm>
          <a:custGeom>
            <a:avLst/>
            <a:gdLst/>
            <a:ahLst/>
            <a:cxnLst/>
            <a:rect r="r" b="b" t="t" l="l"/>
            <a:pathLst>
              <a:path h="1671621" w="3343241">
                <a:moveTo>
                  <a:pt x="0" y="0"/>
                </a:moveTo>
                <a:lnTo>
                  <a:pt x="3343241" y="0"/>
                </a:lnTo>
                <a:lnTo>
                  <a:pt x="3343241" y="1671621"/>
                </a:lnTo>
                <a:lnTo>
                  <a:pt x="0" y="16716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8864124" y="6807073"/>
            <a:ext cx="3329876" cy="1664938"/>
          </a:xfrm>
          <a:custGeom>
            <a:avLst/>
            <a:gdLst/>
            <a:ahLst/>
            <a:cxnLst/>
            <a:rect r="r" b="b" t="t" l="l"/>
            <a:pathLst>
              <a:path h="1664938" w="3329876">
                <a:moveTo>
                  <a:pt x="0" y="0"/>
                </a:moveTo>
                <a:lnTo>
                  <a:pt x="3329877" y="0"/>
                </a:lnTo>
                <a:lnTo>
                  <a:pt x="3329877" y="1664938"/>
                </a:lnTo>
                <a:lnTo>
                  <a:pt x="0" y="16649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13086" y="5155500"/>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8534029" y="6813755"/>
            <a:ext cx="848136" cy="570260"/>
            <a:chOff x="0" y="0"/>
            <a:chExt cx="1930400" cy="1297940"/>
          </a:xfrm>
        </p:grpSpPr>
        <p:sp>
          <p:nvSpPr>
            <p:cNvPr name="Freeform 7" id="7"/>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2C92D5"/>
            </a:solidFill>
          </p:spPr>
        </p:sp>
      </p:grpSp>
      <p:grpSp>
        <p:nvGrpSpPr>
          <p:cNvPr name="Group 8" id="8"/>
          <p:cNvGrpSpPr>
            <a:grpSpLocks noChangeAspect="true"/>
          </p:cNvGrpSpPr>
          <p:nvPr/>
        </p:nvGrpSpPr>
        <p:grpSpPr>
          <a:xfrm rot="0">
            <a:off x="14914669" y="6800390"/>
            <a:ext cx="848136" cy="570260"/>
            <a:chOff x="0" y="0"/>
            <a:chExt cx="1930400" cy="1297940"/>
          </a:xfrm>
        </p:grpSpPr>
        <p:sp>
          <p:nvSpPr>
            <p:cNvPr name="Freeform 9" id="9"/>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13538A"/>
            </a:solidFill>
          </p:spPr>
        </p:sp>
      </p:grpSp>
      <p:grpSp>
        <p:nvGrpSpPr>
          <p:cNvPr name="Group 10" id="10"/>
          <p:cNvGrpSpPr/>
          <p:nvPr/>
        </p:nvGrpSpPr>
        <p:grpSpPr>
          <a:xfrm rot="0">
            <a:off x="3161336" y="5633384"/>
            <a:ext cx="2166177" cy="21661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B6B4"/>
            </a:solidFill>
          </p:spPr>
        </p:sp>
        <p:sp>
          <p:nvSpPr>
            <p:cNvPr name="TextBox 12" id="12"/>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1</a:t>
              </a:r>
            </a:p>
          </p:txBody>
        </p:sp>
      </p:grpSp>
      <p:grpSp>
        <p:nvGrpSpPr>
          <p:cNvPr name="Group 13" id="13"/>
          <p:cNvGrpSpPr/>
          <p:nvPr/>
        </p:nvGrpSpPr>
        <p:grpSpPr>
          <a:xfrm rot="0">
            <a:off x="6309034" y="5633384"/>
            <a:ext cx="2166177" cy="21661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C9EF"/>
            </a:solidFill>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2</a:t>
              </a:r>
            </a:p>
          </p:txBody>
        </p:sp>
      </p:grpSp>
      <p:grpSp>
        <p:nvGrpSpPr>
          <p:cNvPr name="Group 16" id="16"/>
          <p:cNvGrpSpPr/>
          <p:nvPr/>
        </p:nvGrpSpPr>
        <p:grpSpPr>
          <a:xfrm rot="0">
            <a:off x="9382165" y="5633384"/>
            <a:ext cx="2166177" cy="21661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name="TextBox 18" id="18"/>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3</a:t>
              </a:r>
            </a:p>
          </p:txBody>
        </p:sp>
      </p:grpSp>
      <p:grpSp>
        <p:nvGrpSpPr>
          <p:cNvPr name="Group 19" id="19"/>
          <p:cNvGrpSpPr/>
          <p:nvPr/>
        </p:nvGrpSpPr>
        <p:grpSpPr>
          <a:xfrm rot="0">
            <a:off x="12472267" y="5633384"/>
            <a:ext cx="2166177" cy="21661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name="TextBox 21" id="21"/>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4</a:t>
              </a:r>
            </a:p>
          </p:txBody>
        </p:sp>
      </p:grpSp>
      <p:sp>
        <p:nvSpPr>
          <p:cNvPr name="TextBox 22" id="22"/>
          <p:cNvSpPr txBox="true"/>
          <p:nvPr/>
        </p:nvSpPr>
        <p:spPr>
          <a:xfrm rot="0">
            <a:off x="6009661" y="8695310"/>
            <a:ext cx="2654445" cy="44733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 Prétraitement</a:t>
            </a:r>
          </a:p>
        </p:txBody>
      </p:sp>
      <p:sp>
        <p:nvSpPr>
          <p:cNvPr name="TextBox 23" id="23"/>
          <p:cNvSpPr txBox="true"/>
          <p:nvPr/>
        </p:nvSpPr>
        <p:spPr>
          <a:xfrm rot="0">
            <a:off x="12642819" y="8467195"/>
            <a:ext cx="2700143"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Evaluation des modèles</a:t>
            </a:r>
          </a:p>
        </p:txBody>
      </p:sp>
      <p:sp>
        <p:nvSpPr>
          <p:cNvPr name="TextBox 24" id="24"/>
          <p:cNvSpPr txBox="true"/>
          <p:nvPr/>
        </p:nvSpPr>
        <p:spPr>
          <a:xfrm rot="0">
            <a:off x="3242018" y="4663141"/>
            <a:ext cx="1965649"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collecte de données</a:t>
            </a:r>
          </a:p>
        </p:txBody>
      </p:sp>
      <p:sp>
        <p:nvSpPr>
          <p:cNvPr name="TextBox 25" id="25"/>
          <p:cNvSpPr txBox="true"/>
          <p:nvPr/>
        </p:nvSpPr>
        <p:spPr>
          <a:xfrm rot="0">
            <a:off x="8701554" y="4111563"/>
            <a:ext cx="3770713" cy="1359798"/>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Construction et entraînement du modèle </a:t>
            </a:r>
          </a:p>
        </p:txBody>
      </p:sp>
      <p:grpSp>
        <p:nvGrpSpPr>
          <p:cNvPr name="Group 26" id="26"/>
          <p:cNvGrpSpPr/>
          <p:nvPr/>
        </p:nvGrpSpPr>
        <p:grpSpPr>
          <a:xfrm rot="0">
            <a:off x="3550138" y="1234872"/>
            <a:ext cx="11187724" cy="1039832"/>
            <a:chOff x="0" y="0"/>
            <a:chExt cx="14916965" cy="1386443"/>
          </a:xfrm>
        </p:grpSpPr>
        <p:sp>
          <p:nvSpPr>
            <p:cNvPr name="TextBox 27" id="27"/>
            <p:cNvSpPr txBox="true"/>
            <p:nvPr/>
          </p:nvSpPr>
          <p:spPr>
            <a:xfrm rot="0">
              <a:off x="0" y="807746"/>
              <a:ext cx="14916965" cy="578697"/>
            </a:xfrm>
            <a:prstGeom prst="rect">
              <a:avLst/>
            </a:prstGeom>
          </p:spPr>
          <p:txBody>
            <a:bodyPr anchor="t" rtlCol="false" tIns="0" lIns="0" bIns="0" rIns="0">
              <a:spAutoFit/>
            </a:bodyPr>
            <a:lstStyle/>
            <a:p>
              <a:pPr algn="ctr" marL="0" indent="0" lvl="0">
                <a:lnSpc>
                  <a:spcPts val="3640"/>
                </a:lnSpc>
              </a:pPr>
              <a:r>
                <a:rPr lang="en-US" sz="2600" spc="78" u="none">
                  <a:solidFill>
                    <a:srgbClr val="191919"/>
                  </a:solidFill>
                  <a:latin typeface="Aileron"/>
                  <a:ea typeface="Aileron"/>
                  <a:cs typeface="Aileron"/>
                  <a:sym typeface="Aileron"/>
                </a:rPr>
                <a:t>5-Step Ordering Process</a:t>
              </a:r>
            </a:p>
          </p:txBody>
        </p:sp>
        <p:sp>
          <p:nvSpPr>
            <p:cNvPr name="TextBox 28" id="28"/>
            <p:cNvSpPr txBox="true"/>
            <p:nvPr/>
          </p:nvSpPr>
          <p:spPr>
            <a:xfrm rot="0">
              <a:off x="0" y="-47625"/>
              <a:ext cx="14916965" cy="767969"/>
            </a:xfrm>
            <a:prstGeom prst="rect">
              <a:avLst/>
            </a:prstGeom>
          </p:spPr>
          <p:txBody>
            <a:bodyPr anchor="t" rtlCol="false" tIns="0" lIns="0" bIns="0" rIns="0">
              <a:spAutoFit/>
            </a:bodyPr>
            <a:lstStyle/>
            <a:p>
              <a:pPr algn="ctr" marL="0" indent="0" lvl="0">
                <a:lnSpc>
                  <a:spcPts val="4716"/>
                </a:lnSpc>
              </a:pPr>
              <a:r>
                <a:rPr lang="en-US" b="true" sz="3600" spc="107" u="none">
                  <a:solidFill>
                    <a:srgbClr val="191919"/>
                  </a:solidFill>
                  <a:latin typeface="Aileron Ultra-Bold"/>
                  <a:ea typeface="Aileron Ultra-Bold"/>
                  <a:cs typeface="Aileron Ultra-Bold"/>
                  <a:sym typeface="Aileron Ultra-Bold"/>
                </a:rPr>
                <a:t>WAVE'S END SWIMWEAR</a:t>
              </a:r>
            </a:p>
          </p:txBody>
        </p:sp>
      </p:grpSp>
      <p:grpSp>
        <p:nvGrpSpPr>
          <p:cNvPr name="Group 29" id="29"/>
          <p:cNvGrpSpPr/>
          <p:nvPr/>
        </p:nvGrpSpPr>
        <p:grpSpPr>
          <a:xfrm rot="0">
            <a:off x="-4861436" y="1181100"/>
            <a:ext cx="19354610" cy="2258023"/>
            <a:chOff x="0" y="0"/>
            <a:chExt cx="1876002" cy="218865"/>
          </a:xfrm>
        </p:grpSpPr>
        <p:sp>
          <p:nvSpPr>
            <p:cNvPr name="Freeform 30" id="3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1" id="3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2" id="32"/>
          <p:cNvGrpSpPr/>
          <p:nvPr/>
        </p:nvGrpSpPr>
        <p:grpSpPr>
          <a:xfrm rot="0">
            <a:off x="1069260" y="3301379"/>
            <a:ext cx="5689104" cy="275488"/>
            <a:chOff x="0" y="0"/>
            <a:chExt cx="4519796" cy="218865"/>
          </a:xfrm>
        </p:grpSpPr>
        <p:sp>
          <p:nvSpPr>
            <p:cNvPr name="Freeform 33" id="33"/>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34" id="34"/>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35" id="35"/>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36" id="36"/>
          <p:cNvGrpSpPr/>
          <p:nvPr/>
        </p:nvGrpSpPr>
        <p:grpSpPr>
          <a:xfrm rot="0">
            <a:off x="12390350" y="173580"/>
            <a:ext cx="9534019" cy="1112295"/>
            <a:chOff x="0" y="0"/>
            <a:chExt cx="1876002" cy="218865"/>
          </a:xfrm>
        </p:grpSpPr>
        <p:sp>
          <p:nvSpPr>
            <p:cNvPr name="Freeform 37" id="37"/>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8" id="38"/>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9" id="39"/>
          <p:cNvGrpSpPr/>
          <p:nvPr/>
        </p:nvGrpSpPr>
        <p:grpSpPr>
          <a:xfrm rot="0">
            <a:off x="2647336" y="3576867"/>
            <a:ext cx="3086100" cy="6652983"/>
            <a:chOff x="0" y="0"/>
            <a:chExt cx="812800" cy="1752226"/>
          </a:xfrm>
        </p:grpSpPr>
        <p:sp>
          <p:nvSpPr>
            <p:cNvPr name="Freeform 40" id="40"/>
            <p:cNvSpPr/>
            <p:nvPr/>
          </p:nvSpPr>
          <p:spPr>
            <a:xfrm flipH="false" flipV="false" rot="0">
              <a:off x="0" y="0"/>
              <a:ext cx="812800" cy="1752226"/>
            </a:xfrm>
            <a:custGeom>
              <a:avLst/>
              <a:gdLst/>
              <a:ahLst/>
              <a:cxnLst/>
              <a:rect r="r" b="b" t="t" l="l"/>
              <a:pathLst>
                <a:path h="1752226" w="812800">
                  <a:moveTo>
                    <a:pt x="0" y="0"/>
                  </a:moveTo>
                  <a:lnTo>
                    <a:pt x="812800" y="0"/>
                  </a:lnTo>
                  <a:lnTo>
                    <a:pt x="812800" y="1752226"/>
                  </a:lnTo>
                  <a:lnTo>
                    <a:pt x="0" y="1752226"/>
                  </a:lnTo>
                  <a:close/>
                </a:path>
              </a:pathLst>
            </a:custGeom>
            <a:solidFill>
              <a:srgbClr val="000000">
                <a:alpha val="0"/>
              </a:srgbClr>
            </a:solidFill>
            <a:ln w="57150" cap="sq">
              <a:solidFill>
                <a:srgbClr val="37C9EF"/>
              </a:solidFill>
              <a:prstDash val="solid"/>
              <a:miter/>
            </a:ln>
          </p:spPr>
        </p:sp>
        <p:sp>
          <p:nvSpPr>
            <p:cNvPr name="TextBox 41" id="41"/>
            <p:cNvSpPr txBox="true"/>
            <p:nvPr/>
          </p:nvSpPr>
          <p:spPr>
            <a:xfrm>
              <a:off x="0" y="-19050"/>
              <a:ext cx="812800" cy="1771276"/>
            </a:xfrm>
            <a:prstGeom prst="rect">
              <a:avLst/>
            </a:prstGeom>
          </p:spPr>
          <p:txBody>
            <a:bodyPr anchor="ctr" rtlCol="false" tIns="50800" lIns="50800" bIns="50800" rIns="50800"/>
            <a:lstStyle/>
            <a:p>
              <a:pPr algn="ctr">
                <a:lnSpc>
                  <a:spcPts val="285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5013836" y="1028700"/>
            <a:ext cx="19354610" cy="2258023"/>
            <a:chOff x="0" y="0"/>
            <a:chExt cx="1876002" cy="218865"/>
          </a:xfrm>
        </p:grpSpPr>
        <p:sp>
          <p:nvSpPr>
            <p:cNvPr name="Freeform 4" id="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5" id="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6" id="6"/>
          <p:cNvGrpSpPr/>
          <p:nvPr/>
        </p:nvGrpSpPr>
        <p:grpSpPr>
          <a:xfrm rot="0">
            <a:off x="1794480" y="4205302"/>
            <a:ext cx="736150" cy="636369"/>
            <a:chOff x="0" y="0"/>
            <a:chExt cx="193883" cy="167603"/>
          </a:xfrm>
        </p:grpSpPr>
        <p:sp>
          <p:nvSpPr>
            <p:cNvPr name="Freeform 7" id="7"/>
            <p:cNvSpPr/>
            <p:nvPr/>
          </p:nvSpPr>
          <p:spPr>
            <a:xfrm flipH="false" flipV="false" rot="0">
              <a:off x="0" y="0"/>
              <a:ext cx="193883" cy="167603"/>
            </a:xfrm>
            <a:custGeom>
              <a:avLst/>
              <a:gdLst/>
              <a:ahLst/>
              <a:cxnLst/>
              <a:rect r="r" b="b" t="t" l="l"/>
              <a:pathLst>
                <a:path h="167603" w="193883">
                  <a:moveTo>
                    <a:pt x="83802" y="0"/>
                  </a:moveTo>
                  <a:lnTo>
                    <a:pt x="110081" y="0"/>
                  </a:lnTo>
                  <a:cubicBezTo>
                    <a:pt x="156364" y="0"/>
                    <a:pt x="193883" y="37519"/>
                    <a:pt x="193883" y="83802"/>
                  </a:cubicBezTo>
                  <a:lnTo>
                    <a:pt x="193883" y="83802"/>
                  </a:lnTo>
                  <a:cubicBezTo>
                    <a:pt x="193883" y="130084"/>
                    <a:pt x="156364" y="167603"/>
                    <a:pt x="110081" y="167603"/>
                  </a:cubicBezTo>
                  <a:lnTo>
                    <a:pt x="83802" y="167603"/>
                  </a:lnTo>
                  <a:cubicBezTo>
                    <a:pt x="37519" y="167603"/>
                    <a:pt x="0" y="130084"/>
                    <a:pt x="0" y="83802"/>
                  </a:cubicBezTo>
                  <a:lnTo>
                    <a:pt x="0" y="83802"/>
                  </a:lnTo>
                  <a:cubicBezTo>
                    <a:pt x="0" y="37519"/>
                    <a:pt x="37519" y="0"/>
                    <a:pt x="83802" y="0"/>
                  </a:cubicBezTo>
                  <a:close/>
                </a:path>
              </a:pathLst>
            </a:custGeom>
            <a:solidFill>
              <a:srgbClr val="1A1A1A"/>
            </a:solidFill>
          </p:spPr>
        </p:sp>
        <p:sp>
          <p:nvSpPr>
            <p:cNvPr name="TextBox 8" id="8"/>
            <p:cNvSpPr txBox="true"/>
            <p:nvPr/>
          </p:nvSpPr>
          <p:spPr>
            <a:xfrm>
              <a:off x="0" y="-66675"/>
              <a:ext cx="193883" cy="234278"/>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Montserrat Classic Bold"/>
                  <a:ea typeface="Montserrat Classic Bold"/>
                  <a:cs typeface="Montserrat Classic Bold"/>
                  <a:sym typeface="Montserrat Classic Bold"/>
                </a:rPr>
                <a:t>01</a:t>
              </a:r>
            </a:p>
          </p:txBody>
        </p:sp>
      </p:grpSp>
      <p:grpSp>
        <p:nvGrpSpPr>
          <p:cNvPr name="Group 9" id="9"/>
          <p:cNvGrpSpPr/>
          <p:nvPr/>
        </p:nvGrpSpPr>
        <p:grpSpPr>
          <a:xfrm rot="0">
            <a:off x="14269356" y="3858223"/>
            <a:ext cx="3314591" cy="3314591"/>
            <a:chOff x="0" y="0"/>
            <a:chExt cx="4872604" cy="4872604"/>
          </a:xfrm>
        </p:grpSpPr>
        <p:sp>
          <p:nvSpPr>
            <p:cNvPr name="Freeform 10" id="10"/>
            <p:cNvSpPr/>
            <p:nvPr/>
          </p:nvSpPr>
          <p:spPr>
            <a:xfrm flipH="false" flipV="false" rot="0">
              <a:off x="0" y="0"/>
              <a:ext cx="4872609" cy="4872609"/>
            </a:xfrm>
            <a:custGeom>
              <a:avLst/>
              <a:gdLst/>
              <a:ahLst/>
              <a:cxnLst/>
              <a:rect r="r" b="b" t="t" l="l"/>
              <a:pathLst>
                <a:path h="4872609" w="4872609">
                  <a:moveTo>
                    <a:pt x="1061593" y="2436241"/>
                  </a:moveTo>
                  <a:cubicBezTo>
                    <a:pt x="1061593" y="1687957"/>
                    <a:pt x="1688084" y="1061466"/>
                    <a:pt x="2436368" y="1061466"/>
                  </a:cubicBezTo>
                  <a:cubicBezTo>
                    <a:pt x="3202051" y="1061466"/>
                    <a:pt x="3811143" y="1687957"/>
                    <a:pt x="3811143" y="2436241"/>
                  </a:cubicBezTo>
                  <a:cubicBezTo>
                    <a:pt x="3811143" y="3201924"/>
                    <a:pt x="3202051" y="3811016"/>
                    <a:pt x="2436368" y="3811016"/>
                  </a:cubicBezTo>
                  <a:cubicBezTo>
                    <a:pt x="2436368" y="4872609"/>
                    <a:pt x="2436368" y="4872609"/>
                    <a:pt x="2436368" y="4872609"/>
                  </a:cubicBezTo>
                  <a:cubicBezTo>
                    <a:pt x="3776345" y="4872609"/>
                    <a:pt x="4872609" y="3776218"/>
                    <a:pt x="4872609" y="2436368"/>
                  </a:cubicBezTo>
                  <a:cubicBezTo>
                    <a:pt x="4872609" y="1096518"/>
                    <a:pt x="3776218" y="0"/>
                    <a:pt x="2436241" y="0"/>
                  </a:cubicBezTo>
                  <a:cubicBezTo>
                    <a:pt x="1096264" y="0"/>
                    <a:pt x="0" y="1096391"/>
                    <a:pt x="0" y="2436241"/>
                  </a:cubicBezTo>
                  <a:lnTo>
                    <a:pt x="1061593" y="2436241"/>
                  </a:lnTo>
                  <a:close/>
                </a:path>
              </a:pathLst>
            </a:custGeom>
            <a:solidFill>
              <a:srgbClr val="000000">
                <a:alpha val="16863"/>
              </a:srgbClr>
            </a:solidFill>
          </p:spPr>
        </p:sp>
      </p:grpSp>
      <p:grpSp>
        <p:nvGrpSpPr>
          <p:cNvPr name="Group 11" id="11"/>
          <p:cNvGrpSpPr/>
          <p:nvPr/>
        </p:nvGrpSpPr>
        <p:grpSpPr>
          <a:xfrm rot="0">
            <a:off x="11676962" y="3881641"/>
            <a:ext cx="3314591" cy="3326378"/>
            <a:chOff x="0" y="0"/>
            <a:chExt cx="4872604" cy="4889931"/>
          </a:xfrm>
        </p:grpSpPr>
        <p:sp>
          <p:nvSpPr>
            <p:cNvPr name="Freeform 12" id="12"/>
            <p:cNvSpPr/>
            <p:nvPr/>
          </p:nvSpPr>
          <p:spPr>
            <a:xfrm flipH="false" flipV="false" rot="0">
              <a:off x="0" y="0"/>
              <a:ext cx="4872609" cy="4889881"/>
            </a:xfrm>
            <a:custGeom>
              <a:avLst/>
              <a:gdLst/>
              <a:ahLst/>
              <a:cxnLst/>
              <a:rect r="r" b="b" t="t" l="l"/>
              <a:pathLst>
                <a:path h="4889881" w="4872609">
                  <a:moveTo>
                    <a:pt x="3811016" y="2453640"/>
                  </a:moveTo>
                  <a:cubicBezTo>
                    <a:pt x="3811016" y="3201924"/>
                    <a:pt x="3201924" y="3828415"/>
                    <a:pt x="2436241" y="3828415"/>
                  </a:cubicBezTo>
                  <a:cubicBezTo>
                    <a:pt x="1687957" y="3828415"/>
                    <a:pt x="1061466" y="3201924"/>
                    <a:pt x="1061466" y="2453640"/>
                  </a:cubicBezTo>
                  <a:cubicBezTo>
                    <a:pt x="1061466" y="1687957"/>
                    <a:pt x="1687957" y="1078865"/>
                    <a:pt x="2436241" y="1078865"/>
                  </a:cubicBezTo>
                  <a:cubicBezTo>
                    <a:pt x="2436241" y="0"/>
                    <a:pt x="2436241" y="0"/>
                    <a:pt x="2436241" y="0"/>
                  </a:cubicBezTo>
                  <a:cubicBezTo>
                    <a:pt x="1096391" y="0"/>
                    <a:pt x="0" y="1096264"/>
                    <a:pt x="0" y="2453640"/>
                  </a:cubicBezTo>
                  <a:cubicBezTo>
                    <a:pt x="0" y="3793617"/>
                    <a:pt x="1096391" y="4889881"/>
                    <a:pt x="2436241" y="4889881"/>
                  </a:cubicBezTo>
                  <a:cubicBezTo>
                    <a:pt x="3776091" y="4889881"/>
                    <a:pt x="4872609" y="3793617"/>
                    <a:pt x="4872609" y="2453640"/>
                  </a:cubicBezTo>
                  <a:lnTo>
                    <a:pt x="3811016" y="2453640"/>
                  </a:lnTo>
                  <a:close/>
                </a:path>
              </a:pathLst>
            </a:custGeom>
            <a:solidFill>
              <a:srgbClr val="000000">
                <a:alpha val="16863"/>
              </a:srgbClr>
            </a:solidFill>
          </p:spPr>
        </p:sp>
      </p:grpSp>
      <p:grpSp>
        <p:nvGrpSpPr>
          <p:cNvPr name="Group 13" id="13"/>
          <p:cNvGrpSpPr/>
          <p:nvPr/>
        </p:nvGrpSpPr>
        <p:grpSpPr>
          <a:xfrm rot="0">
            <a:off x="14244463" y="6451981"/>
            <a:ext cx="3314591" cy="3315573"/>
            <a:chOff x="0" y="0"/>
            <a:chExt cx="4872604" cy="4874047"/>
          </a:xfrm>
        </p:grpSpPr>
        <p:sp>
          <p:nvSpPr>
            <p:cNvPr name="Freeform 14" id="14"/>
            <p:cNvSpPr/>
            <p:nvPr/>
          </p:nvSpPr>
          <p:spPr>
            <a:xfrm flipH="false" flipV="false" rot="0">
              <a:off x="0" y="0"/>
              <a:ext cx="4872482" cy="4874006"/>
            </a:xfrm>
            <a:custGeom>
              <a:avLst/>
              <a:gdLst/>
              <a:ahLst/>
              <a:cxnLst/>
              <a:rect r="r" b="b" t="t" l="l"/>
              <a:pathLst>
                <a:path h="4874006" w="4872482">
                  <a:moveTo>
                    <a:pt x="3811016" y="2437003"/>
                  </a:moveTo>
                  <a:cubicBezTo>
                    <a:pt x="3811016" y="3202940"/>
                    <a:pt x="3201924" y="3812159"/>
                    <a:pt x="2436241" y="3812159"/>
                  </a:cubicBezTo>
                  <a:cubicBezTo>
                    <a:pt x="1687957" y="3812159"/>
                    <a:pt x="1061466" y="3202940"/>
                    <a:pt x="1061466" y="2437003"/>
                  </a:cubicBezTo>
                  <a:cubicBezTo>
                    <a:pt x="1061466" y="1688465"/>
                    <a:pt x="1687957" y="1061847"/>
                    <a:pt x="2436241" y="1061847"/>
                  </a:cubicBezTo>
                  <a:cubicBezTo>
                    <a:pt x="2436241" y="0"/>
                    <a:pt x="2436241" y="0"/>
                    <a:pt x="2436241" y="0"/>
                  </a:cubicBezTo>
                  <a:cubicBezTo>
                    <a:pt x="1096391" y="0"/>
                    <a:pt x="0" y="1096645"/>
                    <a:pt x="0" y="2437003"/>
                  </a:cubicBezTo>
                  <a:cubicBezTo>
                    <a:pt x="0" y="3777361"/>
                    <a:pt x="1096391" y="4874006"/>
                    <a:pt x="2436241" y="4874006"/>
                  </a:cubicBezTo>
                  <a:cubicBezTo>
                    <a:pt x="3776091" y="4874006"/>
                    <a:pt x="4872482" y="3777361"/>
                    <a:pt x="4872482" y="2437003"/>
                  </a:cubicBezTo>
                  <a:lnTo>
                    <a:pt x="3811016" y="2437003"/>
                  </a:lnTo>
                  <a:close/>
                </a:path>
              </a:pathLst>
            </a:custGeom>
            <a:solidFill>
              <a:srgbClr val="000000">
                <a:alpha val="16863"/>
              </a:srgbClr>
            </a:solidFill>
          </p:spPr>
        </p:sp>
      </p:grpSp>
      <p:grpSp>
        <p:nvGrpSpPr>
          <p:cNvPr name="Group 15" id="15"/>
          <p:cNvGrpSpPr/>
          <p:nvPr/>
        </p:nvGrpSpPr>
        <p:grpSpPr>
          <a:xfrm rot="0">
            <a:off x="12574051" y="4732197"/>
            <a:ext cx="1520413" cy="152041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070"/>
            </a:solidFill>
          </p:spPr>
        </p:sp>
        <p:sp>
          <p:nvSpPr>
            <p:cNvPr name="TextBox 17" id="17"/>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grpSp>
        <p:nvGrpSpPr>
          <p:cNvPr name="Group 18" id="18"/>
          <p:cNvGrpSpPr/>
          <p:nvPr/>
        </p:nvGrpSpPr>
        <p:grpSpPr>
          <a:xfrm rot="0">
            <a:off x="15165414" y="7359199"/>
            <a:ext cx="1522475" cy="152247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070"/>
            </a:solidFill>
          </p:spPr>
        </p:sp>
        <p:sp>
          <p:nvSpPr>
            <p:cNvPr name="TextBox 20" id="20"/>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grpSp>
        <p:nvGrpSpPr>
          <p:cNvPr name="Group 21" id="21"/>
          <p:cNvGrpSpPr/>
          <p:nvPr/>
        </p:nvGrpSpPr>
        <p:grpSpPr>
          <a:xfrm rot="0">
            <a:off x="15143331" y="4732197"/>
            <a:ext cx="1566642" cy="156664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070"/>
            </a:solidFill>
          </p:spPr>
        </p:sp>
        <p:sp>
          <p:nvSpPr>
            <p:cNvPr name="TextBox 23" id="23"/>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Freeform 24" id="24"/>
          <p:cNvSpPr/>
          <p:nvPr/>
        </p:nvSpPr>
        <p:spPr>
          <a:xfrm flipH="false" flipV="false" rot="0">
            <a:off x="12907331" y="5012146"/>
            <a:ext cx="1006253" cy="960515"/>
          </a:xfrm>
          <a:custGeom>
            <a:avLst/>
            <a:gdLst/>
            <a:ahLst/>
            <a:cxnLst/>
            <a:rect r="r" b="b" t="t" l="l"/>
            <a:pathLst>
              <a:path h="960515" w="1006253">
                <a:moveTo>
                  <a:pt x="0" y="0"/>
                </a:moveTo>
                <a:lnTo>
                  <a:pt x="1006253" y="0"/>
                </a:lnTo>
                <a:lnTo>
                  <a:pt x="1006253" y="960515"/>
                </a:lnTo>
                <a:lnTo>
                  <a:pt x="0" y="9605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15475197" y="5020658"/>
            <a:ext cx="902910" cy="916237"/>
          </a:xfrm>
          <a:custGeom>
            <a:avLst/>
            <a:gdLst/>
            <a:ahLst/>
            <a:cxnLst/>
            <a:rect r="r" b="b" t="t" l="l"/>
            <a:pathLst>
              <a:path h="916237" w="902910">
                <a:moveTo>
                  <a:pt x="0" y="0"/>
                </a:moveTo>
                <a:lnTo>
                  <a:pt x="902910" y="0"/>
                </a:lnTo>
                <a:lnTo>
                  <a:pt x="902910" y="916238"/>
                </a:lnTo>
                <a:lnTo>
                  <a:pt x="0" y="9162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6" id="26"/>
          <p:cNvSpPr txBox="true"/>
          <p:nvPr/>
        </p:nvSpPr>
        <p:spPr>
          <a:xfrm rot="0">
            <a:off x="1368488" y="14526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27" id="27"/>
          <p:cNvGrpSpPr/>
          <p:nvPr/>
        </p:nvGrpSpPr>
        <p:grpSpPr>
          <a:xfrm rot="0">
            <a:off x="916860" y="3148979"/>
            <a:ext cx="5689104" cy="275488"/>
            <a:chOff x="0" y="0"/>
            <a:chExt cx="4519796" cy="218865"/>
          </a:xfrm>
        </p:grpSpPr>
        <p:sp>
          <p:nvSpPr>
            <p:cNvPr name="Freeform 28" id="28"/>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29" id="29"/>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0" id="30"/>
          <p:cNvGrpSpPr/>
          <p:nvPr/>
        </p:nvGrpSpPr>
        <p:grpSpPr>
          <a:xfrm rot="0">
            <a:off x="12085550" y="-131220"/>
            <a:ext cx="9534019" cy="1112295"/>
            <a:chOff x="0" y="0"/>
            <a:chExt cx="1876002" cy="218865"/>
          </a:xfrm>
        </p:grpSpPr>
        <p:sp>
          <p:nvSpPr>
            <p:cNvPr name="Freeform 31" id="31"/>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2" id="32"/>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33" id="33"/>
          <p:cNvSpPr/>
          <p:nvPr/>
        </p:nvSpPr>
        <p:spPr>
          <a:xfrm>
            <a:off x="-715490" y="962025"/>
            <a:ext cx="12921291" cy="0"/>
          </a:xfrm>
          <a:prstGeom prst="line">
            <a:avLst/>
          </a:prstGeom>
          <a:ln cap="flat" w="38100">
            <a:solidFill>
              <a:srgbClr val="000000"/>
            </a:solidFill>
            <a:prstDash val="solid"/>
            <a:headEnd type="none" len="sm" w="sm"/>
            <a:tailEnd type="none" len="sm" w="sm"/>
          </a:ln>
        </p:spPr>
      </p:sp>
      <p:sp>
        <p:nvSpPr>
          <p:cNvPr name="Freeform 34" id="34"/>
          <p:cNvSpPr/>
          <p:nvPr/>
        </p:nvSpPr>
        <p:spPr>
          <a:xfrm flipH="false" flipV="false" rot="0">
            <a:off x="15475197" y="7647488"/>
            <a:ext cx="902910" cy="902910"/>
          </a:xfrm>
          <a:custGeom>
            <a:avLst/>
            <a:gdLst/>
            <a:ahLst/>
            <a:cxnLst/>
            <a:rect r="r" b="b" t="t" l="l"/>
            <a:pathLst>
              <a:path h="902910" w="902910">
                <a:moveTo>
                  <a:pt x="0" y="0"/>
                </a:moveTo>
                <a:lnTo>
                  <a:pt x="902910" y="0"/>
                </a:lnTo>
                <a:lnTo>
                  <a:pt x="902910" y="902910"/>
                </a:lnTo>
                <a:lnTo>
                  <a:pt x="0" y="9029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5" id="35"/>
          <p:cNvGrpSpPr/>
          <p:nvPr/>
        </p:nvGrpSpPr>
        <p:grpSpPr>
          <a:xfrm rot="0">
            <a:off x="12237950" y="21180"/>
            <a:ext cx="9534019" cy="1112295"/>
            <a:chOff x="0" y="0"/>
            <a:chExt cx="1876002" cy="218865"/>
          </a:xfrm>
        </p:grpSpPr>
        <p:sp>
          <p:nvSpPr>
            <p:cNvPr name="Freeform 36" id="36"/>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7" id="37"/>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38" id="38"/>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TextBox 39" id="39"/>
          <p:cNvSpPr txBox="true"/>
          <p:nvPr/>
        </p:nvSpPr>
        <p:spPr>
          <a:xfrm rot="0">
            <a:off x="2862008" y="4148152"/>
            <a:ext cx="5762977" cy="1286214"/>
          </a:xfrm>
          <a:prstGeom prst="rect">
            <a:avLst/>
          </a:prstGeom>
        </p:spPr>
        <p:txBody>
          <a:bodyPr anchor="t" rtlCol="false" tIns="0" lIns="0" bIns="0" rIns="0">
            <a:spAutoFit/>
          </a:bodyPr>
          <a:lstStyle/>
          <a:p>
            <a:pPr algn="l">
              <a:lnSpc>
                <a:spcPts val="3429"/>
              </a:lnSpc>
            </a:pPr>
            <a:r>
              <a:rPr lang="en-US" sz="2485" spc="243">
                <a:solidFill>
                  <a:srgbClr val="100F0D"/>
                </a:solidFill>
                <a:latin typeface="Montserrat Light"/>
                <a:ea typeface="Montserrat Light"/>
                <a:cs typeface="Montserrat Light"/>
                <a:sym typeface="Montserrat Light"/>
              </a:rPr>
              <a:t>Étape 1 : Collecte de données</a:t>
            </a:r>
          </a:p>
          <a:p>
            <a:pPr algn="l" marL="536550" indent="-268275" lvl="1">
              <a:lnSpc>
                <a:spcPts val="3429"/>
              </a:lnSpc>
              <a:buFont typeface="Arial"/>
              <a:buChar char="•"/>
            </a:pPr>
          </a:p>
          <a:p>
            <a:pPr algn="l">
              <a:lnSpc>
                <a:spcPts val="3429"/>
              </a:lnSpc>
            </a:pPr>
          </a:p>
        </p:txBody>
      </p:sp>
      <p:sp>
        <p:nvSpPr>
          <p:cNvPr name="TextBox 40" id="40"/>
          <p:cNvSpPr txBox="true"/>
          <p:nvPr/>
        </p:nvSpPr>
        <p:spPr>
          <a:xfrm rot="0">
            <a:off x="1104900" y="5121060"/>
            <a:ext cx="11469151" cy="5572464"/>
          </a:xfrm>
          <a:prstGeom prst="rect">
            <a:avLst/>
          </a:prstGeom>
        </p:spPr>
        <p:txBody>
          <a:bodyPr anchor="t" rtlCol="false" tIns="0" lIns="0" bIns="0" rIns="0">
            <a:spAutoFit/>
          </a:bodyPr>
          <a:lstStyle/>
          <a:p>
            <a:pPr algn="l" marL="536550" indent="-268275" lvl="1">
              <a:lnSpc>
                <a:spcPts val="3429"/>
              </a:lnSpc>
              <a:buFont typeface="Arial"/>
              <a:buChar char="•"/>
            </a:pPr>
            <a:r>
              <a:rPr lang="en-US" sz="2485" spc="243">
                <a:solidFill>
                  <a:srgbClr val="000000"/>
                </a:solidFill>
                <a:latin typeface="Montserrat Light"/>
                <a:ea typeface="Montserrat Light"/>
                <a:cs typeface="Montserrat Light"/>
                <a:sym typeface="Montserrat Light"/>
              </a:rPr>
              <a:t>Sources des données pour l'analyse de sentiments :</a:t>
            </a:r>
          </a:p>
          <a:p>
            <a:pPr algn="l" marL="1609649" indent="-402412" lvl="3">
              <a:lnSpc>
                <a:spcPts val="3429"/>
              </a:lnSpc>
              <a:buFont typeface="Arial"/>
              <a:buChar char="￭"/>
            </a:pPr>
            <a:r>
              <a:rPr lang="en-US" sz="2485" spc="243">
                <a:solidFill>
                  <a:srgbClr val="000000"/>
                </a:solidFill>
                <a:latin typeface="Montserrat Light"/>
                <a:ea typeface="Montserrat Light"/>
                <a:cs typeface="Montserrat Light"/>
                <a:sym typeface="Montserrat Light"/>
              </a:rPr>
              <a:t>Réseaux sociaux : Twitter, Facebook ...</a:t>
            </a:r>
          </a:p>
          <a:p>
            <a:pPr algn="l" marL="1609649" indent="-402412" lvl="3">
              <a:lnSpc>
                <a:spcPts val="3429"/>
              </a:lnSpc>
              <a:buFont typeface="Arial"/>
              <a:buChar char="￭"/>
            </a:pPr>
            <a:r>
              <a:rPr lang="en-US" sz="2485" spc="243">
                <a:solidFill>
                  <a:srgbClr val="000000"/>
                </a:solidFill>
                <a:latin typeface="Montserrat Light"/>
                <a:ea typeface="Montserrat Light"/>
                <a:cs typeface="Montserrat Light"/>
                <a:sym typeface="Montserrat Light"/>
              </a:rPr>
              <a:t>Avis produits : Amazon, Yelp...</a:t>
            </a:r>
          </a:p>
          <a:p>
            <a:pPr algn="l" marL="1609649" indent="-402412" lvl="3">
              <a:lnSpc>
                <a:spcPts val="3429"/>
              </a:lnSpc>
              <a:buFont typeface="Arial"/>
              <a:buChar char="￭"/>
            </a:pPr>
            <a:r>
              <a:rPr lang="en-US" sz="2485" spc="243">
                <a:solidFill>
                  <a:srgbClr val="000000"/>
                </a:solidFill>
                <a:latin typeface="Montserrat Light"/>
                <a:ea typeface="Montserrat Light"/>
                <a:cs typeface="Montserrat Light"/>
                <a:sym typeface="Montserrat Light"/>
              </a:rPr>
              <a:t>Forums et blogs</a:t>
            </a:r>
          </a:p>
          <a:p>
            <a:pPr algn="l">
              <a:lnSpc>
                <a:spcPts val="3429"/>
              </a:lnSpc>
            </a:pPr>
          </a:p>
          <a:p>
            <a:pPr algn="l">
              <a:lnSpc>
                <a:spcPts val="3429"/>
              </a:lnSpc>
            </a:pPr>
          </a:p>
          <a:p>
            <a:pPr algn="l" marL="536550" indent="-268275" lvl="1">
              <a:lnSpc>
                <a:spcPts val="3429"/>
              </a:lnSpc>
              <a:buFont typeface="Arial"/>
              <a:buChar char="•"/>
            </a:pPr>
            <a:r>
              <a:rPr lang="en-US" sz="2485" spc="243">
                <a:solidFill>
                  <a:srgbClr val="000000"/>
                </a:solidFill>
                <a:latin typeface="Montserrat Light"/>
                <a:ea typeface="Montserrat Light"/>
                <a:cs typeface="Montserrat Light"/>
                <a:sym typeface="Montserrat Light"/>
              </a:rPr>
              <a:t>Pour la collecte des données, des API peuvent être utilisées.  Par exemple, l'API Twitter permet d'extraire des tweets en temps réel en fonction de mots-clés ou de hashtags spécifiques.</a:t>
            </a:r>
          </a:p>
          <a:p>
            <a:pPr algn="l" marL="536550" indent="-268275" lvl="1">
              <a:lnSpc>
                <a:spcPts val="3429"/>
              </a:lnSpc>
              <a:buFont typeface="Arial"/>
              <a:buChar char="•"/>
            </a:pPr>
          </a:p>
          <a:p>
            <a:pPr algn="l">
              <a:lnSpc>
                <a:spcPts val="3429"/>
              </a:lnSpc>
            </a:pPr>
          </a:p>
          <a:p>
            <a:pPr algn="l">
              <a:lnSpc>
                <a:spcPts val="3429"/>
              </a:lnSpc>
            </a:pPr>
          </a:p>
        </p:txBody>
      </p:sp>
      <p:sp>
        <p:nvSpPr>
          <p:cNvPr name="TextBox 41" id="41"/>
          <p:cNvSpPr txBox="true"/>
          <p:nvPr/>
        </p:nvSpPr>
        <p:spPr>
          <a:xfrm rot="0">
            <a:off x="17969509" y="9719929"/>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4</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2559904" y="6800390"/>
            <a:ext cx="3329876" cy="1664938"/>
          </a:xfrm>
          <a:custGeom>
            <a:avLst/>
            <a:gdLst/>
            <a:ahLst/>
            <a:cxnLst/>
            <a:rect r="r" b="b" t="t" l="l"/>
            <a:pathLst>
              <a:path h="1664938" w="3329876">
                <a:moveTo>
                  <a:pt x="0" y="0"/>
                </a:moveTo>
                <a:lnTo>
                  <a:pt x="3329876" y="0"/>
                </a:lnTo>
                <a:lnTo>
                  <a:pt x="3329876" y="1664939"/>
                </a:lnTo>
                <a:lnTo>
                  <a:pt x="0" y="16649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07601" y="5148817"/>
            <a:ext cx="3343241" cy="1671621"/>
          </a:xfrm>
          <a:custGeom>
            <a:avLst/>
            <a:gdLst/>
            <a:ahLst/>
            <a:cxnLst/>
            <a:rect r="r" b="b" t="t" l="l"/>
            <a:pathLst>
              <a:path h="1671621" w="3343241">
                <a:moveTo>
                  <a:pt x="0" y="0"/>
                </a:moveTo>
                <a:lnTo>
                  <a:pt x="3343241" y="0"/>
                </a:lnTo>
                <a:lnTo>
                  <a:pt x="3343241" y="1671621"/>
                </a:lnTo>
                <a:lnTo>
                  <a:pt x="0" y="16716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8864124" y="6807073"/>
            <a:ext cx="3329876" cy="1664938"/>
          </a:xfrm>
          <a:custGeom>
            <a:avLst/>
            <a:gdLst/>
            <a:ahLst/>
            <a:cxnLst/>
            <a:rect r="r" b="b" t="t" l="l"/>
            <a:pathLst>
              <a:path h="1664938" w="3329876">
                <a:moveTo>
                  <a:pt x="0" y="0"/>
                </a:moveTo>
                <a:lnTo>
                  <a:pt x="3329877" y="0"/>
                </a:lnTo>
                <a:lnTo>
                  <a:pt x="3329877" y="1664938"/>
                </a:lnTo>
                <a:lnTo>
                  <a:pt x="0" y="16649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13086" y="5155500"/>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8534029" y="6813755"/>
            <a:ext cx="848136" cy="570260"/>
            <a:chOff x="0" y="0"/>
            <a:chExt cx="1930400" cy="1297940"/>
          </a:xfrm>
        </p:grpSpPr>
        <p:sp>
          <p:nvSpPr>
            <p:cNvPr name="Freeform 7" id="7"/>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2C92D5"/>
            </a:solidFill>
          </p:spPr>
        </p:sp>
      </p:grpSp>
      <p:grpSp>
        <p:nvGrpSpPr>
          <p:cNvPr name="Group 8" id="8"/>
          <p:cNvGrpSpPr>
            <a:grpSpLocks noChangeAspect="true"/>
          </p:cNvGrpSpPr>
          <p:nvPr/>
        </p:nvGrpSpPr>
        <p:grpSpPr>
          <a:xfrm rot="0">
            <a:off x="14914669" y="6800390"/>
            <a:ext cx="848136" cy="570260"/>
            <a:chOff x="0" y="0"/>
            <a:chExt cx="1930400" cy="1297940"/>
          </a:xfrm>
        </p:grpSpPr>
        <p:sp>
          <p:nvSpPr>
            <p:cNvPr name="Freeform 9" id="9"/>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13538A"/>
            </a:solidFill>
          </p:spPr>
        </p:sp>
      </p:grpSp>
      <p:grpSp>
        <p:nvGrpSpPr>
          <p:cNvPr name="Group 10" id="10"/>
          <p:cNvGrpSpPr/>
          <p:nvPr/>
        </p:nvGrpSpPr>
        <p:grpSpPr>
          <a:xfrm rot="0">
            <a:off x="3161336" y="5633384"/>
            <a:ext cx="2166177" cy="21661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B6B4"/>
            </a:solidFill>
          </p:spPr>
        </p:sp>
        <p:sp>
          <p:nvSpPr>
            <p:cNvPr name="TextBox 12" id="12"/>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1</a:t>
              </a:r>
            </a:p>
          </p:txBody>
        </p:sp>
      </p:grpSp>
      <p:grpSp>
        <p:nvGrpSpPr>
          <p:cNvPr name="Group 13" id="13"/>
          <p:cNvGrpSpPr/>
          <p:nvPr/>
        </p:nvGrpSpPr>
        <p:grpSpPr>
          <a:xfrm rot="0">
            <a:off x="6309034" y="5633384"/>
            <a:ext cx="2166177" cy="21661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C9EF"/>
            </a:solidFill>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2</a:t>
              </a:r>
            </a:p>
          </p:txBody>
        </p:sp>
      </p:grpSp>
      <p:grpSp>
        <p:nvGrpSpPr>
          <p:cNvPr name="Group 16" id="16"/>
          <p:cNvGrpSpPr/>
          <p:nvPr/>
        </p:nvGrpSpPr>
        <p:grpSpPr>
          <a:xfrm rot="0">
            <a:off x="9382165" y="5633384"/>
            <a:ext cx="2166177" cy="21661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name="TextBox 18" id="18"/>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3</a:t>
              </a:r>
            </a:p>
          </p:txBody>
        </p:sp>
      </p:grpSp>
      <p:grpSp>
        <p:nvGrpSpPr>
          <p:cNvPr name="Group 19" id="19"/>
          <p:cNvGrpSpPr/>
          <p:nvPr/>
        </p:nvGrpSpPr>
        <p:grpSpPr>
          <a:xfrm rot="0">
            <a:off x="12472267" y="5633384"/>
            <a:ext cx="2166177" cy="21661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name="TextBox 21" id="21"/>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4</a:t>
              </a:r>
            </a:p>
          </p:txBody>
        </p:sp>
      </p:grpSp>
      <p:sp>
        <p:nvSpPr>
          <p:cNvPr name="TextBox 22" id="22"/>
          <p:cNvSpPr txBox="true"/>
          <p:nvPr/>
        </p:nvSpPr>
        <p:spPr>
          <a:xfrm rot="0">
            <a:off x="6009661" y="8695310"/>
            <a:ext cx="2654445" cy="44733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 Prétraitement</a:t>
            </a:r>
          </a:p>
        </p:txBody>
      </p:sp>
      <p:sp>
        <p:nvSpPr>
          <p:cNvPr name="TextBox 23" id="23"/>
          <p:cNvSpPr txBox="true"/>
          <p:nvPr/>
        </p:nvSpPr>
        <p:spPr>
          <a:xfrm rot="0">
            <a:off x="12642819" y="8467195"/>
            <a:ext cx="2700143"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Evaluation des modèles</a:t>
            </a:r>
          </a:p>
        </p:txBody>
      </p:sp>
      <p:sp>
        <p:nvSpPr>
          <p:cNvPr name="TextBox 24" id="24"/>
          <p:cNvSpPr txBox="true"/>
          <p:nvPr/>
        </p:nvSpPr>
        <p:spPr>
          <a:xfrm rot="0">
            <a:off x="3242018" y="4663141"/>
            <a:ext cx="1965649"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collecte de données</a:t>
            </a:r>
          </a:p>
        </p:txBody>
      </p:sp>
      <p:sp>
        <p:nvSpPr>
          <p:cNvPr name="TextBox 25" id="25"/>
          <p:cNvSpPr txBox="true"/>
          <p:nvPr/>
        </p:nvSpPr>
        <p:spPr>
          <a:xfrm rot="0">
            <a:off x="8701554" y="4111563"/>
            <a:ext cx="3770713" cy="1359798"/>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Construction et entraînement du modèle </a:t>
            </a:r>
          </a:p>
        </p:txBody>
      </p:sp>
      <p:grpSp>
        <p:nvGrpSpPr>
          <p:cNvPr name="Group 26" id="26"/>
          <p:cNvGrpSpPr/>
          <p:nvPr/>
        </p:nvGrpSpPr>
        <p:grpSpPr>
          <a:xfrm rot="0">
            <a:off x="3550138" y="1234872"/>
            <a:ext cx="11187724" cy="1039832"/>
            <a:chOff x="0" y="0"/>
            <a:chExt cx="14916965" cy="1386443"/>
          </a:xfrm>
        </p:grpSpPr>
        <p:sp>
          <p:nvSpPr>
            <p:cNvPr name="TextBox 27" id="27"/>
            <p:cNvSpPr txBox="true"/>
            <p:nvPr/>
          </p:nvSpPr>
          <p:spPr>
            <a:xfrm rot="0">
              <a:off x="0" y="807746"/>
              <a:ext cx="14916965" cy="578697"/>
            </a:xfrm>
            <a:prstGeom prst="rect">
              <a:avLst/>
            </a:prstGeom>
          </p:spPr>
          <p:txBody>
            <a:bodyPr anchor="t" rtlCol="false" tIns="0" lIns="0" bIns="0" rIns="0">
              <a:spAutoFit/>
            </a:bodyPr>
            <a:lstStyle/>
            <a:p>
              <a:pPr algn="ctr" marL="0" indent="0" lvl="0">
                <a:lnSpc>
                  <a:spcPts val="3640"/>
                </a:lnSpc>
              </a:pPr>
              <a:r>
                <a:rPr lang="en-US" sz="2600" spc="78" u="none">
                  <a:solidFill>
                    <a:srgbClr val="191919"/>
                  </a:solidFill>
                  <a:latin typeface="Aileron"/>
                  <a:ea typeface="Aileron"/>
                  <a:cs typeface="Aileron"/>
                  <a:sym typeface="Aileron"/>
                </a:rPr>
                <a:t>5-Step Ordering Process</a:t>
              </a:r>
            </a:p>
          </p:txBody>
        </p:sp>
        <p:sp>
          <p:nvSpPr>
            <p:cNvPr name="TextBox 28" id="28"/>
            <p:cNvSpPr txBox="true"/>
            <p:nvPr/>
          </p:nvSpPr>
          <p:spPr>
            <a:xfrm rot="0">
              <a:off x="0" y="-47625"/>
              <a:ext cx="14916965" cy="767969"/>
            </a:xfrm>
            <a:prstGeom prst="rect">
              <a:avLst/>
            </a:prstGeom>
          </p:spPr>
          <p:txBody>
            <a:bodyPr anchor="t" rtlCol="false" tIns="0" lIns="0" bIns="0" rIns="0">
              <a:spAutoFit/>
            </a:bodyPr>
            <a:lstStyle/>
            <a:p>
              <a:pPr algn="ctr" marL="0" indent="0" lvl="0">
                <a:lnSpc>
                  <a:spcPts val="4716"/>
                </a:lnSpc>
              </a:pPr>
              <a:r>
                <a:rPr lang="en-US" b="true" sz="3600" spc="107" u="none">
                  <a:solidFill>
                    <a:srgbClr val="191919"/>
                  </a:solidFill>
                  <a:latin typeface="Aileron Ultra-Bold"/>
                  <a:ea typeface="Aileron Ultra-Bold"/>
                  <a:cs typeface="Aileron Ultra-Bold"/>
                  <a:sym typeface="Aileron Ultra-Bold"/>
                </a:rPr>
                <a:t>WAVE'S END SWIMWEAR</a:t>
              </a:r>
            </a:p>
          </p:txBody>
        </p:sp>
      </p:grpSp>
      <p:grpSp>
        <p:nvGrpSpPr>
          <p:cNvPr name="Group 29" id="29"/>
          <p:cNvGrpSpPr/>
          <p:nvPr/>
        </p:nvGrpSpPr>
        <p:grpSpPr>
          <a:xfrm rot="0">
            <a:off x="-4861436" y="1181100"/>
            <a:ext cx="19354610" cy="2258023"/>
            <a:chOff x="0" y="0"/>
            <a:chExt cx="1876002" cy="218865"/>
          </a:xfrm>
        </p:grpSpPr>
        <p:sp>
          <p:nvSpPr>
            <p:cNvPr name="Freeform 30" id="3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1" id="3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2" id="32"/>
          <p:cNvGrpSpPr/>
          <p:nvPr/>
        </p:nvGrpSpPr>
        <p:grpSpPr>
          <a:xfrm rot="0">
            <a:off x="1069260" y="3301379"/>
            <a:ext cx="5689104" cy="275488"/>
            <a:chOff x="0" y="0"/>
            <a:chExt cx="4519796" cy="218865"/>
          </a:xfrm>
        </p:grpSpPr>
        <p:sp>
          <p:nvSpPr>
            <p:cNvPr name="Freeform 33" id="33"/>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34" id="34"/>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35" id="35"/>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36" id="36"/>
          <p:cNvGrpSpPr/>
          <p:nvPr/>
        </p:nvGrpSpPr>
        <p:grpSpPr>
          <a:xfrm rot="0">
            <a:off x="12390350" y="173580"/>
            <a:ext cx="9534019" cy="1112295"/>
            <a:chOff x="0" y="0"/>
            <a:chExt cx="1876002" cy="218865"/>
          </a:xfrm>
        </p:grpSpPr>
        <p:sp>
          <p:nvSpPr>
            <p:cNvPr name="Freeform 37" id="37"/>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8" id="38"/>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9" id="39"/>
          <p:cNvGrpSpPr/>
          <p:nvPr/>
        </p:nvGrpSpPr>
        <p:grpSpPr>
          <a:xfrm rot="0">
            <a:off x="5964742" y="3634017"/>
            <a:ext cx="3086100" cy="6652983"/>
            <a:chOff x="0" y="0"/>
            <a:chExt cx="812800" cy="1752226"/>
          </a:xfrm>
        </p:grpSpPr>
        <p:sp>
          <p:nvSpPr>
            <p:cNvPr name="Freeform 40" id="40"/>
            <p:cNvSpPr/>
            <p:nvPr/>
          </p:nvSpPr>
          <p:spPr>
            <a:xfrm flipH="false" flipV="false" rot="0">
              <a:off x="0" y="0"/>
              <a:ext cx="812800" cy="1752226"/>
            </a:xfrm>
            <a:custGeom>
              <a:avLst/>
              <a:gdLst/>
              <a:ahLst/>
              <a:cxnLst/>
              <a:rect r="r" b="b" t="t" l="l"/>
              <a:pathLst>
                <a:path h="1752226" w="812800">
                  <a:moveTo>
                    <a:pt x="0" y="0"/>
                  </a:moveTo>
                  <a:lnTo>
                    <a:pt x="812800" y="0"/>
                  </a:lnTo>
                  <a:lnTo>
                    <a:pt x="812800" y="1752226"/>
                  </a:lnTo>
                  <a:lnTo>
                    <a:pt x="0" y="1752226"/>
                  </a:lnTo>
                  <a:close/>
                </a:path>
              </a:pathLst>
            </a:custGeom>
            <a:solidFill>
              <a:srgbClr val="000000">
                <a:alpha val="0"/>
              </a:srgbClr>
            </a:solidFill>
            <a:ln w="57150" cap="sq">
              <a:solidFill>
                <a:srgbClr val="37C9EF"/>
              </a:solidFill>
              <a:prstDash val="solid"/>
              <a:miter/>
            </a:ln>
          </p:spPr>
        </p:sp>
        <p:sp>
          <p:nvSpPr>
            <p:cNvPr name="TextBox 41" id="41"/>
            <p:cNvSpPr txBox="true"/>
            <p:nvPr/>
          </p:nvSpPr>
          <p:spPr>
            <a:xfrm>
              <a:off x="0" y="-19050"/>
              <a:ext cx="812800" cy="1771276"/>
            </a:xfrm>
            <a:prstGeom prst="rect">
              <a:avLst/>
            </a:prstGeom>
          </p:spPr>
          <p:txBody>
            <a:bodyPr anchor="ctr" rtlCol="false" tIns="50800" lIns="50800" bIns="50800" rIns="50800"/>
            <a:lstStyle/>
            <a:p>
              <a:pPr algn="ctr">
                <a:lnSpc>
                  <a:spcPts val="285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AutoShape 3" id="3"/>
          <p:cNvSpPr/>
          <p:nvPr/>
        </p:nvSpPr>
        <p:spPr>
          <a:xfrm>
            <a:off x="152568" y="6736691"/>
            <a:ext cx="17106732" cy="0"/>
          </a:xfrm>
          <a:prstGeom prst="line">
            <a:avLst/>
          </a:prstGeom>
          <a:ln cap="rnd" w="85725">
            <a:solidFill>
              <a:srgbClr val="000000"/>
            </a:solidFill>
            <a:prstDash val="solid"/>
            <a:headEnd type="none" len="sm" w="sm"/>
            <a:tailEnd type="none" len="sm" w="sm"/>
          </a:ln>
        </p:spPr>
      </p:sp>
      <p:grpSp>
        <p:nvGrpSpPr>
          <p:cNvPr name="Group 4" id="4"/>
          <p:cNvGrpSpPr/>
          <p:nvPr/>
        </p:nvGrpSpPr>
        <p:grpSpPr>
          <a:xfrm rot="0">
            <a:off x="8301891" y="1530209"/>
            <a:ext cx="8263730" cy="1877462"/>
            <a:chOff x="0" y="0"/>
            <a:chExt cx="11018307" cy="2503282"/>
          </a:xfrm>
        </p:grpSpPr>
        <p:sp>
          <p:nvSpPr>
            <p:cNvPr name="TextBox 5" id="5"/>
            <p:cNvSpPr txBox="true"/>
            <p:nvPr/>
          </p:nvSpPr>
          <p:spPr>
            <a:xfrm rot="0">
              <a:off x="0" y="1387520"/>
              <a:ext cx="11018307" cy="1115762"/>
            </a:xfrm>
            <a:prstGeom prst="rect">
              <a:avLst/>
            </a:prstGeom>
          </p:spPr>
          <p:txBody>
            <a:bodyPr anchor="t" rtlCol="false" tIns="0" lIns="0" bIns="0" rIns="0">
              <a:spAutoFit/>
            </a:bodyPr>
            <a:lstStyle/>
            <a:p>
              <a:pPr algn="l">
                <a:lnSpc>
                  <a:spcPts val="3406"/>
                </a:lnSpc>
                <a:spcBef>
                  <a:spcPct val="0"/>
                </a:spcBef>
              </a:pPr>
              <a:r>
                <a:rPr lang="en-US" sz="2433">
                  <a:solidFill>
                    <a:srgbClr val="FFFFFF"/>
                  </a:solidFill>
                  <a:latin typeface="Muli"/>
                  <a:ea typeface="Muli"/>
                  <a:cs typeface="Muli"/>
                  <a:sym typeface="Muli"/>
                </a:rPr>
                <a:t>Nous visons une augmentation de 20 % des nouveaux contrats chaque mois.</a:t>
              </a:r>
            </a:p>
          </p:txBody>
        </p:sp>
        <p:sp>
          <p:nvSpPr>
            <p:cNvPr name="TextBox 6" id="6"/>
            <p:cNvSpPr txBox="true"/>
            <p:nvPr/>
          </p:nvSpPr>
          <p:spPr>
            <a:xfrm rot="0">
              <a:off x="0" y="-57150"/>
              <a:ext cx="11018307" cy="1228279"/>
            </a:xfrm>
            <a:prstGeom prst="rect">
              <a:avLst/>
            </a:prstGeom>
          </p:spPr>
          <p:txBody>
            <a:bodyPr anchor="t" rtlCol="false" tIns="0" lIns="0" bIns="0" rIns="0">
              <a:spAutoFit/>
            </a:bodyPr>
            <a:lstStyle/>
            <a:p>
              <a:pPr algn="l">
                <a:lnSpc>
                  <a:spcPts val="7517"/>
                </a:lnSpc>
              </a:pPr>
              <a:r>
                <a:rPr lang="en-US" sz="5782" b="true">
                  <a:solidFill>
                    <a:srgbClr val="FFFFFF"/>
                  </a:solidFill>
                  <a:latin typeface="Muli Bold"/>
                  <a:ea typeface="Muli Bold"/>
                  <a:cs typeface="Muli Bold"/>
                  <a:sym typeface="Muli Bold"/>
                </a:rPr>
                <a:t>Plan Stratégique</a:t>
              </a:r>
            </a:p>
          </p:txBody>
        </p:sp>
      </p:grpSp>
      <p:grpSp>
        <p:nvGrpSpPr>
          <p:cNvPr name="Group 7" id="7"/>
          <p:cNvGrpSpPr/>
          <p:nvPr/>
        </p:nvGrpSpPr>
        <p:grpSpPr>
          <a:xfrm rot="0">
            <a:off x="2889233" y="7343201"/>
            <a:ext cx="2498550" cy="1161806"/>
            <a:chOff x="0" y="0"/>
            <a:chExt cx="3331400" cy="1549074"/>
          </a:xfrm>
        </p:grpSpPr>
        <p:sp>
          <p:nvSpPr>
            <p:cNvPr name="TextBox 8" id="8"/>
            <p:cNvSpPr txBox="true"/>
            <p:nvPr/>
          </p:nvSpPr>
          <p:spPr>
            <a:xfrm rot="0">
              <a:off x="0" y="-19050"/>
              <a:ext cx="3331400" cy="464397"/>
            </a:xfrm>
            <a:prstGeom prst="rect">
              <a:avLst/>
            </a:prstGeom>
          </p:spPr>
          <p:txBody>
            <a:bodyPr anchor="t" rtlCol="false" tIns="0" lIns="0" bIns="0" rIns="0">
              <a:spAutoFit/>
            </a:bodyPr>
            <a:lstStyle/>
            <a:p>
              <a:pPr algn="l" marL="0" indent="0" lvl="0">
                <a:lnSpc>
                  <a:spcPts val="2860"/>
                </a:lnSpc>
              </a:pPr>
            </a:p>
          </p:txBody>
        </p:sp>
        <p:sp>
          <p:nvSpPr>
            <p:cNvPr name="TextBox 9" id="9"/>
            <p:cNvSpPr txBox="true"/>
            <p:nvPr/>
          </p:nvSpPr>
          <p:spPr>
            <a:xfrm rot="0">
              <a:off x="0" y="686321"/>
              <a:ext cx="3331400" cy="839893"/>
            </a:xfrm>
            <a:prstGeom prst="rect">
              <a:avLst/>
            </a:prstGeom>
          </p:spPr>
          <p:txBody>
            <a:bodyPr anchor="t" rtlCol="false" tIns="0" lIns="0" bIns="0" rIns="0">
              <a:spAutoFit/>
            </a:bodyPr>
            <a:lstStyle/>
            <a:p>
              <a:pPr algn="l">
                <a:lnSpc>
                  <a:spcPts val="2554"/>
                </a:lnSpc>
                <a:spcBef>
                  <a:spcPct val="0"/>
                </a:spcBef>
              </a:pPr>
              <a:r>
                <a:rPr lang="en-US" sz="1825">
                  <a:solidFill>
                    <a:srgbClr val="191919"/>
                  </a:solidFill>
                  <a:latin typeface="Muli"/>
                  <a:ea typeface="Muli"/>
                  <a:cs typeface="Muli"/>
                  <a:sym typeface="Muli"/>
                </a:rPr>
                <a:t>Découper le texte en mots individuels.</a:t>
              </a:r>
            </a:p>
          </p:txBody>
        </p:sp>
      </p:grpSp>
      <p:grpSp>
        <p:nvGrpSpPr>
          <p:cNvPr name="Group 10" id="10"/>
          <p:cNvGrpSpPr/>
          <p:nvPr/>
        </p:nvGrpSpPr>
        <p:grpSpPr>
          <a:xfrm rot="0">
            <a:off x="3730790" y="6551875"/>
            <a:ext cx="336720" cy="33672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grpSp>
        <p:nvGrpSpPr>
          <p:cNvPr name="Group 12" id="12"/>
          <p:cNvGrpSpPr/>
          <p:nvPr/>
        </p:nvGrpSpPr>
        <p:grpSpPr>
          <a:xfrm rot="0">
            <a:off x="6943971" y="6568330"/>
            <a:ext cx="336720" cy="336720"/>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grpSp>
        <p:nvGrpSpPr>
          <p:cNvPr name="Group 14" id="14"/>
          <p:cNvGrpSpPr/>
          <p:nvPr/>
        </p:nvGrpSpPr>
        <p:grpSpPr>
          <a:xfrm rot="0">
            <a:off x="10325513" y="6568330"/>
            <a:ext cx="336720" cy="336720"/>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grpSp>
        <p:nvGrpSpPr>
          <p:cNvPr name="Group 16" id="16"/>
          <p:cNvGrpSpPr/>
          <p:nvPr/>
        </p:nvGrpSpPr>
        <p:grpSpPr>
          <a:xfrm rot="0">
            <a:off x="13707054" y="6568330"/>
            <a:ext cx="336720" cy="336720"/>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18" id="18"/>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19" id="19"/>
          <p:cNvGrpSpPr/>
          <p:nvPr/>
        </p:nvGrpSpPr>
        <p:grpSpPr>
          <a:xfrm rot="0">
            <a:off x="-4709036" y="1333500"/>
            <a:ext cx="19354610" cy="2258023"/>
            <a:chOff x="0" y="0"/>
            <a:chExt cx="1876002" cy="218865"/>
          </a:xfrm>
        </p:grpSpPr>
        <p:sp>
          <p:nvSpPr>
            <p:cNvPr name="Freeform 20" id="2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1" id="2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22" id="22"/>
          <p:cNvSpPr txBox="true"/>
          <p:nvPr/>
        </p:nvSpPr>
        <p:spPr>
          <a:xfrm rot="0">
            <a:off x="1673288" y="17574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23" id="23"/>
          <p:cNvGrpSpPr/>
          <p:nvPr/>
        </p:nvGrpSpPr>
        <p:grpSpPr>
          <a:xfrm rot="0">
            <a:off x="12542750" y="325980"/>
            <a:ext cx="9534019" cy="1112295"/>
            <a:chOff x="0" y="0"/>
            <a:chExt cx="1876002" cy="218865"/>
          </a:xfrm>
        </p:grpSpPr>
        <p:sp>
          <p:nvSpPr>
            <p:cNvPr name="Freeform 24" id="2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5" id="2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6" id="26"/>
          <p:cNvGrpSpPr/>
          <p:nvPr/>
        </p:nvGrpSpPr>
        <p:grpSpPr>
          <a:xfrm rot="0">
            <a:off x="1520888" y="3995967"/>
            <a:ext cx="736150" cy="636369"/>
            <a:chOff x="0" y="0"/>
            <a:chExt cx="193883" cy="167603"/>
          </a:xfrm>
        </p:grpSpPr>
        <p:sp>
          <p:nvSpPr>
            <p:cNvPr name="Freeform 27" id="27"/>
            <p:cNvSpPr/>
            <p:nvPr/>
          </p:nvSpPr>
          <p:spPr>
            <a:xfrm flipH="false" flipV="false" rot="0">
              <a:off x="0" y="0"/>
              <a:ext cx="193883" cy="167603"/>
            </a:xfrm>
            <a:custGeom>
              <a:avLst/>
              <a:gdLst/>
              <a:ahLst/>
              <a:cxnLst/>
              <a:rect r="r" b="b" t="t" l="l"/>
              <a:pathLst>
                <a:path h="167603" w="193883">
                  <a:moveTo>
                    <a:pt x="83802" y="0"/>
                  </a:moveTo>
                  <a:lnTo>
                    <a:pt x="110081" y="0"/>
                  </a:lnTo>
                  <a:cubicBezTo>
                    <a:pt x="156364" y="0"/>
                    <a:pt x="193883" y="37519"/>
                    <a:pt x="193883" y="83802"/>
                  </a:cubicBezTo>
                  <a:lnTo>
                    <a:pt x="193883" y="83802"/>
                  </a:lnTo>
                  <a:cubicBezTo>
                    <a:pt x="193883" y="130084"/>
                    <a:pt x="156364" y="167603"/>
                    <a:pt x="110081" y="167603"/>
                  </a:cubicBezTo>
                  <a:lnTo>
                    <a:pt x="83802" y="167603"/>
                  </a:lnTo>
                  <a:cubicBezTo>
                    <a:pt x="37519" y="167603"/>
                    <a:pt x="0" y="130084"/>
                    <a:pt x="0" y="83802"/>
                  </a:cubicBezTo>
                  <a:lnTo>
                    <a:pt x="0" y="83802"/>
                  </a:lnTo>
                  <a:cubicBezTo>
                    <a:pt x="0" y="37519"/>
                    <a:pt x="37519" y="0"/>
                    <a:pt x="83802" y="0"/>
                  </a:cubicBezTo>
                  <a:close/>
                </a:path>
              </a:pathLst>
            </a:custGeom>
            <a:solidFill>
              <a:srgbClr val="1A1A1A"/>
            </a:solidFill>
          </p:spPr>
        </p:sp>
        <p:sp>
          <p:nvSpPr>
            <p:cNvPr name="TextBox 28" id="28"/>
            <p:cNvSpPr txBox="true"/>
            <p:nvPr/>
          </p:nvSpPr>
          <p:spPr>
            <a:xfrm>
              <a:off x="0" y="-66675"/>
              <a:ext cx="193883" cy="234278"/>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Montserrat Classic Bold"/>
                  <a:ea typeface="Montserrat Classic Bold"/>
                  <a:cs typeface="Montserrat Classic Bold"/>
                  <a:sym typeface="Montserrat Classic Bold"/>
                </a:rPr>
                <a:t>02</a:t>
              </a:r>
            </a:p>
          </p:txBody>
        </p:sp>
      </p:grpSp>
      <p:sp>
        <p:nvSpPr>
          <p:cNvPr name="TextBox 29" id="29"/>
          <p:cNvSpPr txBox="true"/>
          <p:nvPr/>
        </p:nvSpPr>
        <p:spPr>
          <a:xfrm rot="0">
            <a:off x="2578891" y="3938817"/>
            <a:ext cx="7843404" cy="872829"/>
          </a:xfrm>
          <a:prstGeom prst="rect">
            <a:avLst/>
          </a:prstGeom>
        </p:spPr>
        <p:txBody>
          <a:bodyPr anchor="t" rtlCol="false" tIns="0" lIns="0" bIns="0" rIns="0">
            <a:spAutoFit/>
          </a:bodyPr>
          <a:lstStyle/>
          <a:p>
            <a:pPr algn="l" marL="536550" indent="-268275" lvl="1">
              <a:lnSpc>
                <a:spcPts val="3429"/>
              </a:lnSpc>
              <a:buFont typeface="Arial"/>
              <a:buChar char="•"/>
            </a:pPr>
            <a:r>
              <a:rPr lang="en-US" b="true" sz="2485" spc="243">
                <a:solidFill>
                  <a:srgbClr val="100F0D"/>
                </a:solidFill>
                <a:latin typeface="Montserrat Light Bold"/>
                <a:ea typeface="Montserrat Light Bold"/>
                <a:cs typeface="Montserrat Light Bold"/>
                <a:sym typeface="Montserrat Light Bold"/>
              </a:rPr>
              <a:t>Étape 2 : Prétraitement des données</a:t>
            </a:r>
          </a:p>
          <a:p>
            <a:pPr algn="l">
              <a:lnSpc>
                <a:spcPts val="3429"/>
              </a:lnSpc>
            </a:pPr>
          </a:p>
        </p:txBody>
      </p:sp>
      <p:sp>
        <p:nvSpPr>
          <p:cNvPr name="TextBox 30" id="30"/>
          <p:cNvSpPr txBox="true"/>
          <p:nvPr/>
        </p:nvSpPr>
        <p:spPr>
          <a:xfrm rot="0">
            <a:off x="3252075" y="5940603"/>
            <a:ext cx="3482346" cy="337656"/>
          </a:xfrm>
          <a:prstGeom prst="rect">
            <a:avLst/>
          </a:prstGeom>
        </p:spPr>
        <p:txBody>
          <a:bodyPr anchor="t" rtlCol="false" tIns="0" lIns="0" bIns="0" rIns="0">
            <a:spAutoFit/>
          </a:bodyPr>
          <a:lstStyle/>
          <a:p>
            <a:pPr algn="l" marL="0" indent="0" lvl="0">
              <a:lnSpc>
                <a:spcPts val="2728"/>
              </a:lnSpc>
            </a:pPr>
            <a:r>
              <a:rPr lang="en-US" b="true" sz="2098" spc="-62">
                <a:solidFill>
                  <a:srgbClr val="191919"/>
                </a:solidFill>
                <a:latin typeface="Muli Ultra-Bold"/>
                <a:ea typeface="Muli Ultra-Bold"/>
                <a:cs typeface="Muli Ultra-Bold"/>
                <a:sym typeface="Muli Ultra-Bold"/>
              </a:rPr>
              <a:t>Tokenisation</a:t>
            </a:r>
          </a:p>
        </p:txBody>
      </p:sp>
      <p:sp>
        <p:nvSpPr>
          <p:cNvPr name="TextBox 31" id="31"/>
          <p:cNvSpPr txBox="true"/>
          <p:nvPr/>
        </p:nvSpPr>
        <p:spPr>
          <a:xfrm rot="0">
            <a:off x="1028700" y="4584711"/>
            <a:ext cx="16881074" cy="857589"/>
          </a:xfrm>
          <a:prstGeom prst="rect">
            <a:avLst/>
          </a:prstGeom>
        </p:spPr>
        <p:txBody>
          <a:bodyPr anchor="t" rtlCol="false" tIns="0" lIns="0" bIns="0" rIns="0">
            <a:spAutoFit/>
          </a:bodyPr>
          <a:lstStyle/>
          <a:p>
            <a:pPr algn="l">
              <a:lnSpc>
                <a:spcPts val="3429"/>
              </a:lnSpc>
            </a:pPr>
            <a:r>
              <a:rPr lang="en-US" sz="2485" spc="243">
                <a:solidFill>
                  <a:srgbClr val="100F0D"/>
                </a:solidFill>
                <a:latin typeface="Montserrat Light"/>
                <a:ea typeface="Montserrat Light"/>
                <a:cs typeface="Montserrat Light"/>
                <a:sym typeface="Montserrat Light"/>
              </a:rPr>
              <a:t>Le prétraitement est essentiel pour nettoyer et préparer les textes avant de les analyser. Cela inclut :</a:t>
            </a:r>
          </a:p>
        </p:txBody>
      </p:sp>
      <p:sp>
        <p:nvSpPr>
          <p:cNvPr name="TextBox 32" id="32"/>
          <p:cNvSpPr txBox="true"/>
          <p:nvPr/>
        </p:nvSpPr>
        <p:spPr>
          <a:xfrm rot="0">
            <a:off x="17750529" y="9801491"/>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5</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AutoShape 3" id="3"/>
          <p:cNvSpPr/>
          <p:nvPr/>
        </p:nvSpPr>
        <p:spPr>
          <a:xfrm>
            <a:off x="152568" y="6736691"/>
            <a:ext cx="17106732" cy="0"/>
          </a:xfrm>
          <a:prstGeom prst="line">
            <a:avLst/>
          </a:prstGeom>
          <a:ln cap="rnd" w="85725">
            <a:solidFill>
              <a:srgbClr val="000000"/>
            </a:solidFill>
            <a:prstDash val="solid"/>
            <a:headEnd type="none" len="sm" w="sm"/>
            <a:tailEnd type="none" len="sm" w="sm"/>
          </a:ln>
        </p:spPr>
      </p:sp>
      <p:grpSp>
        <p:nvGrpSpPr>
          <p:cNvPr name="Group 4" id="4"/>
          <p:cNvGrpSpPr/>
          <p:nvPr/>
        </p:nvGrpSpPr>
        <p:grpSpPr>
          <a:xfrm rot="0">
            <a:off x="8301891" y="1530209"/>
            <a:ext cx="8263730" cy="1877462"/>
            <a:chOff x="0" y="0"/>
            <a:chExt cx="11018307" cy="2503282"/>
          </a:xfrm>
        </p:grpSpPr>
        <p:sp>
          <p:nvSpPr>
            <p:cNvPr name="TextBox 5" id="5"/>
            <p:cNvSpPr txBox="true"/>
            <p:nvPr/>
          </p:nvSpPr>
          <p:spPr>
            <a:xfrm rot="0">
              <a:off x="0" y="1387520"/>
              <a:ext cx="11018307" cy="1115762"/>
            </a:xfrm>
            <a:prstGeom prst="rect">
              <a:avLst/>
            </a:prstGeom>
          </p:spPr>
          <p:txBody>
            <a:bodyPr anchor="t" rtlCol="false" tIns="0" lIns="0" bIns="0" rIns="0">
              <a:spAutoFit/>
            </a:bodyPr>
            <a:lstStyle/>
            <a:p>
              <a:pPr algn="l">
                <a:lnSpc>
                  <a:spcPts val="3406"/>
                </a:lnSpc>
                <a:spcBef>
                  <a:spcPct val="0"/>
                </a:spcBef>
              </a:pPr>
              <a:r>
                <a:rPr lang="en-US" sz="2433">
                  <a:solidFill>
                    <a:srgbClr val="FFFFFF"/>
                  </a:solidFill>
                  <a:latin typeface="Muli"/>
                  <a:ea typeface="Muli"/>
                  <a:cs typeface="Muli"/>
                  <a:sym typeface="Muli"/>
                </a:rPr>
                <a:t>Nous visons une augmentation de 20 % des nouveaux contrats chaque mois.</a:t>
              </a:r>
            </a:p>
          </p:txBody>
        </p:sp>
        <p:sp>
          <p:nvSpPr>
            <p:cNvPr name="TextBox 6" id="6"/>
            <p:cNvSpPr txBox="true"/>
            <p:nvPr/>
          </p:nvSpPr>
          <p:spPr>
            <a:xfrm rot="0">
              <a:off x="0" y="-57150"/>
              <a:ext cx="11018307" cy="1228279"/>
            </a:xfrm>
            <a:prstGeom prst="rect">
              <a:avLst/>
            </a:prstGeom>
          </p:spPr>
          <p:txBody>
            <a:bodyPr anchor="t" rtlCol="false" tIns="0" lIns="0" bIns="0" rIns="0">
              <a:spAutoFit/>
            </a:bodyPr>
            <a:lstStyle/>
            <a:p>
              <a:pPr algn="l">
                <a:lnSpc>
                  <a:spcPts val="7517"/>
                </a:lnSpc>
              </a:pPr>
              <a:r>
                <a:rPr lang="en-US" sz="5782" b="true">
                  <a:solidFill>
                    <a:srgbClr val="FFFFFF"/>
                  </a:solidFill>
                  <a:latin typeface="Muli Bold"/>
                  <a:ea typeface="Muli Bold"/>
                  <a:cs typeface="Muli Bold"/>
                  <a:sym typeface="Muli Bold"/>
                </a:rPr>
                <a:t>Plan Stratégique</a:t>
              </a:r>
            </a:p>
          </p:txBody>
        </p:sp>
      </p:grpSp>
      <p:grpSp>
        <p:nvGrpSpPr>
          <p:cNvPr name="Group 7" id="7"/>
          <p:cNvGrpSpPr/>
          <p:nvPr/>
        </p:nvGrpSpPr>
        <p:grpSpPr>
          <a:xfrm rot="0">
            <a:off x="2889233" y="7343201"/>
            <a:ext cx="2498550" cy="1161806"/>
            <a:chOff x="0" y="0"/>
            <a:chExt cx="3331400" cy="1549074"/>
          </a:xfrm>
        </p:grpSpPr>
        <p:sp>
          <p:nvSpPr>
            <p:cNvPr name="TextBox 8" id="8"/>
            <p:cNvSpPr txBox="true"/>
            <p:nvPr/>
          </p:nvSpPr>
          <p:spPr>
            <a:xfrm rot="0">
              <a:off x="0" y="-19050"/>
              <a:ext cx="3331400" cy="464397"/>
            </a:xfrm>
            <a:prstGeom prst="rect">
              <a:avLst/>
            </a:prstGeom>
          </p:spPr>
          <p:txBody>
            <a:bodyPr anchor="t" rtlCol="false" tIns="0" lIns="0" bIns="0" rIns="0">
              <a:spAutoFit/>
            </a:bodyPr>
            <a:lstStyle/>
            <a:p>
              <a:pPr algn="l" marL="0" indent="0" lvl="0">
                <a:lnSpc>
                  <a:spcPts val="2860"/>
                </a:lnSpc>
              </a:pPr>
            </a:p>
          </p:txBody>
        </p:sp>
        <p:sp>
          <p:nvSpPr>
            <p:cNvPr name="TextBox 9" id="9"/>
            <p:cNvSpPr txBox="true"/>
            <p:nvPr/>
          </p:nvSpPr>
          <p:spPr>
            <a:xfrm rot="0">
              <a:off x="0" y="686321"/>
              <a:ext cx="3331400" cy="839893"/>
            </a:xfrm>
            <a:prstGeom prst="rect">
              <a:avLst/>
            </a:prstGeom>
          </p:spPr>
          <p:txBody>
            <a:bodyPr anchor="t" rtlCol="false" tIns="0" lIns="0" bIns="0" rIns="0">
              <a:spAutoFit/>
            </a:bodyPr>
            <a:lstStyle/>
            <a:p>
              <a:pPr algn="l">
                <a:lnSpc>
                  <a:spcPts val="2554"/>
                </a:lnSpc>
                <a:spcBef>
                  <a:spcPct val="0"/>
                </a:spcBef>
              </a:pPr>
              <a:r>
                <a:rPr lang="en-US" sz="1825">
                  <a:solidFill>
                    <a:srgbClr val="191919"/>
                  </a:solidFill>
                  <a:latin typeface="Muli"/>
                  <a:ea typeface="Muli"/>
                  <a:cs typeface="Muli"/>
                  <a:sym typeface="Muli"/>
                </a:rPr>
                <a:t>Découper le texte en mots individuels.</a:t>
              </a:r>
            </a:p>
          </p:txBody>
        </p:sp>
      </p:grpSp>
      <p:grpSp>
        <p:nvGrpSpPr>
          <p:cNvPr name="Group 10" id="10"/>
          <p:cNvGrpSpPr/>
          <p:nvPr/>
        </p:nvGrpSpPr>
        <p:grpSpPr>
          <a:xfrm rot="0">
            <a:off x="3730790" y="6551875"/>
            <a:ext cx="336720" cy="33672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12" id="12"/>
          <p:cNvSpPr txBox="true"/>
          <p:nvPr/>
        </p:nvSpPr>
        <p:spPr>
          <a:xfrm rot="0">
            <a:off x="6240008" y="7848416"/>
            <a:ext cx="2498550" cy="1656715"/>
          </a:xfrm>
          <a:prstGeom prst="rect">
            <a:avLst/>
          </a:prstGeom>
        </p:spPr>
        <p:txBody>
          <a:bodyPr anchor="t" rtlCol="false" tIns="0" lIns="0" bIns="0" rIns="0">
            <a:spAutoFit/>
          </a:bodyPr>
          <a:lstStyle/>
          <a:p>
            <a:pPr algn="l">
              <a:lnSpc>
                <a:spcPts val="2660"/>
              </a:lnSpc>
              <a:spcBef>
                <a:spcPct val="0"/>
              </a:spcBef>
            </a:pPr>
            <a:r>
              <a:rPr lang="en-US" sz="1900">
                <a:solidFill>
                  <a:srgbClr val="191919"/>
                </a:solidFill>
                <a:latin typeface="Muli"/>
                <a:ea typeface="Muli"/>
                <a:cs typeface="Muli"/>
                <a:sym typeface="Muli"/>
              </a:rPr>
              <a:t>Suppression des mots vides : Enlever les mots non informatifs (comme "le", "de", "et")</a:t>
            </a:r>
          </a:p>
        </p:txBody>
      </p:sp>
      <p:grpSp>
        <p:nvGrpSpPr>
          <p:cNvPr name="Group 13" id="13"/>
          <p:cNvGrpSpPr/>
          <p:nvPr/>
        </p:nvGrpSpPr>
        <p:grpSpPr>
          <a:xfrm rot="0">
            <a:off x="6943971" y="6568330"/>
            <a:ext cx="336720" cy="336720"/>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grpSp>
        <p:nvGrpSpPr>
          <p:cNvPr name="Group 15" id="15"/>
          <p:cNvGrpSpPr/>
          <p:nvPr/>
        </p:nvGrpSpPr>
        <p:grpSpPr>
          <a:xfrm rot="0">
            <a:off x="10325513" y="6568330"/>
            <a:ext cx="336720" cy="336720"/>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grpSp>
        <p:nvGrpSpPr>
          <p:cNvPr name="Group 17" id="17"/>
          <p:cNvGrpSpPr/>
          <p:nvPr/>
        </p:nvGrpSpPr>
        <p:grpSpPr>
          <a:xfrm rot="0">
            <a:off x="13707054" y="6568330"/>
            <a:ext cx="336720" cy="336720"/>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19" id="19"/>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20" id="20"/>
          <p:cNvGrpSpPr/>
          <p:nvPr/>
        </p:nvGrpSpPr>
        <p:grpSpPr>
          <a:xfrm rot="0">
            <a:off x="-4709036" y="1333500"/>
            <a:ext cx="19354610" cy="2258023"/>
            <a:chOff x="0" y="0"/>
            <a:chExt cx="1876002" cy="218865"/>
          </a:xfrm>
        </p:grpSpPr>
        <p:sp>
          <p:nvSpPr>
            <p:cNvPr name="Freeform 21" id="21"/>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2" id="22"/>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23" id="23"/>
          <p:cNvSpPr txBox="true"/>
          <p:nvPr/>
        </p:nvSpPr>
        <p:spPr>
          <a:xfrm rot="0">
            <a:off x="1673288" y="17574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24" id="24"/>
          <p:cNvGrpSpPr/>
          <p:nvPr/>
        </p:nvGrpSpPr>
        <p:grpSpPr>
          <a:xfrm rot="0">
            <a:off x="12542750" y="325980"/>
            <a:ext cx="9534019" cy="1112295"/>
            <a:chOff x="0" y="0"/>
            <a:chExt cx="1876002" cy="218865"/>
          </a:xfrm>
        </p:grpSpPr>
        <p:sp>
          <p:nvSpPr>
            <p:cNvPr name="Freeform 25" id="25"/>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6" id="26"/>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7" id="27"/>
          <p:cNvGrpSpPr/>
          <p:nvPr/>
        </p:nvGrpSpPr>
        <p:grpSpPr>
          <a:xfrm rot="0">
            <a:off x="1520888" y="3995967"/>
            <a:ext cx="736150" cy="636369"/>
            <a:chOff x="0" y="0"/>
            <a:chExt cx="193883" cy="167603"/>
          </a:xfrm>
        </p:grpSpPr>
        <p:sp>
          <p:nvSpPr>
            <p:cNvPr name="Freeform 28" id="28"/>
            <p:cNvSpPr/>
            <p:nvPr/>
          </p:nvSpPr>
          <p:spPr>
            <a:xfrm flipH="false" flipV="false" rot="0">
              <a:off x="0" y="0"/>
              <a:ext cx="193883" cy="167603"/>
            </a:xfrm>
            <a:custGeom>
              <a:avLst/>
              <a:gdLst/>
              <a:ahLst/>
              <a:cxnLst/>
              <a:rect r="r" b="b" t="t" l="l"/>
              <a:pathLst>
                <a:path h="167603" w="193883">
                  <a:moveTo>
                    <a:pt x="83802" y="0"/>
                  </a:moveTo>
                  <a:lnTo>
                    <a:pt x="110081" y="0"/>
                  </a:lnTo>
                  <a:cubicBezTo>
                    <a:pt x="156364" y="0"/>
                    <a:pt x="193883" y="37519"/>
                    <a:pt x="193883" y="83802"/>
                  </a:cubicBezTo>
                  <a:lnTo>
                    <a:pt x="193883" y="83802"/>
                  </a:lnTo>
                  <a:cubicBezTo>
                    <a:pt x="193883" y="130084"/>
                    <a:pt x="156364" y="167603"/>
                    <a:pt x="110081" y="167603"/>
                  </a:cubicBezTo>
                  <a:lnTo>
                    <a:pt x="83802" y="167603"/>
                  </a:lnTo>
                  <a:cubicBezTo>
                    <a:pt x="37519" y="167603"/>
                    <a:pt x="0" y="130084"/>
                    <a:pt x="0" y="83802"/>
                  </a:cubicBezTo>
                  <a:lnTo>
                    <a:pt x="0" y="83802"/>
                  </a:lnTo>
                  <a:cubicBezTo>
                    <a:pt x="0" y="37519"/>
                    <a:pt x="37519" y="0"/>
                    <a:pt x="83802" y="0"/>
                  </a:cubicBezTo>
                  <a:close/>
                </a:path>
              </a:pathLst>
            </a:custGeom>
            <a:solidFill>
              <a:srgbClr val="1A1A1A"/>
            </a:solidFill>
          </p:spPr>
        </p:sp>
        <p:sp>
          <p:nvSpPr>
            <p:cNvPr name="TextBox 29" id="29"/>
            <p:cNvSpPr txBox="true"/>
            <p:nvPr/>
          </p:nvSpPr>
          <p:spPr>
            <a:xfrm>
              <a:off x="0" y="-66675"/>
              <a:ext cx="193883" cy="234278"/>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Montserrat Classic Bold"/>
                  <a:ea typeface="Montserrat Classic Bold"/>
                  <a:cs typeface="Montserrat Classic Bold"/>
                  <a:sym typeface="Montserrat Classic Bold"/>
                </a:rPr>
                <a:t>02</a:t>
              </a:r>
            </a:p>
          </p:txBody>
        </p:sp>
      </p:grpSp>
      <p:sp>
        <p:nvSpPr>
          <p:cNvPr name="TextBox 30" id="30"/>
          <p:cNvSpPr txBox="true"/>
          <p:nvPr/>
        </p:nvSpPr>
        <p:spPr>
          <a:xfrm rot="0">
            <a:off x="2578891" y="3938817"/>
            <a:ext cx="7843404" cy="872829"/>
          </a:xfrm>
          <a:prstGeom prst="rect">
            <a:avLst/>
          </a:prstGeom>
        </p:spPr>
        <p:txBody>
          <a:bodyPr anchor="t" rtlCol="false" tIns="0" lIns="0" bIns="0" rIns="0">
            <a:spAutoFit/>
          </a:bodyPr>
          <a:lstStyle/>
          <a:p>
            <a:pPr algn="l" marL="536550" indent="-268275" lvl="1">
              <a:lnSpc>
                <a:spcPts val="3429"/>
              </a:lnSpc>
              <a:buFont typeface="Arial"/>
              <a:buChar char="•"/>
            </a:pPr>
            <a:r>
              <a:rPr lang="en-US" b="true" sz="2485" spc="243">
                <a:solidFill>
                  <a:srgbClr val="100F0D"/>
                </a:solidFill>
                <a:latin typeface="Montserrat Light Bold"/>
                <a:ea typeface="Montserrat Light Bold"/>
                <a:cs typeface="Montserrat Light Bold"/>
                <a:sym typeface="Montserrat Light Bold"/>
              </a:rPr>
              <a:t>Étape 2 : Prétraitement des données</a:t>
            </a:r>
          </a:p>
          <a:p>
            <a:pPr algn="l">
              <a:lnSpc>
                <a:spcPts val="3429"/>
              </a:lnSpc>
            </a:pPr>
          </a:p>
        </p:txBody>
      </p:sp>
      <p:sp>
        <p:nvSpPr>
          <p:cNvPr name="TextBox 31" id="31"/>
          <p:cNvSpPr txBox="true"/>
          <p:nvPr/>
        </p:nvSpPr>
        <p:spPr>
          <a:xfrm rot="0">
            <a:off x="3252075" y="5940603"/>
            <a:ext cx="3482346" cy="337656"/>
          </a:xfrm>
          <a:prstGeom prst="rect">
            <a:avLst/>
          </a:prstGeom>
        </p:spPr>
        <p:txBody>
          <a:bodyPr anchor="t" rtlCol="false" tIns="0" lIns="0" bIns="0" rIns="0">
            <a:spAutoFit/>
          </a:bodyPr>
          <a:lstStyle/>
          <a:p>
            <a:pPr algn="l" marL="0" indent="0" lvl="0">
              <a:lnSpc>
                <a:spcPts val="2728"/>
              </a:lnSpc>
            </a:pPr>
            <a:r>
              <a:rPr lang="en-US" b="true" sz="2098" spc="-62">
                <a:solidFill>
                  <a:srgbClr val="191919"/>
                </a:solidFill>
                <a:latin typeface="Muli Ultra-Bold"/>
                <a:ea typeface="Muli Ultra-Bold"/>
                <a:cs typeface="Muli Ultra-Bold"/>
                <a:sym typeface="Muli Ultra-Bold"/>
              </a:rPr>
              <a:t>Tokenisation</a:t>
            </a:r>
          </a:p>
        </p:txBody>
      </p:sp>
      <p:sp>
        <p:nvSpPr>
          <p:cNvPr name="TextBox 32" id="32"/>
          <p:cNvSpPr txBox="true"/>
          <p:nvPr/>
        </p:nvSpPr>
        <p:spPr>
          <a:xfrm rot="0">
            <a:off x="6367893" y="5836865"/>
            <a:ext cx="2354272" cy="715010"/>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Suppression des mots vides</a:t>
            </a:r>
          </a:p>
        </p:txBody>
      </p:sp>
      <p:sp>
        <p:nvSpPr>
          <p:cNvPr name="TextBox 33" id="33"/>
          <p:cNvSpPr txBox="true"/>
          <p:nvPr/>
        </p:nvSpPr>
        <p:spPr>
          <a:xfrm rot="0">
            <a:off x="17750529" y="9801491"/>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5</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AutoShape 3" id="3"/>
          <p:cNvSpPr/>
          <p:nvPr/>
        </p:nvSpPr>
        <p:spPr>
          <a:xfrm>
            <a:off x="152568" y="6736691"/>
            <a:ext cx="17106732" cy="0"/>
          </a:xfrm>
          <a:prstGeom prst="line">
            <a:avLst/>
          </a:prstGeom>
          <a:ln cap="rnd" w="85725">
            <a:solidFill>
              <a:srgbClr val="000000"/>
            </a:solidFill>
            <a:prstDash val="solid"/>
            <a:headEnd type="none" len="sm" w="sm"/>
            <a:tailEnd type="none" len="sm" w="sm"/>
          </a:ln>
        </p:spPr>
      </p:sp>
      <p:grpSp>
        <p:nvGrpSpPr>
          <p:cNvPr name="Group 4" id="4"/>
          <p:cNvGrpSpPr/>
          <p:nvPr/>
        </p:nvGrpSpPr>
        <p:grpSpPr>
          <a:xfrm rot="0">
            <a:off x="8301891" y="1530209"/>
            <a:ext cx="8263730" cy="1877462"/>
            <a:chOff x="0" y="0"/>
            <a:chExt cx="11018307" cy="2503282"/>
          </a:xfrm>
        </p:grpSpPr>
        <p:sp>
          <p:nvSpPr>
            <p:cNvPr name="TextBox 5" id="5"/>
            <p:cNvSpPr txBox="true"/>
            <p:nvPr/>
          </p:nvSpPr>
          <p:spPr>
            <a:xfrm rot="0">
              <a:off x="0" y="1387520"/>
              <a:ext cx="11018307" cy="1115762"/>
            </a:xfrm>
            <a:prstGeom prst="rect">
              <a:avLst/>
            </a:prstGeom>
          </p:spPr>
          <p:txBody>
            <a:bodyPr anchor="t" rtlCol="false" tIns="0" lIns="0" bIns="0" rIns="0">
              <a:spAutoFit/>
            </a:bodyPr>
            <a:lstStyle/>
            <a:p>
              <a:pPr algn="l">
                <a:lnSpc>
                  <a:spcPts val="3406"/>
                </a:lnSpc>
                <a:spcBef>
                  <a:spcPct val="0"/>
                </a:spcBef>
              </a:pPr>
              <a:r>
                <a:rPr lang="en-US" sz="2433">
                  <a:solidFill>
                    <a:srgbClr val="FFFFFF"/>
                  </a:solidFill>
                  <a:latin typeface="Muli"/>
                  <a:ea typeface="Muli"/>
                  <a:cs typeface="Muli"/>
                  <a:sym typeface="Muli"/>
                </a:rPr>
                <a:t>Nous visons une augmentation de 20 % des nouveaux contrats chaque mois.</a:t>
              </a:r>
            </a:p>
          </p:txBody>
        </p:sp>
        <p:sp>
          <p:nvSpPr>
            <p:cNvPr name="TextBox 6" id="6"/>
            <p:cNvSpPr txBox="true"/>
            <p:nvPr/>
          </p:nvSpPr>
          <p:spPr>
            <a:xfrm rot="0">
              <a:off x="0" y="-57150"/>
              <a:ext cx="11018307" cy="1228279"/>
            </a:xfrm>
            <a:prstGeom prst="rect">
              <a:avLst/>
            </a:prstGeom>
          </p:spPr>
          <p:txBody>
            <a:bodyPr anchor="t" rtlCol="false" tIns="0" lIns="0" bIns="0" rIns="0">
              <a:spAutoFit/>
            </a:bodyPr>
            <a:lstStyle/>
            <a:p>
              <a:pPr algn="l">
                <a:lnSpc>
                  <a:spcPts val="7517"/>
                </a:lnSpc>
              </a:pPr>
              <a:r>
                <a:rPr lang="en-US" sz="5782" b="true">
                  <a:solidFill>
                    <a:srgbClr val="FFFFFF"/>
                  </a:solidFill>
                  <a:latin typeface="Muli Bold"/>
                  <a:ea typeface="Muli Bold"/>
                  <a:cs typeface="Muli Bold"/>
                  <a:sym typeface="Muli Bold"/>
                </a:rPr>
                <a:t>Plan Stratégique</a:t>
              </a:r>
            </a:p>
          </p:txBody>
        </p:sp>
      </p:grpSp>
      <p:grpSp>
        <p:nvGrpSpPr>
          <p:cNvPr name="Group 7" id="7"/>
          <p:cNvGrpSpPr/>
          <p:nvPr/>
        </p:nvGrpSpPr>
        <p:grpSpPr>
          <a:xfrm rot="0">
            <a:off x="2889233" y="7343201"/>
            <a:ext cx="2498550" cy="1161806"/>
            <a:chOff x="0" y="0"/>
            <a:chExt cx="3331400" cy="1549074"/>
          </a:xfrm>
        </p:grpSpPr>
        <p:sp>
          <p:nvSpPr>
            <p:cNvPr name="TextBox 8" id="8"/>
            <p:cNvSpPr txBox="true"/>
            <p:nvPr/>
          </p:nvSpPr>
          <p:spPr>
            <a:xfrm rot="0">
              <a:off x="0" y="-19050"/>
              <a:ext cx="3331400" cy="464397"/>
            </a:xfrm>
            <a:prstGeom prst="rect">
              <a:avLst/>
            </a:prstGeom>
          </p:spPr>
          <p:txBody>
            <a:bodyPr anchor="t" rtlCol="false" tIns="0" lIns="0" bIns="0" rIns="0">
              <a:spAutoFit/>
            </a:bodyPr>
            <a:lstStyle/>
            <a:p>
              <a:pPr algn="l" marL="0" indent="0" lvl="0">
                <a:lnSpc>
                  <a:spcPts val="2860"/>
                </a:lnSpc>
              </a:pPr>
            </a:p>
          </p:txBody>
        </p:sp>
        <p:sp>
          <p:nvSpPr>
            <p:cNvPr name="TextBox 9" id="9"/>
            <p:cNvSpPr txBox="true"/>
            <p:nvPr/>
          </p:nvSpPr>
          <p:spPr>
            <a:xfrm rot="0">
              <a:off x="0" y="686321"/>
              <a:ext cx="3331400" cy="839893"/>
            </a:xfrm>
            <a:prstGeom prst="rect">
              <a:avLst/>
            </a:prstGeom>
          </p:spPr>
          <p:txBody>
            <a:bodyPr anchor="t" rtlCol="false" tIns="0" lIns="0" bIns="0" rIns="0">
              <a:spAutoFit/>
            </a:bodyPr>
            <a:lstStyle/>
            <a:p>
              <a:pPr algn="l">
                <a:lnSpc>
                  <a:spcPts val="2554"/>
                </a:lnSpc>
                <a:spcBef>
                  <a:spcPct val="0"/>
                </a:spcBef>
              </a:pPr>
              <a:r>
                <a:rPr lang="en-US" sz="1825">
                  <a:solidFill>
                    <a:srgbClr val="191919"/>
                  </a:solidFill>
                  <a:latin typeface="Muli"/>
                  <a:ea typeface="Muli"/>
                  <a:cs typeface="Muli"/>
                  <a:sym typeface="Muli"/>
                </a:rPr>
                <a:t>Découper le texte en mots individuels.</a:t>
              </a:r>
            </a:p>
          </p:txBody>
        </p:sp>
      </p:grpSp>
      <p:grpSp>
        <p:nvGrpSpPr>
          <p:cNvPr name="Group 10" id="10"/>
          <p:cNvGrpSpPr/>
          <p:nvPr/>
        </p:nvGrpSpPr>
        <p:grpSpPr>
          <a:xfrm rot="0">
            <a:off x="3730790" y="6551875"/>
            <a:ext cx="336720" cy="33672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12" id="12"/>
          <p:cNvSpPr txBox="true"/>
          <p:nvPr/>
        </p:nvSpPr>
        <p:spPr>
          <a:xfrm rot="0">
            <a:off x="6240008" y="7848416"/>
            <a:ext cx="2498550" cy="1656715"/>
          </a:xfrm>
          <a:prstGeom prst="rect">
            <a:avLst/>
          </a:prstGeom>
        </p:spPr>
        <p:txBody>
          <a:bodyPr anchor="t" rtlCol="false" tIns="0" lIns="0" bIns="0" rIns="0">
            <a:spAutoFit/>
          </a:bodyPr>
          <a:lstStyle/>
          <a:p>
            <a:pPr algn="l">
              <a:lnSpc>
                <a:spcPts val="2660"/>
              </a:lnSpc>
              <a:spcBef>
                <a:spcPct val="0"/>
              </a:spcBef>
            </a:pPr>
            <a:r>
              <a:rPr lang="en-US" sz="1900">
                <a:solidFill>
                  <a:srgbClr val="191919"/>
                </a:solidFill>
                <a:latin typeface="Muli"/>
                <a:ea typeface="Muli"/>
                <a:cs typeface="Muli"/>
                <a:sym typeface="Muli"/>
              </a:rPr>
              <a:t>Suppression des mots vides : Enlever les mots non informatifs (comme "le", "de", "et")</a:t>
            </a:r>
          </a:p>
        </p:txBody>
      </p:sp>
      <p:grpSp>
        <p:nvGrpSpPr>
          <p:cNvPr name="Group 13" id="13"/>
          <p:cNvGrpSpPr/>
          <p:nvPr/>
        </p:nvGrpSpPr>
        <p:grpSpPr>
          <a:xfrm rot="0">
            <a:off x="6943971" y="6568330"/>
            <a:ext cx="336720" cy="336720"/>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15" id="15"/>
          <p:cNvSpPr txBox="true"/>
          <p:nvPr/>
        </p:nvSpPr>
        <p:spPr>
          <a:xfrm rot="0">
            <a:off x="9778028" y="7838891"/>
            <a:ext cx="2498550" cy="1619250"/>
          </a:xfrm>
          <a:prstGeom prst="rect">
            <a:avLst/>
          </a:prstGeom>
        </p:spPr>
        <p:txBody>
          <a:bodyPr anchor="t" rtlCol="false" tIns="0" lIns="0" bIns="0" rIns="0">
            <a:spAutoFit/>
          </a:bodyPr>
          <a:lstStyle/>
          <a:p>
            <a:pPr algn="l">
              <a:lnSpc>
                <a:spcPts val="2624"/>
              </a:lnSpc>
              <a:spcBef>
                <a:spcPct val="0"/>
              </a:spcBef>
            </a:pPr>
            <a:r>
              <a:rPr lang="en-US" sz="1874">
                <a:solidFill>
                  <a:srgbClr val="191919"/>
                </a:solidFill>
                <a:latin typeface="Muli"/>
                <a:ea typeface="Muli"/>
                <a:cs typeface="Muli"/>
                <a:sym typeface="Muli"/>
              </a:rPr>
              <a:t>Réduire les mots à leur racine (par exemple, "manger", "mangé", "mange" → "mange").</a:t>
            </a:r>
          </a:p>
        </p:txBody>
      </p:sp>
      <p:grpSp>
        <p:nvGrpSpPr>
          <p:cNvPr name="Group 16" id="16"/>
          <p:cNvGrpSpPr/>
          <p:nvPr/>
        </p:nvGrpSpPr>
        <p:grpSpPr>
          <a:xfrm rot="0">
            <a:off x="10325513" y="6568330"/>
            <a:ext cx="336720" cy="336720"/>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18" id="18"/>
          <p:cNvSpPr txBox="true"/>
          <p:nvPr/>
        </p:nvSpPr>
        <p:spPr>
          <a:xfrm rot="0">
            <a:off x="13305278" y="7277161"/>
            <a:ext cx="2498550" cy="353060"/>
          </a:xfrm>
          <a:prstGeom prst="rect">
            <a:avLst/>
          </a:prstGeom>
        </p:spPr>
        <p:txBody>
          <a:bodyPr anchor="t" rtlCol="false" tIns="0" lIns="0" bIns="0" rIns="0">
            <a:spAutoFit/>
          </a:bodyPr>
          <a:lstStyle/>
          <a:p>
            <a:pPr algn="l" marL="0" indent="0" lvl="0">
              <a:lnSpc>
                <a:spcPts val="2860"/>
              </a:lnSpc>
            </a:pPr>
          </a:p>
        </p:txBody>
      </p:sp>
      <p:grpSp>
        <p:nvGrpSpPr>
          <p:cNvPr name="Group 19" id="19"/>
          <p:cNvGrpSpPr/>
          <p:nvPr/>
        </p:nvGrpSpPr>
        <p:grpSpPr>
          <a:xfrm rot="0">
            <a:off x="13707054" y="6568330"/>
            <a:ext cx="336720" cy="336720"/>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21" id="21"/>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22" id="22"/>
          <p:cNvGrpSpPr/>
          <p:nvPr/>
        </p:nvGrpSpPr>
        <p:grpSpPr>
          <a:xfrm rot="0">
            <a:off x="-4709036" y="1333500"/>
            <a:ext cx="19354610" cy="2258023"/>
            <a:chOff x="0" y="0"/>
            <a:chExt cx="1876002" cy="218865"/>
          </a:xfrm>
        </p:grpSpPr>
        <p:sp>
          <p:nvSpPr>
            <p:cNvPr name="Freeform 23" id="23"/>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4" id="24"/>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25" id="25"/>
          <p:cNvSpPr txBox="true"/>
          <p:nvPr/>
        </p:nvSpPr>
        <p:spPr>
          <a:xfrm rot="0">
            <a:off x="1673288" y="17574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26" id="26"/>
          <p:cNvGrpSpPr/>
          <p:nvPr/>
        </p:nvGrpSpPr>
        <p:grpSpPr>
          <a:xfrm rot="0">
            <a:off x="12542750" y="325980"/>
            <a:ext cx="9534019" cy="1112295"/>
            <a:chOff x="0" y="0"/>
            <a:chExt cx="1876002" cy="218865"/>
          </a:xfrm>
        </p:grpSpPr>
        <p:sp>
          <p:nvSpPr>
            <p:cNvPr name="Freeform 27" id="27"/>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8" id="28"/>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9" id="29"/>
          <p:cNvGrpSpPr/>
          <p:nvPr/>
        </p:nvGrpSpPr>
        <p:grpSpPr>
          <a:xfrm rot="0">
            <a:off x="1520888" y="3995967"/>
            <a:ext cx="736150" cy="636369"/>
            <a:chOff x="0" y="0"/>
            <a:chExt cx="193883" cy="167603"/>
          </a:xfrm>
        </p:grpSpPr>
        <p:sp>
          <p:nvSpPr>
            <p:cNvPr name="Freeform 30" id="30"/>
            <p:cNvSpPr/>
            <p:nvPr/>
          </p:nvSpPr>
          <p:spPr>
            <a:xfrm flipH="false" flipV="false" rot="0">
              <a:off x="0" y="0"/>
              <a:ext cx="193883" cy="167603"/>
            </a:xfrm>
            <a:custGeom>
              <a:avLst/>
              <a:gdLst/>
              <a:ahLst/>
              <a:cxnLst/>
              <a:rect r="r" b="b" t="t" l="l"/>
              <a:pathLst>
                <a:path h="167603" w="193883">
                  <a:moveTo>
                    <a:pt x="83802" y="0"/>
                  </a:moveTo>
                  <a:lnTo>
                    <a:pt x="110081" y="0"/>
                  </a:lnTo>
                  <a:cubicBezTo>
                    <a:pt x="156364" y="0"/>
                    <a:pt x="193883" y="37519"/>
                    <a:pt x="193883" y="83802"/>
                  </a:cubicBezTo>
                  <a:lnTo>
                    <a:pt x="193883" y="83802"/>
                  </a:lnTo>
                  <a:cubicBezTo>
                    <a:pt x="193883" y="130084"/>
                    <a:pt x="156364" y="167603"/>
                    <a:pt x="110081" y="167603"/>
                  </a:cubicBezTo>
                  <a:lnTo>
                    <a:pt x="83802" y="167603"/>
                  </a:lnTo>
                  <a:cubicBezTo>
                    <a:pt x="37519" y="167603"/>
                    <a:pt x="0" y="130084"/>
                    <a:pt x="0" y="83802"/>
                  </a:cubicBezTo>
                  <a:lnTo>
                    <a:pt x="0" y="83802"/>
                  </a:lnTo>
                  <a:cubicBezTo>
                    <a:pt x="0" y="37519"/>
                    <a:pt x="37519" y="0"/>
                    <a:pt x="83802" y="0"/>
                  </a:cubicBezTo>
                  <a:close/>
                </a:path>
              </a:pathLst>
            </a:custGeom>
            <a:solidFill>
              <a:srgbClr val="1A1A1A"/>
            </a:solidFill>
          </p:spPr>
        </p:sp>
        <p:sp>
          <p:nvSpPr>
            <p:cNvPr name="TextBox 31" id="31"/>
            <p:cNvSpPr txBox="true"/>
            <p:nvPr/>
          </p:nvSpPr>
          <p:spPr>
            <a:xfrm>
              <a:off x="0" y="-66675"/>
              <a:ext cx="193883" cy="234278"/>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Montserrat Classic Bold"/>
                  <a:ea typeface="Montserrat Classic Bold"/>
                  <a:cs typeface="Montserrat Classic Bold"/>
                  <a:sym typeface="Montserrat Classic Bold"/>
                </a:rPr>
                <a:t>02</a:t>
              </a:r>
            </a:p>
          </p:txBody>
        </p:sp>
      </p:grpSp>
      <p:sp>
        <p:nvSpPr>
          <p:cNvPr name="TextBox 32" id="32"/>
          <p:cNvSpPr txBox="true"/>
          <p:nvPr/>
        </p:nvSpPr>
        <p:spPr>
          <a:xfrm rot="0">
            <a:off x="2578891" y="3938817"/>
            <a:ext cx="7843404" cy="872829"/>
          </a:xfrm>
          <a:prstGeom prst="rect">
            <a:avLst/>
          </a:prstGeom>
        </p:spPr>
        <p:txBody>
          <a:bodyPr anchor="t" rtlCol="false" tIns="0" lIns="0" bIns="0" rIns="0">
            <a:spAutoFit/>
          </a:bodyPr>
          <a:lstStyle/>
          <a:p>
            <a:pPr algn="l" marL="536550" indent="-268275" lvl="1">
              <a:lnSpc>
                <a:spcPts val="3429"/>
              </a:lnSpc>
              <a:buFont typeface="Arial"/>
              <a:buChar char="•"/>
            </a:pPr>
            <a:r>
              <a:rPr lang="en-US" b="true" sz="2485" spc="243">
                <a:solidFill>
                  <a:srgbClr val="100F0D"/>
                </a:solidFill>
                <a:latin typeface="Montserrat Light Bold"/>
                <a:ea typeface="Montserrat Light Bold"/>
                <a:cs typeface="Montserrat Light Bold"/>
                <a:sym typeface="Montserrat Light Bold"/>
              </a:rPr>
              <a:t>Étape 2 : Prétraitement des données</a:t>
            </a:r>
          </a:p>
          <a:p>
            <a:pPr algn="l">
              <a:lnSpc>
                <a:spcPts val="3429"/>
              </a:lnSpc>
            </a:pPr>
          </a:p>
        </p:txBody>
      </p:sp>
      <p:sp>
        <p:nvSpPr>
          <p:cNvPr name="TextBox 33" id="33"/>
          <p:cNvSpPr txBox="true"/>
          <p:nvPr/>
        </p:nvSpPr>
        <p:spPr>
          <a:xfrm rot="0">
            <a:off x="3252075" y="5940603"/>
            <a:ext cx="3482346" cy="337656"/>
          </a:xfrm>
          <a:prstGeom prst="rect">
            <a:avLst/>
          </a:prstGeom>
        </p:spPr>
        <p:txBody>
          <a:bodyPr anchor="t" rtlCol="false" tIns="0" lIns="0" bIns="0" rIns="0">
            <a:spAutoFit/>
          </a:bodyPr>
          <a:lstStyle/>
          <a:p>
            <a:pPr algn="l" marL="0" indent="0" lvl="0">
              <a:lnSpc>
                <a:spcPts val="2728"/>
              </a:lnSpc>
            </a:pPr>
            <a:r>
              <a:rPr lang="en-US" b="true" sz="2098" spc="-62">
                <a:solidFill>
                  <a:srgbClr val="191919"/>
                </a:solidFill>
                <a:latin typeface="Muli Ultra-Bold"/>
                <a:ea typeface="Muli Ultra-Bold"/>
                <a:cs typeface="Muli Ultra-Bold"/>
                <a:sym typeface="Muli Ultra-Bold"/>
              </a:rPr>
              <a:t>Tokenisation</a:t>
            </a:r>
          </a:p>
        </p:txBody>
      </p:sp>
      <p:sp>
        <p:nvSpPr>
          <p:cNvPr name="TextBox 34" id="34"/>
          <p:cNvSpPr txBox="true"/>
          <p:nvPr/>
        </p:nvSpPr>
        <p:spPr>
          <a:xfrm rot="0">
            <a:off x="6367893" y="5836865"/>
            <a:ext cx="2354272" cy="715010"/>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Suppression des mots vides</a:t>
            </a:r>
          </a:p>
        </p:txBody>
      </p:sp>
      <p:sp>
        <p:nvSpPr>
          <p:cNvPr name="TextBox 35" id="35"/>
          <p:cNvSpPr txBox="true"/>
          <p:nvPr/>
        </p:nvSpPr>
        <p:spPr>
          <a:xfrm rot="0">
            <a:off x="10263689" y="5836865"/>
            <a:ext cx="2012889" cy="715010"/>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Lemmatisation/Stemming</a:t>
            </a:r>
          </a:p>
        </p:txBody>
      </p:sp>
      <p:sp>
        <p:nvSpPr>
          <p:cNvPr name="TextBox 36" id="36"/>
          <p:cNvSpPr txBox="true"/>
          <p:nvPr/>
        </p:nvSpPr>
        <p:spPr>
          <a:xfrm rot="0">
            <a:off x="17750529" y="9801491"/>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AutoShape 3" id="3"/>
          <p:cNvSpPr/>
          <p:nvPr/>
        </p:nvSpPr>
        <p:spPr>
          <a:xfrm>
            <a:off x="152568" y="6736691"/>
            <a:ext cx="17106732" cy="0"/>
          </a:xfrm>
          <a:prstGeom prst="line">
            <a:avLst/>
          </a:prstGeom>
          <a:ln cap="rnd" w="85725">
            <a:solidFill>
              <a:srgbClr val="000000"/>
            </a:solidFill>
            <a:prstDash val="solid"/>
            <a:headEnd type="none" len="sm" w="sm"/>
            <a:tailEnd type="none" len="sm" w="sm"/>
          </a:ln>
        </p:spPr>
      </p:sp>
      <p:grpSp>
        <p:nvGrpSpPr>
          <p:cNvPr name="Group 4" id="4"/>
          <p:cNvGrpSpPr/>
          <p:nvPr/>
        </p:nvGrpSpPr>
        <p:grpSpPr>
          <a:xfrm rot="0">
            <a:off x="2889233" y="7343201"/>
            <a:ext cx="2498550" cy="1161806"/>
            <a:chOff x="0" y="0"/>
            <a:chExt cx="3331400" cy="1549074"/>
          </a:xfrm>
        </p:grpSpPr>
        <p:sp>
          <p:nvSpPr>
            <p:cNvPr name="TextBox 5" id="5"/>
            <p:cNvSpPr txBox="true"/>
            <p:nvPr/>
          </p:nvSpPr>
          <p:spPr>
            <a:xfrm rot="0">
              <a:off x="0" y="-19050"/>
              <a:ext cx="3331400" cy="464397"/>
            </a:xfrm>
            <a:prstGeom prst="rect">
              <a:avLst/>
            </a:prstGeom>
          </p:spPr>
          <p:txBody>
            <a:bodyPr anchor="t" rtlCol="false" tIns="0" lIns="0" bIns="0" rIns="0">
              <a:spAutoFit/>
            </a:bodyPr>
            <a:lstStyle/>
            <a:p>
              <a:pPr algn="l" marL="0" indent="0" lvl="0">
                <a:lnSpc>
                  <a:spcPts val="2860"/>
                </a:lnSpc>
              </a:pPr>
            </a:p>
          </p:txBody>
        </p:sp>
        <p:sp>
          <p:nvSpPr>
            <p:cNvPr name="TextBox 6" id="6"/>
            <p:cNvSpPr txBox="true"/>
            <p:nvPr/>
          </p:nvSpPr>
          <p:spPr>
            <a:xfrm rot="0">
              <a:off x="0" y="686321"/>
              <a:ext cx="3331400" cy="839893"/>
            </a:xfrm>
            <a:prstGeom prst="rect">
              <a:avLst/>
            </a:prstGeom>
          </p:spPr>
          <p:txBody>
            <a:bodyPr anchor="t" rtlCol="false" tIns="0" lIns="0" bIns="0" rIns="0">
              <a:spAutoFit/>
            </a:bodyPr>
            <a:lstStyle/>
            <a:p>
              <a:pPr algn="l">
                <a:lnSpc>
                  <a:spcPts val="2554"/>
                </a:lnSpc>
                <a:spcBef>
                  <a:spcPct val="0"/>
                </a:spcBef>
              </a:pPr>
              <a:r>
                <a:rPr lang="en-US" sz="1825">
                  <a:solidFill>
                    <a:srgbClr val="191919"/>
                  </a:solidFill>
                  <a:latin typeface="Muli"/>
                  <a:ea typeface="Muli"/>
                  <a:cs typeface="Muli"/>
                  <a:sym typeface="Muli"/>
                </a:rPr>
                <a:t>Découper le texte en mots individuels.</a:t>
              </a:r>
            </a:p>
          </p:txBody>
        </p:sp>
      </p:grpSp>
      <p:grpSp>
        <p:nvGrpSpPr>
          <p:cNvPr name="Group 7" id="7"/>
          <p:cNvGrpSpPr/>
          <p:nvPr/>
        </p:nvGrpSpPr>
        <p:grpSpPr>
          <a:xfrm rot="0">
            <a:off x="3730790" y="6551875"/>
            <a:ext cx="336720" cy="336720"/>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9" id="9"/>
          <p:cNvSpPr txBox="true"/>
          <p:nvPr/>
        </p:nvSpPr>
        <p:spPr>
          <a:xfrm rot="0">
            <a:off x="6240008" y="7848416"/>
            <a:ext cx="2498550" cy="1656715"/>
          </a:xfrm>
          <a:prstGeom prst="rect">
            <a:avLst/>
          </a:prstGeom>
        </p:spPr>
        <p:txBody>
          <a:bodyPr anchor="t" rtlCol="false" tIns="0" lIns="0" bIns="0" rIns="0">
            <a:spAutoFit/>
          </a:bodyPr>
          <a:lstStyle/>
          <a:p>
            <a:pPr algn="l">
              <a:lnSpc>
                <a:spcPts val="2660"/>
              </a:lnSpc>
              <a:spcBef>
                <a:spcPct val="0"/>
              </a:spcBef>
            </a:pPr>
            <a:r>
              <a:rPr lang="en-US" sz="1900">
                <a:solidFill>
                  <a:srgbClr val="191919"/>
                </a:solidFill>
                <a:latin typeface="Muli"/>
                <a:ea typeface="Muli"/>
                <a:cs typeface="Muli"/>
                <a:sym typeface="Muli"/>
              </a:rPr>
              <a:t>Suppression des mots vides : Enlever les mots non informatifs (comme "le", "de", "et")</a:t>
            </a:r>
          </a:p>
        </p:txBody>
      </p:sp>
      <p:grpSp>
        <p:nvGrpSpPr>
          <p:cNvPr name="Group 10" id="10"/>
          <p:cNvGrpSpPr/>
          <p:nvPr/>
        </p:nvGrpSpPr>
        <p:grpSpPr>
          <a:xfrm rot="0">
            <a:off x="6943971" y="6568330"/>
            <a:ext cx="336720" cy="33672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12" id="12"/>
          <p:cNvSpPr txBox="true"/>
          <p:nvPr/>
        </p:nvSpPr>
        <p:spPr>
          <a:xfrm rot="0">
            <a:off x="9778028" y="7838891"/>
            <a:ext cx="2498550" cy="1619250"/>
          </a:xfrm>
          <a:prstGeom prst="rect">
            <a:avLst/>
          </a:prstGeom>
        </p:spPr>
        <p:txBody>
          <a:bodyPr anchor="t" rtlCol="false" tIns="0" lIns="0" bIns="0" rIns="0">
            <a:spAutoFit/>
          </a:bodyPr>
          <a:lstStyle/>
          <a:p>
            <a:pPr algn="l">
              <a:lnSpc>
                <a:spcPts val="2624"/>
              </a:lnSpc>
              <a:spcBef>
                <a:spcPct val="0"/>
              </a:spcBef>
            </a:pPr>
            <a:r>
              <a:rPr lang="en-US" sz="1874">
                <a:solidFill>
                  <a:srgbClr val="191919"/>
                </a:solidFill>
                <a:latin typeface="Muli"/>
                <a:ea typeface="Muli"/>
                <a:cs typeface="Muli"/>
                <a:sym typeface="Muli"/>
              </a:rPr>
              <a:t>Réduire les mots à leur racine (par exemple, "manger", "mangé", "mange" → "mange").</a:t>
            </a:r>
          </a:p>
        </p:txBody>
      </p:sp>
      <p:grpSp>
        <p:nvGrpSpPr>
          <p:cNvPr name="Group 13" id="13"/>
          <p:cNvGrpSpPr/>
          <p:nvPr/>
        </p:nvGrpSpPr>
        <p:grpSpPr>
          <a:xfrm rot="0">
            <a:off x="10325513" y="6568330"/>
            <a:ext cx="336720" cy="336720"/>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grpSp>
        <p:nvGrpSpPr>
          <p:cNvPr name="Group 15" id="15"/>
          <p:cNvGrpSpPr/>
          <p:nvPr/>
        </p:nvGrpSpPr>
        <p:grpSpPr>
          <a:xfrm rot="0">
            <a:off x="13305278" y="7296211"/>
            <a:ext cx="2498550" cy="2161931"/>
            <a:chOff x="0" y="0"/>
            <a:chExt cx="3331400" cy="2882574"/>
          </a:xfrm>
        </p:grpSpPr>
        <p:sp>
          <p:nvSpPr>
            <p:cNvPr name="TextBox 16" id="16"/>
            <p:cNvSpPr txBox="true"/>
            <p:nvPr/>
          </p:nvSpPr>
          <p:spPr>
            <a:xfrm rot="0">
              <a:off x="0" y="-19050"/>
              <a:ext cx="3331400" cy="464397"/>
            </a:xfrm>
            <a:prstGeom prst="rect">
              <a:avLst/>
            </a:prstGeom>
          </p:spPr>
          <p:txBody>
            <a:bodyPr anchor="t" rtlCol="false" tIns="0" lIns="0" bIns="0" rIns="0">
              <a:spAutoFit/>
            </a:bodyPr>
            <a:lstStyle/>
            <a:p>
              <a:pPr algn="l" marL="0" indent="0" lvl="0">
                <a:lnSpc>
                  <a:spcPts val="2860"/>
                </a:lnSpc>
              </a:pPr>
            </a:p>
          </p:txBody>
        </p:sp>
        <p:sp>
          <p:nvSpPr>
            <p:cNvPr name="TextBox 17" id="17"/>
            <p:cNvSpPr txBox="true"/>
            <p:nvPr/>
          </p:nvSpPr>
          <p:spPr>
            <a:xfrm rot="0">
              <a:off x="0" y="686321"/>
              <a:ext cx="3331400" cy="2196253"/>
            </a:xfrm>
            <a:prstGeom prst="rect">
              <a:avLst/>
            </a:prstGeom>
          </p:spPr>
          <p:txBody>
            <a:bodyPr anchor="t" rtlCol="false" tIns="0" lIns="0" bIns="0" rIns="0">
              <a:spAutoFit/>
            </a:bodyPr>
            <a:lstStyle/>
            <a:p>
              <a:pPr algn="l">
                <a:lnSpc>
                  <a:spcPts val="2660"/>
                </a:lnSpc>
                <a:spcBef>
                  <a:spcPct val="0"/>
                </a:spcBef>
              </a:pPr>
              <a:r>
                <a:rPr lang="en-US" sz="1900">
                  <a:solidFill>
                    <a:srgbClr val="191919"/>
                  </a:solidFill>
                  <a:latin typeface="Muli"/>
                  <a:ea typeface="Muli"/>
                  <a:cs typeface="Muli"/>
                  <a:sym typeface="Muli"/>
                </a:rPr>
                <a:t>Suppression des caractères spéciaux : Supprimez la ponctuation, les chiffres, ou les liens</a:t>
              </a:r>
            </a:p>
          </p:txBody>
        </p:sp>
      </p:grpSp>
      <p:grpSp>
        <p:nvGrpSpPr>
          <p:cNvPr name="Group 18" id="18"/>
          <p:cNvGrpSpPr/>
          <p:nvPr/>
        </p:nvGrpSpPr>
        <p:grpSpPr>
          <a:xfrm rot="0">
            <a:off x="13707054" y="6568330"/>
            <a:ext cx="336720" cy="336720"/>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C38F2"/>
            </a:solidFill>
          </p:spPr>
        </p:sp>
      </p:grpSp>
      <p:sp>
        <p:nvSpPr>
          <p:cNvPr name="TextBox 20" id="20"/>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21" id="21"/>
          <p:cNvGrpSpPr/>
          <p:nvPr/>
        </p:nvGrpSpPr>
        <p:grpSpPr>
          <a:xfrm rot="0">
            <a:off x="-4709036" y="1333500"/>
            <a:ext cx="19354610" cy="2258023"/>
            <a:chOff x="0" y="0"/>
            <a:chExt cx="1876002" cy="218865"/>
          </a:xfrm>
        </p:grpSpPr>
        <p:sp>
          <p:nvSpPr>
            <p:cNvPr name="Freeform 22" id="22"/>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3" id="23"/>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24" id="24"/>
          <p:cNvSpPr txBox="true"/>
          <p:nvPr/>
        </p:nvSpPr>
        <p:spPr>
          <a:xfrm rot="0">
            <a:off x="1673288" y="17574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25" id="25"/>
          <p:cNvGrpSpPr/>
          <p:nvPr/>
        </p:nvGrpSpPr>
        <p:grpSpPr>
          <a:xfrm rot="0">
            <a:off x="12542750" y="325980"/>
            <a:ext cx="9534019" cy="1112295"/>
            <a:chOff x="0" y="0"/>
            <a:chExt cx="1876002" cy="218865"/>
          </a:xfrm>
        </p:grpSpPr>
        <p:sp>
          <p:nvSpPr>
            <p:cNvPr name="Freeform 26" id="26"/>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7" id="27"/>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8" id="28"/>
          <p:cNvGrpSpPr/>
          <p:nvPr/>
        </p:nvGrpSpPr>
        <p:grpSpPr>
          <a:xfrm rot="0">
            <a:off x="1520888" y="3995967"/>
            <a:ext cx="736150" cy="636369"/>
            <a:chOff x="0" y="0"/>
            <a:chExt cx="193883" cy="167603"/>
          </a:xfrm>
        </p:grpSpPr>
        <p:sp>
          <p:nvSpPr>
            <p:cNvPr name="Freeform 29" id="29"/>
            <p:cNvSpPr/>
            <p:nvPr/>
          </p:nvSpPr>
          <p:spPr>
            <a:xfrm flipH="false" flipV="false" rot="0">
              <a:off x="0" y="0"/>
              <a:ext cx="193883" cy="167603"/>
            </a:xfrm>
            <a:custGeom>
              <a:avLst/>
              <a:gdLst/>
              <a:ahLst/>
              <a:cxnLst/>
              <a:rect r="r" b="b" t="t" l="l"/>
              <a:pathLst>
                <a:path h="167603" w="193883">
                  <a:moveTo>
                    <a:pt x="83802" y="0"/>
                  </a:moveTo>
                  <a:lnTo>
                    <a:pt x="110081" y="0"/>
                  </a:lnTo>
                  <a:cubicBezTo>
                    <a:pt x="156364" y="0"/>
                    <a:pt x="193883" y="37519"/>
                    <a:pt x="193883" y="83802"/>
                  </a:cubicBezTo>
                  <a:lnTo>
                    <a:pt x="193883" y="83802"/>
                  </a:lnTo>
                  <a:cubicBezTo>
                    <a:pt x="193883" y="130084"/>
                    <a:pt x="156364" y="167603"/>
                    <a:pt x="110081" y="167603"/>
                  </a:cubicBezTo>
                  <a:lnTo>
                    <a:pt x="83802" y="167603"/>
                  </a:lnTo>
                  <a:cubicBezTo>
                    <a:pt x="37519" y="167603"/>
                    <a:pt x="0" y="130084"/>
                    <a:pt x="0" y="83802"/>
                  </a:cubicBezTo>
                  <a:lnTo>
                    <a:pt x="0" y="83802"/>
                  </a:lnTo>
                  <a:cubicBezTo>
                    <a:pt x="0" y="37519"/>
                    <a:pt x="37519" y="0"/>
                    <a:pt x="83802" y="0"/>
                  </a:cubicBezTo>
                  <a:close/>
                </a:path>
              </a:pathLst>
            </a:custGeom>
            <a:solidFill>
              <a:srgbClr val="1A1A1A"/>
            </a:solidFill>
          </p:spPr>
        </p:sp>
        <p:sp>
          <p:nvSpPr>
            <p:cNvPr name="TextBox 30" id="30"/>
            <p:cNvSpPr txBox="true"/>
            <p:nvPr/>
          </p:nvSpPr>
          <p:spPr>
            <a:xfrm>
              <a:off x="0" y="-66675"/>
              <a:ext cx="193883" cy="234278"/>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Montserrat Classic Bold"/>
                  <a:ea typeface="Montserrat Classic Bold"/>
                  <a:cs typeface="Montserrat Classic Bold"/>
                  <a:sym typeface="Montserrat Classic Bold"/>
                </a:rPr>
                <a:t>02</a:t>
              </a:r>
            </a:p>
          </p:txBody>
        </p:sp>
      </p:grpSp>
      <p:sp>
        <p:nvSpPr>
          <p:cNvPr name="TextBox 31" id="31"/>
          <p:cNvSpPr txBox="true"/>
          <p:nvPr/>
        </p:nvSpPr>
        <p:spPr>
          <a:xfrm rot="0">
            <a:off x="2578891" y="3938817"/>
            <a:ext cx="7843404" cy="872829"/>
          </a:xfrm>
          <a:prstGeom prst="rect">
            <a:avLst/>
          </a:prstGeom>
        </p:spPr>
        <p:txBody>
          <a:bodyPr anchor="t" rtlCol="false" tIns="0" lIns="0" bIns="0" rIns="0">
            <a:spAutoFit/>
          </a:bodyPr>
          <a:lstStyle/>
          <a:p>
            <a:pPr algn="l" marL="536550" indent="-268275" lvl="1">
              <a:lnSpc>
                <a:spcPts val="3429"/>
              </a:lnSpc>
              <a:buFont typeface="Arial"/>
              <a:buChar char="•"/>
            </a:pPr>
            <a:r>
              <a:rPr lang="en-US" b="true" sz="2485" spc="243">
                <a:solidFill>
                  <a:srgbClr val="100F0D"/>
                </a:solidFill>
                <a:latin typeface="Montserrat Light Bold"/>
                <a:ea typeface="Montserrat Light Bold"/>
                <a:cs typeface="Montserrat Light Bold"/>
                <a:sym typeface="Montserrat Light Bold"/>
              </a:rPr>
              <a:t>Étape 2 : Prétraitement des données</a:t>
            </a:r>
          </a:p>
          <a:p>
            <a:pPr algn="l">
              <a:lnSpc>
                <a:spcPts val="3429"/>
              </a:lnSpc>
            </a:pPr>
          </a:p>
        </p:txBody>
      </p:sp>
      <p:sp>
        <p:nvSpPr>
          <p:cNvPr name="TextBox 32" id="32"/>
          <p:cNvSpPr txBox="true"/>
          <p:nvPr/>
        </p:nvSpPr>
        <p:spPr>
          <a:xfrm rot="0">
            <a:off x="3252075" y="5940603"/>
            <a:ext cx="3482346" cy="337656"/>
          </a:xfrm>
          <a:prstGeom prst="rect">
            <a:avLst/>
          </a:prstGeom>
        </p:spPr>
        <p:txBody>
          <a:bodyPr anchor="t" rtlCol="false" tIns="0" lIns="0" bIns="0" rIns="0">
            <a:spAutoFit/>
          </a:bodyPr>
          <a:lstStyle/>
          <a:p>
            <a:pPr algn="l" marL="0" indent="0" lvl="0">
              <a:lnSpc>
                <a:spcPts val="2728"/>
              </a:lnSpc>
            </a:pPr>
            <a:r>
              <a:rPr lang="en-US" b="true" sz="2098" spc="-62">
                <a:solidFill>
                  <a:srgbClr val="191919"/>
                </a:solidFill>
                <a:latin typeface="Muli Ultra-Bold"/>
                <a:ea typeface="Muli Ultra-Bold"/>
                <a:cs typeface="Muli Ultra-Bold"/>
                <a:sym typeface="Muli Ultra-Bold"/>
              </a:rPr>
              <a:t>Tokenisation</a:t>
            </a:r>
          </a:p>
        </p:txBody>
      </p:sp>
      <p:sp>
        <p:nvSpPr>
          <p:cNvPr name="TextBox 33" id="33"/>
          <p:cNvSpPr txBox="true"/>
          <p:nvPr/>
        </p:nvSpPr>
        <p:spPr>
          <a:xfrm rot="0">
            <a:off x="6367893" y="5836865"/>
            <a:ext cx="2354272" cy="715010"/>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Suppression des mots vides</a:t>
            </a:r>
          </a:p>
        </p:txBody>
      </p:sp>
      <p:sp>
        <p:nvSpPr>
          <p:cNvPr name="TextBox 34" id="34"/>
          <p:cNvSpPr txBox="true"/>
          <p:nvPr/>
        </p:nvSpPr>
        <p:spPr>
          <a:xfrm rot="0">
            <a:off x="13338583" y="5843795"/>
            <a:ext cx="2942476" cy="715010"/>
          </a:xfrm>
          <a:prstGeom prst="rect">
            <a:avLst/>
          </a:prstGeom>
        </p:spPr>
        <p:txBody>
          <a:bodyPr anchor="t" rtlCol="false" tIns="0" lIns="0" bIns="0" rIns="0">
            <a:spAutoFit/>
          </a:bodyPr>
          <a:lstStyle/>
          <a:p>
            <a:pPr algn="l" marL="0" indent="0" lvl="0">
              <a:lnSpc>
                <a:spcPts val="2860"/>
              </a:lnSpc>
            </a:pPr>
            <a:r>
              <a:rPr lang="en-US" b="true" sz="2199" spc="-65">
                <a:solidFill>
                  <a:srgbClr val="191919"/>
                </a:solidFill>
                <a:latin typeface="Muli Ultra-Bold"/>
                <a:ea typeface="Muli Ultra-Bold"/>
                <a:cs typeface="Muli Ultra-Bold"/>
                <a:sym typeface="Muli Ultra-Bold"/>
              </a:rPr>
              <a:t>Suppression des caractères spéciaux</a:t>
            </a:r>
          </a:p>
        </p:txBody>
      </p:sp>
      <p:sp>
        <p:nvSpPr>
          <p:cNvPr name="TextBox 35" id="35"/>
          <p:cNvSpPr txBox="true"/>
          <p:nvPr/>
        </p:nvSpPr>
        <p:spPr>
          <a:xfrm rot="0">
            <a:off x="10263689" y="5836865"/>
            <a:ext cx="2012889" cy="715010"/>
          </a:xfrm>
          <a:prstGeom prst="rect">
            <a:avLst/>
          </a:prstGeom>
        </p:spPr>
        <p:txBody>
          <a:bodyPr anchor="t" rtlCol="false" tIns="0" lIns="0" bIns="0" rIns="0">
            <a:spAutoFit/>
          </a:bodyPr>
          <a:lstStyle/>
          <a:p>
            <a:pPr algn="l" marL="0" indent="0" lvl="0">
              <a:lnSpc>
                <a:spcPts val="2860"/>
              </a:lnSpc>
            </a:pPr>
            <a:r>
              <a:rPr lang="en-US" b="true" sz="2200" spc="-65">
                <a:solidFill>
                  <a:srgbClr val="191919"/>
                </a:solidFill>
                <a:latin typeface="Muli Ultra-Bold"/>
                <a:ea typeface="Muli Ultra-Bold"/>
                <a:cs typeface="Muli Ultra-Bold"/>
                <a:sym typeface="Muli Ultra-Bold"/>
              </a:rPr>
              <a:t>Lemmatisation/Stemming</a:t>
            </a:r>
          </a:p>
        </p:txBody>
      </p:sp>
      <p:sp>
        <p:nvSpPr>
          <p:cNvPr name="TextBox 36" id="36"/>
          <p:cNvSpPr txBox="true"/>
          <p:nvPr/>
        </p:nvSpPr>
        <p:spPr>
          <a:xfrm rot="0">
            <a:off x="17750529" y="9801491"/>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674128" y="2626482"/>
            <a:ext cx="6422296" cy="6422996"/>
            <a:chOff x="0" y="0"/>
            <a:chExt cx="6603840" cy="6604560"/>
          </a:xfrm>
        </p:grpSpPr>
        <p:sp>
          <p:nvSpPr>
            <p:cNvPr name="Freeform 4" id="4"/>
            <p:cNvSpPr/>
            <p:nvPr/>
          </p:nvSpPr>
          <p:spPr>
            <a:xfrm flipH="false" flipV="false" rot="0">
              <a:off x="0" y="0"/>
              <a:ext cx="6603873" cy="6604508"/>
            </a:xfrm>
            <a:custGeom>
              <a:avLst/>
              <a:gdLst/>
              <a:ahLst/>
              <a:cxnLst/>
              <a:rect r="r" b="b" t="t" l="l"/>
              <a:pathLst>
                <a:path h="6604508" w="6603873">
                  <a:moveTo>
                    <a:pt x="0" y="3302254"/>
                  </a:moveTo>
                  <a:cubicBezTo>
                    <a:pt x="0" y="1478534"/>
                    <a:pt x="1478280" y="0"/>
                    <a:pt x="3301873" y="0"/>
                  </a:cubicBezTo>
                  <a:lnTo>
                    <a:pt x="3301873" y="25527"/>
                  </a:lnTo>
                  <a:lnTo>
                    <a:pt x="3301873" y="0"/>
                  </a:lnTo>
                  <a:cubicBezTo>
                    <a:pt x="5125466" y="0"/>
                    <a:pt x="6603873" y="1478534"/>
                    <a:pt x="6603873" y="3302254"/>
                  </a:cubicBezTo>
                  <a:cubicBezTo>
                    <a:pt x="6603873" y="5125974"/>
                    <a:pt x="5125466" y="6604508"/>
                    <a:pt x="3301873" y="6604508"/>
                  </a:cubicBezTo>
                  <a:lnTo>
                    <a:pt x="3301873" y="6578981"/>
                  </a:lnTo>
                  <a:lnTo>
                    <a:pt x="3301873" y="6604508"/>
                  </a:lnTo>
                  <a:cubicBezTo>
                    <a:pt x="1478280" y="6604508"/>
                    <a:pt x="0" y="5126101"/>
                    <a:pt x="0" y="3302254"/>
                  </a:cubicBezTo>
                  <a:lnTo>
                    <a:pt x="25527" y="3302254"/>
                  </a:lnTo>
                  <a:lnTo>
                    <a:pt x="46990" y="3316097"/>
                  </a:lnTo>
                  <a:cubicBezTo>
                    <a:pt x="40894" y="3325622"/>
                    <a:pt x="29210" y="3330067"/>
                    <a:pt x="18288" y="3326892"/>
                  </a:cubicBezTo>
                  <a:cubicBezTo>
                    <a:pt x="7366" y="3323717"/>
                    <a:pt x="0" y="3313684"/>
                    <a:pt x="0" y="3302254"/>
                  </a:cubicBezTo>
                  <a:moveTo>
                    <a:pt x="51181" y="3302254"/>
                  </a:moveTo>
                  <a:lnTo>
                    <a:pt x="25527" y="3302254"/>
                  </a:lnTo>
                  <a:lnTo>
                    <a:pt x="4064" y="3288538"/>
                  </a:lnTo>
                  <a:cubicBezTo>
                    <a:pt x="10160" y="3279013"/>
                    <a:pt x="21844" y="3274568"/>
                    <a:pt x="32766" y="3277743"/>
                  </a:cubicBezTo>
                  <a:cubicBezTo>
                    <a:pt x="43688" y="3280918"/>
                    <a:pt x="51181" y="3290951"/>
                    <a:pt x="51181" y="3302254"/>
                  </a:cubicBezTo>
                  <a:cubicBezTo>
                    <a:pt x="51181" y="5097780"/>
                    <a:pt x="1506601" y="6553454"/>
                    <a:pt x="3302000" y="6553454"/>
                  </a:cubicBezTo>
                  <a:cubicBezTo>
                    <a:pt x="5097399" y="6553454"/>
                    <a:pt x="6552819" y="5097907"/>
                    <a:pt x="6552819" y="3302254"/>
                  </a:cubicBezTo>
                  <a:lnTo>
                    <a:pt x="6578346" y="3302254"/>
                  </a:lnTo>
                  <a:lnTo>
                    <a:pt x="6552819" y="3302254"/>
                  </a:lnTo>
                  <a:cubicBezTo>
                    <a:pt x="6552819" y="1506728"/>
                    <a:pt x="5097399" y="51054"/>
                    <a:pt x="3302000" y="51054"/>
                  </a:cubicBezTo>
                  <a:lnTo>
                    <a:pt x="3302000" y="25527"/>
                  </a:lnTo>
                  <a:lnTo>
                    <a:pt x="3302000" y="51181"/>
                  </a:lnTo>
                  <a:cubicBezTo>
                    <a:pt x="1506601" y="51181"/>
                    <a:pt x="51181" y="1506728"/>
                    <a:pt x="51181" y="3302381"/>
                  </a:cubicBezTo>
                  <a:close/>
                </a:path>
              </a:pathLst>
            </a:custGeom>
            <a:solidFill>
              <a:srgbClr val="727070"/>
            </a:solidFill>
          </p:spPr>
        </p:sp>
      </p:grpSp>
      <p:grpSp>
        <p:nvGrpSpPr>
          <p:cNvPr name="Group 5" id="5"/>
          <p:cNvGrpSpPr/>
          <p:nvPr/>
        </p:nvGrpSpPr>
        <p:grpSpPr>
          <a:xfrm rot="0">
            <a:off x="12693782" y="4403989"/>
            <a:ext cx="1322656" cy="2148786"/>
            <a:chOff x="0" y="0"/>
            <a:chExt cx="1346400" cy="2187360"/>
          </a:xfrm>
        </p:grpSpPr>
        <p:sp>
          <p:nvSpPr>
            <p:cNvPr name="Freeform 6" id="6"/>
            <p:cNvSpPr/>
            <p:nvPr/>
          </p:nvSpPr>
          <p:spPr>
            <a:xfrm flipH="false" flipV="false" rot="0">
              <a:off x="0" y="0"/>
              <a:ext cx="1346454" cy="2187448"/>
            </a:xfrm>
            <a:custGeom>
              <a:avLst/>
              <a:gdLst/>
              <a:ahLst/>
              <a:cxnLst/>
              <a:rect r="r" b="b" t="t" l="l"/>
              <a:pathLst>
                <a:path h="2187448" w="1346454">
                  <a:moveTo>
                    <a:pt x="1346454" y="472694"/>
                  </a:moveTo>
                  <a:cubicBezTo>
                    <a:pt x="993775" y="0"/>
                    <a:pt x="993775" y="0"/>
                    <a:pt x="993775" y="0"/>
                  </a:cubicBezTo>
                  <a:cubicBezTo>
                    <a:pt x="697230" y="216281"/>
                    <a:pt x="464820" y="512826"/>
                    <a:pt x="328549" y="849249"/>
                  </a:cubicBezTo>
                  <a:cubicBezTo>
                    <a:pt x="0" y="897382"/>
                    <a:pt x="0" y="897382"/>
                    <a:pt x="0" y="897382"/>
                  </a:cubicBezTo>
                  <a:cubicBezTo>
                    <a:pt x="240411" y="1129792"/>
                    <a:pt x="240411" y="1129792"/>
                    <a:pt x="240411" y="1129792"/>
                  </a:cubicBezTo>
                  <a:cubicBezTo>
                    <a:pt x="208407" y="1274064"/>
                    <a:pt x="184277" y="1426210"/>
                    <a:pt x="184277" y="1586484"/>
                  </a:cubicBezTo>
                  <a:cubicBezTo>
                    <a:pt x="184277" y="1794764"/>
                    <a:pt x="216281" y="1995170"/>
                    <a:pt x="280416" y="2187448"/>
                  </a:cubicBezTo>
                  <a:cubicBezTo>
                    <a:pt x="865505" y="1971040"/>
                    <a:pt x="865505" y="1971040"/>
                    <a:pt x="865505" y="1971040"/>
                  </a:cubicBezTo>
                  <a:cubicBezTo>
                    <a:pt x="817372" y="1842897"/>
                    <a:pt x="793369" y="1698625"/>
                    <a:pt x="793369" y="1554353"/>
                  </a:cubicBezTo>
                  <a:cubicBezTo>
                    <a:pt x="793369" y="1105662"/>
                    <a:pt x="1017778" y="713105"/>
                    <a:pt x="1346327" y="472694"/>
                  </a:cubicBezTo>
                  <a:close/>
                </a:path>
              </a:pathLst>
            </a:custGeom>
            <a:solidFill>
              <a:srgbClr val="727070"/>
            </a:solidFill>
          </p:spPr>
        </p:sp>
      </p:grpSp>
      <p:grpSp>
        <p:nvGrpSpPr>
          <p:cNvPr name="Group 7" id="7"/>
          <p:cNvGrpSpPr/>
          <p:nvPr/>
        </p:nvGrpSpPr>
        <p:grpSpPr>
          <a:xfrm rot="0">
            <a:off x="12950857" y="6275537"/>
            <a:ext cx="1924894" cy="1621985"/>
            <a:chOff x="0" y="0"/>
            <a:chExt cx="1857600" cy="1565280"/>
          </a:xfrm>
        </p:grpSpPr>
        <p:sp>
          <p:nvSpPr>
            <p:cNvPr name="Freeform 8" id="8"/>
            <p:cNvSpPr/>
            <p:nvPr/>
          </p:nvSpPr>
          <p:spPr>
            <a:xfrm flipH="false" flipV="false" rot="0">
              <a:off x="0" y="0"/>
              <a:ext cx="1857629" cy="1565275"/>
            </a:xfrm>
            <a:custGeom>
              <a:avLst/>
              <a:gdLst/>
              <a:ahLst/>
              <a:cxnLst/>
              <a:rect r="r" b="b" t="t" l="l"/>
              <a:pathLst>
                <a:path h="1565275" w="1857629">
                  <a:moveTo>
                    <a:pt x="1857629" y="931164"/>
                  </a:moveTo>
                  <a:cubicBezTo>
                    <a:pt x="1265047" y="931164"/>
                    <a:pt x="760603" y="537845"/>
                    <a:pt x="584454" y="0"/>
                  </a:cubicBezTo>
                  <a:cubicBezTo>
                    <a:pt x="0" y="216789"/>
                    <a:pt x="0" y="216789"/>
                    <a:pt x="0" y="216789"/>
                  </a:cubicBezTo>
                  <a:cubicBezTo>
                    <a:pt x="112141" y="569976"/>
                    <a:pt x="320294" y="874903"/>
                    <a:pt x="592455" y="1099693"/>
                  </a:cubicBezTo>
                  <a:cubicBezTo>
                    <a:pt x="536448" y="1444879"/>
                    <a:pt x="536448" y="1444879"/>
                    <a:pt x="536448" y="1444879"/>
                  </a:cubicBezTo>
                  <a:cubicBezTo>
                    <a:pt x="840740" y="1284351"/>
                    <a:pt x="840740" y="1284351"/>
                    <a:pt x="840740" y="1284351"/>
                  </a:cubicBezTo>
                  <a:cubicBezTo>
                    <a:pt x="1137031" y="1461008"/>
                    <a:pt x="1489329" y="1565275"/>
                    <a:pt x="1857629" y="1565275"/>
                  </a:cubicBezTo>
                  <a:lnTo>
                    <a:pt x="1857629" y="931164"/>
                  </a:lnTo>
                  <a:close/>
                </a:path>
              </a:pathLst>
            </a:custGeom>
            <a:solidFill>
              <a:srgbClr val="727070"/>
            </a:solidFill>
          </p:spPr>
        </p:sp>
      </p:grpSp>
      <p:grpSp>
        <p:nvGrpSpPr>
          <p:cNvPr name="Group 9" id="9"/>
          <p:cNvGrpSpPr/>
          <p:nvPr/>
        </p:nvGrpSpPr>
        <p:grpSpPr>
          <a:xfrm rot="0">
            <a:off x="14860047" y="6236222"/>
            <a:ext cx="1971552" cy="1661300"/>
            <a:chOff x="0" y="0"/>
            <a:chExt cx="1857600" cy="1565280"/>
          </a:xfrm>
        </p:grpSpPr>
        <p:sp>
          <p:nvSpPr>
            <p:cNvPr name="Freeform 10" id="10"/>
            <p:cNvSpPr/>
            <p:nvPr/>
          </p:nvSpPr>
          <p:spPr>
            <a:xfrm flipH="false" flipV="false" rot="0">
              <a:off x="0" y="0"/>
              <a:ext cx="1857629" cy="1565275"/>
            </a:xfrm>
            <a:custGeom>
              <a:avLst/>
              <a:gdLst/>
              <a:ahLst/>
              <a:cxnLst/>
              <a:rect r="r" b="b" t="t" l="l"/>
              <a:pathLst>
                <a:path h="1565275" w="1857629">
                  <a:moveTo>
                    <a:pt x="1857629" y="216789"/>
                  </a:moveTo>
                  <a:cubicBezTo>
                    <a:pt x="1273048" y="0"/>
                    <a:pt x="1273048" y="0"/>
                    <a:pt x="1273048" y="0"/>
                  </a:cubicBezTo>
                  <a:cubicBezTo>
                    <a:pt x="1096899" y="537845"/>
                    <a:pt x="592455" y="931164"/>
                    <a:pt x="0" y="931164"/>
                  </a:cubicBezTo>
                  <a:cubicBezTo>
                    <a:pt x="0" y="1565275"/>
                    <a:pt x="0" y="1565275"/>
                    <a:pt x="0" y="1565275"/>
                  </a:cubicBezTo>
                  <a:cubicBezTo>
                    <a:pt x="368300" y="1565275"/>
                    <a:pt x="720598" y="1460881"/>
                    <a:pt x="1016889" y="1284351"/>
                  </a:cubicBezTo>
                  <a:cubicBezTo>
                    <a:pt x="1321181" y="1444879"/>
                    <a:pt x="1321181" y="1444879"/>
                    <a:pt x="1321181" y="1444879"/>
                  </a:cubicBezTo>
                  <a:cubicBezTo>
                    <a:pt x="1265174" y="1099693"/>
                    <a:pt x="1265174" y="1099693"/>
                    <a:pt x="1265174" y="1099693"/>
                  </a:cubicBezTo>
                  <a:cubicBezTo>
                    <a:pt x="1537462" y="874903"/>
                    <a:pt x="1745615" y="569849"/>
                    <a:pt x="1857629" y="216662"/>
                  </a:cubicBezTo>
                  <a:close/>
                </a:path>
              </a:pathLst>
            </a:custGeom>
            <a:solidFill>
              <a:srgbClr val="727070"/>
            </a:solidFill>
          </p:spPr>
        </p:sp>
      </p:grpSp>
      <p:grpSp>
        <p:nvGrpSpPr>
          <p:cNvPr name="Group 11" id="11"/>
          <p:cNvGrpSpPr/>
          <p:nvPr/>
        </p:nvGrpSpPr>
        <p:grpSpPr>
          <a:xfrm rot="0">
            <a:off x="15723193" y="4162162"/>
            <a:ext cx="1427409" cy="2323938"/>
            <a:chOff x="0" y="0"/>
            <a:chExt cx="1343520" cy="2187360"/>
          </a:xfrm>
        </p:grpSpPr>
        <p:sp>
          <p:nvSpPr>
            <p:cNvPr name="Freeform 12" id="12"/>
            <p:cNvSpPr/>
            <p:nvPr/>
          </p:nvSpPr>
          <p:spPr>
            <a:xfrm flipH="false" flipV="false" rot="0">
              <a:off x="0" y="0"/>
              <a:ext cx="1343533" cy="2187321"/>
            </a:xfrm>
            <a:custGeom>
              <a:avLst/>
              <a:gdLst/>
              <a:ahLst/>
              <a:cxnLst/>
              <a:rect r="r" b="b" t="t" l="l"/>
              <a:pathLst>
                <a:path h="2187321" w="1343533">
                  <a:moveTo>
                    <a:pt x="1343533" y="897382"/>
                  </a:moveTo>
                  <a:cubicBezTo>
                    <a:pt x="1015619" y="849249"/>
                    <a:pt x="1015619" y="849249"/>
                    <a:pt x="1015619" y="849249"/>
                  </a:cubicBezTo>
                  <a:cubicBezTo>
                    <a:pt x="879729" y="512826"/>
                    <a:pt x="647827" y="216281"/>
                    <a:pt x="351917" y="0"/>
                  </a:cubicBezTo>
                  <a:cubicBezTo>
                    <a:pt x="0" y="472694"/>
                    <a:pt x="0" y="472694"/>
                    <a:pt x="0" y="472694"/>
                  </a:cubicBezTo>
                  <a:cubicBezTo>
                    <a:pt x="327914" y="713105"/>
                    <a:pt x="551815" y="1105662"/>
                    <a:pt x="551815" y="1554353"/>
                  </a:cubicBezTo>
                  <a:cubicBezTo>
                    <a:pt x="551815" y="1698625"/>
                    <a:pt x="527812" y="1842770"/>
                    <a:pt x="479806" y="1971040"/>
                  </a:cubicBezTo>
                  <a:cubicBezTo>
                    <a:pt x="1063625" y="2187321"/>
                    <a:pt x="1063625" y="2187321"/>
                    <a:pt x="1063625" y="2187321"/>
                  </a:cubicBezTo>
                  <a:cubicBezTo>
                    <a:pt x="1127633" y="1995043"/>
                    <a:pt x="1159637" y="1794764"/>
                    <a:pt x="1159637" y="1586357"/>
                  </a:cubicBezTo>
                  <a:cubicBezTo>
                    <a:pt x="1159637" y="1426083"/>
                    <a:pt x="1135634" y="1273937"/>
                    <a:pt x="1103630" y="1129665"/>
                  </a:cubicBezTo>
                  <a:lnTo>
                    <a:pt x="1343533" y="897255"/>
                  </a:lnTo>
                  <a:close/>
                </a:path>
              </a:pathLst>
            </a:custGeom>
            <a:solidFill>
              <a:srgbClr val="727070"/>
            </a:solidFill>
          </p:spPr>
        </p:sp>
      </p:grpSp>
      <p:grpSp>
        <p:nvGrpSpPr>
          <p:cNvPr name="Group 13" id="13"/>
          <p:cNvGrpSpPr/>
          <p:nvPr/>
        </p:nvGrpSpPr>
        <p:grpSpPr>
          <a:xfrm rot="0">
            <a:off x="13711420" y="3326165"/>
            <a:ext cx="2251421" cy="1103790"/>
            <a:chOff x="0" y="0"/>
            <a:chExt cx="2292480" cy="1123920"/>
          </a:xfrm>
        </p:grpSpPr>
        <p:sp>
          <p:nvSpPr>
            <p:cNvPr name="Freeform 14" id="14"/>
            <p:cNvSpPr/>
            <p:nvPr/>
          </p:nvSpPr>
          <p:spPr>
            <a:xfrm flipH="false" flipV="false" rot="0">
              <a:off x="0" y="0"/>
              <a:ext cx="2292477" cy="1123950"/>
            </a:xfrm>
            <a:custGeom>
              <a:avLst/>
              <a:gdLst/>
              <a:ahLst/>
              <a:cxnLst/>
              <a:rect r="r" b="b" t="t" l="l"/>
              <a:pathLst>
                <a:path h="1123950" w="2292477">
                  <a:moveTo>
                    <a:pt x="1290574" y="280924"/>
                  </a:moveTo>
                  <a:cubicBezTo>
                    <a:pt x="1146302" y="0"/>
                    <a:pt x="1146302" y="0"/>
                    <a:pt x="1146302" y="0"/>
                  </a:cubicBezTo>
                  <a:cubicBezTo>
                    <a:pt x="1001903" y="280924"/>
                    <a:pt x="1001903" y="280924"/>
                    <a:pt x="1001903" y="280924"/>
                  </a:cubicBezTo>
                  <a:cubicBezTo>
                    <a:pt x="625221" y="313055"/>
                    <a:pt x="280543" y="441579"/>
                    <a:pt x="0" y="650240"/>
                  </a:cubicBezTo>
                  <a:cubicBezTo>
                    <a:pt x="352679" y="1123950"/>
                    <a:pt x="352679" y="1123950"/>
                    <a:pt x="352679" y="1123950"/>
                  </a:cubicBezTo>
                  <a:cubicBezTo>
                    <a:pt x="577088" y="955294"/>
                    <a:pt x="849630" y="859028"/>
                    <a:pt x="1146302" y="859028"/>
                  </a:cubicBezTo>
                  <a:cubicBezTo>
                    <a:pt x="1442974" y="859028"/>
                    <a:pt x="1715389" y="955421"/>
                    <a:pt x="1939798" y="1123950"/>
                  </a:cubicBezTo>
                  <a:cubicBezTo>
                    <a:pt x="2292477" y="650240"/>
                    <a:pt x="2292477" y="650240"/>
                    <a:pt x="2292477" y="650240"/>
                  </a:cubicBezTo>
                  <a:cubicBezTo>
                    <a:pt x="2011934" y="441452"/>
                    <a:pt x="1667256" y="313055"/>
                    <a:pt x="1290574" y="280924"/>
                  </a:cubicBezTo>
                  <a:close/>
                </a:path>
              </a:pathLst>
            </a:custGeom>
            <a:solidFill>
              <a:srgbClr val="727070"/>
            </a:solidFill>
          </p:spPr>
        </p:sp>
      </p:grpSp>
      <p:grpSp>
        <p:nvGrpSpPr>
          <p:cNvPr name="Group 15" id="15"/>
          <p:cNvGrpSpPr/>
          <p:nvPr/>
        </p:nvGrpSpPr>
        <p:grpSpPr>
          <a:xfrm rot="0">
            <a:off x="13803179" y="4788161"/>
            <a:ext cx="2183244" cy="2078469"/>
            <a:chOff x="0" y="0"/>
            <a:chExt cx="2034433" cy="1936800"/>
          </a:xfrm>
        </p:grpSpPr>
        <p:sp>
          <p:nvSpPr>
            <p:cNvPr name="Freeform 16" id="16"/>
            <p:cNvSpPr/>
            <p:nvPr/>
          </p:nvSpPr>
          <p:spPr>
            <a:xfrm flipH="false" flipV="false" rot="0">
              <a:off x="0" y="0"/>
              <a:ext cx="2034381" cy="1936750"/>
            </a:xfrm>
            <a:custGeom>
              <a:avLst/>
              <a:gdLst/>
              <a:ahLst/>
              <a:cxnLst/>
              <a:rect r="r" b="b" t="t" l="l"/>
              <a:pathLst>
                <a:path h="1936750" w="2034381">
                  <a:moveTo>
                    <a:pt x="0" y="968375"/>
                  </a:moveTo>
                  <a:cubicBezTo>
                    <a:pt x="0" y="433578"/>
                    <a:pt x="455435" y="0"/>
                    <a:pt x="1017191" y="0"/>
                  </a:cubicBezTo>
                  <a:cubicBezTo>
                    <a:pt x="1578946" y="0"/>
                    <a:pt x="2034381" y="433578"/>
                    <a:pt x="2034381" y="968375"/>
                  </a:cubicBezTo>
                  <a:cubicBezTo>
                    <a:pt x="2034381" y="1503172"/>
                    <a:pt x="1578946" y="1936750"/>
                    <a:pt x="1017191" y="1936750"/>
                  </a:cubicBezTo>
                  <a:cubicBezTo>
                    <a:pt x="455435" y="1936750"/>
                    <a:pt x="0" y="1503172"/>
                    <a:pt x="0" y="968375"/>
                  </a:cubicBezTo>
                  <a:close/>
                </a:path>
              </a:pathLst>
            </a:custGeom>
            <a:solidFill>
              <a:srgbClr val="727070"/>
            </a:solidFill>
          </p:spPr>
        </p:sp>
      </p:grpSp>
      <p:grpSp>
        <p:nvGrpSpPr>
          <p:cNvPr name="Group 17" id="17"/>
          <p:cNvGrpSpPr/>
          <p:nvPr/>
        </p:nvGrpSpPr>
        <p:grpSpPr>
          <a:xfrm rot="0">
            <a:off x="14075812" y="1950126"/>
            <a:ext cx="1404615" cy="1404615"/>
            <a:chOff x="0" y="0"/>
            <a:chExt cx="1444320" cy="1444320"/>
          </a:xfrm>
        </p:grpSpPr>
        <p:sp>
          <p:nvSpPr>
            <p:cNvPr name="Freeform 18" id="18"/>
            <p:cNvSpPr/>
            <p:nvPr/>
          </p:nvSpPr>
          <p:spPr>
            <a:xfrm flipH="false" flipV="false" rot="0">
              <a:off x="0" y="0"/>
              <a:ext cx="1444244" cy="1444244"/>
            </a:xfrm>
            <a:custGeom>
              <a:avLst/>
              <a:gdLst/>
              <a:ahLst/>
              <a:cxnLst/>
              <a:rect r="r" b="b" t="t" l="l"/>
              <a:pathLst>
                <a:path h="1444244" w="1444244">
                  <a:moveTo>
                    <a:pt x="0" y="722122"/>
                  </a:moveTo>
                  <a:cubicBezTo>
                    <a:pt x="0" y="323342"/>
                    <a:pt x="323342" y="0"/>
                    <a:pt x="722122" y="0"/>
                  </a:cubicBezTo>
                  <a:cubicBezTo>
                    <a:pt x="1120902" y="0"/>
                    <a:pt x="1444244" y="323342"/>
                    <a:pt x="1444244" y="722122"/>
                  </a:cubicBezTo>
                  <a:cubicBezTo>
                    <a:pt x="1444244" y="1120902"/>
                    <a:pt x="1120902" y="1444244"/>
                    <a:pt x="722122" y="1444244"/>
                  </a:cubicBezTo>
                  <a:cubicBezTo>
                    <a:pt x="323342" y="1444244"/>
                    <a:pt x="0" y="1121029"/>
                    <a:pt x="0" y="722122"/>
                  </a:cubicBezTo>
                  <a:close/>
                </a:path>
              </a:pathLst>
            </a:custGeom>
            <a:solidFill>
              <a:srgbClr val="727070"/>
            </a:solidFill>
          </p:spPr>
        </p:sp>
      </p:grpSp>
      <p:sp>
        <p:nvSpPr>
          <p:cNvPr name="TextBox 19" id="19"/>
          <p:cNvSpPr txBox="true"/>
          <p:nvPr/>
        </p:nvSpPr>
        <p:spPr>
          <a:xfrm rot="0">
            <a:off x="1323900" y="552690"/>
            <a:ext cx="10191700" cy="605790"/>
          </a:xfrm>
          <a:prstGeom prst="rect">
            <a:avLst/>
          </a:prstGeom>
        </p:spPr>
        <p:txBody>
          <a:bodyPr anchor="t" rtlCol="false" tIns="0" lIns="0" bIns="0" rIns="0">
            <a:spAutoFit/>
          </a:bodyPr>
          <a:lstStyle/>
          <a:p>
            <a:pPr algn="ctr" marL="0" indent="0" lvl="0">
              <a:lnSpc>
                <a:spcPts val="4829"/>
              </a:lnSpc>
              <a:spcBef>
                <a:spcPct val="0"/>
              </a:spcBef>
            </a:pPr>
            <a:r>
              <a:rPr lang="en-US" sz="3499" spc="122">
                <a:solidFill>
                  <a:srgbClr val="010101"/>
                </a:solidFill>
                <a:latin typeface="Archivo Black"/>
                <a:ea typeface="Archivo Black"/>
                <a:cs typeface="Archivo Black"/>
                <a:sym typeface="Archivo Black"/>
              </a:rPr>
              <a:t> VECTORISATION DES TEXTES :</a:t>
            </a:r>
          </a:p>
        </p:txBody>
      </p:sp>
      <p:sp>
        <p:nvSpPr>
          <p:cNvPr name="Freeform 20" id="20"/>
          <p:cNvSpPr/>
          <p:nvPr/>
        </p:nvSpPr>
        <p:spPr>
          <a:xfrm flipH="false" flipV="false" rot="0">
            <a:off x="14349162" y="5238495"/>
            <a:ext cx="795288" cy="629119"/>
          </a:xfrm>
          <a:custGeom>
            <a:avLst/>
            <a:gdLst/>
            <a:ahLst/>
            <a:cxnLst/>
            <a:rect r="r" b="b" t="t" l="l"/>
            <a:pathLst>
              <a:path h="629119" w="795288">
                <a:moveTo>
                  <a:pt x="0" y="0"/>
                </a:moveTo>
                <a:lnTo>
                  <a:pt x="795288" y="0"/>
                </a:lnTo>
                <a:lnTo>
                  <a:pt x="795288" y="629119"/>
                </a:lnTo>
                <a:lnTo>
                  <a:pt x="0" y="6291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3968813" y="5940947"/>
            <a:ext cx="2017611" cy="285750"/>
          </a:xfrm>
          <a:prstGeom prst="rect">
            <a:avLst/>
          </a:prstGeom>
        </p:spPr>
        <p:txBody>
          <a:bodyPr anchor="t" rtlCol="false" tIns="0" lIns="0" bIns="0" rIns="0">
            <a:spAutoFit/>
          </a:bodyPr>
          <a:lstStyle/>
          <a:p>
            <a:pPr algn="ctr">
              <a:lnSpc>
                <a:spcPts val="2216"/>
              </a:lnSpc>
            </a:pPr>
            <a:r>
              <a:rPr lang="en-US" sz="1847" spc="-36">
                <a:solidFill>
                  <a:srgbClr val="FFFBFB"/>
                </a:solidFill>
                <a:latin typeface="Montserrat Light"/>
                <a:ea typeface="Montserrat Light"/>
                <a:cs typeface="Montserrat Light"/>
                <a:sym typeface="Montserrat Light"/>
              </a:rPr>
              <a:t>VECTORIZATYION </a:t>
            </a:r>
          </a:p>
        </p:txBody>
      </p:sp>
      <p:sp>
        <p:nvSpPr>
          <p:cNvPr name="Freeform 22" id="22"/>
          <p:cNvSpPr/>
          <p:nvPr/>
        </p:nvSpPr>
        <p:spPr>
          <a:xfrm flipH="false" flipV="false" rot="0">
            <a:off x="14424452" y="2268825"/>
            <a:ext cx="787256" cy="767216"/>
          </a:xfrm>
          <a:custGeom>
            <a:avLst/>
            <a:gdLst/>
            <a:ahLst/>
            <a:cxnLst/>
            <a:rect r="r" b="b" t="t" l="l"/>
            <a:pathLst>
              <a:path h="767216" w="787256">
                <a:moveTo>
                  <a:pt x="0" y="0"/>
                </a:moveTo>
                <a:lnTo>
                  <a:pt x="787256" y="0"/>
                </a:lnTo>
                <a:lnTo>
                  <a:pt x="787256" y="767216"/>
                </a:lnTo>
                <a:lnTo>
                  <a:pt x="0" y="7672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1394756" y="2715980"/>
            <a:ext cx="2246916" cy="514681"/>
          </a:xfrm>
          <a:prstGeom prst="rect">
            <a:avLst/>
          </a:prstGeom>
        </p:spPr>
        <p:txBody>
          <a:bodyPr anchor="t" rtlCol="false" tIns="0" lIns="0" bIns="0" rIns="0">
            <a:spAutoFit/>
          </a:bodyPr>
          <a:lstStyle/>
          <a:p>
            <a:pPr algn="ctr">
              <a:lnSpc>
                <a:spcPts val="4181"/>
              </a:lnSpc>
              <a:spcBef>
                <a:spcPct val="0"/>
              </a:spcBef>
            </a:pPr>
            <a:r>
              <a:rPr lang="en-US" b="true" sz="2986" spc="-59">
                <a:solidFill>
                  <a:srgbClr val="010101"/>
                </a:solidFill>
                <a:latin typeface="Montserrat Light Bold"/>
                <a:ea typeface="Montserrat Light Bold"/>
                <a:cs typeface="Montserrat Light Bold"/>
                <a:sym typeface="Montserrat Light Bold"/>
              </a:rPr>
              <a:t>TF-IDF </a:t>
            </a:r>
          </a:p>
        </p:txBody>
      </p:sp>
      <p:sp>
        <p:nvSpPr>
          <p:cNvPr name="TextBox 24" id="24"/>
          <p:cNvSpPr txBox="true"/>
          <p:nvPr/>
        </p:nvSpPr>
        <p:spPr>
          <a:xfrm rot="0">
            <a:off x="1858262" y="2000555"/>
            <a:ext cx="957953" cy="883087"/>
          </a:xfrm>
          <a:prstGeom prst="rect">
            <a:avLst/>
          </a:prstGeom>
        </p:spPr>
        <p:txBody>
          <a:bodyPr anchor="t" rtlCol="false" tIns="0" lIns="0" bIns="0" rIns="0">
            <a:spAutoFit/>
          </a:bodyPr>
          <a:lstStyle/>
          <a:p>
            <a:pPr algn="ctr">
              <a:lnSpc>
                <a:spcPts val="6975"/>
              </a:lnSpc>
              <a:spcBef>
                <a:spcPct val="0"/>
              </a:spcBef>
            </a:pPr>
            <a:r>
              <a:rPr lang="en-US" b="true" sz="4982" spc="-99">
                <a:solidFill>
                  <a:srgbClr val="010101"/>
                </a:solidFill>
                <a:latin typeface="Montserrat Light Bold"/>
                <a:ea typeface="Montserrat Light Bold"/>
                <a:cs typeface="Montserrat Light Bold"/>
                <a:sym typeface="Montserrat Light Bold"/>
              </a:rPr>
              <a:t>01</a:t>
            </a:r>
          </a:p>
        </p:txBody>
      </p:sp>
      <p:sp>
        <p:nvSpPr>
          <p:cNvPr name="TextBox 25" id="25"/>
          <p:cNvSpPr txBox="true"/>
          <p:nvPr/>
        </p:nvSpPr>
        <p:spPr>
          <a:xfrm rot="0">
            <a:off x="1394756" y="1380794"/>
            <a:ext cx="10860409" cy="715010"/>
          </a:xfrm>
          <a:prstGeom prst="rect">
            <a:avLst/>
          </a:prstGeom>
        </p:spPr>
        <p:txBody>
          <a:bodyPr anchor="t" rtlCol="false" tIns="0" lIns="0" bIns="0" rIns="0">
            <a:spAutoFit/>
          </a:bodyPr>
          <a:lstStyle/>
          <a:p>
            <a:pPr algn="l">
              <a:lnSpc>
                <a:spcPts val="2859"/>
              </a:lnSpc>
              <a:spcBef>
                <a:spcPct val="0"/>
              </a:spcBef>
            </a:pPr>
            <a:r>
              <a:rPr lang="en-US" sz="2199">
                <a:solidFill>
                  <a:srgbClr val="000000"/>
                </a:solidFill>
                <a:latin typeface="Open Sauce"/>
                <a:ea typeface="Open Sauce"/>
                <a:cs typeface="Open Sauce"/>
                <a:sym typeface="Open Sauce"/>
              </a:rPr>
              <a:t>La vectorisation (extraction des features) transforme le texte en vecteurs numériques pour être traité par les modèles d’analyse.</a:t>
            </a:r>
          </a:p>
        </p:txBody>
      </p:sp>
      <p:sp>
        <p:nvSpPr>
          <p:cNvPr name="TextBox 26" id="26"/>
          <p:cNvSpPr txBox="true"/>
          <p:nvPr/>
        </p:nvSpPr>
        <p:spPr>
          <a:xfrm rot="0">
            <a:off x="17777933" y="9801491"/>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6</a:t>
            </a:r>
          </a:p>
        </p:txBody>
      </p:sp>
      <p:sp>
        <p:nvSpPr>
          <p:cNvPr name="TextBox 27" id="27"/>
          <p:cNvSpPr txBox="true"/>
          <p:nvPr/>
        </p:nvSpPr>
        <p:spPr>
          <a:xfrm rot="0">
            <a:off x="0" y="4280795"/>
            <a:ext cx="2071289" cy="507366"/>
          </a:xfrm>
          <a:prstGeom prst="rect">
            <a:avLst/>
          </a:prstGeom>
        </p:spPr>
        <p:txBody>
          <a:bodyPr anchor="t" rtlCol="false" tIns="0" lIns="0" bIns="0" rIns="0">
            <a:spAutoFit/>
          </a:bodyPr>
          <a:lstStyle/>
          <a:p>
            <a:pPr algn="l">
              <a:lnSpc>
                <a:spcPts val="4059"/>
              </a:lnSpc>
              <a:spcBef>
                <a:spcPct val="0"/>
              </a:spcBef>
            </a:pPr>
            <a:r>
              <a:rPr lang="en-US" b="true" sz="2899" spc="504">
                <a:solidFill>
                  <a:srgbClr val="000000"/>
                </a:solidFill>
                <a:latin typeface="Kollektif Bold"/>
                <a:ea typeface="Kollektif Bold"/>
                <a:cs typeface="Kollektif Bold"/>
                <a:sym typeface="Kollektif Bold"/>
              </a:rPr>
              <a:t>Principe:</a:t>
            </a:r>
          </a:p>
        </p:txBody>
      </p:sp>
      <p:sp>
        <p:nvSpPr>
          <p:cNvPr name="TextBox 28" id="28"/>
          <p:cNvSpPr txBox="true"/>
          <p:nvPr/>
        </p:nvSpPr>
        <p:spPr>
          <a:xfrm rot="0">
            <a:off x="2162652" y="4410905"/>
            <a:ext cx="9511476" cy="741303"/>
          </a:xfrm>
          <a:prstGeom prst="rect">
            <a:avLst/>
          </a:prstGeom>
        </p:spPr>
        <p:txBody>
          <a:bodyPr anchor="t" rtlCol="false" tIns="0" lIns="0" bIns="0" rIns="0">
            <a:spAutoFit/>
          </a:bodyPr>
          <a:lstStyle/>
          <a:p>
            <a:pPr algn="l">
              <a:lnSpc>
                <a:spcPts val="3025"/>
              </a:lnSpc>
            </a:pPr>
            <a:r>
              <a:rPr lang="en-US" sz="2327">
                <a:solidFill>
                  <a:srgbClr val="000000"/>
                </a:solidFill>
                <a:latin typeface="Open Sauce"/>
                <a:ea typeface="Open Sauce"/>
                <a:cs typeface="Open Sauce"/>
                <a:sym typeface="Open Sauce"/>
              </a:rPr>
              <a:t>Calculez les scores de pertinence des mots pour sélectionner les phrases.</a:t>
            </a:r>
          </a:p>
        </p:txBody>
      </p:sp>
      <p:sp>
        <p:nvSpPr>
          <p:cNvPr name="TextBox 29" id="29"/>
          <p:cNvSpPr txBox="true"/>
          <p:nvPr/>
        </p:nvSpPr>
        <p:spPr>
          <a:xfrm rot="0">
            <a:off x="2162652" y="7047822"/>
            <a:ext cx="8828322" cy="751491"/>
          </a:xfrm>
          <a:prstGeom prst="rect">
            <a:avLst/>
          </a:prstGeom>
        </p:spPr>
        <p:txBody>
          <a:bodyPr anchor="t" rtlCol="false" tIns="0" lIns="0" bIns="0" rIns="0">
            <a:spAutoFit/>
          </a:bodyPr>
          <a:lstStyle/>
          <a:p>
            <a:pPr algn="l">
              <a:lnSpc>
                <a:spcPts val="3025"/>
              </a:lnSpc>
            </a:pPr>
            <a:r>
              <a:rPr lang="en-US" sz="2327">
                <a:solidFill>
                  <a:srgbClr val="000000"/>
                </a:solidFill>
                <a:latin typeface="Open Sauce"/>
                <a:ea typeface="Open Sauce"/>
                <a:cs typeface="Open Sauce"/>
                <a:sym typeface="Open Sauce"/>
              </a:rPr>
              <a:t> </a:t>
            </a:r>
            <a:r>
              <a:rPr lang="en-US" sz="2327">
                <a:solidFill>
                  <a:srgbClr val="000000"/>
                </a:solidFill>
                <a:latin typeface="Open Sauce"/>
                <a:ea typeface="Open Sauce"/>
                <a:cs typeface="Open Sauce"/>
                <a:sym typeface="Open Sauce"/>
              </a:rPr>
              <a:t>Réduit l'importance des mots courants en pondérant les mots rares qui apparaissent dans peu de documents.</a:t>
            </a:r>
          </a:p>
        </p:txBody>
      </p:sp>
      <p:sp>
        <p:nvSpPr>
          <p:cNvPr name="TextBox 30" id="30"/>
          <p:cNvSpPr txBox="true"/>
          <p:nvPr/>
        </p:nvSpPr>
        <p:spPr>
          <a:xfrm rot="0">
            <a:off x="2162652" y="5570295"/>
            <a:ext cx="8828322" cy="741303"/>
          </a:xfrm>
          <a:prstGeom prst="rect">
            <a:avLst/>
          </a:prstGeom>
        </p:spPr>
        <p:txBody>
          <a:bodyPr anchor="t" rtlCol="false" tIns="0" lIns="0" bIns="0" rIns="0">
            <a:spAutoFit/>
          </a:bodyPr>
          <a:lstStyle/>
          <a:p>
            <a:pPr algn="l">
              <a:lnSpc>
                <a:spcPts val="3025"/>
              </a:lnSpc>
            </a:pPr>
            <a:r>
              <a:rPr lang="en-US" sz="2327">
                <a:solidFill>
                  <a:srgbClr val="000000"/>
                </a:solidFill>
                <a:latin typeface="Open Sauce"/>
                <a:ea typeface="Open Sauce"/>
                <a:cs typeface="Open Sauce"/>
                <a:sym typeface="Open Sauce"/>
              </a:rPr>
              <a:t>Calcule l'importance d'un mot dans un document spécifique en mesurant la fréquence relative de son apparition</a:t>
            </a:r>
          </a:p>
        </p:txBody>
      </p:sp>
      <p:sp>
        <p:nvSpPr>
          <p:cNvPr name="TextBox 31" id="31"/>
          <p:cNvSpPr txBox="true"/>
          <p:nvPr/>
        </p:nvSpPr>
        <p:spPr>
          <a:xfrm rot="0">
            <a:off x="2162652" y="8731908"/>
            <a:ext cx="7733283" cy="1117208"/>
          </a:xfrm>
          <a:prstGeom prst="rect">
            <a:avLst/>
          </a:prstGeom>
        </p:spPr>
        <p:txBody>
          <a:bodyPr anchor="t" rtlCol="false" tIns="0" lIns="0" bIns="0" rIns="0">
            <a:spAutoFit/>
          </a:bodyPr>
          <a:lstStyle/>
          <a:p>
            <a:pPr algn="l">
              <a:lnSpc>
                <a:spcPts val="3025"/>
              </a:lnSpc>
            </a:pPr>
            <a:r>
              <a:rPr lang="en-US" sz="2327">
                <a:solidFill>
                  <a:srgbClr val="000000"/>
                </a:solidFill>
                <a:latin typeface="Open Sauce"/>
                <a:ea typeface="Open Sauce"/>
                <a:cs typeface="Open Sauce"/>
                <a:sym typeface="Open Sauce"/>
              </a:rPr>
              <a:t> Combine TF et IDF pour attribuer un score final à chaque mot, reflétant sa pertinence dans un document par rapport à l'ensemble des documents.</a:t>
            </a:r>
          </a:p>
        </p:txBody>
      </p:sp>
      <p:sp>
        <p:nvSpPr>
          <p:cNvPr name="TextBox 32" id="32"/>
          <p:cNvSpPr txBox="true"/>
          <p:nvPr/>
        </p:nvSpPr>
        <p:spPr>
          <a:xfrm rot="0">
            <a:off x="576849" y="6875806"/>
            <a:ext cx="917591" cy="1021716"/>
          </a:xfrm>
          <a:prstGeom prst="rect">
            <a:avLst/>
          </a:prstGeom>
        </p:spPr>
        <p:txBody>
          <a:bodyPr anchor="t" rtlCol="false" tIns="0" lIns="0" bIns="0" rIns="0">
            <a:spAutoFit/>
          </a:bodyPr>
          <a:lstStyle/>
          <a:p>
            <a:pPr algn="l">
              <a:lnSpc>
                <a:spcPts val="4059"/>
              </a:lnSpc>
            </a:pPr>
            <a:r>
              <a:rPr lang="en-US" sz="2899" spc="504" b="true">
                <a:solidFill>
                  <a:srgbClr val="000000"/>
                </a:solidFill>
                <a:latin typeface="Kollektif Bold"/>
                <a:ea typeface="Kollektif Bold"/>
                <a:cs typeface="Kollektif Bold"/>
                <a:sym typeface="Kollektif Bold"/>
              </a:rPr>
              <a:t>IDF</a:t>
            </a:r>
          </a:p>
          <a:p>
            <a:pPr algn="l">
              <a:lnSpc>
                <a:spcPts val="4059"/>
              </a:lnSpc>
              <a:spcBef>
                <a:spcPct val="0"/>
              </a:spcBef>
            </a:pPr>
          </a:p>
        </p:txBody>
      </p:sp>
      <p:sp>
        <p:nvSpPr>
          <p:cNvPr name="TextBox 33" id="33"/>
          <p:cNvSpPr txBox="true"/>
          <p:nvPr/>
        </p:nvSpPr>
        <p:spPr>
          <a:xfrm rot="0">
            <a:off x="184527" y="8714105"/>
            <a:ext cx="1702235" cy="1021716"/>
          </a:xfrm>
          <a:prstGeom prst="rect">
            <a:avLst/>
          </a:prstGeom>
        </p:spPr>
        <p:txBody>
          <a:bodyPr anchor="t" rtlCol="false" tIns="0" lIns="0" bIns="0" rIns="0">
            <a:spAutoFit/>
          </a:bodyPr>
          <a:lstStyle/>
          <a:p>
            <a:pPr algn="l">
              <a:lnSpc>
                <a:spcPts val="4059"/>
              </a:lnSpc>
              <a:spcBef>
                <a:spcPct val="0"/>
              </a:spcBef>
            </a:pPr>
            <a:r>
              <a:rPr lang="en-US" b="true" sz="2899" spc="504">
                <a:solidFill>
                  <a:srgbClr val="000000"/>
                </a:solidFill>
                <a:latin typeface="Kollektif Bold"/>
                <a:ea typeface="Kollektif Bold"/>
                <a:cs typeface="Kollektif Bold"/>
                <a:sym typeface="Kollektif Bold"/>
              </a:rPr>
              <a:t>TF-IDF Score :</a:t>
            </a:r>
          </a:p>
        </p:txBody>
      </p:sp>
      <p:sp>
        <p:nvSpPr>
          <p:cNvPr name="TextBox 34" id="34"/>
          <p:cNvSpPr txBox="true"/>
          <p:nvPr/>
        </p:nvSpPr>
        <p:spPr>
          <a:xfrm rot="0">
            <a:off x="576849" y="5411707"/>
            <a:ext cx="917591" cy="1021716"/>
          </a:xfrm>
          <a:prstGeom prst="rect">
            <a:avLst/>
          </a:prstGeom>
        </p:spPr>
        <p:txBody>
          <a:bodyPr anchor="t" rtlCol="false" tIns="0" lIns="0" bIns="0" rIns="0">
            <a:spAutoFit/>
          </a:bodyPr>
          <a:lstStyle/>
          <a:p>
            <a:pPr algn="l">
              <a:lnSpc>
                <a:spcPts val="4059"/>
              </a:lnSpc>
            </a:pPr>
            <a:r>
              <a:rPr lang="en-US" sz="2899" spc="504" b="true">
                <a:solidFill>
                  <a:srgbClr val="000000"/>
                </a:solidFill>
                <a:latin typeface="Kollektif Bold"/>
                <a:ea typeface="Kollektif Bold"/>
                <a:cs typeface="Kollektif Bold"/>
                <a:sym typeface="Kollektif Bold"/>
              </a:rPr>
              <a:t>TF</a:t>
            </a:r>
          </a:p>
          <a:p>
            <a:pPr algn="l">
              <a:lnSpc>
                <a:spcPts val="4059"/>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3"/>
            <a:stretch>
              <a:fillRect l="0" t="-38888" r="0" b="-38888"/>
            </a:stretch>
          </a:blipFill>
        </p:spPr>
      </p:sp>
      <p:grpSp>
        <p:nvGrpSpPr>
          <p:cNvPr name="Group 3" id="3"/>
          <p:cNvGrpSpPr/>
          <p:nvPr/>
        </p:nvGrpSpPr>
        <p:grpSpPr>
          <a:xfrm rot="0">
            <a:off x="11674128" y="2626482"/>
            <a:ext cx="6422296" cy="6422996"/>
            <a:chOff x="0" y="0"/>
            <a:chExt cx="6603840" cy="6604560"/>
          </a:xfrm>
        </p:grpSpPr>
        <p:sp>
          <p:nvSpPr>
            <p:cNvPr name="Freeform 4" id="4"/>
            <p:cNvSpPr/>
            <p:nvPr/>
          </p:nvSpPr>
          <p:spPr>
            <a:xfrm flipH="false" flipV="false" rot="0">
              <a:off x="0" y="0"/>
              <a:ext cx="6603873" cy="6604508"/>
            </a:xfrm>
            <a:custGeom>
              <a:avLst/>
              <a:gdLst/>
              <a:ahLst/>
              <a:cxnLst/>
              <a:rect r="r" b="b" t="t" l="l"/>
              <a:pathLst>
                <a:path h="6604508" w="6603873">
                  <a:moveTo>
                    <a:pt x="0" y="3302254"/>
                  </a:moveTo>
                  <a:cubicBezTo>
                    <a:pt x="0" y="1478534"/>
                    <a:pt x="1478280" y="0"/>
                    <a:pt x="3301873" y="0"/>
                  </a:cubicBezTo>
                  <a:lnTo>
                    <a:pt x="3301873" y="25527"/>
                  </a:lnTo>
                  <a:lnTo>
                    <a:pt x="3301873" y="0"/>
                  </a:lnTo>
                  <a:cubicBezTo>
                    <a:pt x="5125466" y="0"/>
                    <a:pt x="6603873" y="1478534"/>
                    <a:pt x="6603873" y="3302254"/>
                  </a:cubicBezTo>
                  <a:cubicBezTo>
                    <a:pt x="6603873" y="5125974"/>
                    <a:pt x="5125466" y="6604508"/>
                    <a:pt x="3301873" y="6604508"/>
                  </a:cubicBezTo>
                  <a:lnTo>
                    <a:pt x="3301873" y="6578981"/>
                  </a:lnTo>
                  <a:lnTo>
                    <a:pt x="3301873" y="6604508"/>
                  </a:lnTo>
                  <a:cubicBezTo>
                    <a:pt x="1478280" y="6604508"/>
                    <a:pt x="0" y="5126101"/>
                    <a:pt x="0" y="3302254"/>
                  </a:cubicBezTo>
                  <a:lnTo>
                    <a:pt x="25527" y="3302254"/>
                  </a:lnTo>
                  <a:lnTo>
                    <a:pt x="46990" y="3316097"/>
                  </a:lnTo>
                  <a:cubicBezTo>
                    <a:pt x="40894" y="3325622"/>
                    <a:pt x="29210" y="3330067"/>
                    <a:pt x="18288" y="3326892"/>
                  </a:cubicBezTo>
                  <a:cubicBezTo>
                    <a:pt x="7366" y="3323717"/>
                    <a:pt x="0" y="3313684"/>
                    <a:pt x="0" y="3302254"/>
                  </a:cubicBezTo>
                  <a:moveTo>
                    <a:pt x="51181" y="3302254"/>
                  </a:moveTo>
                  <a:lnTo>
                    <a:pt x="25527" y="3302254"/>
                  </a:lnTo>
                  <a:lnTo>
                    <a:pt x="4064" y="3288538"/>
                  </a:lnTo>
                  <a:cubicBezTo>
                    <a:pt x="10160" y="3279013"/>
                    <a:pt x="21844" y="3274568"/>
                    <a:pt x="32766" y="3277743"/>
                  </a:cubicBezTo>
                  <a:cubicBezTo>
                    <a:pt x="43688" y="3280918"/>
                    <a:pt x="51181" y="3290951"/>
                    <a:pt x="51181" y="3302254"/>
                  </a:cubicBezTo>
                  <a:cubicBezTo>
                    <a:pt x="51181" y="5097780"/>
                    <a:pt x="1506601" y="6553454"/>
                    <a:pt x="3302000" y="6553454"/>
                  </a:cubicBezTo>
                  <a:cubicBezTo>
                    <a:pt x="5097399" y="6553454"/>
                    <a:pt x="6552819" y="5097907"/>
                    <a:pt x="6552819" y="3302254"/>
                  </a:cubicBezTo>
                  <a:lnTo>
                    <a:pt x="6578346" y="3302254"/>
                  </a:lnTo>
                  <a:lnTo>
                    <a:pt x="6552819" y="3302254"/>
                  </a:lnTo>
                  <a:cubicBezTo>
                    <a:pt x="6552819" y="1506728"/>
                    <a:pt x="5097399" y="51054"/>
                    <a:pt x="3302000" y="51054"/>
                  </a:cubicBezTo>
                  <a:lnTo>
                    <a:pt x="3302000" y="25527"/>
                  </a:lnTo>
                  <a:lnTo>
                    <a:pt x="3302000" y="51181"/>
                  </a:lnTo>
                  <a:cubicBezTo>
                    <a:pt x="1506601" y="51181"/>
                    <a:pt x="51181" y="1506728"/>
                    <a:pt x="51181" y="3302381"/>
                  </a:cubicBezTo>
                  <a:close/>
                </a:path>
              </a:pathLst>
            </a:custGeom>
            <a:solidFill>
              <a:srgbClr val="727070"/>
            </a:solidFill>
          </p:spPr>
        </p:sp>
      </p:grpSp>
      <p:grpSp>
        <p:nvGrpSpPr>
          <p:cNvPr name="Group 5" id="5"/>
          <p:cNvGrpSpPr/>
          <p:nvPr/>
        </p:nvGrpSpPr>
        <p:grpSpPr>
          <a:xfrm rot="0">
            <a:off x="12705531" y="4403989"/>
            <a:ext cx="1322656" cy="2148786"/>
            <a:chOff x="0" y="0"/>
            <a:chExt cx="1346400" cy="2187360"/>
          </a:xfrm>
        </p:grpSpPr>
        <p:sp>
          <p:nvSpPr>
            <p:cNvPr name="Freeform 6" id="6"/>
            <p:cNvSpPr/>
            <p:nvPr/>
          </p:nvSpPr>
          <p:spPr>
            <a:xfrm flipH="false" flipV="false" rot="0">
              <a:off x="0" y="0"/>
              <a:ext cx="1346454" cy="2187448"/>
            </a:xfrm>
            <a:custGeom>
              <a:avLst/>
              <a:gdLst/>
              <a:ahLst/>
              <a:cxnLst/>
              <a:rect r="r" b="b" t="t" l="l"/>
              <a:pathLst>
                <a:path h="2187448" w="1346454">
                  <a:moveTo>
                    <a:pt x="1346454" y="472694"/>
                  </a:moveTo>
                  <a:cubicBezTo>
                    <a:pt x="993775" y="0"/>
                    <a:pt x="993775" y="0"/>
                    <a:pt x="993775" y="0"/>
                  </a:cubicBezTo>
                  <a:cubicBezTo>
                    <a:pt x="697230" y="216281"/>
                    <a:pt x="464820" y="512826"/>
                    <a:pt x="328549" y="849249"/>
                  </a:cubicBezTo>
                  <a:cubicBezTo>
                    <a:pt x="0" y="897382"/>
                    <a:pt x="0" y="897382"/>
                    <a:pt x="0" y="897382"/>
                  </a:cubicBezTo>
                  <a:cubicBezTo>
                    <a:pt x="240411" y="1129792"/>
                    <a:pt x="240411" y="1129792"/>
                    <a:pt x="240411" y="1129792"/>
                  </a:cubicBezTo>
                  <a:cubicBezTo>
                    <a:pt x="208407" y="1274064"/>
                    <a:pt x="184277" y="1426210"/>
                    <a:pt x="184277" y="1586484"/>
                  </a:cubicBezTo>
                  <a:cubicBezTo>
                    <a:pt x="184277" y="1794764"/>
                    <a:pt x="216281" y="1995170"/>
                    <a:pt x="280416" y="2187448"/>
                  </a:cubicBezTo>
                  <a:cubicBezTo>
                    <a:pt x="865505" y="1971040"/>
                    <a:pt x="865505" y="1971040"/>
                    <a:pt x="865505" y="1971040"/>
                  </a:cubicBezTo>
                  <a:cubicBezTo>
                    <a:pt x="817372" y="1842897"/>
                    <a:pt x="793369" y="1698625"/>
                    <a:pt x="793369" y="1554353"/>
                  </a:cubicBezTo>
                  <a:cubicBezTo>
                    <a:pt x="793369" y="1105662"/>
                    <a:pt x="1017778" y="713105"/>
                    <a:pt x="1346327" y="472694"/>
                  </a:cubicBezTo>
                  <a:close/>
                </a:path>
              </a:pathLst>
            </a:custGeom>
            <a:solidFill>
              <a:srgbClr val="727070"/>
            </a:solidFill>
          </p:spPr>
        </p:sp>
      </p:grpSp>
      <p:grpSp>
        <p:nvGrpSpPr>
          <p:cNvPr name="Group 7" id="7"/>
          <p:cNvGrpSpPr/>
          <p:nvPr/>
        </p:nvGrpSpPr>
        <p:grpSpPr>
          <a:xfrm rot="0">
            <a:off x="12950857" y="6275537"/>
            <a:ext cx="1924894" cy="1621985"/>
            <a:chOff x="0" y="0"/>
            <a:chExt cx="1857600" cy="1565280"/>
          </a:xfrm>
        </p:grpSpPr>
        <p:sp>
          <p:nvSpPr>
            <p:cNvPr name="Freeform 8" id="8"/>
            <p:cNvSpPr/>
            <p:nvPr/>
          </p:nvSpPr>
          <p:spPr>
            <a:xfrm flipH="false" flipV="false" rot="0">
              <a:off x="0" y="0"/>
              <a:ext cx="1857629" cy="1565275"/>
            </a:xfrm>
            <a:custGeom>
              <a:avLst/>
              <a:gdLst/>
              <a:ahLst/>
              <a:cxnLst/>
              <a:rect r="r" b="b" t="t" l="l"/>
              <a:pathLst>
                <a:path h="1565275" w="1857629">
                  <a:moveTo>
                    <a:pt x="1857629" y="931164"/>
                  </a:moveTo>
                  <a:cubicBezTo>
                    <a:pt x="1265047" y="931164"/>
                    <a:pt x="760603" y="537845"/>
                    <a:pt x="584454" y="0"/>
                  </a:cubicBezTo>
                  <a:cubicBezTo>
                    <a:pt x="0" y="216789"/>
                    <a:pt x="0" y="216789"/>
                    <a:pt x="0" y="216789"/>
                  </a:cubicBezTo>
                  <a:cubicBezTo>
                    <a:pt x="112141" y="569976"/>
                    <a:pt x="320294" y="874903"/>
                    <a:pt x="592455" y="1099693"/>
                  </a:cubicBezTo>
                  <a:cubicBezTo>
                    <a:pt x="536448" y="1444879"/>
                    <a:pt x="536448" y="1444879"/>
                    <a:pt x="536448" y="1444879"/>
                  </a:cubicBezTo>
                  <a:cubicBezTo>
                    <a:pt x="840740" y="1284351"/>
                    <a:pt x="840740" y="1284351"/>
                    <a:pt x="840740" y="1284351"/>
                  </a:cubicBezTo>
                  <a:cubicBezTo>
                    <a:pt x="1137031" y="1461008"/>
                    <a:pt x="1489329" y="1565275"/>
                    <a:pt x="1857629" y="1565275"/>
                  </a:cubicBezTo>
                  <a:lnTo>
                    <a:pt x="1857629" y="931164"/>
                  </a:lnTo>
                  <a:close/>
                </a:path>
              </a:pathLst>
            </a:custGeom>
            <a:solidFill>
              <a:srgbClr val="727070"/>
            </a:solidFill>
          </p:spPr>
        </p:sp>
      </p:grpSp>
      <p:grpSp>
        <p:nvGrpSpPr>
          <p:cNvPr name="Group 9" id="9"/>
          <p:cNvGrpSpPr/>
          <p:nvPr/>
        </p:nvGrpSpPr>
        <p:grpSpPr>
          <a:xfrm rot="0">
            <a:off x="14860047" y="6236222"/>
            <a:ext cx="1971552" cy="1661300"/>
            <a:chOff x="0" y="0"/>
            <a:chExt cx="1857600" cy="1565280"/>
          </a:xfrm>
        </p:grpSpPr>
        <p:sp>
          <p:nvSpPr>
            <p:cNvPr name="Freeform 10" id="10"/>
            <p:cNvSpPr/>
            <p:nvPr/>
          </p:nvSpPr>
          <p:spPr>
            <a:xfrm flipH="false" flipV="false" rot="0">
              <a:off x="0" y="0"/>
              <a:ext cx="1857629" cy="1565275"/>
            </a:xfrm>
            <a:custGeom>
              <a:avLst/>
              <a:gdLst/>
              <a:ahLst/>
              <a:cxnLst/>
              <a:rect r="r" b="b" t="t" l="l"/>
              <a:pathLst>
                <a:path h="1565275" w="1857629">
                  <a:moveTo>
                    <a:pt x="1857629" y="216789"/>
                  </a:moveTo>
                  <a:cubicBezTo>
                    <a:pt x="1273048" y="0"/>
                    <a:pt x="1273048" y="0"/>
                    <a:pt x="1273048" y="0"/>
                  </a:cubicBezTo>
                  <a:cubicBezTo>
                    <a:pt x="1096899" y="537845"/>
                    <a:pt x="592455" y="931164"/>
                    <a:pt x="0" y="931164"/>
                  </a:cubicBezTo>
                  <a:cubicBezTo>
                    <a:pt x="0" y="1565275"/>
                    <a:pt x="0" y="1565275"/>
                    <a:pt x="0" y="1565275"/>
                  </a:cubicBezTo>
                  <a:cubicBezTo>
                    <a:pt x="368300" y="1565275"/>
                    <a:pt x="720598" y="1460881"/>
                    <a:pt x="1016889" y="1284351"/>
                  </a:cubicBezTo>
                  <a:cubicBezTo>
                    <a:pt x="1321181" y="1444879"/>
                    <a:pt x="1321181" y="1444879"/>
                    <a:pt x="1321181" y="1444879"/>
                  </a:cubicBezTo>
                  <a:cubicBezTo>
                    <a:pt x="1265174" y="1099693"/>
                    <a:pt x="1265174" y="1099693"/>
                    <a:pt x="1265174" y="1099693"/>
                  </a:cubicBezTo>
                  <a:cubicBezTo>
                    <a:pt x="1537462" y="874903"/>
                    <a:pt x="1745615" y="569849"/>
                    <a:pt x="1857629" y="216662"/>
                  </a:cubicBezTo>
                  <a:close/>
                </a:path>
              </a:pathLst>
            </a:custGeom>
            <a:solidFill>
              <a:srgbClr val="727070"/>
            </a:solidFill>
          </p:spPr>
        </p:sp>
      </p:grpSp>
      <p:grpSp>
        <p:nvGrpSpPr>
          <p:cNvPr name="Group 11" id="11"/>
          <p:cNvGrpSpPr/>
          <p:nvPr/>
        </p:nvGrpSpPr>
        <p:grpSpPr>
          <a:xfrm rot="0">
            <a:off x="15995949" y="4092131"/>
            <a:ext cx="1427409" cy="2323938"/>
            <a:chOff x="0" y="0"/>
            <a:chExt cx="1343520" cy="2187360"/>
          </a:xfrm>
        </p:grpSpPr>
        <p:sp>
          <p:nvSpPr>
            <p:cNvPr name="Freeform 12" id="12"/>
            <p:cNvSpPr/>
            <p:nvPr/>
          </p:nvSpPr>
          <p:spPr>
            <a:xfrm flipH="false" flipV="false" rot="0">
              <a:off x="0" y="0"/>
              <a:ext cx="1343533" cy="2187321"/>
            </a:xfrm>
            <a:custGeom>
              <a:avLst/>
              <a:gdLst/>
              <a:ahLst/>
              <a:cxnLst/>
              <a:rect r="r" b="b" t="t" l="l"/>
              <a:pathLst>
                <a:path h="2187321" w="1343533">
                  <a:moveTo>
                    <a:pt x="1343533" y="897382"/>
                  </a:moveTo>
                  <a:cubicBezTo>
                    <a:pt x="1015619" y="849249"/>
                    <a:pt x="1015619" y="849249"/>
                    <a:pt x="1015619" y="849249"/>
                  </a:cubicBezTo>
                  <a:cubicBezTo>
                    <a:pt x="879729" y="512826"/>
                    <a:pt x="647827" y="216281"/>
                    <a:pt x="351917" y="0"/>
                  </a:cubicBezTo>
                  <a:cubicBezTo>
                    <a:pt x="0" y="472694"/>
                    <a:pt x="0" y="472694"/>
                    <a:pt x="0" y="472694"/>
                  </a:cubicBezTo>
                  <a:cubicBezTo>
                    <a:pt x="327914" y="713105"/>
                    <a:pt x="551815" y="1105662"/>
                    <a:pt x="551815" y="1554353"/>
                  </a:cubicBezTo>
                  <a:cubicBezTo>
                    <a:pt x="551815" y="1698625"/>
                    <a:pt x="527812" y="1842770"/>
                    <a:pt x="479806" y="1971040"/>
                  </a:cubicBezTo>
                  <a:cubicBezTo>
                    <a:pt x="1063625" y="2187321"/>
                    <a:pt x="1063625" y="2187321"/>
                    <a:pt x="1063625" y="2187321"/>
                  </a:cubicBezTo>
                  <a:cubicBezTo>
                    <a:pt x="1127633" y="1995043"/>
                    <a:pt x="1159637" y="1794764"/>
                    <a:pt x="1159637" y="1586357"/>
                  </a:cubicBezTo>
                  <a:cubicBezTo>
                    <a:pt x="1159637" y="1426083"/>
                    <a:pt x="1135634" y="1273937"/>
                    <a:pt x="1103630" y="1129665"/>
                  </a:cubicBezTo>
                  <a:lnTo>
                    <a:pt x="1343533" y="897255"/>
                  </a:lnTo>
                  <a:close/>
                </a:path>
              </a:pathLst>
            </a:custGeom>
            <a:solidFill>
              <a:srgbClr val="727070"/>
            </a:solidFill>
          </p:spPr>
        </p:sp>
      </p:grpSp>
      <p:grpSp>
        <p:nvGrpSpPr>
          <p:cNvPr name="Group 13" id="13"/>
          <p:cNvGrpSpPr/>
          <p:nvPr/>
        </p:nvGrpSpPr>
        <p:grpSpPr>
          <a:xfrm rot="0">
            <a:off x="13602046" y="3801330"/>
            <a:ext cx="2251421" cy="1103790"/>
            <a:chOff x="0" y="0"/>
            <a:chExt cx="2292480" cy="1123920"/>
          </a:xfrm>
        </p:grpSpPr>
        <p:sp>
          <p:nvSpPr>
            <p:cNvPr name="Freeform 14" id="14"/>
            <p:cNvSpPr/>
            <p:nvPr/>
          </p:nvSpPr>
          <p:spPr>
            <a:xfrm flipH="false" flipV="false" rot="0">
              <a:off x="0" y="0"/>
              <a:ext cx="2292477" cy="1123950"/>
            </a:xfrm>
            <a:custGeom>
              <a:avLst/>
              <a:gdLst/>
              <a:ahLst/>
              <a:cxnLst/>
              <a:rect r="r" b="b" t="t" l="l"/>
              <a:pathLst>
                <a:path h="1123950" w="2292477">
                  <a:moveTo>
                    <a:pt x="1290574" y="280924"/>
                  </a:moveTo>
                  <a:cubicBezTo>
                    <a:pt x="1146302" y="0"/>
                    <a:pt x="1146302" y="0"/>
                    <a:pt x="1146302" y="0"/>
                  </a:cubicBezTo>
                  <a:cubicBezTo>
                    <a:pt x="1001903" y="280924"/>
                    <a:pt x="1001903" y="280924"/>
                    <a:pt x="1001903" y="280924"/>
                  </a:cubicBezTo>
                  <a:cubicBezTo>
                    <a:pt x="625221" y="313055"/>
                    <a:pt x="280543" y="441579"/>
                    <a:pt x="0" y="650240"/>
                  </a:cubicBezTo>
                  <a:cubicBezTo>
                    <a:pt x="352679" y="1123950"/>
                    <a:pt x="352679" y="1123950"/>
                    <a:pt x="352679" y="1123950"/>
                  </a:cubicBezTo>
                  <a:cubicBezTo>
                    <a:pt x="577088" y="955294"/>
                    <a:pt x="849630" y="859028"/>
                    <a:pt x="1146302" y="859028"/>
                  </a:cubicBezTo>
                  <a:cubicBezTo>
                    <a:pt x="1442974" y="859028"/>
                    <a:pt x="1715389" y="955421"/>
                    <a:pt x="1939798" y="1123950"/>
                  </a:cubicBezTo>
                  <a:cubicBezTo>
                    <a:pt x="2292477" y="650240"/>
                    <a:pt x="2292477" y="650240"/>
                    <a:pt x="2292477" y="650240"/>
                  </a:cubicBezTo>
                  <a:cubicBezTo>
                    <a:pt x="2011934" y="441452"/>
                    <a:pt x="1667256" y="313055"/>
                    <a:pt x="1290574" y="280924"/>
                  </a:cubicBezTo>
                  <a:close/>
                </a:path>
              </a:pathLst>
            </a:custGeom>
            <a:solidFill>
              <a:srgbClr val="727070"/>
            </a:solidFill>
          </p:spPr>
        </p:sp>
      </p:grpSp>
      <p:grpSp>
        <p:nvGrpSpPr>
          <p:cNvPr name="Group 15" id="15"/>
          <p:cNvGrpSpPr/>
          <p:nvPr/>
        </p:nvGrpSpPr>
        <p:grpSpPr>
          <a:xfrm rot="0">
            <a:off x="13803179" y="4788161"/>
            <a:ext cx="2183244" cy="2078469"/>
            <a:chOff x="0" y="0"/>
            <a:chExt cx="2034433" cy="1936800"/>
          </a:xfrm>
        </p:grpSpPr>
        <p:sp>
          <p:nvSpPr>
            <p:cNvPr name="Freeform 16" id="16"/>
            <p:cNvSpPr/>
            <p:nvPr/>
          </p:nvSpPr>
          <p:spPr>
            <a:xfrm flipH="false" flipV="false" rot="0">
              <a:off x="0" y="0"/>
              <a:ext cx="2034381" cy="1936750"/>
            </a:xfrm>
            <a:custGeom>
              <a:avLst/>
              <a:gdLst/>
              <a:ahLst/>
              <a:cxnLst/>
              <a:rect r="r" b="b" t="t" l="l"/>
              <a:pathLst>
                <a:path h="1936750" w="2034381">
                  <a:moveTo>
                    <a:pt x="0" y="968375"/>
                  </a:moveTo>
                  <a:cubicBezTo>
                    <a:pt x="0" y="433578"/>
                    <a:pt x="455435" y="0"/>
                    <a:pt x="1017191" y="0"/>
                  </a:cubicBezTo>
                  <a:cubicBezTo>
                    <a:pt x="1578946" y="0"/>
                    <a:pt x="2034381" y="433578"/>
                    <a:pt x="2034381" y="968375"/>
                  </a:cubicBezTo>
                  <a:cubicBezTo>
                    <a:pt x="2034381" y="1503172"/>
                    <a:pt x="1578946" y="1936750"/>
                    <a:pt x="1017191" y="1936750"/>
                  </a:cubicBezTo>
                  <a:cubicBezTo>
                    <a:pt x="455435" y="1936750"/>
                    <a:pt x="0" y="1503172"/>
                    <a:pt x="0" y="968375"/>
                  </a:cubicBezTo>
                  <a:close/>
                </a:path>
              </a:pathLst>
            </a:custGeom>
            <a:solidFill>
              <a:srgbClr val="727070"/>
            </a:solidFill>
          </p:spPr>
        </p:sp>
      </p:grpSp>
      <p:sp>
        <p:nvSpPr>
          <p:cNvPr name="TextBox 17" id="17"/>
          <p:cNvSpPr txBox="true"/>
          <p:nvPr/>
        </p:nvSpPr>
        <p:spPr>
          <a:xfrm rot="0">
            <a:off x="1323900" y="552690"/>
            <a:ext cx="10191700" cy="605790"/>
          </a:xfrm>
          <a:prstGeom prst="rect">
            <a:avLst/>
          </a:prstGeom>
        </p:spPr>
        <p:txBody>
          <a:bodyPr anchor="t" rtlCol="false" tIns="0" lIns="0" bIns="0" rIns="0">
            <a:spAutoFit/>
          </a:bodyPr>
          <a:lstStyle/>
          <a:p>
            <a:pPr algn="ctr" marL="0" indent="0" lvl="0">
              <a:lnSpc>
                <a:spcPts val="4829"/>
              </a:lnSpc>
              <a:spcBef>
                <a:spcPct val="0"/>
              </a:spcBef>
            </a:pPr>
            <a:r>
              <a:rPr lang="en-US" sz="3499" spc="122">
                <a:solidFill>
                  <a:srgbClr val="010101"/>
                </a:solidFill>
                <a:latin typeface="Archivo Black"/>
                <a:ea typeface="Archivo Black"/>
                <a:cs typeface="Archivo Black"/>
                <a:sym typeface="Archivo Black"/>
              </a:rPr>
              <a:t> VECTORISATION DES TEXTES :</a:t>
            </a:r>
          </a:p>
        </p:txBody>
      </p:sp>
      <p:sp>
        <p:nvSpPr>
          <p:cNvPr name="Freeform 18" id="18"/>
          <p:cNvSpPr/>
          <p:nvPr/>
        </p:nvSpPr>
        <p:spPr>
          <a:xfrm flipH="false" flipV="false" rot="0">
            <a:off x="14349162" y="5238495"/>
            <a:ext cx="795288" cy="629119"/>
          </a:xfrm>
          <a:custGeom>
            <a:avLst/>
            <a:gdLst/>
            <a:ahLst/>
            <a:cxnLst/>
            <a:rect r="r" b="b" t="t" l="l"/>
            <a:pathLst>
              <a:path h="629119" w="795288">
                <a:moveTo>
                  <a:pt x="0" y="0"/>
                </a:moveTo>
                <a:lnTo>
                  <a:pt x="795288" y="0"/>
                </a:lnTo>
                <a:lnTo>
                  <a:pt x="795288" y="629119"/>
                </a:lnTo>
                <a:lnTo>
                  <a:pt x="0" y="6291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3968813" y="5940947"/>
            <a:ext cx="2017611" cy="285750"/>
          </a:xfrm>
          <a:prstGeom prst="rect">
            <a:avLst/>
          </a:prstGeom>
        </p:spPr>
        <p:txBody>
          <a:bodyPr anchor="t" rtlCol="false" tIns="0" lIns="0" bIns="0" rIns="0">
            <a:spAutoFit/>
          </a:bodyPr>
          <a:lstStyle/>
          <a:p>
            <a:pPr algn="ctr">
              <a:lnSpc>
                <a:spcPts val="2216"/>
              </a:lnSpc>
            </a:pPr>
            <a:r>
              <a:rPr lang="en-US" sz="1847" spc="-36">
                <a:solidFill>
                  <a:srgbClr val="FFFBFB"/>
                </a:solidFill>
                <a:latin typeface="Montserrat Light"/>
                <a:ea typeface="Montserrat Light"/>
                <a:cs typeface="Montserrat Light"/>
                <a:sym typeface="Montserrat Light"/>
              </a:rPr>
              <a:t>VECTORIZATYION </a:t>
            </a:r>
          </a:p>
        </p:txBody>
      </p:sp>
      <p:sp>
        <p:nvSpPr>
          <p:cNvPr name="TextBox 20" id="20"/>
          <p:cNvSpPr txBox="true"/>
          <p:nvPr/>
        </p:nvSpPr>
        <p:spPr>
          <a:xfrm rot="0">
            <a:off x="1394756" y="2715980"/>
            <a:ext cx="2246916" cy="514681"/>
          </a:xfrm>
          <a:prstGeom prst="rect">
            <a:avLst/>
          </a:prstGeom>
        </p:spPr>
        <p:txBody>
          <a:bodyPr anchor="t" rtlCol="false" tIns="0" lIns="0" bIns="0" rIns="0">
            <a:spAutoFit/>
          </a:bodyPr>
          <a:lstStyle/>
          <a:p>
            <a:pPr algn="ctr">
              <a:lnSpc>
                <a:spcPts val="4181"/>
              </a:lnSpc>
              <a:spcBef>
                <a:spcPct val="0"/>
              </a:spcBef>
            </a:pPr>
            <a:r>
              <a:rPr lang="en-US" b="true" sz="2986" spc="-59">
                <a:solidFill>
                  <a:srgbClr val="010101"/>
                </a:solidFill>
                <a:latin typeface="Montserrat Light Bold"/>
                <a:ea typeface="Montserrat Light Bold"/>
                <a:cs typeface="Montserrat Light Bold"/>
                <a:sym typeface="Montserrat Light Bold"/>
              </a:rPr>
              <a:t>Word2Vec</a:t>
            </a:r>
          </a:p>
        </p:txBody>
      </p:sp>
      <p:sp>
        <p:nvSpPr>
          <p:cNvPr name="TextBox 21" id="21"/>
          <p:cNvSpPr txBox="true"/>
          <p:nvPr/>
        </p:nvSpPr>
        <p:spPr>
          <a:xfrm rot="0">
            <a:off x="523721" y="3269015"/>
            <a:ext cx="11419810" cy="1271868"/>
          </a:xfrm>
          <a:prstGeom prst="rect">
            <a:avLst/>
          </a:prstGeom>
        </p:spPr>
        <p:txBody>
          <a:bodyPr anchor="t" rtlCol="false" tIns="0" lIns="0" bIns="0" rIns="0">
            <a:spAutoFit/>
          </a:bodyPr>
          <a:lstStyle/>
          <a:p>
            <a:pPr algn="l">
              <a:lnSpc>
                <a:spcPts val="3397"/>
              </a:lnSpc>
              <a:spcBef>
                <a:spcPct val="0"/>
              </a:spcBef>
            </a:pPr>
            <a:r>
              <a:rPr lang="en-US" sz="2426">
                <a:solidFill>
                  <a:srgbClr val="010101"/>
                </a:solidFill>
                <a:latin typeface="Montserrat Light"/>
                <a:ea typeface="Montserrat Light"/>
                <a:cs typeface="Montserrat Light"/>
                <a:sym typeface="Montserrat Light"/>
              </a:rPr>
              <a:t>Génère des représentations vectorielles en capturant le contexte d’un mot dans une phrase. Permet de mieux comprendre les relations sémantiques entre les mots.</a:t>
            </a:r>
          </a:p>
        </p:txBody>
      </p:sp>
      <p:sp>
        <p:nvSpPr>
          <p:cNvPr name="TextBox 22" id="22"/>
          <p:cNvSpPr txBox="true"/>
          <p:nvPr/>
        </p:nvSpPr>
        <p:spPr>
          <a:xfrm rot="0">
            <a:off x="1858262" y="2000555"/>
            <a:ext cx="957953" cy="883087"/>
          </a:xfrm>
          <a:prstGeom prst="rect">
            <a:avLst/>
          </a:prstGeom>
        </p:spPr>
        <p:txBody>
          <a:bodyPr anchor="t" rtlCol="false" tIns="0" lIns="0" bIns="0" rIns="0">
            <a:spAutoFit/>
          </a:bodyPr>
          <a:lstStyle/>
          <a:p>
            <a:pPr algn="ctr">
              <a:lnSpc>
                <a:spcPts val="6975"/>
              </a:lnSpc>
              <a:spcBef>
                <a:spcPct val="0"/>
              </a:spcBef>
            </a:pPr>
            <a:r>
              <a:rPr lang="en-US" b="true" sz="4982" spc="-99">
                <a:solidFill>
                  <a:srgbClr val="010101"/>
                </a:solidFill>
                <a:latin typeface="Montserrat Light Bold"/>
                <a:ea typeface="Montserrat Light Bold"/>
                <a:cs typeface="Montserrat Light Bold"/>
                <a:sym typeface="Montserrat Light Bold"/>
              </a:rPr>
              <a:t>02</a:t>
            </a:r>
          </a:p>
        </p:txBody>
      </p:sp>
      <p:sp>
        <p:nvSpPr>
          <p:cNvPr name="TextBox 23" id="23"/>
          <p:cNvSpPr txBox="true"/>
          <p:nvPr/>
        </p:nvSpPr>
        <p:spPr>
          <a:xfrm rot="0">
            <a:off x="709845" y="5426709"/>
            <a:ext cx="11419810" cy="6461088"/>
          </a:xfrm>
          <a:prstGeom prst="rect">
            <a:avLst/>
          </a:prstGeom>
        </p:spPr>
        <p:txBody>
          <a:bodyPr anchor="t" rtlCol="false" tIns="0" lIns="0" bIns="0" rIns="0">
            <a:spAutoFit/>
          </a:bodyPr>
          <a:lstStyle/>
          <a:p>
            <a:pPr algn="l">
              <a:lnSpc>
                <a:spcPts val="3397"/>
              </a:lnSpc>
            </a:pPr>
            <a:r>
              <a:rPr lang="en-US" sz="2426">
                <a:solidFill>
                  <a:srgbClr val="010101"/>
                </a:solidFill>
                <a:latin typeface="Montserrat Light"/>
                <a:ea typeface="Montserrat Light"/>
                <a:cs typeface="Montserrat Light"/>
                <a:sym typeface="Montserrat Light"/>
              </a:rPr>
              <a:t>Corpus</a:t>
            </a:r>
          </a:p>
          <a:p>
            <a:pPr algn="l" marL="523869" indent="-261935" lvl="1">
              <a:lnSpc>
                <a:spcPts val="3397"/>
              </a:lnSpc>
              <a:buAutoNum type="arabicPeriod" startAt="1"/>
            </a:pPr>
            <a:r>
              <a:rPr lang="en-US" sz="2426">
                <a:solidFill>
                  <a:srgbClr val="010101"/>
                </a:solidFill>
                <a:latin typeface="Montserrat Light"/>
                <a:ea typeface="Montserrat Light"/>
                <a:cs typeface="Montserrat Light"/>
                <a:sym typeface="Montserrat Light"/>
              </a:rPr>
              <a:t>Document 1 : "Le chat mange de la nourriture"</a:t>
            </a:r>
          </a:p>
          <a:p>
            <a:pPr algn="l" marL="523869" indent="-261935" lvl="1">
              <a:lnSpc>
                <a:spcPts val="3397"/>
              </a:lnSpc>
              <a:buAutoNum type="arabicPeriod" startAt="1"/>
            </a:pPr>
            <a:r>
              <a:rPr lang="en-US" sz="2426">
                <a:solidFill>
                  <a:srgbClr val="010101"/>
                </a:solidFill>
                <a:latin typeface="Montserrat Light"/>
                <a:ea typeface="Montserrat Light"/>
                <a:cs typeface="Montserrat Light"/>
                <a:sym typeface="Montserrat Light"/>
              </a:rPr>
              <a:t>Document  1 :”</a:t>
            </a:r>
            <a:r>
              <a:rPr lang="en-US" sz="2426">
                <a:solidFill>
                  <a:srgbClr val="010101"/>
                </a:solidFill>
                <a:latin typeface="Montserrat Light"/>
                <a:ea typeface="Montserrat Light"/>
                <a:cs typeface="Montserrat Light"/>
                <a:sym typeface="Montserrat Light"/>
              </a:rPr>
              <a:t>Le chien mange sa nourriture"</a:t>
            </a:r>
          </a:p>
          <a:p>
            <a:pPr algn="l">
              <a:lnSpc>
                <a:spcPts val="3397"/>
              </a:lnSpc>
            </a:pPr>
            <a:r>
              <a:rPr lang="en-US" sz="2426" b="true">
                <a:solidFill>
                  <a:srgbClr val="010101"/>
                </a:solidFill>
                <a:latin typeface="Montserrat Light Bold"/>
                <a:ea typeface="Montserrat Light Bold"/>
                <a:cs typeface="Montserrat Light Bold"/>
                <a:sym typeface="Montserrat Light Bold"/>
              </a:rPr>
              <a:t> </a:t>
            </a:r>
            <a:r>
              <a:rPr lang="en-US" sz="2426" i="true">
                <a:solidFill>
                  <a:srgbClr val="010101"/>
                </a:solidFill>
                <a:latin typeface="Montserrat Light Italics"/>
                <a:ea typeface="Montserrat Light Italics"/>
                <a:cs typeface="Montserrat Light Italics"/>
                <a:sym typeface="Montserrat Light Italics"/>
              </a:rPr>
              <a:t>chaque mot est représenté par un vecteur de caractéristiques de taille fixe dans un espace de haute dimension.</a:t>
            </a:r>
          </a:p>
          <a:p>
            <a:pPr algn="l">
              <a:lnSpc>
                <a:spcPts val="3397"/>
              </a:lnSpc>
            </a:pPr>
            <a:r>
              <a:rPr lang="en-US" sz="2426" i="true">
                <a:solidFill>
                  <a:srgbClr val="010101"/>
                </a:solidFill>
                <a:latin typeface="Montserrat Light Italics"/>
                <a:ea typeface="Montserrat Light Italics"/>
                <a:cs typeface="Montserrat Light Italics"/>
                <a:sym typeface="Montserrat Light Italics"/>
              </a:rPr>
              <a:t> </a:t>
            </a:r>
            <a:r>
              <a:rPr lang="en-US" sz="2426">
                <a:solidFill>
                  <a:srgbClr val="010101"/>
                </a:solidFill>
                <a:latin typeface="Montserrat Light"/>
                <a:ea typeface="Montserrat Light"/>
                <a:cs typeface="Montserrat Light"/>
                <a:sym typeface="Montserrat Light"/>
              </a:rPr>
              <a:t>Résultat </a:t>
            </a: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"chat" → [0.1, 0.2, -0.3, 0.5, ...]</a:t>
            </a: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"chien" → [0.1, 0.21, -0.29, 0.51, ...]</a:t>
            </a: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"manger" → [0.6, -0.1, 0.4, -0.5, ...]</a:t>
            </a: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"nourriture" → [0.5, -0.2, 0.3, -0.4, ...]</a:t>
            </a:r>
          </a:p>
          <a:p>
            <a:pPr algn="l">
              <a:lnSpc>
                <a:spcPts val="3397"/>
              </a:lnSpc>
            </a:pPr>
          </a:p>
          <a:p>
            <a:pPr algn="l">
              <a:lnSpc>
                <a:spcPts val="3397"/>
              </a:lnSpc>
            </a:pPr>
          </a:p>
          <a:p>
            <a:pPr algn="l">
              <a:lnSpc>
                <a:spcPts val="3397"/>
              </a:lnSpc>
            </a:pPr>
          </a:p>
          <a:p>
            <a:pPr algn="l">
              <a:lnSpc>
                <a:spcPts val="3397"/>
              </a:lnSpc>
            </a:pPr>
          </a:p>
          <a:p>
            <a:pPr algn="l">
              <a:lnSpc>
                <a:spcPts val="3397"/>
              </a:lnSpc>
              <a:spcBef>
                <a:spcPct val="0"/>
              </a:spcBef>
            </a:pPr>
          </a:p>
        </p:txBody>
      </p:sp>
      <p:grpSp>
        <p:nvGrpSpPr>
          <p:cNvPr name="Group 24" id="24"/>
          <p:cNvGrpSpPr/>
          <p:nvPr/>
        </p:nvGrpSpPr>
        <p:grpSpPr>
          <a:xfrm rot="0">
            <a:off x="17075626" y="3559361"/>
            <a:ext cx="1404615" cy="1404615"/>
            <a:chOff x="0" y="0"/>
            <a:chExt cx="1444320" cy="1444320"/>
          </a:xfrm>
        </p:grpSpPr>
        <p:sp>
          <p:nvSpPr>
            <p:cNvPr name="Freeform 25" id="25"/>
            <p:cNvSpPr/>
            <p:nvPr/>
          </p:nvSpPr>
          <p:spPr>
            <a:xfrm flipH="false" flipV="false" rot="0">
              <a:off x="0" y="0"/>
              <a:ext cx="1444244" cy="1444244"/>
            </a:xfrm>
            <a:custGeom>
              <a:avLst/>
              <a:gdLst/>
              <a:ahLst/>
              <a:cxnLst/>
              <a:rect r="r" b="b" t="t" l="l"/>
              <a:pathLst>
                <a:path h="1444244" w="1444244">
                  <a:moveTo>
                    <a:pt x="0" y="722122"/>
                  </a:moveTo>
                  <a:cubicBezTo>
                    <a:pt x="0" y="323342"/>
                    <a:pt x="323342" y="0"/>
                    <a:pt x="722122" y="0"/>
                  </a:cubicBezTo>
                  <a:cubicBezTo>
                    <a:pt x="1120902" y="0"/>
                    <a:pt x="1444244" y="323342"/>
                    <a:pt x="1444244" y="722122"/>
                  </a:cubicBezTo>
                  <a:cubicBezTo>
                    <a:pt x="1444244" y="1120902"/>
                    <a:pt x="1120902" y="1444244"/>
                    <a:pt x="722122" y="1444244"/>
                  </a:cubicBezTo>
                  <a:cubicBezTo>
                    <a:pt x="323342" y="1444244"/>
                    <a:pt x="0" y="1121029"/>
                    <a:pt x="0" y="722122"/>
                  </a:cubicBezTo>
                  <a:close/>
                </a:path>
              </a:pathLst>
            </a:custGeom>
            <a:solidFill>
              <a:srgbClr val="727070"/>
            </a:solidFill>
          </p:spPr>
        </p:sp>
      </p:grpSp>
      <p:sp>
        <p:nvSpPr>
          <p:cNvPr name="Freeform 26" id="26"/>
          <p:cNvSpPr/>
          <p:nvPr/>
        </p:nvSpPr>
        <p:spPr>
          <a:xfrm flipH="false" flipV="false" rot="0">
            <a:off x="17384306" y="3928762"/>
            <a:ext cx="787256" cy="767216"/>
          </a:xfrm>
          <a:custGeom>
            <a:avLst/>
            <a:gdLst/>
            <a:ahLst/>
            <a:cxnLst/>
            <a:rect r="r" b="b" t="t" l="l"/>
            <a:pathLst>
              <a:path h="767216" w="787256">
                <a:moveTo>
                  <a:pt x="0" y="0"/>
                </a:moveTo>
                <a:lnTo>
                  <a:pt x="787255" y="0"/>
                </a:lnTo>
                <a:lnTo>
                  <a:pt x="787255" y="767216"/>
                </a:lnTo>
                <a:lnTo>
                  <a:pt x="0" y="7672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7777933" y="9801491"/>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7</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3"/>
            <a:stretch>
              <a:fillRect l="0" t="-38888" r="0" b="-38888"/>
            </a:stretch>
          </a:blipFill>
        </p:spPr>
      </p:sp>
      <p:grpSp>
        <p:nvGrpSpPr>
          <p:cNvPr name="Group 3" id="3"/>
          <p:cNvGrpSpPr/>
          <p:nvPr/>
        </p:nvGrpSpPr>
        <p:grpSpPr>
          <a:xfrm rot="0">
            <a:off x="11674128" y="2626482"/>
            <a:ext cx="6422296" cy="6422996"/>
            <a:chOff x="0" y="0"/>
            <a:chExt cx="6603840" cy="6604560"/>
          </a:xfrm>
        </p:grpSpPr>
        <p:sp>
          <p:nvSpPr>
            <p:cNvPr name="Freeform 4" id="4"/>
            <p:cNvSpPr/>
            <p:nvPr/>
          </p:nvSpPr>
          <p:spPr>
            <a:xfrm flipH="false" flipV="false" rot="0">
              <a:off x="0" y="0"/>
              <a:ext cx="6603873" cy="6604508"/>
            </a:xfrm>
            <a:custGeom>
              <a:avLst/>
              <a:gdLst/>
              <a:ahLst/>
              <a:cxnLst/>
              <a:rect r="r" b="b" t="t" l="l"/>
              <a:pathLst>
                <a:path h="6604508" w="6603873">
                  <a:moveTo>
                    <a:pt x="0" y="3302254"/>
                  </a:moveTo>
                  <a:cubicBezTo>
                    <a:pt x="0" y="1478534"/>
                    <a:pt x="1478280" y="0"/>
                    <a:pt x="3301873" y="0"/>
                  </a:cubicBezTo>
                  <a:lnTo>
                    <a:pt x="3301873" y="25527"/>
                  </a:lnTo>
                  <a:lnTo>
                    <a:pt x="3301873" y="0"/>
                  </a:lnTo>
                  <a:cubicBezTo>
                    <a:pt x="5125466" y="0"/>
                    <a:pt x="6603873" y="1478534"/>
                    <a:pt x="6603873" y="3302254"/>
                  </a:cubicBezTo>
                  <a:cubicBezTo>
                    <a:pt x="6603873" y="5125974"/>
                    <a:pt x="5125466" y="6604508"/>
                    <a:pt x="3301873" y="6604508"/>
                  </a:cubicBezTo>
                  <a:lnTo>
                    <a:pt x="3301873" y="6578981"/>
                  </a:lnTo>
                  <a:lnTo>
                    <a:pt x="3301873" y="6604508"/>
                  </a:lnTo>
                  <a:cubicBezTo>
                    <a:pt x="1478280" y="6604508"/>
                    <a:pt x="0" y="5126101"/>
                    <a:pt x="0" y="3302254"/>
                  </a:cubicBezTo>
                  <a:lnTo>
                    <a:pt x="25527" y="3302254"/>
                  </a:lnTo>
                  <a:lnTo>
                    <a:pt x="46990" y="3316097"/>
                  </a:lnTo>
                  <a:cubicBezTo>
                    <a:pt x="40894" y="3325622"/>
                    <a:pt x="29210" y="3330067"/>
                    <a:pt x="18288" y="3326892"/>
                  </a:cubicBezTo>
                  <a:cubicBezTo>
                    <a:pt x="7366" y="3323717"/>
                    <a:pt x="0" y="3313684"/>
                    <a:pt x="0" y="3302254"/>
                  </a:cubicBezTo>
                  <a:moveTo>
                    <a:pt x="51181" y="3302254"/>
                  </a:moveTo>
                  <a:lnTo>
                    <a:pt x="25527" y="3302254"/>
                  </a:lnTo>
                  <a:lnTo>
                    <a:pt x="4064" y="3288538"/>
                  </a:lnTo>
                  <a:cubicBezTo>
                    <a:pt x="10160" y="3279013"/>
                    <a:pt x="21844" y="3274568"/>
                    <a:pt x="32766" y="3277743"/>
                  </a:cubicBezTo>
                  <a:cubicBezTo>
                    <a:pt x="43688" y="3280918"/>
                    <a:pt x="51181" y="3290951"/>
                    <a:pt x="51181" y="3302254"/>
                  </a:cubicBezTo>
                  <a:cubicBezTo>
                    <a:pt x="51181" y="5097780"/>
                    <a:pt x="1506601" y="6553454"/>
                    <a:pt x="3302000" y="6553454"/>
                  </a:cubicBezTo>
                  <a:cubicBezTo>
                    <a:pt x="5097399" y="6553454"/>
                    <a:pt x="6552819" y="5097907"/>
                    <a:pt x="6552819" y="3302254"/>
                  </a:cubicBezTo>
                  <a:lnTo>
                    <a:pt x="6578346" y="3302254"/>
                  </a:lnTo>
                  <a:lnTo>
                    <a:pt x="6552819" y="3302254"/>
                  </a:lnTo>
                  <a:cubicBezTo>
                    <a:pt x="6552819" y="1506728"/>
                    <a:pt x="5097399" y="51054"/>
                    <a:pt x="3302000" y="51054"/>
                  </a:cubicBezTo>
                  <a:lnTo>
                    <a:pt x="3302000" y="25527"/>
                  </a:lnTo>
                  <a:lnTo>
                    <a:pt x="3302000" y="51181"/>
                  </a:lnTo>
                  <a:cubicBezTo>
                    <a:pt x="1506601" y="51181"/>
                    <a:pt x="51181" y="1506728"/>
                    <a:pt x="51181" y="3302381"/>
                  </a:cubicBezTo>
                  <a:close/>
                </a:path>
              </a:pathLst>
            </a:custGeom>
            <a:solidFill>
              <a:srgbClr val="727070"/>
            </a:solidFill>
          </p:spPr>
        </p:sp>
      </p:grpSp>
      <p:grpSp>
        <p:nvGrpSpPr>
          <p:cNvPr name="Group 5" id="5"/>
          <p:cNvGrpSpPr/>
          <p:nvPr/>
        </p:nvGrpSpPr>
        <p:grpSpPr>
          <a:xfrm rot="0">
            <a:off x="12848406" y="4287838"/>
            <a:ext cx="1322656" cy="2148786"/>
            <a:chOff x="0" y="0"/>
            <a:chExt cx="1346400" cy="2187360"/>
          </a:xfrm>
        </p:grpSpPr>
        <p:sp>
          <p:nvSpPr>
            <p:cNvPr name="Freeform 6" id="6"/>
            <p:cNvSpPr/>
            <p:nvPr/>
          </p:nvSpPr>
          <p:spPr>
            <a:xfrm flipH="false" flipV="false" rot="0">
              <a:off x="0" y="0"/>
              <a:ext cx="1346454" cy="2187448"/>
            </a:xfrm>
            <a:custGeom>
              <a:avLst/>
              <a:gdLst/>
              <a:ahLst/>
              <a:cxnLst/>
              <a:rect r="r" b="b" t="t" l="l"/>
              <a:pathLst>
                <a:path h="2187448" w="1346454">
                  <a:moveTo>
                    <a:pt x="1346454" y="472694"/>
                  </a:moveTo>
                  <a:cubicBezTo>
                    <a:pt x="993775" y="0"/>
                    <a:pt x="993775" y="0"/>
                    <a:pt x="993775" y="0"/>
                  </a:cubicBezTo>
                  <a:cubicBezTo>
                    <a:pt x="697230" y="216281"/>
                    <a:pt x="464820" y="512826"/>
                    <a:pt x="328549" y="849249"/>
                  </a:cubicBezTo>
                  <a:cubicBezTo>
                    <a:pt x="0" y="897382"/>
                    <a:pt x="0" y="897382"/>
                    <a:pt x="0" y="897382"/>
                  </a:cubicBezTo>
                  <a:cubicBezTo>
                    <a:pt x="240411" y="1129792"/>
                    <a:pt x="240411" y="1129792"/>
                    <a:pt x="240411" y="1129792"/>
                  </a:cubicBezTo>
                  <a:cubicBezTo>
                    <a:pt x="208407" y="1274064"/>
                    <a:pt x="184277" y="1426210"/>
                    <a:pt x="184277" y="1586484"/>
                  </a:cubicBezTo>
                  <a:cubicBezTo>
                    <a:pt x="184277" y="1794764"/>
                    <a:pt x="216281" y="1995170"/>
                    <a:pt x="280416" y="2187448"/>
                  </a:cubicBezTo>
                  <a:cubicBezTo>
                    <a:pt x="865505" y="1971040"/>
                    <a:pt x="865505" y="1971040"/>
                    <a:pt x="865505" y="1971040"/>
                  </a:cubicBezTo>
                  <a:cubicBezTo>
                    <a:pt x="817372" y="1842897"/>
                    <a:pt x="793369" y="1698625"/>
                    <a:pt x="793369" y="1554353"/>
                  </a:cubicBezTo>
                  <a:cubicBezTo>
                    <a:pt x="793369" y="1105662"/>
                    <a:pt x="1017778" y="713105"/>
                    <a:pt x="1346327" y="472694"/>
                  </a:cubicBezTo>
                  <a:close/>
                </a:path>
              </a:pathLst>
            </a:custGeom>
            <a:solidFill>
              <a:srgbClr val="727070"/>
            </a:solidFill>
          </p:spPr>
        </p:sp>
      </p:grpSp>
      <p:grpSp>
        <p:nvGrpSpPr>
          <p:cNvPr name="Group 7" id="7"/>
          <p:cNvGrpSpPr/>
          <p:nvPr/>
        </p:nvGrpSpPr>
        <p:grpSpPr>
          <a:xfrm rot="0">
            <a:off x="13100349" y="6179463"/>
            <a:ext cx="1924894" cy="1621985"/>
            <a:chOff x="0" y="0"/>
            <a:chExt cx="1857600" cy="1565280"/>
          </a:xfrm>
        </p:grpSpPr>
        <p:sp>
          <p:nvSpPr>
            <p:cNvPr name="Freeform 8" id="8"/>
            <p:cNvSpPr/>
            <p:nvPr/>
          </p:nvSpPr>
          <p:spPr>
            <a:xfrm flipH="false" flipV="false" rot="0">
              <a:off x="0" y="0"/>
              <a:ext cx="1857629" cy="1565275"/>
            </a:xfrm>
            <a:custGeom>
              <a:avLst/>
              <a:gdLst/>
              <a:ahLst/>
              <a:cxnLst/>
              <a:rect r="r" b="b" t="t" l="l"/>
              <a:pathLst>
                <a:path h="1565275" w="1857629">
                  <a:moveTo>
                    <a:pt x="1857629" y="931164"/>
                  </a:moveTo>
                  <a:cubicBezTo>
                    <a:pt x="1265047" y="931164"/>
                    <a:pt x="760603" y="537845"/>
                    <a:pt x="584454" y="0"/>
                  </a:cubicBezTo>
                  <a:cubicBezTo>
                    <a:pt x="0" y="216789"/>
                    <a:pt x="0" y="216789"/>
                    <a:pt x="0" y="216789"/>
                  </a:cubicBezTo>
                  <a:cubicBezTo>
                    <a:pt x="112141" y="569976"/>
                    <a:pt x="320294" y="874903"/>
                    <a:pt x="592455" y="1099693"/>
                  </a:cubicBezTo>
                  <a:cubicBezTo>
                    <a:pt x="536448" y="1444879"/>
                    <a:pt x="536448" y="1444879"/>
                    <a:pt x="536448" y="1444879"/>
                  </a:cubicBezTo>
                  <a:cubicBezTo>
                    <a:pt x="840740" y="1284351"/>
                    <a:pt x="840740" y="1284351"/>
                    <a:pt x="840740" y="1284351"/>
                  </a:cubicBezTo>
                  <a:cubicBezTo>
                    <a:pt x="1137031" y="1461008"/>
                    <a:pt x="1489329" y="1565275"/>
                    <a:pt x="1857629" y="1565275"/>
                  </a:cubicBezTo>
                  <a:lnTo>
                    <a:pt x="1857629" y="931164"/>
                  </a:lnTo>
                  <a:close/>
                </a:path>
              </a:pathLst>
            </a:custGeom>
            <a:solidFill>
              <a:srgbClr val="727070"/>
            </a:solidFill>
          </p:spPr>
        </p:sp>
      </p:grpSp>
      <p:grpSp>
        <p:nvGrpSpPr>
          <p:cNvPr name="Group 9" id="9"/>
          <p:cNvGrpSpPr/>
          <p:nvPr/>
        </p:nvGrpSpPr>
        <p:grpSpPr>
          <a:xfrm rot="0">
            <a:off x="14860047" y="6990455"/>
            <a:ext cx="1971552" cy="1661300"/>
            <a:chOff x="0" y="0"/>
            <a:chExt cx="1857600" cy="1565280"/>
          </a:xfrm>
        </p:grpSpPr>
        <p:sp>
          <p:nvSpPr>
            <p:cNvPr name="Freeform 10" id="10"/>
            <p:cNvSpPr/>
            <p:nvPr/>
          </p:nvSpPr>
          <p:spPr>
            <a:xfrm flipH="false" flipV="false" rot="0">
              <a:off x="0" y="0"/>
              <a:ext cx="1857629" cy="1565275"/>
            </a:xfrm>
            <a:custGeom>
              <a:avLst/>
              <a:gdLst/>
              <a:ahLst/>
              <a:cxnLst/>
              <a:rect r="r" b="b" t="t" l="l"/>
              <a:pathLst>
                <a:path h="1565275" w="1857629">
                  <a:moveTo>
                    <a:pt x="1857629" y="216789"/>
                  </a:moveTo>
                  <a:cubicBezTo>
                    <a:pt x="1273048" y="0"/>
                    <a:pt x="1273048" y="0"/>
                    <a:pt x="1273048" y="0"/>
                  </a:cubicBezTo>
                  <a:cubicBezTo>
                    <a:pt x="1096899" y="537845"/>
                    <a:pt x="592455" y="931164"/>
                    <a:pt x="0" y="931164"/>
                  </a:cubicBezTo>
                  <a:cubicBezTo>
                    <a:pt x="0" y="1565275"/>
                    <a:pt x="0" y="1565275"/>
                    <a:pt x="0" y="1565275"/>
                  </a:cubicBezTo>
                  <a:cubicBezTo>
                    <a:pt x="368300" y="1565275"/>
                    <a:pt x="720598" y="1460881"/>
                    <a:pt x="1016889" y="1284351"/>
                  </a:cubicBezTo>
                  <a:cubicBezTo>
                    <a:pt x="1321181" y="1444879"/>
                    <a:pt x="1321181" y="1444879"/>
                    <a:pt x="1321181" y="1444879"/>
                  </a:cubicBezTo>
                  <a:cubicBezTo>
                    <a:pt x="1265174" y="1099693"/>
                    <a:pt x="1265174" y="1099693"/>
                    <a:pt x="1265174" y="1099693"/>
                  </a:cubicBezTo>
                  <a:cubicBezTo>
                    <a:pt x="1537462" y="874903"/>
                    <a:pt x="1745615" y="569849"/>
                    <a:pt x="1857629" y="216662"/>
                  </a:cubicBezTo>
                  <a:close/>
                </a:path>
              </a:pathLst>
            </a:custGeom>
            <a:solidFill>
              <a:srgbClr val="727070"/>
            </a:solidFill>
          </p:spPr>
        </p:sp>
      </p:grpSp>
      <p:grpSp>
        <p:nvGrpSpPr>
          <p:cNvPr name="Group 11" id="11"/>
          <p:cNvGrpSpPr/>
          <p:nvPr/>
        </p:nvGrpSpPr>
        <p:grpSpPr>
          <a:xfrm rot="0">
            <a:off x="15658717" y="4278313"/>
            <a:ext cx="1427409" cy="2323938"/>
            <a:chOff x="0" y="0"/>
            <a:chExt cx="1343520" cy="2187360"/>
          </a:xfrm>
        </p:grpSpPr>
        <p:sp>
          <p:nvSpPr>
            <p:cNvPr name="Freeform 12" id="12"/>
            <p:cNvSpPr/>
            <p:nvPr/>
          </p:nvSpPr>
          <p:spPr>
            <a:xfrm flipH="false" flipV="false" rot="0">
              <a:off x="0" y="0"/>
              <a:ext cx="1343533" cy="2187321"/>
            </a:xfrm>
            <a:custGeom>
              <a:avLst/>
              <a:gdLst/>
              <a:ahLst/>
              <a:cxnLst/>
              <a:rect r="r" b="b" t="t" l="l"/>
              <a:pathLst>
                <a:path h="2187321" w="1343533">
                  <a:moveTo>
                    <a:pt x="1343533" y="897382"/>
                  </a:moveTo>
                  <a:cubicBezTo>
                    <a:pt x="1015619" y="849249"/>
                    <a:pt x="1015619" y="849249"/>
                    <a:pt x="1015619" y="849249"/>
                  </a:cubicBezTo>
                  <a:cubicBezTo>
                    <a:pt x="879729" y="512826"/>
                    <a:pt x="647827" y="216281"/>
                    <a:pt x="351917" y="0"/>
                  </a:cubicBezTo>
                  <a:cubicBezTo>
                    <a:pt x="0" y="472694"/>
                    <a:pt x="0" y="472694"/>
                    <a:pt x="0" y="472694"/>
                  </a:cubicBezTo>
                  <a:cubicBezTo>
                    <a:pt x="327914" y="713105"/>
                    <a:pt x="551815" y="1105662"/>
                    <a:pt x="551815" y="1554353"/>
                  </a:cubicBezTo>
                  <a:cubicBezTo>
                    <a:pt x="551815" y="1698625"/>
                    <a:pt x="527812" y="1842770"/>
                    <a:pt x="479806" y="1971040"/>
                  </a:cubicBezTo>
                  <a:cubicBezTo>
                    <a:pt x="1063625" y="2187321"/>
                    <a:pt x="1063625" y="2187321"/>
                    <a:pt x="1063625" y="2187321"/>
                  </a:cubicBezTo>
                  <a:cubicBezTo>
                    <a:pt x="1127633" y="1995043"/>
                    <a:pt x="1159637" y="1794764"/>
                    <a:pt x="1159637" y="1586357"/>
                  </a:cubicBezTo>
                  <a:cubicBezTo>
                    <a:pt x="1159637" y="1426083"/>
                    <a:pt x="1135634" y="1273937"/>
                    <a:pt x="1103630" y="1129665"/>
                  </a:cubicBezTo>
                  <a:lnTo>
                    <a:pt x="1343533" y="897255"/>
                  </a:lnTo>
                  <a:close/>
                </a:path>
              </a:pathLst>
            </a:custGeom>
            <a:solidFill>
              <a:srgbClr val="727070"/>
            </a:solidFill>
          </p:spPr>
        </p:sp>
      </p:grpSp>
      <p:grpSp>
        <p:nvGrpSpPr>
          <p:cNvPr name="Group 13" id="13"/>
          <p:cNvGrpSpPr/>
          <p:nvPr/>
        </p:nvGrpSpPr>
        <p:grpSpPr>
          <a:xfrm rot="0">
            <a:off x="13769091" y="3703421"/>
            <a:ext cx="2251421" cy="1103790"/>
            <a:chOff x="0" y="0"/>
            <a:chExt cx="2292480" cy="1123920"/>
          </a:xfrm>
        </p:grpSpPr>
        <p:sp>
          <p:nvSpPr>
            <p:cNvPr name="Freeform 14" id="14"/>
            <p:cNvSpPr/>
            <p:nvPr/>
          </p:nvSpPr>
          <p:spPr>
            <a:xfrm flipH="false" flipV="false" rot="0">
              <a:off x="0" y="0"/>
              <a:ext cx="2292477" cy="1123950"/>
            </a:xfrm>
            <a:custGeom>
              <a:avLst/>
              <a:gdLst/>
              <a:ahLst/>
              <a:cxnLst/>
              <a:rect r="r" b="b" t="t" l="l"/>
              <a:pathLst>
                <a:path h="1123950" w="2292477">
                  <a:moveTo>
                    <a:pt x="1290574" y="280924"/>
                  </a:moveTo>
                  <a:cubicBezTo>
                    <a:pt x="1146302" y="0"/>
                    <a:pt x="1146302" y="0"/>
                    <a:pt x="1146302" y="0"/>
                  </a:cubicBezTo>
                  <a:cubicBezTo>
                    <a:pt x="1001903" y="280924"/>
                    <a:pt x="1001903" y="280924"/>
                    <a:pt x="1001903" y="280924"/>
                  </a:cubicBezTo>
                  <a:cubicBezTo>
                    <a:pt x="625221" y="313055"/>
                    <a:pt x="280543" y="441579"/>
                    <a:pt x="0" y="650240"/>
                  </a:cubicBezTo>
                  <a:cubicBezTo>
                    <a:pt x="352679" y="1123950"/>
                    <a:pt x="352679" y="1123950"/>
                    <a:pt x="352679" y="1123950"/>
                  </a:cubicBezTo>
                  <a:cubicBezTo>
                    <a:pt x="577088" y="955294"/>
                    <a:pt x="849630" y="859028"/>
                    <a:pt x="1146302" y="859028"/>
                  </a:cubicBezTo>
                  <a:cubicBezTo>
                    <a:pt x="1442974" y="859028"/>
                    <a:pt x="1715389" y="955421"/>
                    <a:pt x="1939798" y="1123950"/>
                  </a:cubicBezTo>
                  <a:cubicBezTo>
                    <a:pt x="2292477" y="650240"/>
                    <a:pt x="2292477" y="650240"/>
                    <a:pt x="2292477" y="650240"/>
                  </a:cubicBezTo>
                  <a:cubicBezTo>
                    <a:pt x="2011934" y="441452"/>
                    <a:pt x="1667256" y="313055"/>
                    <a:pt x="1290574" y="280924"/>
                  </a:cubicBezTo>
                  <a:close/>
                </a:path>
              </a:pathLst>
            </a:custGeom>
            <a:solidFill>
              <a:srgbClr val="727070"/>
            </a:solidFill>
          </p:spPr>
        </p:sp>
      </p:grpSp>
      <p:grpSp>
        <p:nvGrpSpPr>
          <p:cNvPr name="Group 15" id="15"/>
          <p:cNvGrpSpPr/>
          <p:nvPr/>
        </p:nvGrpSpPr>
        <p:grpSpPr>
          <a:xfrm rot="0">
            <a:off x="13803179" y="4788161"/>
            <a:ext cx="2183244" cy="2078469"/>
            <a:chOff x="0" y="0"/>
            <a:chExt cx="2034433" cy="1936800"/>
          </a:xfrm>
        </p:grpSpPr>
        <p:sp>
          <p:nvSpPr>
            <p:cNvPr name="Freeform 16" id="16"/>
            <p:cNvSpPr/>
            <p:nvPr/>
          </p:nvSpPr>
          <p:spPr>
            <a:xfrm flipH="false" flipV="false" rot="0">
              <a:off x="0" y="0"/>
              <a:ext cx="2034381" cy="1936750"/>
            </a:xfrm>
            <a:custGeom>
              <a:avLst/>
              <a:gdLst/>
              <a:ahLst/>
              <a:cxnLst/>
              <a:rect r="r" b="b" t="t" l="l"/>
              <a:pathLst>
                <a:path h="1936750" w="2034381">
                  <a:moveTo>
                    <a:pt x="0" y="968375"/>
                  </a:moveTo>
                  <a:cubicBezTo>
                    <a:pt x="0" y="433578"/>
                    <a:pt x="455435" y="0"/>
                    <a:pt x="1017191" y="0"/>
                  </a:cubicBezTo>
                  <a:cubicBezTo>
                    <a:pt x="1578946" y="0"/>
                    <a:pt x="2034381" y="433578"/>
                    <a:pt x="2034381" y="968375"/>
                  </a:cubicBezTo>
                  <a:cubicBezTo>
                    <a:pt x="2034381" y="1503172"/>
                    <a:pt x="1578946" y="1936750"/>
                    <a:pt x="1017191" y="1936750"/>
                  </a:cubicBezTo>
                  <a:cubicBezTo>
                    <a:pt x="455435" y="1936750"/>
                    <a:pt x="0" y="1503172"/>
                    <a:pt x="0" y="968375"/>
                  </a:cubicBezTo>
                  <a:close/>
                </a:path>
              </a:pathLst>
            </a:custGeom>
            <a:solidFill>
              <a:srgbClr val="727070"/>
            </a:solidFill>
          </p:spPr>
        </p:sp>
      </p:grpSp>
      <p:sp>
        <p:nvSpPr>
          <p:cNvPr name="TextBox 17" id="17"/>
          <p:cNvSpPr txBox="true"/>
          <p:nvPr/>
        </p:nvSpPr>
        <p:spPr>
          <a:xfrm rot="0">
            <a:off x="1323900" y="552690"/>
            <a:ext cx="10191700" cy="605790"/>
          </a:xfrm>
          <a:prstGeom prst="rect">
            <a:avLst/>
          </a:prstGeom>
        </p:spPr>
        <p:txBody>
          <a:bodyPr anchor="t" rtlCol="false" tIns="0" lIns="0" bIns="0" rIns="0">
            <a:spAutoFit/>
          </a:bodyPr>
          <a:lstStyle/>
          <a:p>
            <a:pPr algn="ctr" marL="0" indent="0" lvl="0">
              <a:lnSpc>
                <a:spcPts val="4829"/>
              </a:lnSpc>
              <a:spcBef>
                <a:spcPct val="0"/>
              </a:spcBef>
            </a:pPr>
            <a:r>
              <a:rPr lang="en-US" sz="3499" spc="122">
                <a:solidFill>
                  <a:srgbClr val="010101"/>
                </a:solidFill>
                <a:latin typeface="Archivo Black"/>
                <a:ea typeface="Archivo Black"/>
                <a:cs typeface="Archivo Black"/>
                <a:sym typeface="Archivo Black"/>
              </a:rPr>
              <a:t> VECTORISATION DES TEXTES :</a:t>
            </a:r>
          </a:p>
        </p:txBody>
      </p:sp>
      <p:sp>
        <p:nvSpPr>
          <p:cNvPr name="Freeform 18" id="18"/>
          <p:cNvSpPr/>
          <p:nvPr/>
        </p:nvSpPr>
        <p:spPr>
          <a:xfrm flipH="false" flipV="false" rot="0">
            <a:off x="14349162" y="5238495"/>
            <a:ext cx="795288" cy="629119"/>
          </a:xfrm>
          <a:custGeom>
            <a:avLst/>
            <a:gdLst/>
            <a:ahLst/>
            <a:cxnLst/>
            <a:rect r="r" b="b" t="t" l="l"/>
            <a:pathLst>
              <a:path h="629119" w="795288">
                <a:moveTo>
                  <a:pt x="0" y="0"/>
                </a:moveTo>
                <a:lnTo>
                  <a:pt x="795288" y="0"/>
                </a:lnTo>
                <a:lnTo>
                  <a:pt x="795288" y="629119"/>
                </a:lnTo>
                <a:lnTo>
                  <a:pt x="0" y="6291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3968813" y="5940947"/>
            <a:ext cx="2017611" cy="285750"/>
          </a:xfrm>
          <a:prstGeom prst="rect">
            <a:avLst/>
          </a:prstGeom>
        </p:spPr>
        <p:txBody>
          <a:bodyPr anchor="t" rtlCol="false" tIns="0" lIns="0" bIns="0" rIns="0">
            <a:spAutoFit/>
          </a:bodyPr>
          <a:lstStyle/>
          <a:p>
            <a:pPr algn="ctr">
              <a:lnSpc>
                <a:spcPts val="2216"/>
              </a:lnSpc>
            </a:pPr>
            <a:r>
              <a:rPr lang="en-US" sz="1847" spc="-36">
                <a:solidFill>
                  <a:srgbClr val="FFFBFB"/>
                </a:solidFill>
                <a:latin typeface="Montserrat Light"/>
                <a:ea typeface="Montserrat Light"/>
                <a:cs typeface="Montserrat Light"/>
                <a:sym typeface="Montserrat Light"/>
              </a:rPr>
              <a:t>VECTORIZATYION </a:t>
            </a:r>
          </a:p>
        </p:txBody>
      </p:sp>
      <p:sp>
        <p:nvSpPr>
          <p:cNvPr name="TextBox 20" id="20"/>
          <p:cNvSpPr txBox="true"/>
          <p:nvPr/>
        </p:nvSpPr>
        <p:spPr>
          <a:xfrm rot="0">
            <a:off x="1394756" y="2715980"/>
            <a:ext cx="2246916" cy="514681"/>
          </a:xfrm>
          <a:prstGeom prst="rect">
            <a:avLst/>
          </a:prstGeom>
        </p:spPr>
        <p:txBody>
          <a:bodyPr anchor="t" rtlCol="false" tIns="0" lIns="0" bIns="0" rIns="0">
            <a:spAutoFit/>
          </a:bodyPr>
          <a:lstStyle/>
          <a:p>
            <a:pPr algn="ctr">
              <a:lnSpc>
                <a:spcPts val="4181"/>
              </a:lnSpc>
              <a:spcBef>
                <a:spcPct val="0"/>
              </a:spcBef>
            </a:pPr>
            <a:r>
              <a:rPr lang="en-US" b="true" sz="2986" spc="-59">
                <a:solidFill>
                  <a:srgbClr val="010101"/>
                </a:solidFill>
                <a:latin typeface="Montserrat Light Bold"/>
                <a:ea typeface="Montserrat Light Bold"/>
                <a:cs typeface="Montserrat Light Bold"/>
                <a:sym typeface="Montserrat Light Bold"/>
              </a:rPr>
              <a:t>GloVe</a:t>
            </a:r>
          </a:p>
        </p:txBody>
      </p:sp>
      <p:sp>
        <p:nvSpPr>
          <p:cNvPr name="TextBox 21" id="21"/>
          <p:cNvSpPr txBox="true"/>
          <p:nvPr/>
        </p:nvSpPr>
        <p:spPr>
          <a:xfrm rot="0">
            <a:off x="523721" y="3535343"/>
            <a:ext cx="11419810" cy="1271868"/>
          </a:xfrm>
          <a:prstGeom prst="rect">
            <a:avLst/>
          </a:prstGeom>
        </p:spPr>
        <p:txBody>
          <a:bodyPr anchor="t" rtlCol="false" tIns="0" lIns="0" bIns="0" rIns="0">
            <a:spAutoFit/>
          </a:bodyPr>
          <a:lstStyle/>
          <a:p>
            <a:pPr algn="l">
              <a:lnSpc>
                <a:spcPts val="3397"/>
              </a:lnSpc>
              <a:spcBef>
                <a:spcPct val="0"/>
              </a:spcBef>
            </a:pPr>
            <a:r>
              <a:rPr lang="en-US" sz="2426">
                <a:solidFill>
                  <a:srgbClr val="010101"/>
                </a:solidFill>
                <a:latin typeface="Montserrat Light"/>
                <a:ea typeface="Montserrat Light"/>
                <a:cs typeface="Montserrat Light"/>
                <a:sym typeface="Montserrat Light"/>
              </a:rPr>
              <a:t>Similaire à Word2Vec, mais basé sur des statistiques de co-occurrence globale, ce qui donne des représentations de mots encore plus fines et cohérentes.</a:t>
            </a:r>
          </a:p>
        </p:txBody>
      </p:sp>
      <p:sp>
        <p:nvSpPr>
          <p:cNvPr name="TextBox 22" id="22"/>
          <p:cNvSpPr txBox="true"/>
          <p:nvPr/>
        </p:nvSpPr>
        <p:spPr>
          <a:xfrm rot="0">
            <a:off x="1848737" y="2000555"/>
            <a:ext cx="957953" cy="883087"/>
          </a:xfrm>
          <a:prstGeom prst="rect">
            <a:avLst/>
          </a:prstGeom>
        </p:spPr>
        <p:txBody>
          <a:bodyPr anchor="t" rtlCol="false" tIns="0" lIns="0" bIns="0" rIns="0">
            <a:spAutoFit/>
          </a:bodyPr>
          <a:lstStyle/>
          <a:p>
            <a:pPr algn="ctr">
              <a:lnSpc>
                <a:spcPts val="6975"/>
              </a:lnSpc>
              <a:spcBef>
                <a:spcPct val="0"/>
              </a:spcBef>
            </a:pPr>
            <a:r>
              <a:rPr lang="en-US" b="true" sz="4982" spc="-99">
                <a:solidFill>
                  <a:srgbClr val="010101"/>
                </a:solidFill>
                <a:latin typeface="Montserrat Light Bold"/>
                <a:ea typeface="Montserrat Light Bold"/>
                <a:cs typeface="Montserrat Light Bold"/>
                <a:sym typeface="Montserrat Light Bold"/>
              </a:rPr>
              <a:t>03</a:t>
            </a:r>
          </a:p>
        </p:txBody>
      </p:sp>
      <p:sp>
        <p:nvSpPr>
          <p:cNvPr name="TextBox 23" id="23"/>
          <p:cNvSpPr txBox="true"/>
          <p:nvPr/>
        </p:nvSpPr>
        <p:spPr>
          <a:xfrm rot="0">
            <a:off x="254319" y="5634485"/>
            <a:ext cx="11419810" cy="3414993"/>
          </a:xfrm>
          <a:prstGeom prst="rect">
            <a:avLst/>
          </a:prstGeom>
        </p:spPr>
        <p:txBody>
          <a:bodyPr anchor="t" rtlCol="false" tIns="0" lIns="0" bIns="0" rIns="0">
            <a:spAutoFit/>
          </a:bodyPr>
          <a:lstStyle/>
          <a:p>
            <a:pPr algn="l">
              <a:lnSpc>
                <a:spcPts val="3397"/>
              </a:lnSpc>
            </a:pPr>
          </a:p>
          <a:p>
            <a:pPr algn="l">
              <a:lnSpc>
                <a:spcPts val="3397"/>
              </a:lnSpc>
            </a:pP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Matrice de co-occurrence : GloVe crée une matrice globale capturant les relations entre les mots.</a:t>
            </a: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Réduction dimensionnelle : La matrice est factorisée pour générer des vecteurs de faible dimension.</a:t>
            </a:r>
          </a:p>
          <a:p>
            <a:pPr algn="l">
              <a:lnSpc>
                <a:spcPts val="3397"/>
              </a:lnSpc>
            </a:pPr>
          </a:p>
          <a:p>
            <a:pPr algn="l">
              <a:lnSpc>
                <a:spcPts val="3397"/>
              </a:lnSpc>
              <a:spcBef>
                <a:spcPct val="0"/>
              </a:spcBef>
            </a:pPr>
          </a:p>
        </p:txBody>
      </p:sp>
      <p:grpSp>
        <p:nvGrpSpPr>
          <p:cNvPr name="Group 24" id="24"/>
          <p:cNvGrpSpPr/>
          <p:nvPr/>
        </p:nvGrpSpPr>
        <p:grpSpPr>
          <a:xfrm rot="0">
            <a:off x="15986424" y="8347171"/>
            <a:ext cx="1272876" cy="1272876"/>
            <a:chOff x="0" y="0"/>
            <a:chExt cx="1444320" cy="1444320"/>
          </a:xfrm>
        </p:grpSpPr>
        <p:sp>
          <p:nvSpPr>
            <p:cNvPr name="Freeform 25" id="25"/>
            <p:cNvSpPr/>
            <p:nvPr/>
          </p:nvSpPr>
          <p:spPr>
            <a:xfrm flipH="false" flipV="false" rot="0">
              <a:off x="0" y="0"/>
              <a:ext cx="1444244" cy="1444244"/>
            </a:xfrm>
            <a:custGeom>
              <a:avLst/>
              <a:gdLst/>
              <a:ahLst/>
              <a:cxnLst/>
              <a:rect r="r" b="b" t="t" l="l"/>
              <a:pathLst>
                <a:path h="1444244" w="1444244">
                  <a:moveTo>
                    <a:pt x="0" y="722122"/>
                  </a:moveTo>
                  <a:cubicBezTo>
                    <a:pt x="0" y="323342"/>
                    <a:pt x="323342" y="0"/>
                    <a:pt x="722122" y="0"/>
                  </a:cubicBezTo>
                  <a:cubicBezTo>
                    <a:pt x="1120902" y="0"/>
                    <a:pt x="1444244" y="323342"/>
                    <a:pt x="1444244" y="722122"/>
                  </a:cubicBezTo>
                  <a:cubicBezTo>
                    <a:pt x="1444244" y="1120902"/>
                    <a:pt x="1120902" y="1444244"/>
                    <a:pt x="722122" y="1444244"/>
                  </a:cubicBezTo>
                  <a:cubicBezTo>
                    <a:pt x="323342" y="1444244"/>
                    <a:pt x="0" y="1121029"/>
                    <a:pt x="0" y="722122"/>
                  </a:cubicBezTo>
                  <a:close/>
                </a:path>
              </a:pathLst>
            </a:custGeom>
            <a:solidFill>
              <a:srgbClr val="727070"/>
            </a:solidFill>
          </p:spPr>
        </p:sp>
      </p:grpSp>
      <p:sp>
        <p:nvSpPr>
          <p:cNvPr name="Freeform 26" id="26"/>
          <p:cNvSpPr/>
          <p:nvPr/>
        </p:nvSpPr>
        <p:spPr>
          <a:xfrm flipH="false" flipV="false" rot="0">
            <a:off x="16270295" y="8580951"/>
            <a:ext cx="787256" cy="767216"/>
          </a:xfrm>
          <a:custGeom>
            <a:avLst/>
            <a:gdLst/>
            <a:ahLst/>
            <a:cxnLst/>
            <a:rect r="r" b="b" t="t" l="l"/>
            <a:pathLst>
              <a:path h="767216" w="787256">
                <a:moveTo>
                  <a:pt x="0" y="0"/>
                </a:moveTo>
                <a:lnTo>
                  <a:pt x="787256" y="0"/>
                </a:lnTo>
                <a:lnTo>
                  <a:pt x="787256" y="767216"/>
                </a:lnTo>
                <a:lnTo>
                  <a:pt x="0" y="7672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7777933" y="9603462"/>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8</a:t>
            </a:r>
          </a:p>
        </p:txBody>
      </p:sp>
      <p:sp>
        <p:nvSpPr>
          <p:cNvPr name="TextBox 28" id="28"/>
          <p:cNvSpPr txBox="true"/>
          <p:nvPr/>
        </p:nvSpPr>
        <p:spPr>
          <a:xfrm rot="0">
            <a:off x="523721" y="5407659"/>
            <a:ext cx="2071289" cy="507366"/>
          </a:xfrm>
          <a:prstGeom prst="rect">
            <a:avLst/>
          </a:prstGeom>
        </p:spPr>
        <p:txBody>
          <a:bodyPr anchor="t" rtlCol="false" tIns="0" lIns="0" bIns="0" rIns="0">
            <a:spAutoFit/>
          </a:bodyPr>
          <a:lstStyle/>
          <a:p>
            <a:pPr algn="l">
              <a:lnSpc>
                <a:spcPts val="4059"/>
              </a:lnSpc>
              <a:spcBef>
                <a:spcPct val="0"/>
              </a:spcBef>
            </a:pPr>
            <a:r>
              <a:rPr lang="en-US" b="true" sz="2899" spc="504">
                <a:solidFill>
                  <a:srgbClr val="000000"/>
                </a:solidFill>
                <a:latin typeface="Kollektif Bold"/>
                <a:ea typeface="Kollektif Bold"/>
                <a:cs typeface="Kollektif Bold"/>
                <a:sym typeface="Kollektif Bold"/>
              </a:rPr>
              <a:t>Principe: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3"/>
            <a:stretch>
              <a:fillRect l="0" t="-38888" r="0" b="-38888"/>
            </a:stretch>
          </a:blipFill>
        </p:spPr>
      </p:sp>
      <p:grpSp>
        <p:nvGrpSpPr>
          <p:cNvPr name="Group 3" id="3"/>
          <p:cNvGrpSpPr/>
          <p:nvPr/>
        </p:nvGrpSpPr>
        <p:grpSpPr>
          <a:xfrm rot="0">
            <a:off x="11674128" y="2626482"/>
            <a:ext cx="6422296" cy="6422996"/>
            <a:chOff x="0" y="0"/>
            <a:chExt cx="6603840" cy="6604560"/>
          </a:xfrm>
        </p:grpSpPr>
        <p:sp>
          <p:nvSpPr>
            <p:cNvPr name="Freeform 4" id="4"/>
            <p:cNvSpPr/>
            <p:nvPr/>
          </p:nvSpPr>
          <p:spPr>
            <a:xfrm flipH="false" flipV="false" rot="0">
              <a:off x="0" y="0"/>
              <a:ext cx="6603873" cy="6604508"/>
            </a:xfrm>
            <a:custGeom>
              <a:avLst/>
              <a:gdLst/>
              <a:ahLst/>
              <a:cxnLst/>
              <a:rect r="r" b="b" t="t" l="l"/>
              <a:pathLst>
                <a:path h="6604508" w="6603873">
                  <a:moveTo>
                    <a:pt x="0" y="3302254"/>
                  </a:moveTo>
                  <a:cubicBezTo>
                    <a:pt x="0" y="1478534"/>
                    <a:pt x="1478280" y="0"/>
                    <a:pt x="3301873" y="0"/>
                  </a:cubicBezTo>
                  <a:lnTo>
                    <a:pt x="3301873" y="25527"/>
                  </a:lnTo>
                  <a:lnTo>
                    <a:pt x="3301873" y="0"/>
                  </a:lnTo>
                  <a:cubicBezTo>
                    <a:pt x="5125466" y="0"/>
                    <a:pt x="6603873" y="1478534"/>
                    <a:pt x="6603873" y="3302254"/>
                  </a:cubicBezTo>
                  <a:cubicBezTo>
                    <a:pt x="6603873" y="5125974"/>
                    <a:pt x="5125466" y="6604508"/>
                    <a:pt x="3301873" y="6604508"/>
                  </a:cubicBezTo>
                  <a:lnTo>
                    <a:pt x="3301873" y="6578981"/>
                  </a:lnTo>
                  <a:lnTo>
                    <a:pt x="3301873" y="6604508"/>
                  </a:lnTo>
                  <a:cubicBezTo>
                    <a:pt x="1478280" y="6604508"/>
                    <a:pt x="0" y="5126101"/>
                    <a:pt x="0" y="3302254"/>
                  </a:cubicBezTo>
                  <a:lnTo>
                    <a:pt x="25527" y="3302254"/>
                  </a:lnTo>
                  <a:lnTo>
                    <a:pt x="46990" y="3316097"/>
                  </a:lnTo>
                  <a:cubicBezTo>
                    <a:pt x="40894" y="3325622"/>
                    <a:pt x="29210" y="3330067"/>
                    <a:pt x="18288" y="3326892"/>
                  </a:cubicBezTo>
                  <a:cubicBezTo>
                    <a:pt x="7366" y="3323717"/>
                    <a:pt x="0" y="3313684"/>
                    <a:pt x="0" y="3302254"/>
                  </a:cubicBezTo>
                  <a:moveTo>
                    <a:pt x="51181" y="3302254"/>
                  </a:moveTo>
                  <a:lnTo>
                    <a:pt x="25527" y="3302254"/>
                  </a:lnTo>
                  <a:lnTo>
                    <a:pt x="4064" y="3288538"/>
                  </a:lnTo>
                  <a:cubicBezTo>
                    <a:pt x="10160" y="3279013"/>
                    <a:pt x="21844" y="3274568"/>
                    <a:pt x="32766" y="3277743"/>
                  </a:cubicBezTo>
                  <a:cubicBezTo>
                    <a:pt x="43688" y="3280918"/>
                    <a:pt x="51181" y="3290951"/>
                    <a:pt x="51181" y="3302254"/>
                  </a:cubicBezTo>
                  <a:cubicBezTo>
                    <a:pt x="51181" y="5097780"/>
                    <a:pt x="1506601" y="6553454"/>
                    <a:pt x="3302000" y="6553454"/>
                  </a:cubicBezTo>
                  <a:cubicBezTo>
                    <a:pt x="5097399" y="6553454"/>
                    <a:pt x="6552819" y="5097907"/>
                    <a:pt x="6552819" y="3302254"/>
                  </a:cubicBezTo>
                  <a:lnTo>
                    <a:pt x="6578346" y="3302254"/>
                  </a:lnTo>
                  <a:lnTo>
                    <a:pt x="6552819" y="3302254"/>
                  </a:lnTo>
                  <a:cubicBezTo>
                    <a:pt x="6552819" y="1506728"/>
                    <a:pt x="5097399" y="51054"/>
                    <a:pt x="3302000" y="51054"/>
                  </a:cubicBezTo>
                  <a:lnTo>
                    <a:pt x="3302000" y="25527"/>
                  </a:lnTo>
                  <a:lnTo>
                    <a:pt x="3302000" y="51181"/>
                  </a:lnTo>
                  <a:cubicBezTo>
                    <a:pt x="1506601" y="51181"/>
                    <a:pt x="51181" y="1506728"/>
                    <a:pt x="51181" y="3302381"/>
                  </a:cubicBezTo>
                  <a:close/>
                </a:path>
              </a:pathLst>
            </a:custGeom>
            <a:solidFill>
              <a:srgbClr val="727070"/>
            </a:solidFill>
          </p:spPr>
        </p:sp>
      </p:grpSp>
      <p:grpSp>
        <p:nvGrpSpPr>
          <p:cNvPr name="Group 5" id="5"/>
          <p:cNvGrpSpPr/>
          <p:nvPr/>
        </p:nvGrpSpPr>
        <p:grpSpPr>
          <a:xfrm rot="0">
            <a:off x="12892861" y="4403989"/>
            <a:ext cx="1322656" cy="2148786"/>
            <a:chOff x="0" y="0"/>
            <a:chExt cx="1346400" cy="2187360"/>
          </a:xfrm>
        </p:grpSpPr>
        <p:sp>
          <p:nvSpPr>
            <p:cNvPr name="Freeform 6" id="6"/>
            <p:cNvSpPr/>
            <p:nvPr/>
          </p:nvSpPr>
          <p:spPr>
            <a:xfrm flipH="false" flipV="false" rot="0">
              <a:off x="0" y="0"/>
              <a:ext cx="1346454" cy="2187448"/>
            </a:xfrm>
            <a:custGeom>
              <a:avLst/>
              <a:gdLst/>
              <a:ahLst/>
              <a:cxnLst/>
              <a:rect r="r" b="b" t="t" l="l"/>
              <a:pathLst>
                <a:path h="2187448" w="1346454">
                  <a:moveTo>
                    <a:pt x="1346454" y="472694"/>
                  </a:moveTo>
                  <a:cubicBezTo>
                    <a:pt x="993775" y="0"/>
                    <a:pt x="993775" y="0"/>
                    <a:pt x="993775" y="0"/>
                  </a:cubicBezTo>
                  <a:cubicBezTo>
                    <a:pt x="697230" y="216281"/>
                    <a:pt x="464820" y="512826"/>
                    <a:pt x="328549" y="849249"/>
                  </a:cubicBezTo>
                  <a:cubicBezTo>
                    <a:pt x="0" y="897382"/>
                    <a:pt x="0" y="897382"/>
                    <a:pt x="0" y="897382"/>
                  </a:cubicBezTo>
                  <a:cubicBezTo>
                    <a:pt x="240411" y="1129792"/>
                    <a:pt x="240411" y="1129792"/>
                    <a:pt x="240411" y="1129792"/>
                  </a:cubicBezTo>
                  <a:cubicBezTo>
                    <a:pt x="208407" y="1274064"/>
                    <a:pt x="184277" y="1426210"/>
                    <a:pt x="184277" y="1586484"/>
                  </a:cubicBezTo>
                  <a:cubicBezTo>
                    <a:pt x="184277" y="1794764"/>
                    <a:pt x="216281" y="1995170"/>
                    <a:pt x="280416" y="2187448"/>
                  </a:cubicBezTo>
                  <a:cubicBezTo>
                    <a:pt x="865505" y="1971040"/>
                    <a:pt x="865505" y="1971040"/>
                    <a:pt x="865505" y="1971040"/>
                  </a:cubicBezTo>
                  <a:cubicBezTo>
                    <a:pt x="817372" y="1842897"/>
                    <a:pt x="793369" y="1698625"/>
                    <a:pt x="793369" y="1554353"/>
                  </a:cubicBezTo>
                  <a:cubicBezTo>
                    <a:pt x="793369" y="1105662"/>
                    <a:pt x="1017778" y="713105"/>
                    <a:pt x="1346327" y="472694"/>
                  </a:cubicBezTo>
                  <a:close/>
                </a:path>
              </a:pathLst>
            </a:custGeom>
            <a:solidFill>
              <a:srgbClr val="727070"/>
            </a:solidFill>
          </p:spPr>
        </p:sp>
      </p:grpSp>
      <p:grpSp>
        <p:nvGrpSpPr>
          <p:cNvPr name="Group 7" id="7"/>
          <p:cNvGrpSpPr/>
          <p:nvPr/>
        </p:nvGrpSpPr>
        <p:grpSpPr>
          <a:xfrm rot="0">
            <a:off x="12439342" y="6602251"/>
            <a:ext cx="1924894" cy="1621985"/>
            <a:chOff x="0" y="0"/>
            <a:chExt cx="1857600" cy="1565280"/>
          </a:xfrm>
        </p:grpSpPr>
        <p:sp>
          <p:nvSpPr>
            <p:cNvPr name="Freeform 8" id="8"/>
            <p:cNvSpPr/>
            <p:nvPr/>
          </p:nvSpPr>
          <p:spPr>
            <a:xfrm flipH="false" flipV="false" rot="0">
              <a:off x="0" y="0"/>
              <a:ext cx="1857629" cy="1565275"/>
            </a:xfrm>
            <a:custGeom>
              <a:avLst/>
              <a:gdLst/>
              <a:ahLst/>
              <a:cxnLst/>
              <a:rect r="r" b="b" t="t" l="l"/>
              <a:pathLst>
                <a:path h="1565275" w="1857629">
                  <a:moveTo>
                    <a:pt x="1857629" y="931164"/>
                  </a:moveTo>
                  <a:cubicBezTo>
                    <a:pt x="1265047" y="931164"/>
                    <a:pt x="760603" y="537845"/>
                    <a:pt x="584454" y="0"/>
                  </a:cubicBezTo>
                  <a:cubicBezTo>
                    <a:pt x="0" y="216789"/>
                    <a:pt x="0" y="216789"/>
                    <a:pt x="0" y="216789"/>
                  </a:cubicBezTo>
                  <a:cubicBezTo>
                    <a:pt x="112141" y="569976"/>
                    <a:pt x="320294" y="874903"/>
                    <a:pt x="592455" y="1099693"/>
                  </a:cubicBezTo>
                  <a:cubicBezTo>
                    <a:pt x="536448" y="1444879"/>
                    <a:pt x="536448" y="1444879"/>
                    <a:pt x="536448" y="1444879"/>
                  </a:cubicBezTo>
                  <a:cubicBezTo>
                    <a:pt x="840740" y="1284351"/>
                    <a:pt x="840740" y="1284351"/>
                    <a:pt x="840740" y="1284351"/>
                  </a:cubicBezTo>
                  <a:cubicBezTo>
                    <a:pt x="1137031" y="1461008"/>
                    <a:pt x="1489329" y="1565275"/>
                    <a:pt x="1857629" y="1565275"/>
                  </a:cubicBezTo>
                  <a:lnTo>
                    <a:pt x="1857629" y="931164"/>
                  </a:lnTo>
                  <a:close/>
                </a:path>
              </a:pathLst>
            </a:custGeom>
            <a:solidFill>
              <a:srgbClr val="727070"/>
            </a:solidFill>
          </p:spPr>
        </p:sp>
      </p:grpSp>
      <p:grpSp>
        <p:nvGrpSpPr>
          <p:cNvPr name="Group 9" id="9"/>
          <p:cNvGrpSpPr/>
          <p:nvPr/>
        </p:nvGrpSpPr>
        <p:grpSpPr>
          <a:xfrm rot="0">
            <a:off x="14860047" y="6236222"/>
            <a:ext cx="1971552" cy="1661300"/>
            <a:chOff x="0" y="0"/>
            <a:chExt cx="1857600" cy="1565280"/>
          </a:xfrm>
        </p:grpSpPr>
        <p:sp>
          <p:nvSpPr>
            <p:cNvPr name="Freeform 10" id="10"/>
            <p:cNvSpPr/>
            <p:nvPr/>
          </p:nvSpPr>
          <p:spPr>
            <a:xfrm flipH="false" flipV="false" rot="0">
              <a:off x="0" y="0"/>
              <a:ext cx="1857629" cy="1565275"/>
            </a:xfrm>
            <a:custGeom>
              <a:avLst/>
              <a:gdLst/>
              <a:ahLst/>
              <a:cxnLst/>
              <a:rect r="r" b="b" t="t" l="l"/>
              <a:pathLst>
                <a:path h="1565275" w="1857629">
                  <a:moveTo>
                    <a:pt x="1857629" y="216789"/>
                  </a:moveTo>
                  <a:cubicBezTo>
                    <a:pt x="1273048" y="0"/>
                    <a:pt x="1273048" y="0"/>
                    <a:pt x="1273048" y="0"/>
                  </a:cubicBezTo>
                  <a:cubicBezTo>
                    <a:pt x="1096899" y="537845"/>
                    <a:pt x="592455" y="931164"/>
                    <a:pt x="0" y="931164"/>
                  </a:cubicBezTo>
                  <a:cubicBezTo>
                    <a:pt x="0" y="1565275"/>
                    <a:pt x="0" y="1565275"/>
                    <a:pt x="0" y="1565275"/>
                  </a:cubicBezTo>
                  <a:cubicBezTo>
                    <a:pt x="368300" y="1565275"/>
                    <a:pt x="720598" y="1460881"/>
                    <a:pt x="1016889" y="1284351"/>
                  </a:cubicBezTo>
                  <a:cubicBezTo>
                    <a:pt x="1321181" y="1444879"/>
                    <a:pt x="1321181" y="1444879"/>
                    <a:pt x="1321181" y="1444879"/>
                  </a:cubicBezTo>
                  <a:cubicBezTo>
                    <a:pt x="1265174" y="1099693"/>
                    <a:pt x="1265174" y="1099693"/>
                    <a:pt x="1265174" y="1099693"/>
                  </a:cubicBezTo>
                  <a:cubicBezTo>
                    <a:pt x="1537462" y="874903"/>
                    <a:pt x="1745615" y="569849"/>
                    <a:pt x="1857629" y="216662"/>
                  </a:cubicBezTo>
                  <a:close/>
                </a:path>
              </a:pathLst>
            </a:custGeom>
            <a:solidFill>
              <a:srgbClr val="727070"/>
            </a:solidFill>
          </p:spPr>
        </p:sp>
      </p:grpSp>
      <p:grpSp>
        <p:nvGrpSpPr>
          <p:cNvPr name="Group 11" id="11"/>
          <p:cNvGrpSpPr/>
          <p:nvPr/>
        </p:nvGrpSpPr>
        <p:grpSpPr>
          <a:xfrm rot="0">
            <a:off x="15639750" y="4353225"/>
            <a:ext cx="1427409" cy="2323938"/>
            <a:chOff x="0" y="0"/>
            <a:chExt cx="1343520" cy="2187360"/>
          </a:xfrm>
        </p:grpSpPr>
        <p:sp>
          <p:nvSpPr>
            <p:cNvPr name="Freeform 12" id="12"/>
            <p:cNvSpPr/>
            <p:nvPr/>
          </p:nvSpPr>
          <p:spPr>
            <a:xfrm flipH="false" flipV="false" rot="0">
              <a:off x="0" y="0"/>
              <a:ext cx="1343533" cy="2187321"/>
            </a:xfrm>
            <a:custGeom>
              <a:avLst/>
              <a:gdLst/>
              <a:ahLst/>
              <a:cxnLst/>
              <a:rect r="r" b="b" t="t" l="l"/>
              <a:pathLst>
                <a:path h="2187321" w="1343533">
                  <a:moveTo>
                    <a:pt x="1343533" y="897382"/>
                  </a:moveTo>
                  <a:cubicBezTo>
                    <a:pt x="1015619" y="849249"/>
                    <a:pt x="1015619" y="849249"/>
                    <a:pt x="1015619" y="849249"/>
                  </a:cubicBezTo>
                  <a:cubicBezTo>
                    <a:pt x="879729" y="512826"/>
                    <a:pt x="647827" y="216281"/>
                    <a:pt x="351917" y="0"/>
                  </a:cubicBezTo>
                  <a:cubicBezTo>
                    <a:pt x="0" y="472694"/>
                    <a:pt x="0" y="472694"/>
                    <a:pt x="0" y="472694"/>
                  </a:cubicBezTo>
                  <a:cubicBezTo>
                    <a:pt x="327914" y="713105"/>
                    <a:pt x="551815" y="1105662"/>
                    <a:pt x="551815" y="1554353"/>
                  </a:cubicBezTo>
                  <a:cubicBezTo>
                    <a:pt x="551815" y="1698625"/>
                    <a:pt x="527812" y="1842770"/>
                    <a:pt x="479806" y="1971040"/>
                  </a:cubicBezTo>
                  <a:cubicBezTo>
                    <a:pt x="1063625" y="2187321"/>
                    <a:pt x="1063625" y="2187321"/>
                    <a:pt x="1063625" y="2187321"/>
                  </a:cubicBezTo>
                  <a:cubicBezTo>
                    <a:pt x="1127633" y="1995043"/>
                    <a:pt x="1159637" y="1794764"/>
                    <a:pt x="1159637" y="1586357"/>
                  </a:cubicBezTo>
                  <a:cubicBezTo>
                    <a:pt x="1159637" y="1426083"/>
                    <a:pt x="1135634" y="1273937"/>
                    <a:pt x="1103630" y="1129665"/>
                  </a:cubicBezTo>
                  <a:lnTo>
                    <a:pt x="1343533" y="897255"/>
                  </a:lnTo>
                  <a:close/>
                </a:path>
              </a:pathLst>
            </a:custGeom>
            <a:solidFill>
              <a:srgbClr val="727070"/>
            </a:solidFill>
          </p:spPr>
        </p:sp>
      </p:grpSp>
      <p:grpSp>
        <p:nvGrpSpPr>
          <p:cNvPr name="Group 13" id="13"/>
          <p:cNvGrpSpPr/>
          <p:nvPr/>
        </p:nvGrpSpPr>
        <p:grpSpPr>
          <a:xfrm rot="0">
            <a:off x="13841279" y="3763230"/>
            <a:ext cx="2251421" cy="1103790"/>
            <a:chOff x="0" y="0"/>
            <a:chExt cx="2292480" cy="1123920"/>
          </a:xfrm>
        </p:grpSpPr>
        <p:sp>
          <p:nvSpPr>
            <p:cNvPr name="Freeform 14" id="14"/>
            <p:cNvSpPr/>
            <p:nvPr/>
          </p:nvSpPr>
          <p:spPr>
            <a:xfrm flipH="false" flipV="false" rot="0">
              <a:off x="0" y="0"/>
              <a:ext cx="2292477" cy="1123950"/>
            </a:xfrm>
            <a:custGeom>
              <a:avLst/>
              <a:gdLst/>
              <a:ahLst/>
              <a:cxnLst/>
              <a:rect r="r" b="b" t="t" l="l"/>
              <a:pathLst>
                <a:path h="1123950" w="2292477">
                  <a:moveTo>
                    <a:pt x="1290574" y="280924"/>
                  </a:moveTo>
                  <a:cubicBezTo>
                    <a:pt x="1146302" y="0"/>
                    <a:pt x="1146302" y="0"/>
                    <a:pt x="1146302" y="0"/>
                  </a:cubicBezTo>
                  <a:cubicBezTo>
                    <a:pt x="1001903" y="280924"/>
                    <a:pt x="1001903" y="280924"/>
                    <a:pt x="1001903" y="280924"/>
                  </a:cubicBezTo>
                  <a:cubicBezTo>
                    <a:pt x="625221" y="313055"/>
                    <a:pt x="280543" y="441579"/>
                    <a:pt x="0" y="650240"/>
                  </a:cubicBezTo>
                  <a:cubicBezTo>
                    <a:pt x="352679" y="1123950"/>
                    <a:pt x="352679" y="1123950"/>
                    <a:pt x="352679" y="1123950"/>
                  </a:cubicBezTo>
                  <a:cubicBezTo>
                    <a:pt x="577088" y="955294"/>
                    <a:pt x="849630" y="859028"/>
                    <a:pt x="1146302" y="859028"/>
                  </a:cubicBezTo>
                  <a:cubicBezTo>
                    <a:pt x="1442974" y="859028"/>
                    <a:pt x="1715389" y="955421"/>
                    <a:pt x="1939798" y="1123950"/>
                  </a:cubicBezTo>
                  <a:cubicBezTo>
                    <a:pt x="2292477" y="650240"/>
                    <a:pt x="2292477" y="650240"/>
                    <a:pt x="2292477" y="650240"/>
                  </a:cubicBezTo>
                  <a:cubicBezTo>
                    <a:pt x="2011934" y="441452"/>
                    <a:pt x="1667256" y="313055"/>
                    <a:pt x="1290574" y="280924"/>
                  </a:cubicBezTo>
                  <a:close/>
                </a:path>
              </a:pathLst>
            </a:custGeom>
            <a:solidFill>
              <a:srgbClr val="727070"/>
            </a:solidFill>
          </p:spPr>
        </p:sp>
      </p:grpSp>
      <p:grpSp>
        <p:nvGrpSpPr>
          <p:cNvPr name="Group 15" id="15"/>
          <p:cNvGrpSpPr/>
          <p:nvPr/>
        </p:nvGrpSpPr>
        <p:grpSpPr>
          <a:xfrm rot="0">
            <a:off x="13803179" y="4788161"/>
            <a:ext cx="2183244" cy="2078469"/>
            <a:chOff x="0" y="0"/>
            <a:chExt cx="2034433" cy="1936800"/>
          </a:xfrm>
        </p:grpSpPr>
        <p:sp>
          <p:nvSpPr>
            <p:cNvPr name="Freeform 16" id="16"/>
            <p:cNvSpPr/>
            <p:nvPr/>
          </p:nvSpPr>
          <p:spPr>
            <a:xfrm flipH="false" flipV="false" rot="0">
              <a:off x="0" y="0"/>
              <a:ext cx="2034381" cy="1936750"/>
            </a:xfrm>
            <a:custGeom>
              <a:avLst/>
              <a:gdLst/>
              <a:ahLst/>
              <a:cxnLst/>
              <a:rect r="r" b="b" t="t" l="l"/>
              <a:pathLst>
                <a:path h="1936750" w="2034381">
                  <a:moveTo>
                    <a:pt x="0" y="968375"/>
                  </a:moveTo>
                  <a:cubicBezTo>
                    <a:pt x="0" y="433578"/>
                    <a:pt x="455435" y="0"/>
                    <a:pt x="1017191" y="0"/>
                  </a:cubicBezTo>
                  <a:cubicBezTo>
                    <a:pt x="1578946" y="0"/>
                    <a:pt x="2034381" y="433578"/>
                    <a:pt x="2034381" y="968375"/>
                  </a:cubicBezTo>
                  <a:cubicBezTo>
                    <a:pt x="2034381" y="1503172"/>
                    <a:pt x="1578946" y="1936750"/>
                    <a:pt x="1017191" y="1936750"/>
                  </a:cubicBezTo>
                  <a:cubicBezTo>
                    <a:pt x="455435" y="1936750"/>
                    <a:pt x="0" y="1503172"/>
                    <a:pt x="0" y="968375"/>
                  </a:cubicBezTo>
                  <a:close/>
                </a:path>
              </a:pathLst>
            </a:custGeom>
            <a:solidFill>
              <a:srgbClr val="727070"/>
            </a:solidFill>
          </p:spPr>
        </p:sp>
      </p:grpSp>
      <p:sp>
        <p:nvSpPr>
          <p:cNvPr name="TextBox 17" id="17"/>
          <p:cNvSpPr txBox="true"/>
          <p:nvPr/>
        </p:nvSpPr>
        <p:spPr>
          <a:xfrm rot="0">
            <a:off x="1323900" y="552690"/>
            <a:ext cx="10191700" cy="605790"/>
          </a:xfrm>
          <a:prstGeom prst="rect">
            <a:avLst/>
          </a:prstGeom>
        </p:spPr>
        <p:txBody>
          <a:bodyPr anchor="t" rtlCol="false" tIns="0" lIns="0" bIns="0" rIns="0">
            <a:spAutoFit/>
          </a:bodyPr>
          <a:lstStyle/>
          <a:p>
            <a:pPr algn="ctr" marL="0" indent="0" lvl="0">
              <a:lnSpc>
                <a:spcPts val="4829"/>
              </a:lnSpc>
              <a:spcBef>
                <a:spcPct val="0"/>
              </a:spcBef>
            </a:pPr>
            <a:r>
              <a:rPr lang="en-US" sz="3499" spc="122">
                <a:solidFill>
                  <a:srgbClr val="010101"/>
                </a:solidFill>
                <a:latin typeface="Archivo Black"/>
                <a:ea typeface="Archivo Black"/>
                <a:cs typeface="Archivo Black"/>
                <a:sym typeface="Archivo Black"/>
              </a:rPr>
              <a:t> VECTORISATION DES TEXTES :</a:t>
            </a:r>
          </a:p>
        </p:txBody>
      </p:sp>
      <p:sp>
        <p:nvSpPr>
          <p:cNvPr name="Freeform 18" id="18"/>
          <p:cNvSpPr/>
          <p:nvPr/>
        </p:nvSpPr>
        <p:spPr>
          <a:xfrm flipH="false" flipV="false" rot="0">
            <a:off x="14349162" y="5238495"/>
            <a:ext cx="795288" cy="629119"/>
          </a:xfrm>
          <a:custGeom>
            <a:avLst/>
            <a:gdLst/>
            <a:ahLst/>
            <a:cxnLst/>
            <a:rect r="r" b="b" t="t" l="l"/>
            <a:pathLst>
              <a:path h="629119" w="795288">
                <a:moveTo>
                  <a:pt x="0" y="0"/>
                </a:moveTo>
                <a:lnTo>
                  <a:pt x="795288" y="0"/>
                </a:lnTo>
                <a:lnTo>
                  <a:pt x="795288" y="629119"/>
                </a:lnTo>
                <a:lnTo>
                  <a:pt x="0" y="6291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3968813" y="5940947"/>
            <a:ext cx="2017611" cy="285750"/>
          </a:xfrm>
          <a:prstGeom prst="rect">
            <a:avLst/>
          </a:prstGeom>
        </p:spPr>
        <p:txBody>
          <a:bodyPr anchor="t" rtlCol="false" tIns="0" lIns="0" bIns="0" rIns="0">
            <a:spAutoFit/>
          </a:bodyPr>
          <a:lstStyle/>
          <a:p>
            <a:pPr algn="ctr">
              <a:lnSpc>
                <a:spcPts val="2216"/>
              </a:lnSpc>
            </a:pPr>
            <a:r>
              <a:rPr lang="en-US" sz="1847" spc="-36">
                <a:solidFill>
                  <a:srgbClr val="FFFBFB"/>
                </a:solidFill>
                <a:latin typeface="Montserrat Light"/>
                <a:ea typeface="Montserrat Light"/>
                <a:cs typeface="Montserrat Light"/>
                <a:sym typeface="Montserrat Light"/>
              </a:rPr>
              <a:t>VECTORIZATYION </a:t>
            </a:r>
          </a:p>
        </p:txBody>
      </p:sp>
      <p:sp>
        <p:nvSpPr>
          <p:cNvPr name="TextBox 20" id="20"/>
          <p:cNvSpPr txBox="true"/>
          <p:nvPr/>
        </p:nvSpPr>
        <p:spPr>
          <a:xfrm rot="0">
            <a:off x="1394756" y="2715980"/>
            <a:ext cx="2246916" cy="514681"/>
          </a:xfrm>
          <a:prstGeom prst="rect">
            <a:avLst/>
          </a:prstGeom>
        </p:spPr>
        <p:txBody>
          <a:bodyPr anchor="t" rtlCol="false" tIns="0" lIns="0" bIns="0" rIns="0">
            <a:spAutoFit/>
          </a:bodyPr>
          <a:lstStyle/>
          <a:p>
            <a:pPr algn="ctr">
              <a:lnSpc>
                <a:spcPts val="4181"/>
              </a:lnSpc>
              <a:spcBef>
                <a:spcPct val="0"/>
              </a:spcBef>
            </a:pPr>
            <a:r>
              <a:rPr lang="en-US" b="true" sz="2986" spc="-59">
                <a:solidFill>
                  <a:srgbClr val="010101"/>
                </a:solidFill>
                <a:latin typeface="Montserrat Light Bold"/>
                <a:ea typeface="Montserrat Light Bold"/>
                <a:cs typeface="Montserrat Light Bold"/>
                <a:sym typeface="Montserrat Light Bold"/>
              </a:rPr>
              <a:t>BERT</a:t>
            </a:r>
          </a:p>
        </p:txBody>
      </p:sp>
      <p:sp>
        <p:nvSpPr>
          <p:cNvPr name="TextBox 21" id="21"/>
          <p:cNvSpPr txBox="true"/>
          <p:nvPr/>
        </p:nvSpPr>
        <p:spPr>
          <a:xfrm rot="0">
            <a:off x="523721" y="3655378"/>
            <a:ext cx="11419810" cy="1271868"/>
          </a:xfrm>
          <a:prstGeom prst="rect">
            <a:avLst/>
          </a:prstGeom>
        </p:spPr>
        <p:txBody>
          <a:bodyPr anchor="t" rtlCol="false" tIns="0" lIns="0" bIns="0" rIns="0">
            <a:spAutoFit/>
          </a:bodyPr>
          <a:lstStyle/>
          <a:p>
            <a:pPr algn="l">
              <a:lnSpc>
                <a:spcPts val="3397"/>
              </a:lnSpc>
              <a:spcBef>
                <a:spcPct val="0"/>
              </a:spcBef>
            </a:pPr>
            <a:r>
              <a:rPr lang="en-US" sz="2426">
                <a:solidFill>
                  <a:srgbClr val="010101"/>
                </a:solidFill>
                <a:latin typeface="Montserrat Light"/>
                <a:ea typeface="Montserrat Light"/>
                <a:cs typeface="Montserrat Light"/>
                <a:sym typeface="Montserrat Light"/>
              </a:rPr>
              <a:t>Un modèle avancé basé sur les transformers qui analyse le contexte des mots de manière bidirectionnelle, prenant en compte les relations entre les mots précédents et suivants dans une phrase.</a:t>
            </a:r>
          </a:p>
        </p:txBody>
      </p:sp>
      <p:sp>
        <p:nvSpPr>
          <p:cNvPr name="TextBox 22" id="22"/>
          <p:cNvSpPr txBox="true"/>
          <p:nvPr/>
        </p:nvSpPr>
        <p:spPr>
          <a:xfrm rot="0">
            <a:off x="1858262" y="2000555"/>
            <a:ext cx="957953" cy="883087"/>
          </a:xfrm>
          <a:prstGeom prst="rect">
            <a:avLst/>
          </a:prstGeom>
        </p:spPr>
        <p:txBody>
          <a:bodyPr anchor="t" rtlCol="false" tIns="0" lIns="0" bIns="0" rIns="0">
            <a:spAutoFit/>
          </a:bodyPr>
          <a:lstStyle/>
          <a:p>
            <a:pPr algn="ctr">
              <a:lnSpc>
                <a:spcPts val="6975"/>
              </a:lnSpc>
              <a:spcBef>
                <a:spcPct val="0"/>
              </a:spcBef>
            </a:pPr>
            <a:r>
              <a:rPr lang="en-US" b="true" sz="4982" spc="-99">
                <a:solidFill>
                  <a:srgbClr val="010101"/>
                </a:solidFill>
                <a:latin typeface="Montserrat Light Bold"/>
                <a:ea typeface="Montserrat Light Bold"/>
                <a:cs typeface="Montserrat Light Bold"/>
                <a:sym typeface="Montserrat Light Bold"/>
              </a:rPr>
              <a:t>04</a:t>
            </a:r>
          </a:p>
        </p:txBody>
      </p:sp>
      <p:sp>
        <p:nvSpPr>
          <p:cNvPr name="TextBox 23" id="23"/>
          <p:cNvSpPr txBox="true"/>
          <p:nvPr/>
        </p:nvSpPr>
        <p:spPr>
          <a:xfrm rot="0">
            <a:off x="485621" y="5426709"/>
            <a:ext cx="11419810" cy="3414993"/>
          </a:xfrm>
          <a:prstGeom prst="rect">
            <a:avLst/>
          </a:prstGeom>
        </p:spPr>
        <p:txBody>
          <a:bodyPr anchor="t" rtlCol="false" tIns="0" lIns="0" bIns="0" rIns="0">
            <a:spAutoFit/>
          </a:bodyPr>
          <a:lstStyle/>
          <a:p>
            <a:pPr algn="l">
              <a:lnSpc>
                <a:spcPts val="3397"/>
              </a:lnSpc>
            </a:pPr>
            <a:r>
              <a:rPr lang="en-US" sz="2426">
                <a:solidFill>
                  <a:srgbClr val="010101"/>
                </a:solidFill>
                <a:latin typeface="Montserrat Light"/>
                <a:ea typeface="Montserrat Light"/>
                <a:cs typeface="Montserrat Light"/>
                <a:sym typeface="Montserrat Light"/>
              </a:rPr>
              <a:t>Corpus</a:t>
            </a:r>
          </a:p>
          <a:p>
            <a:pPr algn="l">
              <a:lnSpc>
                <a:spcPts val="3397"/>
              </a:lnSpc>
            </a:pPr>
            <a:r>
              <a:rPr lang="en-US" sz="2426">
                <a:solidFill>
                  <a:srgbClr val="010101"/>
                </a:solidFill>
                <a:latin typeface="Montserrat Light"/>
                <a:ea typeface="Montserrat Light"/>
                <a:cs typeface="Montserrat Light"/>
                <a:sym typeface="Montserrat Light"/>
              </a:rPr>
              <a:t> Document :"Le chat mange du poisson."</a:t>
            </a:r>
          </a:p>
          <a:p>
            <a:pPr algn="l">
              <a:lnSpc>
                <a:spcPts val="3397"/>
              </a:lnSpc>
            </a:pP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BERT encode chaque mot en tenant compte des mots avant et après dans la phrase.   Cela signifie que pour le mot "chat", le modèle considère aussi "Le", "mange", "du", et "poisson" pour comprendre son contexte complet.</a:t>
            </a:r>
          </a:p>
          <a:p>
            <a:pPr algn="l">
              <a:lnSpc>
                <a:spcPts val="3397"/>
              </a:lnSpc>
              <a:spcBef>
                <a:spcPct val="0"/>
              </a:spcBef>
            </a:pPr>
          </a:p>
        </p:txBody>
      </p:sp>
      <p:grpSp>
        <p:nvGrpSpPr>
          <p:cNvPr name="Group 24" id="24"/>
          <p:cNvGrpSpPr/>
          <p:nvPr/>
        </p:nvGrpSpPr>
        <p:grpSpPr>
          <a:xfrm rot="0">
            <a:off x="11962244" y="7897522"/>
            <a:ext cx="1404615" cy="1404615"/>
            <a:chOff x="0" y="0"/>
            <a:chExt cx="1444320" cy="1444320"/>
          </a:xfrm>
        </p:grpSpPr>
        <p:sp>
          <p:nvSpPr>
            <p:cNvPr name="Freeform 25" id="25"/>
            <p:cNvSpPr/>
            <p:nvPr/>
          </p:nvSpPr>
          <p:spPr>
            <a:xfrm flipH="false" flipV="false" rot="0">
              <a:off x="0" y="0"/>
              <a:ext cx="1444244" cy="1444244"/>
            </a:xfrm>
            <a:custGeom>
              <a:avLst/>
              <a:gdLst/>
              <a:ahLst/>
              <a:cxnLst/>
              <a:rect r="r" b="b" t="t" l="l"/>
              <a:pathLst>
                <a:path h="1444244" w="1444244">
                  <a:moveTo>
                    <a:pt x="0" y="722122"/>
                  </a:moveTo>
                  <a:cubicBezTo>
                    <a:pt x="0" y="323342"/>
                    <a:pt x="323342" y="0"/>
                    <a:pt x="722122" y="0"/>
                  </a:cubicBezTo>
                  <a:cubicBezTo>
                    <a:pt x="1120902" y="0"/>
                    <a:pt x="1444244" y="323342"/>
                    <a:pt x="1444244" y="722122"/>
                  </a:cubicBezTo>
                  <a:cubicBezTo>
                    <a:pt x="1444244" y="1120902"/>
                    <a:pt x="1120902" y="1444244"/>
                    <a:pt x="722122" y="1444244"/>
                  </a:cubicBezTo>
                  <a:cubicBezTo>
                    <a:pt x="323342" y="1444244"/>
                    <a:pt x="0" y="1121029"/>
                    <a:pt x="0" y="722122"/>
                  </a:cubicBezTo>
                  <a:close/>
                </a:path>
              </a:pathLst>
            </a:custGeom>
            <a:solidFill>
              <a:srgbClr val="727070"/>
            </a:solidFill>
          </p:spPr>
        </p:sp>
      </p:grpSp>
      <p:sp>
        <p:nvSpPr>
          <p:cNvPr name="Freeform 26" id="26"/>
          <p:cNvSpPr/>
          <p:nvPr/>
        </p:nvSpPr>
        <p:spPr>
          <a:xfrm flipH="false" flipV="false" rot="0">
            <a:off x="12311903" y="8153008"/>
            <a:ext cx="787256" cy="767216"/>
          </a:xfrm>
          <a:custGeom>
            <a:avLst/>
            <a:gdLst/>
            <a:ahLst/>
            <a:cxnLst/>
            <a:rect r="r" b="b" t="t" l="l"/>
            <a:pathLst>
              <a:path h="767216" w="787256">
                <a:moveTo>
                  <a:pt x="0" y="0"/>
                </a:moveTo>
                <a:lnTo>
                  <a:pt x="787256" y="0"/>
                </a:lnTo>
                <a:lnTo>
                  <a:pt x="787256" y="767216"/>
                </a:lnTo>
                <a:lnTo>
                  <a:pt x="0" y="7672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7930333" y="9755862"/>
            <a:ext cx="318491"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9</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3"/>
            <a:stretch>
              <a:fillRect l="0" t="-38888" r="0" b="-38888"/>
            </a:stretch>
          </a:blipFill>
        </p:spPr>
      </p:sp>
      <p:grpSp>
        <p:nvGrpSpPr>
          <p:cNvPr name="Group 3" id="3"/>
          <p:cNvGrpSpPr/>
          <p:nvPr/>
        </p:nvGrpSpPr>
        <p:grpSpPr>
          <a:xfrm rot="0">
            <a:off x="11674128" y="2626482"/>
            <a:ext cx="6422296" cy="6422996"/>
            <a:chOff x="0" y="0"/>
            <a:chExt cx="6603840" cy="6604560"/>
          </a:xfrm>
        </p:grpSpPr>
        <p:sp>
          <p:nvSpPr>
            <p:cNvPr name="Freeform 4" id="4"/>
            <p:cNvSpPr/>
            <p:nvPr/>
          </p:nvSpPr>
          <p:spPr>
            <a:xfrm flipH="false" flipV="false" rot="0">
              <a:off x="0" y="0"/>
              <a:ext cx="6603873" cy="6604508"/>
            </a:xfrm>
            <a:custGeom>
              <a:avLst/>
              <a:gdLst/>
              <a:ahLst/>
              <a:cxnLst/>
              <a:rect r="r" b="b" t="t" l="l"/>
              <a:pathLst>
                <a:path h="6604508" w="6603873">
                  <a:moveTo>
                    <a:pt x="0" y="3302254"/>
                  </a:moveTo>
                  <a:cubicBezTo>
                    <a:pt x="0" y="1478534"/>
                    <a:pt x="1478280" y="0"/>
                    <a:pt x="3301873" y="0"/>
                  </a:cubicBezTo>
                  <a:lnTo>
                    <a:pt x="3301873" y="25527"/>
                  </a:lnTo>
                  <a:lnTo>
                    <a:pt x="3301873" y="0"/>
                  </a:lnTo>
                  <a:cubicBezTo>
                    <a:pt x="5125466" y="0"/>
                    <a:pt x="6603873" y="1478534"/>
                    <a:pt x="6603873" y="3302254"/>
                  </a:cubicBezTo>
                  <a:cubicBezTo>
                    <a:pt x="6603873" y="5125974"/>
                    <a:pt x="5125466" y="6604508"/>
                    <a:pt x="3301873" y="6604508"/>
                  </a:cubicBezTo>
                  <a:lnTo>
                    <a:pt x="3301873" y="6578981"/>
                  </a:lnTo>
                  <a:lnTo>
                    <a:pt x="3301873" y="6604508"/>
                  </a:lnTo>
                  <a:cubicBezTo>
                    <a:pt x="1478280" y="6604508"/>
                    <a:pt x="0" y="5126101"/>
                    <a:pt x="0" y="3302254"/>
                  </a:cubicBezTo>
                  <a:lnTo>
                    <a:pt x="25527" y="3302254"/>
                  </a:lnTo>
                  <a:lnTo>
                    <a:pt x="46990" y="3316097"/>
                  </a:lnTo>
                  <a:cubicBezTo>
                    <a:pt x="40894" y="3325622"/>
                    <a:pt x="29210" y="3330067"/>
                    <a:pt x="18288" y="3326892"/>
                  </a:cubicBezTo>
                  <a:cubicBezTo>
                    <a:pt x="7366" y="3323717"/>
                    <a:pt x="0" y="3313684"/>
                    <a:pt x="0" y="3302254"/>
                  </a:cubicBezTo>
                  <a:moveTo>
                    <a:pt x="51181" y="3302254"/>
                  </a:moveTo>
                  <a:lnTo>
                    <a:pt x="25527" y="3302254"/>
                  </a:lnTo>
                  <a:lnTo>
                    <a:pt x="4064" y="3288538"/>
                  </a:lnTo>
                  <a:cubicBezTo>
                    <a:pt x="10160" y="3279013"/>
                    <a:pt x="21844" y="3274568"/>
                    <a:pt x="32766" y="3277743"/>
                  </a:cubicBezTo>
                  <a:cubicBezTo>
                    <a:pt x="43688" y="3280918"/>
                    <a:pt x="51181" y="3290951"/>
                    <a:pt x="51181" y="3302254"/>
                  </a:cubicBezTo>
                  <a:cubicBezTo>
                    <a:pt x="51181" y="5097780"/>
                    <a:pt x="1506601" y="6553454"/>
                    <a:pt x="3302000" y="6553454"/>
                  </a:cubicBezTo>
                  <a:cubicBezTo>
                    <a:pt x="5097399" y="6553454"/>
                    <a:pt x="6552819" y="5097907"/>
                    <a:pt x="6552819" y="3302254"/>
                  </a:cubicBezTo>
                  <a:lnTo>
                    <a:pt x="6578346" y="3302254"/>
                  </a:lnTo>
                  <a:lnTo>
                    <a:pt x="6552819" y="3302254"/>
                  </a:lnTo>
                  <a:cubicBezTo>
                    <a:pt x="6552819" y="1506728"/>
                    <a:pt x="5097399" y="51054"/>
                    <a:pt x="3302000" y="51054"/>
                  </a:cubicBezTo>
                  <a:lnTo>
                    <a:pt x="3302000" y="25527"/>
                  </a:lnTo>
                  <a:lnTo>
                    <a:pt x="3302000" y="51181"/>
                  </a:lnTo>
                  <a:cubicBezTo>
                    <a:pt x="1506601" y="51181"/>
                    <a:pt x="51181" y="1506728"/>
                    <a:pt x="51181" y="3302381"/>
                  </a:cubicBezTo>
                  <a:close/>
                </a:path>
              </a:pathLst>
            </a:custGeom>
            <a:solidFill>
              <a:srgbClr val="727070"/>
            </a:solidFill>
          </p:spPr>
        </p:sp>
      </p:grpSp>
      <p:grpSp>
        <p:nvGrpSpPr>
          <p:cNvPr name="Group 5" id="5"/>
          <p:cNvGrpSpPr/>
          <p:nvPr/>
        </p:nvGrpSpPr>
        <p:grpSpPr>
          <a:xfrm rot="0">
            <a:off x="12202502" y="4198240"/>
            <a:ext cx="1322656" cy="2148786"/>
            <a:chOff x="0" y="0"/>
            <a:chExt cx="1346400" cy="2187360"/>
          </a:xfrm>
        </p:grpSpPr>
        <p:sp>
          <p:nvSpPr>
            <p:cNvPr name="Freeform 6" id="6"/>
            <p:cNvSpPr/>
            <p:nvPr/>
          </p:nvSpPr>
          <p:spPr>
            <a:xfrm flipH="false" flipV="false" rot="0">
              <a:off x="0" y="0"/>
              <a:ext cx="1346454" cy="2187448"/>
            </a:xfrm>
            <a:custGeom>
              <a:avLst/>
              <a:gdLst/>
              <a:ahLst/>
              <a:cxnLst/>
              <a:rect r="r" b="b" t="t" l="l"/>
              <a:pathLst>
                <a:path h="2187448" w="1346454">
                  <a:moveTo>
                    <a:pt x="1346454" y="472694"/>
                  </a:moveTo>
                  <a:cubicBezTo>
                    <a:pt x="993775" y="0"/>
                    <a:pt x="993775" y="0"/>
                    <a:pt x="993775" y="0"/>
                  </a:cubicBezTo>
                  <a:cubicBezTo>
                    <a:pt x="697230" y="216281"/>
                    <a:pt x="464820" y="512826"/>
                    <a:pt x="328549" y="849249"/>
                  </a:cubicBezTo>
                  <a:cubicBezTo>
                    <a:pt x="0" y="897382"/>
                    <a:pt x="0" y="897382"/>
                    <a:pt x="0" y="897382"/>
                  </a:cubicBezTo>
                  <a:cubicBezTo>
                    <a:pt x="240411" y="1129792"/>
                    <a:pt x="240411" y="1129792"/>
                    <a:pt x="240411" y="1129792"/>
                  </a:cubicBezTo>
                  <a:cubicBezTo>
                    <a:pt x="208407" y="1274064"/>
                    <a:pt x="184277" y="1426210"/>
                    <a:pt x="184277" y="1586484"/>
                  </a:cubicBezTo>
                  <a:cubicBezTo>
                    <a:pt x="184277" y="1794764"/>
                    <a:pt x="216281" y="1995170"/>
                    <a:pt x="280416" y="2187448"/>
                  </a:cubicBezTo>
                  <a:cubicBezTo>
                    <a:pt x="865505" y="1971040"/>
                    <a:pt x="865505" y="1971040"/>
                    <a:pt x="865505" y="1971040"/>
                  </a:cubicBezTo>
                  <a:cubicBezTo>
                    <a:pt x="817372" y="1842897"/>
                    <a:pt x="793369" y="1698625"/>
                    <a:pt x="793369" y="1554353"/>
                  </a:cubicBezTo>
                  <a:cubicBezTo>
                    <a:pt x="793369" y="1105662"/>
                    <a:pt x="1017778" y="713105"/>
                    <a:pt x="1346327" y="472694"/>
                  </a:cubicBezTo>
                  <a:close/>
                </a:path>
              </a:pathLst>
            </a:custGeom>
            <a:solidFill>
              <a:srgbClr val="727070"/>
            </a:solidFill>
          </p:spPr>
        </p:sp>
      </p:grpSp>
      <p:grpSp>
        <p:nvGrpSpPr>
          <p:cNvPr name="Group 7" id="7"/>
          <p:cNvGrpSpPr/>
          <p:nvPr/>
        </p:nvGrpSpPr>
        <p:grpSpPr>
          <a:xfrm rot="0">
            <a:off x="12960382" y="6283847"/>
            <a:ext cx="1924894" cy="1621985"/>
            <a:chOff x="0" y="0"/>
            <a:chExt cx="1857600" cy="1565280"/>
          </a:xfrm>
        </p:grpSpPr>
        <p:sp>
          <p:nvSpPr>
            <p:cNvPr name="Freeform 8" id="8"/>
            <p:cNvSpPr/>
            <p:nvPr/>
          </p:nvSpPr>
          <p:spPr>
            <a:xfrm flipH="false" flipV="false" rot="0">
              <a:off x="0" y="0"/>
              <a:ext cx="1857629" cy="1565275"/>
            </a:xfrm>
            <a:custGeom>
              <a:avLst/>
              <a:gdLst/>
              <a:ahLst/>
              <a:cxnLst/>
              <a:rect r="r" b="b" t="t" l="l"/>
              <a:pathLst>
                <a:path h="1565275" w="1857629">
                  <a:moveTo>
                    <a:pt x="1857629" y="931164"/>
                  </a:moveTo>
                  <a:cubicBezTo>
                    <a:pt x="1265047" y="931164"/>
                    <a:pt x="760603" y="537845"/>
                    <a:pt x="584454" y="0"/>
                  </a:cubicBezTo>
                  <a:cubicBezTo>
                    <a:pt x="0" y="216789"/>
                    <a:pt x="0" y="216789"/>
                    <a:pt x="0" y="216789"/>
                  </a:cubicBezTo>
                  <a:cubicBezTo>
                    <a:pt x="112141" y="569976"/>
                    <a:pt x="320294" y="874903"/>
                    <a:pt x="592455" y="1099693"/>
                  </a:cubicBezTo>
                  <a:cubicBezTo>
                    <a:pt x="536448" y="1444879"/>
                    <a:pt x="536448" y="1444879"/>
                    <a:pt x="536448" y="1444879"/>
                  </a:cubicBezTo>
                  <a:cubicBezTo>
                    <a:pt x="840740" y="1284351"/>
                    <a:pt x="840740" y="1284351"/>
                    <a:pt x="840740" y="1284351"/>
                  </a:cubicBezTo>
                  <a:cubicBezTo>
                    <a:pt x="1137031" y="1461008"/>
                    <a:pt x="1489329" y="1565275"/>
                    <a:pt x="1857629" y="1565275"/>
                  </a:cubicBezTo>
                  <a:lnTo>
                    <a:pt x="1857629" y="931164"/>
                  </a:lnTo>
                  <a:close/>
                </a:path>
              </a:pathLst>
            </a:custGeom>
            <a:solidFill>
              <a:srgbClr val="727070"/>
            </a:solidFill>
          </p:spPr>
        </p:sp>
      </p:grpSp>
      <p:grpSp>
        <p:nvGrpSpPr>
          <p:cNvPr name="Group 9" id="9"/>
          <p:cNvGrpSpPr/>
          <p:nvPr/>
        </p:nvGrpSpPr>
        <p:grpSpPr>
          <a:xfrm rot="0">
            <a:off x="14860047" y="6236222"/>
            <a:ext cx="1971552" cy="1661300"/>
            <a:chOff x="0" y="0"/>
            <a:chExt cx="1857600" cy="1565280"/>
          </a:xfrm>
        </p:grpSpPr>
        <p:sp>
          <p:nvSpPr>
            <p:cNvPr name="Freeform 10" id="10"/>
            <p:cNvSpPr/>
            <p:nvPr/>
          </p:nvSpPr>
          <p:spPr>
            <a:xfrm flipH="false" flipV="false" rot="0">
              <a:off x="0" y="0"/>
              <a:ext cx="1857629" cy="1565275"/>
            </a:xfrm>
            <a:custGeom>
              <a:avLst/>
              <a:gdLst/>
              <a:ahLst/>
              <a:cxnLst/>
              <a:rect r="r" b="b" t="t" l="l"/>
              <a:pathLst>
                <a:path h="1565275" w="1857629">
                  <a:moveTo>
                    <a:pt x="1857629" y="216789"/>
                  </a:moveTo>
                  <a:cubicBezTo>
                    <a:pt x="1273048" y="0"/>
                    <a:pt x="1273048" y="0"/>
                    <a:pt x="1273048" y="0"/>
                  </a:cubicBezTo>
                  <a:cubicBezTo>
                    <a:pt x="1096899" y="537845"/>
                    <a:pt x="592455" y="931164"/>
                    <a:pt x="0" y="931164"/>
                  </a:cubicBezTo>
                  <a:cubicBezTo>
                    <a:pt x="0" y="1565275"/>
                    <a:pt x="0" y="1565275"/>
                    <a:pt x="0" y="1565275"/>
                  </a:cubicBezTo>
                  <a:cubicBezTo>
                    <a:pt x="368300" y="1565275"/>
                    <a:pt x="720598" y="1460881"/>
                    <a:pt x="1016889" y="1284351"/>
                  </a:cubicBezTo>
                  <a:cubicBezTo>
                    <a:pt x="1321181" y="1444879"/>
                    <a:pt x="1321181" y="1444879"/>
                    <a:pt x="1321181" y="1444879"/>
                  </a:cubicBezTo>
                  <a:cubicBezTo>
                    <a:pt x="1265174" y="1099693"/>
                    <a:pt x="1265174" y="1099693"/>
                    <a:pt x="1265174" y="1099693"/>
                  </a:cubicBezTo>
                  <a:cubicBezTo>
                    <a:pt x="1537462" y="874903"/>
                    <a:pt x="1745615" y="569849"/>
                    <a:pt x="1857629" y="216662"/>
                  </a:cubicBezTo>
                  <a:close/>
                </a:path>
              </a:pathLst>
            </a:custGeom>
            <a:solidFill>
              <a:srgbClr val="727070"/>
            </a:solidFill>
          </p:spPr>
        </p:sp>
      </p:grpSp>
      <p:grpSp>
        <p:nvGrpSpPr>
          <p:cNvPr name="Group 11" id="11"/>
          <p:cNvGrpSpPr/>
          <p:nvPr/>
        </p:nvGrpSpPr>
        <p:grpSpPr>
          <a:xfrm rot="0">
            <a:off x="15639750" y="4353225"/>
            <a:ext cx="1427409" cy="2323938"/>
            <a:chOff x="0" y="0"/>
            <a:chExt cx="1343520" cy="2187360"/>
          </a:xfrm>
        </p:grpSpPr>
        <p:sp>
          <p:nvSpPr>
            <p:cNvPr name="Freeform 12" id="12"/>
            <p:cNvSpPr/>
            <p:nvPr/>
          </p:nvSpPr>
          <p:spPr>
            <a:xfrm flipH="false" flipV="false" rot="0">
              <a:off x="0" y="0"/>
              <a:ext cx="1343533" cy="2187321"/>
            </a:xfrm>
            <a:custGeom>
              <a:avLst/>
              <a:gdLst/>
              <a:ahLst/>
              <a:cxnLst/>
              <a:rect r="r" b="b" t="t" l="l"/>
              <a:pathLst>
                <a:path h="2187321" w="1343533">
                  <a:moveTo>
                    <a:pt x="1343533" y="897382"/>
                  </a:moveTo>
                  <a:cubicBezTo>
                    <a:pt x="1015619" y="849249"/>
                    <a:pt x="1015619" y="849249"/>
                    <a:pt x="1015619" y="849249"/>
                  </a:cubicBezTo>
                  <a:cubicBezTo>
                    <a:pt x="879729" y="512826"/>
                    <a:pt x="647827" y="216281"/>
                    <a:pt x="351917" y="0"/>
                  </a:cubicBezTo>
                  <a:cubicBezTo>
                    <a:pt x="0" y="472694"/>
                    <a:pt x="0" y="472694"/>
                    <a:pt x="0" y="472694"/>
                  </a:cubicBezTo>
                  <a:cubicBezTo>
                    <a:pt x="327914" y="713105"/>
                    <a:pt x="551815" y="1105662"/>
                    <a:pt x="551815" y="1554353"/>
                  </a:cubicBezTo>
                  <a:cubicBezTo>
                    <a:pt x="551815" y="1698625"/>
                    <a:pt x="527812" y="1842770"/>
                    <a:pt x="479806" y="1971040"/>
                  </a:cubicBezTo>
                  <a:cubicBezTo>
                    <a:pt x="1063625" y="2187321"/>
                    <a:pt x="1063625" y="2187321"/>
                    <a:pt x="1063625" y="2187321"/>
                  </a:cubicBezTo>
                  <a:cubicBezTo>
                    <a:pt x="1127633" y="1995043"/>
                    <a:pt x="1159637" y="1794764"/>
                    <a:pt x="1159637" y="1586357"/>
                  </a:cubicBezTo>
                  <a:cubicBezTo>
                    <a:pt x="1159637" y="1426083"/>
                    <a:pt x="1135634" y="1273937"/>
                    <a:pt x="1103630" y="1129665"/>
                  </a:cubicBezTo>
                  <a:lnTo>
                    <a:pt x="1343533" y="897255"/>
                  </a:lnTo>
                  <a:close/>
                </a:path>
              </a:pathLst>
            </a:custGeom>
            <a:solidFill>
              <a:srgbClr val="727070"/>
            </a:solidFill>
          </p:spPr>
        </p:sp>
      </p:grpSp>
      <p:grpSp>
        <p:nvGrpSpPr>
          <p:cNvPr name="Group 13" id="13"/>
          <p:cNvGrpSpPr/>
          <p:nvPr/>
        </p:nvGrpSpPr>
        <p:grpSpPr>
          <a:xfrm rot="0">
            <a:off x="13823333" y="3791805"/>
            <a:ext cx="2251421" cy="1103790"/>
            <a:chOff x="0" y="0"/>
            <a:chExt cx="2292480" cy="1123920"/>
          </a:xfrm>
        </p:grpSpPr>
        <p:sp>
          <p:nvSpPr>
            <p:cNvPr name="Freeform 14" id="14"/>
            <p:cNvSpPr/>
            <p:nvPr/>
          </p:nvSpPr>
          <p:spPr>
            <a:xfrm flipH="false" flipV="false" rot="0">
              <a:off x="0" y="0"/>
              <a:ext cx="2292477" cy="1123950"/>
            </a:xfrm>
            <a:custGeom>
              <a:avLst/>
              <a:gdLst/>
              <a:ahLst/>
              <a:cxnLst/>
              <a:rect r="r" b="b" t="t" l="l"/>
              <a:pathLst>
                <a:path h="1123950" w="2292477">
                  <a:moveTo>
                    <a:pt x="1290574" y="280924"/>
                  </a:moveTo>
                  <a:cubicBezTo>
                    <a:pt x="1146302" y="0"/>
                    <a:pt x="1146302" y="0"/>
                    <a:pt x="1146302" y="0"/>
                  </a:cubicBezTo>
                  <a:cubicBezTo>
                    <a:pt x="1001903" y="280924"/>
                    <a:pt x="1001903" y="280924"/>
                    <a:pt x="1001903" y="280924"/>
                  </a:cubicBezTo>
                  <a:cubicBezTo>
                    <a:pt x="625221" y="313055"/>
                    <a:pt x="280543" y="441579"/>
                    <a:pt x="0" y="650240"/>
                  </a:cubicBezTo>
                  <a:cubicBezTo>
                    <a:pt x="352679" y="1123950"/>
                    <a:pt x="352679" y="1123950"/>
                    <a:pt x="352679" y="1123950"/>
                  </a:cubicBezTo>
                  <a:cubicBezTo>
                    <a:pt x="577088" y="955294"/>
                    <a:pt x="849630" y="859028"/>
                    <a:pt x="1146302" y="859028"/>
                  </a:cubicBezTo>
                  <a:cubicBezTo>
                    <a:pt x="1442974" y="859028"/>
                    <a:pt x="1715389" y="955421"/>
                    <a:pt x="1939798" y="1123950"/>
                  </a:cubicBezTo>
                  <a:cubicBezTo>
                    <a:pt x="2292477" y="650240"/>
                    <a:pt x="2292477" y="650240"/>
                    <a:pt x="2292477" y="650240"/>
                  </a:cubicBezTo>
                  <a:cubicBezTo>
                    <a:pt x="2011934" y="441452"/>
                    <a:pt x="1667256" y="313055"/>
                    <a:pt x="1290574" y="280924"/>
                  </a:cubicBezTo>
                  <a:close/>
                </a:path>
              </a:pathLst>
            </a:custGeom>
            <a:solidFill>
              <a:srgbClr val="727070"/>
            </a:solidFill>
          </p:spPr>
        </p:sp>
      </p:grpSp>
      <p:grpSp>
        <p:nvGrpSpPr>
          <p:cNvPr name="Group 15" id="15"/>
          <p:cNvGrpSpPr/>
          <p:nvPr/>
        </p:nvGrpSpPr>
        <p:grpSpPr>
          <a:xfrm rot="0">
            <a:off x="13803179" y="4788161"/>
            <a:ext cx="2183244" cy="2078469"/>
            <a:chOff x="0" y="0"/>
            <a:chExt cx="2034433" cy="1936800"/>
          </a:xfrm>
        </p:grpSpPr>
        <p:sp>
          <p:nvSpPr>
            <p:cNvPr name="Freeform 16" id="16"/>
            <p:cNvSpPr/>
            <p:nvPr/>
          </p:nvSpPr>
          <p:spPr>
            <a:xfrm flipH="false" flipV="false" rot="0">
              <a:off x="0" y="0"/>
              <a:ext cx="2034381" cy="1936750"/>
            </a:xfrm>
            <a:custGeom>
              <a:avLst/>
              <a:gdLst/>
              <a:ahLst/>
              <a:cxnLst/>
              <a:rect r="r" b="b" t="t" l="l"/>
              <a:pathLst>
                <a:path h="1936750" w="2034381">
                  <a:moveTo>
                    <a:pt x="0" y="968375"/>
                  </a:moveTo>
                  <a:cubicBezTo>
                    <a:pt x="0" y="433578"/>
                    <a:pt x="455435" y="0"/>
                    <a:pt x="1017191" y="0"/>
                  </a:cubicBezTo>
                  <a:cubicBezTo>
                    <a:pt x="1578946" y="0"/>
                    <a:pt x="2034381" y="433578"/>
                    <a:pt x="2034381" y="968375"/>
                  </a:cubicBezTo>
                  <a:cubicBezTo>
                    <a:pt x="2034381" y="1503172"/>
                    <a:pt x="1578946" y="1936750"/>
                    <a:pt x="1017191" y="1936750"/>
                  </a:cubicBezTo>
                  <a:cubicBezTo>
                    <a:pt x="455435" y="1936750"/>
                    <a:pt x="0" y="1503172"/>
                    <a:pt x="0" y="968375"/>
                  </a:cubicBezTo>
                  <a:close/>
                </a:path>
              </a:pathLst>
            </a:custGeom>
            <a:solidFill>
              <a:srgbClr val="727070"/>
            </a:solidFill>
          </p:spPr>
        </p:sp>
      </p:grpSp>
      <p:sp>
        <p:nvSpPr>
          <p:cNvPr name="TextBox 17" id="17"/>
          <p:cNvSpPr txBox="true"/>
          <p:nvPr/>
        </p:nvSpPr>
        <p:spPr>
          <a:xfrm rot="0">
            <a:off x="1323900" y="552690"/>
            <a:ext cx="10191700" cy="605790"/>
          </a:xfrm>
          <a:prstGeom prst="rect">
            <a:avLst/>
          </a:prstGeom>
        </p:spPr>
        <p:txBody>
          <a:bodyPr anchor="t" rtlCol="false" tIns="0" lIns="0" bIns="0" rIns="0">
            <a:spAutoFit/>
          </a:bodyPr>
          <a:lstStyle/>
          <a:p>
            <a:pPr algn="ctr" marL="0" indent="0" lvl="0">
              <a:lnSpc>
                <a:spcPts val="4829"/>
              </a:lnSpc>
              <a:spcBef>
                <a:spcPct val="0"/>
              </a:spcBef>
            </a:pPr>
            <a:r>
              <a:rPr lang="en-US" sz="3499" spc="122">
                <a:solidFill>
                  <a:srgbClr val="010101"/>
                </a:solidFill>
                <a:latin typeface="Archivo Black"/>
                <a:ea typeface="Archivo Black"/>
                <a:cs typeface="Archivo Black"/>
                <a:sym typeface="Archivo Black"/>
              </a:rPr>
              <a:t> VECTORISATION DES TEXTES :</a:t>
            </a:r>
          </a:p>
        </p:txBody>
      </p:sp>
      <p:sp>
        <p:nvSpPr>
          <p:cNvPr name="Freeform 18" id="18"/>
          <p:cNvSpPr/>
          <p:nvPr/>
        </p:nvSpPr>
        <p:spPr>
          <a:xfrm flipH="false" flipV="false" rot="0">
            <a:off x="14349162" y="5238495"/>
            <a:ext cx="795288" cy="629119"/>
          </a:xfrm>
          <a:custGeom>
            <a:avLst/>
            <a:gdLst/>
            <a:ahLst/>
            <a:cxnLst/>
            <a:rect r="r" b="b" t="t" l="l"/>
            <a:pathLst>
              <a:path h="629119" w="795288">
                <a:moveTo>
                  <a:pt x="0" y="0"/>
                </a:moveTo>
                <a:lnTo>
                  <a:pt x="795288" y="0"/>
                </a:lnTo>
                <a:lnTo>
                  <a:pt x="795288" y="629119"/>
                </a:lnTo>
                <a:lnTo>
                  <a:pt x="0" y="6291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3968813" y="5940947"/>
            <a:ext cx="2017611" cy="285750"/>
          </a:xfrm>
          <a:prstGeom prst="rect">
            <a:avLst/>
          </a:prstGeom>
        </p:spPr>
        <p:txBody>
          <a:bodyPr anchor="t" rtlCol="false" tIns="0" lIns="0" bIns="0" rIns="0">
            <a:spAutoFit/>
          </a:bodyPr>
          <a:lstStyle/>
          <a:p>
            <a:pPr algn="ctr">
              <a:lnSpc>
                <a:spcPts val="2216"/>
              </a:lnSpc>
            </a:pPr>
            <a:r>
              <a:rPr lang="en-US" sz="1847" spc="-36">
                <a:solidFill>
                  <a:srgbClr val="FFFBFB"/>
                </a:solidFill>
                <a:latin typeface="Montserrat Light"/>
                <a:ea typeface="Montserrat Light"/>
                <a:cs typeface="Montserrat Light"/>
                <a:sym typeface="Montserrat Light"/>
              </a:rPr>
              <a:t>VECTORIZATYION </a:t>
            </a:r>
          </a:p>
        </p:txBody>
      </p:sp>
      <p:sp>
        <p:nvSpPr>
          <p:cNvPr name="TextBox 20" id="20"/>
          <p:cNvSpPr txBox="true"/>
          <p:nvPr/>
        </p:nvSpPr>
        <p:spPr>
          <a:xfrm rot="0">
            <a:off x="1394756" y="2715980"/>
            <a:ext cx="2246916" cy="514681"/>
          </a:xfrm>
          <a:prstGeom prst="rect">
            <a:avLst/>
          </a:prstGeom>
        </p:spPr>
        <p:txBody>
          <a:bodyPr anchor="t" rtlCol="false" tIns="0" lIns="0" bIns="0" rIns="0">
            <a:spAutoFit/>
          </a:bodyPr>
          <a:lstStyle/>
          <a:p>
            <a:pPr algn="ctr">
              <a:lnSpc>
                <a:spcPts val="4181"/>
              </a:lnSpc>
              <a:spcBef>
                <a:spcPct val="0"/>
              </a:spcBef>
            </a:pPr>
            <a:r>
              <a:rPr lang="en-US" b="true" sz="2986" spc="-59">
                <a:solidFill>
                  <a:srgbClr val="010101"/>
                </a:solidFill>
                <a:latin typeface="Montserrat Light Bold"/>
                <a:ea typeface="Montserrat Light Bold"/>
                <a:cs typeface="Montserrat Light Bold"/>
                <a:sym typeface="Montserrat Light Bold"/>
              </a:rPr>
              <a:t>Fast-Text </a:t>
            </a:r>
          </a:p>
        </p:txBody>
      </p:sp>
      <p:sp>
        <p:nvSpPr>
          <p:cNvPr name="TextBox 21" id="21"/>
          <p:cNvSpPr txBox="true"/>
          <p:nvPr/>
        </p:nvSpPr>
        <p:spPr>
          <a:xfrm rot="0">
            <a:off x="506467" y="3538493"/>
            <a:ext cx="10332004" cy="1271868"/>
          </a:xfrm>
          <a:prstGeom prst="rect">
            <a:avLst/>
          </a:prstGeom>
        </p:spPr>
        <p:txBody>
          <a:bodyPr anchor="t" rtlCol="false" tIns="0" lIns="0" bIns="0" rIns="0">
            <a:spAutoFit/>
          </a:bodyPr>
          <a:lstStyle/>
          <a:p>
            <a:pPr algn="l">
              <a:lnSpc>
                <a:spcPts val="3397"/>
              </a:lnSpc>
            </a:pPr>
            <a:r>
              <a:rPr lang="en-US" sz="2426">
                <a:solidFill>
                  <a:srgbClr val="010101"/>
                </a:solidFill>
                <a:latin typeface="Montserrat Light"/>
                <a:ea typeface="Montserrat Light"/>
                <a:cs typeface="Montserrat Light"/>
                <a:sym typeface="Montserrat Light"/>
              </a:rPr>
              <a:t>Utilise des sous-mots (n-grammes de caractères) pour encoder les mots, permettant de généraliser aux mots rares ou mal orthographiés grâce à la composition de leurs sous-mots.</a:t>
            </a:r>
          </a:p>
        </p:txBody>
      </p:sp>
      <p:sp>
        <p:nvSpPr>
          <p:cNvPr name="TextBox 22" id="22"/>
          <p:cNvSpPr txBox="true"/>
          <p:nvPr/>
        </p:nvSpPr>
        <p:spPr>
          <a:xfrm rot="0">
            <a:off x="1858262" y="2000555"/>
            <a:ext cx="957953" cy="883087"/>
          </a:xfrm>
          <a:prstGeom prst="rect">
            <a:avLst/>
          </a:prstGeom>
        </p:spPr>
        <p:txBody>
          <a:bodyPr anchor="t" rtlCol="false" tIns="0" lIns="0" bIns="0" rIns="0">
            <a:spAutoFit/>
          </a:bodyPr>
          <a:lstStyle/>
          <a:p>
            <a:pPr algn="ctr">
              <a:lnSpc>
                <a:spcPts val="6975"/>
              </a:lnSpc>
              <a:spcBef>
                <a:spcPct val="0"/>
              </a:spcBef>
            </a:pPr>
            <a:r>
              <a:rPr lang="en-US" b="true" sz="4982" spc="-99">
                <a:solidFill>
                  <a:srgbClr val="010101"/>
                </a:solidFill>
                <a:latin typeface="Montserrat Light Bold"/>
                <a:ea typeface="Montserrat Light Bold"/>
                <a:cs typeface="Montserrat Light Bold"/>
                <a:sym typeface="Montserrat Light Bold"/>
              </a:rPr>
              <a:t>05</a:t>
            </a:r>
          </a:p>
        </p:txBody>
      </p:sp>
      <p:sp>
        <p:nvSpPr>
          <p:cNvPr name="TextBox 23" id="23"/>
          <p:cNvSpPr txBox="true"/>
          <p:nvPr/>
        </p:nvSpPr>
        <p:spPr>
          <a:xfrm rot="0">
            <a:off x="492566" y="5628671"/>
            <a:ext cx="11023034" cy="2557743"/>
          </a:xfrm>
          <a:prstGeom prst="rect">
            <a:avLst/>
          </a:prstGeom>
        </p:spPr>
        <p:txBody>
          <a:bodyPr anchor="t" rtlCol="false" tIns="0" lIns="0" bIns="0" rIns="0">
            <a:spAutoFit/>
          </a:bodyPr>
          <a:lstStyle/>
          <a:p>
            <a:pPr algn="l">
              <a:lnSpc>
                <a:spcPts val="3397"/>
              </a:lnSpc>
            </a:pPr>
            <a:r>
              <a:rPr lang="en-US" sz="2426">
                <a:solidFill>
                  <a:srgbClr val="010101"/>
                </a:solidFill>
                <a:latin typeface="Montserrat Light"/>
                <a:ea typeface="Montserrat Light"/>
                <a:cs typeface="Montserrat Light"/>
                <a:sym typeface="Montserrat Light"/>
              </a:rPr>
              <a:t>Mot : Chien </a:t>
            </a: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Bigrammes de "chien" :     &lt;c, ch, hi, ie, en, n&gt;</a:t>
            </a: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Vecteurs des bigrammes : FastText associe un vecteur à chaque bigramme. </a:t>
            </a:r>
          </a:p>
          <a:p>
            <a:pPr algn="l" marL="523869" indent="-261935" lvl="1">
              <a:lnSpc>
                <a:spcPts val="3397"/>
              </a:lnSpc>
              <a:buFont typeface="Arial"/>
              <a:buChar char="•"/>
            </a:pPr>
            <a:r>
              <a:rPr lang="en-US" sz="2426">
                <a:solidFill>
                  <a:srgbClr val="010101"/>
                </a:solidFill>
                <a:latin typeface="Montserrat Light"/>
                <a:ea typeface="Montserrat Light"/>
                <a:cs typeface="Montserrat Light"/>
                <a:sym typeface="Montserrat Light"/>
              </a:rPr>
              <a:t>Calcul du vecteur du mot "chien"  : faisant la moyenne des vecteurs des bigrammes</a:t>
            </a:r>
          </a:p>
        </p:txBody>
      </p:sp>
      <p:grpSp>
        <p:nvGrpSpPr>
          <p:cNvPr name="Group 24" id="24"/>
          <p:cNvGrpSpPr/>
          <p:nvPr/>
        </p:nvGrpSpPr>
        <p:grpSpPr>
          <a:xfrm rot="0">
            <a:off x="10971821" y="3919257"/>
            <a:ext cx="1404615" cy="1404615"/>
            <a:chOff x="0" y="0"/>
            <a:chExt cx="1444320" cy="1444320"/>
          </a:xfrm>
        </p:grpSpPr>
        <p:sp>
          <p:nvSpPr>
            <p:cNvPr name="Freeform 25" id="25"/>
            <p:cNvSpPr/>
            <p:nvPr/>
          </p:nvSpPr>
          <p:spPr>
            <a:xfrm flipH="false" flipV="false" rot="0">
              <a:off x="0" y="0"/>
              <a:ext cx="1444244" cy="1444244"/>
            </a:xfrm>
            <a:custGeom>
              <a:avLst/>
              <a:gdLst/>
              <a:ahLst/>
              <a:cxnLst/>
              <a:rect r="r" b="b" t="t" l="l"/>
              <a:pathLst>
                <a:path h="1444244" w="1444244">
                  <a:moveTo>
                    <a:pt x="0" y="722122"/>
                  </a:moveTo>
                  <a:cubicBezTo>
                    <a:pt x="0" y="323342"/>
                    <a:pt x="323342" y="0"/>
                    <a:pt x="722122" y="0"/>
                  </a:cubicBezTo>
                  <a:cubicBezTo>
                    <a:pt x="1120902" y="0"/>
                    <a:pt x="1444244" y="323342"/>
                    <a:pt x="1444244" y="722122"/>
                  </a:cubicBezTo>
                  <a:cubicBezTo>
                    <a:pt x="1444244" y="1120902"/>
                    <a:pt x="1120902" y="1444244"/>
                    <a:pt x="722122" y="1444244"/>
                  </a:cubicBezTo>
                  <a:cubicBezTo>
                    <a:pt x="323342" y="1444244"/>
                    <a:pt x="0" y="1121029"/>
                    <a:pt x="0" y="722122"/>
                  </a:cubicBezTo>
                  <a:close/>
                </a:path>
              </a:pathLst>
            </a:custGeom>
            <a:solidFill>
              <a:srgbClr val="727070"/>
            </a:solidFill>
          </p:spPr>
        </p:sp>
      </p:grpSp>
      <p:sp>
        <p:nvSpPr>
          <p:cNvPr name="Freeform 26" id="26"/>
          <p:cNvSpPr/>
          <p:nvPr/>
        </p:nvSpPr>
        <p:spPr>
          <a:xfrm flipH="false" flipV="false" rot="0">
            <a:off x="11280501" y="4147770"/>
            <a:ext cx="787256" cy="767216"/>
          </a:xfrm>
          <a:custGeom>
            <a:avLst/>
            <a:gdLst/>
            <a:ahLst/>
            <a:cxnLst/>
            <a:rect r="r" b="b" t="t" l="l"/>
            <a:pathLst>
              <a:path h="767216" w="787256">
                <a:moveTo>
                  <a:pt x="0" y="0"/>
                </a:moveTo>
                <a:lnTo>
                  <a:pt x="787255" y="0"/>
                </a:lnTo>
                <a:lnTo>
                  <a:pt x="787255" y="767217"/>
                </a:lnTo>
                <a:lnTo>
                  <a:pt x="0" y="767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7453356" y="9701730"/>
            <a:ext cx="313253" cy="353060"/>
          </a:xfrm>
          <a:prstGeom prst="rect">
            <a:avLst/>
          </a:prstGeom>
        </p:spPr>
        <p:txBody>
          <a:bodyPr anchor="t" rtlCol="false" tIns="0" lIns="0" bIns="0" rIns="0">
            <a:spAutoFit/>
          </a:bodyPr>
          <a:lstStyle/>
          <a:p>
            <a:pPr algn="ctr">
              <a:lnSpc>
                <a:spcPts val="2859"/>
              </a:lnSpc>
              <a:spcBef>
                <a:spcPct val="0"/>
              </a:spcBef>
            </a:pPr>
            <a:r>
              <a:rPr lang="en-US" b="true" sz="2199">
                <a:solidFill>
                  <a:srgbClr val="000000"/>
                </a:solidFill>
                <a:latin typeface="Open Sauce Bold"/>
                <a:ea typeface="Open Sauce Bold"/>
                <a:cs typeface="Open Sauce Bold"/>
                <a:sym typeface="Open Sauce Bold"/>
              </a:rPr>
              <a:t>10</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2559904" y="6800390"/>
            <a:ext cx="3329876" cy="1664938"/>
          </a:xfrm>
          <a:custGeom>
            <a:avLst/>
            <a:gdLst/>
            <a:ahLst/>
            <a:cxnLst/>
            <a:rect r="r" b="b" t="t" l="l"/>
            <a:pathLst>
              <a:path h="1664938" w="3329876">
                <a:moveTo>
                  <a:pt x="0" y="0"/>
                </a:moveTo>
                <a:lnTo>
                  <a:pt x="3329876" y="0"/>
                </a:lnTo>
                <a:lnTo>
                  <a:pt x="3329876" y="1664939"/>
                </a:lnTo>
                <a:lnTo>
                  <a:pt x="0" y="16649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07601" y="5148817"/>
            <a:ext cx="3343241" cy="1671621"/>
          </a:xfrm>
          <a:custGeom>
            <a:avLst/>
            <a:gdLst/>
            <a:ahLst/>
            <a:cxnLst/>
            <a:rect r="r" b="b" t="t" l="l"/>
            <a:pathLst>
              <a:path h="1671621" w="3343241">
                <a:moveTo>
                  <a:pt x="0" y="0"/>
                </a:moveTo>
                <a:lnTo>
                  <a:pt x="3343241" y="0"/>
                </a:lnTo>
                <a:lnTo>
                  <a:pt x="3343241" y="1671621"/>
                </a:lnTo>
                <a:lnTo>
                  <a:pt x="0" y="16716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8864124" y="6807073"/>
            <a:ext cx="3329876" cy="1664938"/>
          </a:xfrm>
          <a:custGeom>
            <a:avLst/>
            <a:gdLst/>
            <a:ahLst/>
            <a:cxnLst/>
            <a:rect r="r" b="b" t="t" l="l"/>
            <a:pathLst>
              <a:path h="1664938" w="3329876">
                <a:moveTo>
                  <a:pt x="0" y="0"/>
                </a:moveTo>
                <a:lnTo>
                  <a:pt x="3329877" y="0"/>
                </a:lnTo>
                <a:lnTo>
                  <a:pt x="3329877" y="1664938"/>
                </a:lnTo>
                <a:lnTo>
                  <a:pt x="0" y="16649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13086" y="5155500"/>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8534029" y="6813755"/>
            <a:ext cx="848136" cy="570260"/>
            <a:chOff x="0" y="0"/>
            <a:chExt cx="1930400" cy="1297940"/>
          </a:xfrm>
        </p:grpSpPr>
        <p:sp>
          <p:nvSpPr>
            <p:cNvPr name="Freeform 7" id="7"/>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2C92D5"/>
            </a:solidFill>
          </p:spPr>
        </p:sp>
      </p:grpSp>
      <p:grpSp>
        <p:nvGrpSpPr>
          <p:cNvPr name="Group 8" id="8"/>
          <p:cNvGrpSpPr>
            <a:grpSpLocks noChangeAspect="true"/>
          </p:cNvGrpSpPr>
          <p:nvPr/>
        </p:nvGrpSpPr>
        <p:grpSpPr>
          <a:xfrm rot="0">
            <a:off x="14914669" y="6800390"/>
            <a:ext cx="848136" cy="570260"/>
            <a:chOff x="0" y="0"/>
            <a:chExt cx="1930400" cy="1297940"/>
          </a:xfrm>
        </p:grpSpPr>
        <p:sp>
          <p:nvSpPr>
            <p:cNvPr name="Freeform 9" id="9"/>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13538A"/>
            </a:solidFill>
          </p:spPr>
        </p:sp>
      </p:grpSp>
      <p:grpSp>
        <p:nvGrpSpPr>
          <p:cNvPr name="Group 10" id="10"/>
          <p:cNvGrpSpPr/>
          <p:nvPr/>
        </p:nvGrpSpPr>
        <p:grpSpPr>
          <a:xfrm rot="0">
            <a:off x="3161336" y="5633384"/>
            <a:ext cx="2166177" cy="21661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B6B4"/>
            </a:solidFill>
          </p:spPr>
        </p:sp>
        <p:sp>
          <p:nvSpPr>
            <p:cNvPr name="TextBox 12" id="12"/>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1</a:t>
              </a:r>
            </a:p>
          </p:txBody>
        </p:sp>
      </p:grpSp>
      <p:grpSp>
        <p:nvGrpSpPr>
          <p:cNvPr name="Group 13" id="13"/>
          <p:cNvGrpSpPr/>
          <p:nvPr/>
        </p:nvGrpSpPr>
        <p:grpSpPr>
          <a:xfrm rot="0">
            <a:off x="6309034" y="5633384"/>
            <a:ext cx="2166177" cy="21661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C9EF"/>
            </a:solidFill>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2</a:t>
              </a:r>
            </a:p>
          </p:txBody>
        </p:sp>
      </p:grpSp>
      <p:grpSp>
        <p:nvGrpSpPr>
          <p:cNvPr name="Group 16" id="16"/>
          <p:cNvGrpSpPr/>
          <p:nvPr/>
        </p:nvGrpSpPr>
        <p:grpSpPr>
          <a:xfrm rot="0">
            <a:off x="9382165" y="5633384"/>
            <a:ext cx="2166177" cy="21661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name="TextBox 18" id="18"/>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3</a:t>
              </a:r>
            </a:p>
          </p:txBody>
        </p:sp>
      </p:grpSp>
      <p:grpSp>
        <p:nvGrpSpPr>
          <p:cNvPr name="Group 19" id="19"/>
          <p:cNvGrpSpPr/>
          <p:nvPr/>
        </p:nvGrpSpPr>
        <p:grpSpPr>
          <a:xfrm rot="0">
            <a:off x="12472267" y="5633384"/>
            <a:ext cx="2166177" cy="21661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name="TextBox 21" id="21"/>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4</a:t>
              </a:r>
            </a:p>
          </p:txBody>
        </p:sp>
      </p:grpSp>
      <p:sp>
        <p:nvSpPr>
          <p:cNvPr name="TextBox 22" id="22"/>
          <p:cNvSpPr txBox="true"/>
          <p:nvPr/>
        </p:nvSpPr>
        <p:spPr>
          <a:xfrm rot="0">
            <a:off x="6009661" y="8695310"/>
            <a:ext cx="2654445" cy="903569"/>
          </a:xfrm>
          <a:prstGeom prst="rect">
            <a:avLst/>
          </a:prstGeom>
        </p:spPr>
        <p:txBody>
          <a:bodyPr anchor="t" rtlCol="false" tIns="0" lIns="0" bIns="0" rIns="0">
            <a:spAutoFit/>
          </a:bodyPr>
          <a:lstStyle/>
          <a:p>
            <a:pPr algn="ctr">
              <a:lnSpc>
                <a:spcPts val="3639"/>
              </a:lnSpc>
            </a:pPr>
            <a:r>
              <a:rPr lang="en-US" sz="2599" spc="77">
                <a:solidFill>
                  <a:srgbClr val="191919"/>
                </a:solidFill>
                <a:latin typeface="Aileron"/>
                <a:ea typeface="Aileron"/>
                <a:cs typeface="Aileron"/>
                <a:sym typeface="Aileron"/>
              </a:rPr>
              <a:t> Prétraitement</a:t>
            </a:r>
          </a:p>
          <a:p>
            <a:pPr algn="ctr" marL="0" indent="0" lvl="0">
              <a:lnSpc>
                <a:spcPts val="3639"/>
              </a:lnSpc>
            </a:pPr>
          </a:p>
        </p:txBody>
      </p:sp>
      <p:sp>
        <p:nvSpPr>
          <p:cNvPr name="TextBox 23" id="23"/>
          <p:cNvSpPr txBox="true"/>
          <p:nvPr/>
        </p:nvSpPr>
        <p:spPr>
          <a:xfrm rot="0">
            <a:off x="12642819" y="8467195"/>
            <a:ext cx="2700143"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Evaluation des modèles</a:t>
            </a:r>
          </a:p>
        </p:txBody>
      </p:sp>
      <p:sp>
        <p:nvSpPr>
          <p:cNvPr name="TextBox 24" id="24"/>
          <p:cNvSpPr txBox="true"/>
          <p:nvPr/>
        </p:nvSpPr>
        <p:spPr>
          <a:xfrm rot="0">
            <a:off x="3242018" y="4663141"/>
            <a:ext cx="1965649"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collecte de données</a:t>
            </a:r>
          </a:p>
        </p:txBody>
      </p:sp>
      <p:sp>
        <p:nvSpPr>
          <p:cNvPr name="TextBox 25" id="25"/>
          <p:cNvSpPr txBox="true"/>
          <p:nvPr/>
        </p:nvSpPr>
        <p:spPr>
          <a:xfrm rot="0">
            <a:off x="8701554" y="4111563"/>
            <a:ext cx="3770713" cy="1359798"/>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Construction et entraînement du modèle </a:t>
            </a:r>
          </a:p>
        </p:txBody>
      </p:sp>
      <p:grpSp>
        <p:nvGrpSpPr>
          <p:cNvPr name="Group 26" id="26"/>
          <p:cNvGrpSpPr/>
          <p:nvPr/>
        </p:nvGrpSpPr>
        <p:grpSpPr>
          <a:xfrm rot="0">
            <a:off x="3550138" y="1234872"/>
            <a:ext cx="11187724" cy="1039832"/>
            <a:chOff x="0" y="0"/>
            <a:chExt cx="14916965" cy="1386443"/>
          </a:xfrm>
        </p:grpSpPr>
        <p:sp>
          <p:nvSpPr>
            <p:cNvPr name="TextBox 27" id="27"/>
            <p:cNvSpPr txBox="true"/>
            <p:nvPr/>
          </p:nvSpPr>
          <p:spPr>
            <a:xfrm rot="0">
              <a:off x="0" y="807746"/>
              <a:ext cx="14916965" cy="578697"/>
            </a:xfrm>
            <a:prstGeom prst="rect">
              <a:avLst/>
            </a:prstGeom>
          </p:spPr>
          <p:txBody>
            <a:bodyPr anchor="t" rtlCol="false" tIns="0" lIns="0" bIns="0" rIns="0">
              <a:spAutoFit/>
            </a:bodyPr>
            <a:lstStyle/>
            <a:p>
              <a:pPr algn="ctr" marL="0" indent="0" lvl="0">
                <a:lnSpc>
                  <a:spcPts val="3640"/>
                </a:lnSpc>
              </a:pPr>
              <a:r>
                <a:rPr lang="en-US" sz="2600" spc="78" u="none">
                  <a:solidFill>
                    <a:srgbClr val="191919"/>
                  </a:solidFill>
                  <a:latin typeface="Aileron"/>
                  <a:ea typeface="Aileron"/>
                  <a:cs typeface="Aileron"/>
                  <a:sym typeface="Aileron"/>
                </a:rPr>
                <a:t>5-Step Ordering Process</a:t>
              </a:r>
            </a:p>
          </p:txBody>
        </p:sp>
        <p:sp>
          <p:nvSpPr>
            <p:cNvPr name="TextBox 28" id="28"/>
            <p:cNvSpPr txBox="true"/>
            <p:nvPr/>
          </p:nvSpPr>
          <p:spPr>
            <a:xfrm rot="0">
              <a:off x="0" y="-47625"/>
              <a:ext cx="14916965" cy="767969"/>
            </a:xfrm>
            <a:prstGeom prst="rect">
              <a:avLst/>
            </a:prstGeom>
          </p:spPr>
          <p:txBody>
            <a:bodyPr anchor="t" rtlCol="false" tIns="0" lIns="0" bIns="0" rIns="0">
              <a:spAutoFit/>
            </a:bodyPr>
            <a:lstStyle/>
            <a:p>
              <a:pPr algn="ctr" marL="0" indent="0" lvl="0">
                <a:lnSpc>
                  <a:spcPts val="4716"/>
                </a:lnSpc>
              </a:pPr>
              <a:r>
                <a:rPr lang="en-US" b="true" sz="3600" spc="107" u="none">
                  <a:solidFill>
                    <a:srgbClr val="191919"/>
                  </a:solidFill>
                  <a:latin typeface="Aileron Ultra-Bold"/>
                  <a:ea typeface="Aileron Ultra-Bold"/>
                  <a:cs typeface="Aileron Ultra-Bold"/>
                  <a:sym typeface="Aileron Ultra-Bold"/>
                </a:rPr>
                <a:t>WAVE'S END SWIMWEAR</a:t>
              </a:r>
            </a:p>
          </p:txBody>
        </p:sp>
      </p:grpSp>
      <p:grpSp>
        <p:nvGrpSpPr>
          <p:cNvPr name="Group 29" id="29"/>
          <p:cNvGrpSpPr/>
          <p:nvPr/>
        </p:nvGrpSpPr>
        <p:grpSpPr>
          <a:xfrm rot="0">
            <a:off x="-4861436" y="1181100"/>
            <a:ext cx="19354610" cy="2258023"/>
            <a:chOff x="0" y="0"/>
            <a:chExt cx="1876002" cy="218865"/>
          </a:xfrm>
        </p:grpSpPr>
        <p:sp>
          <p:nvSpPr>
            <p:cNvPr name="Freeform 30" id="3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1" id="3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2" id="32"/>
          <p:cNvGrpSpPr/>
          <p:nvPr/>
        </p:nvGrpSpPr>
        <p:grpSpPr>
          <a:xfrm rot="0">
            <a:off x="1069260" y="3301379"/>
            <a:ext cx="5689104" cy="275488"/>
            <a:chOff x="0" y="0"/>
            <a:chExt cx="4519796" cy="218865"/>
          </a:xfrm>
        </p:grpSpPr>
        <p:sp>
          <p:nvSpPr>
            <p:cNvPr name="Freeform 33" id="33"/>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34" id="34"/>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35" id="35"/>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36" id="36"/>
          <p:cNvGrpSpPr/>
          <p:nvPr/>
        </p:nvGrpSpPr>
        <p:grpSpPr>
          <a:xfrm rot="0">
            <a:off x="12390350" y="173580"/>
            <a:ext cx="9534019" cy="1112295"/>
            <a:chOff x="0" y="0"/>
            <a:chExt cx="1876002" cy="218865"/>
          </a:xfrm>
        </p:grpSpPr>
        <p:sp>
          <p:nvSpPr>
            <p:cNvPr name="Freeform 37" id="37"/>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8" id="38"/>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9" id="39"/>
          <p:cNvGrpSpPr/>
          <p:nvPr/>
        </p:nvGrpSpPr>
        <p:grpSpPr>
          <a:xfrm rot="0">
            <a:off x="9025136" y="3439123"/>
            <a:ext cx="3086100" cy="6847877"/>
            <a:chOff x="0" y="0"/>
            <a:chExt cx="812800" cy="1803556"/>
          </a:xfrm>
        </p:grpSpPr>
        <p:sp>
          <p:nvSpPr>
            <p:cNvPr name="Freeform 40" id="40"/>
            <p:cNvSpPr/>
            <p:nvPr/>
          </p:nvSpPr>
          <p:spPr>
            <a:xfrm flipH="false" flipV="false" rot="0">
              <a:off x="0" y="0"/>
              <a:ext cx="812800" cy="1803556"/>
            </a:xfrm>
            <a:custGeom>
              <a:avLst/>
              <a:gdLst/>
              <a:ahLst/>
              <a:cxnLst/>
              <a:rect r="r" b="b" t="t" l="l"/>
              <a:pathLst>
                <a:path h="1803556" w="812800">
                  <a:moveTo>
                    <a:pt x="0" y="0"/>
                  </a:moveTo>
                  <a:lnTo>
                    <a:pt x="812800" y="0"/>
                  </a:lnTo>
                  <a:lnTo>
                    <a:pt x="812800" y="1803556"/>
                  </a:lnTo>
                  <a:lnTo>
                    <a:pt x="0" y="1803556"/>
                  </a:lnTo>
                  <a:close/>
                </a:path>
              </a:pathLst>
            </a:custGeom>
            <a:solidFill>
              <a:srgbClr val="000000">
                <a:alpha val="0"/>
              </a:srgbClr>
            </a:solidFill>
            <a:ln w="57150" cap="sq">
              <a:solidFill>
                <a:srgbClr val="37C9EF"/>
              </a:solidFill>
              <a:prstDash val="solid"/>
              <a:miter/>
            </a:ln>
          </p:spPr>
        </p:sp>
        <p:sp>
          <p:nvSpPr>
            <p:cNvPr name="TextBox 41" id="41"/>
            <p:cNvSpPr txBox="true"/>
            <p:nvPr/>
          </p:nvSpPr>
          <p:spPr>
            <a:xfrm>
              <a:off x="0" y="-19050"/>
              <a:ext cx="812800" cy="1822606"/>
            </a:xfrm>
            <a:prstGeom prst="rect">
              <a:avLst/>
            </a:prstGeom>
          </p:spPr>
          <p:txBody>
            <a:bodyPr anchor="ctr" rtlCol="false" tIns="50800" lIns="50800" bIns="50800" rIns="50800"/>
            <a:lstStyle/>
            <a:p>
              <a:pPr algn="ctr">
                <a:lnSpc>
                  <a:spcPts val="2859"/>
                </a:lnSpc>
              </a:pP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5013836" y="1028700"/>
            <a:ext cx="19354610" cy="2258023"/>
            <a:chOff x="0" y="0"/>
            <a:chExt cx="1876002" cy="218865"/>
          </a:xfrm>
        </p:grpSpPr>
        <p:sp>
          <p:nvSpPr>
            <p:cNvPr name="Freeform 4" id="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5" id="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6" id="6"/>
          <p:cNvGrpSpPr/>
          <p:nvPr/>
        </p:nvGrpSpPr>
        <p:grpSpPr>
          <a:xfrm rot="0">
            <a:off x="1368488" y="3843567"/>
            <a:ext cx="736150" cy="636369"/>
            <a:chOff x="0" y="0"/>
            <a:chExt cx="193883" cy="167603"/>
          </a:xfrm>
        </p:grpSpPr>
        <p:sp>
          <p:nvSpPr>
            <p:cNvPr name="Freeform 7" id="7"/>
            <p:cNvSpPr/>
            <p:nvPr/>
          </p:nvSpPr>
          <p:spPr>
            <a:xfrm flipH="false" flipV="false" rot="0">
              <a:off x="0" y="0"/>
              <a:ext cx="193883" cy="167603"/>
            </a:xfrm>
            <a:custGeom>
              <a:avLst/>
              <a:gdLst/>
              <a:ahLst/>
              <a:cxnLst/>
              <a:rect r="r" b="b" t="t" l="l"/>
              <a:pathLst>
                <a:path h="167603" w="193883">
                  <a:moveTo>
                    <a:pt x="83802" y="0"/>
                  </a:moveTo>
                  <a:lnTo>
                    <a:pt x="110081" y="0"/>
                  </a:lnTo>
                  <a:cubicBezTo>
                    <a:pt x="156364" y="0"/>
                    <a:pt x="193883" y="37519"/>
                    <a:pt x="193883" y="83802"/>
                  </a:cubicBezTo>
                  <a:lnTo>
                    <a:pt x="193883" y="83802"/>
                  </a:lnTo>
                  <a:cubicBezTo>
                    <a:pt x="193883" y="130084"/>
                    <a:pt x="156364" y="167603"/>
                    <a:pt x="110081" y="167603"/>
                  </a:cubicBezTo>
                  <a:lnTo>
                    <a:pt x="83802" y="167603"/>
                  </a:lnTo>
                  <a:cubicBezTo>
                    <a:pt x="37519" y="167603"/>
                    <a:pt x="0" y="130084"/>
                    <a:pt x="0" y="83802"/>
                  </a:cubicBezTo>
                  <a:lnTo>
                    <a:pt x="0" y="83802"/>
                  </a:lnTo>
                  <a:cubicBezTo>
                    <a:pt x="0" y="37519"/>
                    <a:pt x="37519" y="0"/>
                    <a:pt x="83802" y="0"/>
                  </a:cubicBezTo>
                  <a:close/>
                </a:path>
              </a:pathLst>
            </a:custGeom>
            <a:solidFill>
              <a:srgbClr val="1A1A1A"/>
            </a:solidFill>
          </p:spPr>
        </p:sp>
        <p:sp>
          <p:nvSpPr>
            <p:cNvPr name="TextBox 8" id="8"/>
            <p:cNvSpPr txBox="true"/>
            <p:nvPr/>
          </p:nvSpPr>
          <p:spPr>
            <a:xfrm>
              <a:off x="0" y="-66675"/>
              <a:ext cx="193883" cy="234278"/>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Montserrat Classic Bold"/>
                  <a:ea typeface="Montserrat Classic Bold"/>
                  <a:cs typeface="Montserrat Classic Bold"/>
                  <a:sym typeface="Montserrat Classic Bold"/>
                </a:rPr>
                <a:t>03</a:t>
              </a:r>
            </a:p>
          </p:txBody>
        </p:sp>
      </p:grpSp>
      <p:sp>
        <p:nvSpPr>
          <p:cNvPr name="TextBox 9" id="9"/>
          <p:cNvSpPr txBox="true"/>
          <p:nvPr/>
        </p:nvSpPr>
        <p:spPr>
          <a:xfrm rot="0">
            <a:off x="2263054" y="3795942"/>
            <a:ext cx="8512571" cy="443627"/>
          </a:xfrm>
          <a:prstGeom prst="rect">
            <a:avLst/>
          </a:prstGeom>
        </p:spPr>
        <p:txBody>
          <a:bodyPr anchor="t" rtlCol="false" tIns="0" lIns="0" bIns="0" rIns="0">
            <a:spAutoFit/>
          </a:bodyPr>
          <a:lstStyle/>
          <a:p>
            <a:pPr algn="l" marL="0" indent="0" lvl="0">
              <a:lnSpc>
                <a:spcPts val="3464"/>
              </a:lnSpc>
              <a:spcBef>
                <a:spcPct val="0"/>
              </a:spcBef>
            </a:pPr>
            <a:r>
              <a:rPr lang="en-US" b="true" sz="2510" spc="246">
                <a:solidFill>
                  <a:srgbClr val="231F20"/>
                </a:solidFill>
                <a:latin typeface="Montserrat Light Bold"/>
                <a:ea typeface="Montserrat Light Bold"/>
                <a:cs typeface="Montserrat Light Bold"/>
                <a:sym typeface="Montserrat Light Bold"/>
              </a:rPr>
              <a:t>Construction et entraînement du modèle</a:t>
            </a:r>
            <a:r>
              <a:rPr lang="en-US" b="true" sz="2510" spc="246">
                <a:solidFill>
                  <a:srgbClr val="231F20"/>
                </a:solidFill>
                <a:latin typeface="Montserrat Light Bold"/>
                <a:ea typeface="Montserrat Light Bold"/>
                <a:cs typeface="Montserrat Light Bold"/>
                <a:sym typeface="Montserrat Light Bold"/>
              </a:rPr>
              <a:t> </a:t>
            </a:r>
          </a:p>
        </p:txBody>
      </p:sp>
      <p:grpSp>
        <p:nvGrpSpPr>
          <p:cNvPr name="Group 10" id="10"/>
          <p:cNvGrpSpPr/>
          <p:nvPr/>
        </p:nvGrpSpPr>
        <p:grpSpPr>
          <a:xfrm rot="0">
            <a:off x="15228235" y="3992038"/>
            <a:ext cx="3314591" cy="3314591"/>
            <a:chOff x="0" y="0"/>
            <a:chExt cx="4872604" cy="4872604"/>
          </a:xfrm>
        </p:grpSpPr>
        <p:sp>
          <p:nvSpPr>
            <p:cNvPr name="Freeform 11" id="11"/>
            <p:cNvSpPr/>
            <p:nvPr/>
          </p:nvSpPr>
          <p:spPr>
            <a:xfrm flipH="false" flipV="false" rot="0">
              <a:off x="0" y="0"/>
              <a:ext cx="4872609" cy="4872609"/>
            </a:xfrm>
            <a:custGeom>
              <a:avLst/>
              <a:gdLst/>
              <a:ahLst/>
              <a:cxnLst/>
              <a:rect r="r" b="b" t="t" l="l"/>
              <a:pathLst>
                <a:path h="4872609" w="4872609">
                  <a:moveTo>
                    <a:pt x="1061593" y="2436241"/>
                  </a:moveTo>
                  <a:cubicBezTo>
                    <a:pt x="1061593" y="1687957"/>
                    <a:pt x="1688084" y="1061466"/>
                    <a:pt x="2436368" y="1061466"/>
                  </a:cubicBezTo>
                  <a:cubicBezTo>
                    <a:pt x="3202051" y="1061466"/>
                    <a:pt x="3811143" y="1687957"/>
                    <a:pt x="3811143" y="2436241"/>
                  </a:cubicBezTo>
                  <a:cubicBezTo>
                    <a:pt x="3811143" y="3201924"/>
                    <a:pt x="3202051" y="3811016"/>
                    <a:pt x="2436368" y="3811016"/>
                  </a:cubicBezTo>
                  <a:cubicBezTo>
                    <a:pt x="2436368" y="4872609"/>
                    <a:pt x="2436368" y="4872609"/>
                    <a:pt x="2436368" y="4872609"/>
                  </a:cubicBezTo>
                  <a:cubicBezTo>
                    <a:pt x="3776345" y="4872609"/>
                    <a:pt x="4872609" y="3776218"/>
                    <a:pt x="4872609" y="2436368"/>
                  </a:cubicBezTo>
                  <a:cubicBezTo>
                    <a:pt x="4872609" y="1096518"/>
                    <a:pt x="3776218" y="0"/>
                    <a:pt x="2436241" y="0"/>
                  </a:cubicBezTo>
                  <a:cubicBezTo>
                    <a:pt x="1096264" y="0"/>
                    <a:pt x="0" y="1096391"/>
                    <a:pt x="0" y="2436241"/>
                  </a:cubicBezTo>
                  <a:lnTo>
                    <a:pt x="1061593" y="2436241"/>
                  </a:lnTo>
                  <a:close/>
                </a:path>
              </a:pathLst>
            </a:custGeom>
            <a:solidFill>
              <a:srgbClr val="000000">
                <a:alpha val="16863"/>
              </a:srgbClr>
            </a:solidFill>
          </p:spPr>
        </p:sp>
      </p:grpSp>
      <p:grpSp>
        <p:nvGrpSpPr>
          <p:cNvPr name="Group 12" id="12"/>
          <p:cNvGrpSpPr/>
          <p:nvPr/>
        </p:nvGrpSpPr>
        <p:grpSpPr>
          <a:xfrm rot="0">
            <a:off x="12635841" y="4015456"/>
            <a:ext cx="3314591" cy="3326378"/>
            <a:chOff x="0" y="0"/>
            <a:chExt cx="4872604" cy="4889931"/>
          </a:xfrm>
        </p:grpSpPr>
        <p:sp>
          <p:nvSpPr>
            <p:cNvPr name="Freeform 13" id="13"/>
            <p:cNvSpPr/>
            <p:nvPr/>
          </p:nvSpPr>
          <p:spPr>
            <a:xfrm flipH="false" flipV="false" rot="0">
              <a:off x="0" y="0"/>
              <a:ext cx="4872609" cy="4889881"/>
            </a:xfrm>
            <a:custGeom>
              <a:avLst/>
              <a:gdLst/>
              <a:ahLst/>
              <a:cxnLst/>
              <a:rect r="r" b="b" t="t" l="l"/>
              <a:pathLst>
                <a:path h="4889881" w="4872609">
                  <a:moveTo>
                    <a:pt x="3811016" y="2453640"/>
                  </a:moveTo>
                  <a:cubicBezTo>
                    <a:pt x="3811016" y="3201924"/>
                    <a:pt x="3201924" y="3828415"/>
                    <a:pt x="2436241" y="3828415"/>
                  </a:cubicBezTo>
                  <a:cubicBezTo>
                    <a:pt x="1687957" y="3828415"/>
                    <a:pt x="1061466" y="3201924"/>
                    <a:pt x="1061466" y="2453640"/>
                  </a:cubicBezTo>
                  <a:cubicBezTo>
                    <a:pt x="1061466" y="1687957"/>
                    <a:pt x="1687957" y="1078865"/>
                    <a:pt x="2436241" y="1078865"/>
                  </a:cubicBezTo>
                  <a:cubicBezTo>
                    <a:pt x="2436241" y="0"/>
                    <a:pt x="2436241" y="0"/>
                    <a:pt x="2436241" y="0"/>
                  </a:cubicBezTo>
                  <a:cubicBezTo>
                    <a:pt x="1096391" y="0"/>
                    <a:pt x="0" y="1096264"/>
                    <a:pt x="0" y="2453640"/>
                  </a:cubicBezTo>
                  <a:cubicBezTo>
                    <a:pt x="0" y="3793617"/>
                    <a:pt x="1096391" y="4889881"/>
                    <a:pt x="2436241" y="4889881"/>
                  </a:cubicBezTo>
                  <a:cubicBezTo>
                    <a:pt x="3776091" y="4889881"/>
                    <a:pt x="4872609" y="3793617"/>
                    <a:pt x="4872609" y="2453640"/>
                  </a:cubicBezTo>
                  <a:lnTo>
                    <a:pt x="3811016" y="2453640"/>
                  </a:lnTo>
                  <a:close/>
                </a:path>
              </a:pathLst>
            </a:custGeom>
            <a:solidFill>
              <a:srgbClr val="000000">
                <a:alpha val="16863"/>
              </a:srgbClr>
            </a:solidFill>
          </p:spPr>
        </p:sp>
      </p:grpSp>
      <p:grpSp>
        <p:nvGrpSpPr>
          <p:cNvPr name="Group 14" id="14"/>
          <p:cNvGrpSpPr/>
          <p:nvPr/>
        </p:nvGrpSpPr>
        <p:grpSpPr>
          <a:xfrm rot="0">
            <a:off x="15203341" y="6585796"/>
            <a:ext cx="3314591" cy="3315573"/>
            <a:chOff x="0" y="0"/>
            <a:chExt cx="4872604" cy="4874047"/>
          </a:xfrm>
        </p:grpSpPr>
        <p:sp>
          <p:nvSpPr>
            <p:cNvPr name="Freeform 15" id="15"/>
            <p:cNvSpPr/>
            <p:nvPr/>
          </p:nvSpPr>
          <p:spPr>
            <a:xfrm flipH="false" flipV="false" rot="0">
              <a:off x="0" y="0"/>
              <a:ext cx="4872482" cy="4874006"/>
            </a:xfrm>
            <a:custGeom>
              <a:avLst/>
              <a:gdLst/>
              <a:ahLst/>
              <a:cxnLst/>
              <a:rect r="r" b="b" t="t" l="l"/>
              <a:pathLst>
                <a:path h="4874006" w="4872482">
                  <a:moveTo>
                    <a:pt x="3811016" y="2437003"/>
                  </a:moveTo>
                  <a:cubicBezTo>
                    <a:pt x="3811016" y="3202940"/>
                    <a:pt x="3201924" y="3812159"/>
                    <a:pt x="2436241" y="3812159"/>
                  </a:cubicBezTo>
                  <a:cubicBezTo>
                    <a:pt x="1687957" y="3812159"/>
                    <a:pt x="1061466" y="3202940"/>
                    <a:pt x="1061466" y="2437003"/>
                  </a:cubicBezTo>
                  <a:cubicBezTo>
                    <a:pt x="1061466" y="1688465"/>
                    <a:pt x="1687957" y="1061847"/>
                    <a:pt x="2436241" y="1061847"/>
                  </a:cubicBezTo>
                  <a:cubicBezTo>
                    <a:pt x="2436241" y="0"/>
                    <a:pt x="2436241" y="0"/>
                    <a:pt x="2436241" y="0"/>
                  </a:cubicBezTo>
                  <a:cubicBezTo>
                    <a:pt x="1096391" y="0"/>
                    <a:pt x="0" y="1096645"/>
                    <a:pt x="0" y="2437003"/>
                  </a:cubicBezTo>
                  <a:cubicBezTo>
                    <a:pt x="0" y="3777361"/>
                    <a:pt x="1096391" y="4874006"/>
                    <a:pt x="2436241" y="4874006"/>
                  </a:cubicBezTo>
                  <a:cubicBezTo>
                    <a:pt x="3776091" y="4874006"/>
                    <a:pt x="4872482" y="3777361"/>
                    <a:pt x="4872482" y="2437003"/>
                  </a:cubicBezTo>
                  <a:lnTo>
                    <a:pt x="3811016" y="2437003"/>
                  </a:lnTo>
                  <a:close/>
                </a:path>
              </a:pathLst>
            </a:custGeom>
            <a:solidFill>
              <a:srgbClr val="000000">
                <a:alpha val="16863"/>
              </a:srgbClr>
            </a:solidFill>
          </p:spPr>
        </p:sp>
      </p:grpSp>
      <p:grpSp>
        <p:nvGrpSpPr>
          <p:cNvPr name="Group 16" id="16"/>
          <p:cNvGrpSpPr/>
          <p:nvPr/>
        </p:nvGrpSpPr>
        <p:grpSpPr>
          <a:xfrm rot="0">
            <a:off x="13532930" y="4866012"/>
            <a:ext cx="1520413" cy="152041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070"/>
            </a:solidFill>
          </p:spPr>
        </p:sp>
        <p:sp>
          <p:nvSpPr>
            <p:cNvPr name="TextBox 18" id="18"/>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grpSp>
        <p:nvGrpSpPr>
          <p:cNvPr name="Group 19" id="19"/>
          <p:cNvGrpSpPr/>
          <p:nvPr/>
        </p:nvGrpSpPr>
        <p:grpSpPr>
          <a:xfrm rot="0">
            <a:off x="16124293" y="7493013"/>
            <a:ext cx="1522475" cy="152247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070"/>
            </a:solidFill>
          </p:spPr>
        </p:sp>
        <p:sp>
          <p:nvSpPr>
            <p:cNvPr name="TextBox 21" id="21"/>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grpSp>
        <p:nvGrpSpPr>
          <p:cNvPr name="Group 22" id="22"/>
          <p:cNvGrpSpPr/>
          <p:nvPr/>
        </p:nvGrpSpPr>
        <p:grpSpPr>
          <a:xfrm rot="0">
            <a:off x="16102209" y="4866012"/>
            <a:ext cx="1566642" cy="156664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070"/>
            </a:solidFill>
          </p:spPr>
        </p:sp>
        <p:sp>
          <p:nvSpPr>
            <p:cNvPr name="TextBox 24" id="24"/>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Freeform 25" id="25"/>
          <p:cNvSpPr/>
          <p:nvPr/>
        </p:nvSpPr>
        <p:spPr>
          <a:xfrm flipH="false" flipV="false" rot="0">
            <a:off x="13790010" y="5145961"/>
            <a:ext cx="1006253" cy="960515"/>
          </a:xfrm>
          <a:custGeom>
            <a:avLst/>
            <a:gdLst/>
            <a:ahLst/>
            <a:cxnLst/>
            <a:rect r="r" b="b" t="t" l="l"/>
            <a:pathLst>
              <a:path h="960515" w="1006253">
                <a:moveTo>
                  <a:pt x="0" y="0"/>
                </a:moveTo>
                <a:lnTo>
                  <a:pt x="1006253" y="0"/>
                </a:lnTo>
                <a:lnTo>
                  <a:pt x="1006253" y="960515"/>
                </a:lnTo>
                <a:lnTo>
                  <a:pt x="0" y="9605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16434075" y="5154473"/>
            <a:ext cx="902910" cy="916237"/>
          </a:xfrm>
          <a:custGeom>
            <a:avLst/>
            <a:gdLst/>
            <a:ahLst/>
            <a:cxnLst/>
            <a:rect r="r" b="b" t="t" l="l"/>
            <a:pathLst>
              <a:path h="916237" w="902910">
                <a:moveTo>
                  <a:pt x="0" y="0"/>
                </a:moveTo>
                <a:lnTo>
                  <a:pt x="902910" y="0"/>
                </a:lnTo>
                <a:lnTo>
                  <a:pt x="902910" y="916237"/>
                </a:lnTo>
                <a:lnTo>
                  <a:pt x="0" y="9162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7" id="27"/>
          <p:cNvSpPr txBox="true"/>
          <p:nvPr/>
        </p:nvSpPr>
        <p:spPr>
          <a:xfrm rot="0">
            <a:off x="1368488" y="14526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grpSp>
        <p:nvGrpSpPr>
          <p:cNvPr name="Group 28" id="28"/>
          <p:cNvGrpSpPr/>
          <p:nvPr/>
        </p:nvGrpSpPr>
        <p:grpSpPr>
          <a:xfrm rot="0">
            <a:off x="916860" y="3148979"/>
            <a:ext cx="5689104" cy="275488"/>
            <a:chOff x="0" y="0"/>
            <a:chExt cx="4519796" cy="218865"/>
          </a:xfrm>
        </p:grpSpPr>
        <p:sp>
          <p:nvSpPr>
            <p:cNvPr name="Freeform 29" id="29"/>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30" id="30"/>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1" id="31"/>
          <p:cNvGrpSpPr/>
          <p:nvPr/>
        </p:nvGrpSpPr>
        <p:grpSpPr>
          <a:xfrm rot="0">
            <a:off x="12085550" y="-131220"/>
            <a:ext cx="9534019" cy="1112295"/>
            <a:chOff x="0" y="0"/>
            <a:chExt cx="1876002" cy="218865"/>
          </a:xfrm>
        </p:grpSpPr>
        <p:sp>
          <p:nvSpPr>
            <p:cNvPr name="Freeform 32" id="32"/>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3" id="33"/>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34" id="34"/>
          <p:cNvSpPr/>
          <p:nvPr/>
        </p:nvSpPr>
        <p:spPr>
          <a:xfrm>
            <a:off x="-715490" y="962025"/>
            <a:ext cx="12921291" cy="0"/>
          </a:xfrm>
          <a:prstGeom prst="line">
            <a:avLst/>
          </a:prstGeom>
          <a:ln cap="flat" w="38100">
            <a:solidFill>
              <a:srgbClr val="000000"/>
            </a:solidFill>
            <a:prstDash val="solid"/>
            <a:headEnd type="none" len="sm" w="sm"/>
            <a:tailEnd type="none" len="sm" w="sm"/>
          </a:ln>
        </p:spPr>
      </p:sp>
      <p:sp>
        <p:nvSpPr>
          <p:cNvPr name="Freeform 35" id="35"/>
          <p:cNvSpPr/>
          <p:nvPr/>
        </p:nvSpPr>
        <p:spPr>
          <a:xfrm flipH="false" flipV="false" rot="0">
            <a:off x="16434075" y="7781303"/>
            <a:ext cx="902910" cy="902910"/>
          </a:xfrm>
          <a:custGeom>
            <a:avLst/>
            <a:gdLst/>
            <a:ahLst/>
            <a:cxnLst/>
            <a:rect r="r" b="b" t="t" l="l"/>
            <a:pathLst>
              <a:path h="902910" w="902910">
                <a:moveTo>
                  <a:pt x="0" y="0"/>
                </a:moveTo>
                <a:lnTo>
                  <a:pt x="902910" y="0"/>
                </a:lnTo>
                <a:lnTo>
                  <a:pt x="902910" y="902910"/>
                </a:lnTo>
                <a:lnTo>
                  <a:pt x="0" y="9029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6" id="36"/>
          <p:cNvGrpSpPr/>
          <p:nvPr/>
        </p:nvGrpSpPr>
        <p:grpSpPr>
          <a:xfrm rot="0">
            <a:off x="12237950" y="21180"/>
            <a:ext cx="9534019" cy="1112295"/>
            <a:chOff x="0" y="0"/>
            <a:chExt cx="1876002" cy="218865"/>
          </a:xfrm>
        </p:grpSpPr>
        <p:sp>
          <p:nvSpPr>
            <p:cNvPr name="Freeform 37" id="37"/>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8" id="38"/>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39" id="39"/>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TextBox 40" id="40"/>
          <p:cNvSpPr txBox="true"/>
          <p:nvPr/>
        </p:nvSpPr>
        <p:spPr>
          <a:xfrm rot="0">
            <a:off x="533089" y="4902946"/>
            <a:ext cx="11707587" cy="4355354"/>
          </a:xfrm>
          <a:prstGeom prst="rect">
            <a:avLst/>
          </a:prstGeom>
        </p:spPr>
        <p:txBody>
          <a:bodyPr anchor="t" rtlCol="false" tIns="0" lIns="0" bIns="0" rIns="0">
            <a:spAutoFit/>
          </a:bodyPr>
          <a:lstStyle/>
          <a:p>
            <a:pPr algn="l" marL="606765" indent="-303383" lvl="1">
              <a:lnSpc>
                <a:spcPts val="3878"/>
              </a:lnSpc>
              <a:buFont typeface="Arial"/>
              <a:buChar char="•"/>
            </a:pPr>
            <a:r>
              <a:rPr lang="en-US" sz="2810" spc="275">
                <a:solidFill>
                  <a:srgbClr val="000000"/>
                </a:solidFill>
                <a:latin typeface="Montserrat Light"/>
                <a:ea typeface="Montserrat Light"/>
                <a:cs typeface="Montserrat Light"/>
                <a:sym typeface="Montserrat Light"/>
              </a:rPr>
              <a:t>Elle implique </a:t>
            </a:r>
            <a:r>
              <a:rPr lang="en-US" sz="2810" spc="275">
                <a:solidFill>
                  <a:srgbClr val="000000"/>
                </a:solidFill>
                <a:latin typeface="Montserrat Light"/>
                <a:ea typeface="Montserrat Light"/>
                <a:cs typeface="Montserrat Light"/>
                <a:sym typeface="Montserrat Light"/>
              </a:rPr>
              <a:t>la création du modèle,</a:t>
            </a:r>
          </a:p>
          <a:p>
            <a:pPr algn="l">
              <a:lnSpc>
                <a:spcPts val="3878"/>
              </a:lnSpc>
            </a:pPr>
          </a:p>
          <a:p>
            <a:pPr algn="l" marL="606765" indent="-303383" lvl="1">
              <a:lnSpc>
                <a:spcPts val="3878"/>
              </a:lnSpc>
              <a:buFont typeface="Arial"/>
              <a:buChar char="•"/>
            </a:pPr>
            <a:r>
              <a:rPr lang="en-US" sz="2810" spc="275">
                <a:solidFill>
                  <a:srgbClr val="000000"/>
                </a:solidFill>
                <a:latin typeface="Montserrat Light"/>
                <a:ea typeface="Montserrat Light"/>
                <a:cs typeface="Montserrat Light"/>
                <a:sym typeface="Montserrat Light"/>
              </a:rPr>
              <a:t>I</a:t>
            </a:r>
            <a:r>
              <a:rPr lang="en-US" sz="2810" spc="275">
                <a:solidFill>
                  <a:srgbClr val="000000"/>
                </a:solidFill>
                <a:latin typeface="Montserrat Light"/>
                <a:ea typeface="Montserrat Light"/>
                <a:cs typeface="Montserrat Light"/>
                <a:sym typeface="Montserrat Light"/>
              </a:rPr>
              <a:t>l existe différentes approches:</a:t>
            </a:r>
          </a:p>
          <a:p>
            <a:pPr algn="l">
              <a:lnSpc>
                <a:spcPts val="3878"/>
              </a:lnSpc>
            </a:pPr>
          </a:p>
          <a:p>
            <a:pPr algn="l">
              <a:lnSpc>
                <a:spcPts val="3878"/>
              </a:lnSpc>
            </a:pPr>
            <a:r>
              <a:rPr lang="en-US" sz="2810" spc="275">
                <a:solidFill>
                  <a:srgbClr val="000000"/>
                </a:solidFill>
                <a:latin typeface="Montserrat Light"/>
                <a:ea typeface="Montserrat Light"/>
                <a:cs typeface="Montserrat Light"/>
                <a:sym typeface="Montserrat Light"/>
              </a:rPr>
              <a:t>*des modèles classiques de machine learning(par exemple Naive Bayes, SVM...)</a:t>
            </a:r>
          </a:p>
          <a:p>
            <a:pPr algn="l">
              <a:lnSpc>
                <a:spcPts val="3878"/>
              </a:lnSpc>
            </a:pPr>
          </a:p>
          <a:p>
            <a:pPr algn="l" marL="0" indent="0" lvl="0">
              <a:lnSpc>
                <a:spcPts val="3878"/>
              </a:lnSpc>
              <a:spcBef>
                <a:spcPct val="0"/>
              </a:spcBef>
            </a:pPr>
            <a:r>
              <a:rPr lang="en-US" sz="2810" spc="275">
                <a:solidFill>
                  <a:srgbClr val="000000"/>
                </a:solidFill>
                <a:latin typeface="Montserrat Light"/>
                <a:ea typeface="Montserrat Light"/>
                <a:cs typeface="Montserrat Light"/>
                <a:sym typeface="Montserrat Light"/>
              </a:rPr>
              <a:t> *des architectures avancées de deep learning(par exemple RNN, LSTM, GRU,..)</a:t>
            </a:r>
          </a:p>
        </p:txBody>
      </p:sp>
      <p:sp>
        <p:nvSpPr>
          <p:cNvPr name="TextBox 41" id="41"/>
          <p:cNvSpPr txBox="true"/>
          <p:nvPr/>
        </p:nvSpPr>
        <p:spPr>
          <a:xfrm rot="0">
            <a:off x="17646768" y="9755862"/>
            <a:ext cx="602056"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11</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5013836" y="1028700"/>
            <a:ext cx="19354610" cy="2258023"/>
            <a:chOff x="0" y="0"/>
            <a:chExt cx="1876002" cy="218865"/>
          </a:xfrm>
        </p:grpSpPr>
        <p:sp>
          <p:nvSpPr>
            <p:cNvPr name="Freeform 4" id="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5" id="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6" id="6"/>
          <p:cNvGrpSpPr/>
          <p:nvPr/>
        </p:nvGrpSpPr>
        <p:grpSpPr>
          <a:xfrm rot="0">
            <a:off x="916860" y="3148979"/>
            <a:ext cx="5689104" cy="275488"/>
            <a:chOff x="0" y="0"/>
            <a:chExt cx="4519796" cy="218865"/>
          </a:xfrm>
        </p:grpSpPr>
        <p:sp>
          <p:nvSpPr>
            <p:cNvPr name="Freeform 7" id="7"/>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8" id="8"/>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9" id="9"/>
          <p:cNvGrpSpPr/>
          <p:nvPr/>
        </p:nvGrpSpPr>
        <p:grpSpPr>
          <a:xfrm rot="0">
            <a:off x="12085550" y="-131220"/>
            <a:ext cx="9534019" cy="1112295"/>
            <a:chOff x="0" y="0"/>
            <a:chExt cx="1876002" cy="218865"/>
          </a:xfrm>
        </p:grpSpPr>
        <p:sp>
          <p:nvSpPr>
            <p:cNvPr name="Freeform 10" id="1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1" id="1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2" id="12"/>
          <p:cNvSpPr/>
          <p:nvPr/>
        </p:nvSpPr>
        <p:spPr>
          <a:xfrm>
            <a:off x="-715490" y="962025"/>
            <a:ext cx="12921291" cy="0"/>
          </a:xfrm>
          <a:prstGeom prst="line">
            <a:avLst/>
          </a:prstGeom>
          <a:ln cap="flat" w="38100">
            <a:solidFill>
              <a:srgbClr val="000000"/>
            </a:solidFill>
            <a:prstDash val="solid"/>
            <a:headEnd type="none" len="sm" w="sm"/>
            <a:tailEnd type="none" len="sm" w="sm"/>
          </a:ln>
        </p:spPr>
      </p:sp>
      <p:grpSp>
        <p:nvGrpSpPr>
          <p:cNvPr name="Group 13" id="13"/>
          <p:cNvGrpSpPr/>
          <p:nvPr/>
        </p:nvGrpSpPr>
        <p:grpSpPr>
          <a:xfrm rot="0">
            <a:off x="12237950" y="21180"/>
            <a:ext cx="9534019" cy="1112295"/>
            <a:chOff x="0" y="0"/>
            <a:chExt cx="1876002" cy="218865"/>
          </a:xfrm>
        </p:grpSpPr>
        <p:sp>
          <p:nvSpPr>
            <p:cNvPr name="Freeform 14" id="1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5" id="1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6" id="16"/>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Freeform 17" id="17"/>
          <p:cNvSpPr/>
          <p:nvPr/>
        </p:nvSpPr>
        <p:spPr>
          <a:xfrm flipH="false" flipV="false" rot="0">
            <a:off x="2583877" y="4381039"/>
            <a:ext cx="11550896" cy="4343104"/>
          </a:xfrm>
          <a:custGeom>
            <a:avLst/>
            <a:gdLst/>
            <a:ahLst/>
            <a:cxnLst/>
            <a:rect r="r" b="b" t="t" l="l"/>
            <a:pathLst>
              <a:path h="4343104" w="11550896">
                <a:moveTo>
                  <a:pt x="0" y="0"/>
                </a:moveTo>
                <a:lnTo>
                  <a:pt x="11550896" y="0"/>
                </a:lnTo>
                <a:lnTo>
                  <a:pt x="11550896" y="4343104"/>
                </a:lnTo>
                <a:lnTo>
                  <a:pt x="0" y="4343104"/>
                </a:lnTo>
                <a:lnTo>
                  <a:pt x="0" y="0"/>
                </a:lnTo>
                <a:close/>
              </a:path>
            </a:pathLst>
          </a:custGeom>
          <a:blipFill>
            <a:blip r:embed="rId3"/>
            <a:stretch>
              <a:fillRect l="-257" t="0" r="-257" b="0"/>
            </a:stretch>
          </a:blipFill>
        </p:spPr>
      </p:sp>
      <p:sp>
        <p:nvSpPr>
          <p:cNvPr name="TextBox 18" id="18"/>
          <p:cNvSpPr txBox="true"/>
          <p:nvPr/>
        </p:nvSpPr>
        <p:spPr>
          <a:xfrm rot="0">
            <a:off x="1368488" y="14526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sp>
        <p:nvSpPr>
          <p:cNvPr name="TextBox 19" id="19"/>
          <p:cNvSpPr txBox="true"/>
          <p:nvPr/>
        </p:nvSpPr>
        <p:spPr>
          <a:xfrm rot="0">
            <a:off x="706472" y="3948342"/>
            <a:ext cx="15373743" cy="817769"/>
          </a:xfrm>
          <a:prstGeom prst="rect">
            <a:avLst/>
          </a:prstGeom>
        </p:spPr>
        <p:txBody>
          <a:bodyPr anchor="t" rtlCol="false" tIns="0" lIns="0" bIns="0" rIns="0">
            <a:spAutoFit/>
          </a:bodyPr>
          <a:lstStyle/>
          <a:p>
            <a:pPr algn="l">
              <a:lnSpc>
                <a:spcPts val="3602"/>
              </a:lnSpc>
            </a:pPr>
            <a:r>
              <a:rPr lang="en-US" sz="2610" spc="255" b="true">
                <a:solidFill>
                  <a:srgbClr val="231F20"/>
                </a:solidFill>
                <a:latin typeface="Montserrat Light Bold"/>
                <a:ea typeface="Montserrat Light Bold"/>
                <a:cs typeface="Montserrat Light Bold"/>
                <a:sym typeface="Montserrat Light Bold"/>
              </a:rPr>
              <a:t>Classificateur de machines à vecteurs de support (SVM) </a:t>
            </a:r>
          </a:p>
          <a:p>
            <a:pPr algn="l" marL="0" indent="0" lvl="0">
              <a:lnSpc>
                <a:spcPts val="2774"/>
              </a:lnSpc>
              <a:spcBef>
                <a:spcPct val="0"/>
              </a:spcBef>
            </a:pPr>
          </a:p>
        </p:txBody>
      </p:sp>
      <p:sp>
        <p:nvSpPr>
          <p:cNvPr name="TextBox 20" id="20"/>
          <p:cNvSpPr txBox="true"/>
          <p:nvPr/>
        </p:nvSpPr>
        <p:spPr>
          <a:xfrm rot="0">
            <a:off x="706472" y="8094852"/>
            <a:ext cx="16618484" cy="1973206"/>
          </a:xfrm>
          <a:prstGeom prst="rect">
            <a:avLst/>
          </a:prstGeom>
        </p:spPr>
        <p:txBody>
          <a:bodyPr anchor="t" rtlCol="false" tIns="0" lIns="0" bIns="0" rIns="0">
            <a:spAutoFit/>
          </a:bodyPr>
          <a:lstStyle/>
          <a:p>
            <a:pPr algn="l">
              <a:lnSpc>
                <a:spcPts val="3932"/>
              </a:lnSpc>
            </a:pPr>
          </a:p>
          <a:p>
            <a:pPr algn="l">
              <a:lnSpc>
                <a:spcPts val="3932"/>
              </a:lnSpc>
            </a:pPr>
          </a:p>
          <a:p>
            <a:pPr algn="l" marL="615252" indent="-307626" lvl="1">
              <a:lnSpc>
                <a:spcPts val="3932"/>
              </a:lnSpc>
              <a:buFont typeface="Arial"/>
              <a:buChar char="•"/>
            </a:pPr>
            <a:r>
              <a:rPr lang="en-US" sz="2849" spc="279">
                <a:solidFill>
                  <a:srgbClr val="231F20"/>
                </a:solidFill>
                <a:latin typeface="Montserrat Light"/>
                <a:ea typeface="Montserrat Light"/>
                <a:cs typeface="Montserrat Light"/>
                <a:sym typeface="Montserrat Light"/>
              </a:rPr>
              <a:t> L’objectif: déterminer dans l’espace de recherche des séparateurs appelés hyperplans, qui peuvent séparer au mieux les différentes classes. </a:t>
            </a:r>
          </a:p>
        </p:txBody>
      </p:sp>
      <p:sp>
        <p:nvSpPr>
          <p:cNvPr name="TextBox 21" id="21"/>
          <p:cNvSpPr txBox="true"/>
          <p:nvPr/>
        </p:nvSpPr>
        <p:spPr>
          <a:xfrm rot="0">
            <a:off x="17685944" y="9801491"/>
            <a:ext cx="602056"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12</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2F4F5"/>
        </a:solidFill>
      </p:bgPr>
    </p:bg>
    <p:spTree>
      <p:nvGrpSpPr>
        <p:cNvPr id="1" name=""/>
        <p:cNvGrpSpPr/>
        <p:nvPr/>
      </p:nvGrpSpPr>
      <p:grpSpPr>
        <a:xfrm>
          <a:off x="0" y="0"/>
          <a:ext cx="0" cy="0"/>
          <a:chOff x="0" y="0"/>
          <a:chExt cx="0" cy="0"/>
        </a:xfrm>
      </p:grpSpPr>
      <p:grpSp>
        <p:nvGrpSpPr>
          <p:cNvPr name="Group 2" id="2"/>
          <p:cNvGrpSpPr/>
          <p:nvPr/>
        </p:nvGrpSpPr>
        <p:grpSpPr>
          <a:xfrm rot="0">
            <a:off x="-5013836" y="1028700"/>
            <a:ext cx="19354610" cy="2258023"/>
            <a:chOff x="0" y="0"/>
            <a:chExt cx="1876002" cy="218865"/>
          </a:xfrm>
        </p:grpSpPr>
        <p:sp>
          <p:nvSpPr>
            <p:cNvPr name="Freeform 3" id="3"/>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4" id="4"/>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5" id="5"/>
          <p:cNvSpPr txBox="true"/>
          <p:nvPr/>
        </p:nvSpPr>
        <p:spPr>
          <a:xfrm rot="0">
            <a:off x="1368488" y="14526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grpSp>
        <p:nvGrpSpPr>
          <p:cNvPr name="Group 6" id="6"/>
          <p:cNvGrpSpPr/>
          <p:nvPr/>
        </p:nvGrpSpPr>
        <p:grpSpPr>
          <a:xfrm rot="0">
            <a:off x="916860" y="3148979"/>
            <a:ext cx="5689104" cy="275488"/>
            <a:chOff x="0" y="0"/>
            <a:chExt cx="4519796" cy="218865"/>
          </a:xfrm>
        </p:grpSpPr>
        <p:sp>
          <p:nvSpPr>
            <p:cNvPr name="Freeform 7" id="7"/>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8" id="8"/>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9" id="9"/>
          <p:cNvGrpSpPr/>
          <p:nvPr/>
        </p:nvGrpSpPr>
        <p:grpSpPr>
          <a:xfrm rot="0">
            <a:off x="12085550" y="-131220"/>
            <a:ext cx="9534019" cy="1112295"/>
            <a:chOff x="0" y="0"/>
            <a:chExt cx="1876002" cy="218865"/>
          </a:xfrm>
        </p:grpSpPr>
        <p:sp>
          <p:nvSpPr>
            <p:cNvPr name="Freeform 10" id="1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1" id="1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2" id="12"/>
          <p:cNvSpPr/>
          <p:nvPr/>
        </p:nvSpPr>
        <p:spPr>
          <a:xfrm>
            <a:off x="-715490" y="962025"/>
            <a:ext cx="12921291" cy="0"/>
          </a:xfrm>
          <a:prstGeom prst="line">
            <a:avLst/>
          </a:prstGeom>
          <a:ln cap="flat" w="38100">
            <a:solidFill>
              <a:srgbClr val="000000"/>
            </a:solidFill>
            <a:prstDash val="solid"/>
            <a:headEnd type="none" len="sm" w="sm"/>
            <a:tailEnd type="none" len="sm" w="sm"/>
          </a:ln>
        </p:spPr>
      </p:sp>
      <p:grpSp>
        <p:nvGrpSpPr>
          <p:cNvPr name="Group 13" id="13"/>
          <p:cNvGrpSpPr/>
          <p:nvPr/>
        </p:nvGrpSpPr>
        <p:grpSpPr>
          <a:xfrm rot="0">
            <a:off x="12237950" y="21180"/>
            <a:ext cx="9534019" cy="1112295"/>
            <a:chOff x="0" y="0"/>
            <a:chExt cx="1876002" cy="218865"/>
          </a:xfrm>
        </p:grpSpPr>
        <p:sp>
          <p:nvSpPr>
            <p:cNvPr name="Freeform 14" id="1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5" id="1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6" id="16"/>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TextBox 17" id="17"/>
          <p:cNvSpPr txBox="true"/>
          <p:nvPr/>
        </p:nvSpPr>
        <p:spPr>
          <a:xfrm rot="0">
            <a:off x="3396574" y="3795942"/>
            <a:ext cx="15373743" cy="443627"/>
          </a:xfrm>
          <a:prstGeom prst="rect">
            <a:avLst/>
          </a:prstGeom>
        </p:spPr>
        <p:txBody>
          <a:bodyPr anchor="t" rtlCol="false" tIns="0" lIns="0" bIns="0" rIns="0">
            <a:spAutoFit/>
          </a:bodyPr>
          <a:lstStyle/>
          <a:p>
            <a:pPr algn="l" marL="0" indent="0" lvl="0">
              <a:lnSpc>
                <a:spcPts val="3464"/>
              </a:lnSpc>
              <a:spcBef>
                <a:spcPct val="0"/>
              </a:spcBef>
            </a:pPr>
            <a:r>
              <a:rPr lang="en-US" b="true" sz="2510" spc="246">
                <a:solidFill>
                  <a:srgbClr val="231F20"/>
                </a:solidFill>
                <a:latin typeface="Montserrat Light Bold"/>
                <a:ea typeface="Montserrat Light Bold"/>
                <a:cs typeface="Montserrat Light Bold"/>
                <a:sym typeface="Montserrat Light Bold"/>
              </a:rPr>
              <a:t>RNN (Recurrent Neural Networks) </a:t>
            </a:r>
          </a:p>
        </p:txBody>
      </p:sp>
      <p:sp>
        <p:nvSpPr>
          <p:cNvPr name="TextBox 18" id="18"/>
          <p:cNvSpPr txBox="true"/>
          <p:nvPr/>
        </p:nvSpPr>
        <p:spPr>
          <a:xfrm rot="0">
            <a:off x="2353164" y="5480165"/>
            <a:ext cx="13600722" cy="3080909"/>
          </a:xfrm>
          <a:prstGeom prst="rect">
            <a:avLst/>
          </a:prstGeom>
        </p:spPr>
        <p:txBody>
          <a:bodyPr anchor="t" rtlCol="false" tIns="0" lIns="0" bIns="0" rIns="0">
            <a:spAutoFit/>
          </a:bodyPr>
          <a:lstStyle/>
          <a:p>
            <a:pPr algn="l" marL="563586" indent="-281793" lvl="1">
              <a:lnSpc>
                <a:spcPts val="3602"/>
              </a:lnSpc>
              <a:buFont typeface="Arial"/>
              <a:buChar char="•"/>
            </a:pPr>
            <a:r>
              <a:rPr lang="en-US" sz="2610" spc="255">
                <a:solidFill>
                  <a:srgbClr val="231F20"/>
                </a:solidFill>
                <a:latin typeface="Montserrat Light"/>
                <a:ea typeface="Montserrat Light"/>
                <a:cs typeface="Montserrat Light"/>
                <a:sym typeface="Montserrat Light"/>
              </a:rPr>
              <a:t> Les RNNs sont également compétents pour comprendre efficacement la structure des phrases. </a:t>
            </a:r>
          </a:p>
          <a:p>
            <a:pPr algn="l">
              <a:lnSpc>
                <a:spcPts val="3602"/>
              </a:lnSpc>
            </a:pPr>
          </a:p>
          <a:p>
            <a:pPr algn="l" marL="563586" indent="-281793" lvl="1">
              <a:lnSpc>
                <a:spcPts val="3602"/>
              </a:lnSpc>
              <a:buFont typeface="Arial"/>
              <a:buChar char="•"/>
            </a:pPr>
            <a:r>
              <a:rPr lang="en-US" sz="2610" spc="255">
                <a:solidFill>
                  <a:srgbClr val="231F20"/>
                </a:solidFill>
                <a:latin typeface="Montserrat Light"/>
                <a:ea typeface="Montserrat Light"/>
                <a:cs typeface="Montserrat Light"/>
                <a:sym typeface="Montserrat Light"/>
              </a:rPr>
              <a:t> Ils sont le meilleur choix pour des tâches telles que l’analyse de sentiments. </a:t>
            </a:r>
          </a:p>
          <a:p>
            <a:pPr algn="l">
              <a:lnSpc>
                <a:spcPts val="3602"/>
              </a:lnSpc>
            </a:pPr>
          </a:p>
          <a:p>
            <a:pPr algn="l" marL="0" indent="0" lvl="0">
              <a:lnSpc>
                <a:spcPts val="2774"/>
              </a:lnSpc>
              <a:spcBef>
                <a:spcPct val="0"/>
              </a:spcBef>
            </a:pPr>
          </a:p>
        </p:txBody>
      </p:sp>
      <p:sp>
        <p:nvSpPr>
          <p:cNvPr name="TextBox 19" id="19"/>
          <p:cNvSpPr txBox="true"/>
          <p:nvPr/>
        </p:nvSpPr>
        <p:spPr>
          <a:xfrm rot="0">
            <a:off x="17685944" y="9801491"/>
            <a:ext cx="602056"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13</a:t>
            </a:r>
          </a:p>
        </p:txBody>
      </p:sp>
      <p:sp>
        <p:nvSpPr>
          <p:cNvPr name="TextBox 20" id="20"/>
          <p:cNvSpPr txBox="true"/>
          <p:nvPr/>
        </p:nvSpPr>
        <p:spPr>
          <a:xfrm rot="0">
            <a:off x="2343639" y="8139807"/>
            <a:ext cx="13600722" cy="1709309"/>
          </a:xfrm>
          <a:prstGeom prst="rect">
            <a:avLst/>
          </a:prstGeom>
        </p:spPr>
        <p:txBody>
          <a:bodyPr anchor="t" rtlCol="false" tIns="0" lIns="0" bIns="0" rIns="0">
            <a:spAutoFit/>
          </a:bodyPr>
          <a:lstStyle/>
          <a:p>
            <a:pPr algn="l">
              <a:lnSpc>
                <a:spcPts val="3602"/>
              </a:lnSpc>
            </a:pPr>
          </a:p>
          <a:p>
            <a:pPr algn="l" marL="563586" indent="-281793" lvl="1">
              <a:lnSpc>
                <a:spcPts val="3602"/>
              </a:lnSpc>
              <a:buFont typeface="Arial"/>
              <a:buChar char="•"/>
            </a:pPr>
            <a:r>
              <a:rPr lang="en-US" sz="2610" spc="255">
                <a:solidFill>
                  <a:srgbClr val="231F20"/>
                </a:solidFill>
                <a:latin typeface="Montserrat Light"/>
                <a:ea typeface="Montserrat Light"/>
                <a:cs typeface="Montserrat Light"/>
                <a:sym typeface="Montserrat Light"/>
              </a:rPr>
              <a:t>Conserver les calculs passés pour traiter les éléments suivants d'une séquence.</a:t>
            </a:r>
          </a:p>
          <a:p>
            <a:pPr algn="l">
              <a:lnSpc>
                <a:spcPts val="2774"/>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grpSp>
        <p:nvGrpSpPr>
          <p:cNvPr name="Group 2" id="2"/>
          <p:cNvGrpSpPr/>
          <p:nvPr/>
        </p:nvGrpSpPr>
        <p:grpSpPr>
          <a:xfrm rot="0">
            <a:off x="-5013836" y="1028700"/>
            <a:ext cx="19354610" cy="2395767"/>
            <a:chOff x="0" y="0"/>
            <a:chExt cx="1876002" cy="232217"/>
          </a:xfrm>
        </p:grpSpPr>
        <p:sp>
          <p:nvSpPr>
            <p:cNvPr name="Freeform 3" id="3"/>
            <p:cNvSpPr/>
            <p:nvPr/>
          </p:nvSpPr>
          <p:spPr>
            <a:xfrm flipH="false" flipV="false" rot="0">
              <a:off x="0" y="0"/>
              <a:ext cx="1876002" cy="232217"/>
            </a:xfrm>
            <a:custGeom>
              <a:avLst/>
              <a:gdLst/>
              <a:ahLst/>
              <a:cxnLst/>
              <a:rect r="r" b="b" t="t" l="l"/>
              <a:pathLst>
                <a:path h="232217" w="1876002">
                  <a:moveTo>
                    <a:pt x="1672802" y="0"/>
                  </a:moveTo>
                  <a:lnTo>
                    <a:pt x="0" y="0"/>
                  </a:lnTo>
                  <a:lnTo>
                    <a:pt x="203200" y="232217"/>
                  </a:lnTo>
                  <a:lnTo>
                    <a:pt x="1876002" y="232217"/>
                  </a:lnTo>
                  <a:lnTo>
                    <a:pt x="1672802" y="0"/>
                  </a:lnTo>
                  <a:close/>
                </a:path>
              </a:pathLst>
            </a:custGeom>
            <a:solidFill>
              <a:srgbClr val="727070"/>
            </a:solidFill>
            <a:ln cap="sq">
              <a:noFill/>
              <a:prstDash val="solid"/>
              <a:miter/>
            </a:ln>
          </p:spPr>
        </p:sp>
        <p:sp>
          <p:nvSpPr>
            <p:cNvPr name="TextBox 4" id="4"/>
            <p:cNvSpPr txBox="true"/>
            <p:nvPr/>
          </p:nvSpPr>
          <p:spPr>
            <a:xfrm>
              <a:off x="101600" y="-19050"/>
              <a:ext cx="1672802" cy="251267"/>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5" id="5"/>
          <p:cNvGrpSpPr/>
          <p:nvPr/>
        </p:nvGrpSpPr>
        <p:grpSpPr>
          <a:xfrm rot="0">
            <a:off x="916860" y="3148979"/>
            <a:ext cx="5689104" cy="275488"/>
            <a:chOff x="0" y="0"/>
            <a:chExt cx="4519796" cy="218865"/>
          </a:xfrm>
        </p:grpSpPr>
        <p:sp>
          <p:nvSpPr>
            <p:cNvPr name="Freeform 6" id="6"/>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7" id="7"/>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8" id="8"/>
          <p:cNvGrpSpPr/>
          <p:nvPr/>
        </p:nvGrpSpPr>
        <p:grpSpPr>
          <a:xfrm rot="0">
            <a:off x="12085550" y="-131220"/>
            <a:ext cx="9534019" cy="1112295"/>
            <a:chOff x="0" y="0"/>
            <a:chExt cx="1876002" cy="218865"/>
          </a:xfrm>
        </p:grpSpPr>
        <p:sp>
          <p:nvSpPr>
            <p:cNvPr name="Freeform 9" id="9"/>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0" id="10"/>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1" id="11"/>
          <p:cNvSpPr/>
          <p:nvPr/>
        </p:nvSpPr>
        <p:spPr>
          <a:xfrm>
            <a:off x="-715490" y="962025"/>
            <a:ext cx="12921291" cy="0"/>
          </a:xfrm>
          <a:prstGeom prst="line">
            <a:avLst/>
          </a:prstGeom>
          <a:ln cap="flat" w="38100">
            <a:solidFill>
              <a:srgbClr val="000000"/>
            </a:solidFill>
            <a:prstDash val="solid"/>
            <a:headEnd type="none" len="sm" w="sm"/>
            <a:tailEnd type="none" len="sm" w="sm"/>
          </a:ln>
        </p:spPr>
      </p:sp>
      <p:grpSp>
        <p:nvGrpSpPr>
          <p:cNvPr name="Group 12" id="12"/>
          <p:cNvGrpSpPr/>
          <p:nvPr/>
        </p:nvGrpSpPr>
        <p:grpSpPr>
          <a:xfrm rot="0">
            <a:off x="12237950" y="21180"/>
            <a:ext cx="9534019" cy="1112295"/>
            <a:chOff x="0" y="0"/>
            <a:chExt cx="1876002" cy="218865"/>
          </a:xfrm>
        </p:grpSpPr>
        <p:sp>
          <p:nvSpPr>
            <p:cNvPr name="Freeform 13" id="13"/>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4" id="14"/>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5" id="15"/>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TextBox 16" id="16"/>
          <p:cNvSpPr txBox="true"/>
          <p:nvPr/>
        </p:nvSpPr>
        <p:spPr>
          <a:xfrm rot="0">
            <a:off x="1028700" y="3909922"/>
            <a:ext cx="15373743" cy="443627"/>
          </a:xfrm>
          <a:prstGeom prst="rect">
            <a:avLst/>
          </a:prstGeom>
        </p:spPr>
        <p:txBody>
          <a:bodyPr anchor="t" rtlCol="false" tIns="0" lIns="0" bIns="0" rIns="0">
            <a:spAutoFit/>
          </a:bodyPr>
          <a:lstStyle/>
          <a:p>
            <a:pPr algn="l" marL="0" indent="0" lvl="0">
              <a:lnSpc>
                <a:spcPts val="3464"/>
              </a:lnSpc>
              <a:spcBef>
                <a:spcPct val="0"/>
              </a:spcBef>
            </a:pPr>
            <a:r>
              <a:rPr lang="en-US" b="true" sz="2510" spc="246">
                <a:solidFill>
                  <a:srgbClr val="231F20"/>
                </a:solidFill>
                <a:latin typeface="Montserrat Light Bold"/>
                <a:ea typeface="Montserrat Light Bold"/>
                <a:cs typeface="Montserrat Light Bold"/>
                <a:sym typeface="Montserrat Light Bold"/>
              </a:rPr>
              <a:t>RNN (Recurrent Neural Networks) </a:t>
            </a:r>
          </a:p>
        </p:txBody>
      </p:sp>
      <p:grpSp>
        <p:nvGrpSpPr>
          <p:cNvPr name="Group 17" id="17"/>
          <p:cNvGrpSpPr/>
          <p:nvPr/>
        </p:nvGrpSpPr>
        <p:grpSpPr>
          <a:xfrm rot="0">
            <a:off x="758569" y="5803652"/>
            <a:ext cx="2664186" cy="3023744"/>
            <a:chOff x="0" y="0"/>
            <a:chExt cx="840066" cy="953442"/>
          </a:xfrm>
        </p:grpSpPr>
        <p:sp>
          <p:nvSpPr>
            <p:cNvPr name="Freeform 18" id="18"/>
            <p:cNvSpPr/>
            <p:nvPr/>
          </p:nvSpPr>
          <p:spPr>
            <a:xfrm flipH="false" flipV="false" rot="0">
              <a:off x="0" y="0"/>
              <a:ext cx="840066" cy="953442"/>
            </a:xfrm>
            <a:custGeom>
              <a:avLst/>
              <a:gdLst/>
              <a:ahLst/>
              <a:cxnLst/>
              <a:rect r="r" b="b" t="t" l="l"/>
              <a:pathLst>
                <a:path h="953442" w="840066">
                  <a:moveTo>
                    <a:pt x="72648" y="0"/>
                  </a:moveTo>
                  <a:lnTo>
                    <a:pt x="767418" y="0"/>
                  </a:lnTo>
                  <a:cubicBezTo>
                    <a:pt x="786686" y="0"/>
                    <a:pt x="805164" y="7654"/>
                    <a:pt x="818788" y="21278"/>
                  </a:cubicBezTo>
                  <a:cubicBezTo>
                    <a:pt x="832412" y="34902"/>
                    <a:pt x="840066" y="53381"/>
                    <a:pt x="840066" y="72648"/>
                  </a:cubicBezTo>
                  <a:lnTo>
                    <a:pt x="840066" y="880794"/>
                  </a:lnTo>
                  <a:cubicBezTo>
                    <a:pt x="840066" y="920916"/>
                    <a:pt x="807541" y="953442"/>
                    <a:pt x="767418" y="953442"/>
                  </a:cubicBezTo>
                  <a:lnTo>
                    <a:pt x="72648" y="953442"/>
                  </a:lnTo>
                  <a:cubicBezTo>
                    <a:pt x="53381" y="953442"/>
                    <a:pt x="34902" y="945788"/>
                    <a:pt x="21278" y="932164"/>
                  </a:cubicBezTo>
                  <a:cubicBezTo>
                    <a:pt x="7654" y="918539"/>
                    <a:pt x="0" y="900061"/>
                    <a:pt x="0" y="880794"/>
                  </a:cubicBezTo>
                  <a:lnTo>
                    <a:pt x="0" y="72648"/>
                  </a:lnTo>
                  <a:cubicBezTo>
                    <a:pt x="0" y="53381"/>
                    <a:pt x="7654" y="34902"/>
                    <a:pt x="21278" y="21278"/>
                  </a:cubicBezTo>
                  <a:cubicBezTo>
                    <a:pt x="34902" y="7654"/>
                    <a:pt x="53381" y="0"/>
                    <a:pt x="72648" y="0"/>
                  </a:cubicBezTo>
                  <a:close/>
                </a:path>
              </a:pathLst>
            </a:custGeom>
            <a:solidFill>
              <a:srgbClr val="FFFFFF">
                <a:alpha val="86667"/>
              </a:srgbClr>
            </a:solidFill>
            <a:ln cap="rnd">
              <a:noFill/>
              <a:prstDash val="solid"/>
              <a:round/>
            </a:ln>
          </p:spPr>
        </p:sp>
        <p:sp>
          <p:nvSpPr>
            <p:cNvPr name="TextBox 19" id="19"/>
            <p:cNvSpPr txBox="true"/>
            <p:nvPr/>
          </p:nvSpPr>
          <p:spPr>
            <a:xfrm>
              <a:off x="0" y="-19050"/>
              <a:ext cx="840066" cy="972492"/>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0" id="20"/>
          <p:cNvGrpSpPr/>
          <p:nvPr/>
        </p:nvGrpSpPr>
        <p:grpSpPr>
          <a:xfrm rot="0">
            <a:off x="12768621" y="4256167"/>
            <a:ext cx="4083939" cy="2654017"/>
            <a:chOff x="0" y="0"/>
            <a:chExt cx="1287741" cy="836860"/>
          </a:xfrm>
        </p:grpSpPr>
        <p:sp>
          <p:nvSpPr>
            <p:cNvPr name="Freeform 21" id="21"/>
            <p:cNvSpPr/>
            <p:nvPr/>
          </p:nvSpPr>
          <p:spPr>
            <a:xfrm flipH="false" flipV="false" rot="0">
              <a:off x="0" y="0"/>
              <a:ext cx="1287741" cy="836860"/>
            </a:xfrm>
            <a:custGeom>
              <a:avLst/>
              <a:gdLst/>
              <a:ahLst/>
              <a:cxnLst/>
              <a:rect r="r" b="b" t="t" l="l"/>
              <a:pathLst>
                <a:path h="836860" w="1287741">
                  <a:moveTo>
                    <a:pt x="47392" y="0"/>
                  </a:moveTo>
                  <a:lnTo>
                    <a:pt x="1240348" y="0"/>
                  </a:lnTo>
                  <a:cubicBezTo>
                    <a:pt x="1266522" y="0"/>
                    <a:pt x="1287741" y="21218"/>
                    <a:pt x="1287741" y="47392"/>
                  </a:cubicBezTo>
                  <a:lnTo>
                    <a:pt x="1287741" y="789468"/>
                  </a:lnTo>
                  <a:cubicBezTo>
                    <a:pt x="1287741" y="815642"/>
                    <a:pt x="1266522" y="836860"/>
                    <a:pt x="1240348" y="836860"/>
                  </a:cubicBezTo>
                  <a:lnTo>
                    <a:pt x="47392" y="836860"/>
                  </a:lnTo>
                  <a:cubicBezTo>
                    <a:pt x="21218" y="836860"/>
                    <a:pt x="0" y="815642"/>
                    <a:pt x="0" y="789468"/>
                  </a:cubicBezTo>
                  <a:lnTo>
                    <a:pt x="0" y="47392"/>
                  </a:lnTo>
                  <a:cubicBezTo>
                    <a:pt x="0" y="21218"/>
                    <a:pt x="21218" y="0"/>
                    <a:pt x="47392" y="0"/>
                  </a:cubicBezTo>
                  <a:close/>
                </a:path>
              </a:pathLst>
            </a:custGeom>
            <a:solidFill>
              <a:srgbClr val="FFFFFF">
                <a:alpha val="86667"/>
              </a:srgbClr>
            </a:solidFill>
            <a:ln cap="rnd">
              <a:noFill/>
              <a:prstDash val="solid"/>
              <a:round/>
            </a:ln>
          </p:spPr>
        </p:sp>
        <p:sp>
          <p:nvSpPr>
            <p:cNvPr name="TextBox 22" id="22"/>
            <p:cNvSpPr txBox="true"/>
            <p:nvPr/>
          </p:nvSpPr>
          <p:spPr>
            <a:xfrm>
              <a:off x="0" y="-19050"/>
              <a:ext cx="1287741" cy="85591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3" id="23"/>
          <p:cNvGrpSpPr/>
          <p:nvPr/>
        </p:nvGrpSpPr>
        <p:grpSpPr>
          <a:xfrm rot="0">
            <a:off x="13426054" y="8023824"/>
            <a:ext cx="4072283" cy="1607145"/>
            <a:chOff x="0" y="0"/>
            <a:chExt cx="1284065" cy="506762"/>
          </a:xfrm>
        </p:grpSpPr>
        <p:sp>
          <p:nvSpPr>
            <p:cNvPr name="Freeform 24" id="24"/>
            <p:cNvSpPr/>
            <p:nvPr/>
          </p:nvSpPr>
          <p:spPr>
            <a:xfrm flipH="false" flipV="false" rot="0">
              <a:off x="0" y="0"/>
              <a:ext cx="1284065" cy="506762"/>
            </a:xfrm>
            <a:custGeom>
              <a:avLst/>
              <a:gdLst/>
              <a:ahLst/>
              <a:cxnLst/>
              <a:rect r="r" b="b" t="t" l="l"/>
              <a:pathLst>
                <a:path h="506762" w="1284065">
                  <a:moveTo>
                    <a:pt x="47528" y="0"/>
                  </a:moveTo>
                  <a:lnTo>
                    <a:pt x="1236537" y="0"/>
                  </a:lnTo>
                  <a:cubicBezTo>
                    <a:pt x="1249143" y="0"/>
                    <a:pt x="1261232" y="5007"/>
                    <a:pt x="1270145" y="13921"/>
                  </a:cubicBezTo>
                  <a:cubicBezTo>
                    <a:pt x="1279058" y="22834"/>
                    <a:pt x="1284065" y="34923"/>
                    <a:pt x="1284065" y="47528"/>
                  </a:cubicBezTo>
                  <a:lnTo>
                    <a:pt x="1284065" y="459234"/>
                  </a:lnTo>
                  <a:cubicBezTo>
                    <a:pt x="1284065" y="471839"/>
                    <a:pt x="1279058" y="483928"/>
                    <a:pt x="1270145" y="492842"/>
                  </a:cubicBezTo>
                  <a:cubicBezTo>
                    <a:pt x="1261232" y="501755"/>
                    <a:pt x="1249143" y="506762"/>
                    <a:pt x="1236537" y="506762"/>
                  </a:cubicBezTo>
                  <a:lnTo>
                    <a:pt x="47528" y="506762"/>
                  </a:lnTo>
                  <a:cubicBezTo>
                    <a:pt x="34923" y="506762"/>
                    <a:pt x="22834" y="501755"/>
                    <a:pt x="13921" y="492842"/>
                  </a:cubicBezTo>
                  <a:cubicBezTo>
                    <a:pt x="5007" y="483928"/>
                    <a:pt x="0" y="471839"/>
                    <a:pt x="0" y="459234"/>
                  </a:cubicBezTo>
                  <a:lnTo>
                    <a:pt x="0" y="47528"/>
                  </a:lnTo>
                  <a:cubicBezTo>
                    <a:pt x="0" y="34923"/>
                    <a:pt x="5007" y="22834"/>
                    <a:pt x="13921" y="13921"/>
                  </a:cubicBezTo>
                  <a:cubicBezTo>
                    <a:pt x="22834" y="5007"/>
                    <a:pt x="34923" y="0"/>
                    <a:pt x="47528" y="0"/>
                  </a:cubicBezTo>
                  <a:close/>
                </a:path>
              </a:pathLst>
            </a:custGeom>
            <a:solidFill>
              <a:srgbClr val="FFFFFF">
                <a:alpha val="86667"/>
              </a:srgbClr>
            </a:solidFill>
            <a:ln cap="rnd">
              <a:noFill/>
              <a:prstDash val="solid"/>
              <a:round/>
            </a:ln>
          </p:spPr>
        </p:sp>
        <p:sp>
          <p:nvSpPr>
            <p:cNvPr name="TextBox 25" id="25"/>
            <p:cNvSpPr txBox="true"/>
            <p:nvPr/>
          </p:nvSpPr>
          <p:spPr>
            <a:xfrm>
              <a:off x="0" y="-19050"/>
              <a:ext cx="1284065" cy="525812"/>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26" id="26"/>
          <p:cNvSpPr/>
          <p:nvPr/>
        </p:nvSpPr>
        <p:spPr>
          <a:xfrm flipH="false" flipV="false" rot="0">
            <a:off x="4291347" y="4772649"/>
            <a:ext cx="7794203" cy="4385372"/>
          </a:xfrm>
          <a:custGeom>
            <a:avLst/>
            <a:gdLst/>
            <a:ahLst/>
            <a:cxnLst/>
            <a:rect r="r" b="b" t="t" l="l"/>
            <a:pathLst>
              <a:path h="4385372" w="7794203">
                <a:moveTo>
                  <a:pt x="0" y="0"/>
                </a:moveTo>
                <a:lnTo>
                  <a:pt x="7794203" y="0"/>
                </a:lnTo>
                <a:lnTo>
                  <a:pt x="7794203" y="4385372"/>
                </a:lnTo>
                <a:lnTo>
                  <a:pt x="0" y="4385372"/>
                </a:lnTo>
                <a:lnTo>
                  <a:pt x="0" y="0"/>
                </a:lnTo>
                <a:close/>
              </a:path>
            </a:pathLst>
          </a:custGeom>
          <a:blipFill>
            <a:blip r:embed="rId2"/>
            <a:stretch>
              <a:fillRect l="-7096" t="-25106" r="-12296" b="0"/>
            </a:stretch>
          </a:blipFill>
        </p:spPr>
      </p:sp>
      <p:sp>
        <p:nvSpPr>
          <p:cNvPr name="TextBox 27" id="27"/>
          <p:cNvSpPr txBox="true"/>
          <p:nvPr/>
        </p:nvSpPr>
        <p:spPr>
          <a:xfrm rot="0">
            <a:off x="1368488" y="14526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sp>
        <p:nvSpPr>
          <p:cNvPr name="TextBox 28" id="28"/>
          <p:cNvSpPr txBox="true"/>
          <p:nvPr/>
        </p:nvSpPr>
        <p:spPr>
          <a:xfrm rot="0">
            <a:off x="916860" y="5765552"/>
            <a:ext cx="2347604" cy="2960980"/>
          </a:xfrm>
          <a:prstGeom prst="rect">
            <a:avLst/>
          </a:prstGeom>
        </p:spPr>
        <p:txBody>
          <a:bodyPr anchor="t" rtlCol="false" tIns="0" lIns="0" bIns="0" rIns="0">
            <a:spAutoFit/>
          </a:bodyPr>
          <a:lstStyle/>
          <a:p>
            <a:pPr algn="l">
              <a:lnSpc>
                <a:spcPts val="2953"/>
              </a:lnSpc>
            </a:pPr>
            <a:r>
              <a:rPr lang="en-US" sz="2139" spc="29">
                <a:solidFill>
                  <a:srgbClr val="040506"/>
                </a:solidFill>
                <a:latin typeface="Montserrat Classic"/>
                <a:ea typeface="Montserrat Classic"/>
                <a:cs typeface="Montserrat Classic"/>
                <a:sym typeface="Montserrat Classic"/>
              </a:rPr>
              <a:t>L'input :prend les données d'entrée (par exemple, un mot ou une valeur d'une séquence temporelle) </a:t>
            </a:r>
          </a:p>
        </p:txBody>
      </p:sp>
      <p:sp>
        <p:nvSpPr>
          <p:cNvPr name="TextBox 29" id="29"/>
          <p:cNvSpPr txBox="true"/>
          <p:nvPr/>
        </p:nvSpPr>
        <p:spPr>
          <a:xfrm rot="0">
            <a:off x="12711376" y="4467716"/>
            <a:ext cx="4198429" cy="2192819"/>
          </a:xfrm>
          <a:prstGeom prst="rect">
            <a:avLst/>
          </a:prstGeom>
        </p:spPr>
        <p:txBody>
          <a:bodyPr anchor="t" rtlCol="false" tIns="0" lIns="0" bIns="0" rIns="0">
            <a:spAutoFit/>
          </a:bodyPr>
          <a:lstStyle/>
          <a:p>
            <a:pPr algn="ctr">
              <a:lnSpc>
                <a:spcPts val="2946"/>
              </a:lnSpc>
            </a:pPr>
            <a:r>
              <a:rPr lang="en-US" sz="2135" spc="29">
                <a:solidFill>
                  <a:srgbClr val="040506"/>
                </a:solidFill>
                <a:latin typeface="Montserrat Classic"/>
                <a:ea typeface="Montserrat Classic"/>
                <a:cs typeface="Montserrat Classic"/>
                <a:sym typeface="Montserrat Classic"/>
              </a:rPr>
              <a:t>La cellule récurrente est responsable de la mémoire interne du modèle, en conservant l'information des états précédents grâce à ses connexions récurrentes.</a:t>
            </a:r>
          </a:p>
        </p:txBody>
      </p:sp>
      <p:sp>
        <p:nvSpPr>
          <p:cNvPr name="TextBox 30" id="30"/>
          <p:cNvSpPr txBox="true"/>
          <p:nvPr/>
        </p:nvSpPr>
        <p:spPr>
          <a:xfrm rot="0">
            <a:off x="13426054" y="8207089"/>
            <a:ext cx="3755701" cy="1475080"/>
          </a:xfrm>
          <a:prstGeom prst="rect">
            <a:avLst/>
          </a:prstGeom>
        </p:spPr>
        <p:txBody>
          <a:bodyPr anchor="t" rtlCol="false" tIns="0" lIns="0" bIns="0" rIns="0">
            <a:spAutoFit/>
          </a:bodyPr>
          <a:lstStyle/>
          <a:p>
            <a:pPr algn="ctr">
              <a:lnSpc>
                <a:spcPts val="2953"/>
              </a:lnSpc>
            </a:pPr>
            <a:r>
              <a:rPr lang="en-US" sz="2139" spc="29">
                <a:solidFill>
                  <a:srgbClr val="040506"/>
                </a:solidFill>
                <a:latin typeface="Montserrat Classic"/>
                <a:ea typeface="Montserrat Classic"/>
                <a:cs typeface="Montserrat Classic"/>
                <a:sym typeface="Montserrat Classic"/>
              </a:rPr>
              <a:t>la cellule de sortie génère une prédiction de sentiment (positif, négatif, neutre) à chaque étape.</a:t>
            </a:r>
          </a:p>
        </p:txBody>
      </p:sp>
      <p:sp>
        <p:nvSpPr>
          <p:cNvPr name="TextBox 31" id="31"/>
          <p:cNvSpPr txBox="true"/>
          <p:nvPr/>
        </p:nvSpPr>
        <p:spPr>
          <a:xfrm rot="0">
            <a:off x="17498337" y="9364402"/>
            <a:ext cx="602056"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15</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grpSp>
        <p:nvGrpSpPr>
          <p:cNvPr name="Group 2" id="2"/>
          <p:cNvGrpSpPr/>
          <p:nvPr/>
        </p:nvGrpSpPr>
        <p:grpSpPr>
          <a:xfrm rot="0">
            <a:off x="-5013836" y="1028700"/>
            <a:ext cx="19354610" cy="2395767"/>
            <a:chOff x="0" y="0"/>
            <a:chExt cx="1876002" cy="232217"/>
          </a:xfrm>
        </p:grpSpPr>
        <p:sp>
          <p:nvSpPr>
            <p:cNvPr name="Freeform 3" id="3"/>
            <p:cNvSpPr/>
            <p:nvPr/>
          </p:nvSpPr>
          <p:spPr>
            <a:xfrm flipH="false" flipV="false" rot="0">
              <a:off x="0" y="0"/>
              <a:ext cx="1876002" cy="232217"/>
            </a:xfrm>
            <a:custGeom>
              <a:avLst/>
              <a:gdLst/>
              <a:ahLst/>
              <a:cxnLst/>
              <a:rect r="r" b="b" t="t" l="l"/>
              <a:pathLst>
                <a:path h="232217" w="1876002">
                  <a:moveTo>
                    <a:pt x="1672802" y="0"/>
                  </a:moveTo>
                  <a:lnTo>
                    <a:pt x="0" y="0"/>
                  </a:lnTo>
                  <a:lnTo>
                    <a:pt x="203200" y="232217"/>
                  </a:lnTo>
                  <a:lnTo>
                    <a:pt x="1876002" y="232217"/>
                  </a:lnTo>
                  <a:lnTo>
                    <a:pt x="1672802" y="0"/>
                  </a:lnTo>
                  <a:close/>
                </a:path>
              </a:pathLst>
            </a:custGeom>
            <a:solidFill>
              <a:srgbClr val="727070"/>
            </a:solidFill>
            <a:ln cap="sq">
              <a:noFill/>
              <a:prstDash val="solid"/>
              <a:miter/>
            </a:ln>
          </p:spPr>
        </p:sp>
        <p:sp>
          <p:nvSpPr>
            <p:cNvPr name="TextBox 4" id="4"/>
            <p:cNvSpPr txBox="true"/>
            <p:nvPr/>
          </p:nvSpPr>
          <p:spPr>
            <a:xfrm>
              <a:off x="101600" y="-19050"/>
              <a:ext cx="1672802" cy="251267"/>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5" id="5"/>
          <p:cNvGrpSpPr/>
          <p:nvPr/>
        </p:nvGrpSpPr>
        <p:grpSpPr>
          <a:xfrm rot="0">
            <a:off x="916860" y="3148979"/>
            <a:ext cx="5689104" cy="275488"/>
            <a:chOff x="0" y="0"/>
            <a:chExt cx="4519796" cy="218865"/>
          </a:xfrm>
        </p:grpSpPr>
        <p:sp>
          <p:nvSpPr>
            <p:cNvPr name="Freeform 6" id="6"/>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7" id="7"/>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8" id="8"/>
          <p:cNvGrpSpPr/>
          <p:nvPr/>
        </p:nvGrpSpPr>
        <p:grpSpPr>
          <a:xfrm rot="0">
            <a:off x="12085550" y="-131220"/>
            <a:ext cx="9534019" cy="1112295"/>
            <a:chOff x="0" y="0"/>
            <a:chExt cx="1876002" cy="218865"/>
          </a:xfrm>
        </p:grpSpPr>
        <p:sp>
          <p:nvSpPr>
            <p:cNvPr name="Freeform 9" id="9"/>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0" id="10"/>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1" id="11"/>
          <p:cNvSpPr/>
          <p:nvPr/>
        </p:nvSpPr>
        <p:spPr>
          <a:xfrm>
            <a:off x="-715490" y="962025"/>
            <a:ext cx="12921291" cy="0"/>
          </a:xfrm>
          <a:prstGeom prst="line">
            <a:avLst/>
          </a:prstGeom>
          <a:ln cap="flat" w="38100">
            <a:solidFill>
              <a:srgbClr val="000000"/>
            </a:solidFill>
            <a:prstDash val="solid"/>
            <a:headEnd type="none" len="sm" w="sm"/>
            <a:tailEnd type="none" len="sm" w="sm"/>
          </a:ln>
        </p:spPr>
      </p:sp>
      <p:grpSp>
        <p:nvGrpSpPr>
          <p:cNvPr name="Group 12" id="12"/>
          <p:cNvGrpSpPr/>
          <p:nvPr/>
        </p:nvGrpSpPr>
        <p:grpSpPr>
          <a:xfrm rot="0">
            <a:off x="12237950" y="21180"/>
            <a:ext cx="9534019" cy="1112295"/>
            <a:chOff x="0" y="0"/>
            <a:chExt cx="1876002" cy="218865"/>
          </a:xfrm>
        </p:grpSpPr>
        <p:sp>
          <p:nvSpPr>
            <p:cNvPr name="Freeform 13" id="13"/>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4" id="14"/>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5" id="15"/>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TextBox 16" id="16"/>
          <p:cNvSpPr txBox="true"/>
          <p:nvPr/>
        </p:nvSpPr>
        <p:spPr>
          <a:xfrm rot="0">
            <a:off x="1028700" y="3909922"/>
            <a:ext cx="15373743" cy="443627"/>
          </a:xfrm>
          <a:prstGeom prst="rect">
            <a:avLst/>
          </a:prstGeom>
        </p:spPr>
        <p:txBody>
          <a:bodyPr anchor="t" rtlCol="false" tIns="0" lIns="0" bIns="0" rIns="0">
            <a:spAutoFit/>
          </a:bodyPr>
          <a:lstStyle/>
          <a:p>
            <a:pPr algn="l" marL="0" indent="0" lvl="0">
              <a:lnSpc>
                <a:spcPts val="3464"/>
              </a:lnSpc>
              <a:spcBef>
                <a:spcPct val="0"/>
              </a:spcBef>
            </a:pPr>
            <a:r>
              <a:rPr lang="en-US" b="true" sz="2510" spc="246">
                <a:solidFill>
                  <a:srgbClr val="231F20"/>
                </a:solidFill>
                <a:latin typeface="Montserrat Light Bold"/>
                <a:ea typeface="Montserrat Light Bold"/>
                <a:cs typeface="Montserrat Light Bold"/>
                <a:sym typeface="Montserrat Light Bold"/>
              </a:rPr>
              <a:t>RNN (Recurrent Neural Networks) </a:t>
            </a:r>
          </a:p>
        </p:txBody>
      </p:sp>
      <p:sp>
        <p:nvSpPr>
          <p:cNvPr name="Freeform 17" id="17"/>
          <p:cNvSpPr/>
          <p:nvPr/>
        </p:nvSpPr>
        <p:spPr>
          <a:xfrm flipH="false" flipV="false" rot="0">
            <a:off x="433505" y="4925049"/>
            <a:ext cx="4451605" cy="4114800"/>
          </a:xfrm>
          <a:custGeom>
            <a:avLst/>
            <a:gdLst/>
            <a:ahLst/>
            <a:cxnLst/>
            <a:rect r="r" b="b" t="t" l="l"/>
            <a:pathLst>
              <a:path h="4114800" w="4451605">
                <a:moveTo>
                  <a:pt x="0" y="0"/>
                </a:moveTo>
                <a:lnTo>
                  <a:pt x="4451605" y="0"/>
                </a:lnTo>
                <a:lnTo>
                  <a:pt x="4451605" y="4114800"/>
                </a:lnTo>
                <a:lnTo>
                  <a:pt x="0" y="4114800"/>
                </a:lnTo>
                <a:lnTo>
                  <a:pt x="0" y="0"/>
                </a:lnTo>
                <a:close/>
              </a:path>
            </a:pathLst>
          </a:custGeom>
          <a:blipFill>
            <a:blip r:embed="rId2"/>
            <a:stretch>
              <a:fillRect l="-95086" t="-5594" r="-10579" b="-6714"/>
            </a:stretch>
          </a:blipFill>
        </p:spPr>
      </p:sp>
      <p:sp>
        <p:nvSpPr>
          <p:cNvPr name="TextBox 18" id="18"/>
          <p:cNvSpPr txBox="true"/>
          <p:nvPr/>
        </p:nvSpPr>
        <p:spPr>
          <a:xfrm rot="0">
            <a:off x="1368488" y="14526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sp>
        <p:nvSpPr>
          <p:cNvPr name="TextBox 19" id="19"/>
          <p:cNvSpPr txBox="true"/>
          <p:nvPr/>
        </p:nvSpPr>
        <p:spPr>
          <a:xfrm rot="0">
            <a:off x="17498337" y="9364402"/>
            <a:ext cx="602056" cy="485509"/>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15</a:t>
            </a:r>
          </a:p>
        </p:txBody>
      </p:sp>
      <p:sp>
        <p:nvSpPr>
          <p:cNvPr name="TextBox 20" id="20"/>
          <p:cNvSpPr txBox="true"/>
          <p:nvPr/>
        </p:nvSpPr>
        <p:spPr>
          <a:xfrm rot="0">
            <a:off x="5900840" y="5927457"/>
            <a:ext cx="4335423" cy="335042"/>
          </a:xfrm>
          <a:prstGeom prst="rect">
            <a:avLst/>
          </a:prstGeom>
        </p:spPr>
        <p:txBody>
          <a:bodyPr anchor="t" rtlCol="false" tIns="0" lIns="0" bIns="0" rIns="0">
            <a:spAutoFit/>
          </a:bodyPr>
          <a:lstStyle/>
          <a:p>
            <a:pPr algn="l">
              <a:lnSpc>
                <a:spcPts val="2774"/>
              </a:lnSpc>
            </a:pPr>
            <a:r>
              <a:rPr lang="en-US" sz="2010" spc="197">
                <a:solidFill>
                  <a:srgbClr val="231F20"/>
                </a:solidFill>
                <a:latin typeface="Montserrat Light"/>
                <a:ea typeface="Montserrat Light"/>
                <a:cs typeface="Montserrat Light"/>
                <a:sym typeface="Montserrat Light"/>
              </a:rPr>
              <a:t>ht − 1​,l’état caché précédent.</a:t>
            </a:r>
          </a:p>
        </p:txBody>
      </p:sp>
      <p:sp>
        <p:nvSpPr>
          <p:cNvPr name="TextBox 21" id="21"/>
          <p:cNvSpPr txBox="true"/>
          <p:nvPr/>
        </p:nvSpPr>
        <p:spPr>
          <a:xfrm rot="0">
            <a:off x="4885110" y="7513706"/>
            <a:ext cx="10016568" cy="1130570"/>
          </a:xfrm>
          <a:prstGeom prst="rect">
            <a:avLst/>
          </a:prstGeom>
        </p:spPr>
        <p:txBody>
          <a:bodyPr anchor="t" rtlCol="false" tIns="0" lIns="0" bIns="0" rIns="0">
            <a:spAutoFit/>
          </a:bodyPr>
          <a:lstStyle/>
          <a:p>
            <a:pPr algn="l" marL="477229" indent="-238614" lvl="1">
              <a:lnSpc>
                <a:spcPts val="3050"/>
              </a:lnSpc>
              <a:buFont typeface="Arial"/>
              <a:buChar char="•"/>
            </a:pPr>
            <a:r>
              <a:rPr lang="en-US" sz="2210" spc="216">
                <a:solidFill>
                  <a:srgbClr val="231F20"/>
                </a:solidFill>
                <a:latin typeface="Montserrat Light"/>
                <a:ea typeface="Montserrat Light"/>
                <a:cs typeface="Montserrat Light"/>
                <a:sym typeface="Montserrat Light"/>
              </a:rPr>
              <a:t>la fonction d’activation utiliser dans la couche de sortie est sigmoïde dans le cas de classification binaire et softmax dans le cas de classification multiclasse</a:t>
            </a:r>
          </a:p>
        </p:txBody>
      </p:sp>
      <p:sp>
        <p:nvSpPr>
          <p:cNvPr name="TextBox 22" id="22"/>
          <p:cNvSpPr txBox="true"/>
          <p:nvPr/>
        </p:nvSpPr>
        <p:spPr>
          <a:xfrm rot="0">
            <a:off x="5037510" y="5334624"/>
            <a:ext cx="9196088" cy="350282"/>
          </a:xfrm>
          <a:prstGeom prst="rect">
            <a:avLst/>
          </a:prstGeom>
        </p:spPr>
        <p:txBody>
          <a:bodyPr anchor="t" rtlCol="false" tIns="0" lIns="0" bIns="0" rIns="0">
            <a:spAutoFit/>
          </a:bodyPr>
          <a:lstStyle/>
          <a:p>
            <a:pPr algn="l" marL="434050" indent="-217025" lvl="1">
              <a:lnSpc>
                <a:spcPts val="2774"/>
              </a:lnSpc>
              <a:buFont typeface="Arial"/>
              <a:buChar char="•"/>
            </a:pPr>
            <a:r>
              <a:rPr lang="en-US" sz="2010" spc="197">
                <a:solidFill>
                  <a:srgbClr val="231F20"/>
                </a:solidFill>
                <a:latin typeface="Montserrat Light"/>
                <a:ea typeface="Montserrat Light"/>
                <a:cs typeface="Montserrat Light"/>
                <a:sym typeface="Montserrat Light"/>
              </a:rPr>
              <a:t> Calcul de l'état caché (ht​):   </a:t>
            </a:r>
            <a:r>
              <a:rPr lang="en-US" b="true" sz="2010" spc="197">
                <a:solidFill>
                  <a:srgbClr val="231F20"/>
                </a:solidFill>
                <a:latin typeface="Montserrat Light Bold"/>
                <a:ea typeface="Montserrat Light Bold"/>
                <a:cs typeface="Montserrat Light Bold"/>
                <a:sym typeface="Montserrat Light Bold"/>
              </a:rPr>
              <a:t>ht​=g(Wh​⋅ht−1​+Wx​⋅xt​+b​)</a:t>
            </a:r>
          </a:p>
        </p:txBody>
      </p:sp>
      <p:sp>
        <p:nvSpPr>
          <p:cNvPr name="TextBox 23" id="23"/>
          <p:cNvSpPr txBox="true"/>
          <p:nvPr/>
        </p:nvSpPr>
        <p:spPr>
          <a:xfrm rot="0">
            <a:off x="5900840" y="6431785"/>
            <a:ext cx="4335423" cy="677942"/>
          </a:xfrm>
          <a:prstGeom prst="rect">
            <a:avLst/>
          </a:prstGeom>
        </p:spPr>
        <p:txBody>
          <a:bodyPr anchor="t" rtlCol="false" tIns="0" lIns="0" bIns="0" rIns="0">
            <a:spAutoFit/>
          </a:bodyPr>
          <a:lstStyle/>
          <a:p>
            <a:pPr algn="l">
              <a:lnSpc>
                <a:spcPts val="2774"/>
              </a:lnSpc>
            </a:pPr>
            <a:r>
              <a:rPr lang="en-US" sz="2010" spc="197">
                <a:solidFill>
                  <a:srgbClr val="231F20"/>
                </a:solidFill>
                <a:latin typeface="Montserrat Light"/>
                <a:ea typeface="Montserrat Light"/>
                <a:cs typeface="Montserrat Light"/>
                <a:sym typeface="Montserrat Light"/>
              </a:rPr>
              <a:t>La variable d'entrée (xt) du mot actuel</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2F4F5"/>
        </a:solidFill>
      </p:bgPr>
    </p:bg>
    <p:spTree>
      <p:nvGrpSpPr>
        <p:cNvPr id="1" name=""/>
        <p:cNvGrpSpPr/>
        <p:nvPr/>
      </p:nvGrpSpPr>
      <p:grpSpPr>
        <a:xfrm>
          <a:off x="0" y="0"/>
          <a:ext cx="0" cy="0"/>
          <a:chOff x="0" y="0"/>
          <a:chExt cx="0" cy="0"/>
        </a:xfrm>
      </p:grpSpPr>
      <p:grpSp>
        <p:nvGrpSpPr>
          <p:cNvPr name="Group 2" id="2"/>
          <p:cNvGrpSpPr/>
          <p:nvPr/>
        </p:nvGrpSpPr>
        <p:grpSpPr>
          <a:xfrm rot="0">
            <a:off x="-5013836" y="1028700"/>
            <a:ext cx="19354610" cy="2395767"/>
            <a:chOff x="0" y="0"/>
            <a:chExt cx="1876002" cy="232217"/>
          </a:xfrm>
        </p:grpSpPr>
        <p:sp>
          <p:nvSpPr>
            <p:cNvPr name="Freeform 3" id="3"/>
            <p:cNvSpPr/>
            <p:nvPr/>
          </p:nvSpPr>
          <p:spPr>
            <a:xfrm flipH="false" flipV="false" rot="0">
              <a:off x="0" y="0"/>
              <a:ext cx="1876002" cy="232217"/>
            </a:xfrm>
            <a:custGeom>
              <a:avLst/>
              <a:gdLst/>
              <a:ahLst/>
              <a:cxnLst/>
              <a:rect r="r" b="b" t="t" l="l"/>
              <a:pathLst>
                <a:path h="232217" w="1876002">
                  <a:moveTo>
                    <a:pt x="1672802" y="0"/>
                  </a:moveTo>
                  <a:lnTo>
                    <a:pt x="0" y="0"/>
                  </a:lnTo>
                  <a:lnTo>
                    <a:pt x="203200" y="232217"/>
                  </a:lnTo>
                  <a:lnTo>
                    <a:pt x="1876002" y="232217"/>
                  </a:lnTo>
                  <a:lnTo>
                    <a:pt x="1672802" y="0"/>
                  </a:lnTo>
                  <a:close/>
                </a:path>
              </a:pathLst>
            </a:custGeom>
            <a:solidFill>
              <a:srgbClr val="727070"/>
            </a:solidFill>
            <a:ln cap="sq">
              <a:noFill/>
              <a:prstDash val="solid"/>
              <a:miter/>
            </a:ln>
          </p:spPr>
        </p:sp>
        <p:sp>
          <p:nvSpPr>
            <p:cNvPr name="TextBox 4" id="4"/>
            <p:cNvSpPr txBox="true"/>
            <p:nvPr/>
          </p:nvSpPr>
          <p:spPr>
            <a:xfrm>
              <a:off x="101600" y="-19050"/>
              <a:ext cx="1672802" cy="251267"/>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5" id="5"/>
          <p:cNvGrpSpPr/>
          <p:nvPr/>
        </p:nvGrpSpPr>
        <p:grpSpPr>
          <a:xfrm rot="0">
            <a:off x="916860" y="3148979"/>
            <a:ext cx="5689104" cy="275488"/>
            <a:chOff x="0" y="0"/>
            <a:chExt cx="4519796" cy="218865"/>
          </a:xfrm>
        </p:grpSpPr>
        <p:sp>
          <p:nvSpPr>
            <p:cNvPr name="Freeform 6" id="6"/>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7" id="7"/>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8" id="8"/>
          <p:cNvGrpSpPr/>
          <p:nvPr/>
        </p:nvGrpSpPr>
        <p:grpSpPr>
          <a:xfrm rot="0">
            <a:off x="12085550" y="-131220"/>
            <a:ext cx="9534019" cy="1112295"/>
            <a:chOff x="0" y="0"/>
            <a:chExt cx="1876002" cy="218865"/>
          </a:xfrm>
        </p:grpSpPr>
        <p:sp>
          <p:nvSpPr>
            <p:cNvPr name="Freeform 9" id="9"/>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0" id="10"/>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1" id="11"/>
          <p:cNvSpPr/>
          <p:nvPr/>
        </p:nvSpPr>
        <p:spPr>
          <a:xfrm>
            <a:off x="-715490" y="962025"/>
            <a:ext cx="12921291" cy="0"/>
          </a:xfrm>
          <a:prstGeom prst="line">
            <a:avLst/>
          </a:prstGeom>
          <a:ln cap="flat" w="38100">
            <a:solidFill>
              <a:srgbClr val="000000"/>
            </a:solidFill>
            <a:prstDash val="solid"/>
            <a:headEnd type="none" len="sm" w="sm"/>
            <a:tailEnd type="none" len="sm" w="sm"/>
          </a:ln>
        </p:spPr>
      </p:sp>
      <p:grpSp>
        <p:nvGrpSpPr>
          <p:cNvPr name="Group 12" id="12"/>
          <p:cNvGrpSpPr/>
          <p:nvPr/>
        </p:nvGrpSpPr>
        <p:grpSpPr>
          <a:xfrm rot="0">
            <a:off x="12237950" y="21180"/>
            <a:ext cx="9534019" cy="1112295"/>
            <a:chOff x="0" y="0"/>
            <a:chExt cx="1876002" cy="218865"/>
          </a:xfrm>
        </p:grpSpPr>
        <p:sp>
          <p:nvSpPr>
            <p:cNvPr name="Freeform 13" id="13"/>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4" id="14"/>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5" id="15"/>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TextBox 16" id="16"/>
          <p:cNvSpPr txBox="true"/>
          <p:nvPr/>
        </p:nvSpPr>
        <p:spPr>
          <a:xfrm rot="0">
            <a:off x="1028700" y="3909922"/>
            <a:ext cx="15373743" cy="447437"/>
          </a:xfrm>
          <a:prstGeom prst="rect">
            <a:avLst/>
          </a:prstGeom>
        </p:spPr>
        <p:txBody>
          <a:bodyPr anchor="t" rtlCol="false" tIns="0" lIns="0" bIns="0" rIns="0">
            <a:spAutoFit/>
          </a:bodyPr>
          <a:lstStyle/>
          <a:p>
            <a:pPr algn="l" marL="0" indent="0" lvl="0">
              <a:lnSpc>
                <a:spcPts val="3464"/>
              </a:lnSpc>
              <a:spcBef>
                <a:spcPct val="0"/>
              </a:spcBef>
            </a:pPr>
            <a:r>
              <a:rPr lang="en-US" b="true" sz="2510" spc="246">
                <a:solidFill>
                  <a:srgbClr val="231F20"/>
                </a:solidFill>
                <a:latin typeface="Montserrat Light Bold"/>
                <a:ea typeface="Montserrat Light Bold"/>
                <a:cs typeface="Montserrat Light Bold"/>
                <a:sym typeface="Montserrat Light Bold"/>
              </a:rPr>
              <a:t>LSTM  (Long Short-Term Memory)  </a:t>
            </a:r>
          </a:p>
        </p:txBody>
      </p:sp>
      <p:sp>
        <p:nvSpPr>
          <p:cNvPr name="TextBox 17" id="17"/>
          <p:cNvSpPr txBox="true"/>
          <p:nvPr/>
        </p:nvSpPr>
        <p:spPr>
          <a:xfrm rot="0">
            <a:off x="1368488" y="14526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sp>
        <p:nvSpPr>
          <p:cNvPr name="TextBox 18" id="18"/>
          <p:cNvSpPr txBox="true"/>
          <p:nvPr/>
        </p:nvSpPr>
        <p:spPr>
          <a:xfrm rot="0">
            <a:off x="17498337" y="9364402"/>
            <a:ext cx="602056" cy="482130"/>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16</a:t>
            </a:r>
          </a:p>
        </p:txBody>
      </p:sp>
      <p:sp>
        <p:nvSpPr>
          <p:cNvPr name="TextBox 19" id="19"/>
          <p:cNvSpPr txBox="true"/>
          <p:nvPr/>
        </p:nvSpPr>
        <p:spPr>
          <a:xfrm rot="0">
            <a:off x="1028700" y="5214609"/>
            <a:ext cx="16469637" cy="4506992"/>
          </a:xfrm>
          <a:prstGeom prst="rect">
            <a:avLst/>
          </a:prstGeom>
        </p:spPr>
        <p:txBody>
          <a:bodyPr anchor="t" rtlCol="false" tIns="0" lIns="0" bIns="0" rIns="0">
            <a:spAutoFit/>
          </a:bodyPr>
          <a:lstStyle/>
          <a:p>
            <a:pPr algn="l" marL="434050" indent="-217025" lvl="1">
              <a:lnSpc>
                <a:spcPts val="2774"/>
              </a:lnSpc>
              <a:buFont typeface="Arial"/>
              <a:buChar char="•"/>
            </a:pPr>
            <a:r>
              <a:rPr lang="en-US" b="true" sz="2010" spc="197">
                <a:solidFill>
                  <a:srgbClr val="231F20"/>
                </a:solidFill>
                <a:latin typeface="Montserrat Light Bold"/>
                <a:ea typeface="Montserrat Light Bold"/>
                <a:cs typeface="Montserrat Light Bold"/>
                <a:sym typeface="Montserrat Light Bold"/>
              </a:rPr>
              <a:t>Type : </a:t>
            </a:r>
            <a:r>
              <a:rPr lang="en-US" sz="2010" spc="197">
                <a:solidFill>
                  <a:srgbClr val="231F20"/>
                </a:solidFill>
                <a:latin typeface="Montserrat Light"/>
                <a:ea typeface="Montserrat Light"/>
                <a:cs typeface="Montserrat Light"/>
                <a:sym typeface="Montserrat Light"/>
              </a:rPr>
              <a:t>Réseau neuronal récurrent (RNN) avancé.</a:t>
            </a:r>
          </a:p>
          <a:p>
            <a:pPr algn="l">
              <a:lnSpc>
                <a:spcPts val="2774"/>
              </a:lnSpc>
            </a:pPr>
          </a:p>
          <a:p>
            <a:pPr algn="l" marL="434050" indent="-217025" lvl="1">
              <a:lnSpc>
                <a:spcPts val="2774"/>
              </a:lnSpc>
              <a:buFont typeface="Arial"/>
              <a:buChar char="•"/>
            </a:pPr>
            <a:r>
              <a:rPr lang="en-US" b="true" sz="2010" spc="197">
                <a:solidFill>
                  <a:srgbClr val="231F20"/>
                </a:solidFill>
                <a:latin typeface="Montserrat Light Bold"/>
                <a:ea typeface="Montserrat Light Bold"/>
                <a:cs typeface="Montserrat Light Bold"/>
                <a:sym typeface="Montserrat Light Bold"/>
              </a:rPr>
              <a:t>Principe :</a:t>
            </a:r>
            <a:r>
              <a:rPr lang="en-US" sz="2010" spc="197">
                <a:solidFill>
                  <a:srgbClr val="231F20"/>
                </a:solidFill>
                <a:latin typeface="Montserrat Light"/>
                <a:ea typeface="Montserrat Light"/>
                <a:cs typeface="Montserrat Light"/>
                <a:sym typeface="Montserrat Light"/>
              </a:rPr>
              <a:t> Conçu pour résoudre le problème de vanishing gradients des RNN classiques. Il gère les dépendances à long terme grâce à une longue mémoire contrôlée par des portes (entrée, oubli, sortie).</a:t>
            </a:r>
          </a:p>
          <a:p>
            <a:pPr algn="l">
              <a:lnSpc>
                <a:spcPts val="2774"/>
              </a:lnSpc>
            </a:pPr>
          </a:p>
          <a:p>
            <a:pPr algn="l" marL="434050" indent="-217025" lvl="1">
              <a:lnSpc>
                <a:spcPts val="2774"/>
              </a:lnSpc>
              <a:buFont typeface="Arial"/>
              <a:buChar char="•"/>
            </a:pPr>
            <a:r>
              <a:rPr lang="en-US" b="true" sz="2010" spc="197">
                <a:solidFill>
                  <a:srgbClr val="231F20"/>
                </a:solidFill>
                <a:latin typeface="Montserrat Light Bold"/>
                <a:ea typeface="Montserrat Light Bold"/>
                <a:cs typeface="Montserrat Light Bold"/>
                <a:sym typeface="Montserrat Light Bold"/>
              </a:rPr>
              <a:t>RNN VS LSTM  :</a:t>
            </a:r>
          </a:p>
          <a:p>
            <a:pPr algn="l" marL="868099" indent="-289366" lvl="2">
              <a:lnSpc>
                <a:spcPts val="2774"/>
              </a:lnSpc>
              <a:buFont typeface="Arial"/>
              <a:buChar char="⚬"/>
            </a:pPr>
            <a:r>
              <a:rPr lang="en-US" sz="2010" spc="197">
                <a:solidFill>
                  <a:srgbClr val="231F20"/>
                </a:solidFill>
                <a:latin typeface="Montserrat Light"/>
                <a:ea typeface="Montserrat Light"/>
                <a:cs typeface="Montserrat Light"/>
                <a:sym typeface="Montserrat Light"/>
              </a:rPr>
              <a:t>RNN classique : Mémorise uniquement les séquences courtes, perd l'information sur de longues dépendances.</a:t>
            </a:r>
          </a:p>
          <a:p>
            <a:pPr algn="l" marL="868099" indent="-289366" lvl="2">
              <a:lnSpc>
                <a:spcPts val="2774"/>
              </a:lnSpc>
              <a:buFont typeface="Arial"/>
              <a:buChar char="⚬"/>
            </a:pPr>
            <a:r>
              <a:rPr lang="en-US" sz="2010" spc="197">
                <a:solidFill>
                  <a:srgbClr val="231F20"/>
                </a:solidFill>
                <a:latin typeface="Montserrat Light"/>
                <a:ea typeface="Montserrat Light"/>
                <a:cs typeface="Montserrat Light"/>
                <a:sym typeface="Montserrat Light"/>
              </a:rPr>
              <a:t>LSTM : Retient les informations importantes plus longtemps grâce à sa mémoire gérée par des portes.</a:t>
            </a:r>
          </a:p>
          <a:p>
            <a:pPr algn="l">
              <a:lnSpc>
                <a:spcPts val="2774"/>
              </a:lnSpc>
            </a:pPr>
          </a:p>
          <a:p>
            <a:pPr algn="l">
              <a:lnSpc>
                <a:spcPts val="2774"/>
              </a:lnSpc>
            </a:pPr>
          </a:p>
          <a:p>
            <a:pPr algn="l">
              <a:lnSpc>
                <a:spcPts val="2774"/>
              </a:lnSpc>
            </a:pPr>
          </a:p>
          <a:p>
            <a:pPr algn="l">
              <a:lnSpc>
                <a:spcPts val="2774"/>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809" y="3842240"/>
            <a:ext cx="8222525" cy="5416060"/>
            <a:chOff x="0" y="0"/>
            <a:chExt cx="2165603" cy="1426452"/>
          </a:xfrm>
        </p:grpSpPr>
        <p:sp>
          <p:nvSpPr>
            <p:cNvPr name="Freeform 3" id="3"/>
            <p:cNvSpPr/>
            <p:nvPr/>
          </p:nvSpPr>
          <p:spPr>
            <a:xfrm flipH="false" flipV="false" rot="0">
              <a:off x="0" y="0"/>
              <a:ext cx="2165603" cy="1426452"/>
            </a:xfrm>
            <a:custGeom>
              <a:avLst/>
              <a:gdLst/>
              <a:ahLst/>
              <a:cxnLst/>
              <a:rect r="r" b="b" t="t" l="l"/>
              <a:pathLst>
                <a:path h="1426452" w="2165603">
                  <a:moveTo>
                    <a:pt x="18831" y="0"/>
                  </a:moveTo>
                  <a:lnTo>
                    <a:pt x="2146772" y="0"/>
                  </a:lnTo>
                  <a:cubicBezTo>
                    <a:pt x="2157172" y="0"/>
                    <a:pt x="2165603" y="8431"/>
                    <a:pt x="2165603" y="18831"/>
                  </a:cubicBezTo>
                  <a:lnTo>
                    <a:pt x="2165603" y="1407621"/>
                  </a:lnTo>
                  <a:cubicBezTo>
                    <a:pt x="2165603" y="1418021"/>
                    <a:pt x="2157172" y="1426452"/>
                    <a:pt x="2146772" y="1426452"/>
                  </a:cubicBezTo>
                  <a:lnTo>
                    <a:pt x="18831" y="1426452"/>
                  </a:lnTo>
                  <a:cubicBezTo>
                    <a:pt x="8431" y="1426452"/>
                    <a:pt x="0" y="1418021"/>
                    <a:pt x="0" y="1407621"/>
                  </a:cubicBezTo>
                  <a:lnTo>
                    <a:pt x="0" y="18831"/>
                  </a:lnTo>
                  <a:cubicBezTo>
                    <a:pt x="0" y="8431"/>
                    <a:pt x="8431" y="0"/>
                    <a:pt x="18831" y="0"/>
                  </a:cubicBezTo>
                  <a:close/>
                </a:path>
              </a:pathLst>
            </a:custGeom>
            <a:solidFill>
              <a:srgbClr val="000000">
                <a:alpha val="0"/>
              </a:srgbClr>
            </a:solidFill>
            <a:ln w="57150" cap="sq">
              <a:solidFill>
                <a:srgbClr val="000000"/>
              </a:solidFill>
              <a:prstDash val="solid"/>
              <a:miter/>
            </a:ln>
          </p:spPr>
        </p:sp>
        <p:sp>
          <p:nvSpPr>
            <p:cNvPr name="TextBox 4" id="4"/>
            <p:cNvSpPr txBox="true"/>
            <p:nvPr/>
          </p:nvSpPr>
          <p:spPr>
            <a:xfrm>
              <a:off x="0" y="-19050"/>
              <a:ext cx="2165603" cy="1445502"/>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4545809" y="4148367"/>
            <a:ext cx="1418665" cy="537508"/>
            <a:chOff x="0" y="0"/>
            <a:chExt cx="373640" cy="141566"/>
          </a:xfrm>
        </p:grpSpPr>
        <p:sp>
          <p:nvSpPr>
            <p:cNvPr name="Freeform 6" id="6"/>
            <p:cNvSpPr/>
            <p:nvPr/>
          </p:nvSpPr>
          <p:spPr>
            <a:xfrm flipH="false" flipV="false" rot="0">
              <a:off x="0" y="0"/>
              <a:ext cx="373640" cy="141566"/>
            </a:xfrm>
            <a:custGeom>
              <a:avLst/>
              <a:gdLst/>
              <a:ahLst/>
              <a:cxnLst/>
              <a:rect r="r" b="b" t="t" l="l"/>
              <a:pathLst>
                <a:path h="141566" w="373640">
                  <a:moveTo>
                    <a:pt x="0" y="0"/>
                  </a:moveTo>
                  <a:lnTo>
                    <a:pt x="373640" y="0"/>
                  </a:lnTo>
                  <a:lnTo>
                    <a:pt x="373640" y="141566"/>
                  </a:lnTo>
                  <a:lnTo>
                    <a:pt x="0" y="141566"/>
                  </a:lnTo>
                  <a:close/>
                </a:path>
              </a:pathLst>
            </a:custGeom>
            <a:solidFill>
              <a:srgbClr val="000000"/>
            </a:solidFill>
          </p:spPr>
        </p:sp>
        <p:sp>
          <p:nvSpPr>
            <p:cNvPr name="TextBox 7" id="7"/>
            <p:cNvSpPr txBox="true"/>
            <p:nvPr/>
          </p:nvSpPr>
          <p:spPr>
            <a:xfrm>
              <a:off x="0" y="-19050"/>
              <a:ext cx="373640" cy="160616"/>
            </a:xfrm>
            <a:prstGeom prst="rect">
              <a:avLst/>
            </a:prstGeom>
          </p:spPr>
          <p:txBody>
            <a:bodyPr anchor="ctr" rtlCol="false" tIns="50800" lIns="50800" bIns="50800" rIns="50800"/>
            <a:lstStyle/>
            <a:p>
              <a:pPr algn="ctr">
                <a:lnSpc>
                  <a:spcPts val="2859"/>
                </a:lnSpc>
              </a:pPr>
              <a:r>
                <a:rPr lang="en-US" sz="2199">
                  <a:solidFill>
                    <a:srgbClr val="FFFFFF"/>
                  </a:solidFill>
                  <a:latin typeface="Montserrat Classic"/>
                  <a:ea typeface="Montserrat Classic"/>
                  <a:cs typeface="Montserrat Classic"/>
                  <a:sym typeface="Montserrat Classic"/>
                </a:rPr>
                <a:t>LSTM</a:t>
              </a:r>
            </a:p>
          </p:txBody>
        </p:sp>
      </p:grpSp>
      <p:grpSp>
        <p:nvGrpSpPr>
          <p:cNvPr name="Group 8" id="8"/>
          <p:cNvGrpSpPr/>
          <p:nvPr/>
        </p:nvGrpSpPr>
        <p:grpSpPr>
          <a:xfrm rot="0">
            <a:off x="-4861436" y="1181100"/>
            <a:ext cx="19354610" cy="2395767"/>
            <a:chOff x="0" y="0"/>
            <a:chExt cx="1876002" cy="232217"/>
          </a:xfrm>
        </p:grpSpPr>
        <p:sp>
          <p:nvSpPr>
            <p:cNvPr name="Freeform 9" id="9"/>
            <p:cNvSpPr/>
            <p:nvPr/>
          </p:nvSpPr>
          <p:spPr>
            <a:xfrm flipH="false" flipV="false" rot="0">
              <a:off x="0" y="0"/>
              <a:ext cx="1876002" cy="232217"/>
            </a:xfrm>
            <a:custGeom>
              <a:avLst/>
              <a:gdLst/>
              <a:ahLst/>
              <a:cxnLst/>
              <a:rect r="r" b="b" t="t" l="l"/>
              <a:pathLst>
                <a:path h="232217" w="1876002">
                  <a:moveTo>
                    <a:pt x="1672802" y="0"/>
                  </a:moveTo>
                  <a:lnTo>
                    <a:pt x="0" y="0"/>
                  </a:lnTo>
                  <a:lnTo>
                    <a:pt x="203200" y="232217"/>
                  </a:lnTo>
                  <a:lnTo>
                    <a:pt x="1876002" y="232217"/>
                  </a:lnTo>
                  <a:lnTo>
                    <a:pt x="1672802" y="0"/>
                  </a:lnTo>
                  <a:close/>
                </a:path>
              </a:pathLst>
            </a:custGeom>
            <a:solidFill>
              <a:srgbClr val="727070"/>
            </a:solidFill>
            <a:ln cap="sq">
              <a:noFill/>
              <a:prstDash val="solid"/>
              <a:miter/>
            </a:ln>
          </p:spPr>
        </p:sp>
        <p:sp>
          <p:nvSpPr>
            <p:cNvPr name="TextBox 10" id="10"/>
            <p:cNvSpPr txBox="true"/>
            <p:nvPr/>
          </p:nvSpPr>
          <p:spPr>
            <a:xfrm>
              <a:off x="101600" y="-19050"/>
              <a:ext cx="1672802" cy="251267"/>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11" id="11"/>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AutoShape 12" id="12"/>
          <p:cNvSpPr/>
          <p:nvPr/>
        </p:nvSpPr>
        <p:spPr>
          <a:xfrm>
            <a:off x="-410690" y="1266825"/>
            <a:ext cx="12921291" cy="0"/>
          </a:xfrm>
          <a:prstGeom prst="line">
            <a:avLst/>
          </a:prstGeom>
          <a:ln cap="flat" w="38100">
            <a:solidFill>
              <a:srgbClr val="000000"/>
            </a:solidFill>
            <a:prstDash val="solid"/>
            <a:headEnd type="none" len="sm" w="sm"/>
            <a:tailEnd type="none" len="sm" w="sm"/>
          </a:ln>
        </p:spPr>
      </p:sp>
      <p:grpSp>
        <p:nvGrpSpPr>
          <p:cNvPr name="Group 13" id="13"/>
          <p:cNvGrpSpPr/>
          <p:nvPr/>
        </p:nvGrpSpPr>
        <p:grpSpPr>
          <a:xfrm rot="0">
            <a:off x="12390350" y="173580"/>
            <a:ext cx="9534019" cy="1112295"/>
            <a:chOff x="0" y="0"/>
            <a:chExt cx="1876002" cy="218865"/>
          </a:xfrm>
        </p:grpSpPr>
        <p:sp>
          <p:nvSpPr>
            <p:cNvPr name="Freeform 14" id="1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5" id="1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6" id="16"/>
          <p:cNvSpPr/>
          <p:nvPr/>
        </p:nvSpPr>
        <p:spPr>
          <a:xfrm flipH="false" flipV="false" rot="0">
            <a:off x="4545809" y="4733500"/>
            <a:ext cx="8222525" cy="4754808"/>
          </a:xfrm>
          <a:custGeom>
            <a:avLst/>
            <a:gdLst/>
            <a:ahLst/>
            <a:cxnLst/>
            <a:rect r="r" b="b" t="t" l="l"/>
            <a:pathLst>
              <a:path h="4754808" w="8222525">
                <a:moveTo>
                  <a:pt x="0" y="0"/>
                </a:moveTo>
                <a:lnTo>
                  <a:pt x="8222525" y="0"/>
                </a:lnTo>
                <a:lnTo>
                  <a:pt x="8222525" y="4754808"/>
                </a:lnTo>
                <a:lnTo>
                  <a:pt x="0" y="4754808"/>
                </a:lnTo>
                <a:lnTo>
                  <a:pt x="0" y="0"/>
                </a:lnTo>
                <a:close/>
              </a:path>
            </a:pathLst>
          </a:custGeom>
          <a:blipFill>
            <a:blip r:embed="rId3"/>
            <a:stretch>
              <a:fillRect l="-12013" t="0" r="0" b="0"/>
            </a:stretch>
          </a:blipFill>
          <a:ln w="38100" cap="sq">
            <a:solidFill>
              <a:srgbClr val="000000"/>
            </a:solidFill>
            <a:prstDash val="solid"/>
            <a:miter/>
          </a:ln>
        </p:spPr>
      </p:sp>
      <p:sp>
        <p:nvSpPr>
          <p:cNvPr name="TextBox 17" id="17"/>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sp>
        <p:nvSpPr>
          <p:cNvPr name="TextBox 18" id="18"/>
          <p:cNvSpPr txBox="true"/>
          <p:nvPr/>
        </p:nvSpPr>
        <p:spPr>
          <a:xfrm rot="0">
            <a:off x="17650737" y="9516802"/>
            <a:ext cx="602056" cy="482130"/>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17</a:t>
            </a:r>
          </a:p>
        </p:txBody>
      </p:sp>
      <p:sp>
        <p:nvSpPr>
          <p:cNvPr name="TextBox 19" id="19"/>
          <p:cNvSpPr txBox="true"/>
          <p:nvPr/>
        </p:nvSpPr>
        <p:spPr>
          <a:xfrm rot="0">
            <a:off x="327513" y="9416339"/>
            <a:ext cx="3865462" cy="715010"/>
          </a:xfrm>
          <a:prstGeom prst="rect">
            <a:avLst/>
          </a:prstGeom>
        </p:spPr>
        <p:txBody>
          <a:bodyPr anchor="t" rtlCol="false" tIns="0" lIns="0" bIns="0" rIns="0">
            <a:spAutoFit/>
          </a:bodyPr>
          <a:lstStyle/>
          <a:p>
            <a:pPr algn="ctr">
              <a:lnSpc>
                <a:spcPts val="2859"/>
              </a:lnSpc>
              <a:spcBef>
                <a:spcPct val="0"/>
              </a:spcBef>
            </a:pPr>
            <a:r>
              <a:rPr lang="en-US" b="true" sz="2199" i="true">
                <a:solidFill>
                  <a:srgbClr val="000000"/>
                </a:solidFill>
                <a:latin typeface="Open Sauce Bold Italics"/>
                <a:ea typeface="Open Sauce Bold Italics"/>
                <a:cs typeface="Open Sauce Bold Italics"/>
                <a:sym typeface="Open Sauce Bold Italics"/>
              </a:rPr>
              <a:t>Séquence de mots (tokenisée et vectorisée).</a:t>
            </a:r>
          </a:p>
        </p:txBody>
      </p:sp>
      <p:grpSp>
        <p:nvGrpSpPr>
          <p:cNvPr name="Group 20" id="20"/>
          <p:cNvGrpSpPr/>
          <p:nvPr/>
        </p:nvGrpSpPr>
        <p:grpSpPr>
          <a:xfrm rot="0">
            <a:off x="13175361" y="3747304"/>
            <a:ext cx="4083939" cy="1396196"/>
            <a:chOff x="0" y="0"/>
            <a:chExt cx="1287741" cy="440246"/>
          </a:xfrm>
        </p:grpSpPr>
        <p:sp>
          <p:nvSpPr>
            <p:cNvPr name="Freeform 21" id="21"/>
            <p:cNvSpPr/>
            <p:nvPr/>
          </p:nvSpPr>
          <p:spPr>
            <a:xfrm flipH="false" flipV="false" rot="0">
              <a:off x="0" y="0"/>
              <a:ext cx="1287741" cy="440246"/>
            </a:xfrm>
            <a:custGeom>
              <a:avLst/>
              <a:gdLst/>
              <a:ahLst/>
              <a:cxnLst/>
              <a:rect r="r" b="b" t="t" l="l"/>
              <a:pathLst>
                <a:path h="440246" w="1287741">
                  <a:moveTo>
                    <a:pt x="47392" y="0"/>
                  </a:moveTo>
                  <a:lnTo>
                    <a:pt x="1240348" y="0"/>
                  </a:lnTo>
                  <a:cubicBezTo>
                    <a:pt x="1266522" y="0"/>
                    <a:pt x="1287741" y="21218"/>
                    <a:pt x="1287741" y="47392"/>
                  </a:cubicBezTo>
                  <a:lnTo>
                    <a:pt x="1287741" y="392854"/>
                  </a:lnTo>
                  <a:cubicBezTo>
                    <a:pt x="1287741" y="419028"/>
                    <a:pt x="1266522" y="440246"/>
                    <a:pt x="1240348" y="440246"/>
                  </a:cubicBezTo>
                  <a:lnTo>
                    <a:pt x="47392" y="440246"/>
                  </a:lnTo>
                  <a:cubicBezTo>
                    <a:pt x="21218" y="440246"/>
                    <a:pt x="0" y="419028"/>
                    <a:pt x="0" y="392854"/>
                  </a:cubicBezTo>
                  <a:lnTo>
                    <a:pt x="0" y="47392"/>
                  </a:lnTo>
                  <a:cubicBezTo>
                    <a:pt x="0" y="21218"/>
                    <a:pt x="21218" y="0"/>
                    <a:pt x="47392" y="0"/>
                  </a:cubicBezTo>
                  <a:close/>
                </a:path>
              </a:pathLst>
            </a:custGeom>
            <a:solidFill>
              <a:srgbClr val="FFFFFF">
                <a:alpha val="86667"/>
              </a:srgbClr>
            </a:solidFill>
            <a:ln cap="rnd">
              <a:noFill/>
              <a:prstDash val="solid"/>
              <a:round/>
            </a:ln>
          </p:spPr>
        </p:sp>
        <p:sp>
          <p:nvSpPr>
            <p:cNvPr name="TextBox 22" id="22"/>
            <p:cNvSpPr txBox="true"/>
            <p:nvPr/>
          </p:nvSpPr>
          <p:spPr>
            <a:xfrm>
              <a:off x="0" y="-19050"/>
              <a:ext cx="1287741" cy="459296"/>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23" id="23"/>
          <p:cNvSpPr txBox="true"/>
          <p:nvPr/>
        </p:nvSpPr>
        <p:spPr>
          <a:xfrm rot="0">
            <a:off x="13118116" y="4774352"/>
            <a:ext cx="4198429" cy="732242"/>
          </a:xfrm>
          <a:prstGeom prst="rect">
            <a:avLst/>
          </a:prstGeom>
        </p:spPr>
        <p:txBody>
          <a:bodyPr anchor="t" rtlCol="false" tIns="0" lIns="0" bIns="0" rIns="0">
            <a:spAutoFit/>
          </a:bodyPr>
          <a:lstStyle/>
          <a:p>
            <a:pPr algn="ctr">
              <a:lnSpc>
                <a:spcPts val="2946"/>
              </a:lnSpc>
            </a:pPr>
            <a:r>
              <a:rPr lang="en-US" b="true" sz="2135" spc="29">
                <a:solidFill>
                  <a:srgbClr val="040506"/>
                </a:solidFill>
                <a:latin typeface="Montserrat Classic Bold"/>
                <a:ea typeface="Montserrat Classic Bold"/>
                <a:cs typeface="Montserrat Classic Bold"/>
                <a:sym typeface="Montserrat Classic Bold"/>
              </a:rPr>
              <a:t>Prédiction de la classe (ex. positif/négatif)/neutre)..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4353" y="3995967"/>
            <a:ext cx="1418665" cy="537508"/>
            <a:chOff x="0" y="0"/>
            <a:chExt cx="373640" cy="141566"/>
          </a:xfrm>
        </p:grpSpPr>
        <p:sp>
          <p:nvSpPr>
            <p:cNvPr name="Freeform 3" id="3"/>
            <p:cNvSpPr/>
            <p:nvPr/>
          </p:nvSpPr>
          <p:spPr>
            <a:xfrm flipH="false" flipV="false" rot="0">
              <a:off x="0" y="0"/>
              <a:ext cx="373640" cy="141566"/>
            </a:xfrm>
            <a:custGeom>
              <a:avLst/>
              <a:gdLst/>
              <a:ahLst/>
              <a:cxnLst/>
              <a:rect r="r" b="b" t="t" l="l"/>
              <a:pathLst>
                <a:path h="141566" w="373640">
                  <a:moveTo>
                    <a:pt x="0" y="0"/>
                  </a:moveTo>
                  <a:lnTo>
                    <a:pt x="373640" y="0"/>
                  </a:lnTo>
                  <a:lnTo>
                    <a:pt x="373640" y="141566"/>
                  </a:lnTo>
                  <a:lnTo>
                    <a:pt x="0" y="141566"/>
                  </a:lnTo>
                  <a:close/>
                </a:path>
              </a:pathLst>
            </a:custGeom>
            <a:solidFill>
              <a:srgbClr val="000000"/>
            </a:solidFill>
          </p:spPr>
        </p:sp>
        <p:sp>
          <p:nvSpPr>
            <p:cNvPr name="TextBox 4" id="4"/>
            <p:cNvSpPr txBox="true"/>
            <p:nvPr/>
          </p:nvSpPr>
          <p:spPr>
            <a:xfrm>
              <a:off x="0" y="-19050"/>
              <a:ext cx="373640" cy="160616"/>
            </a:xfrm>
            <a:prstGeom prst="rect">
              <a:avLst/>
            </a:prstGeom>
          </p:spPr>
          <p:txBody>
            <a:bodyPr anchor="ctr" rtlCol="false" tIns="50800" lIns="50800" bIns="50800" rIns="50800"/>
            <a:lstStyle/>
            <a:p>
              <a:pPr algn="ctr">
                <a:lnSpc>
                  <a:spcPts val="2859"/>
                </a:lnSpc>
              </a:pPr>
              <a:r>
                <a:rPr lang="en-US" sz="2199">
                  <a:solidFill>
                    <a:srgbClr val="FFFFFF"/>
                  </a:solidFill>
                  <a:latin typeface="Montserrat Classic"/>
                  <a:ea typeface="Montserrat Classic"/>
                  <a:cs typeface="Montserrat Classic"/>
                  <a:sym typeface="Montserrat Classic"/>
                </a:rPr>
                <a:t>LSTM</a:t>
              </a:r>
            </a:p>
          </p:txBody>
        </p:sp>
      </p:grpSp>
      <p:grpSp>
        <p:nvGrpSpPr>
          <p:cNvPr name="Group 5" id="5"/>
          <p:cNvGrpSpPr/>
          <p:nvPr/>
        </p:nvGrpSpPr>
        <p:grpSpPr>
          <a:xfrm rot="0">
            <a:off x="-4861436" y="1181100"/>
            <a:ext cx="19354610" cy="2395767"/>
            <a:chOff x="0" y="0"/>
            <a:chExt cx="1876002" cy="232217"/>
          </a:xfrm>
        </p:grpSpPr>
        <p:sp>
          <p:nvSpPr>
            <p:cNvPr name="Freeform 6" id="6"/>
            <p:cNvSpPr/>
            <p:nvPr/>
          </p:nvSpPr>
          <p:spPr>
            <a:xfrm flipH="false" flipV="false" rot="0">
              <a:off x="0" y="0"/>
              <a:ext cx="1876002" cy="232217"/>
            </a:xfrm>
            <a:custGeom>
              <a:avLst/>
              <a:gdLst/>
              <a:ahLst/>
              <a:cxnLst/>
              <a:rect r="r" b="b" t="t" l="l"/>
              <a:pathLst>
                <a:path h="232217" w="1876002">
                  <a:moveTo>
                    <a:pt x="1672802" y="0"/>
                  </a:moveTo>
                  <a:lnTo>
                    <a:pt x="0" y="0"/>
                  </a:lnTo>
                  <a:lnTo>
                    <a:pt x="203200" y="232217"/>
                  </a:lnTo>
                  <a:lnTo>
                    <a:pt x="1876002" y="232217"/>
                  </a:lnTo>
                  <a:lnTo>
                    <a:pt x="1672802" y="0"/>
                  </a:lnTo>
                  <a:close/>
                </a:path>
              </a:pathLst>
            </a:custGeom>
            <a:solidFill>
              <a:srgbClr val="727070"/>
            </a:solidFill>
            <a:ln cap="sq">
              <a:noFill/>
              <a:prstDash val="solid"/>
              <a:miter/>
            </a:ln>
          </p:spPr>
        </p:sp>
        <p:sp>
          <p:nvSpPr>
            <p:cNvPr name="TextBox 7" id="7"/>
            <p:cNvSpPr txBox="true"/>
            <p:nvPr/>
          </p:nvSpPr>
          <p:spPr>
            <a:xfrm>
              <a:off x="101600" y="-19050"/>
              <a:ext cx="1672802" cy="251267"/>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8" id="8"/>
          <p:cNvSpPr/>
          <p:nvPr/>
        </p:nvSpPr>
        <p:spPr>
          <a:xfrm>
            <a:off x="-563090" y="1114425"/>
            <a:ext cx="12921291" cy="0"/>
          </a:xfrm>
          <a:prstGeom prst="line">
            <a:avLst/>
          </a:prstGeom>
          <a:ln cap="flat" w="38100">
            <a:solidFill>
              <a:srgbClr val="000000"/>
            </a:solidFill>
            <a:prstDash val="solid"/>
            <a:headEnd type="none" len="sm" w="sm"/>
            <a:tailEnd type="none" len="sm" w="sm"/>
          </a:ln>
        </p:spPr>
      </p:sp>
      <p:sp>
        <p:nvSpPr>
          <p:cNvPr name="AutoShape 9" id="9"/>
          <p:cNvSpPr/>
          <p:nvPr/>
        </p:nvSpPr>
        <p:spPr>
          <a:xfrm>
            <a:off x="-410690" y="1266825"/>
            <a:ext cx="12921291" cy="0"/>
          </a:xfrm>
          <a:prstGeom prst="line">
            <a:avLst/>
          </a:prstGeom>
          <a:ln cap="flat" w="38100">
            <a:solidFill>
              <a:srgbClr val="000000"/>
            </a:solidFill>
            <a:prstDash val="solid"/>
            <a:headEnd type="none" len="sm" w="sm"/>
            <a:tailEnd type="none" len="sm" w="sm"/>
          </a:ln>
        </p:spPr>
      </p:sp>
      <p:grpSp>
        <p:nvGrpSpPr>
          <p:cNvPr name="Group 10" id="10"/>
          <p:cNvGrpSpPr/>
          <p:nvPr/>
        </p:nvGrpSpPr>
        <p:grpSpPr>
          <a:xfrm rot="0">
            <a:off x="12390350" y="173580"/>
            <a:ext cx="9534019" cy="1112295"/>
            <a:chOff x="0" y="0"/>
            <a:chExt cx="1876002" cy="218865"/>
          </a:xfrm>
        </p:grpSpPr>
        <p:sp>
          <p:nvSpPr>
            <p:cNvPr name="Freeform 11" id="11"/>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2" id="12"/>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3" id="13"/>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sp>
        <p:nvSpPr>
          <p:cNvPr name="TextBox 14" id="14"/>
          <p:cNvSpPr txBox="true"/>
          <p:nvPr/>
        </p:nvSpPr>
        <p:spPr>
          <a:xfrm rot="0">
            <a:off x="17650737" y="9516802"/>
            <a:ext cx="602056" cy="482130"/>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18</a:t>
            </a:r>
          </a:p>
        </p:txBody>
      </p:sp>
      <p:sp>
        <p:nvSpPr>
          <p:cNvPr name="TextBox 15" id="15"/>
          <p:cNvSpPr txBox="true"/>
          <p:nvPr/>
        </p:nvSpPr>
        <p:spPr>
          <a:xfrm rot="0">
            <a:off x="9515392" y="4514425"/>
            <a:ext cx="8135345" cy="1076960"/>
          </a:xfrm>
          <a:prstGeom prst="rect">
            <a:avLst/>
          </a:prstGeom>
        </p:spPr>
        <p:txBody>
          <a:bodyPr anchor="t" rtlCol="false" tIns="0" lIns="0" bIns="0" rIns="0">
            <a:spAutoFit/>
          </a:bodyPr>
          <a:lstStyle/>
          <a:p>
            <a:pPr algn="just">
              <a:lnSpc>
                <a:spcPts val="2859"/>
              </a:lnSpc>
            </a:pPr>
            <a:r>
              <a:rPr lang="en-US" b="true" sz="2199" i="true">
                <a:solidFill>
                  <a:srgbClr val="000000"/>
                </a:solidFill>
                <a:latin typeface="Open Sauce Bold Italics"/>
                <a:ea typeface="Open Sauce Bold Italics"/>
                <a:cs typeface="Open Sauce Bold Italics"/>
                <a:sym typeface="Open Sauce Bold Italics"/>
              </a:rPr>
              <a:t>Décider quelles informations du passé garder ou oublier.</a:t>
            </a:r>
          </a:p>
          <a:p>
            <a:pPr algn="just">
              <a:lnSpc>
                <a:spcPts val="2859"/>
              </a:lnSpc>
            </a:pPr>
            <a:r>
              <a:rPr lang="en-US" b="true" sz="2199" i="true">
                <a:solidFill>
                  <a:srgbClr val="000000"/>
                </a:solidFill>
                <a:latin typeface="Open Sauce Bold Italics"/>
                <a:ea typeface="Open Sauce Bold Italics"/>
                <a:cs typeface="Open Sauce Bold Italics"/>
                <a:sym typeface="Open Sauce Bold Italics"/>
              </a:rPr>
              <a:t>Si "chat" est moins pertinent dans le contexte de "aime chien", LSTM réduit son importance.</a:t>
            </a:r>
          </a:p>
        </p:txBody>
      </p:sp>
      <p:sp>
        <p:nvSpPr>
          <p:cNvPr name="Freeform 16" id="16"/>
          <p:cNvSpPr/>
          <p:nvPr/>
        </p:nvSpPr>
        <p:spPr>
          <a:xfrm flipH="false" flipV="false" rot="0">
            <a:off x="484353" y="4445402"/>
            <a:ext cx="8663032" cy="4888018"/>
          </a:xfrm>
          <a:custGeom>
            <a:avLst/>
            <a:gdLst/>
            <a:ahLst/>
            <a:cxnLst/>
            <a:rect r="r" b="b" t="t" l="l"/>
            <a:pathLst>
              <a:path h="4888018" w="8663032">
                <a:moveTo>
                  <a:pt x="0" y="0"/>
                </a:moveTo>
                <a:lnTo>
                  <a:pt x="8663032" y="0"/>
                </a:lnTo>
                <a:lnTo>
                  <a:pt x="8663032" y="4888018"/>
                </a:lnTo>
                <a:lnTo>
                  <a:pt x="0" y="4888018"/>
                </a:lnTo>
                <a:lnTo>
                  <a:pt x="0" y="0"/>
                </a:lnTo>
                <a:close/>
              </a:path>
            </a:pathLst>
          </a:custGeom>
          <a:blipFill>
            <a:blip r:embed="rId3"/>
            <a:stretch>
              <a:fillRect l="-5022" t="0" r="0" b="0"/>
            </a:stretch>
          </a:blipFill>
          <a:ln w="38100" cap="sq">
            <a:solidFill>
              <a:srgbClr val="000000"/>
            </a:solidFill>
            <a:prstDash val="solid"/>
            <a:miter/>
          </a:ln>
        </p:spPr>
      </p:sp>
      <p:sp>
        <p:nvSpPr>
          <p:cNvPr name="TextBox 17" id="17"/>
          <p:cNvSpPr txBox="true"/>
          <p:nvPr/>
        </p:nvSpPr>
        <p:spPr>
          <a:xfrm rot="0">
            <a:off x="9543045" y="6096013"/>
            <a:ext cx="7834317" cy="1076960"/>
          </a:xfrm>
          <a:prstGeom prst="rect">
            <a:avLst/>
          </a:prstGeom>
        </p:spPr>
        <p:txBody>
          <a:bodyPr anchor="t" rtlCol="false" tIns="0" lIns="0" bIns="0" rIns="0">
            <a:spAutoFit/>
          </a:bodyPr>
          <a:lstStyle/>
          <a:p>
            <a:pPr algn="just">
              <a:lnSpc>
                <a:spcPts val="2859"/>
              </a:lnSpc>
            </a:pPr>
            <a:r>
              <a:rPr lang="en-US" b="true" sz="2199">
                <a:solidFill>
                  <a:srgbClr val="000000"/>
                </a:solidFill>
                <a:latin typeface="Open Sauce Bold"/>
                <a:ea typeface="Open Sauce Bold"/>
                <a:cs typeface="Open Sauce Bold"/>
                <a:sym typeface="Open Sauce Bold"/>
              </a:rPr>
              <a:t>Ajouter de nouvelles informations importantes.</a:t>
            </a:r>
          </a:p>
          <a:p>
            <a:pPr algn="just">
              <a:lnSpc>
                <a:spcPts val="2859"/>
              </a:lnSpc>
            </a:pPr>
            <a:r>
              <a:rPr lang="en-US" b="true" sz="2199">
                <a:solidFill>
                  <a:srgbClr val="000000"/>
                </a:solidFill>
                <a:latin typeface="Open Sauce Bold"/>
                <a:ea typeface="Open Sauce Bold"/>
                <a:cs typeface="Open Sauce Bold"/>
                <a:sym typeface="Open Sauce Bold"/>
              </a:rPr>
              <a:t>Comprendre que "aime" est un mot clé, et l’ajouter à la mémoire pour capturer l’action.</a:t>
            </a:r>
          </a:p>
        </p:txBody>
      </p:sp>
      <p:sp>
        <p:nvSpPr>
          <p:cNvPr name="TextBox 18" id="18"/>
          <p:cNvSpPr txBox="true"/>
          <p:nvPr/>
        </p:nvSpPr>
        <p:spPr>
          <a:xfrm rot="0">
            <a:off x="9543045" y="7763523"/>
            <a:ext cx="8399195" cy="1438910"/>
          </a:xfrm>
          <a:prstGeom prst="rect">
            <a:avLst/>
          </a:prstGeom>
        </p:spPr>
        <p:txBody>
          <a:bodyPr anchor="t" rtlCol="false" tIns="0" lIns="0" bIns="0" rIns="0">
            <a:spAutoFit/>
          </a:bodyPr>
          <a:lstStyle/>
          <a:p>
            <a:pPr algn="just">
              <a:lnSpc>
                <a:spcPts val="2859"/>
              </a:lnSpc>
            </a:pPr>
            <a:r>
              <a:rPr lang="en-US" b="true" sz="2199">
                <a:solidFill>
                  <a:srgbClr val="000000"/>
                </a:solidFill>
                <a:latin typeface="Open Sauce Bold"/>
                <a:ea typeface="Open Sauce Bold"/>
                <a:cs typeface="Open Sauce Bold"/>
                <a:sym typeface="Open Sauce Bold"/>
              </a:rPr>
              <a:t>Décider quelle partie de la mémoire utiliser pour générer l’état suivant</a:t>
            </a:r>
          </a:p>
          <a:p>
            <a:pPr algn="just">
              <a:lnSpc>
                <a:spcPts val="2859"/>
              </a:lnSpc>
            </a:pPr>
            <a:r>
              <a:rPr lang="en-US" b="true" sz="2199">
                <a:solidFill>
                  <a:srgbClr val="000000"/>
                </a:solidFill>
                <a:latin typeface="Open Sauce Bold"/>
                <a:ea typeface="Open Sauce Bold"/>
                <a:cs typeface="Open Sauce Bold"/>
                <a:sym typeface="Open Sauce Bold"/>
              </a:rPr>
              <a:t>Mettre en avant "aime chien" pour le contexte, car cela porte l’information clé pour le sentiment.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2559904" y="6800390"/>
            <a:ext cx="3329876" cy="1664938"/>
          </a:xfrm>
          <a:custGeom>
            <a:avLst/>
            <a:gdLst/>
            <a:ahLst/>
            <a:cxnLst/>
            <a:rect r="r" b="b" t="t" l="l"/>
            <a:pathLst>
              <a:path h="1664938" w="3329876">
                <a:moveTo>
                  <a:pt x="0" y="0"/>
                </a:moveTo>
                <a:lnTo>
                  <a:pt x="3329876" y="0"/>
                </a:lnTo>
                <a:lnTo>
                  <a:pt x="3329876" y="1664939"/>
                </a:lnTo>
                <a:lnTo>
                  <a:pt x="0" y="16649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07601" y="5148817"/>
            <a:ext cx="3343241" cy="1671621"/>
          </a:xfrm>
          <a:custGeom>
            <a:avLst/>
            <a:gdLst/>
            <a:ahLst/>
            <a:cxnLst/>
            <a:rect r="r" b="b" t="t" l="l"/>
            <a:pathLst>
              <a:path h="1671621" w="3343241">
                <a:moveTo>
                  <a:pt x="0" y="0"/>
                </a:moveTo>
                <a:lnTo>
                  <a:pt x="3343241" y="0"/>
                </a:lnTo>
                <a:lnTo>
                  <a:pt x="3343241" y="1671621"/>
                </a:lnTo>
                <a:lnTo>
                  <a:pt x="0" y="16716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8864124" y="6807073"/>
            <a:ext cx="3329876" cy="1664938"/>
          </a:xfrm>
          <a:custGeom>
            <a:avLst/>
            <a:gdLst/>
            <a:ahLst/>
            <a:cxnLst/>
            <a:rect r="r" b="b" t="t" l="l"/>
            <a:pathLst>
              <a:path h="1664938" w="3329876">
                <a:moveTo>
                  <a:pt x="0" y="0"/>
                </a:moveTo>
                <a:lnTo>
                  <a:pt x="3329877" y="0"/>
                </a:lnTo>
                <a:lnTo>
                  <a:pt x="3329877" y="1664938"/>
                </a:lnTo>
                <a:lnTo>
                  <a:pt x="0" y="16649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13086" y="5155500"/>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8534029" y="6813755"/>
            <a:ext cx="848136" cy="570260"/>
            <a:chOff x="0" y="0"/>
            <a:chExt cx="1930400" cy="1297940"/>
          </a:xfrm>
        </p:grpSpPr>
        <p:sp>
          <p:nvSpPr>
            <p:cNvPr name="Freeform 7" id="7"/>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2C92D5"/>
            </a:solidFill>
          </p:spPr>
        </p:sp>
      </p:grpSp>
      <p:grpSp>
        <p:nvGrpSpPr>
          <p:cNvPr name="Group 8" id="8"/>
          <p:cNvGrpSpPr>
            <a:grpSpLocks noChangeAspect="true"/>
          </p:cNvGrpSpPr>
          <p:nvPr/>
        </p:nvGrpSpPr>
        <p:grpSpPr>
          <a:xfrm rot="0">
            <a:off x="14914669" y="6800390"/>
            <a:ext cx="848136" cy="570260"/>
            <a:chOff x="0" y="0"/>
            <a:chExt cx="1930400" cy="1297940"/>
          </a:xfrm>
        </p:grpSpPr>
        <p:sp>
          <p:nvSpPr>
            <p:cNvPr name="Freeform 9" id="9"/>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13538A"/>
            </a:solidFill>
          </p:spPr>
        </p:sp>
      </p:grpSp>
      <p:grpSp>
        <p:nvGrpSpPr>
          <p:cNvPr name="Group 10" id="10"/>
          <p:cNvGrpSpPr/>
          <p:nvPr/>
        </p:nvGrpSpPr>
        <p:grpSpPr>
          <a:xfrm rot="0">
            <a:off x="3161336" y="5633384"/>
            <a:ext cx="2166177" cy="21661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B6B4"/>
            </a:solidFill>
          </p:spPr>
        </p:sp>
        <p:sp>
          <p:nvSpPr>
            <p:cNvPr name="TextBox 12" id="12"/>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1</a:t>
              </a:r>
            </a:p>
          </p:txBody>
        </p:sp>
      </p:grpSp>
      <p:grpSp>
        <p:nvGrpSpPr>
          <p:cNvPr name="Group 13" id="13"/>
          <p:cNvGrpSpPr/>
          <p:nvPr/>
        </p:nvGrpSpPr>
        <p:grpSpPr>
          <a:xfrm rot="0">
            <a:off x="6309034" y="5633384"/>
            <a:ext cx="2166177" cy="21661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C9EF"/>
            </a:solidFill>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2</a:t>
              </a:r>
            </a:p>
          </p:txBody>
        </p:sp>
      </p:grpSp>
      <p:grpSp>
        <p:nvGrpSpPr>
          <p:cNvPr name="Group 16" id="16"/>
          <p:cNvGrpSpPr/>
          <p:nvPr/>
        </p:nvGrpSpPr>
        <p:grpSpPr>
          <a:xfrm rot="0">
            <a:off x="9382165" y="5633384"/>
            <a:ext cx="2166177" cy="21661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name="TextBox 18" id="18"/>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3</a:t>
              </a:r>
            </a:p>
          </p:txBody>
        </p:sp>
      </p:grpSp>
      <p:grpSp>
        <p:nvGrpSpPr>
          <p:cNvPr name="Group 19" id="19"/>
          <p:cNvGrpSpPr/>
          <p:nvPr/>
        </p:nvGrpSpPr>
        <p:grpSpPr>
          <a:xfrm rot="0">
            <a:off x="12472267" y="5633384"/>
            <a:ext cx="2166177" cy="21661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name="TextBox 21" id="21"/>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4</a:t>
              </a:r>
            </a:p>
          </p:txBody>
        </p:sp>
      </p:grpSp>
      <p:sp>
        <p:nvSpPr>
          <p:cNvPr name="TextBox 22" id="22"/>
          <p:cNvSpPr txBox="true"/>
          <p:nvPr/>
        </p:nvSpPr>
        <p:spPr>
          <a:xfrm rot="0">
            <a:off x="6009661" y="8695310"/>
            <a:ext cx="2654445" cy="44733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 Prétraitement</a:t>
            </a:r>
          </a:p>
        </p:txBody>
      </p:sp>
      <p:sp>
        <p:nvSpPr>
          <p:cNvPr name="TextBox 23" id="23"/>
          <p:cNvSpPr txBox="true"/>
          <p:nvPr/>
        </p:nvSpPr>
        <p:spPr>
          <a:xfrm rot="0">
            <a:off x="12642819" y="8467195"/>
            <a:ext cx="2700143"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Evaluation des modèles</a:t>
            </a:r>
          </a:p>
        </p:txBody>
      </p:sp>
      <p:sp>
        <p:nvSpPr>
          <p:cNvPr name="TextBox 24" id="24"/>
          <p:cNvSpPr txBox="true"/>
          <p:nvPr/>
        </p:nvSpPr>
        <p:spPr>
          <a:xfrm rot="0">
            <a:off x="3242018" y="4663141"/>
            <a:ext cx="1965649" cy="903569"/>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collecte de données</a:t>
            </a:r>
          </a:p>
        </p:txBody>
      </p:sp>
      <p:sp>
        <p:nvSpPr>
          <p:cNvPr name="TextBox 25" id="25"/>
          <p:cNvSpPr txBox="true"/>
          <p:nvPr/>
        </p:nvSpPr>
        <p:spPr>
          <a:xfrm rot="0">
            <a:off x="8701554" y="4111563"/>
            <a:ext cx="3770713" cy="1359798"/>
          </a:xfrm>
          <a:prstGeom prst="rect">
            <a:avLst/>
          </a:prstGeom>
        </p:spPr>
        <p:txBody>
          <a:bodyPr anchor="t" rtlCol="false" tIns="0" lIns="0" bIns="0" rIns="0">
            <a:spAutoFit/>
          </a:bodyPr>
          <a:lstStyle/>
          <a:p>
            <a:pPr algn="ctr" marL="0" indent="0" lvl="0">
              <a:lnSpc>
                <a:spcPts val="3639"/>
              </a:lnSpc>
            </a:pPr>
            <a:r>
              <a:rPr lang="en-US" sz="2599" spc="77">
                <a:solidFill>
                  <a:srgbClr val="191919"/>
                </a:solidFill>
                <a:latin typeface="Aileron"/>
                <a:ea typeface="Aileron"/>
                <a:cs typeface="Aileron"/>
                <a:sym typeface="Aileron"/>
              </a:rPr>
              <a:t>Construction et entraînement du modèle </a:t>
            </a:r>
          </a:p>
        </p:txBody>
      </p:sp>
      <p:grpSp>
        <p:nvGrpSpPr>
          <p:cNvPr name="Group 26" id="26"/>
          <p:cNvGrpSpPr/>
          <p:nvPr/>
        </p:nvGrpSpPr>
        <p:grpSpPr>
          <a:xfrm rot="0">
            <a:off x="3550138" y="1234872"/>
            <a:ext cx="11187724" cy="1039832"/>
            <a:chOff x="0" y="0"/>
            <a:chExt cx="14916965" cy="1386443"/>
          </a:xfrm>
        </p:grpSpPr>
        <p:sp>
          <p:nvSpPr>
            <p:cNvPr name="TextBox 27" id="27"/>
            <p:cNvSpPr txBox="true"/>
            <p:nvPr/>
          </p:nvSpPr>
          <p:spPr>
            <a:xfrm rot="0">
              <a:off x="0" y="807746"/>
              <a:ext cx="14916965" cy="578697"/>
            </a:xfrm>
            <a:prstGeom prst="rect">
              <a:avLst/>
            </a:prstGeom>
          </p:spPr>
          <p:txBody>
            <a:bodyPr anchor="t" rtlCol="false" tIns="0" lIns="0" bIns="0" rIns="0">
              <a:spAutoFit/>
            </a:bodyPr>
            <a:lstStyle/>
            <a:p>
              <a:pPr algn="ctr" marL="0" indent="0" lvl="0">
                <a:lnSpc>
                  <a:spcPts val="3640"/>
                </a:lnSpc>
              </a:pPr>
              <a:r>
                <a:rPr lang="en-US" sz="2600" spc="78" u="none">
                  <a:solidFill>
                    <a:srgbClr val="191919"/>
                  </a:solidFill>
                  <a:latin typeface="Aileron"/>
                  <a:ea typeface="Aileron"/>
                  <a:cs typeface="Aileron"/>
                  <a:sym typeface="Aileron"/>
                </a:rPr>
                <a:t>5-Step Ordering Process</a:t>
              </a:r>
            </a:p>
          </p:txBody>
        </p:sp>
        <p:sp>
          <p:nvSpPr>
            <p:cNvPr name="TextBox 28" id="28"/>
            <p:cNvSpPr txBox="true"/>
            <p:nvPr/>
          </p:nvSpPr>
          <p:spPr>
            <a:xfrm rot="0">
              <a:off x="0" y="-47625"/>
              <a:ext cx="14916965" cy="767969"/>
            </a:xfrm>
            <a:prstGeom prst="rect">
              <a:avLst/>
            </a:prstGeom>
          </p:spPr>
          <p:txBody>
            <a:bodyPr anchor="t" rtlCol="false" tIns="0" lIns="0" bIns="0" rIns="0">
              <a:spAutoFit/>
            </a:bodyPr>
            <a:lstStyle/>
            <a:p>
              <a:pPr algn="ctr" marL="0" indent="0" lvl="0">
                <a:lnSpc>
                  <a:spcPts val="4716"/>
                </a:lnSpc>
              </a:pPr>
              <a:r>
                <a:rPr lang="en-US" b="true" sz="3600" spc="107" u="none">
                  <a:solidFill>
                    <a:srgbClr val="191919"/>
                  </a:solidFill>
                  <a:latin typeface="Aileron Ultra-Bold"/>
                  <a:ea typeface="Aileron Ultra-Bold"/>
                  <a:cs typeface="Aileron Ultra-Bold"/>
                  <a:sym typeface="Aileron Ultra-Bold"/>
                </a:rPr>
                <a:t>WAVE'S END SWIMWEAR</a:t>
              </a:r>
            </a:p>
          </p:txBody>
        </p:sp>
      </p:grpSp>
      <p:grpSp>
        <p:nvGrpSpPr>
          <p:cNvPr name="Group 29" id="29"/>
          <p:cNvGrpSpPr/>
          <p:nvPr/>
        </p:nvGrpSpPr>
        <p:grpSpPr>
          <a:xfrm rot="0">
            <a:off x="-4861436" y="1181100"/>
            <a:ext cx="19354610" cy="2258023"/>
            <a:chOff x="0" y="0"/>
            <a:chExt cx="1876002" cy="218865"/>
          </a:xfrm>
        </p:grpSpPr>
        <p:sp>
          <p:nvSpPr>
            <p:cNvPr name="Freeform 30" id="3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1" id="3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2" id="32"/>
          <p:cNvGrpSpPr/>
          <p:nvPr/>
        </p:nvGrpSpPr>
        <p:grpSpPr>
          <a:xfrm rot="0">
            <a:off x="1069260" y="3301379"/>
            <a:ext cx="5689104" cy="275488"/>
            <a:chOff x="0" y="0"/>
            <a:chExt cx="4519796" cy="218865"/>
          </a:xfrm>
        </p:grpSpPr>
        <p:sp>
          <p:nvSpPr>
            <p:cNvPr name="Freeform 33" id="33"/>
            <p:cNvSpPr/>
            <p:nvPr/>
          </p:nvSpPr>
          <p:spPr>
            <a:xfrm flipH="false" flipV="false" rot="0">
              <a:off x="0" y="0"/>
              <a:ext cx="4519796" cy="218865"/>
            </a:xfrm>
            <a:custGeom>
              <a:avLst/>
              <a:gdLst/>
              <a:ahLst/>
              <a:cxnLst/>
              <a:rect r="r" b="b" t="t" l="l"/>
              <a:pathLst>
                <a:path h="218865" w="4519796">
                  <a:moveTo>
                    <a:pt x="4316596" y="0"/>
                  </a:moveTo>
                  <a:lnTo>
                    <a:pt x="0" y="0"/>
                  </a:lnTo>
                  <a:lnTo>
                    <a:pt x="203200" y="218865"/>
                  </a:lnTo>
                  <a:lnTo>
                    <a:pt x="4519796" y="218865"/>
                  </a:lnTo>
                  <a:lnTo>
                    <a:pt x="4316596" y="0"/>
                  </a:lnTo>
                  <a:close/>
                </a:path>
              </a:pathLst>
            </a:custGeom>
            <a:solidFill>
              <a:srgbClr val="727070"/>
            </a:solidFill>
            <a:ln cap="sq">
              <a:noFill/>
              <a:prstDash val="solid"/>
              <a:miter/>
            </a:ln>
          </p:spPr>
        </p:sp>
        <p:sp>
          <p:nvSpPr>
            <p:cNvPr name="TextBox 34" id="34"/>
            <p:cNvSpPr txBox="true"/>
            <p:nvPr/>
          </p:nvSpPr>
          <p:spPr>
            <a:xfrm>
              <a:off x="101600" y="-19050"/>
              <a:ext cx="4316596"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35" id="35"/>
          <p:cNvSpPr txBox="true"/>
          <p:nvPr/>
        </p:nvSpPr>
        <p:spPr>
          <a:xfrm rot="0">
            <a:off x="1520888" y="16050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2.  PROCESSUS D'ANALYSE DES SENTIMENTS</a:t>
            </a:r>
          </a:p>
        </p:txBody>
      </p:sp>
      <p:grpSp>
        <p:nvGrpSpPr>
          <p:cNvPr name="Group 36" id="36"/>
          <p:cNvGrpSpPr/>
          <p:nvPr/>
        </p:nvGrpSpPr>
        <p:grpSpPr>
          <a:xfrm rot="0">
            <a:off x="12390350" y="173580"/>
            <a:ext cx="9534019" cy="1112295"/>
            <a:chOff x="0" y="0"/>
            <a:chExt cx="1876002" cy="218865"/>
          </a:xfrm>
        </p:grpSpPr>
        <p:sp>
          <p:nvSpPr>
            <p:cNvPr name="Freeform 37" id="37"/>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38" id="38"/>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9" id="39"/>
          <p:cNvGrpSpPr/>
          <p:nvPr/>
        </p:nvGrpSpPr>
        <p:grpSpPr>
          <a:xfrm rot="0">
            <a:off x="12134974" y="3244229"/>
            <a:ext cx="3627831" cy="6847877"/>
            <a:chOff x="0" y="0"/>
            <a:chExt cx="955478" cy="1803556"/>
          </a:xfrm>
        </p:grpSpPr>
        <p:sp>
          <p:nvSpPr>
            <p:cNvPr name="Freeform 40" id="40"/>
            <p:cNvSpPr/>
            <p:nvPr/>
          </p:nvSpPr>
          <p:spPr>
            <a:xfrm flipH="false" flipV="false" rot="0">
              <a:off x="0" y="0"/>
              <a:ext cx="955478" cy="1803556"/>
            </a:xfrm>
            <a:custGeom>
              <a:avLst/>
              <a:gdLst/>
              <a:ahLst/>
              <a:cxnLst/>
              <a:rect r="r" b="b" t="t" l="l"/>
              <a:pathLst>
                <a:path h="1803556" w="955478">
                  <a:moveTo>
                    <a:pt x="0" y="0"/>
                  </a:moveTo>
                  <a:lnTo>
                    <a:pt x="955478" y="0"/>
                  </a:lnTo>
                  <a:lnTo>
                    <a:pt x="955478" y="1803556"/>
                  </a:lnTo>
                  <a:lnTo>
                    <a:pt x="0" y="1803556"/>
                  </a:lnTo>
                  <a:close/>
                </a:path>
              </a:pathLst>
            </a:custGeom>
            <a:solidFill>
              <a:srgbClr val="000000">
                <a:alpha val="0"/>
              </a:srgbClr>
            </a:solidFill>
            <a:ln w="57150" cap="sq">
              <a:solidFill>
                <a:srgbClr val="37C9EF"/>
              </a:solidFill>
              <a:prstDash val="solid"/>
              <a:miter/>
            </a:ln>
          </p:spPr>
        </p:sp>
        <p:sp>
          <p:nvSpPr>
            <p:cNvPr name="TextBox 41" id="41"/>
            <p:cNvSpPr txBox="true"/>
            <p:nvPr/>
          </p:nvSpPr>
          <p:spPr>
            <a:xfrm>
              <a:off x="0" y="-19050"/>
              <a:ext cx="955478" cy="1822606"/>
            </a:xfrm>
            <a:prstGeom prst="rect">
              <a:avLst/>
            </a:prstGeom>
          </p:spPr>
          <p:txBody>
            <a:bodyPr anchor="ctr" rtlCol="false" tIns="50800" lIns="50800" bIns="50800" rIns="50800"/>
            <a:lstStyle/>
            <a:p>
              <a:pPr algn="ctr">
                <a:lnSpc>
                  <a:spcPts val="2859"/>
                </a:lnSpc>
              </a:pP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3"/>
            <a:stretch>
              <a:fillRect l="0" t="-38888" r="0" b="-38888"/>
            </a:stretch>
          </a:blipFill>
        </p:spPr>
      </p:sp>
      <p:grpSp>
        <p:nvGrpSpPr>
          <p:cNvPr name="Group 3" id="3"/>
          <p:cNvGrpSpPr/>
          <p:nvPr/>
        </p:nvGrpSpPr>
        <p:grpSpPr>
          <a:xfrm rot="0">
            <a:off x="6058195" y="6295701"/>
            <a:ext cx="2087711" cy="2089050"/>
            <a:chOff x="0" y="0"/>
            <a:chExt cx="3367440" cy="3369600"/>
          </a:xfrm>
        </p:grpSpPr>
        <p:sp>
          <p:nvSpPr>
            <p:cNvPr name="Freeform 4" id="4"/>
            <p:cNvSpPr/>
            <p:nvPr/>
          </p:nvSpPr>
          <p:spPr>
            <a:xfrm flipH="false" flipV="false" rot="0">
              <a:off x="0" y="0"/>
              <a:ext cx="3367405" cy="3369564"/>
            </a:xfrm>
            <a:custGeom>
              <a:avLst/>
              <a:gdLst/>
              <a:ahLst/>
              <a:cxnLst/>
              <a:rect r="r" b="b" t="t" l="l"/>
              <a:pathLst>
                <a:path h="3369564" w="3367405">
                  <a:moveTo>
                    <a:pt x="0" y="1684782"/>
                  </a:moveTo>
                  <a:cubicBezTo>
                    <a:pt x="0" y="754253"/>
                    <a:pt x="753872" y="0"/>
                    <a:pt x="1683766" y="0"/>
                  </a:cubicBezTo>
                  <a:cubicBezTo>
                    <a:pt x="2613660" y="0"/>
                    <a:pt x="3367405" y="754253"/>
                    <a:pt x="3367405" y="1684782"/>
                  </a:cubicBezTo>
                  <a:cubicBezTo>
                    <a:pt x="3367405" y="2615311"/>
                    <a:pt x="2613660" y="3369564"/>
                    <a:pt x="1683766" y="3369564"/>
                  </a:cubicBezTo>
                  <a:cubicBezTo>
                    <a:pt x="753872" y="3369564"/>
                    <a:pt x="0" y="2615311"/>
                    <a:pt x="0" y="1684782"/>
                  </a:cubicBezTo>
                  <a:close/>
                </a:path>
              </a:pathLst>
            </a:custGeom>
            <a:solidFill>
              <a:srgbClr val="727070"/>
            </a:solidFill>
          </p:spPr>
        </p:sp>
      </p:grpSp>
      <p:grpSp>
        <p:nvGrpSpPr>
          <p:cNvPr name="Group 5" id="5"/>
          <p:cNvGrpSpPr/>
          <p:nvPr/>
        </p:nvGrpSpPr>
        <p:grpSpPr>
          <a:xfrm rot="0">
            <a:off x="7104093" y="8190657"/>
            <a:ext cx="2088157" cy="2086818"/>
            <a:chOff x="0" y="0"/>
            <a:chExt cx="3368160" cy="3366000"/>
          </a:xfrm>
        </p:grpSpPr>
        <p:sp>
          <p:nvSpPr>
            <p:cNvPr name="Freeform 6" id="6"/>
            <p:cNvSpPr/>
            <p:nvPr/>
          </p:nvSpPr>
          <p:spPr>
            <a:xfrm flipH="false" flipV="false" rot="0">
              <a:off x="0" y="0"/>
              <a:ext cx="3368040" cy="3366008"/>
            </a:xfrm>
            <a:custGeom>
              <a:avLst/>
              <a:gdLst/>
              <a:ahLst/>
              <a:cxnLst/>
              <a:rect r="r" b="b" t="t" l="l"/>
              <a:pathLst>
                <a:path h="3366008" w="3368040">
                  <a:moveTo>
                    <a:pt x="0" y="1683004"/>
                  </a:moveTo>
                  <a:cubicBezTo>
                    <a:pt x="0" y="753491"/>
                    <a:pt x="753999" y="0"/>
                    <a:pt x="1684020" y="0"/>
                  </a:cubicBezTo>
                  <a:cubicBezTo>
                    <a:pt x="2614041" y="0"/>
                    <a:pt x="3368040" y="753491"/>
                    <a:pt x="3368040" y="1683004"/>
                  </a:cubicBezTo>
                  <a:cubicBezTo>
                    <a:pt x="3368040" y="2612517"/>
                    <a:pt x="2614041" y="3366008"/>
                    <a:pt x="1684020" y="3366008"/>
                  </a:cubicBezTo>
                  <a:cubicBezTo>
                    <a:pt x="753999" y="3366008"/>
                    <a:pt x="0" y="2612517"/>
                    <a:pt x="0" y="1683004"/>
                  </a:cubicBezTo>
                  <a:close/>
                </a:path>
              </a:pathLst>
            </a:custGeom>
            <a:solidFill>
              <a:srgbClr val="727070"/>
            </a:solidFill>
          </p:spPr>
        </p:sp>
      </p:grpSp>
      <p:grpSp>
        <p:nvGrpSpPr>
          <p:cNvPr name="Group 7" id="7"/>
          <p:cNvGrpSpPr/>
          <p:nvPr/>
        </p:nvGrpSpPr>
        <p:grpSpPr>
          <a:xfrm rot="0">
            <a:off x="8148395" y="6295701"/>
            <a:ext cx="2087711" cy="2089050"/>
            <a:chOff x="0" y="0"/>
            <a:chExt cx="3367440" cy="3369600"/>
          </a:xfrm>
        </p:grpSpPr>
        <p:sp>
          <p:nvSpPr>
            <p:cNvPr name="Freeform 8" id="8"/>
            <p:cNvSpPr/>
            <p:nvPr/>
          </p:nvSpPr>
          <p:spPr>
            <a:xfrm flipH="false" flipV="false" rot="0">
              <a:off x="0" y="0"/>
              <a:ext cx="3367405" cy="3369564"/>
            </a:xfrm>
            <a:custGeom>
              <a:avLst/>
              <a:gdLst/>
              <a:ahLst/>
              <a:cxnLst/>
              <a:rect r="r" b="b" t="t" l="l"/>
              <a:pathLst>
                <a:path h="3369564" w="3367405">
                  <a:moveTo>
                    <a:pt x="0" y="1684782"/>
                  </a:moveTo>
                  <a:cubicBezTo>
                    <a:pt x="0" y="754253"/>
                    <a:pt x="753872" y="0"/>
                    <a:pt x="1683766" y="0"/>
                  </a:cubicBezTo>
                  <a:cubicBezTo>
                    <a:pt x="2613660" y="0"/>
                    <a:pt x="3367405" y="754253"/>
                    <a:pt x="3367405" y="1684782"/>
                  </a:cubicBezTo>
                  <a:cubicBezTo>
                    <a:pt x="3367405" y="2615311"/>
                    <a:pt x="2613660" y="3369564"/>
                    <a:pt x="1683766" y="3369564"/>
                  </a:cubicBezTo>
                  <a:cubicBezTo>
                    <a:pt x="753872" y="3369564"/>
                    <a:pt x="0" y="2615311"/>
                    <a:pt x="0" y="1684782"/>
                  </a:cubicBezTo>
                  <a:close/>
                </a:path>
              </a:pathLst>
            </a:custGeom>
            <a:solidFill>
              <a:srgbClr val="727070"/>
            </a:solidFill>
          </p:spPr>
        </p:sp>
      </p:grpSp>
      <p:sp>
        <p:nvSpPr>
          <p:cNvPr name="TextBox 9" id="9"/>
          <p:cNvSpPr txBox="true"/>
          <p:nvPr/>
        </p:nvSpPr>
        <p:spPr>
          <a:xfrm rot="0">
            <a:off x="6212271" y="7134818"/>
            <a:ext cx="1986653" cy="426288"/>
          </a:xfrm>
          <a:prstGeom prst="rect">
            <a:avLst/>
          </a:prstGeom>
        </p:spPr>
        <p:txBody>
          <a:bodyPr anchor="t" rtlCol="false" tIns="0" lIns="0" bIns="0" rIns="0">
            <a:spAutoFit/>
          </a:bodyPr>
          <a:lstStyle/>
          <a:p>
            <a:pPr algn="ctr">
              <a:lnSpc>
                <a:spcPts val="3591"/>
              </a:lnSpc>
            </a:pPr>
            <a:r>
              <a:rPr lang="en-US" sz="2602" spc="36">
                <a:solidFill>
                  <a:srgbClr val="FFFFFF"/>
                </a:solidFill>
                <a:latin typeface="Montserrat Classic"/>
                <a:ea typeface="Montserrat Classic"/>
                <a:cs typeface="Montserrat Classic"/>
                <a:sym typeface="Montserrat Classic"/>
              </a:rPr>
              <a:t>Précision </a:t>
            </a:r>
          </a:p>
        </p:txBody>
      </p:sp>
      <p:sp>
        <p:nvSpPr>
          <p:cNvPr name="TextBox 10" id="10"/>
          <p:cNvSpPr txBox="true"/>
          <p:nvPr/>
        </p:nvSpPr>
        <p:spPr>
          <a:xfrm rot="0">
            <a:off x="8296264" y="7108032"/>
            <a:ext cx="1986653" cy="426288"/>
          </a:xfrm>
          <a:prstGeom prst="rect">
            <a:avLst/>
          </a:prstGeom>
        </p:spPr>
        <p:txBody>
          <a:bodyPr anchor="t" rtlCol="false" tIns="0" lIns="0" bIns="0" rIns="0">
            <a:spAutoFit/>
          </a:bodyPr>
          <a:lstStyle/>
          <a:p>
            <a:pPr algn="ctr">
              <a:lnSpc>
                <a:spcPts val="3591"/>
              </a:lnSpc>
            </a:pPr>
            <a:r>
              <a:rPr lang="en-US" sz="2602" spc="36">
                <a:solidFill>
                  <a:srgbClr val="FFFFFF"/>
                </a:solidFill>
                <a:latin typeface="Montserrat Classic"/>
                <a:ea typeface="Montserrat Classic"/>
                <a:cs typeface="Montserrat Classic"/>
                <a:sym typeface="Montserrat Classic"/>
              </a:rPr>
              <a:t>Rappel</a:t>
            </a:r>
          </a:p>
        </p:txBody>
      </p:sp>
      <p:sp>
        <p:nvSpPr>
          <p:cNvPr name="TextBox 11" id="11"/>
          <p:cNvSpPr txBox="true"/>
          <p:nvPr/>
        </p:nvSpPr>
        <p:spPr>
          <a:xfrm rot="0">
            <a:off x="7205597" y="9001872"/>
            <a:ext cx="1986653" cy="426288"/>
          </a:xfrm>
          <a:prstGeom prst="rect">
            <a:avLst/>
          </a:prstGeom>
        </p:spPr>
        <p:txBody>
          <a:bodyPr anchor="t" rtlCol="false" tIns="0" lIns="0" bIns="0" rIns="0">
            <a:spAutoFit/>
          </a:bodyPr>
          <a:lstStyle/>
          <a:p>
            <a:pPr algn="ctr">
              <a:lnSpc>
                <a:spcPts val="3591"/>
              </a:lnSpc>
            </a:pPr>
            <a:r>
              <a:rPr lang="en-US" sz="2602" spc="36">
                <a:solidFill>
                  <a:srgbClr val="FFFFFF"/>
                </a:solidFill>
                <a:latin typeface="Montserrat Classic"/>
                <a:ea typeface="Montserrat Classic"/>
                <a:cs typeface="Montserrat Classic"/>
                <a:sym typeface="Montserrat Classic"/>
              </a:rPr>
              <a:t>F1-Score </a:t>
            </a:r>
          </a:p>
        </p:txBody>
      </p:sp>
      <p:sp>
        <p:nvSpPr>
          <p:cNvPr name="TextBox 12" id="12"/>
          <p:cNvSpPr txBox="true"/>
          <p:nvPr/>
        </p:nvSpPr>
        <p:spPr>
          <a:xfrm rot="0">
            <a:off x="41371" y="6598127"/>
            <a:ext cx="5866466" cy="1076960"/>
          </a:xfrm>
          <a:prstGeom prst="rect">
            <a:avLst/>
          </a:prstGeom>
        </p:spPr>
        <p:txBody>
          <a:bodyPr anchor="t" rtlCol="false" tIns="0" lIns="0" bIns="0" rIns="0">
            <a:spAutoFit/>
          </a:bodyPr>
          <a:lstStyle/>
          <a:p>
            <a:pPr algn="ctr">
              <a:lnSpc>
                <a:spcPts val="2859"/>
              </a:lnSpc>
            </a:pPr>
          </a:p>
          <a:p>
            <a:pPr algn="ctr">
              <a:lnSpc>
                <a:spcPts val="2859"/>
              </a:lnSpc>
            </a:pPr>
            <a:r>
              <a:rPr lang="en-US" sz="2199">
                <a:solidFill>
                  <a:srgbClr val="000000"/>
                </a:solidFill>
                <a:latin typeface="Open Sauce"/>
                <a:ea typeface="Open Sauce"/>
                <a:cs typeface="Open Sauce"/>
                <a:sym typeface="Open Sauce"/>
              </a:rPr>
              <a:t>Pécision=Vrai Positifs (VP)/</a:t>
            </a:r>
          </a:p>
          <a:p>
            <a:pPr algn="ctr">
              <a:lnSpc>
                <a:spcPts val="2859"/>
              </a:lnSpc>
              <a:spcBef>
                <a:spcPct val="0"/>
              </a:spcBef>
            </a:pPr>
            <a:r>
              <a:rPr lang="en-US" sz="2199">
                <a:solidFill>
                  <a:srgbClr val="000000"/>
                </a:solidFill>
                <a:latin typeface="Open Sauce"/>
                <a:ea typeface="Open Sauce"/>
                <a:cs typeface="Open Sauce"/>
                <a:sym typeface="Open Sauce"/>
              </a:rPr>
              <a:t>Vrai Positifs (VP)+Faux Positifs (FP)</a:t>
            </a:r>
          </a:p>
        </p:txBody>
      </p:sp>
      <p:sp>
        <p:nvSpPr>
          <p:cNvPr name="TextBox 13" id="13"/>
          <p:cNvSpPr txBox="true"/>
          <p:nvPr/>
        </p:nvSpPr>
        <p:spPr>
          <a:xfrm rot="0">
            <a:off x="10282917" y="6598127"/>
            <a:ext cx="5866466" cy="1076960"/>
          </a:xfrm>
          <a:prstGeom prst="rect">
            <a:avLst/>
          </a:prstGeom>
        </p:spPr>
        <p:txBody>
          <a:bodyPr anchor="t" rtlCol="false" tIns="0" lIns="0" bIns="0" rIns="0">
            <a:spAutoFit/>
          </a:bodyPr>
          <a:lstStyle/>
          <a:p>
            <a:pPr algn="ctr">
              <a:lnSpc>
                <a:spcPts val="2859"/>
              </a:lnSpc>
            </a:pPr>
            <a:r>
              <a:rPr lang="en-US" sz="2199">
                <a:solidFill>
                  <a:srgbClr val="000000"/>
                </a:solidFill>
                <a:latin typeface="Open Sauce"/>
                <a:ea typeface="Open Sauce"/>
                <a:cs typeface="Open Sauce"/>
                <a:sym typeface="Open Sauce"/>
              </a:rPr>
              <a:t>Rappel=Vrai Positifs (VP)/</a:t>
            </a:r>
          </a:p>
          <a:p>
            <a:pPr algn="ctr">
              <a:lnSpc>
                <a:spcPts val="2859"/>
              </a:lnSpc>
            </a:pPr>
            <a:r>
              <a:rPr lang="en-US" sz="2199">
                <a:solidFill>
                  <a:srgbClr val="000000"/>
                </a:solidFill>
                <a:latin typeface="Open Sauce"/>
                <a:ea typeface="Open Sauce"/>
                <a:cs typeface="Open Sauce"/>
                <a:sym typeface="Open Sauce"/>
              </a:rPr>
              <a:t>Faux Négatifs (FN) +Vrai Positifs (VP)​</a:t>
            </a:r>
          </a:p>
          <a:p>
            <a:pPr algn="ctr">
              <a:lnSpc>
                <a:spcPts val="2859"/>
              </a:lnSpc>
              <a:spcBef>
                <a:spcPct val="0"/>
              </a:spcBef>
            </a:pPr>
          </a:p>
        </p:txBody>
      </p:sp>
      <p:sp>
        <p:nvSpPr>
          <p:cNvPr name="TextBox 14" id="14"/>
          <p:cNvSpPr txBox="true"/>
          <p:nvPr/>
        </p:nvSpPr>
        <p:spPr>
          <a:xfrm rot="0">
            <a:off x="8985722" y="9001817"/>
            <a:ext cx="5866466" cy="715010"/>
          </a:xfrm>
          <a:prstGeom prst="rect">
            <a:avLst/>
          </a:prstGeom>
        </p:spPr>
        <p:txBody>
          <a:bodyPr anchor="t" rtlCol="false" tIns="0" lIns="0" bIns="0" rIns="0">
            <a:spAutoFit/>
          </a:bodyPr>
          <a:lstStyle/>
          <a:p>
            <a:pPr algn="ctr">
              <a:lnSpc>
                <a:spcPts val="2859"/>
              </a:lnSpc>
              <a:spcBef>
                <a:spcPct val="0"/>
              </a:spcBef>
            </a:pPr>
            <a:r>
              <a:rPr lang="en-US" sz="2199">
                <a:solidFill>
                  <a:srgbClr val="000000"/>
                </a:solidFill>
                <a:latin typeface="Open Sauce"/>
                <a:ea typeface="Open Sauce"/>
                <a:cs typeface="Open Sauce"/>
                <a:sym typeface="Open Sauce"/>
              </a:rPr>
              <a:t>F1score=2×Precision+Rappel /   Précision×Rappel​</a:t>
            </a:r>
          </a:p>
        </p:txBody>
      </p:sp>
      <p:grpSp>
        <p:nvGrpSpPr>
          <p:cNvPr name="Group 15" id="15"/>
          <p:cNvGrpSpPr/>
          <p:nvPr/>
        </p:nvGrpSpPr>
        <p:grpSpPr>
          <a:xfrm rot="0">
            <a:off x="2099280" y="4510102"/>
            <a:ext cx="736150" cy="636369"/>
            <a:chOff x="0" y="0"/>
            <a:chExt cx="193883" cy="167603"/>
          </a:xfrm>
        </p:grpSpPr>
        <p:sp>
          <p:nvSpPr>
            <p:cNvPr name="Freeform 16" id="16"/>
            <p:cNvSpPr/>
            <p:nvPr/>
          </p:nvSpPr>
          <p:spPr>
            <a:xfrm flipH="false" flipV="false" rot="0">
              <a:off x="0" y="0"/>
              <a:ext cx="193883" cy="167603"/>
            </a:xfrm>
            <a:custGeom>
              <a:avLst/>
              <a:gdLst/>
              <a:ahLst/>
              <a:cxnLst/>
              <a:rect r="r" b="b" t="t" l="l"/>
              <a:pathLst>
                <a:path h="167603" w="193883">
                  <a:moveTo>
                    <a:pt x="83802" y="0"/>
                  </a:moveTo>
                  <a:lnTo>
                    <a:pt x="110081" y="0"/>
                  </a:lnTo>
                  <a:cubicBezTo>
                    <a:pt x="156364" y="0"/>
                    <a:pt x="193883" y="37519"/>
                    <a:pt x="193883" y="83802"/>
                  </a:cubicBezTo>
                  <a:lnTo>
                    <a:pt x="193883" y="83802"/>
                  </a:lnTo>
                  <a:cubicBezTo>
                    <a:pt x="193883" y="130084"/>
                    <a:pt x="156364" y="167603"/>
                    <a:pt x="110081" y="167603"/>
                  </a:cubicBezTo>
                  <a:lnTo>
                    <a:pt x="83802" y="167603"/>
                  </a:lnTo>
                  <a:cubicBezTo>
                    <a:pt x="37519" y="167603"/>
                    <a:pt x="0" y="130084"/>
                    <a:pt x="0" y="83802"/>
                  </a:cubicBezTo>
                  <a:lnTo>
                    <a:pt x="0" y="83802"/>
                  </a:lnTo>
                  <a:cubicBezTo>
                    <a:pt x="0" y="37519"/>
                    <a:pt x="37519" y="0"/>
                    <a:pt x="83802" y="0"/>
                  </a:cubicBezTo>
                  <a:close/>
                </a:path>
              </a:pathLst>
            </a:custGeom>
            <a:solidFill>
              <a:srgbClr val="1A1A1A"/>
            </a:solidFill>
          </p:spPr>
        </p:sp>
        <p:sp>
          <p:nvSpPr>
            <p:cNvPr name="TextBox 17" id="17"/>
            <p:cNvSpPr txBox="true"/>
            <p:nvPr/>
          </p:nvSpPr>
          <p:spPr>
            <a:xfrm>
              <a:off x="0" y="-66675"/>
              <a:ext cx="193883" cy="234278"/>
            </a:xfrm>
            <a:prstGeom prst="rect">
              <a:avLst/>
            </a:prstGeom>
          </p:spPr>
          <p:txBody>
            <a:bodyPr anchor="t" rtlCol="false" tIns="50800" lIns="50800" bIns="50800" rIns="50800"/>
            <a:lstStyle/>
            <a:p>
              <a:pPr algn="ctr" marL="0" indent="0" lvl="0">
                <a:lnSpc>
                  <a:spcPts val="4114"/>
                </a:lnSpc>
                <a:spcBef>
                  <a:spcPct val="0"/>
                </a:spcBef>
              </a:pPr>
              <a:r>
                <a:rPr lang="en-US" b="true" sz="2981" spc="29">
                  <a:solidFill>
                    <a:srgbClr val="FFFFFF"/>
                  </a:solidFill>
                  <a:latin typeface="Montserrat Classic Bold"/>
                  <a:ea typeface="Montserrat Classic Bold"/>
                  <a:cs typeface="Montserrat Classic Bold"/>
                  <a:sym typeface="Montserrat Classic Bold"/>
                </a:rPr>
                <a:t>04</a:t>
              </a:r>
            </a:p>
          </p:txBody>
        </p:sp>
      </p:grpSp>
      <p:sp>
        <p:nvSpPr>
          <p:cNvPr name="TextBox 18" id="18"/>
          <p:cNvSpPr txBox="true"/>
          <p:nvPr/>
        </p:nvSpPr>
        <p:spPr>
          <a:xfrm rot="0">
            <a:off x="2993846" y="4462477"/>
            <a:ext cx="11268938" cy="460010"/>
          </a:xfrm>
          <a:prstGeom prst="rect">
            <a:avLst/>
          </a:prstGeom>
        </p:spPr>
        <p:txBody>
          <a:bodyPr anchor="t" rtlCol="false" tIns="0" lIns="0" bIns="0" rIns="0">
            <a:spAutoFit/>
          </a:bodyPr>
          <a:lstStyle/>
          <a:p>
            <a:pPr algn="l" marL="0" indent="0" lvl="0">
              <a:lnSpc>
                <a:spcPts val="3740"/>
              </a:lnSpc>
              <a:spcBef>
                <a:spcPct val="0"/>
              </a:spcBef>
            </a:pPr>
            <a:r>
              <a:rPr lang="en-US" b="true" sz="2710" spc="265">
                <a:solidFill>
                  <a:srgbClr val="231F20"/>
                </a:solidFill>
                <a:latin typeface="Montserrat Light Bold"/>
                <a:ea typeface="Montserrat Light Bold"/>
                <a:cs typeface="Montserrat Light Bold"/>
                <a:sym typeface="Montserrat Light Bold"/>
              </a:rPr>
              <a:t>Evaluation des modèles en utilisant les  métriques:</a:t>
            </a:r>
          </a:p>
        </p:txBody>
      </p:sp>
      <p:grpSp>
        <p:nvGrpSpPr>
          <p:cNvPr name="Group 19" id="19"/>
          <p:cNvGrpSpPr/>
          <p:nvPr/>
        </p:nvGrpSpPr>
        <p:grpSpPr>
          <a:xfrm rot="0">
            <a:off x="-4709036" y="1333500"/>
            <a:ext cx="19354610" cy="2395767"/>
            <a:chOff x="0" y="0"/>
            <a:chExt cx="1876002" cy="232217"/>
          </a:xfrm>
        </p:grpSpPr>
        <p:sp>
          <p:nvSpPr>
            <p:cNvPr name="Freeform 20" id="20"/>
            <p:cNvSpPr/>
            <p:nvPr/>
          </p:nvSpPr>
          <p:spPr>
            <a:xfrm flipH="false" flipV="false" rot="0">
              <a:off x="0" y="0"/>
              <a:ext cx="1876002" cy="232217"/>
            </a:xfrm>
            <a:custGeom>
              <a:avLst/>
              <a:gdLst/>
              <a:ahLst/>
              <a:cxnLst/>
              <a:rect r="r" b="b" t="t" l="l"/>
              <a:pathLst>
                <a:path h="232217" w="1876002">
                  <a:moveTo>
                    <a:pt x="1672802" y="0"/>
                  </a:moveTo>
                  <a:lnTo>
                    <a:pt x="0" y="0"/>
                  </a:lnTo>
                  <a:lnTo>
                    <a:pt x="203200" y="232217"/>
                  </a:lnTo>
                  <a:lnTo>
                    <a:pt x="1876002" y="232217"/>
                  </a:lnTo>
                  <a:lnTo>
                    <a:pt x="1672802" y="0"/>
                  </a:lnTo>
                  <a:close/>
                </a:path>
              </a:pathLst>
            </a:custGeom>
            <a:solidFill>
              <a:srgbClr val="727070"/>
            </a:solidFill>
            <a:ln cap="sq">
              <a:noFill/>
              <a:prstDash val="solid"/>
              <a:miter/>
            </a:ln>
          </p:spPr>
        </p:sp>
        <p:sp>
          <p:nvSpPr>
            <p:cNvPr name="TextBox 21" id="21"/>
            <p:cNvSpPr txBox="true"/>
            <p:nvPr/>
          </p:nvSpPr>
          <p:spPr>
            <a:xfrm>
              <a:off x="101600" y="-19050"/>
              <a:ext cx="1672802" cy="251267"/>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22" id="22"/>
          <p:cNvSpPr/>
          <p:nvPr/>
        </p:nvSpPr>
        <p:spPr>
          <a:xfrm>
            <a:off x="-410690" y="1266825"/>
            <a:ext cx="12921291" cy="0"/>
          </a:xfrm>
          <a:prstGeom prst="line">
            <a:avLst/>
          </a:prstGeom>
          <a:ln cap="flat" w="38100">
            <a:solidFill>
              <a:srgbClr val="000000"/>
            </a:solidFill>
            <a:prstDash val="solid"/>
            <a:headEnd type="none" len="sm" w="sm"/>
            <a:tailEnd type="none" len="sm" w="sm"/>
          </a:ln>
        </p:spPr>
      </p:sp>
      <p:sp>
        <p:nvSpPr>
          <p:cNvPr name="AutoShape 23" id="23"/>
          <p:cNvSpPr/>
          <p:nvPr/>
        </p:nvSpPr>
        <p:spPr>
          <a:xfrm>
            <a:off x="-258290" y="1419225"/>
            <a:ext cx="12921291" cy="0"/>
          </a:xfrm>
          <a:prstGeom prst="line">
            <a:avLst/>
          </a:prstGeom>
          <a:ln cap="flat" w="38100">
            <a:solidFill>
              <a:srgbClr val="000000"/>
            </a:solidFill>
            <a:prstDash val="solid"/>
            <a:headEnd type="none" len="sm" w="sm"/>
            <a:tailEnd type="none" len="sm" w="sm"/>
          </a:ln>
        </p:spPr>
      </p:sp>
      <p:grpSp>
        <p:nvGrpSpPr>
          <p:cNvPr name="Group 24" id="24"/>
          <p:cNvGrpSpPr/>
          <p:nvPr/>
        </p:nvGrpSpPr>
        <p:grpSpPr>
          <a:xfrm rot="0">
            <a:off x="12542750" y="325980"/>
            <a:ext cx="9534019" cy="1112295"/>
            <a:chOff x="0" y="0"/>
            <a:chExt cx="1876002" cy="218865"/>
          </a:xfrm>
        </p:grpSpPr>
        <p:sp>
          <p:nvSpPr>
            <p:cNvPr name="Freeform 25" id="25"/>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26" id="26"/>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27" id="27"/>
          <p:cNvSpPr txBox="true"/>
          <p:nvPr/>
        </p:nvSpPr>
        <p:spPr>
          <a:xfrm rot="0">
            <a:off x="1673288" y="1757417"/>
            <a:ext cx="11631990" cy="1639213"/>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2. PROCESSUS D'ANALYSE DES SENTIMENTS</a:t>
            </a:r>
          </a:p>
        </p:txBody>
      </p:sp>
      <p:sp>
        <p:nvSpPr>
          <p:cNvPr name="TextBox 28" id="28"/>
          <p:cNvSpPr txBox="true"/>
          <p:nvPr/>
        </p:nvSpPr>
        <p:spPr>
          <a:xfrm rot="0">
            <a:off x="17803137" y="9669202"/>
            <a:ext cx="602056" cy="482130"/>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19</a:t>
            </a:r>
          </a:p>
        </p:txBody>
      </p:sp>
      <p:sp>
        <p:nvSpPr>
          <p:cNvPr name="TextBox 29" id="29"/>
          <p:cNvSpPr txBox="true"/>
          <p:nvPr/>
        </p:nvSpPr>
        <p:spPr>
          <a:xfrm rot="0">
            <a:off x="358215" y="4874863"/>
            <a:ext cx="17255015" cy="1846850"/>
          </a:xfrm>
          <a:prstGeom prst="rect">
            <a:avLst/>
          </a:prstGeom>
        </p:spPr>
        <p:txBody>
          <a:bodyPr anchor="t" rtlCol="false" tIns="0" lIns="0" bIns="0" rIns="0">
            <a:spAutoFit/>
          </a:bodyPr>
          <a:lstStyle/>
          <a:p>
            <a:pPr algn="l">
              <a:lnSpc>
                <a:spcPts val="3326"/>
              </a:lnSpc>
            </a:pPr>
          </a:p>
          <a:p>
            <a:pPr algn="l">
              <a:lnSpc>
                <a:spcPts val="3326"/>
              </a:lnSpc>
            </a:pPr>
            <a:r>
              <a:rPr lang="en-US" sz="2410" spc="236">
                <a:solidFill>
                  <a:srgbClr val="231F20"/>
                </a:solidFill>
                <a:latin typeface="Montserrat Light"/>
                <a:ea typeface="Montserrat Light"/>
                <a:cs typeface="Montserrat Light"/>
                <a:sym typeface="Montserrat Light"/>
              </a:rPr>
              <a:t>L'évaluation des modèles consiste à mesurer la capacité d'un modèle à classer correctement les sentiments d'un texte.</a:t>
            </a:r>
          </a:p>
          <a:p>
            <a:pPr algn="l" marL="0" indent="0" lvl="0">
              <a:lnSpc>
                <a:spcPts val="4844"/>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2542750" y="325980"/>
            <a:ext cx="9534019" cy="1112295"/>
            <a:chOff x="0" y="0"/>
            <a:chExt cx="1876002" cy="218865"/>
          </a:xfrm>
        </p:grpSpPr>
        <p:sp>
          <p:nvSpPr>
            <p:cNvPr name="Freeform 4" id="4"/>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5" id="5"/>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6" id="6"/>
          <p:cNvGrpSpPr/>
          <p:nvPr/>
        </p:nvGrpSpPr>
        <p:grpSpPr>
          <a:xfrm rot="0">
            <a:off x="-3738309" y="8702153"/>
            <a:ext cx="9534019" cy="1112295"/>
            <a:chOff x="0" y="0"/>
            <a:chExt cx="1876002" cy="218865"/>
          </a:xfrm>
        </p:grpSpPr>
        <p:sp>
          <p:nvSpPr>
            <p:cNvPr name="Freeform 7" id="7"/>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8" id="8"/>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9" id="9"/>
          <p:cNvSpPr txBox="true"/>
          <p:nvPr/>
        </p:nvSpPr>
        <p:spPr>
          <a:xfrm rot="0">
            <a:off x="3872777" y="2859798"/>
            <a:ext cx="8278287" cy="3045461"/>
          </a:xfrm>
          <a:prstGeom prst="rect">
            <a:avLst/>
          </a:prstGeom>
        </p:spPr>
        <p:txBody>
          <a:bodyPr anchor="t" rtlCol="false" tIns="0" lIns="0" bIns="0" rIns="0">
            <a:spAutoFit/>
          </a:bodyPr>
          <a:lstStyle/>
          <a:p>
            <a:pPr algn="ctr">
              <a:lnSpc>
                <a:spcPts val="8059"/>
              </a:lnSpc>
              <a:spcBef>
                <a:spcPct val="0"/>
              </a:spcBef>
            </a:pPr>
            <a:r>
              <a:rPr lang="en-US" b="true" sz="6199">
                <a:solidFill>
                  <a:srgbClr val="000000"/>
                </a:solidFill>
                <a:latin typeface="Open Sauce Bold"/>
                <a:ea typeface="Open Sauce Bold"/>
                <a:cs typeface="Open Sauce Bold"/>
                <a:sym typeface="Open Sauce Bold"/>
              </a:rPr>
              <a:t>Mise en Pratique : Atelier et Implémentation</a:t>
            </a:r>
          </a:p>
        </p:txBody>
      </p:sp>
      <p:sp>
        <p:nvSpPr>
          <p:cNvPr name="TextBox 10" id="10"/>
          <p:cNvSpPr txBox="true"/>
          <p:nvPr/>
        </p:nvSpPr>
        <p:spPr>
          <a:xfrm rot="0">
            <a:off x="17685944" y="9766822"/>
            <a:ext cx="602056" cy="963605"/>
          </a:xfrm>
          <a:prstGeom prst="rect">
            <a:avLst/>
          </a:prstGeom>
        </p:spPr>
        <p:txBody>
          <a:bodyPr anchor="t" rtlCol="false" tIns="0" lIns="0" bIns="0" rIns="0">
            <a:spAutoFit/>
          </a:bodyPr>
          <a:lstStyle/>
          <a:p>
            <a:pPr algn="l">
              <a:lnSpc>
                <a:spcPts val="3855"/>
              </a:lnSpc>
            </a:pPr>
            <a:r>
              <a:rPr lang="en-US" sz="2793" spc="273" b="true">
                <a:solidFill>
                  <a:srgbClr val="231F20"/>
                </a:solidFill>
                <a:latin typeface="Montserrat Light Bold"/>
                <a:ea typeface="Montserrat Light Bold"/>
                <a:cs typeface="Montserrat Light Bold"/>
                <a:sym typeface="Montserrat Light Bold"/>
              </a:rPr>
              <a:t>20</a:t>
            </a:r>
          </a:p>
          <a:p>
            <a:pPr algn="l" marL="0" indent="0" lvl="0">
              <a:lnSpc>
                <a:spcPts val="3855"/>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0">
            <a:off x="12924060" y="9846926"/>
            <a:ext cx="2799147" cy="440074"/>
          </a:xfrm>
          <a:custGeom>
            <a:avLst/>
            <a:gdLst/>
            <a:ahLst/>
            <a:cxnLst/>
            <a:rect r="r" b="b" t="t" l="l"/>
            <a:pathLst>
              <a:path h="440074" w="2799147">
                <a:moveTo>
                  <a:pt x="0" y="0"/>
                </a:moveTo>
                <a:lnTo>
                  <a:pt x="2799146" y="0"/>
                </a:lnTo>
                <a:lnTo>
                  <a:pt x="2799146" y="440074"/>
                </a:lnTo>
                <a:lnTo>
                  <a:pt x="0" y="440074"/>
                </a:lnTo>
                <a:lnTo>
                  <a:pt x="0" y="0"/>
                </a:lnTo>
                <a:close/>
              </a:path>
            </a:pathLst>
          </a:custGeom>
          <a:blipFill>
            <a:blip r:embed="rId2"/>
            <a:stretch>
              <a:fillRect l="0" t="-25622" r="0" b="0"/>
            </a:stretch>
          </a:blipFill>
        </p:spPr>
      </p:sp>
      <p:sp>
        <p:nvSpPr>
          <p:cNvPr name="Freeform 3" id="3"/>
          <p:cNvSpPr/>
          <p:nvPr/>
        </p:nvSpPr>
        <p:spPr>
          <a:xfrm flipH="false" flipV="false" rot="0">
            <a:off x="16189931" y="998090"/>
            <a:ext cx="2799147" cy="440074"/>
          </a:xfrm>
          <a:custGeom>
            <a:avLst/>
            <a:gdLst/>
            <a:ahLst/>
            <a:cxnLst/>
            <a:rect r="r" b="b" t="t" l="l"/>
            <a:pathLst>
              <a:path h="440074" w="2799147">
                <a:moveTo>
                  <a:pt x="0" y="0"/>
                </a:moveTo>
                <a:lnTo>
                  <a:pt x="2799147" y="0"/>
                </a:lnTo>
                <a:lnTo>
                  <a:pt x="2799147" y="440074"/>
                </a:lnTo>
                <a:lnTo>
                  <a:pt x="0" y="440074"/>
                </a:lnTo>
                <a:lnTo>
                  <a:pt x="0" y="0"/>
                </a:lnTo>
                <a:close/>
              </a:path>
            </a:pathLst>
          </a:custGeom>
          <a:blipFill>
            <a:blip r:embed="rId2"/>
            <a:stretch>
              <a:fillRect l="0" t="-25622" r="0" b="0"/>
            </a:stretch>
          </a:blipFill>
        </p:spPr>
      </p:sp>
      <p:grpSp>
        <p:nvGrpSpPr>
          <p:cNvPr name="Group 4" id="4"/>
          <p:cNvGrpSpPr/>
          <p:nvPr/>
        </p:nvGrpSpPr>
        <p:grpSpPr>
          <a:xfrm rot="0">
            <a:off x="-4556636" y="1485900"/>
            <a:ext cx="19354610" cy="2395767"/>
            <a:chOff x="0" y="0"/>
            <a:chExt cx="1876002" cy="232217"/>
          </a:xfrm>
        </p:grpSpPr>
        <p:sp>
          <p:nvSpPr>
            <p:cNvPr name="Freeform 5" id="5"/>
            <p:cNvSpPr/>
            <p:nvPr/>
          </p:nvSpPr>
          <p:spPr>
            <a:xfrm flipH="false" flipV="false" rot="0">
              <a:off x="0" y="0"/>
              <a:ext cx="1876002" cy="232217"/>
            </a:xfrm>
            <a:custGeom>
              <a:avLst/>
              <a:gdLst/>
              <a:ahLst/>
              <a:cxnLst/>
              <a:rect r="r" b="b" t="t" l="l"/>
              <a:pathLst>
                <a:path h="232217" w="1876002">
                  <a:moveTo>
                    <a:pt x="1672802" y="0"/>
                  </a:moveTo>
                  <a:lnTo>
                    <a:pt x="0" y="0"/>
                  </a:lnTo>
                  <a:lnTo>
                    <a:pt x="203200" y="232217"/>
                  </a:lnTo>
                  <a:lnTo>
                    <a:pt x="1876002" y="232217"/>
                  </a:lnTo>
                  <a:lnTo>
                    <a:pt x="1672802" y="0"/>
                  </a:lnTo>
                  <a:close/>
                </a:path>
              </a:pathLst>
            </a:custGeom>
            <a:solidFill>
              <a:srgbClr val="727070"/>
            </a:solidFill>
            <a:ln cap="sq">
              <a:noFill/>
              <a:prstDash val="solid"/>
              <a:miter/>
            </a:ln>
          </p:spPr>
        </p:sp>
        <p:sp>
          <p:nvSpPr>
            <p:cNvPr name="TextBox 6" id="6"/>
            <p:cNvSpPr txBox="true"/>
            <p:nvPr/>
          </p:nvSpPr>
          <p:spPr>
            <a:xfrm>
              <a:off x="101600" y="-19050"/>
              <a:ext cx="1672802" cy="251267"/>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AutoShape 7" id="7"/>
          <p:cNvSpPr/>
          <p:nvPr/>
        </p:nvSpPr>
        <p:spPr>
          <a:xfrm>
            <a:off x="-258290" y="1419225"/>
            <a:ext cx="12921291" cy="0"/>
          </a:xfrm>
          <a:prstGeom prst="line">
            <a:avLst/>
          </a:prstGeom>
          <a:ln cap="flat" w="38100">
            <a:solidFill>
              <a:srgbClr val="000000"/>
            </a:solidFill>
            <a:prstDash val="solid"/>
            <a:headEnd type="none" len="sm" w="sm"/>
            <a:tailEnd type="none" len="sm" w="sm"/>
          </a:ln>
        </p:spPr>
      </p:sp>
      <p:sp>
        <p:nvSpPr>
          <p:cNvPr name="AutoShape 8" id="8"/>
          <p:cNvSpPr/>
          <p:nvPr/>
        </p:nvSpPr>
        <p:spPr>
          <a:xfrm>
            <a:off x="-105890" y="1571625"/>
            <a:ext cx="12921291" cy="0"/>
          </a:xfrm>
          <a:prstGeom prst="line">
            <a:avLst/>
          </a:prstGeom>
          <a:ln cap="flat" w="38100">
            <a:solidFill>
              <a:srgbClr val="000000"/>
            </a:solidFill>
            <a:prstDash val="solid"/>
            <a:headEnd type="none" len="sm" w="sm"/>
            <a:tailEnd type="none" len="sm" w="sm"/>
          </a:ln>
        </p:spPr>
      </p:sp>
      <p:grpSp>
        <p:nvGrpSpPr>
          <p:cNvPr name="Group 9" id="9"/>
          <p:cNvGrpSpPr/>
          <p:nvPr/>
        </p:nvGrpSpPr>
        <p:grpSpPr>
          <a:xfrm rot="0">
            <a:off x="12695150" y="478380"/>
            <a:ext cx="9534019" cy="1112295"/>
            <a:chOff x="0" y="0"/>
            <a:chExt cx="1876002" cy="218865"/>
          </a:xfrm>
        </p:grpSpPr>
        <p:sp>
          <p:nvSpPr>
            <p:cNvPr name="Freeform 10" id="10"/>
            <p:cNvSpPr/>
            <p:nvPr/>
          </p:nvSpPr>
          <p:spPr>
            <a:xfrm flipH="false" flipV="false" rot="0">
              <a:off x="0" y="0"/>
              <a:ext cx="1876002" cy="218865"/>
            </a:xfrm>
            <a:custGeom>
              <a:avLst/>
              <a:gdLst/>
              <a:ahLst/>
              <a:cxnLst/>
              <a:rect r="r" b="b" t="t" l="l"/>
              <a:pathLst>
                <a:path h="218865" w="1876002">
                  <a:moveTo>
                    <a:pt x="1672802" y="0"/>
                  </a:moveTo>
                  <a:lnTo>
                    <a:pt x="0" y="0"/>
                  </a:lnTo>
                  <a:lnTo>
                    <a:pt x="203200" y="218865"/>
                  </a:lnTo>
                  <a:lnTo>
                    <a:pt x="1876002" y="218865"/>
                  </a:lnTo>
                  <a:lnTo>
                    <a:pt x="1672802" y="0"/>
                  </a:lnTo>
                  <a:close/>
                </a:path>
              </a:pathLst>
            </a:custGeom>
            <a:solidFill>
              <a:srgbClr val="727070"/>
            </a:solidFill>
            <a:ln cap="sq">
              <a:noFill/>
              <a:prstDash val="solid"/>
              <a:miter/>
            </a:ln>
          </p:spPr>
        </p:sp>
        <p:sp>
          <p:nvSpPr>
            <p:cNvPr name="TextBox 11" id="11"/>
            <p:cNvSpPr txBox="true"/>
            <p:nvPr/>
          </p:nvSpPr>
          <p:spPr>
            <a:xfrm>
              <a:off x="101600" y="-19050"/>
              <a:ext cx="1672802" cy="237915"/>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2" id="12"/>
          <p:cNvSpPr txBox="true"/>
          <p:nvPr/>
        </p:nvSpPr>
        <p:spPr>
          <a:xfrm rot="0">
            <a:off x="263266" y="2229664"/>
            <a:ext cx="6956011" cy="812989"/>
          </a:xfrm>
          <a:prstGeom prst="rect">
            <a:avLst/>
          </a:prstGeom>
        </p:spPr>
        <p:txBody>
          <a:bodyPr anchor="t" rtlCol="false" tIns="0" lIns="0" bIns="0" rIns="0">
            <a:spAutoFit/>
          </a:bodyPr>
          <a:lstStyle/>
          <a:p>
            <a:pPr algn="ctr" marL="0" indent="0" lvl="0">
              <a:lnSpc>
                <a:spcPts val="6548"/>
              </a:lnSpc>
              <a:spcBef>
                <a:spcPct val="0"/>
              </a:spcBef>
            </a:pPr>
            <a:r>
              <a:rPr lang="en-US" sz="4745" spc="37">
                <a:solidFill>
                  <a:srgbClr val="FFFFFF"/>
                </a:solidFill>
                <a:latin typeface="Archivo Black"/>
                <a:ea typeface="Archivo Black"/>
                <a:cs typeface="Archivo Black"/>
                <a:sym typeface="Archivo Black"/>
              </a:rPr>
              <a:t> 3. CONCLUSION</a:t>
            </a:r>
          </a:p>
        </p:txBody>
      </p:sp>
      <p:sp>
        <p:nvSpPr>
          <p:cNvPr name="TextBox 13" id="13"/>
          <p:cNvSpPr txBox="true"/>
          <p:nvPr/>
        </p:nvSpPr>
        <p:spPr>
          <a:xfrm rot="0">
            <a:off x="1028700" y="5105400"/>
            <a:ext cx="16230600" cy="5605147"/>
          </a:xfrm>
          <a:prstGeom prst="rect">
            <a:avLst/>
          </a:prstGeom>
        </p:spPr>
        <p:txBody>
          <a:bodyPr anchor="t" rtlCol="false" tIns="0" lIns="0" bIns="0" rIns="0">
            <a:spAutoFit/>
          </a:bodyPr>
          <a:lstStyle/>
          <a:p>
            <a:pPr algn="l">
              <a:lnSpc>
                <a:spcPts val="3594"/>
              </a:lnSpc>
            </a:pPr>
          </a:p>
          <a:p>
            <a:pPr algn="l">
              <a:lnSpc>
                <a:spcPts val="3594"/>
              </a:lnSpc>
            </a:pPr>
            <a:r>
              <a:rPr lang="en-US" sz="2604" spc="255">
                <a:solidFill>
                  <a:srgbClr val="231F20"/>
                </a:solidFill>
                <a:latin typeface="Montserrat Light"/>
                <a:ea typeface="Montserrat Light"/>
                <a:cs typeface="Montserrat Light"/>
                <a:sym typeface="Montserrat Light"/>
              </a:rPr>
              <a:t>L'analyse des sentiments est une technique qui identifie les émotions (positives, négatives, neutres) dans les textes. </a:t>
            </a:r>
          </a:p>
          <a:p>
            <a:pPr algn="l">
              <a:lnSpc>
                <a:spcPts val="3594"/>
              </a:lnSpc>
            </a:pPr>
          </a:p>
          <a:p>
            <a:pPr algn="l">
              <a:lnSpc>
                <a:spcPts val="3594"/>
              </a:lnSpc>
            </a:pPr>
            <a:r>
              <a:rPr lang="en-US" sz="2604" spc="255">
                <a:solidFill>
                  <a:srgbClr val="231F20"/>
                </a:solidFill>
                <a:latin typeface="Montserrat Light"/>
                <a:ea typeface="Montserrat Light"/>
                <a:cs typeface="Montserrat Light"/>
                <a:sym typeface="Montserrat Light"/>
              </a:rPr>
              <a:t>En utilisant des modèles de machine learning, elle aide à comprendre les opinions du public, facilitant ainsi des décisions basées sur les perceptions exprimées. </a:t>
            </a:r>
          </a:p>
          <a:p>
            <a:pPr algn="l">
              <a:lnSpc>
                <a:spcPts val="3594"/>
              </a:lnSpc>
            </a:pPr>
          </a:p>
          <a:p>
            <a:pPr algn="l">
              <a:lnSpc>
                <a:spcPts val="3594"/>
              </a:lnSpc>
            </a:pPr>
          </a:p>
          <a:p>
            <a:pPr algn="l">
              <a:lnSpc>
                <a:spcPts val="3594"/>
              </a:lnSpc>
            </a:pPr>
          </a:p>
          <a:p>
            <a:pPr algn="l">
              <a:lnSpc>
                <a:spcPts val="3594"/>
              </a:lnSpc>
            </a:pPr>
          </a:p>
          <a:p>
            <a:pPr algn="l">
              <a:lnSpc>
                <a:spcPts val="3594"/>
              </a:lnSpc>
            </a:pPr>
          </a:p>
          <a:p>
            <a:pPr algn="l" marL="0" indent="0" lvl="0">
              <a:lnSpc>
                <a:spcPts val="5234"/>
              </a:lnSpc>
              <a:spcBef>
                <a:spcPct val="0"/>
              </a:spcBef>
            </a:pPr>
          </a:p>
        </p:txBody>
      </p:sp>
      <p:sp>
        <p:nvSpPr>
          <p:cNvPr name="TextBox 14" id="14"/>
          <p:cNvSpPr txBox="true"/>
          <p:nvPr/>
        </p:nvSpPr>
        <p:spPr>
          <a:xfrm rot="0">
            <a:off x="17685944" y="9801491"/>
            <a:ext cx="602056" cy="482130"/>
          </a:xfrm>
          <a:prstGeom prst="rect">
            <a:avLst/>
          </a:prstGeom>
        </p:spPr>
        <p:txBody>
          <a:bodyPr anchor="t" rtlCol="false" tIns="0" lIns="0" bIns="0" rIns="0">
            <a:spAutoFit/>
          </a:bodyPr>
          <a:lstStyle/>
          <a:p>
            <a:pPr algn="l" marL="0" indent="0" lvl="0">
              <a:lnSpc>
                <a:spcPts val="3855"/>
              </a:lnSpc>
              <a:spcBef>
                <a:spcPct val="0"/>
              </a:spcBef>
            </a:pPr>
            <a:r>
              <a:rPr lang="en-US" b="true" sz="2793" spc="273">
                <a:solidFill>
                  <a:srgbClr val="231F20"/>
                </a:solidFill>
                <a:latin typeface="Montserrat Light Bold"/>
                <a:ea typeface="Montserrat Light Bold"/>
                <a:cs typeface="Montserrat Light Bold"/>
                <a:sym typeface="Montserrat Light Bold"/>
              </a:rPr>
              <a:t>21</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628626" y="4221433"/>
            <a:ext cx="9447767" cy="2682005"/>
          </a:xfrm>
          <a:prstGeom prst="rect">
            <a:avLst/>
          </a:prstGeom>
        </p:spPr>
        <p:txBody>
          <a:bodyPr anchor="t" rtlCol="false" tIns="0" lIns="0" bIns="0" rIns="0">
            <a:spAutoFit/>
          </a:bodyPr>
          <a:lstStyle/>
          <a:p>
            <a:pPr algn="l" marL="0" indent="0" lvl="0">
              <a:lnSpc>
                <a:spcPts val="10364"/>
              </a:lnSpc>
              <a:spcBef>
                <a:spcPct val="0"/>
              </a:spcBef>
            </a:pPr>
            <a:r>
              <a:rPr lang="en-US" b="true" sz="7510" spc="736">
                <a:solidFill>
                  <a:srgbClr val="231F20"/>
                </a:solidFill>
                <a:latin typeface="Montserrat Light Bold"/>
                <a:ea typeface="Montserrat Light Bold"/>
                <a:cs typeface="Montserrat Light Bold"/>
                <a:sym typeface="Montserrat Light Bold"/>
              </a:rPr>
              <a:t>Merci Pour Votre Attention</a:t>
            </a:r>
          </a:p>
        </p:txBody>
      </p:sp>
      <p:sp>
        <p:nvSpPr>
          <p:cNvPr name="Freeform 3" id="3"/>
          <p:cNvSpPr/>
          <p:nvPr/>
        </p:nvSpPr>
        <p:spPr>
          <a:xfrm flipH="false" flipV="false" rot="0">
            <a:off x="1466789" y="3455256"/>
            <a:ext cx="6893358" cy="5652554"/>
          </a:xfrm>
          <a:custGeom>
            <a:avLst/>
            <a:gdLst/>
            <a:ahLst/>
            <a:cxnLst/>
            <a:rect r="r" b="b" t="t" l="l"/>
            <a:pathLst>
              <a:path h="5652554" w="6893358">
                <a:moveTo>
                  <a:pt x="0" y="0"/>
                </a:moveTo>
                <a:lnTo>
                  <a:pt x="6893358" y="0"/>
                </a:lnTo>
                <a:lnTo>
                  <a:pt x="6893358" y="5652554"/>
                </a:lnTo>
                <a:lnTo>
                  <a:pt x="0" y="56525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DAGTw2EbExE</dc:identifier>
  <dcterms:modified xsi:type="dcterms:W3CDTF">2011-08-01T06:04:30Z</dcterms:modified>
  <cp:revision>1</cp:revision>
  <dc:title>ppt Analyse des sentiment</dc:title>
</cp:coreProperties>
</file>