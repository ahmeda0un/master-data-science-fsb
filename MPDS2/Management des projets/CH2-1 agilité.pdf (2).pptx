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sldIdLst>
    <p:sldId id="297" r:id="rId2"/>
    <p:sldId id="299" r:id="rId3"/>
    <p:sldId id="333" r:id="rId4"/>
    <p:sldId id="358" r:id="rId5"/>
    <p:sldId id="330" r:id="rId6"/>
    <p:sldId id="269" r:id="rId7"/>
    <p:sldId id="270" r:id="rId8"/>
    <p:sldId id="331" r:id="rId9"/>
    <p:sldId id="267" r:id="rId10"/>
    <p:sldId id="320" r:id="rId11"/>
    <p:sldId id="322" r:id="rId12"/>
    <p:sldId id="332" r:id="rId13"/>
    <p:sldId id="324" r:id="rId14"/>
    <p:sldId id="325" r:id="rId15"/>
    <p:sldId id="326" r:id="rId16"/>
    <p:sldId id="357" r:id="rId17"/>
    <p:sldId id="327" r:id="rId18"/>
    <p:sldId id="378" r:id="rId19"/>
    <p:sldId id="302" r:id="rId20"/>
    <p:sldId id="356" r:id="rId21"/>
    <p:sldId id="359" r:id="rId22"/>
    <p:sldId id="272" r:id="rId23"/>
    <p:sldId id="379" r:id="rId24"/>
    <p:sldId id="355" r:id="rId25"/>
    <p:sldId id="366" r:id="rId26"/>
    <p:sldId id="273" r:id="rId27"/>
    <p:sldId id="367" r:id="rId28"/>
    <p:sldId id="368" r:id="rId29"/>
    <p:sldId id="303" r:id="rId30"/>
    <p:sldId id="369" r:id="rId31"/>
    <p:sldId id="370" r:id="rId32"/>
    <p:sldId id="371" r:id="rId33"/>
    <p:sldId id="372" r:id="rId34"/>
    <p:sldId id="373" r:id="rId35"/>
    <p:sldId id="360" r:id="rId36"/>
    <p:sldId id="374" r:id="rId37"/>
    <p:sldId id="375" r:id="rId38"/>
    <p:sldId id="376" r:id="rId39"/>
    <p:sldId id="377" r:id="rId40"/>
    <p:sldId id="361" r:id="rId41"/>
    <p:sldId id="362" r:id="rId42"/>
    <p:sldId id="363" r:id="rId43"/>
    <p:sldId id="365" r:id="rId44"/>
    <p:sldId id="364" r:id="rId45"/>
    <p:sldId id="384" r:id="rId46"/>
    <p:sldId id="383" r:id="rId47"/>
    <p:sldId id="380" r:id="rId48"/>
    <p:sldId id="382" r:id="rId49"/>
    <p:sldId id="381" r:id="rId50"/>
    <p:sldId id="385" r:id="rId51"/>
    <p:sldId id="386" r:id="rId52"/>
    <p:sldId id="387" r:id="rId53"/>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oc+6xoQV+aDVVbnVnCdyHQ==" hashData="e9Y2ssxcwgLTwlmaof5qh3fVpQOAsxC9yb6ODvki5kmA0R9YQIlsSOflHvrv5DZ6OXURXp24SmPwLcojtAP5ng=="/>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8" d="100"/>
          <a:sy n="88" d="100"/>
        </p:scale>
        <p:origin x="494"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smtClean="0"/>
              <a:t>Modifiez le style du titre</a:t>
            </a:r>
            <a:endParaRPr lang="fr-F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smtClean="0"/>
              <a:t>Modifier le style des sous-titres du masque</a:t>
            </a:r>
            <a:endParaRPr lang="fr-FR"/>
          </a:p>
        </p:txBody>
      </p:sp>
      <p:sp>
        <p:nvSpPr>
          <p:cNvPr id="4" name="Espace réservé de la date 3"/>
          <p:cNvSpPr>
            <a:spLocks noGrp="1"/>
          </p:cNvSpPr>
          <p:nvPr>
            <p:ph type="dt" sz="half" idx="10"/>
          </p:nvPr>
        </p:nvSpPr>
        <p:spPr/>
        <p:txBody>
          <a:bodyPr/>
          <a:lstStyle/>
          <a:p>
            <a:fld id="{2DF1525A-BC8C-46E2-A5CF-CAF6FD5550BE}" type="datetimeFigureOut">
              <a:rPr lang="fr-FR" smtClean="0"/>
              <a:t>23/11/2023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746C7F6-9E2F-426E-8BB0-8A53C4C77064}" type="slidenum">
              <a:rPr lang="fr-FR" smtClean="0"/>
              <a:t>‹N°›</a:t>
            </a:fld>
            <a:endParaRPr lang="fr-FR"/>
          </a:p>
        </p:txBody>
      </p:sp>
    </p:spTree>
    <p:extLst>
      <p:ext uri="{BB962C8B-B14F-4D97-AF65-F5344CB8AC3E}">
        <p14:creationId xmlns:p14="http://schemas.microsoft.com/office/powerpoint/2010/main" val="13502957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idx="1"/>
          </p:nvPr>
        </p:nvSpPr>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2DF1525A-BC8C-46E2-A5CF-CAF6FD5550BE}" type="datetimeFigureOut">
              <a:rPr lang="fr-FR" smtClean="0"/>
              <a:t>23/11/2023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746C7F6-9E2F-426E-8BB0-8A53C4C77064}" type="slidenum">
              <a:rPr lang="fr-FR" smtClean="0"/>
              <a:t>‹N°›</a:t>
            </a:fld>
            <a:endParaRPr lang="fr-FR"/>
          </a:p>
        </p:txBody>
      </p:sp>
    </p:spTree>
    <p:extLst>
      <p:ext uri="{BB962C8B-B14F-4D97-AF65-F5344CB8AC3E}">
        <p14:creationId xmlns:p14="http://schemas.microsoft.com/office/powerpoint/2010/main" val="30916897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smtClean="0"/>
              <a:t>Modifiez le style du titre</a:t>
            </a:r>
            <a:endParaRPr lang="fr-F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smtClean="0"/>
              <a:t>Modifier les styles du texte du masque</a:t>
            </a:r>
          </a:p>
        </p:txBody>
      </p:sp>
      <p:sp>
        <p:nvSpPr>
          <p:cNvPr id="4" name="Espace réservé de la date 3"/>
          <p:cNvSpPr>
            <a:spLocks noGrp="1"/>
          </p:cNvSpPr>
          <p:nvPr>
            <p:ph type="dt" sz="half" idx="10"/>
          </p:nvPr>
        </p:nvSpPr>
        <p:spPr/>
        <p:txBody>
          <a:bodyPr/>
          <a:lstStyle/>
          <a:p>
            <a:fld id="{2DF1525A-BC8C-46E2-A5CF-CAF6FD5550BE}" type="datetimeFigureOut">
              <a:rPr lang="fr-FR" smtClean="0"/>
              <a:t>23/11/2023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746C7F6-9E2F-426E-8BB0-8A53C4C77064}" type="slidenum">
              <a:rPr lang="fr-FR" smtClean="0"/>
              <a:t>‹N°›</a:t>
            </a:fld>
            <a:endParaRPr lang="fr-FR"/>
          </a:p>
        </p:txBody>
      </p:sp>
    </p:spTree>
    <p:extLst>
      <p:ext uri="{BB962C8B-B14F-4D97-AF65-F5344CB8AC3E}">
        <p14:creationId xmlns:p14="http://schemas.microsoft.com/office/powerpoint/2010/main" val="37076980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sz="half" idx="1"/>
          </p:nvPr>
        </p:nvSpPr>
        <p:spPr>
          <a:xfrm>
            <a:off x="838200" y="1825625"/>
            <a:ext cx="5181600" cy="435133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6172200" y="1825625"/>
            <a:ext cx="5181600" cy="435133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e la date 4"/>
          <p:cNvSpPr>
            <a:spLocks noGrp="1"/>
          </p:cNvSpPr>
          <p:nvPr>
            <p:ph type="dt" sz="half" idx="10"/>
          </p:nvPr>
        </p:nvSpPr>
        <p:spPr/>
        <p:txBody>
          <a:bodyPr/>
          <a:lstStyle/>
          <a:p>
            <a:fld id="{2DF1525A-BC8C-46E2-A5CF-CAF6FD5550BE}" type="datetimeFigureOut">
              <a:rPr lang="fr-FR" smtClean="0"/>
              <a:t>23/11/2023</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1746C7F6-9E2F-426E-8BB0-8A53C4C77064}" type="slidenum">
              <a:rPr lang="fr-FR" smtClean="0"/>
              <a:t>‹N°›</a:t>
            </a:fld>
            <a:endParaRPr lang="fr-FR"/>
          </a:p>
        </p:txBody>
      </p:sp>
    </p:spTree>
    <p:extLst>
      <p:ext uri="{BB962C8B-B14F-4D97-AF65-F5344CB8AC3E}">
        <p14:creationId xmlns:p14="http://schemas.microsoft.com/office/powerpoint/2010/main" val="40611379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smtClean="0"/>
              <a:t>Modifiez le style du titre</a:t>
            </a:r>
            <a:endParaRPr lang="fr-F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Espace réservé de la date 6"/>
          <p:cNvSpPr>
            <a:spLocks noGrp="1"/>
          </p:cNvSpPr>
          <p:nvPr>
            <p:ph type="dt" sz="half" idx="10"/>
          </p:nvPr>
        </p:nvSpPr>
        <p:spPr/>
        <p:txBody>
          <a:bodyPr/>
          <a:lstStyle/>
          <a:p>
            <a:fld id="{2DF1525A-BC8C-46E2-A5CF-CAF6FD5550BE}" type="datetimeFigureOut">
              <a:rPr lang="fr-FR" smtClean="0"/>
              <a:t>23/11/2023</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1746C7F6-9E2F-426E-8BB0-8A53C4C77064}" type="slidenum">
              <a:rPr lang="fr-FR" smtClean="0"/>
              <a:t>‹N°›</a:t>
            </a:fld>
            <a:endParaRPr lang="fr-FR"/>
          </a:p>
        </p:txBody>
      </p:sp>
    </p:spTree>
    <p:extLst>
      <p:ext uri="{BB962C8B-B14F-4D97-AF65-F5344CB8AC3E}">
        <p14:creationId xmlns:p14="http://schemas.microsoft.com/office/powerpoint/2010/main" val="18077473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e la date 2"/>
          <p:cNvSpPr>
            <a:spLocks noGrp="1"/>
          </p:cNvSpPr>
          <p:nvPr>
            <p:ph type="dt" sz="half" idx="10"/>
          </p:nvPr>
        </p:nvSpPr>
        <p:spPr/>
        <p:txBody>
          <a:bodyPr/>
          <a:lstStyle/>
          <a:p>
            <a:fld id="{2DF1525A-BC8C-46E2-A5CF-CAF6FD5550BE}" type="datetimeFigureOut">
              <a:rPr lang="fr-FR" smtClean="0"/>
              <a:t>23/11/2023</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1746C7F6-9E2F-426E-8BB0-8A53C4C77064}" type="slidenum">
              <a:rPr lang="fr-FR" smtClean="0"/>
              <a:t>‹N°›</a:t>
            </a:fld>
            <a:endParaRPr lang="fr-FR"/>
          </a:p>
        </p:txBody>
      </p:sp>
    </p:spTree>
    <p:extLst>
      <p:ext uri="{BB962C8B-B14F-4D97-AF65-F5344CB8AC3E}">
        <p14:creationId xmlns:p14="http://schemas.microsoft.com/office/powerpoint/2010/main" val="16646174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2DF1525A-BC8C-46E2-A5CF-CAF6FD5550BE}" type="datetimeFigureOut">
              <a:rPr lang="fr-FR" smtClean="0"/>
              <a:t>23/11/2023</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1746C7F6-9E2F-426E-8BB0-8A53C4C77064}" type="slidenum">
              <a:rPr lang="fr-FR" smtClean="0"/>
              <a:t>‹N°›</a:t>
            </a:fld>
            <a:endParaRPr lang="fr-FR"/>
          </a:p>
        </p:txBody>
      </p:sp>
    </p:spTree>
    <p:extLst>
      <p:ext uri="{BB962C8B-B14F-4D97-AF65-F5344CB8AC3E}">
        <p14:creationId xmlns:p14="http://schemas.microsoft.com/office/powerpoint/2010/main" val="11787933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Espace réservé de la date 4"/>
          <p:cNvSpPr>
            <a:spLocks noGrp="1"/>
          </p:cNvSpPr>
          <p:nvPr>
            <p:ph type="dt" sz="half" idx="10"/>
          </p:nvPr>
        </p:nvSpPr>
        <p:spPr/>
        <p:txBody>
          <a:bodyPr/>
          <a:lstStyle/>
          <a:p>
            <a:fld id="{2DF1525A-BC8C-46E2-A5CF-CAF6FD5550BE}" type="datetimeFigureOut">
              <a:rPr lang="fr-FR" smtClean="0"/>
              <a:t>23/11/2023</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1746C7F6-9E2F-426E-8BB0-8A53C4C77064}" type="slidenum">
              <a:rPr lang="fr-FR" smtClean="0"/>
              <a:t>‹N°›</a:t>
            </a:fld>
            <a:endParaRPr lang="fr-FR"/>
          </a:p>
        </p:txBody>
      </p:sp>
    </p:spTree>
    <p:extLst>
      <p:ext uri="{BB962C8B-B14F-4D97-AF65-F5344CB8AC3E}">
        <p14:creationId xmlns:p14="http://schemas.microsoft.com/office/powerpoint/2010/main" val="34379739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Espace réservé de la date 4"/>
          <p:cNvSpPr>
            <a:spLocks noGrp="1"/>
          </p:cNvSpPr>
          <p:nvPr>
            <p:ph type="dt" sz="half" idx="10"/>
          </p:nvPr>
        </p:nvSpPr>
        <p:spPr/>
        <p:txBody>
          <a:bodyPr/>
          <a:lstStyle/>
          <a:p>
            <a:fld id="{2DF1525A-BC8C-46E2-A5CF-CAF6FD5550BE}" type="datetimeFigureOut">
              <a:rPr lang="fr-FR" smtClean="0"/>
              <a:t>23/11/2023</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1746C7F6-9E2F-426E-8BB0-8A53C4C77064}" type="slidenum">
              <a:rPr lang="fr-FR" smtClean="0"/>
              <a:t>‹N°›</a:t>
            </a:fld>
            <a:endParaRPr lang="fr-FR"/>
          </a:p>
        </p:txBody>
      </p:sp>
    </p:spTree>
    <p:extLst>
      <p:ext uri="{BB962C8B-B14F-4D97-AF65-F5344CB8AC3E}">
        <p14:creationId xmlns:p14="http://schemas.microsoft.com/office/powerpoint/2010/main" val="14394263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2DF1525A-BC8C-46E2-A5CF-CAF6FD5550BE}" type="datetimeFigureOut">
              <a:rPr lang="fr-FR" smtClean="0"/>
              <a:t>23/11/2023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746C7F6-9E2F-426E-8BB0-8A53C4C77064}" type="slidenum">
              <a:rPr lang="fr-FR" smtClean="0"/>
              <a:t>‹N°›</a:t>
            </a:fld>
            <a:endParaRPr lang="fr-FR"/>
          </a:p>
        </p:txBody>
      </p:sp>
    </p:spTree>
    <p:extLst>
      <p:ext uri="{BB962C8B-B14F-4D97-AF65-F5344CB8AC3E}">
        <p14:creationId xmlns:p14="http://schemas.microsoft.com/office/powerpoint/2010/main" val="21092638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smtClean="0"/>
              <a:t>Modifiez le style du titre</a:t>
            </a:r>
            <a:endParaRPr lang="fr-F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2DF1525A-BC8C-46E2-A5CF-CAF6FD5550BE}" type="datetimeFigureOut">
              <a:rPr lang="fr-FR" smtClean="0"/>
              <a:t>23/11/2023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746C7F6-9E2F-426E-8BB0-8A53C4C77064}" type="slidenum">
              <a:rPr lang="fr-FR" smtClean="0"/>
              <a:t>‹N°›</a:t>
            </a:fld>
            <a:endParaRPr lang="fr-FR"/>
          </a:p>
        </p:txBody>
      </p:sp>
    </p:spTree>
    <p:extLst>
      <p:ext uri="{BB962C8B-B14F-4D97-AF65-F5344CB8AC3E}">
        <p14:creationId xmlns:p14="http://schemas.microsoft.com/office/powerpoint/2010/main" val="1701508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smtClean="0"/>
              <a:t>Modifiez le style du titre</a:t>
            </a:r>
            <a:endParaRPr lang="fr-F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F1525A-BC8C-46E2-A5CF-CAF6FD5550BE}" type="datetimeFigureOut">
              <a:rPr lang="fr-FR" smtClean="0"/>
              <a:t>23/11/2023</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46C7F6-9E2F-426E-8BB0-8A53C4C77064}" type="slidenum">
              <a:rPr lang="fr-FR" smtClean="0"/>
              <a:t>‹N°›</a:t>
            </a:fld>
            <a:endParaRPr lang="fr-FR"/>
          </a:p>
        </p:txBody>
      </p:sp>
    </p:spTree>
    <p:extLst>
      <p:ext uri="{BB962C8B-B14F-4D97-AF65-F5344CB8AC3E}">
        <p14:creationId xmlns:p14="http://schemas.microsoft.com/office/powerpoint/2010/main" val="4855516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hyperlink" Target="https://fr.wikipedia.org/wiki/Jeff_Sutherland" TargetMode="External"/><Relationship Id="rId13" Type="http://schemas.openxmlformats.org/officeDocument/2006/relationships/hyperlink" Target="https://fr.wikipedia.org/wiki/Crystal_clear" TargetMode="External"/><Relationship Id="rId18" Type="http://schemas.openxmlformats.org/officeDocument/2006/relationships/hyperlink" Target="https://fr.wikipedia.org/wiki/Robert_C._Martin" TargetMode="External"/><Relationship Id="rId3" Type="http://schemas.openxmlformats.org/officeDocument/2006/relationships/hyperlink" Target="https://fr.wikipedia.org/wiki/Wiki" TargetMode="External"/><Relationship Id="rId21" Type="http://schemas.openxmlformats.org/officeDocument/2006/relationships/hyperlink" Target="https://en.wikipedia.org/wiki/GROW_model" TargetMode="External"/><Relationship Id="rId7" Type="http://schemas.openxmlformats.org/officeDocument/2006/relationships/hyperlink" Target="https://fr.wikipedia.org/wiki/Ken_Schwaber" TargetMode="External"/><Relationship Id="rId12" Type="http://schemas.openxmlformats.org/officeDocument/2006/relationships/hyperlink" Target="https://fr.wikipedia.org/wiki/Alistair_Cockburn" TargetMode="External"/><Relationship Id="rId17" Type="http://schemas.openxmlformats.org/officeDocument/2006/relationships/hyperlink" Target="https://fr.wikipedia.org/wiki/D%C3%A9veloppement_rapide_d'applications" TargetMode="External"/><Relationship Id="rId2" Type="http://schemas.openxmlformats.org/officeDocument/2006/relationships/hyperlink" Target="https://fr.wikipedia.org/wiki/Ward_Cunningham" TargetMode="External"/><Relationship Id="rId16" Type="http://schemas.openxmlformats.org/officeDocument/2006/relationships/hyperlink" Target="https://fr.wikipedia.org/wiki/DSDM" TargetMode="External"/><Relationship Id="rId20" Type="http://schemas.openxmlformats.org/officeDocument/2006/relationships/hyperlink" Target="https://fr.wikipedia.org/wiki/Manifeste_agile#cite_note-1" TargetMode="External"/><Relationship Id="rId1" Type="http://schemas.openxmlformats.org/officeDocument/2006/relationships/slideLayout" Target="../slideLayouts/slideLayout7.xml"/><Relationship Id="rId6" Type="http://schemas.openxmlformats.org/officeDocument/2006/relationships/hyperlink" Target="https://fr.wikipedia.org/wiki/JUnit" TargetMode="External"/><Relationship Id="rId11" Type="http://schemas.openxmlformats.org/officeDocument/2006/relationships/hyperlink" Target="https://fr.wikipedia.org/wiki/Adaptive_software_development" TargetMode="External"/><Relationship Id="rId5" Type="http://schemas.openxmlformats.org/officeDocument/2006/relationships/hyperlink" Target="https://fr.wikipedia.org/wiki/Extreme_programming" TargetMode="External"/><Relationship Id="rId15" Type="http://schemas.openxmlformats.org/officeDocument/2006/relationships/hyperlink" Target="https://fr.wikipedia.org/wiki/Dave_Thomas_(programmeur)" TargetMode="External"/><Relationship Id="rId23" Type="http://schemas.openxmlformats.org/officeDocument/2006/relationships/hyperlink" Target="https://fr.wikipedia.org/wiki/M%C3%A9thode_agile" TargetMode="External"/><Relationship Id="rId10" Type="http://schemas.openxmlformats.org/officeDocument/2006/relationships/hyperlink" Target="https://fr.wikipedia.org/w/index.php?title=Jim_Highsmith&amp;action=edit&amp;redlink=1" TargetMode="External"/><Relationship Id="rId19" Type="http://schemas.openxmlformats.org/officeDocument/2006/relationships/hyperlink" Target="https://fr.wikipedia.org/wiki/Andy_Hunt" TargetMode="External"/><Relationship Id="rId4" Type="http://schemas.openxmlformats.org/officeDocument/2006/relationships/hyperlink" Target="https://fr.wikipedia.org/wiki/Kent_Beck" TargetMode="External"/><Relationship Id="rId9" Type="http://schemas.openxmlformats.org/officeDocument/2006/relationships/hyperlink" Target="https://fr.wikipedia.org/wiki/Scrum_(d%C3%A9veloppement)" TargetMode="External"/><Relationship Id="rId14" Type="http://schemas.openxmlformats.org/officeDocument/2006/relationships/hyperlink" Target="https://fr.wikipedia.org/wiki/Martin_Fowler" TargetMode="External"/><Relationship Id="rId22" Type="http://schemas.openxmlformats.org/officeDocument/2006/relationships/hyperlink" Target="https://fr.wikipedia.org/wiki/Ron_Jeffries" TargetMode="Externa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https://fr.wikipedia.org/wiki/Mod%C3%A8le_en_cascade" TargetMode="External"/><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hyperlink" Target="https://blog-gestion-de-projet.com/agilite-et-scrum-fondamentaux/concept-produit/" TargetMode="External"/><Relationship Id="rId2" Type="http://schemas.openxmlformats.org/officeDocument/2006/relationships/hyperlink" Target="https://blog-gestion-de-projet.com/agilite-et-scrum-fondamentaux/" TargetMode="Externa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hyperlink" Target="https://blog-gestion-de-projet.com/quels-sont-vos-kpi-de-suivi-de-projet/" TargetMode="Externa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hyperlink" Target="https://scrumguides.org/download.html" TargetMode="Externa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364252" y="914990"/>
            <a:ext cx="9144000" cy="1453741"/>
          </a:xfrm>
        </p:spPr>
        <p:txBody>
          <a:bodyPr>
            <a:normAutofit fontScale="90000"/>
          </a:bodyPr>
          <a:lstStyle/>
          <a:p>
            <a:r>
              <a:rPr lang="fr-FR" b="1" dirty="0" smtClean="0">
                <a:solidFill>
                  <a:srgbClr val="FF0000"/>
                </a:solidFill>
              </a:rPr>
              <a:t>CH2- Agilité </a:t>
            </a:r>
            <a:r>
              <a:rPr lang="fr-FR" b="1" dirty="0" smtClean="0">
                <a:solidFill>
                  <a:srgbClr val="FF0000"/>
                </a:solidFill>
              </a:rPr>
              <a:t>et agilité à </a:t>
            </a:r>
            <a:r>
              <a:rPr lang="fr-FR" b="1" dirty="0" smtClean="0">
                <a:solidFill>
                  <a:srgbClr val="FF0000"/>
                </a:solidFill>
              </a:rPr>
              <a:t>l’</a:t>
            </a:r>
            <a:r>
              <a:rPr lang="fr-FR" b="1" dirty="0" err="1" smtClean="0">
                <a:solidFill>
                  <a:srgbClr val="FF0000"/>
                </a:solidFill>
              </a:rPr>
              <a:t>echelle</a:t>
            </a:r>
            <a:r>
              <a:rPr lang="fr-FR" dirty="0"/>
              <a:t/>
            </a:r>
            <a:br>
              <a:rPr lang="fr-FR" dirty="0"/>
            </a:br>
            <a:endParaRPr lang="fr-FR" sz="2200" dirty="0"/>
          </a:p>
        </p:txBody>
      </p:sp>
      <p:sp>
        <p:nvSpPr>
          <p:cNvPr id="3" name="AutoShape 2" descr="Value Creation Speedometer Level Rate Valuable Stock Illustration ..."/>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4" name="Image 3"/>
          <p:cNvPicPr>
            <a:picLocks noChangeAspect="1"/>
          </p:cNvPicPr>
          <p:nvPr/>
        </p:nvPicPr>
        <p:blipFill>
          <a:blip r:embed="rId2"/>
          <a:stretch>
            <a:fillRect/>
          </a:stretch>
        </p:blipFill>
        <p:spPr>
          <a:xfrm>
            <a:off x="3624671" y="2540182"/>
            <a:ext cx="4438650" cy="2990850"/>
          </a:xfrm>
          <a:prstGeom prst="rect">
            <a:avLst/>
          </a:prstGeom>
        </p:spPr>
      </p:pic>
    </p:spTree>
    <p:extLst>
      <p:ext uri="{BB962C8B-B14F-4D97-AF65-F5344CB8AC3E}">
        <p14:creationId xmlns:p14="http://schemas.microsoft.com/office/powerpoint/2010/main" val="179674392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633D28A7-8B2F-4A10-BBD3-E70088A42E58" descr="633D28A7-8B2F-4A10-BBD3-E70088A42E5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7213" y="1532709"/>
            <a:ext cx="9257210" cy="45284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p:nvPr/>
        </p:nvSpPr>
        <p:spPr>
          <a:xfrm>
            <a:off x="1550127" y="431856"/>
            <a:ext cx="5826033" cy="646331"/>
          </a:xfrm>
          <a:prstGeom prst="rect">
            <a:avLst/>
          </a:prstGeom>
        </p:spPr>
        <p:txBody>
          <a:bodyPr wrap="square">
            <a:spAutoFit/>
          </a:bodyPr>
          <a:lstStyle/>
          <a:p>
            <a:r>
              <a:rPr lang="fr-FR" sz="3600" b="1" dirty="0" smtClean="0">
                <a:solidFill>
                  <a:srgbClr val="FF0000"/>
                </a:solidFill>
                <a:latin typeface="inherit"/>
              </a:rPr>
              <a:t>Introduction</a:t>
            </a:r>
            <a:endParaRPr lang="fr-FR" sz="3600" b="1" dirty="0">
              <a:solidFill>
                <a:srgbClr val="FF0000"/>
              </a:solidFill>
              <a:latin typeface="inherit"/>
            </a:endParaRPr>
          </a:p>
        </p:txBody>
      </p:sp>
    </p:spTree>
    <p:extLst>
      <p:ext uri="{BB962C8B-B14F-4D97-AF65-F5344CB8AC3E}">
        <p14:creationId xmlns:p14="http://schemas.microsoft.com/office/powerpoint/2010/main" val="4129749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5" name="36323AC4-F1BD-46BA-B17D-5E4EB226883C" descr="36323AC4-F1BD-46BA-B17D-5E4EB226883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7923" y="1541417"/>
            <a:ext cx="9572625" cy="4624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p:nvPr/>
        </p:nvSpPr>
        <p:spPr>
          <a:xfrm>
            <a:off x="1550127" y="431856"/>
            <a:ext cx="5826033" cy="646331"/>
          </a:xfrm>
          <a:prstGeom prst="rect">
            <a:avLst/>
          </a:prstGeom>
        </p:spPr>
        <p:txBody>
          <a:bodyPr wrap="square">
            <a:spAutoFit/>
          </a:bodyPr>
          <a:lstStyle/>
          <a:p>
            <a:r>
              <a:rPr lang="fr-FR" sz="3600" b="1" dirty="0" smtClean="0">
                <a:solidFill>
                  <a:srgbClr val="FF0000"/>
                </a:solidFill>
                <a:latin typeface="inherit"/>
              </a:rPr>
              <a:t>Introduction</a:t>
            </a:r>
            <a:endParaRPr lang="fr-FR" sz="3600" b="1" dirty="0">
              <a:solidFill>
                <a:srgbClr val="FF0000"/>
              </a:solidFill>
              <a:latin typeface="inherit"/>
            </a:endParaRPr>
          </a:p>
        </p:txBody>
      </p:sp>
    </p:spTree>
    <p:extLst>
      <p:ext uri="{BB962C8B-B14F-4D97-AF65-F5344CB8AC3E}">
        <p14:creationId xmlns:p14="http://schemas.microsoft.com/office/powerpoint/2010/main" val="54497554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gestion de projet vers les méthodes agiles pd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1733550"/>
            <a:ext cx="6810375" cy="43815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854802" y="460431"/>
            <a:ext cx="5826033" cy="646331"/>
          </a:xfrm>
          <a:prstGeom prst="rect">
            <a:avLst/>
          </a:prstGeom>
        </p:spPr>
        <p:txBody>
          <a:bodyPr wrap="square">
            <a:spAutoFit/>
          </a:bodyPr>
          <a:lstStyle/>
          <a:p>
            <a:r>
              <a:rPr lang="fr-FR" sz="3600" b="1" dirty="0" smtClean="0">
                <a:solidFill>
                  <a:srgbClr val="FF0000"/>
                </a:solidFill>
                <a:latin typeface="inherit"/>
              </a:rPr>
              <a:t>introduction</a:t>
            </a:r>
            <a:endParaRPr lang="fr-FR" sz="3600" b="1" dirty="0">
              <a:solidFill>
                <a:srgbClr val="FF0000"/>
              </a:solidFill>
              <a:latin typeface="inherit"/>
            </a:endParaRPr>
          </a:p>
        </p:txBody>
      </p:sp>
    </p:spTree>
    <p:extLst>
      <p:ext uri="{BB962C8B-B14F-4D97-AF65-F5344CB8AC3E}">
        <p14:creationId xmlns:p14="http://schemas.microsoft.com/office/powerpoint/2010/main" val="124480652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14102" y="1102707"/>
            <a:ext cx="10850879" cy="5170646"/>
          </a:xfrm>
          <a:prstGeom prst="rect">
            <a:avLst/>
          </a:prstGeom>
        </p:spPr>
        <p:txBody>
          <a:bodyPr wrap="square">
            <a:spAutoFit/>
          </a:bodyPr>
          <a:lstStyle/>
          <a:p>
            <a:r>
              <a:rPr lang="fr-FR" dirty="0" smtClean="0">
                <a:solidFill>
                  <a:srgbClr val="202122"/>
                </a:solidFill>
                <a:latin typeface="Arial" panose="020B0604020202020204" pitchFamily="34" charset="0"/>
              </a:rPr>
              <a:t>En</a:t>
            </a:r>
            <a:r>
              <a:rPr lang="fr-FR" dirty="0">
                <a:solidFill>
                  <a:srgbClr val="202122"/>
                </a:solidFill>
                <a:latin typeface="Arial" panose="020B0604020202020204" pitchFamily="34" charset="0"/>
              </a:rPr>
              <a:t> février 2001, aux États-Unis, dix-sept spécialistes du développement logiciel se sont réunis pour débattre du thème unificateur de leurs méthodes respectives, jusqu'alors appelées sans consensus méthodes </a:t>
            </a:r>
            <a:r>
              <a:rPr lang="fr-FR" dirty="0" smtClean="0">
                <a:solidFill>
                  <a:srgbClr val="202122"/>
                </a:solidFill>
                <a:latin typeface="Arial" panose="020B0604020202020204" pitchFamily="34" charset="0"/>
              </a:rPr>
              <a:t>lights, l</a:t>
            </a:r>
            <a:r>
              <a:rPr lang="fr-FR" sz="1600" dirty="0" smtClean="0">
                <a:solidFill>
                  <a:srgbClr val="202122"/>
                </a:solidFill>
                <a:latin typeface="Arial" panose="020B0604020202020204" pitchFamily="34" charset="0"/>
              </a:rPr>
              <a:t>es </a:t>
            </a:r>
            <a:r>
              <a:rPr lang="fr-FR" sz="1600" dirty="0">
                <a:solidFill>
                  <a:srgbClr val="202122"/>
                </a:solidFill>
                <a:latin typeface="Arial" panose="020B0604020202020204" pitchFamily="34" charset="0"/>
              </a:rPr>
              <a:t>plus connus d'entre eux étaient </a:t>
            </a:r>
            <a:r>
              <a:rPr lang="fr-FR" sz="1600" dirty="0">
                <a:latin typeface="Arial" panose="020B0604020202020204" pitchFamily="34" charset="0"/>
                <a:hlinkClick r:id="rId2" tooltip="Ward Cunningham"/>
              </a:rPr>
              <a:t>Ward Cunningham</a:t>
            </a:r>
            <a:r>
              <a:rPr lang="fr-FR" sz="1600" dirty="0">
                <a:latin typeface="Arial" panose="020B0604020202020204" pitchFamily="34" charset="0"/>
              </a:rPr>
              <a:t> l'inventeur du </a:t>
            </a:r>
            <a:r>
              <a:rPr lang="fr-FR" sz="1600" dirty="0">
                <a:latin typeface="Arial" panose="020B0604020202020204" pitchFamily="34" charset="0"/>
                <a:hlinkClick r:id="rId3" tooltip="Wiki"/>
              </a:rPr>
              <a:t>Wiki</a:t>
            </a:r>
            <a:r>
              <a:rPr lang="fr-FR" sz="1600" dirty="0">
                <a:latin typeface="Arial" panose="020B0604020202020204" pitchFamily="34" charset="0"/>
              </a:rPr>
              <a:t> </a:t>
            </a:r>
            <a:r>
              <a:rPr lang="fr-FR" sz="1600" dirty="0" smtClean="0">
                <a:latin typeface="Arial" panose="020B0604020202020204" pitchFamily="34" charset="0"/>
              </a:rPr>
              <a:t>, </a:t>
            </a:r>
            <a:r>
              <a:rPr lang="fr-FR" sz="1600" dirty="0">
                <a:latin typeface="Arial" panose="020B0604020202020204" pitchFamily="34" charset="0"/>
              </a:rPr>
              <a:t> </a:t>
            </a:r>
            <a:r>
              <a:rPr lang="fr-FR" sz="1600" dirty="0">
                <a:latin typeface="Arial" panose="020B0604020202020204" pitchFamily="34" charset="0"/>
                <a:hlinkClick r:id="rId4" tooltip="Kent Beck"/>
              </a:rPr>
              <a:t>Kent Beck</a:t>
            </a:r>
            <a:r>
              <a:rPr lang="fr-FR" sz="1600" dirty="0">
                <a:latin typeface="Arial" panose="020B0604020202020204" pitchFamily="34" charset="0"/>
              </a:rPr>
              <a:t>, père de </a:t>
            </a:r>
            <a:r>
              <a:rPr lang="fr-FR" sz="1600" dirty="0" smtClean="0">
                <a:latin typeface="Arial" panose="020B0604020202020204" pitchFamily="34" charset="0"/>
              </a:rPr>
              <a:t>l'</a:t>
            </a:r>
            <a:r>
              <a:rPr lang="fr-FR" sz="1600" dirty="0" err="1" smtClean="0">
                <a:latin typeface="Arial" panose="020B0604020202020204" pitchFamily="34" charset="0"/>
                <a:hlinkClick r:id="rId5" tooltip="Extreme programming"/>
              </a:rPr>
              <a:t>eXtreme</a:t>
            </a:r>
            <a:r>
              <a:rPr lang="fr-FR" sz="1600" dirty="0" smtClean="0">
                <a:latin typeface="Arial" panose="020B0604020202020204" pitchFamily="34" charset="0"/>
                <a:hlinkClick r:id="rId5" tooltip="Extreme programming"/>
              </a:rPr>
              <a:t> </a:t>
            </a:r>
            <a:r>
              <a:rPr lang="fr-FR" sz="1600" dirty="0" err="1">
                <a:latin typeface="Arial" panose="020B0604020202020204" pitchFamily="34" charset="0"/>
                <a:hlinkClick r:id="rId5" tooltip="Extreme programming"/>
              </a:rPr>
              <a:t>P</a:t>
            </a:r>
            <a:r>
              <a:rPr lang="fr-FR" sz="1600" dirty="0" err="1" smtClean="0">
                <a:latin typeface="Arial" panose="020B0604020202020204" pitchFamily="34" charset="0"/>
                <a:hlinkClick r:id="rId5" tooltip="Extreme programming"/>
              </a:rPr>
              <a:t>rogramming</a:t>
            </a:r>
            <a:r>
              <a:rPr lang="fr-FR" sz="1600" dirty="0">
                <a:latin typeface="Arial" panose="020B0604020202020204" pitchFamily="34" charset="0"/>
              </a:rPr>
              <a:t> et cofondateur de </a:t>
            </a:r>
            <a:r>
              <a:rPr lang="fr-FR" sz="1600" dirty="0" err="1">
                <a:latin typeface="Arial" panose="020B0604020202020204" pitchFamily="34" charset="0"/>
                <a:hlinkClick r:id="rId6" tooltip="JUnit"/>
              </a:rPr>
              <a:t>JUnit</a:t>
            </a:r>
            <a:r>
              <a:rPr lang="fr-FR" sz="1600" dirty="0">
                <a:latin typeface="Arial" panose="020B0604020202020204" pitchFamily="34" charset="0"/>
              </a:rPr>
              <a:t>, </a:t>
            </a:r>
            <a:r>
              <a:rPr lang="fr-FR" sz="1600" dirty="0">
                <a:latin typeface="Arial" panose="020B0604020202020204" pitchFamily="34" charset="0"/>
                <a:hlinkClick r:id="rId7" tooltip="Ken Schwaber"/>
              </a:rPr>
              <a:t>Ken </a:t>
            </a:r>
            <a:r>
              <a:rPr lang="fr-FR" sz="1600" dirty="0" err="1">
                <a:latin typeface="Arial" panose="020B0604020202020204" pitchFamily="34" charset="0"/>
                <a:hlinkClick r:id="rId7" tooltip="Ken Schwaber"/>
              </a:rPr>
              <a:t>Schwaber</a:t>
            </a:r>
            <a:r>
              <a:rPr lang="fr-FR" sz="1600" dirty="0">
                <a:latin typeface="Arial" panose="020B0604020202020204" pitchFamily="34" charset="0"/>
              </a:rPr>
              <a:t> et </a:t>
            </a:r>
            <a:r>
              <a:rPr lang="fr-FR" sz="1600" dirty="0">
                <a:latin typeface="Arial" panose="020B0604020202020204" pitchFamily="34" charset="0"/>
                <a:hlinkClick r:id="rId8" tooltip="Jeff Sutherland"/>
              </a:rPr>
              <a:t>Jeff Sutherland</a:t>
            </a:r>
            <a:r>
              <a:rPr lang="fr-FR" sz="1600" dirty="0">
                <a:latin typeface="Arial" panose="020B0604020202020204" pitchFamily="34" charset="0"/>
              </a:rPr>
              <a:t>, fondateurs de </a:t>
            </a:r>
            <a:r>
              <a:rPr lang="fr-FR" sz="1600" dirty="0" err="1">
                <a:latin typeface="Arial" panose="020B0604020202020204" pitchFamily="34" charset="0"/>
                <a:hlinkClick r:id="rId9" tooltip="Scrum (développement)"/>
              </a:rPr>
              <a:t>Scrum</a:t>
            </a:r>
            <a:r>
              <a:rPr lang="fr-FR" sz="1600" dirty="0">
                <a:latin typeface="Arial" panose="020B0604020202020204" pitchFamily="34" charset="0"/>
              </a:rPr>
              <a:t>, </a:t>
            </a:r>
            <a:r>
              <a:rPr lang="fr-FR" sz="1600" dirty="0">
                <a:latin typeface="Arial" panose="020B0604020202020204" pitchFamily="34" charset="0"/>
                <a:hlinkClick r:id="rId10" tooltip="Jim Highsmith (page inexistante)"/>
              </a:rPr>
              <a:t>Jim </a:t>
            </a:r>
            <a:r>
              <a:rPr lang="fr-FR" sz="1600" dirty="0" smtClean="0">
                <a:latin typeface="Arial" panose="020B0604020202020204" pitchFamily="34" charset="0"/>
                <a:hlinkClick r:id="rId10" tooltip="Jim Highsmith (page inexistante)"/>
              </a:rPr>
              <a:t>Highsmith</a:t>
            </a:r>
            <a:r>
              <a:rPr lang="fr-FR" sz="1600" dirty="0" smtClean="0">
                <a:latin typeface="Arial" panose="020B0604020202020204" pitchFamily="34" charset="0"/>
              </a:rPr>
              <a:t> </a:t>
            </a:r>
            <a:r>
              <a:rPr lang="fr-FR" sz="1600" dirty="0">
                <a:latin typeface="Arial" panose="020B0604020202020204" pitchFamily="34" charset="0"/>
              </a:rPr>
              <a:t>prônant l'</a:t>
            </a:r>
            <a:r>
              <a:rPr lang="fr-FR" sz="1600" dirty="0">
                <a:latin typeface="Arial" panose="020B0604020202020204" pitchFamily="34" charset="0"/>
                <a:hlinkClick r:id="rId11" tooltip="Adaptive software development"/>
              </a:rPr>
              <a:t>ASD</a:t>
            </a:r>
            <a:r>
              <a:rPr lang="fr-FR" sz="1600" dirty="0">
                <a:latin typeface="Arial" panose="020B0604020202020204" pitchFamily="34" charset="0"/>
              </a:rPr>
              <a:t>, </a:t>
            </a:r>
            <a:r>
              <a:rPr lang="fr-FR" sz="1600" dirty="0">
                <a:latin typeface="Arial" panose="020B0604020202020204" pitchFamily="34" charset="0"/>
                <a:hlinkClick r:id="rId12" tooltip="Alistair Cockburn"/>
              </a:rPr>
              <a:t>Alistair </a:t>
            </a:r>
            <a:r>
              <a:rPr lang="fr-FR" sz="1600" dirty="0" err="1">
                <a:latin typeface="Arial" panose="020B0604020202020204" pitchFamily="34" charset="0"/>
                <a:hlinkClick r:id="rId12" tooltip="Alistair Cockburn"/>
              </a:rPr>
              <a:t>Cockburn</a:t>
            </a:r>
            <a:r>
              <a:rPr lang="fr-FR" sz="1600" dirty="0">
                <a:latin typeface="Arial" panose="020B0604020202020204" pitchFamily="34" charset="0"/>
              </a:rPr>
              <a:t> pour la méthode </a:t>
            </a:r>
            <a:r>
              <a:rPr lang="fr-FR" sz="1600" dirty="0">
                <a:latin typeface="Arial" panose="020B0604020202020204" pitchFamily="34" charset="0"/>
                <a:hlinkClick r:id="rId13" tooltip="Crystal clear"/>
              </a:rPr>
              <a:t>Crystal </a:t>
            </a:r>
            <a:r>
              <a:rPr lang="fr-FR" sz="1600" dirty="0" err="1">
                <a:latin typeface="Arial" panose="020B0604020202020204" pitchFamily="34" charset="0"/>
                <a:hlinkClick r:id="rId13" tooltip="Crystal clear"/>
              </a:rPr>
              <a:t>clear</a:t>
            </a:r>
            <a:r>
              <a:rPr lang="fr-FR" sz="1600" dirty="0">
                <a:latin typeface="Arial" panose="020B0604020202020204" pitchFamily="34" charset="0"/>
              </a:rPr>
              <a:t>, </a:t>
            </a:r>
            <a:r>
              <a:rPr lang="fr-FR" sz="1600" dirty="0">
                <a:latin typeface="Arial" panose="020B0604020202020204" pitchFamily="34" charset="0"/>
                <a:hlinkClick r:id="rId14" tooltip="Martin Fowler"/>
              </a:rPr>
              <a:t>Martin Fowler</a:t>
            </a:r>
            <a:r>
              <a:rPr lang="fr-FR" sz="1600" dirty="0">
                <a:latin typeface="Arial" panose="020B0604020202020204" pitchFamily="34" charset="0"/>
              </a:rPr>
              <a:t>, et </a:t>
            </a:r>
            <a:r>
              <a:rPr lang="fr-FR" sz="1600" dirty="0">
                <a:latin typeface="Arial" panose="020B0604020202020204" pitchFamily="34" charset="0"/>
                <a:hlinkClick r:id="rId15" tooltip="Dave Thomas (programmeur)"/>
              </a:rPr>
              <a:t>Dave Thomas</a:t>
            </a:r>
            <a:r>
              <a:rPr lang="fr-FR" sz="1600" dirty="0">
                <a:latin typeface="Arial" panose="020B0604020202020204" pitchFamily="34" charset="0"/>
              </a:rPr>
              <a:t> ainsi qu'</a:t>
            </a:r>
            <a:r>
              <a:rPr lang="fr-FR" sz="1600" dirty="0">
                <a:solidFill>
                  <a:schemeClr val="accent1">
                    <a:lumMod val="75000"/>
                  </a:schemeClr>
                </a:solidFill>
                <a:latin typeface="Arial" panose="020B0604020202020204" pitchFamily="34" charset="0"/>
              </a:rPr>
              <a:t>Arie van </a:t>
            </a:r>
            <a:r>
              <a:rPr lang="fr-FR" sz="1600" dirty="0" err="1">
                <a:solidFill>
                  <a:schemeClr val="accent1">
                    <a:lumMod val="75000"/>
                  </a:schemeClr>
                </a:solidFill>
                <a:latin typeface="Arial" panose="020B0604020202020204" pitchFamily="34" charset="0"/>
              </a:rPr>
              <a:t>Bennekum</a:t>
            </a:r>
            <a:r>
              <a:rPr lang="fr-FR" sz="1600" dirty="0">
                <a:latin typeface="Arial" panose="020B0604020202020204" pitchFamily="34" charset="0"/>
              </a:rPr>
              <a:t> pour </a:t>
            </a:r>
            <a:r>
              <a:rPr lang="fr-FR" sz="1600" dirty="0">
                <a:latin typeface="Arial" panose="020B0604020202020204" pitchFamily="34" charset="0"/>
                <a:hlinkClick r:id="rId16" tooltip="DSDM"/>
              </a:rPr>
              <a:t>DSDM</a:t>
            </a:r>
            <a:r>
              <a:rPr lang="fr-FR" sz="1600" dirty="0">
                <a:latin typeface="Arial" panose="020B0604020202020204" pitchFamily="34" charset="0"/>
              </a:rPr>
              <a:t> (</a:t>
            </a:r>
            <a:r>
              <a:rPr lang="fr-FR" sz="1600" dirty="0" err="1">
                <a:latin typeface="Arial" panose="020B0604020202020204" pitchFamily="34" charset="0"/>
              </a:rPr>
              <a:t>Dynamic</a:t>
            </a:r>
            <a:r>
              <a:rPr lang="fr-FR" sz="1600" dirty="0">
                <a:latin typeface="Arial" panose="020B0604020202020204" pitchFamily="34" charset="0"/>
              </a:rPr>
              <a:t> System </a:t>
            </a:r>
            <a:r>
              <a:rPr lang="fr-FR" sz="1600" dirty="0" err="1">
                <a:latin typeface="Arial" panose="020B0604020202020204" pitchFamily="34" charset="0"/>
              </a:rPr>
              <a:t>Development</a:t>
            </a:r>
            <a:r>
              <a:rPr lang="fr-FR" sz="1600" dirty="0">
                <a:latin typeface="Arial" panose="020B0604020202020204" pitchFamily="34" charset="0"/>
              </a:rPr>
              <a:t> Method) la version anglaise du RAD (</a:t>
            </a:r>
            <a:r>
              <a:rPr lang="fr-FR" sz="1600" dirty="0">
                <a:latin typeface="Arial" panose="020B0604020202020204" pitchFamily="34" charset="0"/>
                <a:hlinkClick r:id="rId17" tooltip="Développement rapide d'applications"/>
              </a:rPr>
              <a:t>développement rapide d'applications</a:t>
            </a:r>
            <a:r>
              <a:rPr lang="fr-FR" sz="1600" dirty="0">
                <a:latin typeface="Arial" panose="020B0604020202020204" pitchFamily="34" charset="0"/>
              </a:rPr>
              <a:t>), </a:t>
            </a:r>
            <a:r>
              <a:rPr lang="fr-FR" sz="1600" dirty="0">
                <a:latin typeface="Arial" panose="020B0604020202020204" pitchFamily="34" charset="0"/>
                <a:hlinkClick r:id="rId18" tooltip="Robert C. Martin"/>
              </a:rPr>
              <a:t>Robert Cecil Martin</a:t>
            </a:r>
            <a:r>
              <a:rPr lang="fr-FR" sz="1600" dirty="0">
                <a:latin typeface="Arial" panose="020B0604020202020204" pitchFamily="34" charset="0"/>
              </a:rPr>
              <a:t> pour Clean </a:t>
            </a:r>
            <a:r>
              <a:rPr lang="fr-FR" sz="1600" dirty="0" smtClean="0">
                <a:latin typeface="Arial" panose="020B0604020202020204" pitchFamily="34" charset="0"/>
              </a:rPr>
              <a:t>Architecture, parmi </a:t>
            </a:r>
            <a:r>
              <a:rPr lang="fr-FR" sz="1600" dirty="0">
                <a:latin typeface="Arial" panose="020B0604020202020204" pitchFamily="34" charset="0"/>
              </a:rPr>
              <a:t>les autres signataires, </a:t>
            </a:r>
            <a:r>
              <a:rPr lang="fr-FR" sz="1600" dirty="0">
                <a:latin typeface="Arial" panose="020B0604020202020204" pitchFamily="34" charset="0"/>
                <a:hlinkClick r:id="rId19" tooltip="Andy Hunt"/>
              </a:rPr>
              <a:t>Andy Hunt</a:t>
            </a:r>
            <a:r>
              <a:rPr lang="fr-FR" sz="1600" baseline="30000" dirty="0">
                <a:latin typeface="Arial" panose="020B0604020202020204" pitchFamily="34" charset="0"/>
                <a:hlinkClick r:id="rId20"/>
              </a:rPr>
              <a:t>1</a:t>
            </a:r>
            <a:r>
              <a:rPr lang="fr-FR" sz="1600" dirty="0">
                <a:latin typeface="Arial" panose="020B0604020202020204" pitchFamily="34" charset="0"/>
              </a:rPr>
              <a:t>, Jared Richardson (fondateur ultérieurement de la méthode </a:t>
            </a:r>
            <a:r>
              <a:rPr lang="fr-FR" sz="1600" dirty="0">
                <a:latin typeface="Arial" panose="020B0604020202020204" pitchFamily="34" charset="0"/>
                <a:hlinkClick r:id="rId21" tooltip="en:GROW model"/>
              </a:rPr>
              <a:t>GROWS</a:t>
            </a:r>
            <a:r>
              <a:rPr lang="fr-FR" sz="1600" dirty="0">
                <a:latin typeface="Arial" panose="020B0604020202020204" pitchFamily="34" charset="0"/>
              </a:rPr>
              <a:t>) ou </a:t>
            </a:r>
            <a:r>
              <a:rPr lang="fr-FR" sz="1600" dirty="0">
                <a:latin typeface="Arial" panose="020B0604020202020204" pitchFamily="34" charset="0"/>
                <a:hlinkClick r:id="rId22" tooltip="Ron Jeffries"/>
              </a:rPr>
              <a:t>Ron </a:t>
            </a:r>
            <a:r>
              <a:rPr lang="fr-FR" sz="1600" dirty="0" err="1" smtClean="0">
                <a:latin typeface="Arial" panose="020B0604020202020204" pitchFamily="34" charset="0"/>
                <a:hlinkClick r:id="rId22" tooltip="Ron Jeffries"/>
              </a:rPr>
              <a:t>Jeffries</a:t>
            </a:r>
            <a:r>
              <a:rPr lang="fr-FR" sz="1600" dirty="0">
                <a:latin typeface="Arial" panose="020B0604020202020204" pitchFamily="34" charset="0"/>
              </a:rPr>
              <a:t> </a:t>
            </a:r>
            <a:r>
              <a:rPr lang="fr-FR" sz="1600" dirty="0" smtClean="0">
                <a:latin typeface="Arial" panose="020B0604020202020204" pitchFamily="34" charset="0"/>
              </a:rPr>
              <a:t>.</a:t>
            </a:r>
          </a:p>
          <a:p>
            <a:endParaRPr lang="fr-FR" sz="1600" dirty="0">
              <a:latin typeface="Arial" panose="020B0604020202020204" pitchFamily="34" charset="0"/>
            </a:endParaRPr>
          </a:p>
          <a:p>
            <a:r>
              <a:rPr lang="fr-FR" dirty="0">
                <a:latin typeface="Arial" panose="020B0604020202020204" pitchFamily="34" charset="0"/>
              </a:rPr>
              <a:t>Ces dix-sept experts venant tous d'horizons différents réussirent à </a:t>
            </a:r>
            <a:r>
              <a:rPr lang="fr-FR" dirty="0" smtClean="0">
                <a:latin typeface="Arial" panose="020B0604020202020204" pitchFamily="34" charset="0"/>
              </a:rPr>
              <a:t>déclarer </a:t>
            </a:r>
            <a:r>
              <a:rPr lang="fr-FR" dirty="0" smtClean="0">
                <a:solidFill>
                  <a:srgbClr val="FF0000"/>
                </a:solidFill>
                <a:latin typeface="Arial" panose="020B0604020202020204" pitchFamily="34" charset="0"/>
              </a:rPr>
              <a:t>le </a:t>
            </a:r>
            <a:r>
              <a:rPr lang="fr-FR" dirty="0">
                <a:solidFill>
                  <a:srgbClr val="FF0000"/>
                </a:solidFill>
                <a:latin typeface="Arial" panose="020B0604020202020204" pitchFamily="34" charset="0"/>
              </a:rPr>
              <a:t>Manifeste agile</a:t>
            </a:r>
            <a:r>
              <a:rPr lang="fr-FR" dirty="0">
                <a:latin typeface="Arial" panose="020B0604020202020204" pitchFamily="34" charset="0"/>
              </a:rPr>
              <a:t>, considéré comme la définition canonique du </a:t>
            </a:r>
            <a:r>
              <a:rPr lang="fr-FR" dirty="0">
                <a:latin typeface="Arial" panose="020B0604020202020204" pitchFamily="34" charset="0"/>
                <a:hlinkClick r:id="rId23" tooltip="Méthode agile"/>
              </a:rPr>
              <a:t>développement agile</a:t>
            </a:r>
            <a:r>
              <a:rPr lang="fr-FR" dirty="0">
                <a:solidFill>
                  <a:srgbClr val="202122"/>
                </a:solidFill>
                <a:latin typeface="Arial" panose="020B0604020202020204" pitchFamily="34" charset="0"/>
              </a:rPr>
              <a:t> et de ses principes </a:t>
            </a:r>
            <a:r>
              <a:rPr lang="fr-FR" dirty="0" smtClean="0">
                <a:solidFill>
                  <a:srgbClr val="202122"/>
                </a:solidFill>
                <a:latin typeface="Arial" panose="020B0604020202020204" pitchFamily="34" charset="0"/>
              </a:rPr>
              <a:t>sous-jacents.</a:t>
            </a:r>
          </a:p>
          <a:p>
            <a:endParaRPr lang="fr-FR" dirty="0">
              <a:solidFill>
                <a:srgbClr val="202122"/>
              </a:solidFill>
              <a:latin typeface="Arial" panose="020B0604020202020204" pitchFamily="34" charset="0"/>
            </a:endParaRPr>
          </a:p>
          <a:p>
            <a:r>
              <a:rPr lang="fr-FR" dirty="0">
                <a:solidFill>
                  <a:srgbClr val="202122"/>
                </a:solidFill>
                <a:latin typeface="Arial" panose="020B0604020202020204" pitchFamily="34" charset="0"/>
              </a:rPr>
              <a:t>Le Manifeste agile est constitué de </a:t>
            </a:r>
            <a:r>
              <a:rPr lang="fr-FR" dirty="0">
                <a:solidFill>
                  <a:srgbClr val="FF0000"/>
                </a:solidFill>
                <a:latin typeface="Arial" panose="020B0604020202020204" pitchFamily="34" charset="0"/>
              </a:rPr>
              <a:t>quatre valeurs </a:t>
            </a:r>
            <a:r>
              <a:rPr lang="fr-FR" dirty="0">
                <a:solidFill>
                  <a:srgbClr val="202122"/>
                </a:solidFill>
                <a:latin typeface="Arial" panose="020B0604020202020204" pitchFamily="34" charset="0"/>
              </a:rPr>
              <a:t>et de </a:t>
            </a:r>
            <a:r>
              <a:rPr lang="fr-FR" dirty="0">
                <a:solidFill>
                  <a:srgbClr val="FF0000"/>
                </a:solidFill>
                <a:latin typeface="Arial" panose="020B0604020202020204" pitchFamily="34" charset="0"/>
              </a:rPr>
              <a:t>douze principes</a:t>
            </a:r>
            <a:r>
              <a:rPr lang="fr-FR" dirty="0">
                <a:solidFill>
                  <a:srgbClr val="202122"/>
                </a:solidFill>
                <a:latin typeface="Arial" panose="020B0604020202020204" pitchFamily="34" charset="0"/>
              </a:rPr>
              <a:t> fondateurs</a:t>
            </a:r>
            <a:r>
              <a:rPr lang="fr-FR" dirty="0" smtClean="0">
                <a:solidFill>
                  <a:srgbClr val="202122"/>
                </a:solidFill>
                <a:latin typeface="Arial" panose="020B0604020202020204" pitchFamily="34" charset="0"/>
              </a:rPr>
              <a:t>.</a:t>
            </a:r>
          </a:p>
          <a:p>
            <a:endParaRPr lang="fr-FR" dirty="0" smtClean="0">
              <a:solidFill>
                <a:srgbClr val="202122"/>
              </a:solidFill>
              <a:latin typeface="Arial" panose="020B0604020202020204" pitchFamily="34" charset="0"/>
            </a:endParaRPr>
          </a:p>
          <a:p>
            <a:pPr marL="285750" indent="-285750" algn="just">
              <a:buFont typeface="Arial" panose="020B0604020202020204" pitchFamily="34" charset="0"/>
              <a:buChar char="•"/>
            </a:pPr>
            <a:r>
              <a:rPr lang="fr-FR" dirty="0" smtClean="0">
                <a:solidFill>
                  <a:srgbClr val="3A3939"/>
                </a:solidFill>
                <a:latin typeface="inherit"/>
              </a:rPr>
              <a:t>Leur </a:t>
            </a:r>
            <a:r>
              <a:rPr lang="fr-FR" dirty="0">
                <a:solidFill>
                  <a:srgbClr val="3A3939"/>
                </a:solidFill>
                <a:latin typeface="inherit"/>
              </a:rPr>
              <a:t>intention est bien de remettre le « bon sens » au cœur du projet.</a:t>
            </a:r>
            <a:endParaRPr lang="fr-FR" dirty="0">
              <a:solidFill>
                <a:srgbClr val="3A3939"/>
              </a:solidFill>
              <a:latin typeface="Palatino Linotype" panose="02040502050505030304" pitchFamily="18" charset="0"/>
            </a:endParaRPr>
          </a:p>
          <a:p>
            <a:pPr marL="285750" indent="-285750" algn="just">
              <a:buFont typeface="Arial" panose="020B0604020202020204" pitchFamily="34" charset="0"/>
              <a:buChar char="•"/>
            </a:pPr>
            <a:r>
              <a:rPr lang="fr-FR" dirty="0">
                <a:solidFill>
                  <a:srgbClr val="3A3939"/>
                </a:solidFill>
                <a:latin typeface="inherit"/>
              </a:rPr>
              <a:t>La notion de manifeste sous-entend l’idée d’une déclaration, d’un programme.</a:t>
            </a:r>
            <a:endParaRPr lang="fr-FR" dirty="0">
              <a:solidFill>
                <a:srgbClr val="3A3939"/>
              </a:solidFill>
              <a:latin typeface="Palatino Linotype" panose="02040502050505030304" pitchFamily="18" charset="0"/>
            </a:endParaRPr>
          </a:p>
          <a:p>
            <a:pPr marL="285750" indent="-285750" algn="just">
              <a:buFont typeface="Arial" panose="020B0604020202020204" pitchFamily="34" charset="0"/>
              <a:buChar char="•"/>
            </a:pPr>
            <a:r>
              <a:rPr lang="fr-FR" dirty="0" smtClean="0">
                <a:solidFill>
                  <a:srgbClr val="3A3939"/>
                </a:solidFill>
                <a:latin typeface="inherit"/>
              </a:rPr>
              <a:t>il </a:t>
            </a:r>
            <a:r>
              <a:rPr lang="fr-FR" dirty="0">
                <a:solidFill>
                  <a:srgbClr val="3A3939"/>
                </a:solidFill>
                <a:latin typeface="inherit"/>
              </a:rPr>
              <a:t>s’agit de la représentation d'un idéal à atteindre</a:t>
            </a:r>
            <a:r>
              <a:rPr lang="fr-FR" dirty="0" smtClean="0">
                <a:solidFill>
                  <a:srgbClr val="3A3939"/>
                </a:solidFill>
                <a:latin typeface="inherit"/>
              </a:rPr>
              <a:t>.</a:t>
            </a:r>
          </a:p>
          <a:p>
            <a:pPr lvl="0" algn="justLow" eaLnBrk="0" fontAlgn="base" hangingPunct="0">
              <a:spcBef>
                <a:spcPct val="0"/>
              </a:spcBef>
              <a:spcAft>
                <a:spcPct val="0"/>
              </a:spcAft>
            </a:pPr>
            <a:r>
              <a:rPr lang="fr-FR" altLang="fr-FR" dirty="0" smtClean="0">
                <a:solidFill>
                  <a:srgbClr val="3A3939"/>
                </a:solidFill>
                <a:latin typeface="inherit"/>
              </a:rPr>
              <a:t>“</a:t>
            </a:r>
            <a:r>
              <a:rPr lang="fr-FR" altLang="fr-FR" dirty="0">
                <a:solidFill>
                  <a:srgbClr val="3A3939"/>
                </a:solidFill>
                <a:latin typeface="inherit"/>
              </a:rPr>
              <a:t>Nous découvrons comment mieux développer des logiciels par la pratique et en aidant les autres à le faire.“  </a:t>
            </a:r>
            <a:r>
              <a:rPr lang="fr-FR" altLang="fr-FR" sz="1600" i="1" dirty="0" smtClean="0">
                <a:latin typeface="Palatino Linotype" panose="02040502050505030304" pitchFamily="18" charset="0"/>
              </a:rPr>
              <a:t>Extrait </a:t>
            </a:r>
            <a:r>
              <a:rPr lang="fr-FR" altLang="fr-FR" sz="1600" i="1" dirty="0">
                <a:latin typeface="Palatino Linotype" panose="02040502050505030304" pitchFamily="18" charset="0"/>
              </a:rPr>
              <a:t>du Manifeste Agile</a:t>
            </a:r>
            <a:r>
              <a:rPr lang="fr-FR" altLang="fr-FR" sz="1600" i="1" dirty="0" smtClean="0">
                <a:latin typeface="Palatino Linotype" panose="02040502050505030304" pitchFamily="18" charset="0"/>
              </a:rPr>
              <a:t>.</a:t>
            </a:r>
            <a:endParaRPr lang="fr-FR" altLang="fr-FR" sz="1600" dirty="0">
              <a:latin typeface="Palatino Linotype" panose="02040502050505030304" pitchFamily="18" charset="0"/>
            </a:endParaRPr>
          </a:p>
        </p:txBody>
      </p:sp>
      <p:sp>
        <p:nvSpPr>
          <p:cNvPr id="3" name="Rectangle 2"/>
          <p:cNvSpPr/>
          <p:nvPr/>
        </p:nvSpPr>
        <p:spPr>
          <a:xfrm>
            <a:off x="714102" y="344770"/>
            <a:ext cx="5826033" cy="646331"/>
          </a:xfrm>
          <a:prstGeom prst="rect">
            <a:avLst/>
          </a:prstGeom>
        </p:spPr>
        <p:txBody>
          <a:bodyPr wrap="square">
            <a:spAutoFit/>
          </a:bodyPr>
          <a:lstStyle/>
          <a:p>
            <a:r>
              <a:rPr lang="fr-FR" sz="3600" b="1" dirty="0">
                <a:solidFill>
                  <a:srgbClr val="FF0000"/>
                </a:solidFill>
                <a:latin typeface="inherit"/>
              </a:rPr>
              <a:t>Qu'est-ce que l'agilité ?</a:t>
            </a:r>
          </a:p>
        </p:txBody>
      </p:sp>
    </p:spTree>
    <p:extLst>
      <p:ext uri="{BB962C8B-B14F-4D97-AF65-F5344CB8AC3E}">
        <p14:creationId xmlns:p14="http://schemas.microsoft.com/office/powerpoint/2010/main" val="122221043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CONF. 302 - Agile 101 : Agile au service de l'entrepris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54247" y="2295232"/>
            <a:ext cx="3806826" cy="2769462"/>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1148351" y="2060098"/>
            <a:ext cx="6670765" cy="3970318"/>
          </a:xfrm>
          <a:prstGeom prst="rect">
            <a:avLst/>
          </a:prstGeom>
        </p:spPr>
        <p:txBody>
          <a:bodyPr wrap="square">
            <a:spAutoFit/>
          </a:bodyPr>
          <a:lstStyle/>
          <a:p>
            <a:pPr algn="just"/>
            <a:r>
              <a:rPr lang="fr-FR" dirty="0" smtClean="0"/>
              <a:t> </a:t>
            </a:r>
            <a:r>
              <a:rPr lang="fr-FR" dirty="0"/>
              <a:t>« L’agilité </a:t>
            </a:r>
            <a:r>
              <a:rPr lang="fr-FR" dirty="0" smtClean="0"/>
              <a:t>est, un ensemble </a:t>
            </a:r>
            <a:r>
              <a:rPr lang="fr-FR" b="1" dirty="0" smtClean="0"/>
              <a:t>des valeurs </a:t>
            </a:r>
            <a:r>
              <a:rPr lang="fr-FR" dirty="0" smtClean="0"/>
              <a:t>et </a:t>
            </a:r>
            <a:r>
              <a:rPr lang="fr-FR" b="1" dirty="0" smtClean="0"/>
              <a:t>principes</a:t>
            </a:r>
            <a:r>
              <a:rPr lang="fr-FR" dirty="0" smtClean="0"/>
              <a:t>, donnant </a:t>
            </a:r>
            <a:r>
              <a:rPr lang="fr-FR" dirty="0"/>
              <a:t>la capacité </a:t>
            </a:r>
            <a:r>
              <a:rPr lang="fr-FR" dirty="0" smtClean="0"/>
              <a:t>à toute organisation </a:t>
            </a:r>
            <a:r>
              <a:rPr lang="fr-FR" dirty="0"/>
              <a:t>à fournir tôt et souvent des </a:t>
            </a:r>
            <a:r>
              <a:rPr lang="fr-FR" dirty="0" smtClean="0"/>
              <a:t>produits ou services </a:t>
            </a:r>
            <a:r>
              <a:rPr lang="fr-FR" dirty="0"/>
              <a:t>impactant ses </a:t>
            </a:r>
            <a:r>
              <a:rPr lang="fr-FR" dirty="0" smtClean="0"/>
              <a:t>utilisateurs tout </a:t>
            </a:r>
            <a:r>
              <a:rPr lang="fr-FR" dirty="0"/>
              <a:t>en s’adaptant à temps aux changements dans son environnement. » </a:t>
            </a:r>
            <a:endParaRPr lang="fr-FR" dirty="0" smtClean="0"/>
          </a:p>
          <a:p>
            <a:pPr algn="just"/>
            <a:endParaRPr lang="fr-FR" dirty="0"/>
          </a:p>
          <a:p>
            <a:pPr algn="just"/>
            <a:r>
              <a:rPr lang="fr-FR" b="1" dirty="0" smtClean="0">
                <a:solidFill>
                  <a:srgbClr val="FF0000"/>
                </a:solidFill>
              </a:rPr>
              <a:t>AGILE </a:t>
            </a:r>
            <a:r>
              <a:rPr lang="fr-FR" b="1" dirty="0" err="1" smtClean="0">
                <a:solidFill>
                  <a:srgbClr val="FF0000"/>
                </a:solidFill>
              </a:rPr>
              <a:t>is</a:t>
            </a:r>
            <a:r>
              <a:rPr lang="fr-FR" b="1" dirty="0" smtClean="0">
                <a:solidFill>
                  <a:srgbClr val="FF0000"/>
                </a:solidFill>
              </a:rPr>
              <a:t> a </a:t>
            </a:r>
            <a:r>
              <a:rPr lang="fr-FR" b="1" dirty="0" err="1" smtClean="0">
                <a:solidFill>
                  <a:srgbClr val="FF0000"/>
                </a:solidFill>
              </a:rPr>
              <a:t>mindset</a:t>
            </a:r>
            <a:r>
              <a:rPr lang="fr-FR" dirty="0" smtClean="0"/>
              <a:t>: De ce fait, </a:t>
            </a:r>
            <a:r>
              <a:rPr lang="fr-FR" dirty="0"/>
              <a:t>une nouvelle culture est </a:t>
            </a:r>
            <a:r>
              <a:rPr lang="fr-FR" dirty="0" smtClean="0"/>
              <a:t>nécessaire, La </a:t>
            </a:r>
            <a:r>
              <a:rPr lang="fr-FR" dirty="0"/>
              <a:t>culture </a:t>
            </a:r>
            <a:r>
              <a:rPr lang="fr-FR" dirty="0" smtClean="0"/>
              <a:t>agile, </a:t>
            </a:r>
            <a:r>
              <a:rPr lang="fr-FR" dirty="0"/>
              <a:t>Les valeurs et les principes de l’agilité </a:t>
            </a:r>
            <a:r>
              <a:rPr lang="fr-FR" dirty="0" smtClean="0"/>
              <a:t>présentent  le guide de référence pour une telle transformation.</a:t>
            </a:r>
          </a:p>
          <a:p>
            <a:pPr algn="just"/>
            <a:r>
              <a:rPr lang="fr-FR" dirty="0" smtClean="0"/>
              <a:t> </a:t>
            </a:r>
            <a:r>
              <a:rPr lang="fr-FR" dirty="0"/>
              <a:t>Il importe de tenir compte des aspects culturels dans la formation et la transition à </a:t>
            </a:r>
            <a:r>
              <a:rPr lang="fr-FR" dirty="0" smtClean="0"/>
              <a:t>l’agilité </a:t>
            </a:r>
            <a:r>
              <a:rPr lang="fr-FR" dirty="0"/>
              <a:t>: on ne change pas si facilement de culture. Au-delà des idées, l’agilité, en particulier avec </a:t>
            </a:r>
            <a:r>
              <a:rPr lang="fr-FR" dirty="0" err="1" smtClean="0"/>
              <a:t>Scrum</a:t>
            </a:r>
            <a:r>
              <a:rPr lang="fr-FR" dirty="0" smtClean="0"/>
              <a:t> et </a:t>
            </a:r>
            <a:r>
              <a:rPr lang="fr-FR" dirty="0" err="1" smtClean="0"/>
              <a:t>SAFe</a:t>
            </a:r>
            <a:r>
              <a:rPr lang="fr-FR" dirty="0" smtClean="0"/>
              <a:t>, </a:t>
            </a:r>
            <a:r>
              <a:rPr lang="fr-FR" dirty="0"/>
              <a:t>véhicule un vocabulaire nouveau. En quelque sorte, </a:t>
            </a:r>
            <a:r>
              <a:rPr lang="fr-FR" dirty="0" smtClean="0"/>
              <a:t>Ce </a:t>
            </a:r>
            <a:r>
              <a:rPr lang="fr-FR" dirty="0"/>
              <a:t>vocabulaire contribue à renforcer l’idée du changement de </a:t>
            </a:r>
            <a:r>
              <a:rPr lang="fr-FR" dirty="0" smtClean="0"/>
              <a:t>culture et qui sera le langage commun reconnu, maitrisé  et appliqué par tous. </a:t>
            </a:r>
            <a:endParaRPr lang="fr-FR" dirty="0"/>
          </a:p>
        </p:txBody>
      </p:sp>
      <p:sp>
        <p:nvSpPr>
          <p:cNvPr id="5" name="Rectangle 4"/>
          <p:cNvSpPr/>
          <p:nvPr/>
        </p:nvSpPr>
        <p:spPr>
          <a:xfrm>
            <a:off x="1550127" y="431856"/>
            <a:ext cx="5826033" cy="646331"/>
          </a:xfrm>
          <a:prstGeom prst="rect">
            <a:avLst/>
          </a:prstGeom>
        </p:spPr>
        <p:txBody>
          <a:bodyPr wrap="square">
            <a:spAutoFit/>
          </a:bodyPr>
          <a:lstStyle/>
          <a:p>
            <a:r>
              <a:rPr lang="fr-FR" sz="3600" b="1" dirty="0">
                <a:solidFill>
                  <a:srgbClr val="FF0000"/>
                </a:solidFill>
                <a:latin typeface="inherit"/>
              </a:rPr>
              <a:t>Qu'est-ce que l'agilité ?</a:t>
            </a:r>
          </a:p>
        </p:txBody>
      </p:sp>
    </p:spTree>
    <p:extLst>
      <p:ext uri="{BB962C8B-B14F-4D97-AF65-F5344CB8AC3E}">
        <p14:creationId xmlns:p14="http://schemas.microsoft.com/office/powerpoint/2010/main" val="110689586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FACTS and Sensorship: A New Kind of Entrepreneurial Partnershi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76800" y="1554343"/>
            <a:ext cx="6801393" cy="530365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574767" y="1260961"/>
            <a:ext cx="3814353" cy="5078313"/>
          </a:xfrm>
          <a:prstGeom prst="rect">
            <a:avLst/>
          </a:prstGeom>
        </p:spPr>
        <p:txBody>
          <a:bodyPr wrap="square">
            <a:spAutoFit/>
          </a:bodyPr>
          <a:lstStyle/>
          <a:p>
            <a:r>
              <a:rPr lang="fr-FR" dirty="0">
                <a:solidFill>
                  <a:srgbClr val="202122"/>
                </a:solidFill>
                <a:latin typeface="Arial" panose="020B0604020202020204" pitchFamily="34" charset="0"/>
              </a:rPr>
              <a:t>Le </a:t>
            </a:r>
            <a:r>
              <a:rPr lang="fr-FR" b="1" i="1" dirty="0">
                <a:solidFill>
                  <a:srgbClr val="202122"/>
                </a:solidFill>
                <a:latin typeface="Arial" panose="020B0604020202020204" pitchFamily="34" charset="0"/>
              </a:rPr>
              <a:t>Manifeste pour le développement agile de logiciels</a:t>
            </a:r>
            <a:r>
              <a:rPr lang="fr-FR" dirty="0">
                <a:solidFill>
                  <a:srgbClr val="202122"/>
                </a:solidFill>
                <a:latin typeface="Arial" panose="020B0604020202020204" pitchFamily="34" charset="0"/>
              </a:rPr>
              <a:t> (</a:t>
            </a:r>
            <a:r>
              <a:rPr lang="fr-FR" i="1" dirty="0">
                <a:solidFill>
                  <a:srgbClr val="202122"/>
                </a:solidFill>
                <a:latin typeface="Arial" panose="020B0604020202020204" pitchFamily="34" charset="0"/>
              </a:rPr>
              <a:t>The </a:t>
            </a:r>
            <a:r>
              <a:rPr lang="fr-FR" i="1" dirty="0" err="1">
                <a:solidFill>
                  <a:srgbClr val="202122"/>
                </a:solidFill>
                <a:latin typeface="Arial" panose="020B0604020202020204" pitchFamily="34" charset="0"/>
              </a:rPr>
              <a:t>Manifesto</a:t>
            </a:r>
            <a:r>
              <a:rPr lang="fr-FR" i="1" dirty="0">
                <a:solidFill>
                  <a:srgbClr val="202122"/>
                </a:solidFill>
                <a:latin typeface="Arial" panose="020B0604020202020204" pitchFamily="34" charset="0"/>
              </a:rPr>
              <a:t> for Agile Software </a:t>
            </a:r>
            <a:r>
              <a:rPr lang="fr-FR" i="1" dirty="0" err="1" smtClean="0">
                <a:solidFill>
                  <a:srgbClr val="202122"/>
                </a:solidFill>
                <a:latin typeface="Arial" panose="020B0604020202020204" pitchFamily="34" charset="0"/>
              </a:rPr>
              <a:t>Development</a:t>
            </a:r>
            <a:r>
              <a:rPr lang="fr-FR" dirty="0" smtClean="0">
                <a:solidFill>
                  <a:srgbClr val="202122"/>
                </a:solidFill>
                <a:latin typeface="Arial" panose="020B0604020202020204" pitchFamily="34" charset="0"/>
              </a:rPr>
              <a:t>) </a:t>
            </a:r>
            <a:r>
              <a:rPr lang="fr-FR" dirty="0">
                <a:solidFill>
                  <a:srgbClr val="202122"/>
                </a:solidFill>
                <a:latin typeface="Arial" panose="020B0604020202020204" pitchFamily="34" charset="0"/>
              </a:rPr>
              <a:t>est un texte rédigé par dix-sept experts du développement d'applications </a:t>
            </a:r>
            <a:r>
              <a:rPr lang="fr-FR" dirty="0" smtClean="0">
                <a:solidFill>
                  <a:srgbClr val="202122"/>
                </a:solidFill>
                <a:latin typeface="Arial" panose="020B0604020202020204" pitchFamily="34" charset="0"/>
              </a:rPr>
              <a:t>informatiques. Ces </a:t>
            </a:r>
            <a:r>
              <a:rPr lang="fr-FR" dirty="0">
                <a:solidFill>
                  <a:srgbClr val="202122"/>
                </a:solidFill>
                <a:latin typeface="Arial" panose="020B0604020202020204" pitchFamily="34" charset="0"/>
              </a:rPr>
              <a:t>experts estimaient que le traditionnel </a:t>
            </a:r>
            <a:r>
              <a:rPr lang="fr-FR" dirty="0">
                <a:solidFill>
                  <a:srgbClr val="3366CC"/>
                </a:solidFill>
                <a:latin typeface="Arial" panose="020B0604020202020204" pitchFamily="34" charset="0"/>
                <a:hlinkClick r:id="rId3" tooltip="Modèle en cascade"/>
              </a:rPr>
              <a:t>cycle de développement en cascade</a:t>
            </a:r>
            <a:r>
              <a:rPr lang="fr-FR" dirty="0">
                <a:solidFill>
                  <a:srgbClr val="202122"/>
                </a:solidFill>
                <a:latin typeface="Arial" panose="020B0604020202020204" pitchFamily="34" charset="0"/>
              </a:rPr>
              <a:t> ne correspondait plus aux contraintes et aux exigences des organisations en évolution rapide. </a:t>
            </a:r>
            <a:endParaRPr lang="fr-FR" dirty="0" smtClean="0">
              <a:solidFill>
                <a:srgbClr val="202122"/>
              </a:solidFill>
              <a:latin typeface="Arial" panose="020B0604020202020204" pitchFamily="34" charset="0"/>
            </a:endParaRPr>
          </a:p>
          <a:p>
            <a:r>
              <a:rPr lang="fr-FR" dirty="0" smtClean="0">
                <a:solidFill>
                  <a:srgbClr val="202122"/>
                </a:solidFill>
                <a:latin typeface="Arial" panose="020B0604020202020204" pitchFamily="34" charset="0"/>
              </a:rPr>
              <a:t>Les </a:t>
            </a:r>
            <a:r>
              <a:rPr lang="fr-FR" dirty="0">
                <a:solidFill>
                  <a:srgbClr val="202122"/>
                </a:solidFill>
                <a:latin typeface="Arial" panose="020B0604020202020204" pitchFamily="34" charset="0"/>
              </a:rPr>
              <a:t>méthodes agiles ne sont pas apparues avec le Manifeste en 2001 mais celui-ci détermine leurs dénominateurs communs et consacre le terme d'« agile » pour les référencer. </a:t>
            </a:r>
            <a:endParaRPr lang="fr-FR" dirty="0"/>
          </a:p>
        </p:txBody>
      </p:sp>
      <p:sp>
        <p:nvSpPr>
          <p:cNvPr id="5" name="Rectangle 4"/>
          <p:cNvSpPr/>
          <p:nvPr/>
        </p:nvSpPr>
        <p:spPr>
          <a:xfrm>
            <a:off x="740230" y="275102"/>
            <a:ext cx="5826033" cy="646331"/>
          </a:xfrm>
          <a:prstGeom prst="rect">
            <a:avLst/>
          </a:prstGeom>
        </p:spPr>
        <p:txBody>
          <a:bodyPr wrap="square">
            <a:spAutoFit/>
          </a:bodyPr>
          <a:lstStyle/>
          <a:p>
            <a:r>
              <a:rPr lang="fr-FR" sz="3600" b="1" dirty="0">
                <a:solidFill>
                  <a:srgbClr val="FF0000"/>
                </a:solidFill>
                <a:latin typeface="inherit"/>
              </a:rPr>
              <a:t>Qu'est-ce que l'agilité ?</a:t>
            </a:r>
          </a:p>
        </p:txBody>
      </p:sp>
    </p:spTree>
    <p:extLst>
      <p:ext uri="{BB962C8B-B14F-4D97-AF65-F5344CB8AC3E}">
        <p14:creationId xmlns:p14="http://schemas.microsoft.com/office/powerpoint/2010/main" val="16595817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35726" y="1185936"/>
            <a:ext cx="5303520" cy="5909310"/>
          </a:xfrm>
          <a:prstGeom prst="rect">
            <a:avLst/>
          </a:prstGeom>
        </p:spPr>
        <p:txBody>
          <a:bodyPr wrap="square">
            <a:spAutoFit/>
          </a:bodyPr>
          <a:lstStyle/>
          <a:p>
            <a:pPr algn="just"/>
            <a:r>
              <a:rPr lang="fr-FR" sz="2400" dirty="0">
                <a:solidFill>
                  <a:srgbClr val="FF0000"/>
                </a:solidFill>
                <a:latin typeface="Linux Libertine"/>
              </a:rPr>
              <a:t>Quatre </a:t>
            </a:r>
            <a:r>
              <a:rPr lang="fr-FR" sz="2400" dirty="0" smtClean="0">
                <a:solidFill>
                  <a:srgbClr val="FF0000"/>
                </a:solidFill>
                <a:latin typeface="Linux Libertine"/>
              </a:rPr>
              <a:t>valeurs</a:t>
            </a:r>
            <a:endParaRPr lang="fr-FR" sz="2400" baseline="30000" dirty="0">
              <a:solidFill>
                <a:srgbClr val="FF0000"/>
              </a:solidFill>
              <a:latin typeface="Linux Libertine"/>
            </a:endParaRPr>
          </a:p>
          <a:p>
            <a:pPr algn="just"/>
            <a:endParaRPr lang="fr-FR" i="1" baseline="30000" dirty="0" smtClean="0">
              <a:solidFill>
                <a:srgbClr val="3366CC"/>
              </a:solidFill>
              <a:latin typeface="Linux Libertine"/>
            </a:endParaRPr>
          </a:p>
          <a:p>
            <a:pPr algn="just"/>
            <a:r>
              <a:rPr lang="fr-FR" i="1" dirty="0" smtClean="0">
                <a:solidFill>
                  <a:srgbClr val="202122"/>
                </a:solidFill>
                <a:latin typeface="Arial" panose="020B0604020202020204" pitchFamily="34" charset="0"/>
              </a:rPr>
              <a:t>« Nous </a:t>
            </a:r>
            <a:r>
              <a:rPr lang="fr-FR" i="1" dirty="0">
                <a:solidFill>
                  <a:srgbClr val="202122"/>
                </a:solidFill>
                <a:latin typeface="Arial" panose="020B0604020202020204" pitchFamily="34" charset="0"/>
              </a:rPr>
              <a:t>découvrons de meilleures approches du développement logiciel en le pratiquant et en aidant les autres à le </a:t>
            </a:r>
            <a:r>
              <a:rPr lang="fr-FR" i="1" dirty="0" smtClean="0">
                <a:solidFill>
                  <a:srgbClr val="202122"/>
                </a:solidFill>
                <a:latin typeface="Arial" panose="020B0604020202020204" pitchFamily="34" charset="0"/>
              </a:rPr>
              <a:t>pratiquer ». </a:t>
            </a:r>
            <a:r>
              <a:rPr lang="fr-FR" i="1" dirty="0">
                <a:solidFill>
                  <a:srgbClr val="202122"/>
                </a:solidFill>
                <a:latin typeface="Arial" panose="020B0604020202020204" pitchFamily="34" charset="0"/>
              </a:rPr>
              <a:t>Ce travail nous a amené à accorder de l'importance </a:t>
            </a:r>
            <a:r>
              <a:rPr lang="fr-FR" dirty="0">
                <a:solidFill>
                  <a:srgbClr val="202122"/>
                </a:solidFill>
                <a:latin typeface="Arial" panose="020B0604020202020204" pitchFamily="34" charset="0"/>
              </a:rPr>
              <a:t> :</a:t>
            </a:r>
          </a:p>
          <a:p>
            <a:pPr algn="just">
              <a:buFont typeface="Arial" panose="020B0604020202020204" pitchFamily="34" charset="0"/>
              <a:buChar char="•"/>
            </a:pPr>
            <a:r>
              <a:rPr lang="fr-FR" b="1" dirty="0">
                <a:solidFill>
                  <a:srgbClr val="202122"/>
                </a:solidFill>
                <a:latin typeface="Arial" panose="020B0604020202020204" pitchFamily="34" charset="0"/>
              </a:rPr>
              <a:t>aux individus et leurs interactions</a:t>
            </a:r>
            <a:r>
              <a:rPr lang="fr-FR" dirty="0">
                <a:solidFill>
                  <a:srgbClr val="202122"/>
                </a:solidFill>
                <a:latin typeface="Arial" panose="020B0604020202020204" pitchFamily="34" charset="0"/>
              </a:rPr>
              <a:t> plutôt qu'aux processus et aux outils ;</a:t>
            </a:r>
          </a:p>
          <a:p>
            <a:pPr algn="just">
              <a:buFont typeface="Arial" panose="020B0604020202020204" pitchFamily="34" charset="0"/>
              <a:buChar char="•"/>
            </a:pPr>
            <a:r>
              <a:rPr lang="fr-FR" b="1" dirty="0">
                <a:solidFill>
                  <a:srgbClr val="202122"/>
                </a:solidFill>
                <a:latin typeface="Arial" panose="020B0604020202020204" pitchFamily="34" charset="0"/>
              </a:rPr>
              <a:t>à un logiciel fonctionnel</a:t>
            </a:r>
            <a:r>
              <a:rPr lang="fr-FR" dirty="0">
                <a:solidFill>
                  <a:srgbClr val="202122"/>
                </a:solidFill>
                <a:latin typeface="Arial" panose="020B0604020202020204" pitchFamily="34" charset="0"/>
              </a:rPr>
              <a:t> plutôt qu’à une documentation exhaustive ;</a:t>
            </a:r>
          </a:p>
          <a:p>
            <a:pPr algn="just">
              <a:buFont typeface="Arial" panose="020B0604020202020204" pitchFamily="34" charset="0"/>
              <a:buChar char="•"/>
            </a:pPr>
            <a:r>
              <a:rPr lang="fr-FR" b="1" dirty="0">
                <a:solidFill>
                  <a:srgbClr val="202122"/>
                </a:solidFill>
                <a:latin typeface="Arial" panose="020B0604020202020204" pitchFamily="34" charset="0"/>
              </a:rPr>
              <a:t>à la collaboration avec les clients</a:t>
            </a:r>
            <a:r>
              <a:rPr lang="fr-FR" dirty="0">
                <a:solidFill>
                  <a:srgbClr val="202122"/>
                </a:solidFill>
                <a:latin typeface="Arial" panose="020B0604020202020204" pitchFamily="34" charset="0"/>
              </a:rPr>
              <a:t> plutôt qu'à la négociation contractuelle ;</a:t>
            </a:r>
          </a:p>
          <a:p>
            <a:pPr algn="just">
              <a:buFont typeface="Arial" panose="020B0604020202020204" pitchFamily="34" charset="0"/>
              <a:buChar char="•"/>
            </a:pPr>
            <a:r>
              <a:rPr lang="fr-FR" b="1" dirty="0">
                <a:solidFill>
                  <a:srgbClr val="202122"/>
                </a:solidFill>
                <a:latin typeface="Arial" panose="020B0604020202020204" pitchFamily="34" charset="0"/>
              </a:rPr>
              <a:t>à l’adaptation au changement</a:t>
            </a:r>
            <a:r>
              <a:rPr lang="fr-FR" dirty="0">
                <a:solidFill>
                  <a:srgbClr val="202122"/>
                </a:solidFill>
                <a:latin typeface="Arial" panose="020B0604020202020204" pitchFamily="34" charset="0"/>
              </a:rPr>
              <a:t> plutôt qu'à l'exécution d’un plan</a:t>
            </a:r>
            <a:r>
              <a:rPr lang="fr-FR" dirty="0" smtClean="0">
                <a:solidFill>
                  <a:srgbClr val="202122"/>
                </a:solidFill>
                <a:latin typeface="Arial" panose="020B0604020202020204" pitchFamily="34" charset="0"/>
              </a:rPr>
              <a:t>.</a:t>
            </a:r>
          </a:p>
          <a:p>
            <a:pPr algn="just"/>
            <a:endParaRPr lang="fr-FR" dirty="0">
              <a:solidFill>
                <a:srgbClr val="202122"/>
              </a:solidFill>
              <a:latin typeface="Arial" panose="020B0604020202020204" pitchFamily="34" charset="0"/>
            </a:endParaRPr>
          </a:p>
          <a:p>
            <a:pPr algn="just"/>
            <a:r>
              <a:rPr lang="fr-FR" i="1" dirty="0">
                <a:solidFill>
                  <a:srgbClr val="202122"/>
                </a:solidFill>
                <a:latin typeface="Arial" panose="020B0604020202020204" pitchFamily="34" charset="0"/>
              </a:rPr>
              <a:t>Cela signifie que, bien qu'il y ait de la valeur dans les éléments situés à la fin, </a:t>
            </a:r>
            <a:r>
              <a:rPr lang="fr-FR" i="1" dirty="0" smtClean="0">
                <a:solidFill>
                  <a:srgbClr val="202122"/>
                </a:solidFill>
                <a:latin typeface="Arial" panose="020B0604020202020204" pitchFamily="34" charset="0"/>
              </a:rPr>
              <a:t>la </a:t>
            </a:r>
            <a:r>
              <a:rPr lang="fr-FR" i="1" dirty="0">
                <a:solidFill>
                  <a:srgbClr val="202122"/>
                </a:solidFill>
                <a:latin typeface="Arial" panose="020B0604020202020204" pitchFamily="34" charset="0"/>
              </a:rPr>
              <a:t>préférence se porte sur les éléments qui se trouvent en première partie de phrase.</a:t>
            </a:r>
            <a:endParaRPr lang="fr-FR" dirty="0">
              <a:solidFill>
                <a:srgbClr val="202122"/>
              </a:solidFill>
              <a:latin typeface="Arial" panose="020B0604020202020204" pitchFamily="34" charset="0"/>
            </a:endParaRPr>
          </a:p>
          <a:p>
            <a:pPr algn="just"/>
            <a:r>
              <a:rPr lang="fr-FR" dirty="0"/>
              <a:t/>
            </a:r>
            <a:br>
              <a:rPr lang="fr-FR" dirty="0"/>
            </a:br>
            <a:endParaRPr lang="fr-FR" dirty="0"/>
          </a:p>
        </p:txBody>
      </p:sp>
      <p:pic>
        <p:nvPicPr>
          <p:cNvPr id="3" name="Picture 4" descr="Initiation aux méthodes agil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39246" y="1360199"/>
            <a:ext cx="6217920" cy="4779344"/>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635726" y="173663"/>
            <a:ext cx="5826033" cy="646331"/>
          </a:xfrm>
          <a:prstGeom prst="rect">
            <a:avLst/>
          </a:prstGeom>
        </p:spPr>
        <p:txBody>
          <a:bodyPr wrap="square">
            <a:spAutoFit/>
          </a:bodyPr>
          <a:lstStyle/>
          <a:p>
            <a:r>
              <a:rPr lang="fr-FR" sz="3600" b="1" dirty="0">
                <a:solidFill>
                  <a:srgbClr val="FF0000"/>
                </a:solidFill>
                <a:latin typeface="inherit"/>
              </a:rPr>
              <a:t>Qu'est-ce que l'agilité ?</a:t>
            </a:r>
          </a:p>
        </p:txBody>
      </p:sp>
    </p:spTree>
    <p:extLst>
      <p:ext uri="{BB962C8B-B14F-4D97-AF65-F5344CB8AC3E}">
        <p14:creationId xmlns:p14="http://schemas.microsoft.com/office/powerpoint/2010/main" val="171838129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Les 12 principes Agile — Wiki Agile du @GroupeCES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099" y="566057"/>
            <a:ext cx="11712575" cy="603504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644435" y="0"/>
            <a:ext cx="5826033" cy="646331"/>
          </a:xfrm>
          <a:prstGeom prst="rect">
            <a:avLst/>
          </a:prstGeom>
        </p:spPr>
        <p:txBody>
          <a:bodyPr wrap="square">
            <a:spAutoFit/>
          </a:bodyPr>
          <a:lstStyle/>
          <a:p>
            <a:r>
              <a:rPr lang="fr-FR" sz="3600" b="1" dirty="0">
                <a:solidFill>
                  <a:srgbClr val="FF0000"/>
                </a:solidFill>
                <a:latin typeface="inherit"/>
              </a:rPr>
              <a:t>Qu'est-ce que l'agilité ?</a:t>
            </a:r>
          </a:p>
        </p:txBody>
      </p:sp>
      <p:sp>
        <p:nvSpPr>
          <p:cNvPr id="4" name="Rectangle 3"/>
          <p:cNvSpPr/>
          <p:nvPr/>
        </p:nvSpPr>
        <p:spPr>
          <a:xfrm>
            <a:off x="165100" y="798731"/>
            <a:ext cx="2658652" cy="553998"/>
          </a:xfrm>
          <a:prstGeom prst="rect">
            <a:avLst/>
          </a:prstGeom>
          <a:solidFill>
            <a:schemeClr val="accent2">
              <a:lumMod val="60000"/>
              <a:lumOff val="40000"/>
            </a:schemeClr>
          </a:solidFill>
        </p:spPr>
        <p:txBody>
          <a:bodyPr wrap="square">
            <a:spAutoFit/>
          </a:bodyPr>
          <a:lstStyle/>
          <a:p>
            <a:r>
              <a:rPr lang="fr-FR" sz="3000" b="1" dirty="0" smtClean="0">
                <a:solidFill>
                  <a:srgbClr val="FF0000"/>
                </a:solidFill>
                <a:latin typeface="inherit"/>
              </a:rPr>
              <a:t>12 principes</a:t>
            </a:r>
            <a:endParaRPr lang="fr-FR" sz="3000" b="1" dirty="0">
              <a:solidFill>
                <a:srgbClr val="FF0000"/>
              </a:solidFill>
              <a:latin typeface="inherit"/>
            </a:endParaRPr>
          </a:p>
        </p:txBody>
      </p:sp>
    </p:spTree>
    <p:extLst>
      <p:ext uri="{BB962C8B-B14F-4D97-AF65-F5344CB8AC3E}">
        <p14:creationId xmlns:p14="http://schemas.microsoft.com/office/powerpoint/2010/main" val="302902471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365760" y="1078296"/>
            <a:ext cx="11303725" cy="526297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Low" defTabSz="914400" rtl="0" eaLnBrk="0" fontAlgn="base" latinLnBrk="0" hangingPunct="0">
              <a:lnSpc>
                <a:spcPct val="100000"/>
              </a:lnSpc>
              <a:spcBef>
                <a:spcPct val="0"/>
              </a:spcBef>
              <a:spcAft>
                <a:spcPct val="0"/>
              </a:spcAft>
              <a:buClrTx/>
              <a:buSzTx/>
              <a:buFontTx/>
              <a:buNone/>
              <a:tabLst/>
            </a:pPr>
            <a:r>
              <a:rPr kumimoji="0" lang="fr-FR" altLang="fr-FR" sz="1300" b="0" i="0" u="none" strike="noStrike" cap="none" normalizeH="0" baseline="0" dirty="0" smtClean="0">
                <a:ln>
                  <a:noFill/>
                </a:ln>
                <a:solidFill>
                  <a:srgbClr val="3A3939"/>
                </a:solidFill>
                <a:effectLst/>
                <a:latin typeface="inherit"/>
              </a:rPr>
              <a:t>“</a:t>
            </a:r>
            <a:r>
              <a:rPr kumimoji="0" lang="fr-FR" altLang="fr-FR" sz="1800" b="1" i="0" u="none" strike="noStrike" cap="none" normalizeH="0" baseline="0" dirty="0" smtClean="0">
                <a:ln>
                  <a:noFill/>
                </a:ln>
                <a:solidFill>
                  <a:schemeClr val="tx1"/>
                </a:solidFill>
                <a:effectLst/>
                <a:latin typeface="inherit"/>
              </a:rPr>
              <a:t>1) Les individus et les interactions plus que les processus et les outils</a:t>
            </a:r>
          </a:p>
          <a:p>
            <a:pPr marR="0" lvl="0" indent="0" algn="just">
              <a:lnSpc>
                <a:spcPct val="100000"/>
              </a:lnSpc>
              <a:buClrTx/>
              <a:buSzTx/>
              <a:buFontTx/>
              <a:buNone/>
              <a:tabLst/>
            </a:pPr>
            <a:r>
              <a:rPr lang="fr-FR" altLang="fr-FR" dirty="0">
                <a:solidFill>
                  <a:srgbClr val="3A3939"/>
                </a:solidFill>
                <a:latin typeface="inherit"/>
              </a:rPr>
              <a:t>Qui construit la valeur d’une entreprise, qui crée les produits ? Ce sont bien les équipes.</a:t>
            </a:r>
          </a:p>
          <a:p>
            <a:pPr algn="just"/>
            <a:r>
              <a:rPr lang="fr-FR" altLang="fr-FR" dirty="0">
                <a:solidFill>
                  <a:srgbClr val="3A3939"/>
                </a:solidFill>
                <a:latin typeface="inherit"/>
              </a:rPr>
              <a:t>Une entreprise avec des équipes passionnées sera une entreprise à succès</a:t>
            </a:r>
            <a:r>
              <a:rPr lang="fr-FR" altLang="fr-FR" dirty="0" smtClean="0">
                <a:solidFill>
                  <a:srgbClr val="3A3939"/>
                </a:solidFill>
                <a:latin typeface="inherit"/>
              </a:rPr>
              <a:t>. </a:t>
            </a:r>
            <a:r>
              <a:rPr lang="fr-FR" altLang="fr-FR" dirty="0">
                <a:solidFill>
                  <a:srgbClr val="3A3939"/>
                </a:solidFill>
                <a:latin typeface="inherit"/>
              </a:rPr>
              <a:t>Des équipes engagées et passionnées sauront créer un produit de </a:t>
            </a:r>
            <a:r>
              <a:rPr lang="fr-FR" altLang="fr-FR" dirty="0" smtClean="0">
                <a:solidFill>
                  <a:srgbClr val="3A3939"/>
                </a:solidFill>
                <a:latin typeface="inherit"/>
              </a:rPr>
              <a:t>valeur. Encore </a:t>
            </a:r>
            <a:r>
              <a:rPr lang="fr-FR" altLang="fr-FR" dirty="0">
                <a:solidFill>
                  <a:srgbClr val="3A3939"/>
                </a:solidFill>
                <a:latin typeface="inherit"/>
              </a:rPr>
              <a:t>plus si elle utilise de bons </a:t>
            </a:r>
            <a:r>
              <a:rPr lang="fr-FR" altLang="fr-FR" dirty="0" smtClean="0">
                <a:solidFill>
                  <a:srgbClr val="3A3939"/>
                </a:solidFill>
                <a:latin typeface="inherit"/>
              </a:rPr>
              <a:t>processus.</a:t>
            </a:r>
          </a:p>
          <a:p>
            <a:pPr algn="just"/>
            <a:endParaRPr lang="fr-FR" altLang="fr-FR" dirty="0">
              <a:solidFill>
                <a:srgbClr val="3A3939"/>
              </a:solidFill>
              <a:latin typeface="inherit"/>
            </a:endParaRPr>
          </a:p>
          <a:p>
            <a:pPr marR="0" lvl="0" indent="0" algn="just">
              <a:lnSpc>
                <a:spcPct val="100000"/>
              </a:lnSpc>
              <a:buClrTx/>
              <a:buSzTx/>
              <a:buFontTx/>
              <a:buNone/>
              <a:tabLst/>
            </a:pPr>
            <a:r>
              <a:rPr lang="fr-FR" b="1" dirty="0" smtClean="0">
                <a:latin typeface="inherit"/>
              </a:rPr>
              <a:t>2</a:t>
            </a:r>
            <a:r>
              <a:rPr lang="fr-FR" b="1" dirty="0">
                <a:latin typeface="inherit"/>
              </a:rPr>
              <a:t>) Des logiciels opérationnels plus qu’une documentation exhaustive</a:t>
            </a:r>
          </a:p>
          <a:p>
            <a:pPr algn="just"/>
            <a:r>
              <a:rPr lang="fr-FR" dirty="0">
                <a:solidFill>
                  <a:srgbClr val="3A3939"/>
                </a:solidFill>
                <a:latin typeface="inherit"/>
              </a:rPr>
              <a:t>Ce qu’il faut comprendre ici, c’est que la documentation est essentielle.</a:t>
            </a:r>
          </a:p>
          <a:p>
            <a:pPr algn="just"/>
            <a:r>
              <a:rPr lang="fr-FR" dirty="0">
                <a:solidFill>
                  <a:srgbClr val="3A3939"/>
                </a:solidFill>
                <a:latin typeface="inherit"/>
              </a:rPr>
              <a:t>Pourtant, une équipe de développement devrait se concentrer sur la production de fonctionnalités et non sur la rédaction de documents.</a:t>
            </a:r>
          </a:p>
          <a:p>
            <a:pPr algn="just"/>
            <a:r>
              <a:rPr lang="fr-FR" dirty="0" smtClean="0">
                <a:solidFill>
                  <a:srgbClr val="3A3939"/>
                </a:solidFill>
                <a:latin typeface="inherit"/>
              </a:rPr>
              <a:t>Avec les méthodes classiques, </a:t>
            </a:r>
            <a:r>
              <a:rPr lang="fr-FR" dirty="0">
                <a:solidFill>
                  <a:srgbClr val="3A3939"/>
                </a:solidFill>
                <a:latin typeface="inherit"/>
              </a:rPr>
              <a:t>les chefs de projet peuvent passer des heures à mettre à jour des présentations ou des calendriers.</a:t>
            </a:r>
          </a:p>
          <a:p>
            <a:pPr algn="just"/>
            <a:r>
              <a:rPr lang="fr-FR" dirty="0">
                <a:solidFill>
                  <a:srgbClr val="3A3939"/>
                </a:solidFill>
                <a:latin typeface="inherit"/>
              </a:rPr>
              <a:t>La méthode Agile permet d’avoir des modèles de documents, qui sont toujours les mêmes, qui se complètent rapidement avec l’essentiel des informations.</a:t>
            </a:r>
          </a:p>
          <a:p>
            <a:pPr algn="just"/>
            <a:r>
              <a:rPr lang="fr-FR" dirty="0">
                <a:solidFill>
                  <a:srgbClr val="3A3939"/>
                </a:solidFill>
                <a:latin typeface="inherit"/>
              </a:rPr>
              <a:t>On trouvera deux sortes de documentation pour le développement Agile : </a:t>
            </a:r>
          </a:p>
          <a:p>
            <a:pPr marL="285750" indent="-285750" algn="just">
              <a:buFont typeface="Wingdings" panose="05000000000000000000" pitchFamily="2" charset="2"/>
              <a:buChar char="ü"/>
            </a:pPr>
            <a:r>
              <a:rPr lang="fr-FR" dirty="0">
                <a:solidFill>
                  <a:srgbClr val="3A3939"/>
                </a:solidFill>
                <a:latin typeface="inherit"/>
              </a:rPr>
              <a:t>La documentation sur les exigences du produit telle que la vision produit, </a:t>
            </a:r>
            <a:r>
              <a:rPr lang="fr-FR" dirty="0" smtClean="0">
                <a:solidFill>
                  <a:srgbClr val="3A3939"/>
                </a:solidFill>
                <a:latin typeface="inherit"/>
              </a:rPr>
              <a:t>la roadmap produit, </a:t>
            </a:r>
            <a:r>
              <a:rPr lang="fr-FR" dirty="0">
                <a:solidFill>
                  <a:srgbClr val="3A3939"/>
                </a:solidFill>
                <a:latin typeface="inherit"/>
              </a:rPr>
              <a:t>les besoins utilisateurs et les spécifications fonctionnelles.</a:t>
            </a:r>
          </a:p>
          <a:p>
            <a:pPr marL="285750" indent="-285750" algn="just">
              <a:buFont typeface="Wingdings" panose="05000000000000000000" pitchFamily="2" charset="2"/>
              <a:buChar char="ü"/>
            </a:pPr>
            <a:r>
              <a:rPr lang="fr-FR" dirty="0">
                <a:solidFill>
                  <a:srgbClr val="3A3939"/>
                </a:solidFill>
                <a:latin typeface="inherit"/>
              </a:rPr>
              <a:t>Les spécifications techniques qui regroupent la documentation de type architecture (logicielle ou matérielle), les procédures d’installations etc.</a:t>
            </a:r>
          </a:p>
          <a:p>
            <a:pPr marL="0" marR="0" lvl="0" indent="0" algn="justLow"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smtClean="0">
              <a:ln>
                <a:noFill/>
              </a:ln>
              <a:solidFill>
                <a:schemeClr val="tx1"/>
              </a:solidFill>
              <a:effectLst/>
              <a:latin typeface="Arial" panose="020B0604020202020204" pitchFamily="34" charset="0"/>
            </a:endParaRPr>
          </a:p>
        </p:txBody>
      </p:sp>
      <p:sp>
        <p:nvSpPr>
          <p:cNvPr id="3" name="Rectangle 2"/>
          <p:cNvSpPr/>
          <p:nvPr/>
        </p:nvSpPr>
        <p:spPr>
          <a:xfrm>
            <a:off x="365760" y="208699"/>
            <a:ext cx="7829004" cy="646331"/>
          </a:xfrm>
          <a:prstGeom prst="rect">
            <a:avLst/>
          </a:prstGeom>
        </p:spPr>
        <p:txBody>
          <a:bodyPr wrap="square">
            <a:spAutoFit/>
          </a:bodyPr>
          <a:lstStyle/>
          <a:p>
            <a:r>
              <a:rPr lang="fr-FR" sz="3600" b="1" dirty="0" smtClean="0">
                <a:solidFill>
                  <a:srgbClr val="FF0000"/>
                </a:solidFill>
                <a:latin typeface="inherit"/>
              </a:rPr>
              <a:t>Les 4 valeurs de l'agilité:</a:t>
            </a:r>
            <a:endParaRPr lang="fr-FR" sz="3600" b="1" dirty="0">
              <a:solidFill>
                <a:srgbClr val="FF0000"/>
              </a:solidFill>
              <a:latin typeface="inherit"/>
            </a:endParaRPr>
          </a:p>
        </p:txBody>
      </p:sp>
    </p:spTree>
    <p:extLst>
      <p:ext uri="{BB962C8B-B14F-4D97-AF65-F5344CB8AC3E}">
        <p14:creationId xmlns:p14="http://schemas.microsoft.com/office/powerpoint/2010/main" val="177221875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61554" y="1227804"/>
            <a:ext cx="10692221" cy="5632311"/>
          </a:xfrm>
          <a:prstGeom prst="rect">
            <a:avLst/>
          </a:prstGeom>
        </p:spPr>
        <p:txBody>
          <a:bodyPr wrap="square">
            <a:spAutoFit/>
          </a:bodyPr>
          <a:lstStyle/>
          <a:p>
            <a:r>
              <a:rPr lang="fr-FR" b="1" dirty="0">
                <a:latin typeface="inherit"/>
              </a:rPr>
              <a:t>3) La collaboration avec les clients plus que la négociation contractuelle</a:t>
            </a:r>
          </a:p>
          <a:p>
            <a:pPr algn="just"/>
            <a:r>
              <a:rPr lang="fr-FR" dirty="0">
                <a:solidFill>
                  <a:srgbClr val="62BD8A"/>
                </a:solidFill>
                <a:latin typeface="inherit"/>
                <a:hlinkClick r:id="rId2"/>
              </a:rPr>
              <a:t>La culture Agile</a:t>
            </a:r>
            <a:r>
              <a:rPr lang="fr-FR" dirty="0">
                <a:solidFill>
                  <a:srgbClr val="3A3939"/>
                </a:solidFill>
                <a:latin typeface="inherit"/>
              </a:rPr>
              <a:t> demande de placer les utilisateurs au centre du </a:t>
            </a:r>
            <a:r>
              <a:rPr lang="fr-FR" dirty="0">
                <a:solidFill>
                  <a:srgbClr val="62BD8A"/>
                </a:solidFill>
                <a:latin typeface="inherit"/>
                <a:hlinkClick r:id="rId3"/>
              </a:rPr>
              <a:t>processus de création de produit</a:t>
            </a:r>
            <a:r>
              <a:rPr lang="fr-FR" dirty="0" smtClean="0">
                <a:solidFill>
                  <a:srgbClr val="3A3939"/>
                </a:solidFill>
                <a:latin typeface="inherit"/>
              </a:rPr>
              <a:t>. Les </a:t>
            </a:r>
            <a:r>
              <a:rPr lang="fr-FR" dirty="0">
                <a:solidFill>
                  <a:srgbClr val="3A3939"/>
                </a:solidFill>
                <a:latin typeface="inherit"/>
              </a:rPr>
              <a:t>intégrer à chaque itération, et donc à toutes les phases de développement, permet de récolter leurs retours.</a:t>
            </a:r>
          </a:p>
          <a:p>
            <a:pPr algn="just"/>
            <a:r>
              <a:rPr lang="fr-FR" dirty="0">
                <a:solidFill>
                  <a:srgbClr val="3A3939"/>
                </a:solidFill>
                <a:latin typeface="inherit"/>
              </a:rPr>
              <a:t>Les feedbacks sont un aspect essentiel de la construction de produits de valeur.</a:t>
            </a:r>
          </a:p>
          <a:p>
            <a:pPr algn="just"/>
            <a:r>
              <a:rPr lang="fr-FR" dirty="0">
                <a:solidFill>
                  <a:srgbClr val="3A3939"/>
                </a:solidFill>
                <a:latin typeface="inherit"/>
              </a:rPr>
              <a:t>Avec les méthodes traditionnelles de gestion de projet, le moindre changement budgétaire, fonctionnel ou dans les délais, nécessitent de revoir totalement le </a:t>
            </a:r>
            <a:r>
              <a:rPr lang="fr-FR" dirty="0" smtClean="0">
                <a:solidFill>
                  <a:srgbClr val="3A3939"/>
                </a:solidFill>
                <a:latin typeface="inherit"/>
              </a:rPr>
              <a:t>projet. Elles </a:t>
            </a:r>
            <a:r>
              <a:rPr lang="fr-FR" dirty="0">
                <a:solidFill>
                  <a:srgbClr val="3A3939"/>
                </a:solidFill>
                <a:latin typeface="inherit"/>
              </a:rPr>
              <a:t>incitent à fortement négocier avec le client.</a:t>
            </a:r>
          </a:p>
          <a:p>
            <a:pPr algn="just"/>
            <a:r>
              <a:rPr lang="fr-FR" dirty="0">
                <a:solidFill>
                  <a:srgbClr val="3A3939"/>
                </a:solidFill>
                <a:latin typeface="inherit"/>
              </a:rPr>
              <a:t>Avec la méthode Agile, il est facile de faire des modifications dans un </a:t>
            </a:r>
            <a:r>
              <a:rPr lang="fr-FR" dirty="0" smtClean="0">
                <a:solidFill>
                  <a:srgbClr val="3A3939"/>
                </a:solidFill>
                <a:latin typeface="inherit"/>
              </a:rPr>
              <a:t>produit, La </a:t>
            </a:r>
            <a:r>
              <a:rPr lang="fr-FR" dirty="0">
                <a:solidFill>
                  <a:srgbClr val="3A3939"/>
                </a:solidFill>
                <a:latin typeface="inherit"/>
              </a:rPr>
              <a:t>collaboration est simplifiée. </a:t>
            </a:r>
            <a:endParaRPr lang="fr-FR" dirty="0" smtClean="0">
              <a:solidFill>
                <a:srgbClr val="3A3939"/>
              </a:solidFill>
              <a:latin typeface="inherit"/>
            </a:endParaRPr>
          </a:p>
          <a:p>
            <a:r>
              <a:rPr lang="fr-FR" b="1" dirty="0">
                <a:latin typeface="inherit"/>
              </a:rPr>
              <a:t>4) L’adaptation au changement plus que le suivi d’un </a:t>
            </a:r>
            <a:r>
              <a:rPr lang="fr-FR" b="1" dirty="0" smtClean="0">
                <a:latin typeface="inherit"/>
              </a:rPr>
              <a:t>plan</a:t>
            </a:r>
            <a:endParaRPr lang="fr-FR" b="1" dirty="0">
              <a:latin typeface="inherit"/>
            </a:endParaRPr>
          </a:p>
          <a:p>
            <a:pPr algn="just"/>
            <a:r>
              <a:rPr lang="fr-FR" dirty="0">
                <a:solidFill>
                  <a:srgbClr val="3A3939"/>
                </a:solidFill>
                <a:latin typeface="inherit"/>
              </a:rPr>
              <a:t>La </a:t>
            </a:r>
            <a:r>
              <a:rPr lang="fr-FR" dirty="0" smtClean="0">
                <a:solidFill>
                  <a:srgbClr val="3A3939"/>
                </a:solidFill>
                <a:latin typeface="inherit"/>
              </a:rPr>
              <a:t>4ieme </a:t>
            </a:r>
            <a:r>
              <a:rPr lang="fr-FR" dirty="0">
                <a:solidFill>
                  <a:srgbClr val="3A3939"/>
                </a:solidFill>
                <a:latin typeface="inherit"/>
              </a:rPr>
              <a:t>valeur du manifeste agile est l'acceptation des demandes </a:t>
            </a:r>
            <a:r>
              <a:rPr lang="fr-FR" dirty="0" smtClean="0">
                <a:solidFill>
                  <a:srgbClr val="3A3939"/>
                </a:solidFill>
                <a:latin typeface="inherit"/>
              </a:rPr>
              <a:t>de changements </a:t>
            </a:r>
            <a:r>
              <a:rPr lang="fr-FR" dirty="0">
                <a:solidFill>
                  <a:srgbClr val="3A3939"/>
                </a:solidFill>
                <a:latin typeface="inherit"/>
              </a:rPr>
              <a:t>même tard dans le développement du produit.</a:t>
            </a:r>
          </a:p>
          <a:p>
            <a:pPr algn="just"/>
            <a:r>
              <a:rPr lang="fr-FR" dirty="0">
                <a:solidFill>
                  <a:srgbClr val="3A3939"/>
                </a:solidFill>
                <a:latin typeface="inherit"/>
              </a:rPr>
              <a:t>Les approches agiles de planification et de hiérarchisation permettent aux équipes produit de réagir rapidement au changement.</a:t>
            </a:r>
          </a:p>
          <a:p>
            <a:pPr algn="just"/>
            <a:r>
              <a:rPr lang="fr-FR" dirty="0" smtClean="0">
                <a:solidFill>
                  <a:srgbClr val="3A3939"/>
                </a:solidFill>
                <a:latin typeface="inherit"/>
              </a:rPr>
              <a:t>La flexibilité des approches agiles augmente la stabilité du projet. En </a:t>
            </a:r>
            <a:r>
              <a:rPr lang="fr-FR" dirty="0">
                <a:solidFill>
                  <a:srgbClr val="3A3939"/>
                </a:solidFill>
                <a:latin typeface="inherit"/>
              </a:rPr>
              <a:t>effet, le changement dans les produits agiles est prévisible.</a:t>
            </a:r>
          </a:p>
          <a:p>
            <a:pPr algn="just"/>
            <a:r>
              <a:rPr lang="fr-FR" dirty="0">
                <a:solidFill>
                  <a:srgbClr val="3A3939"/>
                </a:solidFill>
                <a:latin typeface="inherit"/>
              </a:rPr>
              <a:t>Si de nouveaux événements adviennent, l’équipe produit intègre ces modifications dans les </a:t>
            </a:r>
            <a:r>
              <a:rPr lang="fr-FR" dirty="0" err="1" smtClean="0">
                <a:solidFill>
                  <a:srgbClr val="3A3939"/>
                </a:solidFill>
                <a:latin typeface="inherit"/>
              </a:rPr>
              <a:t>backlogs</a:t>
            </a:r>
            <a:r>
              <a:rPr lang="fr-FR" dirty="0" smtClean="0">
                <a:solidFill>
                  <a:srgbClr val="3A3939"/>
                </a:solidFill>
                <a:latin typeface="inherit"/>
              </a:rPr>
              <a:t>.</a:t>
            </a:r>
          </a:p>
          <a:p>
            <a:pPr algn="just"/>
            <a:r>
              <a:rPr lang="fr-FR" dirty="0" smtClean="0">
                <a:solidFill>
                  <a:srgbClr val="3A3939"/>
                </a:solidFill>
                <a:latin typeface="inherit"/>
              </a:rPr>
              <a:t>Tout </a:t>
            </a:r>
            <a:r>
              <a:rPr lang="fr-FR" dirty="0">
                <a:solidFill>
                  <a:srgbClr val="3A3939"/>
                </a:solidFill>
                <a:latin typeface="inherit"/>
              </a:rPr>
              <a:t>nouvel élément devient une possibilité d’apporter </a:t>
            </a:r>
            <a:r>
              <a:rPr lang="fr-FR" b="1" dirty="0">
                <a:solidFill>
                  <a:srgbClr val="3A3939"/>
                </a:solidFill>
                <a:latin typeface="inherit"/>
              </a:rPr>
              <a:t>une valeur ajoutée </a:t>
            </a:r>
            <a:r>
              <a:rPr lang="fr-FR" dirty="0">
                <a:solidFill>
                  <a:srgbClr val="3A3939"/>
                </a:solidFill>
                <a:latin typeface="inherit"/>
              </a:rPr>
              <a:t>au lieu </a:t>
            </a:r>
            <a:r>
              <a:rPr lang="fr-FR" b="1" dirty="0">
                <a:solidFill>
                  <a:srgbClr val="3A3939"/>
                </a:solidFill>
                <a:latin typeface="inherit"/>
              </a:rPr>
              <a:t>d’un obstacle à éviter</a:t>
            </a:r>
            <a:r>
              <a:rPr lang="fr-FR" dirty="0">
                <a:solidFill>
                  <a:srgbClr val="3A3939"/>
                </a:solidFill>
                <a:latin typeface="inherit"/>
              </a:rPr>
              <a:t>, donnant aux équipes de développement une plus grande chance de succès</a:t>
            </a:r>
            <a:r>
              <a:rPr lang="fr-FR" dirty="0" smtClean="0">
                <a:solidFill>
                  <a:srgbClr val="3A3939"/>
                </a:solidFill>
                <a:latin typeface="inherit"/>
              </a:rPr>
              <a:t>.</a:t>
            </a:r>
            <a:endParaRPr lang="fr-FR" b="0" i="0" dirty="0">
              <a:solidFill>
                <a:srgbClr val="3A3939"/>
              </a:solidFill>
              <a:effectLst/>
              <a:latin typeface="inherit"/>
            </a:endParaRPr>
          </a:p>
        </p:txBody>
      </p:sp>
      <p:sp>
        <p:nvSpPr>
          <p:cNvPr id="3" name="Rectangle 2"/>
          <p:cNvSpPr/>
          <p:nvPr/>
        </p:nvSpPr>
        <p:spPr>
          <a:xfrm>
            <a:off x="365760" y="208699"/>
            <a:ext cx="7829004" cy="646331"/>
          </a:xfrm>
          <a:prstGeom prst="rect">
            <a:avLst/>
          </a:prstGeom>
        </p:spPr>
        <p:txBody>
          <a:bodyPr wrap="square">
            <a:spAutoFit/>
          </a:bodyPr>
          <a:lstStyle/>
          <a:p>
            <a:r>
              <a:rPr lang="fr-FR" sz="3600" b="1" dirty="0" smtClean="0">
                <a:solidFill>
                  <a:srgbClr val="FF0000"/>
                </a:solidFill>
                <a:latin typeface="inherit"/>
              </a:rPr>
              <a:t>Les 4 valeurs de l'agilité:</a:t>
            </a:r>
            <a:endParaRPr lang="fr-FR" sz="3600" b="1" dirty="0">
              <a:solidFill>
                <a:srgbClr val="FF0000"/>
              </a:solidFill>
              <a:latin typeface="inherit"/>
            </a:endParaRPr>
          </a:p>
        </p:txBody>
      </p:sp>
    </p:spTree>
    <p:extLst>
      <p:ext uri="{BB962C8B-B14F-4D97-AF65-F5344CB8AC3E}">
        <p14:creationId xmlns:p14="http://schemas.microsoft.com/office/powerpoint/2010/main" val="72840753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6056" y="1158308"/>
            <a:ext cx="10768694" cy="5016758"/>
          </a:xfrm>
          <a:prstGeom prst="rect">
            <a:avLst/>
          </a:prstGeom>
        </p:spPr>
        <p:txBody>
          <a:bodyPr wrap="square">
            <a:spAutoFit/>
          </a:bodyPr>
          <a:lstStyle/>
          <a:p>
            <a:pPr marL="342900" indent="-342900" algn="just">
              <a:buFont typeface="+mj-lt"/>
              <a:buAutoNum type="arabicPeriod"/>
            </a:pPr>
            <a:r>
              <a:rPr lang="fr-FR" sz="1600" dirty="0" smtClean="0">
                <a:solidFill>
                  <a:srgbClr val="202122"/>
                </a:solidFill>
                <a:latin typeface="Arial" panose="020B0604020202020204" pitchFamily="34" charset="0"/>
              </a:rPr>
              <a:t>Notre </a:t>
            </a:r>
            <a:r>
              <a:rPr lang="fr-FR" sz="1600" dirty="0">
                <a:solidFill>
                  <a:srgbClr val="202122"/>
                </a:solidFill>
                <a:latin typeface="Arial" panose="020B0604020202020204" pitchFamily="34" charset="0"/>
              </a:rPr>
              <a:t>plus haute priorité est de </a:t>
            </a:r>
            <a:r>
              <a:rPr lang="fr-FR" sz="1600" b="1" dirty="0">
                <a:solidFill>
                  <a:srgbClr val="202122"/>
                </a:solidFill>
                <a:latin typeface="Arial" panose="020B0604020202020204" pitchFamily="34" charset="0"/>
              </a:rPr>
              <a:t>satisfaire le client </a:t>
            </a:r>
            <a:r>
              <a:rPr lang="fr-FR" sz="1600" dirty="0">
                <a:solidFill>
                  <a:srgbClr val="202122"/>
                </a:solidFill>
                <a:latin typeface="Arial" panose="020B0604020202020204" pitchFamily="34" charset="0"/>
              </a:rPr>
              <a:t>en livrant rapidement et régulièrement des fonctionnalités à grande valeur ajoutée.</a:t>
            </a:r>
          </a:p>
          <a:p>
            <a:pPr marL="342900" indent="-342900" algn="just">
              <a:buFont typeface="+mj-lt"/>
              <a:buAutoNum type="arabicPeriod"/>
            </a:pPr>
            <a:r>
              <a:rPr lang="fr-FR" sz="1600" b="1" dirty="0">
                <a:solidFill>
                  <a:srgbClr val="202122"/>
                </a:solidFill>
                <a:latin typeface="Arial" panose="020B0604020202020204" pitchFamily="34" charset="0"/>
              </a:rPr>
              <a:t>Accueillez positivement les changements </a:t>
            </a:r>
            <a:r>
              <a:rPr lang="fr-FR" sz="1600" dirty="0">
                <a:solidFill>
                  <a:srgbClr val="202122"/>
                </a:solidFill>
                <a:latin typeface="Arial" panose="020B0604020202020204" pitchFamily="34" charset="0"/>
              </a:rPr>
              <a:t>de besoins, même tard dans le projet. Les processus Agiles exploitent le changement pour donner un avantage compétitif au client.</a:t>
            </a:r>
          </a:p>
          <a:p>
            <a:pPr marL="342900" indent="-342900" algn="just">
              <a:buFont typeface="+mj-lt"/>
              <a:buAutoNum type="arabicPeriod"/>
            </a:pPr>
            <a:r>
              <a:rPr lang="fr-FR" sz="1600" b="1" dirty="0">
                <a:latin typeface="Arial" panose="020B0604020202020204" pitchFamily="34" charset="0"/>
              </a:rPr>
              <a:t>Livrez fréquemment </a:t>
            </a:r>
            <a:r>
              <a:rPr lang="fr-FR" sz="1600" dirty="0">
                <a:solidFill>
                  <a:srgbClr val="202122"/>
                </a:solidFill>
                <a:latin typeface="Arial" panose="020B0604020202020204" pitchFamily="34" charset="0"/>
              </a:rPr>
              <a:t>un logiciel fonctionnel, dans des cycles de quelques semaines à quelques mois, avec une préférence pour les plus courts.</a:t>
            </a:r>
          </a:p>
          <a:p>
            <a:pPr marL="342900" indent="-342900" algn="just">
              <a:buFont typeface="+mj-lt"/>
              <a:buAutoNum type="arabicPeriod"/>
            </a:pPr>
            <a:r>
              <a:rPr lang="fr-FR" sz="1600" dirty="0">
                <a:solidFill>
                  <a:srgbClr val="202122"/>
                </a:solidFill>
                <a:latin typeface="Arial" panose="020B0604020202020204" pitchFamily="34" charset="0"/>
              </a:rPr>
              <a:t>Les utilisateurs ou leurs représentants et les développeurs doivent </a:t>
            </a:r>
            <a:r>
              <a:rPr lang="fr-FR" sz="1600" b="1" dirty="0">
                <a:solidFill>
                  <a:srgbClr val="202122"/>
                </a:solidFill>
                <a:latin typeface="Arial" panose="020B0604020202020204" pitchFamily="34" charset="0"/>
              </a:rPr>
              <a:t>travailler ensemble </a:t>
            </a:r>
            <a:r>
              <a:rPr lang="fr-FR" sz="1600" dirty="0">
                <a:solidFill>
                  <a:srgbClr val="202122"/>
                </a:solidFill>
                <a:latin typeface="Arial" panose="020B0604020202020204" pitchFamily="34" charset="0"/>
              </a:rPr>
              <a:t>quotidiennement tout au long du projet.</a:t>
            </a:r>
          </a:p>
          <a:p>
            <a:pPr marL="342900" indent="-342900" algn="just">
              <a:buFont typeface="+mj-lt"/>
              <a:buAutoNum type="arabicPeriod"/>
            </a:pPr>
            <a:r>
              <a:rPr lang="fr-FR" sz="1600" dirty="0">
                <a:solidFill>
                  <a:srgbClr val="202122"/>
                </a:solidFill>
                <a:latin typeface="Arial" panose="020B0604020202020204" pitchFamily="34" charset="0"/>
              </a:rPr>
              <a:t>Réalisez les projets avec des personnes motivées. Fournissez-leur l’environnement et </a:t>
            </a:r>
            <a:r>
              <a:rPr lang="fr-FR" sz="1600" b="1" dirty="0">
                <a:solidFill>
                  <a:srgbClr val="202122"/>
                </a:solidFill>
                <a:latin typeface="Arial" panose="020B0604020202020204" pitchFamily="34" charset="0"/>
              </a:rPr>
              <a:t>le soutien </a:t>
            </a:r>
            <a:r>
              <a:rPr lang="fr-FR" sz="1600" dirty="0">
                <a:solidFill>
                  <a:srgbClr val="202122"/>
                </a:solidFill>
                <a:latin typeface="Arial" panose="020B0604020202020204" pitchFamily="34" charset="0"/>
              </a:rPr>
              <a:t>dont elles ont besoin et faites-leur </a:t>
            </a:r>
            <a:r>
              <a:rPr lang="fr-FR" sz="1600" b="1" dirty="0">
                <a:solidFill>
                  <a:srgbClr val="202122"/>
                </a:solidFill>
                <a:latin typeface="Arial" panose="020B0604020202020204" pitchFamily="34" charset="0"/>
              </a:rPr>
              <a:t>confiance </a:t>
            </a:r>
            <a:r>
              <a:rPr lang="fr-FR" sz="1600" dirty="0">
                <a:solidFill>
                  <a:srgbClr val="202122"/>
                </a:solidFill>
                <a:latin typeface="Arial" panose="020B0604020202020204" pitchFamily="34" charset="0"/>
              </a:rPr>
              <a:t>pour atteindre les objectifs fixés.</a:t>
            </a:r>
          </a:p>
          <a:p>
            <a:pPr marL="342900" indent="-342900" algn="just">
              <a:buFont typeface="+mj-lt"/>
              <a:buAutoNum type="arabicPeriod"/>
            </a:pPr>
            <a:r>
              <a:rPr lang="fr-FR" sz="1600" dirty="0">
                <a:solidFill>
                  <a:srgbClr val="202122"/>
                </a:solidFill>
                <a:latin typeface="Arial" panose="020B0604020202020204" pitchFamily="34" charset="0"/>
              </a:rPr>
              <a:t>La méthode la plus simple et la plus efficace pour transmettre de l’information à l'équipe de développement et à l’intérieur de celle-ci est </a:t>
            </a:r>
            <a:r>
              <a:rPr lang="fr-FR" sz="1600" b="1" dirty="0">
                <a:solidFill>
                  <a:srgbClr val="202122"/>
                </a:solidFill>
                <a:latin typeface="Arial" panose="020B0604020202020204" pitchFamily="34" charset="0"/>
              </a:rPr>
              <a:t>le dialogue en face à face</a:t>
            </a:r>
            <a:r>
              <a:rPr lang="fr-FR" sz="1600" dirty="0">
                <a:solidFill>
                  <a:srgbClr val="202122"/>
                </a:solidFill>
                <a:latin typeface="Arial" panose="020B0604020202020204" pitchFamily="34" charset="0"/>
              </a:rPr>
              <a:t>.</a:t>
            </a:r>
          </a:p>
          <a:p>
            <a:pPr marL="342900" indent="-342900" algn="just">
              <a:buFont typeface="+mj-lt"/>
              <a:buAutoNum type="arabicPeriod"/>
            </a:pPr>
            <a:r>
              <a:rPr lang="fr-FR" sz="1600" b="1" dirty="0">
                <a:solidFill>
                  <a:srgbClr val="202122"/>
                </a:solidFill>
                <a:latin typeface="Arial" panose="020B0604020202020204" pitchFamily="34" charset="0"/>
              </a:rPr>
              <a:t>Un logiciel fonctionnel </a:t>
            </a:r>
            <a:r>
              <a:rPr lang="fr-FR" sz="1600" dirty="0">
                <a:solidFill>
                  <a:srgbClr val="202122"/>
                </a:solidFill>
                <a:latin typeface="Arial" panose="020B0604020202020204" pitchFamily="34" charset="0"/>
              </a:rPr>
              <a:t>est la principale mesure de progression d'un projet.</a:t>
            </a:r>
          </a:p>
          <a:p>
            <a:pPr marL="342900" indent="-342900" algn="just">
              <a:buFont typeface="+mj-lt"/>
              <a:buAutoNum type="arabicPeriod"/>
            </a:pPr>
            <a:r>
              <a:rPr lang="fr-FR" sz="1600" dirty="0">
                <a:solidFill>
                  <a:srgbClr val="202122"/>
                </a:solidFill>
                <a:latin typeface="Arial" panose="020B0604020202020204" pitchFamily="34" charset="0"/>
              </a:rPr>
              <a:t>Les processus agiles encouragent un rythme de </a:t>
            </a:r>
            <a:r>
              <a:rPr lang="fr-FR" sz="1600" b="1" dirty="0">
                <a:solidFill>
                  <a:srgbClr val="202122"/>
                </a:solidFill>
                <a:latin typeface="Arial" panose="020B0604020202020204" pitchFamily="34" charset="0"/>
              </a:rPr>
              <a:t>développement soutenable</a:t>
            </a:r>
            <a:r>
              <a:rPr lang="fr-FR" sz="1600" dirty="0">
                <a:solidFill>
                  <a:srgbClr val="202122"/>
                </a:solidFill>
                <a:latin typeface="Arial" panose="020B0604020202020204" pitchFamily="34" charset="0"/>
              </a:rPr>
              <a:t>. Ensemble, les commanditaires, les développeurs et les utilisateurs devraient être capables de maintenir indéfiniment un rythme constant.</a:t>
            </a:r>
          </a:p>
          <a:p>
            <a:pPr marL="342900" indent="-342900" algn="just">
              <a:buFont typeface="+mj-lt"/>
              <a:buAutoNum type="arabicPeriod"/>
            </a:pPr>
            <a:r>
              <a:rPr lang="fr-FR" sz="1600" b="1" dirty="0">
                <a:solidFill>
                  <a:srgbClr val="202122"/>
                </a:solidFill>
                <a:latin typeface="Arial" panose="020B0604020202020204" pitchFamily="34" charset="0"/>
              </a:rPr>
              <a:t>Une attention continue </a:t>
            </a:r>
            <a:r>
              <a:rPr lang="fr-FR" sz="1600" dirty="0">
                <a:solidFill>
                  <a:srgbClr val="202122"/>
                </a:solidFill>
                <a:latin typeface="Arial" panose="020B0604020202020204" pitchFamily="34" charset="0"/>
              </a:rPr>
              <a:t>à l'excellence technique et à un bon design.</a:t>
            </a:r>
          </a:p>
          <a:p>
            <a:pPr marL="342900" indent="-342900" algn="just">
              <a:buFont typeface="+mj-lt"/>
              <a:buAutoNum type="arabicPeriod"/>
            </a:pPr>
            <a:r>
              <a:rPr lang="fr-FR" sz="1600" b="1" dirty="0">
                <a:solidFill>
                  <a:srgbClr val="202122"/>
                </a:solidFill>
                <a:latin typeface="Arial" panose="020B0604020202020204" pitchFamily="34" charset="0"/>
              </a:rPr>
              <a:t>La simplicité </a:t>
            </a:r>
            <a:r>
              <a:rPr lang="fr-FR" sz="1600" dirty="0">
                <a:solidFill>
                  <a:srgbClr val="202122"/>
                </a:solidFill>
                <a:latin typeface="Arial" panose="020B0604020202020204" pitchFamily="34" charset="0"/>
              </a:rPr>
              <a:t>– c’est-à-dire l’art de minimiser la quantité de travail inutile – </a:t>
            </a:r>
            <a:r>
              <a:rPr lang="fr-FR" sz="1600" b="1" dirty="0">
                <a:solidFill>
                  <a:srgbClr val="202122"/>
                </a:solidFill>
                <a:latin typeface="Arial" panose="020B0604020202020204" pitchFamily="34" charset="0"/>
              </a:rPr>
              <a:t>est essentielle</a:t>
            </a:r>
            <a:r>
              <a:rPr lang="fr-FR" sz="1600" dirty="0">
                <a:solidFill>
                  <a:srgbClr val="202122"/>
                </a:solidFill>
                <a:latin typeface="Arial" panose="020B0604020202020204" pitchFamily="34" charset="0"/>
              </a:rPr>
              <a:t>.</a:t>
            </a:r>
          </a:p>
          <a:p>
            <a:pPr marL="342900" indent="-342900" algn="just">
              <a:buFont typeface="+mj-lt"/>
              <a:buAutoNum type="arabicPeriod"/>
            </a:pPr>
            <a:r>
              <a:rPr lang="fr-FR" sz="1600" dirty="0">
                <a:solidFill>
                  <a:srgbClr val="202122"/>
                </a:solidFill>
                <a:latin typeface="Arial" panose="020B0604020202020204" pitchFamily="34" charset="0"/>
              </a:rPr>
              <a:t>Les meilleures architectures, spécifications et conceptions émergent </a:t>
            </a:r>
            <a:r>
              <a:rPr lang="fr-FR" sz="1600" b="1" dirty="0">
                <a:solidFill>
                  <a:srgbClr val="202122"/>
                </a:solidFill>
                <a:latin typeface="Arial" panose="020B0604020202020204" pitchFamily="34" charset="0"/>
              </a:rPr>
              <a:t>d'équipes auto-organisées</a:t>
            </a:r>
            <a:r>
              <a:rPr lang="fr-FR" sz="1600" dirty="0">
                <a:solidFill>
                  <a:srgbClr val="202122"/>
                </a:solidFill>
                <a:latin typeface="Arial" panose="020B0604020202020204" pitchFamily="34" charset="0"/>
              </a:rPr>
              <a:t>.</a:t>
            </a:r>
          </a:p>
          <a:p>
            <a:pPr marL="342900" indent="-342900" algn="just">
              <a:buFont typeface="+mj-lt"/>
              <a:buAutoNum type="arabicPeriod"/>
            </a:pPr>
            <a:r>
              <a:rPr lang="fr-FR" sz="1600" dirty="0">
                <a:solidFill>
                  <a:srgbClr val="202122"/>
                </a:solidFill>
                <a:latin typeface="Arial" panose="020B0604020202020204" pitchFamily="34" charset="0"/>
              </a:rPr>
              <a:t>À intervalles réguliers, l'équipe </a:t>
            </a:r>
            <a:r>
              <a:rPr lang="fr-FR" sz="1600" b="1" dirty="0">
                <a:solidFill>
                  <a:srgbClr val="202122"/>
                </a:solidFill>
                <a:latin typeface="Arial" panose="020B0604020202020204" pitchFamily="34" charset="0"/>
              </a:rPr>
              <a:t>réfléchit</a:t>
            </a:r>
            <a:r>
              <a:rPr lang="fr-FR" sz="1600" dirty="0">
                <a:solidFill>
                  <a:srgbClr val="202122"/>
                </a:solidFill>
                <a:latin typeface="Arial" panose="020B0604020202020204" pitchFamily="34" charset="0"/>
              </a:rPr>
              <a:t> aux moyens possibles de devenir plus efficace. Puis elle s'</a:t>
            </a:r>
            <a:r>
              <a:rPr lang="fr-FR" sz="1600" b="1" dirty="0">
                <a:solidFill>
                  <a:srgbClr val="202122"/>
                </a:solidFill>
                <a:latin typeface="Arial" panose="020B0604020202020204" pitchFamily="34" charset="0"/>
              </a:rPr>
              <a:t>adapte</a:t>
            </a:r>
            <a:r>
              <a:rPr lang="fr-FR" sz="1600" dirty="0">
                <a:solidFill>
                  <a:srgbClr val="202122"/>
                </a:solidFill>
                <a:latin typeface="Arial" panose="020B0604020202020204" pitchFamily="34" charset="0"/>
              </a:rPr>
              <a:t> et modifie son fonctionnement en conséquence</a:t>
            </a:r>
            <a:endParaRPr lang="fr-FR" sz="1600" b="0" i="0" dirty="0">
              <a:solidFill>
                <a:srgbClr val="202122"/>
              </a:solidFill>
              <a:effectLst/>
              <a:latin typeface="Arial" panose="020B0604020202020204" pitchFamily="34" charset="0"/>
            </a:endParaRPr>
          </a:p>
        </p:txBody>
      </p:sp>
      <p:sp>
        <p:nvSpPr>
          <p:cNvPr id="3" name="Rectangle 2"/>
          <p:cNvSpPr/>
          <p:nvPr/>
        </p:nvSpPr>
        <p:spPr>
          <a:xfrm>
            <a:off x="365760" y="208699"/>
            <a:ext cx="7829004" cy="646331"/>
          </a:xfrm>
          <a:prstGeom prst="rect">
            <a:avLst/>
          </a:prstGeom>
        </p:spPr>
        <p:txBody>
          <a:bodyPr wrap="square">
            <a:spAutoFit/>
          </a:bodyPr>
          <a:lstStyle/>
          <a:p>
            <a:r>
              <a:rPr lang="fr-FR" sz="3600" b="1" dirty="0" smtClean="0">
                <a:solidFill>
                  <a:srgbClr val="FF0000"/>
                </a:solidFill>
                <a:latin typeface="inherit"/>
              </a:rPr>
              <a:t>Les 12 principes de l'agilité:</a:t>
            </a:r>
            <a:endParaRPr lang="fr-FR" sz="3600" b="1" dirty="0">
              <a:solidFill>
                <a:srgbClr val="FF0000"/>
              </a:solidFill>
              <a:latin typeface="inherit"/>
            </a:endParaRPr>
          </a:p>
        </p:txBody>
      </p:sp>
    </p:spTree>
    <p:extLst>
      <p:ext uri="{BB962C8B-B14F-4D97-AF65-F5344CB8AC3E}">
        <p14:creationId xmlns:p14="http://schemas.microsoft.com/office/powerpoint/2010/main" val="196459535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65760" y="855030"/>
            <a:ext cx="11460480" cy="5909310"/>
          </a:xfrm>
          <a:prstGeom prst="rect">
            <a:avLst/>
          </a:prstGeom>
        </p:spPr>
        <p:txBody>
          <a:bodyPr wrap="square">
            <a:spAutoFit/>
          </a:bodyPr>
          <a:lstStyle/>
          <a:p>
            <a:pPr algn="just"/>
            <a:r>
              <a:rPr lang="fr-FR" dirty="0" smtClean="0">
                <a:solidFill>
                  <a:srgbClr val="3A3939"/>
                </a:solidFill>
                <a:latin typeface="inherit"/>
              </a:rPr>
              <a:t>Les 12 </a:t>
            </a:r>
            <a:r>
              <a:rPr lang="fr-FR" dirty="0">
                <a:solidFill>
                  <a:srgbClr val="3A3939"/>
                </a:solidFill>
                <a:latin typeface="inherit"/>
              </a:rPr>
              <a:t>principes de </a:t>
            </a:r>
            <a:r>
              <a:rPr lang="fr-FR" dirty="0" smtClean="0">
                <a:solidFill>
                  <a:srgbClr val="3A3939"/>
                </a:solidFill>
                <a:latin typeface="inherit"/>
              </a:rPr>
              <a:t>l'agilité: des </a:t>
            </a:r>
            <a:r>
              <a:rPr lang="fr-FR" dirty="0">
                <a:solidFill>
                  <a:srgbClr val="3A3939"/>
                </a:solidFill>
                <a:latin typeface="inherit"/>
              </a:rPr>
              <a:t>exemples concrets de la manière dont un produit Agile doit se construire. </a:t>
            </a:r>
          </a:p>
          <a:p>
            <a:r>
              <a:rPr lang="fr-FR" b="1" dirty="0">
                <a:latin typeface="inherit"/>
              </a:rPr>
              <a:t>1) Livrer de la valeur au client</a:t>
            </a:r>
          </a:p>
          <a:p>
            <a:pPr algn="just"/>
            <a:r>
              <a:rPr lang="fr-FR" dirty="0">
                <a:solidFill>
                  <a:srgbClr val="3A3939"/>
                </a:solidFill>
                <a:latin typeface="inherit"/>
              </a:rPr>
              <a:t>En raccourcissant le temps entre le cadrage et le début des développements, on raccourcit aussi le temps avant l’utilisation des fonctionnalités</a:t>
            </a:r>
            <a:r>
              <a:rPr lang="fr-FR" dirty="0" smtClean="0">
                <a:solidFill>
                  <a:srgbClr val="3A3939"/>
                </a:solidFill>
                <a:latin typeface="inherit"/>
              </a:rPr>
              <a:t>. Le </a:t>
            </a:r>
            <a:r>
              <a:rPr lang="fr-FR" dirty="0">
                <a:solidFill>
                  <a:srgbClr val="3A3939"/>
                </a:solidFill>
                <a:latin typeface="inherit"/>
              </a:rPr>
              <a:t>fonctionnement en itérations permet de délivrer plus vite le produit aux utilisateurs. </a:t>
            </a:r>
          </a:p>
          <a:p>
            <a:r>
              <a:rPr lang="fr-FR" b="1" dirty="0">
                <a:latin typeface="inherit"/>
              </a:rPr>
              <a:t>2) Intégrer les demandes de changement</a:t>
            </a:r>
          </a:p>
          <a:p>
            <a:pPr algn="just"/>
            <a:r>
              <a:rPr lang="fr-FR" dirty="0">
                <a:solidFill>
                  <a:srgbClr val="3A3939"/>
                </a:solidFill>
                <a:latin typeface="inherit"/>
              </a:rPr>
              <a:t>Pour le Manifeste Agile, le changement n’est pas négatif. Il est même positif. Il vaut mieux se tromper tôt et de réparer ses erreurs rapidement que de se rendre compte trop tard que le chemin emprunté n’était pas le bon. </a:t>
            </a:r>
            <a:br>
              <a:rPr lang="fr-FR" dirty="0">
                <a:solidFill>
                  <a:srgbClr val="3A3939"/>
                </a:solidFill>
                <a:latin typeface="inherit"/>
              </a:rPr>
            </a:br>
            <a:r>
              <a:rPr lang="fr-FR" b="1" dirty="0" smtClean="0">
                <a:latin typeface="inherit"/>
              </a:rPr>
              <a:t>3</a:t>
            </a:r>
            <a:r>
              <a:rPr lang="fr-FR" b="1" dirty="0">
                <a:latin typeface="inherit"/>
              </a:rPr>
              <a:t>) Livrer fréquemment une version opérationnelle </a:t>
            </a:r>
          </a:p>
          <a:p>
            <a:pPr algn="just"/>
            <a:r>
              <a:rPr lang="fr-FR" dirty="0">
                <a:solidFill>
                  <a:srgbClr val="3A3939"/>
                </a:solidFill>
                <a:latin typeface="inherit"/>
              </a:rPr>
              <a:t>Si vous souhaitez adopter le Manifeste Agile, vous devrez abandonner certaines mauvaises habitudes telles que graver </a:t>
            </a:r>
            <a:r>
              <a:rPr lang="fr-FR" dirty="0" smtClean="0">
                <a:solidFill>
                  <a:srgbClr val="3A3939"/>
                </a:solidFill>
                <a:latin typeface="inherit"/>
              </a:rPr>
              <a:t>un diagramme de Gantt pour </a:t>
            </a:r>
            <a:r>
              <a:rPr lang="fr-FR" dirty="0">
                <a:solidFill>
                  <a:srgbClr val="3A3939"/>
                </a:solidFill>
                <a:latin typeface="inherit"/>
              </a:rPr>
              <a:t>une durée d’un an sur le marbre.</a:t>
            </a:r>
          </a:p>
          <a:p>
            <a:pPr algn="just"/>
            <a:r>
              <a:rPr lang="fr-FR" dirty="0">
                <a:solidFill>
                  <a:srgbClr val="3A3939"/>
                </a:solidFill>
                <a:latin typeface="inherit"/>
              </a:rPr>
              <a:t>Découper votre produit en petits morceaux et vos développements en itérations courtes de deux à trois semaines.</a:t>
            </a:r>
          </a:p>
          <a:p>
            <a:pPr algn="just"/>
            <a:r>
              <a:rPr lang="fr-FR" dirty="0">
                <a:solidFill>
                  <a:srgbClr val="3A3939"/>
                </a:solidFill>
                <a:latin typeface="inherit"/>
              </a:rPr>
              <a:t>À la fin de chaque itération, livrez les nouvelles fonctionnalités développées et testez-les.</a:t>
            </a:r>
          </a:p>
          <a:p>
            <a:r>
              <a:rPr lang="fr-FR" b="1" dirty="0">
                <a:latin typeface="inherit"/>
              </a:rPr>
              <a:t>4) Assurer une coopération entre le client et l’équipe </a:t>
            </a:r>
          </a:p>
          <a:p>
            <a:pPr algn="just"/>
            <a:r>
              <a:rPr lang="fr-FR" dirty="0">
                <a:solidFill>
                  <a:srgbClr val="3A3939"/>
                </a:solidFill>
                <a:latin typeface="inherit"/>
              </a:rPr>
              <a:t>Cela peut sembler difficile au premier abord. En effet, c’est comme si les deux parlaient deux langues différentes.</a:t>
            </a:r>
          </a:p>
          <a:p>
            <a:pPr algn="just"/>
            <a:r>
              <a:rPr lang="fr-FR" dirty="0">
                <a:solidFill>
                  <a:srgbClr val="3A3939"/>
                </a:solidFill>
                <a:latin typeface="inherit"/>
              </a:rPr>
              <a:t>Dans un sens, c’est le cas.</a:t>
            </a:r>
          </a:p>
          <a:p>
            <a:pPr algn="just"/>
            <a:r>
              <a:rPr lang="fr-FR" dirty="0">
                <a:solidFill>
                  <a:srgbClr val="3A3939"/>
                </a:solidFill>
                <a:latin typeface="inherit"/>
              </a:rPr>
              <a:t>Mais l’agilité permet de construire une sorte de pont entre les deux parties, leur permettant de se comprendre.</a:t>
            </a:r>
          </a:p>
          <a:p>
            <a:pPr algn="just"/>
            <a:r>
              <a:rPr lang="fr-FR" dirty="0">
                <a:solidFill>
                  <a:srgbClr val="3A3939"/>
                </a:solidFill>
                <a:latin typeface="inherit"/>
              </a:rPr>
              <a:t>L'équipe et le client doivent s’entendre, échanger et travailler ensemble.</a:t>
            </a:r>
          </a:p>
          <a:p>
            <a:pPr algn="just"/>
            <a:r>
              <a:rPr lang="fr-FR" dirty="0">
                <a:solidFill>
                  <a:srgbClr val="3A3939"/>
                </a:solidFill>
                <a:latin typeface="inherit"/>
              </a:rPr>
              <a:t>Certains outils et </a:t>
            </a:r>
            <a:r>
              <a:rPr lang="fr-FR" dirty="0" smtClean="0">
                <a:solidFill>
                  <a:srgbClr val="3A3939"/>
                </a:solidFill>
                <a:latin typeface="inherit"/>
              </a:rPr>
              <a:t>“</a:t>
            </a:r>
            <a:r>
              <a:rPr lang="fr-FR" dirty="0" smtClean="0">
                <a:latin typeface="Palatino Linotype" panose="02040502050505030304" pitchFamily="18" charset="0"/>
              </a:rPr>
              <a:t>rituels</a:t>
            </a:r>
            <a:r>
              <a:rPr lang="fr-FR" dirty="0" smtClean="0">
                <a:solidFill>
                  <a:srgbClr val="3A3939"/>
                </a:solidFill>
                <a:latin typeface="inherit"/>
              </a:rPr>
              <a:t>” </a:t>
            </a:r>
            <a:r>
              <a:rPr lang="fr-FR" dirty="0">
                <a:solidFill>
                  <a:srgbClr val="3A3939"/>
                </a:solidFill>
                <a:latin typeface="inherit"/>
              </a:rPr>
              <a:t>facilitent cette collaboration.</a:t>
            </a:r>
            <a:endParaRPr lang="fr-FR" b="0" i="0" dirty="0">
              <a:solidFill>
                <a:srgbClr val="3A3939"/>
              </a:solidFill>
              <a:effectLst/>
              <a:latin typeface="inherit"/>
            </a:endParaRPr>
          </a:p>
        </p:txBody>
      </p:sp>
      <p:sp>
        <p:nvSpPr>
          <p:cNvPr id="3" name="Rectangle 2"/>
          <p:cNvSpPr/>
          <p:nvPr/>
        </p:nvSpPr>
        <p:spPr>
          <a:xfrm>
            <a:off x="365760" y="208699"/>
            <a:ext cx="7829004" cy="646331"/>
          </a:xfrm>
          <a:prstGeom prst="rect">
            <a:avLst/>
          </a:prstGeom>
        </p:spPr>
        <p:txBody>
          <a:bodyPr wrap="square">
            <a:spAutoFit/>
          </a:bodyPr>
          <a:lstStyle/>
          <a:p>
            <a:r>
              <a:rPr lang="fr-FR" sz="3600" b="1" dirty="0" smtClean="0">
                <a:solidFill>
                  <a:srgbClr val="FF0000"/>
                </a:solidFill>
                <a:latin typeface="inherit"/>
              </a:rPr>
              <a:t>Les 12 principes de l'agilité:</a:t>
            </a:r>
            <a:endParaRPr lang="fr-FR" sz="3600" b="1" dirty="0">
              <a:solidFill>
                <a:srgbClr val="FF0000"/>
              </a:solidFill>
              <a:latin typeface="inherit"/>
            </a:endParaRPr>
          </a:p>
        </p:txBody>
      </p:sp>
    </p:spTree>
    <p:extLst>
      <p:ext uri="{BB962C8B-B14F-4D97-AF65-F5344CB8AC3E}">
        <p14:creationId xmlns:p14="http://schemas.microsoft.com/office/powerpoint/2010/main" val="191413941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65760" y="951039"/>
            <a:ext cx="11103428" cy="5632311"/>
          </a:xfrm>
          <a:prstGeom prst="rect">
            <a:avLst/>
          </a:prstGeom>
        </p:spPr>
        <p:txBody>
          <a:bodyPr wrap="square">
            <a:spAutoFit/>
          </a:bodyPr>
          <a:lstStyle/>
          <a:p>
            <a:r>
              <a:rPr lang="fr-FR" b="1" dirty="0">
                <a:latin typeface="inherit"/>
              </a:rPr>
              <a:t>5) Réaliser les projets avec des personnes motivées </a:t>
            </a:r>
          </a:p>
          <a:p>
            <a:r>
              <a:rPr lang="fr-FR" dirty="0">
                <a:solidFill>
                  <a:srgbClr val="3A3939"/>
                </a:solidFill>
                <a:latin typeface="inherit"/>
              </a:rPr>
              <a:t>La confiance mutuelle est un point essentiel du Manifeste Agile. En d’autres termes, le management d’une équipe agile doit se baser sur la transparence. Le micro-management, ici, est à bannir.</a:t>
            </a:r>
          </a:p>
          <a:p>
            <a:r>
              <a:rPr lang="fr-FR" dirty="0">
                <a:solidFill>
                  <a:srgbClr val="3A3939"/>
                </a:solidFill>
                <a:latin typeface="inherit"/>
              </a:rPr>
              <a:t>Contrôler étroitement une équipe de développeur ne va ni les engager, ni les motiver.</a:t>
            </a:r>
          </a:p>
          <a:p>
            <a:pPr fontAlgn="ctr"/>
            <a:r>
              <a:rPr lang="fr-FR" dirty="0" smtClean="0">
                <a:solidFill>
                  <a:srgbClr val="3A3939"/>
                </a:solidFill>
                <a:latin typeface="inherit"/>
              </a:rPr>
              <a:t>L’agilité </a:t>
            </a:r>
            <a:r>
              <a:rPr lang="fr-FR" dirty="0">
                <a:solidFill>
                  <a:srgbClr val="3A3939"/>
                </a:solidFill>
                <a:latin typeface="inherit"/>
              </a:rPr>
              <a:t>ne veut pas non plus dire aucun contrôle. Cela signifie qu’une équipe s’auto-organise. Dans une équipe agile, </a:t>
            </a:r>
            <a:r>
              <a:rPr lang="fr-FR" dirty="0" smtClean="0">
                <a:solidFill>
                  <a:srgbClr val="3A3939"/>
                </a:solidFill>
                <a:latin typeface="inherit"/>
              </a:rPr>
              <a:t>chacun a </a:t>
            </a:r>
            <a:r>
              <a:rPr lang="fr-FR" dirty="0">
                <a:solidFill>
                  <a:srgbClr val="3A3939"/>
                </a:solidFill>
                <a:latin typeface="inherit"/>
              </a:rPr>
              <a:t>un rôle précis et le rôle de manager n’en fait pas partie. Il devra rester un peu à l’écart et s’appuyer sur </a:t>
            </a:r>
            <a:r>
              <a:rPr lang="fr-FR" dirty="0">
                <a:solidFill>
                  <a:srgbClr val="62BD8A"/>
                </a:solidFill>
                <a:latin typeface="Palatino Linotype" panose="02040502050505030304" pitchFamily="18" charset="0"/>
                <a:hlinkClick r:id="rId2"/>
              </a:rPr>
              <a:t>les bons </a:t>
            </a:r>
            <a:r>
              <a:rPr lang="fr-FR" dirty="0" err="1">
                <a:solidFill>
                  <a:srgbClr val="62BD8A"/>
                </a:solidFill>
                <a:latin typeface="Palatino Linotype" panose="02040502050505030304" pitchFamily="18" charset="0"/>
                <a:hlinkClick r:id="rId2"/>
              </a:rPr>
              <a:t>KPIs</a:t>
            </a:r>
            <a:r>
              <a:rPr lang="fr-FR" dirty="0">
                <a:solidFill>
                  <a:srgbClr val="3A3939"/>
                </a:solidFill>
                <a:latin typeface="inherit"/>
              </a:rPr>
              <a:t> et les résultats des itérations pour mesurer le succès. </a:t>
            </a:r>
          </a:p>
          <a:p>
            <a:r>
              <a:rPr lang="fr-FR" b="1" dirty="0">
                <a:latin typeface="inherit"/>
              </a:rPr>
              <a:t>6) Privilégier le dialogue en face à face </a:t>
            </a:r>
          </a:p>
          <a:p>
            <a:r>
              <a:rPr lang="fr-FR" dirty="0">
                <a:solidFill>
                  <a:srgbClr val="3A3939"/>
                </a:solidFill>
                <a:latin typeface="inherit"/>
              </a:rPr>
              <a:t>La rédaction de documentation, les résumés de réunions, les présentations prennent du temps et diminuent la productivité d’une équipe Agile. Il n’y a rien de plus efficace que d’avoir une équipe travaillant sur le même produit dans un même espace de travail.</a:t>
            </a:r>
          </a:p>
          <a:p>
            <a:r>
              <a:rPr lang="fr-FR" dirty="0">
                <a:solidFill>
                  <a:srgbClr val="3A3939"/>
                </a:solidFill>
                <a:latin typeface="inherit"/>
              </a:rPr>
              <a:t>Les membres peuvent alors se poser directement les questions, obtenir les réponses dans la seconde.</a:t>
            </a:r>
          </a:p>
          <a:p>
            <a:r>
              <a:rPr lang="fr-FR" dirty="0">
                <a:solidFill>
                  <a:srgbClr val="3A3939"/>
                </a:solidFill>
                <a:latin typeface="inherit"/>
              </a:rPr>
              <a:t>D’autant plus qu’en posant ses questions dans un open-</a:t>
            </a:r>
            <a:r>
              <a:rPr lang="fr-FR" dirty="0" err="1">
                <a:solidFill>
                  <a:srgbClr val="3A3939"/>
                </a:solidFill>
                <a:latin typeface="inherit"/>
              </a:rPr>
              <a:t>space</a:t>
            </a:r>
            <a:r>
              <a:rPr lang="fr-FR" dirty="0">
                <a:solidFill>
                  <a:srgbClr val="3A3939"/>
                </a:solidFill>
                <a:latin typeface="inherit"/>
              </a:rPr>
              <a:t>, sans même prêter attention, chaque membre aura conscience des problématiques que son voisin rencontre. </a:t>
            </a:r>
            <a:endParaRPr lang="fr-FR" dirty="0" smtClean="0">
              <a:solidFill>
                <a:srgbClr val="3A3939"/>
              </a:solidFill>
              <a:latin typeface="inherit"/>
            </a:endParaRPr>
          </a:p>
          <a:p>
            <a:r>
              <a:rPr lang="fr-FR" b="1" dirty="0">
                <a:latin typeface="inherit"/>
              </a:rPr>
              <a:t>7) Mesurer l'avancement sur la base d'un produit opérationnel</a:t>
            </a:r>
          </a:p>
          <a:p>
            <a:r>
              <a:rPr lang="fr-FR" dirty="0">
                <a:solidFill>
                  <a:srgbClr val="3A3939"/>
                </a:solidFill>
                <a:latin typeface="inherit"/>
              </a:rPr>
              <a:t>Vous ne mesurez pas les progrès en cochant les tâches et en vous déplaçant sur votre calendrier, mais par le taux d’utilisation des fonctionnalités par vos utilisateurs.</a:t>
            </a:r>
          </a:p>
          <a:p>
            <a:r>
              <a:rPr lang="fr-FR" dirty="0">
                <a:solidFill>
                  <a:srgbClr val="3A3939"/>
                </a:solidFill>
                <a:latin typeface="inherit"/>
              </a:rPr>
              <a:t>L’objectif du produit n’est pas le processus, c’est sa valeur. Le processus est ce qui vous permet de l’atteindre.</a:t>
            </a:r>
          </a:p>
          <a:p>
            <a:endParaRPr lang="fr-FR" dirty="0">
              <a:solidFill>
                <a:srgbClr val="3A3939"/>
              </a:solidFill>
              <a:latin typeface="inherit"/>
            </a:endParaRPr>
          </a:p>
        </p:txBody>
      </p:sp>
      <p:sp>
        <p:nvSpPr>
          <p:cNvPr id="3" name="Rectangle 2"/>
          <p:cNvSpPr/>
          <p:nvPr/>
        </p:nvSpPr>
        <p:spPr>
          <a:xfrm>
            <a:off x="365760" y="208699"/>
            <a:ext cx="7829004" cy="646331"/>
          </a:xfrm>
          <a:prstGeom prst="rect">
            <a:avLst/>
          </a:prstGeom>
        </p:spPr>
        <p:txBody>
          <a:bodyPr wrap="square">
            <a:spAutoFit/>
          </a:bodyPr>
          <a:lstStyle/>
          <a:p>
            <a:r>
              <a:rPr lang="fr-FR" sz="3600" b="1" dirty="0" smtClean="0">
                <a:solidFill>
                  <a:srgbClr val="FF0000"/>
                </a:solidFill>
                <a:latin typeface="inherit"/>
              </a:rPr>
              <a:t>Les 12 principes de l'agilité:</a:t>
            </a:r>
            <a:endParaRPr lang="fr-FR" sz="3600" b="1" dirty="0">
              <a:solidFill>
                <a:srgbClr val="FF0000"/>
              </a:solidFill>
              <a:latin typeface="inherit"/>
            </a:endParaRPr>
          </a:p>
        </p:txBody>
      </p:sp>
    </p:spTree>
    <p:extLst>
      <p:ext uri="{BB962C8B-B14F-4D97-AF65-F5344CB8AC3E}">
        <p14:creationId xmlns:p14="http://schemas.microsoft.com/office/powerpoint/2010/main" val="124618628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30282" y="1261051"/>
            <a:ext cx="11295017" cy="5262979"/>
          </a:xfrm>
          <a:prstGeom prst="rect">
            <a:avLst/>
          </a:prstGeom>
        </p:spPr>
        <p:txBody>
          <a:bodyPr wrap="square">
            <a:spAutoFit/>
          </a:bodyPr>
          <a:lstStyle/>
          <a:p>
            <a:r>
              <a:rPr lang="fr-FR" sz="1600" b="1" dirty="0" smtClean="0">
                <a:latin typeface="inherit"/>
              </a:rPr>
              <a:t>8</a:t>
            </a:r>
            <a:r>
              <a:rPr lang="fr-FR" sz="1600" b="1" dirty="0">
                <a:latin typeface="inherit"/>
              </a:rPr>
              <a:t>) Faire avancer le projet à un rythme soutenable et constant</a:t>
            </a:r>
          </a:p>
          <a:p>
            <a:pPr algn="just"/>
            <a:r>
              <a:rPr lang="fr-FR" sz="1600" dirty="0">
                <a:solidFill>
                  <a:srgbClr val="3A3939"/>
                </a:solidFill>
                <a:latin typeface="inherit"/>
              </a:rPr>
              <a:t>La raison de découper un produit en petites tâches est de garder vos équipes motivées.</a:t>
            </a:r>
          </a:p>
          <a:p>
            <a:pPr algn="just"/>
            <a:r>
              <a:rPr lang="fr-FR" sz="1600" dirty="0">
                <a:solidFill>
                  <a:srgbClr val="3A3939"/>
                </a:solidFill>
                <a:latin typeface="inherit"/>
              </a:rPr>
              <a:t>Si vous travaillez sur un projet pendant une longue période, vos équipes rencontreront une lassitude. C’est inévitable.</a:t>
            </a:r>
          </a:p>
          <a:p>
            <a:pPr algn="just"/>
            <a:r>
              <a:rPr lang="fr-FR" sz="1600" dirty="0">
                <a:solidFill>
                  <a:srgbClr val="3A3939"/>
                </a:solidFill>
                <a:latin typeface="inherit"/>
              </a:rPr>
              <a:t>Ne surchargez pas non plus l’équipe avec trop d’heures supplémentaires. Cela aura un impact sur la qualité de votre projet.</a:t>
            </a:r>
          </a:p>
          <a:p>
            <a:r>
              <a:rPr lang="fr-FR" sz="1600" b="1" dirty="0">
                <a:latin typeface="inherit"/>
              </a:rPr>
              <a:t>9) Contrôler l’excellence technique et à la conception</a:t>
            </a:r>
          </a:p>
          <a:p>
            <a:pPr algn="just"/>
            <a:r>
              <a:rPr lang="fr-FR" sz="1600" dirty="0">
                <a:solidFill>
                  <a:srgbClr val="3A3939"/>
                </a:solidFill>
                <a:latin typeface="inherit"/>
              </a:rPr>
              <a:t>Que ce soit dans le code ou dans la méthodologie, la rigueur va favoriser la construction d’un produit de valeur.</a:t>
            </a:r>
          </a:p>
          <a:p>
            <a:pPr algn="just"/>
            <a:r>
              <a:rPr lang="fr-FR" sz="1600" dirty="0">
                <a:solidFill>
                  <a:srgbClr val="3A3939"/>
                </a:solidFill>
                <a:latin typeface="inherit"/>
              </a:rPr>
              <a:t>Assurez-vous de bien respecter le Manifeste Agile. </a:t>
            </a:r>
          </a:p>
          <a:p>
            <a:r>
              <a:rPr lang="fr-FR" sz="1600" b="1" dirty="0">
                <a:latin typeface="inherit"/>
              </a:rPr>
              <a:t>10) Minimiser la quantité de travail inutile</a:t>
            </a:r>
          </a:p>
          <a:p>
            <a:pPr algn="just"/>
            <a:r>
              <a:rPr lang="fr-FR" sz="1600" dirty="0" smtClean="0">
                <a:solidFill>
                  <a:srgbClr val="3A3939"/>
                </a:solidFill>
                <a:latin typeface="inherit"/>
              </a:rPr>
              <a:t>L’objectif </a:t>
            </a:r>
            <a:r>
              <a:rPr lang="fr-FR" sz="1600" dirty="0">
                <a:solidFill>
                  <a:srgbClr val="3A3939"/>
                </a:solidFill>
                <a:latin typeface="inherit"/>
              </a:rPr>
              <a:t>est de produire rapidement un produit fonctionnel, il faut veiller à ne pas se noyer sous les tâches complexes et inutiles. Gardez vos documentations simples, ne vous embarrassez pas de réunions parasites. </a:t>
            </a:r>
          </a:p>
          <a:p>
            <a:r>
              <a:rPr lang="fr-FR" sz="1600" b="1" dirty="0">
                <a:latin typeface="inherit"/>
              </a:rPr>
              <a:t>11) Construire le projet avec des équipes auto-organisées </a:t>
            </a:r>
          </a:p>
          <a:p>
            <a:pPr algn="just"/>
            <a:r>
              <a:rPr lang="fr-FR" sz="1600" dirty="0">
                <a:solidFill>
                  <a:srgbClr val="3A3939"/>
                </a:solidFill>
                <a:latin typeface="inherit"/>
              </a:rPr>
              <a:t>Le Manifeste Agile favorise la responsabilisation des équipes. </a:t>
            </a:r>
          </a:p>
          <a:p>
            <a:pPr algn="just"/>
            <a:r>
              <a:rPr lang="fr-FR" sz="1600" dirty="0" smtClean="0">
                <a:solidFill>
                  <a:srgbClr val="3A3939"/>
                </a:solidFill>
                <a:latin typeface="inherit"/>
              </a:rPr>
              <a:t>Il est conseillé </a:t>
            </a:r>
            <a:r>
              <a:rPr lang="fr-FR" sz="1600" dirty="0">
                <a:solidFill>
                  <a:srgbClr val="3A3939"/>
                </a:solidFill>
                <a:latin typeface="inherit"/>
              </a:rPr>
              <a:t>de donner aux équipes l’autonomie d’agir de manière indépendante. Ils pourront alors prendre des décisions rapidement en cas d’imprévus.</a:t>
            </a:r>
          </a:p>
          <a:p>
            <a:pPr algn="just"/>
            <a:r>
              <a:rPr lang="fr-FR" sz="1600" dirty="0">
                <a:solidFill>
                  <a:srgbClr val="3A3939"/>
                </a:solidFill>
                <a:latin typeface="inherit"/>
              </a:rPr>
              <a:t>En fait, ils peuvent tout faire avec une plus grande agilité parce que vous leur avez donné la confiance nécessaire pour agir.  Une équipe responsabilisée est une équipe qui fera de son mieux pour atteindre son objectif. </a:t>
            </a:r>
          </a:p>
          <a:p>
            <a:r>
              <a:rPr lang="fr-FR" sz="1600" b="1" dirty="0">
                <a:latin typeface="inherit"/>
              </a:rPr>
              <a:t>12) Améliorer constamment l'efficacité de </a:t>
            </a:r>
            <a:r>
              <a:rPr lang="fr-FR" sz="1600" b="1" dirty="0" smtClean="0">
                <a:latin typeface="inherit"/>
              </a:rPr>
              <a:t>l'équipe</a:t>
            </a:r>
          </a:p>
          <a:p>
            <a:r>
              <a:rPr lang="fr-FR" sz="1600" dirty="0">
                <a:solidFill>
                  <a:srgbClr val="202122"/>
                </a:solidFill>
                <a:latin typeface="Arial" panose="020B0604020202020204" pitchFamily="34" charset="0"/>
              </a:rPr>
              <a:t>À intervalles réguliers, l'équipe </a:t>
            </a:r>
            <a:r>
              <a:rPr lang="fr-FR" sz="1600" b="1" dirty="0">
                <a:solidFill>
                  <a:srgbClr val="202122"/>
                </a:solidFill>
                <a:latin typeface="Arial" panose="020B0604020202020204" pitchFamily="34" charset="0"/>
              </a:rPr>
              <a:t>réfléchit</a:t>
            </a:r>
            <a:r>
              <a:rPr lang="fr-FR" sz="1600" dirty="0">
                <a:solidFill>
                  <a:srgbClr val="202122"/>
                </a:solidFill>
                <a:latin typeface="Arial" panose="020B0604020202020204" pitchFamily="34" charset="0"/>
              </a:rPr>
              <a:t> aux moyens possibles de devenir plus efficace. Puis elle s'</a:t>
            </a:r>
            <a:r>
              <a:rPr lang="fr-FR" sz="1600" b="1" dirty="0">
                <a:solidFill>
                  <a:srgbClr val="202122"/>
                </a:solidFill>
                <a:latin typeface="Arial" panose="020B0604020202020204" pitchFamily="34" charset="0"/>
              </a:rPr>
              <a:t>adapte</a:t>
            </a:r>
            <a:r>
              <a:rPr lang="fr-FR" sz="1600" dirty="0">
                <a:solidFill>
                  <a:srgbClr val="202122"/>
                </a:solidFill>
                <a:latin typeface="Arial" panose="020B0604020202020204" pitchFamily="34" charset="0"/>
              </a:rPr>
              <a:t> et modifie son fonctionnement en </a:t>
            </a:r>
            <a:r>
              <a:rPr lang="fr-FR" sz="1600" dirty="0" smtClean="0">
                <a:solidFill>
                  <a:srgbClr val="202122"/>
                </a:solidFill>
                <a:latin typeface="Arial" panose="020B0604020202020204" pitchFamily="34" charset="0"/>
              </a:rPr>
              <a:t>conséquence</a:t>
            </a:r>
            <a:r>
              <a:rPr lang="fr-FR" sz="1600" dirty="0" smtClean="0">
                <a:solidFill>
                  <a:srgbClr val="3A3939"/>
                </a:solidFill>
                <a:latin typeface="inherit"/>
              </a:rPr>
              <a:t>, </a:t>
            </a:r>
            <a:r>
              <a:rPr lang="fr-FR" sz="1600" dirty="0">
                <a:solidFill>
                  <a:srgbClr val="3A3939"/>
                </a:solidFill>
                <a:latin typeface="inherit"/>
              </a:rPr>
              <a:t>c’est d’un groupe en constante évolution, constamment engagé et à la recherche de moyens d’améliorer la productivité.</a:t>
            </a:r>
            <a:endParaRPr lang="fr-FR" sz="1600" b="0" i="0" dirty="0">
              <a:solidFill>
                <a:srgbClr val="3A3939"/>
              </a:solidFill>
              <a:effectLst/>
              <a:latin typeface="inherit"/>
            </a:endParaRPr>
          </a:p>
        </p:txBody>
      </p:sp>
      <p:sp>
        <p:nvSpPr>
          <p:cNvPr id="3" name="Rectangle 2"/>
          <p:cNvSpPr/>
          <p:nvPr/>
        </p:nvSpPr>
        <p:spPr>
          <a:xfrm>
            <a:off x="365760" y="208699"/>
            <a:ext cx="7829004" cy="646331"/>
          </a:xfrm>
          <a:prstGeom prst="rect">
            <a:avLst/>
          </a:prstGeom>
        </p:spPr>
        <p:txBody>
          <a:bodyPr wrap="square">
            <a:spAutoFit/>
          </a:bodyPr>
          <a:lstStyle/>
          <a:p>
            <a:r>
              <a:rPr lang="fr-FR" sz="3600" b="1" dirty="0" smtClean="0">
                <a:solidFill>
                  <a:srgbClr val="FF0000"/>
                </a:solidFill>
                <a:latin typeface="inherit"/>
              </a:rPr>
              <a:t>Les 12 principes de l'agilité:</a:t>
            </a:r>
            <a:endParaRPr lang="fr-FR" sz="3600" b="1" dirty="0">
              <a:solidFill>
                <a:srgbClr val="FF0000"/>
              </a:solidFill>
              <a:latin typeface="inherit"/>
            </a:endParaRPr>
          </a:p>
        </p:txBody>
      </p:sp>
    </p:spTree>
    <p:extLst>
      <p:ext uri="{BB962C8B-B14F-4D97-AF65-F5344CB8AC3E}">
        <p14:creationId xmlns:p14="http://schemas.microsoft.com/office/powerpoint/2010/main" val="357579820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La pyramide agile : du mindset aux pratiques ! - My Agile Partner Scr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4499" y="1085850"/>
            <a:ext cx="8420101" cy="50292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65760" y="208699"/>
            <a:ext cx="7829004" cy="646331"/>
          </a:xfrm>
          <a:prstGeom prst="rect">
            <a:avLst/>
          </a:prstGeom>
        </p:spPr>
        <p:txBody>
          <a:bodyPr wrap="square">
            <a:spAutoFit/>
          </a:bodyPr>
          <a:lstStyle/>
          <a:p>
            <a:r>
              <a:rPr lang="fr-FR" sz="3600" b="1" dirty="0" smtClean="0">
                <a:solidFill>
                  <a:srgbClr val="FF0000"/>
                </a:solidFill>
                <a:latin typeface="inherit"/>
              </a:rPr>
              <a:t>Le pyramide Agile:</a:t>
            </a:r>
            <a:endParaRPr lang="fr-FR" sz="3600" b="1" dirty="0">
              <a:solidFill>
                <a:srgbClr val="FF0000"/>
              </a:solidFill>
              <a:latin typeface="inherit"/>
            </a:endParaRPr>
          </a:p>
        </p:txBody>
      </p:sp>
    </p:spTree>
    <p:extLst>
      <p:ext uri="{BB962C8B-B14F-4D97-AF65-F5344CB8AC3E}">
        <p14:creationId xmlns:p14="http://schemas.microsoft.com/office/powerpoint/2010/main" val="290886059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50003" y="1021198"/>
            <a:ext cx="7393577" cy="923330"/>
          </a:xfrm>
          <a:prstGeom prst="rect">
            <a:avLst/>
          </a:prstGeom>
        </p:spPr>
        <p:txBody>
          <a:bodyPr wrap="square">
            <a:spAutoFit/>
          </a:bodyPr>
          <a:lstStyle/>
          <a:p>
            <a:r>
              <a:rPr lang="fr-FR" sz="5400" b="1" dirty="0" err="1" smtClean="0">
                <a:solidFill>
                  <a:srgbClr val="FF0000"/>
                </a:solidFill>
                <a:latin typeface="inherit"/>
              </a:rPr>
              <a:t>frameWork</a:t>
            </a:r>
            <a:r>
              <a:rPr lang="fr-FR" sz="5400" b="1" dirty="0" smtClean="0">
                <a:solidFill>
                  <a:srgbClr val="FF0000"/>
                </a:solidFill>
                <a:latin typeface="inherit"/>
              </a:rPr>
              <a:t> </a:t>
            </a:r>
            <a:r>
              <a:rPr lang="fr-FR" sz="5400" b="1" dirty="0" err="1" smtClean="0">
                <a:solidFill>
                  <a:srgbClr val="FF0000"/>
                </a:solidFill>
                <a:latin typeface="inherit"/>
              </a:rPr>
              <a:t>Scrum</a:t>
            </a:r>
            <a:r>
              <a:rPr lang="fr-FR" sz="5400" b="1" dirty="0" smtClean="0">
                <a:solidFill>
                  <a:srgbClr val="FF0000"/>
                </a:solidFill>
                <a:latin typeface="inherit"/>
              </a:rPr>
              <a:t> </a:t>
            </a:r>
            <a:endParaRPr lang="fr-FR" sz="5400" dirty="0">
              <a:solidFill>
                <a:srgbClr val="FF0000"/>
              </a:solidFill>
            </a:endParaRPr>
          </a:p>
        </p:txBody>
      </p:sp>
      <p:pic>
        <p:nvPicPr>
          <p:cNvPr id="2050" name="Picture 2" descr="SCRUM Word Cloud As Background Stock Illustration - Illustration of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9566" y="2124074"/>
            <a:ext cx="7620000" cy="3762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804140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67543" y="705658"/>
            <a:ext cx="9111887" cy="5170646"/>
          </a:xfrm>
          <a:prstGeom prst="rect">
            <a:avLst/>
          </a:prstGeom>
        </p:spPr>
        <p:txBody>
          <a:bodyPr wrap="square">
            <a:spAutoFit/>
          </a:bodyPr>
          <a:lstStyle/>
          <a:p>
            <a:r>
              <a:rPr lang="fr-FR" dirty="0">
                <a:solidFill>
                  <a:srgbClr val="3A3939"/>
                </a:solidFill>
                <a:latin typeface="inherit"/>
              </a:rPr>
              <a:t> </a:t>
            </a:r>
          </a:p>
          <a:p>
            <a:r>
              <a:rPr lang="fr-FR" sz="3600" b="1" dirty="0" err="1" smtClean="0">
                <a:solidFill>
                  <a:srgbClr val="FF0000"/>
                </a:solidFill>
                <a:latin typeface="inherit"/>
              </a:rPr>
              <a:t>Scrum</a:t>
            </a:r>
            <a:r>
              <a:rPr lang="fr-FR" sz="3600" b="1" dirty="0" smtClean="0">
                <a:solidFill>
                  <a:srgbClr val="FF0000"/>
                </a:solidFill>
                <a:latin typeface="inherit"/>
              </a:rPr>
              <a:t> ?</a:t>
            </a:r>
          </a:p>
          <a:p>
            <a:endParaRPr lang="fr-FR" b="1" dirty="0">
              <a:latin typeface="inherit"/>
            </a:endParaRPr>
          </a:p>
          <a:p>
            <a:endParaRPr lang="fr-FR" b="1" dirty="0">
              <a:latin typeface="inherit"/>
            </a:endParaRPr>
          </a:p>
          <a:p>
            <a:pPr algn="just"/>
            <a:r>
              <a:rPr lang="fr-FR" sz="2000" dirty="0" smtClean="0">
                <a:solidFill>
                  <a:srgbClr val="3A3939"/>
                </a:solidFill>
                <a:latin typeface="inherit"/>
              </a:rPr>
              <a:t>	C'est </a:t>
            </a:r>
            <a:r>
              <a:rPr lang="fr-FR" sz="2000" dirty="0">
                <a:solidFill>
                  <a:srgbClr val="3A3939"/>
                </a:solidFill>
                <a:latin typeface="inherit"/>
              </a:rPr>
              <a:t>en 2010 qu'est née la première version du </a:t>
            </a:r>
            <a:r>
              <a:rPr lang="fr-FR" sz="2000" dirty="0">
                <a:solidFill>
                  <a:srgbClr val="00B050"/>
                </a:solidFill>
                <a:latin typeface="inherit"/>
              </a:rPr>
              <a:t>guide </a:t>
            </a:r>
            <a:r>
              <a:rPr lang="fr-FR" sz="2000" dirty="0" err="1">
                <a:solidFill>
                  <a:srgbClr val="00B050"/>
                </a:solidFill>
                <a:latin typeface="inherit"/>
              </a:rPr>
              <a:t>Scrum</a:t>
            </a:r>
            <a:r>
              <a:rPr lang="fr-FR" sz="2000" dirty="0" smtClean="0">
                <a:solidFill>
                  <a:srgbClr val="3A3939"/>
                </a:solidFill>
                <a:latin typeface="inherit"/>
              </a:rPr>
              <a:t>. Depuis </a:t>
            </a:r>
            <a:r>
              <a:rPr lang="fr-FR" sz="2000" dirty="0">
                <a:solidFill>
                  <a:srgbClr val="3A3939"/>
                </a:solidFill>
                <a:latin typeface="inherit"/>
              </a:rPr>
              <a:t>lors, Ken </a:t>
            </a:r>
            <a:r>
              <a:rPr lang="fr-FR" sz="2000" dirty="0" err="1">
                <a:solidFill>
                  <a:srgbClr val="3A3939"/>
                </a:solidFill>
                <a:latin typeface="inherit"/>
              </a:rPr>
              <a:t>Schwaber</a:t>
            </a:r>
            <a:r>
              <a:rPr lang="fr-FR" sz="2000" dirty="0">
                <a:solidFill>
                  <a:srgbClr val="3A3939"/>
                </a:solidFill>
                <a:latin typeface="inherit"/>
              </a:rPr>
              <a:t> &amp; Jeff Sutherland ont écrit pas moins de 6 versions de ce </a:t>
            </a:r>
            <a:r>
              <a:rPr lang="fr-FR" sz="2000" dirty="0" smtClean="0">
                <a:solidFill>
                  <a:srgbClr val="3A3939"/>
                </a:solidFill>
                <a:latin typeface="inherit"/>
              </a:rPr>
              <a:t>guide. La </a:t>
            </a:r>
            <a:r>
              <a:rPr lang="fr-FR" sz="2000" dirty="0">
                <a:solidFill>
                  <a:srgbClr val="3A3939"/>
                </a:solidFill>
                <a:latin typeface="inherit"/>
              </a:rPr>
              <a:t>toute dernière version a été éditée en Novembre 2020</a:t>
            </a:r>
            <a:r>
              <a:rPr lang="fr-FR" sz="2000" dirty="0" smtClean="0">
                <a:solidFill>
                  <a:srgbClr val="3A3939"/>
                </a:solidFill>
                <a:latin typeface="inherit"/>
              </a:rPr>
              <a:t>. Elle </a:t>
            </a:r>
            <a:r>
              <a:rPr lang="fr-FR" sz="2000" dirty="0">
                <a:solidFill>
                  <a:srgbClr val="3A3939"/>
                </a:solidFill>
                <a:latin typeface="inherit"/>
              </a:rPr>
              <a:t>est d'ailleurs gratuitement accessible sur le site officiel de Scrum.org.</a:t>
            </a:r>
          </a:p>
          <a:p>
            <a:pPr algn="just"/>
            <a:endParaRPr lang="fr-FR" sz="2000" dirty="0" smtClean="0">
              <a:solidFill>
                <a:srgbClr val="3A3939"/>
              </a:solidFill>
              <a:latin typeface="inherit"/>
            </a:endParaRPr>
          </a:p>
          <a:p>
            <a:pPr algn="just"/>
            <a:r>
              <a:rPr lang="fr-FR" sz="2000" dirty="0" smtClean="0">
                <a:solidFill>
                  <a:srgbClr val="3A3939"/>
                </a:solidFill>
                <a:latin typeface="inherit"/>
              </a:rPr>
              <a:t>Chaque </a:t>
            </a:r>
            <a:r>
              <a:rPr lang="fr-FR" sz="2000" dirty="0">
                <a:solidFill>
                  <a:srgbClr val="3A3939"/>
                </a:solidFill>
                <a:latin typeface="inherit"/>
              </a:rPr>
              <a:t>nouvelle édition est le reflet de la mise en pratique de ce </a:t>
            </a:r>
            <a:r>
              <a:rPr lang="fr-FR" sz="2000" b="1" dirty="0">
                <a:solidFill>
                  <a:srgbClr val="FF0000"/>
                </a:solidFill>
                <a:latin typeface="inherit"/>
              </a:rPr>
              <a:t>cadre de travail </a:t>
            </a:r>
            <a:r>
              <a:rPr lang="fr-FR" sz="2000" dirty="0">
                <a:solidFill>
                  <a:srgbClr val="3A3939"/>
                </a:solidFill>
                <a:latin typeface="inherit"/>
              </a:rPr>
              <a:t>: </a:t>
            </a:r>
            <a:r>
              <a:rPr lang="fr-FR" sz="2000" dirty="0">
                <a:solidFill>
                  <a:srgbClr val="00B050"/>
                </a:solidFill>
                <a:latin typeface="inherit"/>
              </a:rPr>
              <a:t>simplification, valeur ajoutée, </a:t>
            </a:r>
            <a:r>
              <a:rPr lang="fr-FR" sz="2000" dirty="0" smtClean="0">
                <a:solidFill>
                  <a:srgbClr val="00B050"/>
                </a:solidFill>
                <a:latin typeface="inherit"/>
              </a:rPr>
              <a:t>amélioration. </a:t>
            </a:r>
            <a:r>
              <a:rPr lang="fr-FR" sz="2000" dirty="0">
                <a:solidFill>
                  <a:srgbClr val="00B050"/>
                </a:solidFill>
                <a:latin typeface="inherit"/>
              </a:rPr>
              <a:t>l'intention de la méthodologie est de proposer une manière de faire, d'accompagner les équipes projets vers plus </a:t>
            </a:r>
            <a:r>
              <a:rPr lang="fr-FR" sz="2000" dirty="0" smtClean="0">
                <a:solidFill>
                  <a:srgbClr val="00B050"/>
                </a:solidFill>
                <a:latin typeface="inherit"/>
              </a:rPr>
              <a:t>d'Agilité</a:t>
            </a:r>
            <a:r>
              <a:rPr lang="fr-FR" sz="2000" dirty="0" smtClean="0">
                <a:solidFill>
                  <a:srgbClr val="3A3939"/>
                </a:solidFill>
                <a:latin typeface="inherit"/>
              </a:rPr>
              <a:t>. Le </a:t>
            </a:r>
            <a:r>
              <a:rPr lang="fr-FR" sz="2000" dirty="0">
                <a:solidFill>
                  <a:srgbClr val="3A3939"/>
                </a:solidFill>
                <a:latin typeface="inherit"/>
              </a:rPr>
              <a:t>menu se </a:t>
            </a:r>
            <a:r>
              <a:rPr lang="fr-FR" sz="2000" dirty="0" smtClean="0">
                <a:solidFill>
                  <a:srgbClr val="3A3939"/>
                </a:solidFill>
                <a:latin typeface="inherit"/>
              </a:rPr>
              <a:t>repose sur le manifeste </a:t>
            </a:r>
            <a:r>
              <a:rPr lang="fr-FR" sz="2000" dirty="0">
                <a:solidFill>
                  <a:srgbClr val="3A3939"/>
                </a:solidFill>
                <a:latin typeface="inherit"/>
              </a:rPr>
              <a:t>agile </a:t>
            </a:r>
            <a:r>
              <a:rPr lang="fr-FR" sz="2000" dirty="0" smtClean="0">
                <a:solidFill>
                  <a:srgbClr val="3A3939"/>
                </a:solidFill>
                <a:latin typeface="inherit"/>
              </a:rPr>
              <a:t>et Les </a:t>
            </a:r>
            <a:r>
              <a:rPr lang="fr-FR" sz="2000" dirty="0">
                <a:solidFill>
                  <a:srgbClr val="3A3939"/>
                </a:solidFill>
                <a:latin typeface="inherit"/>
              </a:rPr>
              <a:t>ingrédients seraient </a:t>
            </a:r>
            <a:r>
              <a:rPr lang="fr-FR" sz="2000" dirty="0" smtClean="0">
                <a:solidFill>
                  <a:srgbClr val="3A3939"/>
                </a:solidFill>
                <a:latin typeface="inherit"/>
              </a:rPr>
              <a:t>essentiellement les </a:t>
            </a:r>
            <a:r>
              <a:rPr lang="fr-FR" sz="2000" dirty="0">
                <a:solidFill>
                  <a:srgbClr val="3A3939"/>
                </a:solidFill>
                <a:latin typeface="inherit"/>
              </a:rPr>
              <a:t>composantes du cadre </a:t>
            </a:r>
            <a:r>
              <a:rPr lang="fr-FR" sz="2000" dirty="0" err="1" smtClean="0">
                <a:solidFill>
                  <a:srgbClr val="3A3939"/>
                </a:solidFill>
                <a:latin typeface="inherit"/>
              </a:rPr>
              <a:t>Scrum</a:t>
            </a:r>
            <a:r>
              <a:rPr lang="fr-FR" sz="2000" dirty="0" smtClean="0">
                <a:solidFill>
                  <a:srgbClr val="3A3939"/>
                </a:solidFill>
                <a:latin typeface="inherit"/>
              </a:rPr>
              <a:t> ( les rôles, les évènements et les artefacts)</a:t>
            </a:r>
          </a:p>
          <a:p>
            <a:pPr algn="just"/>
            <a:endParaRPr lang="fr-FR" sz="2000" dirty="0" smtClean="0">
              <a:solidFill>
                <a:srgbClr val="3A3939"/>
              </a:solidFill>
              <a:latin typeface="inherit"/>
            </a:endParaRPr>
          </a:p>
        </p:txBody>
      </p:sp>
    </p:spTree>
    <p:extLst>
      <p:ext uri="{BB962C8B-B14F-4D97-AF65-F5344CB8AC3E}">
        <p14:creationId xmlns:p14="http://schemas.microsoft.com/office/powerpoint/2010/main" val="142119264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62446" y="200561"/>
            <a:ext cx="10179504" cy="6401753"/>
          </a:xfrm>
          <a:prstGeom prst="rect">
            <a:avLst/>
          </a:prstGeom>
        </p:spPr>
        <p:txBody>
          <a:bodyPr wrap="square">
            <a:spAutoFit/>
          </a:bodyPr>
          <a:lstStyle/>
          <a:p>
            <a:r>
              <a:rPr lang="fr-FR" dirty="0">
                <a:solidFill>
                  <a:srgbClr val="3A3939"/>
                </a:solidFill>
                <a:latin typeface="inherit"/>
              </a:rPr>
              <a:t> </a:t>
            </a:r>
          </a:p>
          <a:p>
            <a:r>
              <a:rPr lang="fr-FR" sz="3600" b="1" dirty="0" err="1" smtClean="0">
                <a:solidFill>
                  <a:srgbClr val="FF0000"/>
                </a:solidFill>
                <a:latin typeface="inherit"/>
              </a:rPr>
              <a:t>Scrum</a:t>
            </a:r>
            <a:r>
              <a:rPr lang="fr-FR" sz="3600" b="1" dirty="0" smtClean="0">
                <a:solidFill>
                  <a:srgbClr val="FF0000"/>
                </a:solidFill>
                <a:latin typeface="inherit"/>
              </a:rPr>
              <a:t> ?</a:t>
            </a:r>
          </a:p>
          <a:p>
            <a:endParaRPr lang="fr-FR" b="1" dirty="0">
              <a:latin typeface="inherit"/>
            </a:endParaRPr>
          </a:p>
          <a:p>
            <a:endParaRPr lang="fr-FR" b="1" dirty="0">
              <a:latin typeface="inherit"/>
            </a:endParaRPr>
          </a:p>
          <a:p>
            <a:pPr algn="just"/>
            <a:endParaRPr lang="fr-FR" sz="2000" dirty="0" smtClean="0">
              <a:solidFill>
                <a:srgbClr val="3A3939"/>
              </a:solidFill>
              <a:latin typeface="inherit"/>
            </a:endParaRPr>
          </a:p>
          <a:p>
            <a:pPr algn="just"/>
            <a:r>
              <a:rPr lang="fr-FR" sz="2000" dirty="0">
                <a:solidFill>
                  <a:srgbClr val="3A3939"/>
                </a:solidFill>
                <a:latin typeface="inherit"/>
              </a:rPr>
              <a:t>D’après </a:t>
            </a:r>
            <a:r>
              <a:rPr lang="fr-FR" sz="2000" dirty="0">
                <a:solidFill>
                  <a:srgbClr val="62BD8A"/>
                </a:solidFill>
                <a:latin typeface="inherit"/>
                <a:hlinkClick r:id="rId2"/>
              </a:rPr>
              <a:t>Le Guide </a:t>
            </a:r>
            <a:r>
              <a:rPr lang="fr-FR" sz="2000" dirty="0" err="1">
                <a:solidFill>
                  <a:srgbClr val="62BD8A"/>
                </a:solidFill>
                <a:latin typeface="inherit"/>
                <a:hlinkClick r:id="rId2"/>
              </a:rPr>
              <a:t>Scrum</a:t>
            </a:r>
            <a:r>
              <a:rPr lang="fr-FR" sz="2000" dirty="0">
                <a:solidFill>
                  <a:srgbClr val="3A3939"/>
                </a:solidFill>
                <a:latin typeface="inherit"/>
              </a:rPr>
              <a:t>, une définition de la méthodologie </a:t>
            </a:r>
            <a:r>
              <a:rPr lang="fr-FR" sz="2000" b="1" u="sng" dirty="0" err="1">
                <a:solidFill>
                  <a:srgbClr val="00B050"/>
                </a:solidFill>
                <a:effectLst>
                  <a:outerShdw blurRad="38100" dist="38100" dir="2700000" algn="tl">
                    <a:srgbClr val="000000">
                      <a:alpha val="43137"/>
                    </a:srgbClr>
                  </a:outerShdw>
                </a:effectLst>
                <a:latin typeface="inherit"/>
              </a:rPr>
              <a:t>Scrum</a:t>
            </a:r>
            <a:r>
              <a:rPr lang="fr-FR" sz="2000" b="1" u="sng" dirty="0">
                <a:solidFill>
                  <a:srgbClr val="00B050"/>
                </a:solidFill>
                <a:effectLst>
                  <a:outerShdw blurRad="38100" dist="38100" dir="2700000" algn="tl">
                    <a:srgbClr val="000000">
                      <a:alpha val="43137"/>
                    </a:srgbClr>
                  </a:outerShdw>
                </a:effectLst>
                <a:latin typeface="inherit"/>
              </a:rPr>
              <a:t> </a:t>
            </a:r>
            <a:r>
              <a:rPr lang="fr-FR" sz="2000" b="1" u="sng" dirty="0" smtClean="0">
                <a:solidFill>
                  <a:srgbClr val="00B050"/>
                </a:solidFill>
                <a:effectLst>
                  <a:outerShdw blurRad="38100" dist="38100" dir="2700000" algn="tl">
                    <a:srgbClr val="000000">
                      <a:alpha val="43137"/>
                    </a:srgbClr>
                  </a:outerShdw>
                </a:effectLst>
                <a:latin typeface="inherit"/>
              </a:rPr>
              <a:t>est un </a:t>
            </a:r>
            <a:r>
              <a:rPr lang="fr-FR" sz="2000" b="1" u="sng" dirty="0">
                <a:solidFill>
                  <a:srgbClr val="00B050"/>
                </a:solidFill>
                <a:effectLst>
                  <a:outerShdw blurRad="38100" dist="38100" dir="2700000" algn="tl">
                    <a:srgbClr val="000000">
                      <a:alpha val="43137"/>
                    </a:srgbClr>
                  </a:outerShdw>
                </a:effectLst>
                <a:latin typeface="inherit"/>
              </a:rPr>
              <a:t>cadre de travail léger </a:t>
            </a:r>
            <a:r>
              <a:rPr lang="fr-FR" sz="2000" dirty="0">
                <a:solidFill>
                  <a:srgbClr val="3A3939"/>
                </a:solidFill>
                <a:latin typeface="inherit"/>
              </a:rPr>
              <a:t>qui aide les personnes, les équipes et les organisations à générer de la valeur grâce à des solutions adaptatives pour des problèmes complexes</a:t>
            </a:r>
            <a:r>
              <a:rPr lang="fr-FR" sz="2000" dirty="0" smtClean="0">
                <a:solidFill>
                  <a:srgbClr val="3A3939"/>
                </a:solidFill>
                <a:latin typeface="inherit"/>
              </a:rPr>
              <a:t>.</a:t>
            </a:r>
          </a:p>
          <a:p>
            <a:pPr algn="just"/>
            <a:endParaRPr lang="fr-FR" sz="2400" dirty="0" smtClean="0"/>
          </a:p>
          <a:p>
            <a:pPr algn="just"/>
            <a:r>
              <a:rPr lang="fr-FR" sz="2400" dirty="0" err="1" smtClean="0"/>
              <a:t>Scrum</a:t>
            </a:r>
            <a:r>
              <a:rPr lang="fr-FR" sz="2400" dirty="0" smtClean="0"/>
              <a:t> </a:t>
            </a:r>
            <a:r>
              <a:rPr lang="fr-FR" sz="2400" dirty="0"/>
              <a:t>repose sur l'intelligence collective des personnes qui l'utilisent. Plutôt que de fournir aux gens des instructions détaillées, les règles de </a:t>
            </a:r>
            <a:r>
              <a:rPr lang="fr-FR" sz="2400" dirty="0" err="1"/>
              <a:t>Scrum</a:t>
            </a:r>
            <a:r>
              <a:rPr lang="fr-FR" sz="2400" dirty="0"/>
              <a:t> guident leurs relations et leurs </a:t>
            </a:r>
            <a:r>
              <a:rPr lang="fr-FR" sz="2400" dirty="0" smtClean="0"/>
              <a:t>interactions.</a:t>
            </a:r>
          </a:p>
          <a:p>
            <a:pPr algn="just"/>
            <a:endParaRPr lang="fr-FR" sz="2400" dirty="0"/>
          </a:p>
          <a:p>
            <a:pPr algn="just"/>
            <a:r>
              <a:rPr lang="fr-FR" sz="2400" dirty="0" err="1"/>
              <a:t>Scrum</a:t>
            </a:r>
            <a:r>
              <a:rPr lang="fr-FR" sz="2400" dirty="0"/>
              <a:t> est fondé sur </a:t>
            </a:r>
            <a:r>
              <a:rPr lang="fr-FR" sz="2400" dirty="0">
                <a:solidFill>
                  <a:srgbClr val="00B050"/>
                </a:solidFill>
              </a:rPr>
              <a:t>l'empirisme</a:t>
            </a:r>
            <a:r>
              <a:rPr lang="fr-FR" sz="2400" dirty="0"/>
              <a:t> et </a:t>
            </a:r>
            <a:r>
              <a:rPr lang="fr-FR" sz="2400" dirty="0">
                <a:solidFill>
                  <a:srgbClr val="00B050"/>
                </a:solidFill>
              </a:rPr>
              <a:t>la pensée Lean</a:t>
            </a:r>
            <a:r>
              <a:rPr lang="fr-FR" sz="2400" dirty="0"/>
              <a:t>. L'empirisme affirme que la connaissance provient de l'expérience et que la prise de décision s’appuie sur l’observation de faits. La pensée Lean réduit le gaspillage et se focalise sur l'essentiel</a:t>
            </a:r>
            <a:endParaRPr lang="fr-FR" sz="2400" dirty="0" smtClean="0"/>
          </a:p>
          <a:p>
            <a:pPr algn="just"/>
            <a:endParaRPr lang="fr-FR" sz="2400" dirty="0">
              <a:solidFill>
                <a:srgbClr val="3A3939"/>
              </a:solidFill>
              <a:latin typeface="inherit"/>
            </a:endParaRPr>
          </a:p>
        </p:txBody>
      </p:sp>
    </p:spTree>
    <p:extLst>
      <p:ext uri="{BB962C8B-B14F-4D97-AF65-F5344CB8AC3E}">
        <p14:creationId xmlns:p14="http://schemas.microsoft.com/office/powerpoint/2010/main" val="117672535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71500" y="302001"/>
            <a:ext cx="8858250" cy="646331"/>
          </a:xfrm>
          <a:prstGeom prst="rect">
            <a:avLst/>
          </a:prstGeom>
        </p:spPr>
        <p:txBody>
          <a:bodyPr wrap="square">
            <a:spAutoFit/>
          </a:bodyPr>
          <a:lstStyle/>
          <a:p>
            <a:r>
              <a:rPr lang="fr-FR" sz="3600" b="1" dirty="0">
                <a:solidFill>
                  <a:srgbClr val="FF0000"/>
                </a:solidFill>
                <a:latin typeface="inherit"/>
              </a:rPr>
              <a:t>les piliers empiriques de </a:t>
            </a:r>
            <a:r>
              <a:rPr lang="fr-FR" sz="3600" b="1" dirty="0" err="1">
                <a:solidFill>
                  <a:srgbClr val="FF0000"/>
                </a:solidFill>
                <a:latin typeface="inherit"/>
              </a:rPr>
              <a:t>Scrum</a:t>
            </a:r>
            <a:r>
              <a:rPr lang="fr-FR" sz="3600" b="1" dirty="0" smtClean="0">
                <a:solidFill>
                  <a:srgbClr val="FF0000"/>
                </a:solidFill>
                <a:latin typeface="inherit"/>
              </a:rPr>
              <a:t>:</a:t>
            </a:r>
            <a:endParaRPr lang="fr-FR" dirty="0"/>
          </a:p>
        </p:txBody>
      </p:sp>
      <p:sp>
        <p:nvSpPr>
          <p:cNvPr id="3" name="Rectangle 2"/>
          <p:cNvSpPr/>
          <p:nvPr/>
        </p:nvSpPr>
        <p:spPr>
          <a:xfrm>
            <a:off x="962422" y="4622006"/>
            <a:ext cx="6276578" cy="1754326"/>
          </a:xfrm>
          <a:prstGeom prst="rect">
            <a:avLst/>
          </a:prstGeom>
        </p:spPr>
        <p:txBody>
          <a:bodyPr wrap="square">
            <a:spAutoFit/>
          </a:bodyPr>
          <a:lstStyle/>
          <a:p>
            <a:pPr algn="just"/>
            <a:r>
              <a:rPr lang="fr-FR" b="1" dirty="0">
                <a:solidFill>
                  <a:srgbClr val="FF0000"/>
                </a:solidFill>
              </a:rPr>
              <a:t>Transparence</a:t>
            </a:r>
            <a:r>
              <a:rPr lang="fr-FR" dirty="0"/>
              <a:t> Le processus et le travail émergents doivent être visibles pour ceux qui effectuent le travail ainsi que pour ceux qui le reçoivent. Avec </a:t>
            </a:r>
            <a:r>
              <a:rPr lang="fr-FR" dirty="0" err="1"/>
              <a:t>Scrum</a:t>
            </a:r>
            <a:r>
              <a:rPr lang="fr-FR" dirty="0"/>
              <a:t>, les décisions importantes sont fondées sur l'état perçu de ses trois artefacts formels. Des artefacts peu transparents peuvent mener à des décisions qui diminuent la valeur et augmentent </a:t>
            </a:r>
            <a:r>
              <a:rPr lang="fr-FR" dirty="0" smtClean="0"/>
              <a:t>les risques.</a:t>
            </a:r>
            <a:endParaRPr lang="fr-FR" dirty="0"/>
          </a:p>
        </p:txBody>
      </p:sp>
      <p:sp>
        <p:nvSpPr>
          <p:cNvPr id="4" name="Rectangle 3"/>
          <p:cNvSpPr/>
          <p:nvPr/>
        </p:nvSpPr>
        <p:spPr>
          <a:xfrm>
            <a:off x="7962900" y="1205656"/>
            <a:ext cx="3905250" cy="2308324"/>
          </a:xfrm>
          <a:prstGeom prst="rect">
            <a:avLst/>
          </a:prstGeom>
        </p:spPr>
        <p:txBody>
          <a:bodyPr wrap="square">
            <a:spAutoFit/>
          </a:bodyPr>
          <a:lstStyle/>
          <a:p>
            <a:pPr algn="just"/>
            <a:r>
              <a:rPr lang="fr-FR" b="1" dirty="0">
                <a:solidFill>
                  <a:srgbClr val="FF0000"/>
                </a:solidFill>
              </a:rPr>
              <a:t>Inspection</a:t>
            </a:r>
            <a:r>
              <a:rPr lang="fr-FR" dirty="0"/>
              <a:t> Les artefacts </a:t>
            </a:r>
            <a:r>
              <a:rPr lang="fr-FR" dirty="0" err="1"/>
              <a:t>Scrum</a:t>
            </a:r>
            <a:r>
              <a:rPr lang="fr-FR" dirty="0"/>
              <a:t> et les progrès vers les objectifs convenus doivent être inspectés fréquemment et avec diligence pour détecter des écarts ou des problèmes potentiellement indésirables. Pour faciliter l'inspection, </a:t>
            </a:r>
            <a:r>
              <a:rPr lang="fr-FR" dirty="0" err="1"/>
              <a:t>Scrum</a:t>
            </a:r>
            <a:r>
              <a:rPr lang="fr-FR" dirty="0"/>
              <a:t> fournit une cadence sous la forme de ses cinq événements</a:t>
            </a:r>
          </a:p>
        </p:txBody>
      </p:sp>
      <p:sp>
        <p:nvSpPr>
          <p:cNvPr id="5" name="Rectangle 4"/>
          <p:cNvSpPr/>
          <p:nvPr/>
        </p:nvSpPr>
        <p:spPr>
          <a:xfrm>
            <a:off x="8039099" y="3771304"/>
            <a:ext cx="3829051" cy="2585323"/>
          </a:xfrm>
          <a:prstGeom prst="rect">
            <a:avLst/>
          </a:prstGeom>
        </p:spPr>
        <p:txBody>
          <a:bodyPr wrap="square">
            <a:spAutoFit/>
          </a:bodyPr>
          <a:lstStyle/>
          <a:p>
            <a:pPr algn="just"/>
            <a:r>
              <a:rPr lang="fr-FR" b="1" dirty="0" smtClean="0">
                <a:solidFill>
                  <a:srgbClr val="FF0000"/>
                </a:solidFill>
              </a:rPr>
              <a:t>Adaptation </a:t>
            </a:r>
            <a:r>
              <a:rPr lang="fr-FR" dirty="0" smtClean="0"/>
              <a:t>Si </a:t>
            </a:r>
            <a:r>
              <a:rPr lang="fr-FR" dirty="0"/>
              <a:t>certains aspects d'un processus s'écartent des limites acceptables ou si le produit résultant est inacceptable, alors le processus appliqué ou les éléments produits doivent être adaptés. L'adaptation doit être effectuée le plus rapidement possible afin de minimiser tout écart supplémentaire</a:t>
            </a:r>
          </a:p>
        </p:txBody>
      </p:sp>
      <p:pic>
        <p:nvPicPr>
          <p:cNvPr id="5124" name="Picture 4" descr="Le meilleur de Scrum : &quot;Les Trois Piliers de L’Empirisme (Scrum)&quot; par ..."/>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43782" y="1279892"/>
            <a:ext cx="6685756" cy="32302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04349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76274" y="473006"/>
            <a:ext cx="10982325" cy="5940088"/>
          </a:xfrm>
          <a:prstGeom prst="rect">
            <a:avLst/>
          </a:prstGeom>
        </p:spPr>
        <p:txBody>
          <a:bodyPr wrap="square">
            <a:spAutoFit/>
          </a:bodyPr>
          <a:lstStyle/>
          <a:p>
            <a:r>
              <a:rPr lang="fr-FR" sz="3600" b="1" dirty="0">
                <a:solidFill>
                  <a:srgbClr val="FF0000"/>
                </a:solidFill>
                <a:latin typeface="inherit"/>
              </a:rPr>
              <a:t>Valeurs </a:t>
            </a:r>
            <a:r>
              <a:rPr lang="fr-FR" sz="3600" b="1" dirty="0" err="1">
                <a:solidFill>
                  <a:srgbClr val="FF0000"/>
                </a:solidFill>
                <a:latin typeface="inherit"/>
              </a:rPr>
              <a:t>Scrum</a:t>
            </a:r>
            <a:r>
              <a:rPr lang="fr-FR" sz="3600" b="1" dirty="0">
                <a:solidFill>
                  <a:srgbClr val="FF0000"/>
                </a:solidFill>
                <a:latin typeface="inherit"/>
              </a:rPr>
              <a:t>  </a:t>
            </a:r>
            <a:endParaRPr lang="fr-FR" sz="3600" b="1" dirty="0" smtClean="0">
              <a:solidFill>
                <a:srgbClr val="FF0000"/>
              </a:solidFill>
              <a:latin typeface="inherit"/>
            </a:endParaRPr>
          </a:p>
          <a:p>
            <a:endParaRPr lang="fr-FR" sz="2000" dirty="0" smtClean="0"/>
          </a:p>
          <a:p>
            <a:r>
              <a:rPr lang="fr-FR" sz="2000" dirty="0" smtClean="0"/>
              <a:t>L'application </a:t>
            </a:r>
            <a:r>
              <a:rPr lang="fr-FR" sz="2000" dirty="0"/>
              <a:t>réussie de </a:t>
            </a:r>
            <a:r>
              <a:rPr lang="fr-FR" sz="2000" dirty="0" err="1"/>
              <a:t>Scrum</a:t>
            </a:r>
            <a:r>
              <a:rPr lang="fr-FR" sz="2000" dirty="0"/>
              <a:t> dépend de </a:t>
            </a:r>
            <a:r>
              <a:rPr lang="fr-FR" sz="2000" b="1" u="sng" dirty="0"/>
              <a:t>la capacité des personnes à mieux vivre ces cinq valeurs </a:t>
            </a:r>
            <a:r>
              <a:rPr lang="fr-FR" sz="2000" dirty="0"/>
              <a:t>: </a:t>
            </a:r>
            <a:endParaRPr lang="fr-FR" sz="2000" dirty="0" smtClean="0"/>
          </a:p>
          <a:p>
            <a:pPr algn="ctr"/>
            <a:r>
              <a:rPr lang="fr-FR" sz="2600" b="1" dirty="0" smtClean="0">
                <a:solidFill>
                  <a:srgbClr val="00B050"/>
                </a:solidFill>
              </a:rPr>
              <a:t>Engagement</a:t>
            </a:r>
            <a:r>
              <a:rPr lang="fr-FR" sz="2600" b="1" dirty="0">
                <a:solidFill>
                  <a:srgbClr val="00B050"/>
                </a:solidFill>
              </a:rPr>
              <a:t>, </a:t>
            </a:r>
            <a:r>
              <a:rPr lang="fr-FR" sz="2600" b="1" dirty="0" smtClean="0">
                <a:solidFill>
                  <a:srgbClr val="00B050"/>
                </a:solidFill>
              </a:rPr>
              <a:t>Focus</a:t>
            </a:r>
            <a:r>
              <a:rPr lang="fr-FR" sz="2600" b="1" dirty="0">
                <a:solidFill>
                  <a:srgbClr val="00B050"/>
                </a:solidFill>
              </a:rPr>
              <a:t>, </a:t>
            </a:r>
            <a:r>
              <a:rPr lang="fr-FR" sz="2600" b="1" dirty="0" smtClean="0">
                <a:solidFill>
                  <a:srgbClr val="00B050"/>
                </a:solidFill>
              </a:rPr>
              <a:t>Ouverture</a:t>
            </a:r>
            <a:r>
              <a:rPr lang="fr-FR" sz="2600" b="1" dirty="0">
                <a:solidFill>
                  <a:srgbClr val="00B050"/>
                </a:solidFill>
              </a:rPr>
              <a:t>, </a:t>
            </a:r>
            <a:r>
              <a:rPr lang="fr-FR" sz="2600" b="1" dirty="0" smtClean="0">
                <a:solidFill>
                  <a:srgbClr val="00B050"/>
                </a:solidFill>
              </a:rPr>
              <a:t>Respect </a:t>
            </a:r>
            <a:r>
              <a:rPr lang="fr-FR" sz="2600" b="1" dirty="0">
                <a:solidFill>
                  <a:srgbClr val="00B050"/>
                </a:solidFill>
              </a:rPr>
              <a:t>et </a:t>
            </a:r>
            <a:r>
              <a:rPr lang="fr-FR" sz="2600" b="1" dirty="0" smtClean="0">
                <a:solidFill>
                  <a:srgbClr val="00B050"/>
                </a:solidFill>
              </a:rPr>
              <a:t>Courage </a:t>
            </a:r>
          </a:p>
          <a:p>
            <a:pPr algn="ctr"/>
            <a:endParaRPr lang="fr-FR" dirty="0"/>
          </a:p>
          <a:p>
            <a:r>
              <a:rPr lang="fr-FR" sz="2000" dirty="0" smtClean="0"/>
              <a:t>La </a:t>
            </a:r>
            <a:r>
              <a:rPr lang="fr-FR" sz="2000" dirty="0" err="1"/>
              <a:t>Scrum</a:t>
            </a:r>
            <a:r>
              <a:rPr lang="fr-FR" sz="2000" dirty="0"/>
              <a:t> Team s'</a:t>
            </a:r>
            <a:r>
              <a:rPr lang="fr-FR" sz="2000" b="1" dirty="0">
                <a:solidFill>
                  <a:srgbClr val="00B050"/>
                </a:solidFill>
              </a:rPr>
              <a:t>engage</a:t>
            </a:r>
            <a:r>
              <a:rPr lang="fr-FR" sz="2000" dirty="0"/>
              <a:t> à atteindre ses objectifs et à se soutenir mutuellement. </a:t>
            </a:r>
            <a:r>
              <a:rPr lang="fr-FR" sz="2000" dirty="0" smtClean="0"/>
              <a:t>Le </a:t>
            </a:r>
            <a:r>
              <a:rPr lang="fr-FR" sz="2000" b="1" dirty="0" smtClean="0">
                <a:solidFill>
                  <a:srgbClr val="00B050"/>
                </a:solidFill>
              </a:rPr>
              <a:t>focus</a:t>
            </a:r>
            <a:r>
              <a:rPr lang="fr-FR" sz="2000" dirty="0" smtClean="0"/>
              <a:t> sur, le </a:t>
            </a:r>
            <a:r>
              <a:rPr lang="fr-FR" sz="2000" dirty="0"/>
              <a:t>but </a:t>
            </a:r>
            <a:r>
              <a:rPr lang="fr-FR" sz="2000" dirty="0" smtClean="0"/>
              <a:t>principal, la réalisation </a:t>
            </a:r>
            <a:r>
              <a:rPr lang="fr-FR" sz="2000" dirty="0"/>
              <a:t>du Sprint pour progresser le plus possible vers ces objectifs. La </a:t>
            </a:r>
            <a:r>
              <a:rPr lang="fr-FR" sz="2000" dirty="0" err="1"/>
              <a:t>Scrum</a:t>
            </a:r>
            <a:r>
              <a:rPr lang="fr-FR" sz="2000" dirty="0"/>
              <a:t> Team et ses parties prenantes sont </a:t>
            </a:r>
            <a:r>
              <a:rPr lang="fr-FR" sz="2000" b="1" dirty="0">
                <a:solidFill>
                  <a:srgbClr val="00B050"/>
                </a:solidFill>
              </a:rPr>
              <a:t>ouvertes</a:t>
            </a:r>
            <a:r>
              <a:rPr lang="fr-FR" sz="2000" dirty="0"/>
              <a:t> sur le travail et les défis à relever. Les membres de la </a:t>
            </a:r>
            <a:r>
              <a:rPr lang="fr-FR" sz="2000" dirty="0" err="1"/>
              <a:t>Scrum</a:t>
            </a:r>
            <a:r>
              <a:rPr lang="fr-FR" sz="2000" dirty="0"/>
              <a:t> Team </a:t>
            </a:r>
            <a:r>
              <a:rPr lang="fr-FR" sz="2000" b="1" dirty="0">
                <a:solidFill>
                  <a:srgbClr val="00B050"/>
                </a:solidFill>
              </a:rPr>
              <a:t>se respectent </a:t>
            </a:r>
            <a:r>
              <a:rPr lang="fr-FR" sz="2000" dirty="0"/>
              <a:t>mutuellement pour être des personnes compétentes et indépendantes et, sont respectés en tant que tels par les personnes avec lesquelles ils travaillent. Les membres de la </a:t>
            </a:r>
            <a:r>
              <a:rPr lang="fr-FR" sz="2000" dirty="0" err="1"/>
              <a:t>Scrum</a:t>
            </a:r>
            <a:r>
              <a:rPr lang="fr-FR" sz="2000" dirty="0"/>
              <a:t> Team ont </a:t>
            </a:r>
            <a:r>
              <a:rPr lang="fr-FR" sz="2000" dirty="0">
                <a:solidFill>
                  <a:srgbClr val="00B050"/>
                </a:solidFill>
              </a:rPr>
              <a:t>le courage </a:t>
            </a:r>
            <a:r>
              <a:rPr lang="fr-FR" sz="2000" dirty="0"/>
              <a:t>de mener les bonnes actions et de travailler sur des problèmes difficiles. Ces valeurs orientent le travail, les actions et l’attitude de la </a:t>
            </a:r>
            <a:r>
              <a:rPr lang="fr-FR" sz="2000" dirty="0" err="1"/>
              <a:t>Scrum</a:t>
            </a:r>
            <a:r>
              <a:rPr lang="fr-FR" sz="2000" dirty="0"/>
              <a:t> Team. Les décisions et les mesures prises, ainsi que la façon dont </a:t>
            </a:r>
            <a:r>
              <a:rPr lang="fr-FR" sz="2000" dirty="0" err="1"/>
              <a:t>Scrum</a:t>
            </a:r>
            <a:r>
              <a:rPr lang="fr-FR" sz="2000" dirty="0"/>
              <a:t> est utilisé, doivent renforcer ces valeurs, ne pas les diminuer ni les saper. Les membres de la </a:t>
            </a:r>
            <a:r>
              <a:rPr lang="fr-FR" sz="2000" dirty="0" err="1"/>
              <a:t>Scrum</a:t>
            </a:r>
            <a:r>
              <a:rPr lang="fr-FR" sz="2000" dirty="0"/>
              <a:t> Team apprennent et explorent ces valeurs tout en travaillant avec les événements et les artefacts </a:t>
            </a:r>
            <a:r>
              <a:rPr lang="fr-FR" sz="2000" dirty="0" err="1"/>
              <a:t>Scrum</a:t>
            </a:r>
            <a:r>
              <a:rPr lang="fr-FR" sz="2000" dirty="0"/>
              <a:t>. </a:t>
            </a:r>
            <a:endParaRPr lang="fr-FR" sz="2000" dirty="0" smtClean="0"/>
          </a:p>
          <a:p>
            <a:pPr marL="342900" indent="-342900">
              <a:buFont typeface="Wingdings" panose="05000000000000000000" pitchFamily="2" charset="2"/>
              <a:buChar char="Ø"/>
            </a:pPr>
            <a:r>
              <a:rPr lang="fr-FR" sz="2000" dirty="0" smtClean="0"/>
              <a:t>Lorsque </a:t>
            </a:r>
            <a:r>
              <a:rPr lang="fr-FR" sz="2000" dirty="0"/>
              <a:t>ces valeurs sont incarnées par la </a:t>
            </a:r>
            <a:r>
              <a:rPr lang="fr-FR" sz="2000" dirty="0" err="1"/>
              <a:t>Scrum</a:t>
            </a:r>
            <a:r>
              <a:rPr lang="fr-FR" sz="2000" dirty="0"/>
              <a:t> Team et les personnes avec lesquelles elle travaille, alors les piliers empiriques </a:t>
            </a:r>
            <a:r>
              <a:rPr lang="fr-FR" sz="2000" dirty="0" err="1"/>
              <a:t>Scrum</a:t>
            </a:r>
            <a:r>
              <a:rPr lang="fr-FR" sz="2000" dirty="0"/>
              <a:t> de transparence, d'inspection et d'adaptation émergent en consolidant la confiance</a:t>
            </a:r>
          </a:p>
        </p:txBody>
      </p:sp>
    </p:spTree>
    <p:extLst>
      <p:ext uri="{BB962C8B-B14F-4D97-AF65-F5344CB8AC3E}">
        <p14:creationId xmlns:p14="http://schemas.microsoft.com/office/powerpoint/2010/main" val="41001302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Scrum Beyond Software: How local NGOs inspire human values and principl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7542" y="1619796"/>
            <a:ext cx="9039498" cy="414147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5542002" y="3244334"/>
            <a:ext cx="1107996" cy="369332"/>
          </a:xfrm>
          <a:prstGeom prst="rect">
            <a:avLst/>
          </a:prstGeom>
        </p:spPr>
        <p:txBody>
          <a:bodyPr wrap="none">
            <a:spAutoFit/>
          </a:bodyPr>
          <a:lstStyle/>
          <a:p>
            <a:r>
              <a:rPr lang="fr-FR" b="1" dirty="0" err="1">
                <a:solidFill>
                  <a:srgbClr val="FF0000"/>
                </a:solidFill>
                <a:latin typeface="inherit"/>
              </a:rPr>
              <a:t>Scrum</a:t>
            </a:r>
            <a:r>
              <a:rPr lang="fr-FR" b="1" dirty="0">
                <a:solidFill>
                  <a:srgbClr val="FF0000"/>
                </a:solidFill>
                <a:latin typeface="inherit"/>
              </a:rPr>
              <a:t> ?</a:t>
            </a:r>
          </a:p>
        </p:txBody>
      </p:sp>
    </p:spTree>
    <p:extLst>
      <p:ext uri="{BB962C8B-B14F-4D97-AF65-F5344CB8AC3E}">
        <p14:creationId xmlns:p14="http://schemas.microsoft.com/office/powerpoint/2010/main" val="298488662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394276"/>
            <a:ext cx="10877550" cy="6463308"/>
          </a:xfrm>
          <a:prstGeom prst="rect">
            <a:avLst/>
          </a:prstGeom>
        </p:spPr>
        <p:txBody>
          <a:bodyPr wrap="square">
            <a:spAutoFit/>
          </a:bodyPr>
          <a:lstStyle/>
          <a:p>
            <a:r>
              <a:rPr lang="fr-FR" sz="3600" dirty="0" err="1">
                <a:solidFill>
                  <a:srgbClr val="FF0000"/>
                </a:solidFill>
              </a:rPr>
              <a:t>Scrum</a:t>
            </a:r>
            <a:r>
              <a:rPr lang="fr-FR" sz="3600" dirty="0">
                <a:solidFill>
                  <a:srgbClr val="FF0000"/>
                </a:solidFill>
              </a:rPr>
              <a:t> </a:t>
            </a:r>
            <a:r>
              <a:rPr lang="fr-FR" sz="3600" dirty="0" smtClean="0">
                <a:solidFill>
                  <a:srgbClr val="FF0000"/>
                </a:solidFill>
              </a:rPr>
              <a:t>Team</a:t>
            </a:r>
          </a:p>
          <a:p>
            <a:r>
              <a:rPr lang="fr-FR" sz="3600" dirty="0" smtClean="0">
                <a:solidFill>
                  <a:srgbClr val="FF0000"/>
                </a:solidFill>
              </a:rPr>
              <a:t> </a:t>
            </a:r>
            <a:r>
              <a:rPr lang="fr-FR" dirty="0"/>
              <a:t>L’unité fondamentale de </a:t>
            </a:r>
            <a:r>
              <a:rPr lang="fr-FR" dirty="0" err="1"/>
              <a:t>Scrum</a:t>
            </a:r>
            <a:r>
              <a:rPr lang="fr-FR" dirty="0"/>
              <a:t> est une petite équipe, la </a:t>
            </a:r>
            <a:r>
              <a:rPr lang="fr-FR" dirty="0" err="1"/>
              <a:t>Scrum</a:t>
            </a:r>
            <a:r>
              <a:rPr lang="fr-FR" dirty="0"/>
              <a:t> Team. </a:t>
            </a:r>
            <a:endParaRPr lang="fr-FR" dirty="0" smtClean="0"/>
          </a:p>
          <a:p>
            <a:pPr marL="285750" indent="-285750" algn="just">
              <a:buFont typeface="Arial" panose="020B0604020202020204" pitchFamily="34" charset="0"/>
              <a:buChar char="•"/>
            </a:pPr>
            <a:r>
              <a:rPr lang="fr-FR" dirty="0" smtClean="0"/>
              <a:t>La </a:t>
            </a:r>
            <a:r>
              <a:rPr lang="fr-FR" dirty="0" err="1"/>
              <a:t>Scrum</a:t>
            </a:r>
            <a:r>
              <a:rPr lang="fr-FR" dirty="0"/>
              <a:t> Team se compose d'un </a:t>
            </a:r>
            <a:r>
              <a:rPr lang="fr-FR" dirty="0" err="1"/>
              <a:t>Scrum</a:t>
            </a:r>
            <a:r>
              <a:rPr lang="fr-FR" dirty="0"/>
              <a:t> Master, d'un Product </a:t>
            </a:r>
            <a:r>
              <a:rPr lang="fr-FR" dirty="0" err="1"/>
              <a:t>Owner</a:t>
            </a:r>
            <a:r>
              <a:rPr lang="fr-FR" dirty="0"/>
              <a:t> et de </a:t>
            </a:r>
            <a:r>
              <a:rPr lang="fr-FR" dirty="0" err="1"/>
              <a:t>Developers</a:t>
            </a:r>
            <a:r>
              <a:rPr lang="fr-FR" dirty="0"/>
              <a:t>. Il n’y a pas d’équipe dans l’équipe ni de hiérarchies. Il s'agit d’une seule et même unité stable, composée de professionnels focalisés sur un seul objectif à la fois, l'Objectif de Produit. Les </a:t>
            </a:r>
            <a:r>
              <a:rPr lang="fr-FR" dirty="0" err="1"/>
              <a:t>Scrum</a:t>
            </a:r>
            <a:r>
              <a:rPr lang="fr-FR" dirty="0"/>
              <a:t> Teams sont pluridisciplinaires, leurs membres ont toutes les compétences nécessaires pour créer de la valeur à chaque Sprint. Elles sont également autogérées, elles décident en interne qui fait quoi, quand et comment. La </a:t>
            </a:r>
            <a:r>
              <a:rPr lang="fr-FR" dirty="0" err="1"/>
              <a:t>Scrum</a:t>
            </a:r>
            <a:r>
              <a:rPr lang="fr-FR" dirty="0"/>
              <a:t> Team doit être suffisamment petite pour rester réactive et assez grande pour accomplir un travail significatif durant le Sprint, </a:t>
            </a:r>
            <a:r>
              <a:rPr lang="fr-FR" b="1" dirty="0"/>
              <a:t>habituellement dix personnes au plus</a:t>
            </a:r>
            <a:r>
              <a:rPr lang="fr-FR" dirty="0"/>
              <a:t>. </a:t>
            </a:r>
            <a:endParaRPr lang="fr-FR" dirty="0" smtClean="0"/>
          </a:p>
          <a:p>
            <a:pPr marL="285750" indent="-285750" algn="just">
              <a:buFont typeface="Arial" panose="020B0604020202020204" pitchFamily="34" charset="0"/>
              <a:buChar char="•"/>
            </a:pPr>
            <a:r>
              <a:rPr lang="fr-FR" dirty="0" smtClean="0"/>
              <a:t>En </a:t>
            </a:r>
            <a:r>
              <a:rPr lang="fr-FR" dirty="0"/>
              <a:t>général, </a:t>
            </a:r>
            <a:r>
              <a:rPr lang="fr-FR" dirty="0" smtClean="0"/>
              <a:t>les </a:t>
            </a:r>
            <a:r>
              <a:rPr lang="fr-FR" dirty="0"/>
              <a:t>petites équipes communiquent mieux et sont plus productives. Si les </a:t>
            </a:r>
            <a:r>
              <a:rPr lang="fr-FR" dirty="0" err="1"/>
              <a:t>Scrum</a:t>
            </a:r>
            <a:r>
              <a:rPr lang="fr-FR" dirty="0"/>
              <a:t> Teams deviennent trop grandes, elles devraient envisager de se réorganiser en </a:t>
            </a:r>
            <a:r>
              <a:rPr lang="fr-FR" b="1" dirty="0"/>
              <a:t>plusieurs </a:t>
            </a:r>
            <a:r>
              <a:rPr lang="fr-FR" b="1" dirty="0" err="1"/>
              <a:t>Scrum</a:t>
            </a:r>
            <a:r>
              <a:rPr lang="fr-FR" b="1" dirty="0"/>
              <a:t> Teams </a:t>
            </a:r>
            <a:r>
              <a:rPr lang="fr-FR" dirty="0"/>
              <a:t>cohérentes, chacune axée sur le même produit. Par conséquent, elles </a:t>
            </a:r>
            <a:r>
              <a:rPr lang="fr-FR" b="1" dirty="0"/>
              <a:t>doivent partager </a:t>
            </a:r>
            <a:r>
              <a:rPr lang="fr-FR" dirty="0"/>
              <a:t>le </a:t>
            </a:r>
            <a:r>
              <a:rPr lang="fr-FR" b="1" dirty="0"/>
              <a:t>même Objectif de Produit, le même Product </a:t>
            </a:r>
            <a:r>
              <a:rPr lang="fr-FR" b="1" dirty="0" err="1"/>
              <a:t>Backlog</a:t>
            </a:r>
            <a:r>
              <a:rPr lang="fr-FR" b="1" dirty="0"/>
              <a:t> et le même Product </a:t>
            </a:r>
            <a:r>
              <a:rPr lang="fr-FR" b="1" dirty="0" err="1"/>
              <a:t>Owner</a:t>
            </a:r>
            <a:r>
              <a:rPr lang="fr-FR" b="1" dirty="0"/>
              <a:t>. </a:t>
            </a:r>
            <a:endParaRPr lang="fr-FR" b="1" dirty="0" smtClean="0"/>
          </a:p>
          <a:p>
            <a:pPr marL="285750" indent="-285750" algn="just">
              <a:buFont typeface="Arial" panose="020B0604020202020204" pitchFamily="34" charset="0"/>
              <a:buChar char="•"/>
            </a:pPr>
            <a:r>
              <a:rPr lang="fr-FR" dirty="0" smtClean="0"/>
              <a:t>La </a:t>
            </a:r>
            <a:r>
              <a:rPr lang="fr-FR" dirty="0" err="1"/>
              <a:t>Scrum</a:t>
            </a:r>
            <a:r>
              <a:rPr lang="fr-FR" dirty="0"/>
              <a:t> Team est responsable de toutes les activités liées au produit : collaboration des parties prenantes, vérification, maintenance, exploitation, expérimentation, recherche et développement, ainsi que tout ce qui pourrait être nécessaire. Elles sont structurées et habilitées par l'organisation à gérer leur propre travail. Travailler sur des Sprints à un rythme soutenable améliore le focus et la cohérence de la </a:t>
            </a:r>
            <a:r>
              <a:rPr lang="fr-FR" dirty="0" err="1"/>
              <a:t>Scrum</a:t>
            </a:r>
            <a:r>
              <a:rPr lang="fr-FR" dirty="0"/>
              <a:t> Team</a:t>
            </a:r>
            <a:r>
              <a:rPr lang="fr-FR" dirty="0" smtClean="0"/>
              <a:t>.</a:t>
            </a:r>
          </a:p>
          <a:p>
            <a:pPr marL="285750" indent="-285750" algn="just">
              <a:buFont typeface="Arial" panose="020B0604020202020204" pitchFamily="34" charset="0"/>
              <a:buChar char="•"/>
            </a:pPr>
            <a:r>
              <a:rPr lang="fr-FR" dirty="0" smtClean="0"/>
              <a:t> </a:t>
            </a:r>
            <a:r>
              <a:rPr lang="fr-FR" dirty="0"/>
              <a:t>Toute la </a:t>
            </a:r>
            <a:r>
              <a:rPr lang="fr-FR" dirty="0" err="1"/>
              <a:t>Scrum</a:t>
            </a:r>
            <a:r>
              <a:rPr lang="fr-FR" dirty="0"/>
              <a:t> Team est responsable de la création d'un </a:t>
            </a:r>
            <a:r>
              <a:rPr lang="fr-FR" dirty="0" err="1"/>
              <a:t>Increment</a:t>
            </a:r>
            <a:r>
              <a:rPr lang="fr-FR" dirty="0"/>
              <a:t> qui ait de la valeur et qui soit utile, à chaque Sprint. </a:t>
            </a:r>
            <a:endParaRPr lang="fr-FR" dirty="0" smtClean="0"/>
          </a:p>
          <a:p>
            <a:r>
              <a:rPr lang="fr-FR" dirty="0" err="1" smtClean="0"/>
              <a:t>Scrum</a:t>
            </a:r>
            <a:r>
              <a:rPr lang="fr-FR" dirty="0" smtClean="0"/>
              <a:t> </a:t>
            </a:r>
            <a:r>
              <a:rPr lang="fr-FR" dirty="0"/>
              <a:t>définit trois responsabilités spécifiques au sein de la </a:t>
            </a:r>
            <a:r>
              <a:rPr lang="fr-FR" dirty="0" err="1"/>
              <a:t>Scrum</a:t>
            </a:r>
            <a:r>
              <a:rPr lang="fr-FR" dirty="0"/>
              <a:t> Team : </a:t>
            </a:r>
            <a:r>
              <a:rPr lang="fr-FR" b="1" dirty="0"/>
              <a:t>les </a:t>
            </a:r>
            <a:r>
              <a:rPr lang="fr-FR" b="1" dirty="0" err="1"/>
              <a:t>Developers</a:t>
            </a:r>
            <a:r>
              <a:rPr lang="fr-FR" dirty="0"/>
              <a:t>, </a:t>
            </a:r>
            <a:r>
              <a:rPr lang="fr-FR" b="1" dirty="0"/>
              <a:t>le Product </a:t>
            </a:r>
            <a:r>
              <a:rPr lang="fr-FR" b="1" dirty="0" err="1"/>
              <a:t>Owner</a:t>
            </a:r>
            <a:r>
              <a:rPr lang="fr-FR" b="1" dirty="0"/>
              <a:t> </a:t>
            </a:r>
            <a:r>
              <a:rPr lang="fr-FR" dirty="0"/>
              <a:t>et </a:t>
            </a:r>
            <a:r>
              <a:rPr lang="fr-FR" b="1" dirty="0"/>
              <a:t>le </a:t>
            </a:r>
            <a:r>
              <a:rPr lang="fr-FR" b="1" dirty="0" err="1"/>
              <a:t>Scrum</a:t>
            </a:r>
            <a:r>
              <a:rPr lang="fr-FR" b="1" dirty="0"/>
              <a:t> Master.</a:t>
            </a:r>
          </a:p>
        </p:txBody>
      </p:sp>
    </p:spTree>
    <p:extLst>
      <p:ext uri="{BB962C8B-B14F-4D97-AF65-F5344CB8AC3E}">
        <p14:creationId xmlns:p14="http://schemas.microsoft.com/office/powerpoint/2010/main" val="33920662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0B27706A-61DA-4E57-9A32-A7126F6B9F70" descr="0B27706A-61DA-4E57-9A32-A7126F6B9F7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7351" y="1205048"/>
            <a:ext cx="8866958" cy="51005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859522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52525" y="1112014"/>
            <a:ext cx="9906000" cy="3385542"/>
          </a:xfrm>
          <a:prstGeom prst="rect">
            <a:avLst/>
          </a:prstGeom>
        </p:spPr>
        <p:txBody>
          <a:bodyPr wrap="square">
            <a:spAutoFit/>
          </a:bodyPr>
          <a:lstStyle/>
          <a:p>
            <a:r>
              <a:rPr lang="fr-FR" sz="3600" dirty="0" err="1">
                <a:solidFill>
                  <a:srgbClr val="FF0000"/>
                </a:solidFill>
              </a:rPr>
              <a:t>Developers</a:t>
            </a:r>
            <a:r>
              <a:rPr lang="fr-FR" sz="3600" dirty="0">
                <a:solidFill>
                  <a:srgbClr val="FF0000"/>
                </a:solidFill>
              </a:rPr>
              <a:t> </a:t>
            </a:r>
            <a:endParaRPr lang="fr-FR" sz="3600" dirty="0" smtClean="0">
              <a:solidFill>
                <a:srgbClr val="FF0000"/>
              </a:solidFill>
            </a:endParaRPr>
          </a:p>
          <a:p>
            <a:endParaRPr lang="fr-FR" dirty="0"/>
          </a:p>
          <a:p>
            <a:r>
              <a:rPr lang="fr-FR" sz="2000" dirty="0" smtClean="0"/>
              <a:t>Les </a:t>
            </a:r>
            <a:r>
              <a:rPr lang="fr-FR" sz="2000" dirty="0" err="1"/>
              <a:t>Developers</a:t>
            </a:r>
            <a:r>
              <a:rPr lang="fr-FR" sz="2000" dirty="0"/>
              <a:t> sont les membres de la </a:t>
            </a:r>
            <a:r>
              <a:rPr lang="fr-FR" sz="2000" dirty="0" err="1"/>
              <a:t>Scrum</a:t>
            </a:r>
            <a:r>
              <a:rPr lang="fr-FR" sz="2000" dirty="0"/>
              <a:t> Team qui s'engagent à traiter tout ou partie utile d’un </a:t>
            </a:r>
            <a:r>
              <a:rPr lang="fr-FR" sz="2000" dirty="0" err="1"/>
              <a:t>Increment</a:t>
            </a:r>
            <a:r>
              <a:rPr lang="fr-FR" sz="2000" dirty="0"/>
              <a:t> à chaque Sprint. </a:t>
            </a:r>
            <a:endParaRPr lang="fr-FR" sz="2000" dirty="0" smtClean="0"/>
          </a:p>
          <a:p>
            <a:r>
              <a:rPr lang="fr-FR" sz="2000" dirty="0" smtClean="0"/>
              <a:t>Les </a:t>
            </a:r>
            <a:r>
              <a:rPr lang="fr-FR" sz="2000" dirty="0"/>
              <a:t>compétences spécifiques requises pour les </a:t>
            </a:r>
            <a:r>
              <a:rPr lang="fr-FR" sz="2000" dirty="0" err="1"/>
              <a:t>Developerssont</a:t>
            </a:r>
            <a:r>
              <a:rPr lang="fr-FR" sz="2000" dirty="0"/>
              <a:t> souvent larges et </a:t>
            </a:r>
            <a:r>
              <a:rPr lang="fr-FR" sz="2000" dirty="0" smtClean="0"/>
              <a:t>varient selon </a:t>
            </a:r>
            <a:r>
              <a:rPr lang="fr-FR" sz="2000" dirty="0"/>
              <a:t>le domaine d’activité. Toutefois, les </a:t>
            </a:r>
            <a:r>
              <a:rPr lang="fr-FR" sz="2000" dirty="0" err="1"/>
              <a:t>Developers</a:t>
            </a:r>
            <a:r>
              <a:rPr lang="fr-FR" sz="2000" dirty="0"/>
              <a:t> sont toujours redevables de </a:t>
            </a:r>
            <a:r>
              <a:rPr lang="fr-FR" sz="2000" dirty="0" smtClean="0"/>
              <a:t>:</a:t>
            </a:r>
          </a:p>
          <a:p>
            <a:r>
              <a:rPr lang="fr-FR" sz="2000" dirty="0" smtClean="0"/>
              <a:t> </a:t>
            </a:r>
            <a:r>
              <a:rPr lang="fr-FR" sz="2000" dirty="0"/>
              <a:t>● Créer un plan de Sprint, un Sprint </a:t>
            </a:r>
            <a:r>
              <a:rPr lang="fr-FR" sz="2000" dirty="0" err="1"/>
              <a:t>Backlog</a:t>
            </a:r>
            <a:r>
              <a:rPr lang="fr-FR" sz="2000" dirty="0"/>
              <a:t> </a:t>
            </a:r>
            <a:r>
              <a:rPr lang="fr-FR" sz="2000" dirty="0" smtClean="0"/>
              <a:t>;</a:t>
            </a:r>
          </a:p>
          <a:p>
            <a:r>
              <a:rPr lang="fr-FR" sz="2000" dirty="0" smtClean="0"/>
              <a:t> </a:t>
            </a:r>
            <a:r>
              <a:rPr lang="fr-FR" sz="2000" dirty="0"/>
              <a:t>● Inculquer la notion de qualité en adhérant à une </a:t>
            </a:r>
            <a:r>
              <a:rPr lang="fr-FR" sz="2000" dirty="0" err="1"/>
              <a:t>Definition</a:t>
            </a:r>
            <a:r>
              <a:rPr lang="fr-FR" sz="2000" dirty="0"/>
              <a:t> of </a:t>
            </a:r>
            <a:r>
              <a:rPr lang="fr-FR" sz="2000" dirty="0" err="1"/>
              <a:t>Done</a:t>
            </a:r>
            <a:r>
              <a:rPr lang="fr-FR" sz="2000" dirty="0"/>
              <a:t> ; </a:t>
            </a:r>
            <a:endParaRPr lang="fr-FR" sz="2000" dirty="0" smtClean="0"/>
          </a:p>
          <a:p>
            <a:r>
              <a:rPr lang="fr-FR" sz="2000" dirty="0" smtClean="0"/>
              <a:t> ● </a:t>
            </a:r>
            <a:r>
              <a:rPr lang="fr-FR" sz="2000" dirty="0"/>
              <a:t>Adapter leur plan chaque jour par rapport à l'Objectif de Sprint ; </a:t>
            </a:r>
            <a:endParaRPr lang="fr-FR" sz="2000" dirty="0" smtClean="0"/>
          </a:p>
          <a:p>
            <a:r>
              <a:rPr lang="fr-FR" sz="2000" dirty="0"/>
              <a:t> </a:t>
            </a:r>
            <a:r>
              <a:rPr lang="fr-FR" sz="2000" dirty="0" smtClean="0"/>
              <a:t>● </a:t>
            </a:r>
            <a:r>
              <a:rPr lang="fr-FR" sz="2000" dirty="0"/>
              <a:t>Se tenir mutuellement responsables en tant que professionnels</a:t>
            </a:r>
          </a:p>
        </p:txBody>
      </p:sp>
    </p:spTree>
    <p:extLst>
      <p:ext uri="{BB962C8B-B14F-4D97-AF65-F5344CB8AC3E}">
        <p14:creationId xmlns:p14="http://schemas.microsoft.com/office/powerpoint/2010/main" val="33976309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38175" y="404285"/>
            <a:ext cx="11401425" cy="5539978"/>
          </a:xfrm>
          <a:prstGeom prst="rect">
            <a:avLst/>
          </a:prstGeom>
        </p:spPr>
        <p:txBody>
          <a:bodyPr wrap="square">
            <a:spAutoFit/>
          </a:bodyPr>
          <a:lstStyle/>
          <a:p>
            <a:r>
              <a:rPr lang="fr-FR" sz="3600" dirty="0">
                <a:solidFill>
                  <a:srgbClr val="FF0000"/>
                </a:solidFill>
              </a:rPr>
              <a:t>Product </a:t>
            </a:r>
            <a:r>
              <a:rPr lang="fr-FR" sz="3600" dirty="0" err="1">
                <a:solidFill>
                  <a:srgbClr val="FF0000"/>
                </a:solidFill>
              </a:rPr>
              <a:t>Owner</a:t>
            </a:r>
            <a:r>
              <a:rPr lang="fr-FR" sz="3600" dirty="0">
                <a:solidFill>
                  <a:srgbClr val="FF0000"/>
                </a:solidFill>
              </a:rPr>
              <a:t> </a:t>
            </a:r>
            <a:endParaRPr lang="fr-FR" sz="3600" dirty="0" smtClean="0">
              <a:solidFill>
                <a:srgbClr val="FF0000"/>
              </a:solidFill>
            </a:endParaRPr>
          </a:p>
          <a:p>
            <a:endParaRPr lang="fr-FR" dirty="0"/>
          </a:p>
          <a:p>
            <a:r>
              <a:rPr lang="fr-FR" sz="2000" dirty="0" smtClean="0"/>
              <a:t>Le </a:t>
            </a:r>
            <a:r>
              <a:rPr lang="fr-FR" sz="2000" dirty="0"/>
              <a:t>Product </a:t>
            </a:r>
            <a:r>
              <a:rPr lang="fr-FR" sz="2000" dirty="0" err="1"/>
              <a:t>Owner</a:t>
            </a:r>
            <a:r>
              <a:rPr lang="fr-FR" sz="2000" dirty="0"/>
              <a:t> est redevable de maximiser la valeur du produit résultant du travail de la </a:t>
            </a:r>
            <a:r>
              <a:rPr lang="fr-FR" sz="2000" dirty="0" err="1"/>
              <a:t>Scrum</a:t>
            </a:r>
            <a:r>
              <a:rPr lang="fr-FR" sz="2000" dirty="0"/>
              <a:t> Team. La manière de procéder peut varier considérablement selon les organisations, les </a:t>
            </a:r>
            <a:r>
              <a:rPr lang="fr-FR" sz="2000" dirty="0" err="1"/>
              <a:t>Scrum</a:t>
            </a:r>
            <a:r>
              <a:rPr lang="fr-FR" sz="2000" dirty="0"/>
              <a:t> Teams et les individus. Le Product </a:t>
            </a:r>
            <a:r>
              <a:rPr lang="fr-FR" sz="2000" dirty="0" err="1"/>
              <a:t>Owner</a:t>
            </a:r>
            <a:r>
              <a:rPr lang="fr-FR" sz="2000" dirty="0"/>
              <a:t> est également redevable de la gestion efficace du Product </a:t>
            </a:r>
            <a:r>
              <a:rPr lang="fr-FR" sz="2000" dirty="0" err="1"/>
              <a:t>Backlog</a:t>
            </a:r>
            <a:r>
              <a:rPr lang="fr-FR" sz="2000" dirty="0"/>
              <a:t>. Ce qui inclut : </a:t>
            </a:r>
            <a:endParaRPr lang="fr-FR" sz="2000" dirty="0" smtClean="0"/>
          </a:p>
          <a:p>
            <a:r>
              <a:rPr lang="fr-FR" sz="2000" dirty="0" smtClean="0"/>
              <a:t>● </a:t>
            </a:r>
            <a:r>
              <a:rPr lang="fr-FR" sz="2000" dirty="0"/>
              <a:t>Formuler et communiquer explicitement l'Objectif de Produit ; </a:t>
            </a:r>
            <a:endParaRPr lang="fr-FR" sz="2000" dirty="0" smtClean="0"/>
          </a:p>
          <a:p>
            <a:r>
              <a:rPr lang="fr-FR" sz="2000" dirty="0" smtClean="0"/>
              <a:t>● </a:t>
            </a:r>
            <a:r>
              <a:rPr lang="fr-FR" sz="2000" dirty="0"/>
              <a:t>Créer et communiquer clairement les éléments du Product </a:t>
            </a:r>
            <a:r>
              <a:rPr lang="fr-FR" sz="2000" dirty="0" err="1"/>
              <a:t>Backlog</a:t>
            </a:r>
            <a:r>
              <a:rPr lang="fr-FR" sz="2000" dirty="0"/>
              <a:t> </a:t>
            </a:r>
            <a:r>
              <a:rPr lang="fr-FR" sz="2000" dirty="0" smtClean="0"/>
              <a:t>;</a:t>
            </a:r>
          </a:p>
          <a:p>
            <a:r>
              <a:rPr lang="fr-FR" sz="2000" dirty="0" smtClean="0"/>
              <a:t>● </a:t>
            </a:r>
            <a:r>
              <a:rPr lang="fr-FR" sz="2000" dirty="0"/>
              <a:t>Ordonner les éléments dans le Product </a:t>
            </a:r>
            <a:r>
              <a:rPr lang="fr-FR" sz="2000" dirty="0" err="1"/>
              <a:t>Backlog</a:t>
            </a:r>
            <a:r>
              <a:rPr lang="fr-FR" sz="2000" dirty="0"/>
              <a:t> ; </a:t>
            </a:r>
            <a:endParaRPr lang="fr-FR" sz="2000" dirty="0" smtClean="0"/>
          </a:p>
          <a:p>
            <a:r>
              <a:rPr lang="fr-FR" sz="2000" dirty="0" smtClean="0"/>
              <a:t>et </a:t>
            </a:r>
            <a:r>
              <a:rPr lang="fr-FR" sz="2000" dirty="0"/>
              <a:t>● S'assurer que le Product </a:t>
            </a:r>
            <a:r>
              <a:rPr lang="fr-FR" sz="2000" dirty="0" err="1"/>
              <a:t>Backlog</a:t>
            </a:r>
            <a:r>
              <a:rPr lang="fr-FR" sz="2000" dirty="0"/>
              <a:t> est transparent, visible et compris. </a:t>
            </a:r>
            <a:endParaRPr lang="fr-FR" sz="2000" dirty="0" smtClean="0"/>
          </a:p>
          <a:p>
            <a:endParaRPr lang="fr-FR" sz="2000" dirty="0"/>
          </a:p>
          <a:p>
            <a:r>
              <a:rPr lang="fr-FR" sz="2000" dirty="0" smtClean="0"/>
              <a:t>Le </a:t>
            </a:r>
            <a:r>
              <a:rPr lang="fr-FR" sz="2000" dirty="0"/>
              <a:t>Product </a:t>
            </a:r>
            <a:r>
              <a:rPr lang="fr-FR" sz="2000" dirty="0" err="1"/>
              <a:t>Owner</a:t>
            </a:r>
            <a:r>
              <a:rPr lang="fr-FR" sz="2000" dirty="0"/>
              <a:t> peut effectuer le travail ci‐dessus ou peut déléguer ce travail à d'autres. Quoi qu’il en soit, le Product </a:t>
            </a:r>
            <a:r>
              <a:rPr lang="fr-FR" sz="2000" dirty="0" err="1"/>
              <a:t>Owner</a:t>
            </a:r>
            <a:r>
              <a:rPr lang="fr-FR" sz="2000" dirty="0"/>
              <a:t> en demeure redevable. Pour que les Product </a:t>
            </a:r>
            <a:r>
              <a:rPr lang="fr-FR" sz="2000" dirty="0" err="1"/>
              <a:t>Owners</a:t>
            </a:r>
            <a:r>
              <a:rPr lang="fr-FR" sz="2000" dirty="0"/>
              <a:t> réussissent, toute l'organisation doit respecter leurs décisions. Ces décisions sont visibles dans le contenu et dans l'ordre du Product </a:t>
            </a:r>
            <a:r>
              <a:rPr lang="fr-FR" sz="2000" dirty="0" err="1"/>
              <a:t>Backlog</a:t>
            </a:r>
            <a:r>
              <a:rPr lang="fr-FR" sz="2000" dirty="0"/>
              <a:t> et, via un </a:t>
            </a:r>
            <a:r>
              <a:rPr lang="fr-FR" sz="2000" dirty="0" err="1"/>
              <a:t>Increment</a:t>
            </a:r>
            <a:r>
              <a:rPr lang="fr-FR" sz="2000" dirty="0"/>
              <a:t> </a:t>
            </a:r>
            <a:r>
              <a:rPr lang="fr-FR" sz="2000" dirty="0" err="1"/>
              <a:t>inspectable</a:t>
            </a:r>
            <a:r>
              <a:rPr lang="fr-FR" sz="2000" dirty="0"/>
              <a:t> lors de la Sprint </a:t>
            </a:r>
            <a:r>
              <a:rPr lang="fr-FR" sz="2000" dirty="0" err="1"/>
              <a:t>Review</a:t>
            </a:r>
            <a:r>
              <a:rPr lang="fr-FR" sz="2000" dirty="0"/>
              <a:t>. Le Product </a:t>
            </a:r>
            <a:r>
              <a:rPr lang="fr-FR" sz="2000" dirty="0" err="1"/>
              <a:t>Owner</a:t>
            </a:r>
            <a:r>
              <a:rPr lang="fr-FR" sz="2000" dirty="0"/>
              <a:t> est une personne et non un comité. Le Product </a:t>
            </a:r>
            <a:r>
              <a:rPr lang="fr-FR" sz="2000" dirty="0" err="1"/>
              <a:t>Owner</a:t>
            </a:r>
            <a:r>
              <a:rPr lang="fr-FR" sz="2000" dirty="0"/>
              <a:t> peut représenter les besoins de nombreuses parties prenantes dans le Product </a:t>
            </a:r>
            <a:r>
              <a:rPr lang="fr-FR" sz="2000" dirty="0" err="1"/>
              <a:t>Backlog</a:t>
            </a:r>
            <a:r>
              <a:rPr lang="fr-FR" sz="2000" dirty="0"/>
              <a:t>. Ceux qui souhaitent modifier le Product </a:t>
            </a:r>
            <a:r>
              <a:rPr lang="fr-FR" sz="2000" dirty="0" err="1"/>
              <a:t>Backlog</a:t>
            </a:r>
            <a:r>
              <a:rPr lang="fr-FR" sz="2000" dirty="0"/>
              <a:t> peuvent le faire en essayant de convaincre le Product </a:t>
            </a:r>
            <a:r>
              <a:rPr lang="fr-FR" sz="2000" dirty="0" err="1"/>
              <a:t>Owner</a:t>
            </a:r>
            <a:endParaRPr lang="fr-FR" sz="2000" dirty="0"/>
          </a:p>
        </p:txBody>
      </p:sp>
    </p:spTree>
    <p:extLst>
      <p:ext uri="{BB962C8B-B14F-4D97-AF65-F5344CB8AC3E}">
        <p14:creationId xmlns:p14="http://schemas.microsoft.com/office/powerpoint/2010/main" val="46460083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76275" y="397877"/>
            <a:ext cx="10772775" cy="5478423"/>
          </a:xfrm>
          <a:prstGeom prst="rect">
            <a:avLst/>
          </a:prstGeom>
        </p:spPr>
        <p:txBody>
          <a:bodyPr wrap="square">
            <a:spAutoFit/>
          </a:bodyPr>
          <a:lstStyle/>
          <a:p>
            <a:r>
              <a:rPr lang="fr-FR" sz="3600" dirty="0" err="1">
                <a:solidFill>
                  <a:srgbClr val="FF0000"/>
                </a:solidFill>
              </a:rPr>
              <a:t>Scrum</a:t>
            </a:r>
            <a:r>
              <a:rPr lang="fr-FR" sz="3600" dirty="0">
                <a:solidFill>
                  <a:srgbClr val="FF0000"/>
                </a:solidFill>
              </a:rPr>
              <a:t> Master </a:t>
            </a:r>
            <a:endParaRPr lang="fr-FR" sz="3600" dirty="0" smtClean="0">
              <a:solidFill>
                <a:srgbClr val="FF0000"/>
              </a:solidFill>
            </a:endParaRPr>
          </a:p>
          <a:p>
            <a:endParaRPr lang="fr-FR" sz="3600" dirty="0" smtClean="0">
              <a:solidFill>
                <a:srgbClr val="FF0000"/>
              </a:solidFill>
            </a:endParaRPr>
          </a:p>
          <a:p>
            <a:r>
              <a:rPr lang="fr-FR" sz="2000" dirty="0" smtClean="0"/>
              <a:t>Le </a:t>
            </a:r>
            <a:r>
              <a:rPr lang="fr-FR" sz="2000" dirty="0" err="1"/>
              <a:t>Scrum</a:t>
            </a:r>
            <a:r>
              <a:rPr lang="fr-FR" sz="2000" dirty="0"/>
              <a:t> Master est redevable de la mise en place de </a:t>
            </a:r>
            <a:r>
              <a:rPr lang="fr-FR" sz="2000" dirty="0" err="1"/>
              <a:t>Scrum</a:t>
            </a:r>
            <a:r>
              <a:rPr lang="fr-FR" sz="2000" dirty="0"/>
              <a:t> tel que défini dans le Guide </a:t>
            </a:r>
            <a:r>
              <a:rPr lang="fr-FR" sz="2000" dirty="0" err="1"/>
              <a:t>Scrum</a:t>
            </a:r>
            <a:r>
              <a:rPr lang="fr-FR" sz="2000" dirty="0"/>
              <a:t>. Pour ce faire, il se doit d’aider tout un chacun, l’équipe et l’organisation à comprendre la théorie et la pratique </a:t>
            </a:r>
            <a:r>
              <a:rPr lang="fr-FR" sz="2000" dirty="0" err="1"/>
              <a:t>Scrum</a:t>
            </a:r>
            <a:r>
              <a:rPr lang="fr-FR" sz="2000" dirty="0"/>
              <a:t>.   </a:t>
            </a:r>
            <a:endParaRPr lang="fr-FR" sz="2000" dirty="0" smtClean="0"/>
          </a:p>
          <a:p>
            <a:r>
              <a:rPr lang="fr-FR" sz="2000" dirty="0" smtClean="0"/>
              <a:t>Le </a:t>
            </a:r>
            <a:r>
              <a:rPr lang="fr-FR" sz="2000" dirty="0" err="1"/>
              <a:t>Scrum</a:t>
            </a:r>
            <a:r>
              <a:rPr lang="fr-FR" sz="2000" dirty="0"/>
              <a:t> Master est redevable de l’efficacité de la </a:t>
            </a:r>
            <a:r>
              <a:rPr lang="fr-FR" sz="2000" dirty="0" err="1"/>
              <a:t>Scrum</a:t>
            </a:r>
            <a:r>
              <a:rPr lang="fr-FR" sz="2000" dirty="0"/>
              <a:t> Team. Il permet à la </a:t>
            </a:r>
            <a:r>
              <a:rPr lang="fr-FR" sz="2000" dirty="0" err="1"/>
              <a:t>Scrum</a:t>
            </a:r>
            <a:r>
              <a:rPr lang="fr-FR" sz="2000" dirty="0"/>
              <a:t> Team d'améliorer ses pratiques en suivant le cadre de travail </a:t>
            </a:r>
            <a:r>
              <a:rPr lang="fr-FR" sz="2000" dirty="0" err="1"/>
              <a:t>Scrum</a:t>
            </a:r>
            <a:r>
              <a:rPr lang="fr-FR" sz="2000" dirty="0"/>
              <a:t>. Le </a:t>
            </a:r>
            <a:r>
              <a:rPr lang="fr-FR" sz="2000" dirty="0" err="1"/>
              <a:t>Scrum</a:t>
            </a:r>
            <a:r>
              <a:rPr lang="fr-FR" sz="2000" dirty="0"/>
              <a:t> Master est, avant tout, un véritable leader au service de la </a:t>
            </a:r>
            <a:r>
              <a:rPr lang="fr-FR" sz="2000" dirty="0" err="1"/>
              <a:t>Scrum</a:t>
            </a:r>
            <a:r>
              <a:rPr lang="fr-FR" sz="2000" dirty="0"/>
              <a:t> Team et de l'ensemble de l'organisation. Le </a:t>
            </a:r>
            <a:r>
              <a:rPr lang="fr-FR" sz="2000" dirty="0" err="1"/>
              <a:t>Scrum</a:t>
            </a:r>
            <a:r>
              <a:rPr lang="fr-FR" sz="2000" dirty="0"/>
              <a:t> Master rend service à la </a:t>
            </a:r>
            <a:r>
              <a:rPr lang="fr-FR" sz="2000" dirty="0" err="1"/>
              <a:t>Scrum</a:t>
            </a:r>
            <a:r>
              <a:rPr lang="fr-FR" sz="2000" dirty="0"/>
              <a:t> Team de plusieurs façons </a:t>
            </a:r>
            <a:r>
              <a:rPr lang="fr-FR" sz="2000" dirty="0" smtClean="0"/>
              <a:t>:</a:t>
            </a:r>
          </a:p>
          <a:p>
            <a:r>
              <a:rPr lang="fr-FR" sz="2000" dirty="0" smtClean="0"/>
              <a:t> </a:t>
            </a:r>
            <a:r>
              <a:rPr lang="fr-FR" sz="2000" dirty="0"/>
              <a:t>● Accompagner les membres de l'équipe en matière d'autogestion et de pluridisciplinarité ; </a:t>
            </a:r>
            <a:endParaRPr lang="fr-FR" sz="2000" dirty="0" smtClean="0"/>
          </a:p>
          <a:p>
            <a:r>
              <a:rPr lang="fr-FR" sz="2000" dirty="0" smtClean="0"/>
              <a:t>● </a:t>
            </a:r>
            <a:r>
              <a:rPr lang="fr-FR" sz="2000" dirty="0"/>
              <a:t>Aider la </a:t>
            </a:r>
            <a:r>
              <a:rPr lang="fr-FR" sz="2000" dirty="0" err="1"/>
              <a:t>Scrum</a:t>
            </a:r>
            <a:r>
              <a:rPr lang="fr-FR" sz="2000" dirty="0"/>
              <a:t> Team à se focaliser sur la création d'</a:t>
            </a:r>
            <a:r>
              <a:rPr lang="fr-FR" sz="2000" dirty="0" err="1"/>
              <a:t>Increments</a:t>
            </a:r>
            <a:r>
              <a:rPr lang="fr-FR" sz="2000" dirty="0"/>
              <a:t> de grande valeur qui répondent à la </a:t>
            </a:r>
            <a:r>
              <a:rPr lang="fr-FR" sz="2000" dirty="0" err="1"/>
              <a:t>Definition</a:t>
            </a:r>
            <a:r>
              <a:rPr lang="fr-FR" sz="2000" dirty="0"/>
              <a:t> of </a:t>
            </a:r>
            <a:r>
              <a:rPr lang="fr-FR" sz="2000" dirty="0" err="1"/>
              <a:t>Done</a:t>
            </a:r>
            <a:r>
              <a:rPr lang="fr-FR" sz="2000" dirty="0"/>
              <a:t> </a:t>
            </a:r>
            <a:r>
              <a:rPr lang="fr-FR" sz="2000" dirty="0" smtClean="0"/>
              <a:t>;</a:t>
            </a:r>
          </a:p>
          <a:p>
            <a:r>
              <a:rPr lang="fr-FR" sz="2000" dirty="0" smtClean="0"/>
              <a:t> </a:t>
            </a:r>
            <a:r>
              <a:rPr lang="fr-FR" sz="2000" dirty="0"/>
              <a:t>● Faire en sorte qu’il n’y ait pas d’obstacles pouvant entraver la progression de la </a:t>
            </a:r>
            <a:r>
              <a:rPr lang="fr-FR" sz="2000" dirty="0" err="1"/>
              <a:t>Scrum</a:t>
            </a:r>
            <a:r>
              <a:rPr lang="fr-FR" sz="2000" dirty="0"/>
              <a:t> Team ; </a:t>
            </a:r>
            <a:endParaRPr lang="fr-FR" sz="2000" dirty="0" smtClean="0"/>
          </a:p>
          <a:p>
            <a:r>
              <a:rPr lang="fr-FR" sz="2000" dirty="0" smtClean="0"/>
              <a:t>et </a:t>
            </a:r>
            <a:r>
              <a:rPr lang="fr-FR" sz="2000" dirty="0"/>
              <a:t>● S'assurer que tous les événements </a:t>
            </a:r>
            <a:r>
              <a:rPr lang="fr-FR" sz="2000" dirty="0" err="1"/>
              <a:t>Scrum</a:t>
            </a:r>
            <a:r>
              <a:rPr lang="fr-FR" sz="2000" dirty="0"/>
              <a:t> ont bien lieu et sont efficients, productifs et respectent bien les temps impartis (</a:t>
            </a:r>
            <a:r>
              <a:rPr lang="fr-FR" sz="2000" dirty="0" err="1"/>
              <a:t>timeboxés</a:t>
            </a:r>
            <a:r>
              <a:rPr lang="fr-FR" sz="2000" dirty="0"/>
              <a:t> : gardés dans une boîte de temps). </a:t>
            </a:r>
            <a:endParaRPr lang="fr-FR" sz="2000" dirty="0" smtClean="0"/>
          </a:p>
          <a:p>
            <a:endParaRPr lang="fr-FR" dirty="0" smtClean="0"/>
          </a:p>
        </p:txBody>
      </p:sp>
    </p:spTree>
    <p:extLst>
      <p:ext uri="{BB962C8B-B14F-4D97-AF65-F5344CB8AC3E}">
        <p14:creationId xmlns:p14="http://schemas.microsoft.com/office/powerpoint/2010/main" val="6739817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09625" y="626477"/>
            <a:ext cx="10601325" cy="5539978"/>
          </a:xfrm>
          <a:prstGeom prst="rect">
            <a:avLst/>
          </a:prstGeom>
        </p:spPr>
        <p:txBody>
          <a:bodyPr wrap="square">
            <a:spAutoFit/>
          </a:bodyPr>
          <a:lstStyle/>
          <a:p>
            <a:r>
              <a:rPr lang="fr-FR" sz="3600" dirty="0" err="1">
                <a:solidFill>
                  <a:srgbClr val="FF0000"/>
                </a:solidFill>
              </a:rPr>
              <a:t>Scrum</a:t>
            </a:r>
            <a:r>
              <a:rPr lang="fr-FR" sz="3600" dirty="0">
                <a:solidFill>
                  <a:srgbClr val="FF0000"/>
                </a:solidFill>
              </a:rPr>
              <a:t> Master </a:t>
            </a:r>
            <a:endParaRPr lang="fr-FR" sz="3600" dirty="0" smtClean="0">
              <a:solidFill>
                <a:srgbClr val="FF0000"/>
              </a:solidFill>
            </a:endParaRPr>
          </a:p>
          <a:p>
            <a:endParaRPr lang="fr-FR" dirty="0" smtClean="0"/>
          </a:p>
          <a:p>
            <a:r>
              <a:rPr lang="fr-FR" sz="2000" dirty="0" smtClean="0"/>
              <a:t>Le </a:t>
            </a:r>
            <a:r>
              <a:rPr lang="fr-FR" sz="2000" dirty="0" err="1"/>
              <a:t>Scrum</a:t>
            </a:r>
            <a:r>
              <a:rPr lang="fr-FR" sz="2000" dirty="0"/>
              <a:t> Master rend service au Product </a:t>
            </a:r>
            <a:r>
              <a:rPr lang="fr-FR" sz="2000" dirty="0" err="1"/>
              <a:t>Owner</a:t>
            </a:r>
            <a:r>
              <a:rPr lang="fr-FR" sz="2000" dirty="0"/>
              <a:t> de plusieurs façons : </a:t>
            </a:r>
            <a:endParaRPr lang="fr-FR" sz="2000" dirty="0" smtClean="0"/>
          </a:p>
          <a:p>
            <a:r>
              <a:rPr lang="fr-FR" sz="2000" dirty="0" smtClean="0"/>
              <a:t>● </a:t>
            </a:r>
            <a:r>
              <a:rPr lang="fr-FR" sz="2000" dirty="0"/>
              <a:t>L’aider à trouver des techniques pour définir efficacement l'Objectif de Produit et gérer efficacement du Product </a:t>
            </a:r>
            <a:r>
              <a:rPr lang="fr-FR" sz="2000" dirty="0" err="1"/>
              <a:t>Backlog</a:t>
            </a:r>
            <a:r>
              <a:rPr lang="fr-FR" sz="2000" dirty="0"/>
              <a:t> ; </a:t>
            </a:r>
            <a:endParaRPr lang="fr-FR" sz="2000" dirty="0" smtClean="0"/>
          </a:p>
          <a:p>
            <a:r>
              <a:rPr lang="fr-FR" sz="2000" dirty="0" smtClean="0"/>
              <a:t>● </a:t>
            </a:r>
            <a:r>
              <a:rPr lang="fr-FR" sz="2000" dirty="0"/>
              <a:t>Sensibiliser la </a:t>
            </a:r>
            <a:r>
              <a:rPr lang="fr-FR" sz="2000" dirty="0" err="1"/>
              <a:t>Scrum</a:t>
            </a:r>
            <a:r>
              <a:rPr lang="fr-FR" sz="2000" dirty="0"/>
              <a:t> Team à la nécessité de bien comprendre le besoin d’avoir des éléments du Product </a:t>
            </a:r>
            <a:r>
              <a:rPr lang="fr-FR" sz="2000" dirty="0" err="1"/>
              <a:t>Backlog</a:t>
            </a:r>
            <a:r>
              <a:rPr lang="fr-FR" sz="2000" dirty="0"/>
              <a:t> clairs et concis ; </a:t>
            </a:r>
            <a:endParaRPr lang="fr-FR" sz="2000" dirty="0" smtClean="0"/>
          </a:p>
          <a:p>
            <a:r>
              <a:rPr lang="fr-FR" sz="2000" dirty="0" smtClean="0"/>
              <a:t>● </a:t>
            </a:r>
            <a:r>
              <a:rPr lang="fr-FR" sz="2000" dirty="0"/>
              <a:t>Encourager l’application de la planification produit empirique dans un environnement complexe </a:t>
            </a:r>
            <a:r>
              <a:rPr lang="fr-FR" sz="2000" dirty="0" smtClean="0"/>
              <a:t>;</a:t>
            </a:r>
          </a:p>
          <a:p>
            <a:r>
              <a:rPr lang="fr-FR" sz="2000" dirty="0" smtClean="0"/>
              <a:t> </a:t>
            </a:r>
            <a:r>
              <a:rPr lang="fr-FR" sz="2000" dirty="0"/>
              <a:t>et ● Faciliter la collaboration des parties prenantes, selon les demandes ou les besoins. </a:t>
            </a:r>
            <a:endParaRPr lang="fr-FR" sz="2000" dirty="0" smtClean="0"/>
          </a:p>
          <a:p>
            <a:endParaRPr lang="fr-FR" sz="2000" dirty="0"/>
          </a:p>
          <a:p>
            <a:r>
              <a:rPr lang="fr-FR" sz="2000" dirty="0" smtClean="0"/>
              <a:t>Le </a:t>
            </a:r>
            <a:r>
              <a:rPr lang="fr-FR" sz="2000" dirty="0" err="1"/>
              <a:t>Scrum</a:t>
            </a:r>
            <a:r>
              <a:rPr lang="fr-FR" sz="2000" dirty="0"/>
              <a:t> Master rend service à l'organisation de plusieurs façons : </a:t>
            </a:r>
            <a:endParaRPr lang="fr-FR" sz="2000" dirty="0" smtClean="0"/>
          </a:p>
          <a:p>
            <a:r>
              <a:rPr lang="fr-FR" sz="2000" dirty="0" smtClean="0"/>
              <a:t>● </a:t>
            </a:r>
            <a:r>
              <a:rPr lang="fr-FR" sz="2000" dirty="0"/>
              <a:t>Accompagner, former et encadrer l'organisation dans son adoption de </a:t>
            </a:r>
            <a:r>
              <a:rPr lang="fr-FR" sz="2000" dirty="0" err="1"/>
              <a:t>Scrum</a:t>
            </a:r>
            <a:r>
              <a:rPr lang="fr-FR" sz="2000" dirty="0"/>
              <a:t> ; </a:t>
            </a:r>
            <a:endParaRPr lang="fr-FR" sz="2000" dirty="0" smtClean="0"/>
          </a:p>
          <a:p>
            <a:r>
              <a:rPr lang="fr-FR" sz="2000" dirty="0" smtClean="0"/>
              <a:t>● </a:t>
            </a:r>
            <a:r>
              <a:rPr lang="fr-FR" sz="2000" dirty="0"/>
              <a:t>Planifier et apporter conseils sur les implémentations de </a:t>
            </a:r>
            <a:r>
              <a:rPr lang="fr-FR" sz="2000" dirty="0" err="1"/>
              <a:t>Scrum</a:t>
            </a:r>
            <a:r>
              <a:rPr lang="fr-FR" sz="2000" dirty="0"/>
              <a:t> au sein de l’organisation ; </a:t>
            </a:r>
          </a:p>
          <a:p>
            <a:r>
              <a:rPr lang="fr-FR" sz="2000" dirty="0" smtClean="0"/>
              <a:t>● </a:t>
            </a:r>
            <a:r>
              <a:rPr lang="fr-FR" sz="2000" dirty="0"/>
              <a:t>Faciliter la compréhension de l’approche empirique en environnement complexe des employés et des parties prenantes ; </a:t>
            </a:r>
            <a:endParaRPr lang="fr-FR" sz="2000" dirty="0" smtClean="0"/>
          </a:p>
          <a:p>
            <a:r>
              <a:rPr lang="fr-FR" sz="2000" dirty="0" smtClean="0"/>
              <a:t>et </a:t>
            </a:r>
            <a:r>
              <a:rPr lang="fr-FR" sz="2000" dirty="0"/>
              <a:t>● Contribuer à lever les obstacles qui peuvent se dresser entre les parties prenantes et les </a:t>
            </a:r>
            <a:r>
              <a:rPr lang="fr-FR" sz="2000" dirty="0" err="1"/>
              <a:t>Scrum</a:t>
            </a:r>
            <a:r>
              <a:rPr lang="fr-FR" sz="2000" dirty="0"/>
              <a:t> Teams.</a:t>
            </a:r>
          </a:p>
        </p:txBody>
      </p:sp>
    </p:spTree>
    <p:extLst>
      <p:ext uri="{BB962C8B-B14F-4D97-AF65-F5344CB8AC3E}">
        <p14:creationId xmlns:p14="http://schemas.microsoft.com/office/powerpoint/2010/main" val="4383074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framework scrum"/>
          <p:cNvSpPr>
            <a:spLocks noChangeAspect="1" noChangeArrowheads="1"/>
          </p:cNvSpPr>
          <p:nvPr/>
        </p:nvSpPr>
        <p:spPr bwMode="auto">
          <a:xfrm>
            <a:off x="1052557" y="1571126"/>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1026" name="Picture 2" descr="My understanding of the Scrum Framework and Benefits Of the Scrum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10431" y="2152152"/>
            <a:ext cx="5053057" cy="29432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814431" y="835587"/>
            <a:ext cx="6096000" cy="5570756"/>
          </a:xfrm>
          <a:prstGeom prst="rect">
            <a:avLst/>
          </a:prstGeom>
        </p:spPr>
        <p:txBody>
          <a:bodyPr>
            <a:spAutoFit/>
          </a:bodyPr>
          <a:lstStyle/>
          <a:p>
            <a:r>
              <a:rPr lang="fr-FR" sz="3600" b="1" dirty="0">
                <a:solidFill>
                  <a:srgbClr val="FF0000"/>
                </a:solidFill>
              </a:rPr>
              <a:t>Événements </a:t>
            </a:r>
            <a:r>
              <a:rPr lang="fr-FR" sz="3600" b="1" dirty="0" err="1">
                <a:solidFill>
                  <a:srgbClr val="FF0000"/>
                </a:solidFill>
              </a:rPr>
              <a:t>Scrum</a:t>
            </a:r>
            <a:r>
              <a:rPr lang="fr-FR" sz="3600" b="1" dirty="0">
                <a:solidFill>
                  <a:srgbClr val="FF0000"/>
                </a:solidFill>
              </a:rPr>
              <a:t> </a:t>
            </a:r>
            <a:endParaRPr lang="fr-FR" sz="3600" b="1" dirty="0" smtClean="0">
              <a:solidFill>
                <a:srgbClr val="FF0000"/>
              </a:solidFill>
            </a:endParaRPr>
          </a:p>
          <a:p>
            <a:endParaRPr lang="fr-FR" sz="2000" dirty="0"/>
          </a:p>
          <a:p>
            <a:pPr marL="342900" indent="-342900">
              <a:buFont typeface="Wingdings" panose="05000000000000000000" pitchFamily="2" charset="2"/>
              <a:buChar char="q"/>
            </a:pPr>
            <a:r>
              <a:rPr lang="fr-FR" sz="2000" dirty="0" smtClean="0"/>
              <a:t>Le </a:t>
            </a:r>
            <a:r>
              <a:rPr lang="fr-FR" sz="2000" dirty="0"/>
              <a:t>Sprint est un conteneur pour tous les autres événements. </a:t>
            </a:r>
            <a:endParaRPr lang="fr-FR" sz="2000" dirty="0" smtClean="0"/>
          </a:p>
          <a:p>
            <a:pPr marL="457200" indent="-457200">
              <a:buFont typeface="Wingdings" panose="05000000000000000000" pitchFamily="2" charset="2"/>
              <a:buChar char="q"/>
            </a:pPr>
            <a:r>
              <a:rPr lang="fr-FR" sz="2000" dirty="0" smtClean="0"/>
              <a:t>Chaque </a:t>
            </a:r>
            <a:r>
              <a:rPr lang="fr-FR" sz="2000" dirty="0"/>
              <a:t>événement dans </a:t>
            </a:r>
            <a:r>
              <a:rPr lang="fr-FR" sz="2000" dirty="0" err="1"/>
              <a:t>Scrum</a:t>
            </a:r>
            <a:r>
              <a:rPr lang="fr-FR" sz="2000" dirty="0"/>
              <a:t> est </a:t>
            </a:r>
            <a:r>
              <a:rPr lang="fr-FR" sz="2000" u="sng" dirty="0">
                <a:solidFill>
                  <a:srgbClr val="00B050"/>
                </a:solidFill>
              </a:rPr>
              <a:t>une occasion </a:t>
            </a:r>
            <a:r>
              <a:rPr lang="fr-FR" sz="2000" dirty="0"/>
              <a:t>formelle pour </a:t>
            </a:r>
            <a:r>
              <a:rPr lang="fr-FR" sz="2000" b="1" dirty="0"/>
              <a:t>inspecter</a:t>
            </a:r>
            <a:r>
              <a:rPr lang="fr-FR" sz="2000" dirty="0"/>
              <a:t> et </a:t>
            </a:r>
            <a:r>
              <a:rPr lang="fr-FR" sz="2000" b="1" dirty="0"/>
              <a:t>adapter</a:t>
            </a:r>
            <a:r>
              <a:rPr lang="fr-FR" sz="2000" dirty="0"/>
              <a:t> les artefacts </a:t>
            </a:r>
            <a:r>
              <a:rPr lang="fr-FR" sz="2000" dirty="0" err="1"/>
              <a:t>Scrum</a:t>
            </a:r>
            <a:r>
              <a:rPr lang="fr-FR" sz="2000" dirty="0"/>
              <a:t>. Ces événements sont spécifiquement conçus pour permettre la transparence requise. L’incapacité d’organiser les évènements conformément à leur prescription est une occasion perdue pour inspecter et s’adapter</a:t>
            </a:r>
            <a:r>
              <a:rPr lang="fr-FR" sz="2000" dirty="0" smtClean="0"/>
              <a:t>.</a:t>
            </a:r>
          </a:p>
          <a:p>
            <a:pPr marL="342900" indent="-342900">
              <a:buFont typeface="Wingdings" panose="05000000000000000000" pitchFamily="2" charset="2"/>
              <a:buChar char="q"/>
            </a:pPr>
            <a:r>
              <a:rPr lang="fr-FR" sz="2000" dirty="0" smtClean="0"/>
              <a:t> </a:t>
            </a:r>
            <a:r>
              <a:rPr lang="fr-FR" sz="2000" dirty="0"/>
              <a:t>Les événements sont utilisés dans </a:t>
            </a:r>
            <a:r>
              <a:rPr lang="fr-FR" sz="2000" dirty="0" err="1"/>
              <a:t>Scrum</a:t>
            </a:r>
            <a:r>
              <a:rPr lang="fr-FR" sz="2000" dirty="0"/>
              <a:t> dans le but de créer de la régularité, minimisant le besoin d’avoir d’autres réunions non définies par </a:t>
            </a:r>
            <a:r>
              <a:rPr lang="fr-FR" sz="2000" dirty="0" err="1"/>
              <a:t>Scrum</a:t>
            </a:r>
            <a:r>
              <a:rPr lang="fr-FR" sz="2000" dirty="0"/>
              <a:t>. </a:t>
            </a:r>
            <a:endParaRPr lang="fr-FR" sz="2000" dirty="0" smtClean="0"/>
          </a:p>
          <a:p>
            <a:pPr marL="342900" indent="-342900">
              <a:buFont typeface="Wingdings" panose="05000000000000000000" pitchFamily="2" charset="2"/>
              <a:buChar char="q"/>
            </a:pPr>
            <a:r>
              <a:rPr lang="fr-FR" sz="2000" dirty="0" smtClean="0"/>
              <a:t>Idéalement</a:t>
            </a:r>
            <a:r>
              <a:rPr lang="fr-FR" sz="2000" dirty="0"/>
              <a:t>, </a:t>
            </a:r>
            <a:r>
              <a:rPr lang="fr-FR" sz="2000" dirty="0" smtClean="0"/>
              <a:t>tous les événements se </a:t>
            </a:r>
            <a:r>
              <a:rPr lang="fr-FR" sz="2000" dirty="0"/>
              <a:t>tiennent à la même heure et au même lieu pour réduire la complexité</a:t>
            </a:r>
          </a:p>
        </p:txBody>
      </p:sp>
    </p:spTree>
    <p:extLst>
      <p:ext uri="{BB962C8B-B14F-4D97-AF65-F5344CB8AC3E}">
        <p14:creationId xmlns:p14="http://schemas.microsoft.com/office/powerpoint/2010/main" val="109247563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52475" y="391716"/>
            <a:ext cx="10687049" cy="5847755"/>
          </a:xfrm>
          <a:prstGeom prst="rect">
            <a:avLst/>
          </a:prstGeom>
        </p:spPr>
        <p:txBody>
          <a:bodyPr wrap="square">
            <a:spAutoFit/>
          </a:bodyPr>
          <a:lstStyle/>
          <a:p>
            <a:r>
              <a:rPr lang="fr-FR" sz="3600" dirty="0" smtClean="0">
                <a:solidFill>
                  <a:srgbClr val="FF0000"/>
                </a:solidFill>
              </a:rPr>
              <a:t>Sprint</a:t>
            </a:r>
          </a:p>
          <a:p>
            <a:endParaRPr lang="fr-FR" dirty="0"/>
          </a:p>
          <a:p>
            <a:r>
              <a:rPr lang="fr-FR" dirty="0" smtClean="0"/>
              <a:t> </a:t>
            </a:r>
            <a:r>
              <a:rPr lang="fr-FR" sz="2000" dirty="0"/>
              <a:t>Les Sprints sont au cœur de </a:t>
            </a:r>
            <a:r>
              <a:rPr lang="fr-FR" sz="2000" dirty="0" err="1"/>
              <a:t>Scrum</a:t>
            </a:r>
            <a:r>
              <a:rPr lang="fr-FR" sz="2000" dirty="0"/>
              <a:t>, où les idées sont transformées en valeur. Ce sont des événements d'une durée fixe, d'un mois ou moins, pour créer une cohérence. Un nouveau Sprint commence immédiatement après la fin du </a:t>
            </a:r>
            <a:r>
              <a:rPr lang="fr-FR" sz="2000" dirty="0" smtClean="0"/>
              <a:t>précédent. </a:t>
            </a:r>
          </a:p>
          <a:p>
            <a:r>
              <a:rPr lang="fr-FR" sz="2000" dirty="0" smtClean="0"/>
              <a:t>Durant </a:t>
            </a:r>
            <a:r>
              <a:rPr lang="fr-FR" sz="2000" dirty="0"/>
              <a:t>le Sprint : </a:t>
            </a:r>
            <a:endParaRPr lang="fr-FR" sz="2000" dirty="0" smtClean="0"/>
          </a:p>
          <a:p>
            <a:r>
              <a:rPr lang="fr-FR" sz="2000" dirty="0" smtClean="0"/>
              <a:t>● </a:t>
            </a:r>
            <a:r>
              <a:rPr lang="fr-FR" sz="2000" dirty="0"/>
              <a:t>Aucun changement n’est permis, qui pourrait remettre en cause l’Objectif de Sprint ; </a:t>
            </a:r>
            <a:endParaRPr lang="fr-FR" sz="2000" dirty="0" smtClean="0"/>
          </a:p>
          <a:p>
            <a:r>
              <a:rPr lang="fr-FR" sz="2000" dirty="0" smtClean="0"/>
              <a:t>● </a:t>
            </a:r>
            <a:r>
              <a:rPr lang="fr-FR" sz="2000" dirty="0"/>
              <a:t>Les objectifs de qualité ne sont jamais revus à la baisse ; </a:t>
            </a:r>
            <a:endParaRPr lang="fr-FR" sz="2000" dirty="0" smtClean="0"/>
          </a:p>
          <a:p>
            <a:r>
              <a:rPr lang="fr-FR" sz="2000" dirty="0" smtClean="0"/>
              <a:t>● </a:t>
            </a:r>
            <a:r>
              <a:rPr lang="fr-FR" sz="2000" dirty="0"/>
              <a:t>Le Product </a:t>
            </a:r>
            <a:r>
              <a:rPr lang="fr-FR" sz="2000" dirty="0" err="1"/>
              <a:t>Backlog</a:t>
            </a:r>
            <a:r>
              <a:rPr lang="fr-FR" sz="2000" dirty="0"/>
              <a:t> est affiné si nécessaire ; </a:t>
            </a:r>
            <a:endParaRPr lang="fr-FR" sz="2000" dirty="0" smtClean="0"/>
          </a:p>
          <a:p>
            <a:r>
              <a:rPr lang="fr-FR" sz="2000" dirty="0" smtClean="0"/>
              <a:t>et </a:t>
            </a:r>
            <a:r>
              <a:rPr lang="fr-FR" sz="2000" dirty="0"/>
              <a:t>● Le périmètre peut être clarifié et renégocié avec le Product </a:t>
            </a:r>
            <a:r>
              <a:rPr lang="fr-FR" sz="2000" dirty="0" err="1"/>
              <a:t>Owner</a:t>
            </a:r>
            <a:r>
              <a:rPr lang="fr-FR" sz="2000" dirty="0"/>
              <a:t> selon ce qu'on en </a:t>
            </a:r>
            <a:r>
              <a:rPr lang="fr-FR" sz="2000" dirty="0" smtClean="0"/>
              <a:t>apprend</a:t>
            </a:r>
          </a:p>
          <a:p>
            <a:endParaRPr lang="fr-FR" sz="2000" dirty="0" smtClean="0"/>
          </a:p>
          <a:p>
            <a:pPr marL="285750" indent="-285750">
              <a:buFont typeface="Wingdings" panose="05000000000000000000" pitchFamily="2" charset="2"/>
              <a:buChar char="Ø"/>
            </a:pPr>
            <a:r>
              <a:rPr lang="fr-FR" sz="2000" dirty="0"/>
              <a:t>Tout le travail nécessaire pour atteindre l'Objectif de Produit, y </a:t>
            </a:r>
            <a:r>
              <a:rPr lang="fr-FR" sz="2000" dirty="0" smtClean="0"/>
              <a:t>compris le </a:t>
            </a:r>
            <a:r>
              <a:rPr lang="fr-FR" sz="2000" dirty="0"/>
              <a:t>Sprint Planning, les Daily </a:t>
            </a:r>
            <a:r>
              <a:rPr lang="fr-FR" sz="2000" dirty="0" err="1"/>
              <a:t>Scrums</a:t>
            </a:r>
            <a:r>
              <a:rPr lang="fr-FR" sz="2000" dirty="0"/>
              <a:t>, la Sprint </a:t>
            </a:r>
            <a:r>
              <a:rPr lang="fr-FR" sz="2000" dirty="0" err="1"/>
              <a:t>Review</a:t>
            </a:r>
            <a:r>
              <a:rPr lang="fr-FR" sz="2000" dirty="0"/>
              <a:t> et la Sprint </a:t>
            </a:r>
            <a:r>
              <a:rPr lang="fr-FR" sz="2000" dirty="0" err="1"/>
              <a:t>Retrospective</a:t>
            </a:r>
            <a:r>
              <a:rPr lang="fr-FR" sz="2000" dirty="0"/>
              <a:t>, se fait dans le cadre des Sprints</a:t>
            </a:r>
            <a:r>
              <a:rPr lang="fr-FR" sz="2000" dirty="0" smtClean="0"/>
              <a:t>.</a:t>
            </a:r>
          </a:p>
          <a:p>
            <a:pPr marL="285750" indent="-285750">
              <a:buFont typeface="Wingdings" panose="05000000000000000000" pitchFamily="2" charset="2"/>
              <a:buChar char="Ø"/>
            </a:pPr>
            <a:r>
              <a:rPr lang="fr-FR" sz="2000" dirty="0"/>
              <a:t>Diverses pratiques existent pour évaluer la progression, telles que les courbes du « </a:t>
            </a:r>
            <a:r>
              <a:rPr lang="fr-FR" sz="2000" dirty="0" err="1"/>
              <a:t>burn</a:t>
            </a:r>
            <a:r>
              <a:rPr lang="fr-FR" sz="2000" dirty="0"/>
              <a:t>‐down », ou celles du « </a:t>
            </a:r>
            <a:r>
              <a:rPr lang="fr-FR" sz="2000" dirty="0" err="1"/>
              <a:t>burn</a:t>
            </a:r>
            <a:r>
              <a:rPr lang="fr-FR" sz="2000" dirty="0"/>
              <a:t>‐up » ou les diagrammes de flux cumulatifs. Bien que leur utilité soit prouvée, ces courbes ne remplacent pas l'importance de </a:t>
            </a:r>
            <a:r>
              <a:rPr lang="fr-FR" sz="2000" dirty="0" smtClean="0"/>
              <a:t>l'empirisme.</a:t>
            </a:r>
            <a:endParaRPr lang="fr-FR" sz="2000" dirty="0"/>
          </a:p>
          <a:p>
            <a:pPr marL="285750" indent="-285750">
              <a:buFont typeface="Wingdings" panose="05000000000000000000" pitchFamily="2" charset="2"/>
              <a:buChar char="Ø"/>
            </a:pPr>
            <a:r>
              <a:rPr lang="fr-FR" sz="2000" dirty="0" smtClean="0"/>
              <a:t>Un </a:t>
            </a:r>
            <a:r>
              <a:rPr lang="fr-FR" sz="2000" dirty="0"/>
              <a:t>Sprint peut être annulé si l'Objectif de Sprint devient obsolète. Seul le Product </a:t>
            </a:r>
            <a:r>
              <a:rPr lang="fr-FR" sz="2000" dirty="0" err="1"/>
              <a:t>Owner</a:t>
            </a:r>
            <a:r>
              <a:rPr lang="fr-FR" sz="2000" dirty="0"/>
              <a:t> a le pouvoir d'annuler le Sprint. </a:t>
            </a:r>
          </a:p>
        </p:txBody>
      </p:sp>
    </p:spTree>
    <p:extLst>
      <p:ext uri="{BB962C8B-B14F-4D97-AF65-F5344CB8AC3E}">
        <p14:creationId xmlns:p14="http://schemas.microsoft.com/office/powerpoint/2010/main" val="20160884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23900" y="959614"/>
            <a:ext cx="10639425" cy="4278094"/>
          </a:xfrm>
          <a:prstGeom prst="rect">
            <a:avLst/>
          </a:prstGeom>
        </p:spPr>
        <p:txBody>
          <a:bodyPr wrap="square">
            <a:spAutoFit/>
          </a:bodyPr>
          <a:lstStyle/>
          <a:p>
            <a:r>
              <a:rPr lang="fr-FR" sz="3600" dirty="0">
                <a:solidFill>
                  <a:srgbClr val="FF0000"/>
                </a:solidFill>
              </a:rPr>
              <a:t>Sprint </a:t>
            </a:r>
            <a:r>
              <a:rPr lang="fr-FR" sz="3600" dirty="0" smtClean="0">
                <a:solidFill>
                  <a:srgbClr val="FF0000"/>
                </a:solidFill>
              </a:rPr>
              <a:t>Planning</a:t>
            </a:r>
          </a:p>
          <a:p>
            <a:endParaRPr lang="fr-FR" sz="3600" dirty="0" smtClean="0">
              <a:solidFill>
                <a:srgbClr val="FF0000"/>
              </a:solidFill>
            </a:endParaRPr>
          </a:p>
          <a:p>
            <a:r>
              <a:rPr lang="fr-FR" dirty="0" smtClean="0"/>
              <a:t> </a:t>
            </a:r>
            <a:r>
              <a:rPr lang="fr-FR" sz="2000" dirty="0"/>
              <a:t>Le Sprint Planning </a:t>
            </a:r>
            <a:r>
              <a:rPr lang="fr-FR" sz="2000" b="1" u="sng" dirty="0"/>
              <a:t>lance </a:t>
            </a:r>
            <a:r>
              <a:rPr lang="fr-FR" sz="2000" dirty="0"/>
              <a:t>le Sprint en présentant le travail à effectuer durant le Sprint. Le plan qui en résulte est créé par le travail collaboratif de toute la </a:t>
            </a:r>
            <a:r>
              <a:rPr lang="fr-FR" sz="2000" dirty="0" err="1"/>
              <a:t>Scrum</a:t>
            </a:r>
            <a:r>
              <a:rPr lang="fr-FR" sz="2000" dirty="0"/>
              <a:t> Team. Le Product </a:t>
            </a:r>
            <a:r>
              <a:rPr lang="fr-FR" sz="2000" dirty="0" err="1"/>
              <a:t>Owner</a:t>
            </a:r>
            <a:r>
              <a:rPr lang="fr-FR" sz="2000" dirty="0"/>
              <a:t> veille à ce que les participants soient prêts à discuter les éléments les plus importants du Product </a:t>
            </a:r>
            <a:r>
              <a:rPr lang="fr-FR" sz="2000" dirty="0" err="1"/>
              <a:t>Backlog</a:t>
            </a:r>
            <a:r>
              <a:rPr lang="fr-FR" sz="2000" dirty="0"/>
              <a:t> et de comment ces éléments représentent l'Objectif de Produit. La </a:t>
            </a:r>
            <a:r>
              <a:rPr lang="fr-FR" sz="2000" dirty="0" err="1"/>
              <a:t>Scrum</a:t>
            </a:r>
            <a:r>
              <a:rPr lang="fr-FR" sz="2000" dirty="0"/>
              <a:t> Team peut également inviter d'autres personnes à participer au Sprint Planning pour donner des conseils. </a:t>
            </a:r>
            <a:endParaRPr lang="fr-FR" sz="2000" dirty="0" smtClean="0"/>
          </a:p>
          <a:p>
            <a:endParaRPr lang="fr-FR" sz="2000" dirty="0" smtClean="0"/>
          </a:p>
          <a:p>
            <a:r>
              <a:rPr lang="fr-FR" sz="2000" dirty="0" smtClean="0"/>
              <a:t>Le </a:t>
            </a:r>
            <a:r>
              <a:rPr lang="fr-FR" sz="2000" dirty="0"/>
              <a:t>Sprint Planning aborde les thèmes suivants : </a:t>
            </a:r>
            <a:endParaRPr lang="fr-FR" sz="2000" dirty="0" smtClean="0"/>
          </a:p>
          <a:p>
            <a:r>
              <a:rPr lang="fr-FR" sz="2000" dirty="0" smtClean="0"/>
              <a:t>Thème </a:t>
            </a:r>
            <a:r>
              <a:rPr lang="fr-FR" sz="2000" dirty="0"/>
              <a:t>1 : Pourquoi ce Sprint est‐il important </a:t>
            </a:r>
            <a:r>
              <a:rPr lang="fr-FR" sz="2000" dirty="0" smtClean="0"/>
              <a:t>?</a:t>
            </a:r>
          </a:p>
          <a:p>
            <a:r>
              <a:rPr lang="fr-FR" sz="2000" dirty="0"/>
              <a:t>Thème 2 : Que peut‐on faire durant ce Sprint </a:t>
            </a:r>
            <a:r>
              <a:rPr lang="fr-FR" sz="2000" dirty="0" smtClean="0"/>
              <a:t>?</a:t>
            </a:r>
          </a:p>
          <a:p>
            <a:r>
              <a:rPr lang="fr-FR" sz="2000" dirty="0"/>
              <a:t>Thème 3 : Comment le travail choisi sera‐t‐il réalisé ?</a:t>
            </a:r>
          </a:p>
        </p:txBody>
      </p:sp>
    </p:spTree>
    <p:extLst>
      <p:ext uri="{BB962C8B-B14F-4D97-AF65-F5344CB8AC3E}">
        <p14:creationId xmlns:p14="http://schemas.microsoft.com/office/powerpoint/2010/main" val="38641800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4825" y="474345"/>
            <a:ext cx="11106150" cy="5509200"/>
          </a:xfrm>
          <a:prstGeom prst="rect">
            <a:avLst/>
          </a:prstGeom>
        </p:spPr>
        <p:txBody>
          <a:bodyPr wrap="square">
            <a:spAutoFit/>
          </a:bodyPr>
          <a:lstStyle/>
          <a:p>
            <a:pPr algn="just"/>
            <a:r>
              <a:rPr lang="fr-FR" sz="3600" dirty="0">
                <a:solidFill>
                  <a:srgbClr val="FF0000"/>
                </a:solidFill>
              </a:rPr>
              <a:t>Daily </a:t>
            </a:r>
            <a:r>
              <a:rPr lang="fr-FR" sz="3600" dirty="0" err="1">
                <a:solidFill>
                  <a:srgbClr val="FF0000"/>
                </a:solidFill>
              </a:rPr>
              <a:t>Scrum</a:t>
            </a:r>
            <a:r>
              <a:rPr lang="fr-FR" sz="3600" dirty="0">
                <a:solidFill>
                  <a:srgbClr val="FF0000"/>
                </a:solidFill>
              </a:rPr>
              <a:t> </a:t>
            </a:r>
            <a:endParaRPr lang="fr-FR" sz="3600" dirty="0" smtClean="0">
              <a:solidFill>
                <a:srgbClr val="FF0000"/>
              </a:solidFill>
            </a:endParaRPr>
          </a:p>
          <a:p>
            <a:pPr algn="just"/>
            <a:endParaRPr lang="fr-FR" sz="3600" dirty="0">
              <a:solidFill>
                <a:srgbClr val="FF0000"/>
              </a:solidFill>
            </a:endParaRPr>
          </a:p>
          <a:p>
            <a:pPr algn="just"/>
            <a:r>
              <a:rPr lang="fr-FR" sz="2000" dirty="0" smtClean="0"/>
              <a:t>L'objectif </a:t>
            </a:r>
            <a:r>
              <a:rPr lang="fr-FR" sz="2000" dirty="0"/>
              <a:t>du Daily </a:t>
            </a:r>
            <a:r>
              <a:rPr lang="fr-FR" sz="2000" dirty="0" err="1"/>
              <a:t>Scrum</a:t>
            </a:r>
            <a:r>
              <a:rPr lang="fr-FR" sz="2000" dirty="0"/>
              <a:t> est d'inspecter la progression vers l'Objectif de Sprint et d'adapter le Sprint </a:t>
            </a:r>
            <a:r>
              <a:rPr lang="fr-FR" sz="2000" dirty="0" err="1"/>
              <a:t>Backlog</a:t>
            </a:r>
            <a:r>
              <a:rPr lang="fr-FR" sz="2000" dirty="0"/>
              <a:t> si nécessaire, en ajustant les futurs travaux planifiés. </a:t>
            </a:r>
          </a:p>
          <a:p>
            <a:pPr algn="just"/>
            <a:r>
              <a:rPr lang="fr-FR" sz="2000" dirty="0" smtClean="0"/>
              <a:t> </a:t>
            </a:r>
            <a:r>
              <a:rPr lang="fr-FR" sz="2000" dirty="0"/>
              <a:t>Le Daily </a:t>
            </a:r>
            <a:r>
              <a:rPr lang="fr-FR" sz="2000" dirty="0" err="1"/>
              <a:t>Scrum</a:t>
            </a:r>
            <a:r>
              <a:rPr lang="fr-FR" sz="2000" dirty="0"/>
              <a:t> est un événement de 15 minutes, </a:t>
            </a:r>
            <a:r>
              <a:rPr lang="fr-FR" sz="2000" b="1" dirty="0"/>
              <a:t>pour les </a:t>
            </a:r>
            <a:r>
              <a:rPr lang="fr-FR" sz="2000" b="1" dirty="0" err="1"/>
              <a:t>Developers</a:t>
            </a:r>
            <a:r>
              <a:rPr lang="fr-FR" sz="2000" b="1" dirty="0"/>
              <a:t> de la </a:t>
            </a:r>
            <a:r>
              <a:rPr lang="fr-FR" sz="2000" b="1" dirty="0" err="1"/>
              <a:t>Scrum</a:t>
            </a:r>
            <a:r>
              <a:rPr lang="fr-FR" sz="2000" b="1" dirty="0"/>
              <a:t> Team</a:t>
            </a:r>
            <a:r>
              <a:rPr lang="fr-FR" sz="2000" dirty="0"/>
              <a:t>. Pour réduire la complexité, il est tenu à la même heure et au même lieu, chaque jour ouvré du Sprint. Si le Product </a:t>
            </a:r>
            <a:r>
              <a:rPr lang="fr-FR" sz="2000" dirty="0" err="1"/>
              <a:t>Owner</a:t>
            </a:r>
            <a:r>
              <a:rPr lang="fr-FR" sz="2000" dirty="0"/>
              <a:t> et / ou le </a:t>
            </a:r>
            <a:r>
              <a:rPr lang="fr-FR" sz="2000" dirty="0" err="1"/>
              <a:t>Scrum</a:t>
            </a:r>
            <a:r>
              <a:rPr lang="fr-FR" sz="2000" dirty="0"/>
              <a:t> Master travaillent activement sur des éléments du Sprint </a:t>
            </a:r>
            <a:r>
              <a:rPr lang="fr-FR" sz="2000" dirty="0" err="1"/>
              <a:t>Backlog</a:t>
            </a:r>
            <a:r>
              <a:rPr lang="fr-FR" sz="2000" dirty="0"/>
              <a:t>, ils participent en tant que </a:t>
            </a:r>
            <a:r>
              <a:rPr lang="fr-FR" sz="2000" dirty="0" err="1"/>
              <a:t>Developers</a:t>
            </a:r>
            <a:r>
              <a:rPr lang="fr-FR" sz="2000" dirty="0"/>
              <a:t>. Les </a:t>
            </a:r>
            <a:r>
              <a:rPr lang="fr-FR" sz="2000" dirty="0" err="1"/>
              <a:t>Developers</a:t>
            </a:r>
            <a:r>
              <a:rPr lang="fr-FR" sz="2000" dirty="0"/>
              <a:t> peuvent choisir la structure et les techniques qu’ils souhaitent, à condition que leur Daily </a:t>
            </a:r>
            <a:r>
              <a:rPr lang="fr-FR" sz="2000" dirty="0" err="1"/>
              <a:t>Scrum</a:t>
            </a:r>
            <a:r>
              <a:rPr lang="fr-FR" sz="2000" dirty="0"/>
              <a:t> se focalise sur la progression vers l'Objectif de Sprint et produise un plan d'action pour la prochaine journée de travail. Cela leur permet de se focaliser et d'améliorer l'autogestion. </a:t>
            </a:r>
            <a:endParaRPr lang="fr-FR" sz="2000" dirty="0" smtClean="0"/>
          </a:p>
          <a:p>
            <a:pPr algn="just"/>
            <a:r>
              <a:rPr lang="fr-FR" sz="2000" dirty="0" smtClean="0"/>
              <a:t>Les </a:t>
            </a:r>
            <a:r>
              <a:rPr lang="fr-FR" sz="2000" dirty="0"/>
              <a:t>Daily </a:t>
            </a:r>
            <a:r>
              <a:rPr lang="fr-FR" sz="2000" dirty="0" err="1"/>
              <a:t>Scrums</a:t>
            </a:r>
            <a:r>
              <a:rPr lang="fr-FR" sz="2000" dirty="0"/>
              <a:t> améliorent la communication, aident à identifier les obstacles, favorisent la prise de décision rapide et, par conséquent, éliminent la nécessité de faire d'autres réunions. Le Daily </a:t>
            </a:r>
            <a:r>
              <a:rPr lang="fr-FR" sz="2000" dirty="0" err="1"/>
              <a:t>Scrum</a:t>
            </a:r>
            <a:r>
              <a:rPr lang="fr-FR" sz="2000" dirty="0"/>
              <a:t> n'est pas le seul moment où les </a:t>
            </a:r>
            <a:r>
              <a:rPr lang="fr-FR" sz="2000" dirty="0" err="1"/>
              <a:t>Developers</a:t>
            </a:r>
            <a:r>
              <a:rPr lang="fr-FR" sz="2000" dirty="0"/>
              <a:t> sont autorisés à ajuster leur plan. Ils se réunissent souvent tout au long de la journée pour des discussions plus détaillées sur l’adaptation ou la </a:t>
            </a:r>
            <a:r>
              <a:rPr lang="fr-FR" sz="2000" dirty="0" err="1"/>
              <a:t>re</a:t>
            </a:r>
            <a:r>
              <a:rPr lang="fr-FR" sz="2000" dirty="0"/>
              <a:t>‐planification du reste du travail du </a:t>
            </a:r>
            <a:r>
              <a:rPr lang="fr-FR" sz="2000" dirty="0" smtClean="0"/>
              <a:t>Sprint.</a:t>
            </a:r>
            <a:endParaRPr lang="fr-FR" sz="2000" dirty="0"/>
          </a:p>
        </p:txBody>
      </p:sp>
    </p:spTree>
    <p:extLst>
      <p:ext uri="{BB962C8B-B14F-4D97-AF65-F5344CB8AC3E}">
        <p14:creationId xmlns:p14="http://schemas.microsoft.com/office/powerpoint/2010/main" val="7711092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28700" y="1166843"/>
            <a:ext cx="10115550" cy="4893647"/>
          </a:xfrm>
          <a:prstGeom prst="rect">
            <a:avLst/>
          </a:prstGeom>
        </p:spPr>
        <p:txBody>
          <a:bodyPr wrap="square">
            <a:spAutoFit/>
          </a:bodyPr>
          <a:lstStyle/>
          <a:p>
            <a:r>
              <a:rPr lang="fr-FR" sz="3600" dirty="0">
                <a:solidFill>
                  <a:srgbClr val="FF0000"/>
                </a:solidFill>
              </a:rPr>
              <a:t>Sprint </a:t>
            </a:r>
            <a:r>
              <a:rPr lang="fr-FR" sz="3600" dirty="0" err="1">
                <a:solidFill>
                  <a:srgbClr val="FF0000"/>
                </a:solidFill>
              </a:rPr>
              <a:t>Review</a:t>
            </a:r>
            <a:r>
              <a:rPr lang="fr-FR" sz="3600" dirty="0">
                <a:solidFill>
                  <a:srgbClr val="FF0000"/>
                </a:solidFill>
              </a:rPr>
              <a:t> </a:t>
            </a:r>
            <a:endParaRPr lang="fr-FR" sz="3600" dirty="0" smtClean="0">
              <a:solidFill>
                <a:srgbClr val="FF0000"/>
              </a:solidFill>
            </a:endParaRPr>
          </a:p>
          <a:p>
            <a:endParaRPr lang="fr-FR" sz="3600" dirty="0">
              <a:solidFill>
                <a:srgbClr val="FF0000"/>
              </a:solidFill>
            </a:endParaRPr>
          </a:p>
          <a:p>
            <a:r>
              <a:rPr lang="fr-FR" sz="2000" dirty="0" smtClean="0"/>
              <a:t>L'objectif </a:t>
            </a:r>
            <a:r>
              <a:rPr lang="fr-FR" sz="2000" dirty="0"/>
              <a:t>de la Sprint </a:t>
            </a:r>
            <a:r>
              <a:rPr lang="fr-FR" sz="2000" dirty="0" err="1"/>
              <a:t>Review</a:t>
            </a:r>
            <a:r>
              <a:rPr lang="fr-FR" sz="2000" dirty="0"/>
              <a:t> est d'inspecter le résultat du Sprint et de déterminer les adaptations futures. </a:t>
            </a:r>
            <a:endParaRPr lang="fr-FR" sz="2000" dirty="0" smtClean="0"/>
          </a:p>
          <a:p>
            <a:r>
              <a:rPr lang="fr-FR" sz="2000" dirty="0" smtClean="0"/>
              <a:t>La </a:t>
            </a:r>
            <a:r>
              <a:rPr lang="fr-FR" sz="2000" dirty="0" err="1"/>
              <a:t>Scrum</a:t>
            </a:r>
            <a:r>
              <a:rPr lang="fr-FR" sz="2000" dirty="0"/>
              <a:t> Team présente les résultats de son travail aux principales parties prenantes et les progressions vers l'Objectif de Produit sont discutées. Pendant l'événement, la </a:t>
            </a:r>
            <a:r>
              <a:rPr lang="fr-FR" sz="2000" dirty="0" err="1"/>
              <a:t>Scrum</a:t>
            </a:r>
            <a:r>
              <a:rPr lang="fr-FR" sz="2000" dirty="0"/>
              <a:t> Team et les parties prenantes passent en revue ce qui a été accompli durant le Sprint et ce qui a changé dans leur environnement. Sur la base de ces informations, les participants collaborent sur la marche à suivre et sur les décisions à prendre. Le Product </a:t>
            </a:r>
            <a:r>
              <a:rPr lang="fr-FR" sz="2000" dirty="0" err="1"/>
              <a:t>Backlog</a:t>
            </a:r>
            <a:r>
              <a:rPr lang="fr-FR" sz="2000" dirty="0"/>
              <a:t> peut également être ajusté pour répondre à de nouvelles opportunités. La Sprint </a:t>
            </a:r>
            <a:r>
              <a:rPr lang="fr-FR" sz="2000" dirty="0" err="1"/>
              <a:t>Review</a:t>
            </a:r>
            <a:r>
              <a:rPr lang="fr-FR" sz="2000" dirty="0"/>
              <a:t> est une session de travail et la </a:t>
            </a:r>
            <a:r>
              <a:rPr lang="fr-FR" sz="2000" dirty="0" err="1"/>
              <a:t>Scrum</a:t>
            </a:r>
            <a:r>
              <a:rPr lang="fr-FR" sz="2000" dirty="0"/>
              <a:t> Team doit éviter de la limiter à une session de présentation. </a:t>
            </a:r>
            <a:endParaRPr lang="fr-FR" sz="2000" dirty="0" smtClean="0"/>
          </a:p>
          <a:p>
            <a:r>
              <a:rPr lang="fr-FR" sz="2000" dirty="0" smtClean="0"/>
              <a:t>La </a:t>
            </a:r>
            <a:r>
              <a:rPr lang="fr-FR" sz="2000" dirty="0"/>
              <a:t>Sprint </a:t>
            </a:r>
            <a:r>
              <a:rPr lang="fr-FR" sz="2000" dirty="0" err="1"/>
              <a:t>Review</a:t>
            </a:r>
            <a:r>
              <a:rPr lang="fr-FR" sz="2000" dirty="0"/>
              <a:t> est l'avant‐dernier événement du Sprint et se limite dans le temps à un maximum de quatre heures pour un Sprint d'un mois. Pour les Sprints plus courts, l'événement est généralement plus court</a:t>
            </a:r>
          </a:p>
        </p:txBody>
      </p:sp>
    </p:spTree>
    <p:extLst>
      <p:ext uri="{BB962C8B-B14F-4D97-AF65-F5344CB8AC3E}">
        <p14:creationId xmlns:p14="http://schemas.microsoft.com/office/powerpoint/2010/main" val="32943434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23925" y="889844"/>
            <a:ext cx="10572750" cy="4893647"/>
          </a:xfrm>
          <a:prstGeom prst="rect">
            <a:avLst/>
          </a:prstGeom>
        </p:spPr>
        <p:txBody>
          <a:bodyPr wrap="square">
            <a:spAutoFit/>
          </a:bodyPr>
          <a:lstStyle/>
          <a:p>
            <a:r>
              <a:rPr lang="fr-FR" sz="3600" dirty="0">
                <a:solidFill>
                  <a:srgbClr val="FF0000"/>
                </a:solidFill>
              </a:rPr>
              <a:t>Sprint </a:t>
            </a:r>
            <a:r>
              <a:rPr lang="fr-FR" sz="3600" dirty="0" err="1">
                <a:solidFill>
                  <a:srgbClr val="FF0000"/>
                </a:solidFill>
              </a:rPr>
              <a:t>Retrospective</a:t>
            </a:r>
            <a:r>
              <a:rPr lang="fr-FR" sz="3600" dirty="0">
                <a:solidFill>
                  <a:srgbClr val="FF0000"/>
                </a:solidFill>
              </a:rPr>
              <a:t> </a:t>
            </a:r>
            <a:endParaRPr lang="fr-FR" sz="3600" dirty="0" smtClean="0">
              <a:solidFill>
                <a:srgbClr val="FF0000"/>
              </a:solidFill>
            </a:endParaRPr>
          </a:p>
          <a:p>
            <a:endParaRPr lang="fr-FR" sz="3600" dirty="0">
              <a:solidFill>
                <a:srgbClr val="FF0000"/>
              </a:solidFill>
            </a:endParaRPr>
          </a:p>
          <a:p>
            <a:pPr algn="just"/>
            <a:r>
              <a:rPr lang="fr-FR" sz="2000" dirty="0" smtClean="0"/>
              <a:t>L'objectif </a:t>
            </a:r>
            <a:r>
              <a:rPr lang="fr-FR" sz="2000" dirty="0"/>
              <a:t>de la Sprint </a:t>
            </a:r>
            <a:r>
              <a:rPr lang="fr-FR" sz="2000" dirty="0" err="1"/>
              <a:t>Retrospective</a:t>
            </a:r>
            <a:r>
              <a:rPr lang="fr-FR" sz="2000" dirty="0"/>
              <a:t> consiste à réfléchir à des pistes pour améliorer la qualité et l'efficacité. </a:t>
            </a:r>
            <a:endParaRPr lang="fr-FR" sz="2000" dirty="0" smtClean="0"/>
          </a:p>
          <a:p>
            <a:pPr algn="just"/>
            <a:r>
              <a:rPr lang="fr-FR" sz="2000" dirty="0" smtClean="0"/>
              <a:t>La </a:t>
            </a:r>
            <a:r>
              <a:rPr lang="fr-FR" sz="2000" dirty="0" err="1"/>
              <a:t>Scrum</a:t>
            </a:r>
            <a:r>
              <a:rPr lang="fr-FR" sz="2000" dirty="0"/>
              <a:t> Team inspecte le déroulement du dernier Sprint en ce qui concerne </a:t>
            </a:r>
            <a:r>
              <a:rPr lang="fr-FR" sz="2000" dirty="0" smtClean="0"/>
              <a:t>les individus</a:t>
            </a:r>
            <a:r>
              <a:rPr lang="fr-FR" sz="2000" dirty="0"/>
              <a:t>, </a:t>
            </a:r>
            <a:r>
              <a:rPr lang="fr-FR" sz="2000" dirty="0" smtClean="0"/>
              <a:t>les interactions</a:t>
            </a:r>
            <a:r>
              <a:rPr lang="fr-FR" sz="2000" dirty="0"/>
              <a:t>, les processus, les outils et leur </a:t>
            </a:r>
            <a:r>
              <a:rPr lang="fr-FR" sz="2000" dirty="0" err="1"/>
              <a:t>Definition</a:t>
            </a:r>
            <a:r>
              <a:rPr lang="fr-FR" sz="2000" dirty="0"/>
              <a:t> of </a:t>
            </a:r>
            <a:r>
              <a:rPr lang="fr-FR" sz="2000" dirty="0" err="1"/>
              <a:t>Done</a:t>
            </a:r>
            <a:r>
              <a:rPr lang="fr-FR" sz="2000" dirty="0"/>
              <a:t>. Les éléments inspectés varient souvent selon le domaine d’activité. Les hypothèses qui les ont fait dévier sont identifiées et leurs origines explorées. La </a:t>
            </a:r>
            <a:r>
              <a:rPr lang="fr-FR" sz="2000" dirty="0" err="1"/>
              <a:t>Scrum</a:t>
            </a:r>
            <a:r>
              <a:rPr lang="fr-FR" sz="2000" dirty="0"/>
              <a:t> Team discute de ce qui s'est bien passé durant le Sprint, des problèmes rencontrés et de la manière dont ces problèmes ont été (ou n'ont pas été) résolus. </a:t>
            </a:r>
            <a:endParaRPr lang="fr-FR" sz="2000" dirty="0" smtClean="0"/>
          </a:p>
          <a:p>
            <a:pPr algn="just"/>
            <a:r>
              <a:rPr lang="fr-FR" sz="2000" dirty="0" smtClean="0"/>
              <a:t>La </a:t>
            </a:r>
            <a:r>
              <a:rPr lang="fr-FR" sz="2000" dirty="0" err="1"/>
              <a:t>Scrum</a:t>
            </a:r>
            <a:r>
              <a:rPr lang="fr-FR" sz="2000" dirty="0"/>
              <a:t> Team identifie les changements les plus utiles pour améliorer son efficacité. Les améliorations ayant le plus </a:t>
            </a:r>
            <a:r>
              <a:rPr lang="fr-FR" sz="2000" dirty="0" smtClean="0"/>
              <a:t>d'impact sont </a:t>
            </a:r>
            <a:r>
              <a:rPr lang="fr-FR" sz="2000" dirty="0"/>
              <a:t>abordées dès que possible. Elles peuvent même être ajoutées au Sprint </a:t>
            </a:r>
            <a:r>
              <a:rPr lang="fr-FR" sz="2000" dirty="0" err="1"/>
              <a:t>Backlog</a:t>
            </a:r>
            <a:r>
              <a:rPr lang="fr-FR" sz="2000" dirty="0"/>
              <a:t> pour le prochain Sprint. </a:t>
            </a:r>
            <a:r>
              <a:rPr lang="fr-FR" sz="2000" b="1" dirty="0"/>
              <a:t>La Sprint </a:t>
            </a:r>
            <a:r>
              <a:rPr lang="fr-FR" sz="2000" b="1" dirty="0" err="1"/>
              <a:t>Retrospective</a:t>
            </a:r>
            <a:r>
              <a:rPr lang="fr-FR" sz="2000" b="1" dirty="0"/>
              <a:t> conclut le Sprint</a:t>
            </a:r>
            <a:r>
              <a:rPr lang="fr-FR" sz="2000" dirty="0"/>
              <a:t>. Elle est limitée dans le temps à un </a:t>
            </a:r>
            <a:r>
              <a:rPr lang="fr-FR" sz="2000" b="1" dirty="0"/>
              <a:t>maximum de trois heures pour un Sprint d'un mois</a:t>
            </a:r>
            <a:r>
              <a:rPr lang="fr-FR" sz="2000" dirty="0"/>
              <a:t>. Pour les Sprints plus courts, l'événement est généralement plus court. </a:t>
            </a:r>
          </a:p>
        </p:txBody>
      </p:sp>
    </p:spTree>
    <p:extLst>
      <p:ext uri="{BB962C8B-B14F-4D97-AF65-F5344CB8AC3E}">
        <p14:creationId xmlns:p14="http://schemas.microsoft.com/office/powerpoint/2010/main" val="34279450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76325" y="1139815"/>
            <a:ext cx="10039350" cy="4616648"/>
          </a:xfrm>
          <a:prstGeom prst="rect">
            <a:avLst/>
          </a:prstGeom>
        </p:spPr>
        <p:txBody>
          <a:bodyPr wrap="square">
            <a:spAutoFit/>
          </a:bodyPr>
          <a:lstStyle/>
          <a:p>
            <a:r>
              <a:rPr lang="fr-FR" sz="3600" b="1" dirty="0">
                <a:solidFill>
                  <a:srgbClr val="FF0000"/>
                </a:solidFill>
              </a:rPr>
              <a:t>Les Artefacts de </a:t>
            </a:r>
            <a:r>
              <a:rPr lang="fr-FR" sz="3600" b="1" dirty="0" err="1">
                <a:solidFill>
                  <a:srgbClr val="FF0000"/>
                </a:solidFill>
              </a:rPr>
              <a:t>Scrum</a:t>
            </a:r>
            <a:r>
              <a:rPr lang="fr-FR" sz="3600" b="1" dirty="0">
                <a:solidFill>
                  <a:srgbClr val="FF0000"/>
                </a:solidFill>
              </a:rPr>
              <a:t> </a:t>
            </a:r>
            <a:endParaRPr lang="fr-FR" sz="3600" b="1" dirty="0" smtClean="0">
              <a:solidFill>
                <a:srgbClr val="FF0000"/>
              </a:solidFill>
            </a:endParaRPr>
          </a:p>
          <a:p>
            <a:endParaRPr lang="fr-FR" dirty="0"/>
          </a:p>
          <a:p>
            <a:r>
              <a:rPr lang="fr-FR" sz="2000" dirty="0" smtClean="0"/>
              <a:t>Les </a:t>
            </a:r>
            <a:r>
              <a:rPr lang="fr-FR" sz="2000" dirty="0"/>
              <a:t>artefacts de </a:t>
            </a:r>
            <a:r>
              <a:rPr lang="fr-FR" sz="2000" dirty="0" err="1"/>
              <a:t>Scrum</a:t>
            </a:r>
            <a:r>
              <a:rPr lang="fr-FR" sz="2000" dirty="0"/>
              <a:t> représentent un travail ou une valeur. </a:t>
            </a:r>
            <a:endParaRPr lang="fr-FR" sz="2000" dirty="0" smtClean="0"/>
          </a:p>
          <a:p>
            <a:endParaRPr lang="fr-FR" sz="2000" dirty="0"/>
          </a:p>
          <a:p>
            <a:pPr algn="just"/>
            <a:r>
              <a:rPr lang="fr-FR" sz="2000" dirty="0" smtClean="0"/>
              <a:t>Ils </a:t>
            </a:r>
            <a:r>
              <a:rPr lang="fr-FR" sz="2000" dirty="0"/>
              <a:t>sont conçus pour maximiser la transparence des informations clés. Ainsi, tous ceux qui les inspectent ont la même base d'adaptation. </a:t>
            </a:r>
            <a:endParaRPr lang="fr-FR" sz="2000" dirty="0" smtClean="0"/>
          </a:p>
          <a:p>
            <a:pPr algn="just"/>
            <a:r>
              <a:rPr lang="fr-FR" sz="2000" dirty="0" smtClean="0">
                <a:solidFill>
                  <a:srgbClr val="00B050"/>
                </a:solidFill>
              </a:rPr>
              <a:t>Chaque </a:t>
            </a:r>
            <a:r>
              <a:rPr lang="fr-FR" sz="2000" dirty="0">
                <a:solidFill>
                  <a:srgbClr val="00B050"/>
                </a:solidFill>
              </a:rPr>
              <a:t>artefact contient </a:t>
            </a:r>
            <a:r>
              <a:rPr lang="fr-FR" sz="2000" b="1" u="sng" dirty="0">
                <a:solidFill>
                  <a:srgbClr val="00B050"/>
                </a:solidFill>
              </a:rPr>
              <a:t>un engagement </a:t>
            </a:r>
            <a:r>
              <a:rPr lang="fr-FR" sz="2000" dirty="0">
                <a:solidFill>
                  <a:srgbClr val="00B050"/>
                </a:solidFill>
              </a:rPr>
              <a:t>qui apporte l’information nécessaire à la transparence et au focus rendant possible la mesure de la progression </a:t>
            </a:r>
            <a:r>
              <a:rPr lang="fr-FR" sz="2000" dirty="0" smtClean="0">
                <a:solidFill>
                  <a:srgbClr val="00B050"/>
                </a:solidFill>
              </a:rPr>
              <a:t>:</a:t>
            </a:r>
          </a:p>
          <a:p>
            <a:pPr algn="just"/>
            <a:r>
              <a:rPr lang="fr-FR" sz="2000" dirty="0" smtClean="0"/>
              <a:t>● </a:t>
            </a:r>
            <a:r>
              <a:rPr lang="fr-FR" sz="2000" dirty="0"/>
              <a:t>Pour le Product </a:t>
            </a:r>
            <a:r>
              <a:rPr lang="fr-FR" sz="2000" dirty="0" err="1"/>
              <a:t>Backlog</a:t>
            </a:r>
            <a:r>
              <a:rPr lang="fr-FR" sz="2000" dirty="0"/>
              <a:t>, il s'agit de l'Objectif de Produit. </a:t>
            </a:r>
            <a:endParaRPr lang="fr-FR" sz="2000" dirty="0" smtClean="0"/>
          </a:p>
          <a:p>
            <a:pPr algn="just"/>
            <a:r>
              <a:rPr lang="fr-FR" sz="2000" dirty="0" smtClean="0"/>
              <a:t>● </a:t>
            </a:r>
            <a:r>
              <a:rPr lang="fr-FR" sz="2000" dirty="0"/>
              <a:t>Pour le Sprint </a:t>
            </a:r>
            <a:r>
              <a:rPr lang="fr-FR" sz="2000" dirty="0" err="1"/>
              <a:t>Backlog</a:t>
            </a:r>
            <a:r>
              <a:rPr lang="fr-FR" sz="2000" dirty="0"/>
              <a:t>, c'est l'Objectif de Sprint. </a:t>
            </a:r>
            <a:endParaRPr lang="fr-FR" sz="2000" dirty="0" smtClean="0"/>
          </a:p>
          <a:p>
            <a:pPr algn="just"/>
            <a:r>
              <a:rPr lang="fr-FR" sz="2000" dirty="0" smtClean="0"/>
              <a:t>● </a:t>
            </a:r>
            <a:r>
              <a:rPr lang="fr-FR" sz="2000" dirty="0"/>
              <a:t>Pour l'</a:t>
            </a:r>
            <a:r>
              <a:rPr lang="fr-FR" sz="2000" dirty="0" err="1"/>
              <a:t>Increment</a:t>
            </a:r>
            <a:r>
              <a:rPr lang="fr-FR" sz="2000" dirty="0"/>
              <a:t>, c'est la </a:t>
            </a:r>
            <a:r>
              <a:rPr lang="fr-FR" sz="2000" dirty="0" err="1"/>
              <a:t>Definition</a:t>
            </a:r>
            <a:r>
              <a:rPr lang="fr-FR" sz="2000" dirty="0"/>
              <a:t> of </a:t>
            </a:r>
            <a:r>
              <a:rPr lang="fr-FR" sz="2000" dirty="0" err="1"/>
              <a:t>Done</a:t>
            </a:r>
            <a:r>
              <a:rPr lang="fr-FR" sz="2000" dirty="0"/>
              <a:t> (définition de Fini</a:t>
            </a:r>
            <a:r>
              <a:rPr lang="fr-FR" sz="2000" dirty="0" smtClean="0"/>
              <a:t>).</a:t>
            </a:r>
          </a:p>
          <a:p>
            <a:pPr algn="just"/>
            <a:endParaRPr lang="fr-FR" sz="2000" dirty="0"/>
          </a:p>
          <a:p>
            <a:pPr algn="just"/>
            <a:r>
              <a:rPr lang="fr-FR" sz="2000" dirty="0" smtClean="0"/>
              <a:t> </a:t>
            </a:r>
            <a:r>
              <a:rPr lang="fr-FR" sz="2000" dirty="0"/>
              <a:t>Ces engagements existent pour renforcer l'empirisme et les valeurs </a:t>
            </a:r>
            <a:r>
              <a:rPr lang="fr-FR" sz="2000" dirty="0" err="1"/>
              <a:t>Scrum</a:t>
            </a:r>
            <a:r>
              <a:rPr lang="fr-FR" sz="2000" dirty="0"/>
              <a:t> au sein de la </a:t>
            </a:r>
            <a:r>
              <a:rPr lang="fr-FR" sz="2000" dirty="0" err="1"/>
              <a:t>Scrum</a:t>
            </a:r>
            <a:r>
              <a:rPr lang="fr-FR" sz="2000" dirty="0"/>
              <a:t> Team </a:t>
            </a:r>
            <a:r>
              <a:rPr lang="fr-FR" sz="2000" dirty="0" err="1"/>
              <a:t>etses</a:t>
            </a:r>
            <a:r>
              <a:rPr lang="fr-FR" sz="2000" dirty="0"/>
              <a:t> parties prenantes</a:t>
            </a:r>
          </a:p>
        </p:txBody>
      </p:sp>
    </p:spTree>
    <p:extLst>
      <p:ext uri="{BB962C8B-B14F-4D97-AF65-F5344CB8AC3E}">
        <p14:creationId xmlns:p14="http://schemas.microsoft.com/office/powerpoint/2010/main" val="36983359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7428" y="779001"/>
            <a:ext cx="10467975" cy="5878532"/>
          </a:xfrm>
          <a:prstGeom prst="rect">
            <a:avLst/>
          </a:prstGeom>
        </p:spPr>
        <p:txBody>
          <a:bodyPr wrap="square">
            <a:spAutoFit/>
          </a:bodyPr>
          <a:lstStyle/>
          <a:p>
            <a:pPr algn="just"/>
            <a:r>
              <a:rPr lang="fr-FR" sz="3600" dirty="0">
                <a:solidFill>
                  <a:srgbClr val="FF0000"/>
                </a:solidFill>
              </a:rPr>
              <a:t>Product </a:t>
            </a:r>
            <a:r>
              <a:rPr lang="fr-FR" sz="3600" dirty="0" err="1">
                <a:solidFill>
                  <a:srgbClr val="FF0000"/>
                </a:solidFill>
              </a:rPr>
              <a:t>Backlog</a:t>
            </a:r>
            <a:r>
              <a:rPr lang="fr-FR" sz="3600" dirty="0">
                <a:solidFill>
                  <a:srgbClr val="FF0000"/>
                </a:solidFill>
              </a:rPr>
              <a:t> </a:t>
            </a:r>
            <a:endParaRPr lang="fr-FR" sz="3600" dirty="0" smtClean="0">
              <a:solidFill>
                <a:srgbClr val="FF0000"/>
              </a:solidFill>
            </a:endParaRPr>
          </a:p>
          <a:p>
            <a:pPr algn="just"/>
            <a:r>
              <a:rPr lang="fr-FR" sz="2000" dirty="0" smtClean="0"/>
              <a:t>Le </a:t>
            </a:r>
            <a:r>
              <a:rPr lang="fr-FR" sz="2000" dirty="0"/>
              <a:t>Product </a:t>
            </a:r>
            <a:r>
              <a:rPr lang="fr-FR" sz="2000" dirty="0" err="1"/>
              <a:t>Backlog</a:t>
            </a:r>
            <a:r>
              <a:rPr lang="fr-FR" sz="2000" dirty="0"/>
              <a:t> est une liste ordonnée et émergente de ce qui est nécessaire pour améliorer le produit. C'est l’unique source du travail entrepris par la </a:t>
            </a:r>
            <a:r>
              <a:rPr lang="fr-FR" sz="2000" dirty="0" err="1"/>
              <a:t>Scrum</a:t>
            </a:r>
            <a:r>
              <a:rPr lang="fr-FR" sz="2000" dirty="0"/>
              <a:t> Team. Les éléments du Product </a:t>
            </a:r>
            <a:r>
              <a:rPr lang="fr-FR" sz="2000" dirty="0" err="1"/>
              <a:t>Backlog</a:t>
            </a:r>
            <a:r>
              <a:rPr lang="fr-FR" sz="2000" dirty="0"/>
              <a:t> qui sont susceptibles d’être réalisés dans un seul Sprint par la </a:t>
            </a:r>
            <a:r>
              <a:rPr lang="fr-FR" sz="2000" dirty="0" err="1"/>
              <a:t>Scrum</a:t>
            </a:r>
            <a:r>
              <a:rPr lang="fr-FR" sz="2000" dirty="0"/>
              <a:t> Team sont considérés comme prêts à être traités en Sprint Planning. Ils acquièrent généralement ce degré de transparence après avoir été affinés. L'affinement du Product </a:t>
            </a:r>
            <a:r>
              <a:rPr lang="fr-FR" sz="2000" dirty="0" err="1"/>
              <a:t>Backlog</a:t>
            </a:r>
            <a:r>
              <a:rPr lang="fr-FR" sz="2000" dirty="0"/>
              <a:t> consiste à décomposer et à définir davantage les éléments du </a:t>
            </a:r>
            <a:r>
              <a:rPr lang="fr-FR" sz="2000" dirty="0" err="1"/>
              <a:t>Backlog</a:t>
            </a:r>
            <a:r>
              <a:rPr lang="fr-FR" sz="2000" dirty="0"/>
              <a:t> en éléments plus fins et plus précis. Il s'agit d'une activité continue visant à ajouter des détails, tels qu'une description, un ordre et une taille. Les attributs varient souvent en fonction du domaine d’activité. Les </a:t>
            </a:r>
            <a:r>
              <a:rPr lang="fr-FR" sz="2000" dirty="0" err="1"/>
              <a:t>Developers</a:t>
            </a:r>
            <a:r>
              <a:rPr lang="fr-FR" sz="2000" dirty="0"/>
              <a:t> qui effectueront le </a:t>
            </a:r>
            <a:r>
              <a:rPr lang="fr-FR" sz="2000" dirty="0" err="1"/>
              <a:t>travailsont</a:t>
            </a:r>
            <a:r>
              <a:rPr lang="fr-FR" sz="2000" dirty="0"/>
              <a:t> responsables du dimensionnement. Le Product </a:t>
            </a:r>
            <a:r>
              <a:rPr lang="fr-FR" sz="2000" dirty="0" err="1"/>
              <a:t>Owner</a:t>
            </a:r>
            <a:r>
              <a:rPr lang="fr-FR" sz="2000" dirty="0"/>
              <a:t> peut influencer les </a:t>
            </a:r>
            <a:r>
              <a:rPr lang="fr-FR" sz="2000" dirty="0" err="1"/>
              <a:t>Developers</a:t>
            </a:r>
            <a:r>
              <a:rPr lang="fr-FR" sz="2000" dirty="0"/>
              <a:t> en clarifiant ses explications et les aider à trouver des compromis. </a:t>
            </a:r>
            <a:endParaRPr lang="fr-FR" sz="2000" dirty="0" smtClean="0"/>
          </a:p>
          <a:p>
            <a:pPr algn="just"/>
            <a:r>
              <a:rPr lang="fr-FR" sz="2000" b="1" dirty="0" smtClean="0">
                <a:solidFill>
                  <a:srgbClr val="00B050"/>
                </a:solidFill>
              </a:rPr>
              <a:t>Engagement </a:t>
            </a:r>
            <a:r>
              <a:rPr lang="fr-FR" sz="2000" dirty="0"/>
              <a:t>: </a:t>
            </a:r>
            <a:r>
              <a:rPr lang="fr-FR" sz="2000" b="1" dirty="0"/>
              <a:t>Objectif de Produit </a:t>
            </a:r>
            <a:r>
              <a:rPr lang="fr-FR" sz="2000" dirty="0"/>
              <a:t>L'Objectif de Produit décrit un état futur du produit qui peut servir de cible à la </a:t>
            </a:r>
            <a:r>
              <a:rPr lang="fr-FR" sz="2000" dirty="0" err="1"/>
              <a:t>Scrum</a:t>
            </a:r>
            <a:r>
              <a:rPr lang="fr-FR" sz="2000" dirty="0"/>
              <a:t> Team pour planifier. L'Objectif de Produit est dans le Product </a:t>
            </a:r>
            <a:r>
              <a:rPr lang="fr-FR" sz="2000" dirty="0" err="1"/>
              <a:t>Backlog</a:t>
            </a:r>
            <a:r>
              <a:rPr lang="fr-FR" sz="2000" dirty="0"/>
              <a:t>. Le reste du Product </a:t>
            </a:r>
            <a:r>
              <a:rPr lang="fr-FR" sz="2000" dirty="0" err="1"/>
              <a:t>Backlog</a:t>
            </a:r>
            <a:r>
              <a:rPr lang="fr-FR" sz="2000" dirty="0"/>
              <a:t> émerge pour définir « ce   qui » permettra d'atteindre l'Objectif de Produit. Un produit est un vecteur de valeur. Il a une limite claire, des parties prenantes connues, des utilisateurs ou des clients bien définis. Un produit peut être un service, un produit physique ou quelque chose plus abstrait. L'Objectif de Produit est l'objectif à long terme de la </a:t>
            </a:r>
            <a:r>
              <a:rPr lang="fr-FR" sz="2000" dirty="0" err="1"/>
              <a:t>Scrum</a:t>
            </a:r>
            <a:r>
              <a:rPr lang="fr-FR" sz="2000" dirty="0"/>
              <a:t> Team. Ils doivent atteindre (ou abandonner) un objectif avant de s'attaquer au suivant</a:t>
            </a:r>
          </a:p>
        </p:txBody>
      </p:sp>
    </p:spTree>
    <p:extLst>
      <p:ext uri="{BB962C8B-B14F-4D97-AF65-F5344CB8AC3E}">
        <p14:creationId xmlns:p14="http://schemas.microsoft.com/office/powerpoint/2010/main" val="6853846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3617" y="633710"/>
            <a:ext cx="11191875" cy="6124754"/>
          </a:xfrm>
          <a:prstGeom prst="rect">
            <a:avLst/>
          </a:prstGeom>
        </p:spPr>
        <p:txBody>
          <a:bodyPr wrap="square">
            <a:spAutoFit/>
          </a:bodyPr>
          <a:lstStyle/>
          <a:p>
            <a:r>
              <a:rPr lang="fr-FR" sz="3600" b="1" dirty="0">
                <a:solidFill>
                  <a:srgbClr val="FF0000"/>
                </a:solidFill>
              </a:rPr>
              <a:t>Sprint </a:t>
            </a:r>
            <a:r>
              <a:rPr lang="fr-FR" sz="3600" b="1" dirty="0" err="1">
                <a:solidFill>
                  <a:srgbClr val="FF0000"/>
                </a:solidFill>
              </a:rPr>
              <a:t>Backlog</a:t>
            </a:r>
            <a:r>
              <a:rPr lang="fr-FR" sz="3600" b="1" dirty="0">
                <a:solidFill>
                  <a:srgbClr val="FF0000"/>
                </a:solidFill>
              </a:rPr>
              <a:t> </a:t>
            </a:r>
            <a:endParaRPr lang="fr-FR" sz="3600" b="1" dirty="0" smtClean="0">
              <a:solidFill>
                <a:srgbClr val="FF0000"/>
              </a:solidFill>
            </a:endParaRPr>
          </a:p>
          <a:p>
            <a:endParaRPr lang="fr-FR" sz="3600" b="1" dirty="0">
              <a:solidFill>
                <a:srgbClr val="FF0000"/>
              </a:solidFill>
            </a:endParaRPr>
          </a:p>
          <a:p>
            <a:pPr algn="just"/>
            <a:r>
              <a:rPr lang="fr-FR" sz="2000" dirty="0" smtClean="0"/>
              <a:t>Le </a:t>
            </a:r>
            <a:r>
              <a:rPr lang="fr-FR" sz="2000" dirty="0"/>
              <a:t>Sprint </a:t>
            </a:r>
            <a:r>
              <a:rPr lang="fr-FR" sz="2000" dirty="0" err="1"/>
              <a:t>Backlog</a:t>
            </a:r>
            <a:r>
              <a:rPr lang="fr-FR" sz="2000" dirty="0"/>
              <a:t> est composé de l'Objectif de Sprint (le « pourquoi »), de l'ensemble des éléments du Product </a:t>
            </a:r>
            <a:r>
              <a:rPr lang="fr-FR" sz="2000" dirty="0" err="1"/>
              <a:t>Backlog</a:t>
            </a:r>
            <a:r>
              <a:rPr lang="fr-FR" sz="2000" dirty="0"/>
              <a:t> choisis pour le Sprint (le « quoi »), ainsi que d'un plan d'action pour la réalisation de l'</a:t>
            </a:r>
            <a:r>
              <a:rPr lang="fr-FR" sz="2000" dirty="0" err="1"/>
              <a:t>Increment</a:t>
            </a:r>
            <a:r>
              <a:rPr lang="fr-FR" sz="2000" dirty="0"/>
              <a:t> (le « comment »). </a:t>
            </a:r>
            <a:r>
              <a:rPr lang="fr-FR" sz="2000" dirty="0" smtClean="0"/>
              <a:t> </a:t>
            </a:r>
            <a:r>
              <a:rPr lang="fr-FR" sz="2000" dirty="0"/>
              <a:t>Le Sprint </a:t>
            </a:r>
            <a:r>
              <a:rPr lang="fr-FR" sz="2000" dirty="0" err="1"/>
              <a:t>Backlog</a:t>
            </a:r>
            <a:r>
              <a:rPr lang="fr-FR" sz="2000" dirty="0"/>
              <a:t> est un plan élaboré par et pour les </a:t>
            </a:r>
            <a:r>
              <a:rPr lang="fr-FR" sz="2000" dirty="0" err="1"/>
              <a:t>Developers</a:t>
            </a:r>
            <a:r>
              <a:rPr lang="fr-FR" sz="2000" dirty="0"/>
              <a:t>. Il s'agit d'une image très visible et en temps réel du travail que les </a:t>
            </a:r>
            <a:r>
              <a:rPr lang="fr-FR" sz="2000" dirty="0" err="1"/>
              <a:t>Developers</a:t>
            </a:r>
            <a:r>
              <a:rPr lang="fr-FR" sz="2000" dirty="0"/>
              <a:t> prévoient d'accomplir durant le Sprint afin d'atteindre l'Objectif de Sprint. Par conséquent, le Sprint </a:t>
            </a:r>
            <a:r>
              <a:rPr lang="fr-FR" sz="2000" dirty="0" err="1"/>
              <a:t>Backlog</a:t>
            </a:r>
            <a:r>
              <a:rPr lang="fr-FR" sz="2000" dirty="0"/>
              <a:t> est mis à </a:t>
            </a:r>
            <a:r>
              <a:rPr lang="fr-FR" sz="2000" dirty="0" err="1"/>
              <a:t>jourtout</a:t>
            </a:r>
            <a:r>
              <a:rPr lang="fr-FR" sz="2000" dirty="0"/>
              <a:t> au long du </a:t>
            </a:r>
            <a:r>
              <a:rPr lang="fr-FR" sz="2000" dirty="0" err="1"/>
              <a:t>Sprintselon</a:t>
            </a:r>
            <a:r>
              <a:rPr lang="fr-FR" sz="2000" dirty="0"/>
              <a:t> ce qu'on en apprend. Il devrait être suffisamment détaillé pour que les </a:t>
            </a:r>
            <a:r>
              <a:rPr lang="fr-FR" sz="2000" dirty="0" err="1"/>
              <a:t>Developers</a:t>
            </a:r>
            <a:r>
              <a:rPr lang="fr-FR" sz="2000" dirty="0"/>
              <a:t> puissent inspecter leur progression durant le Daily </a:t>
            </a:r>
            <a:r>
              <a:rPr lang="fr-FR" sz="2000" dirty="0" err="1"/>
              <a:t>Scrum</a:t>
            </a:r>
            <a:r>
              <a:rPr lang="fr-FR" sz="2000" dirty="0"/>
              <a:t>. </a:t>
            </a:r>
            <a:endParaRPr lang="fr-FR" sz="2000" dirty="0" smtClean="0"/>
          </a:p>
          <a:p>
            <a:pPr algn="just"/>
            <a:endParaRPr lang="fr-FR" sz="2000" b="1" dirty="0">
              <a:solidFill>
                <a:srgbClr val="00B050"/>
              </a:solidFill>
            </a:endParaRPr>
          </a:p>
          <a:p>
            <a:pPr algn="just"/>
            <a:r>
              <a:rPr lang="fr-FR" sz="2000" b="1" dirty="0" smtClean="0">
                <a:solidFill>
                  <a:srgbClr val="00B050"/>
                </a:solidFill>
              </a:rPr>
              <a:t>Engagement </a:t>
            </a:r>
            <a:r>
              <a:rPr lang="fr-FR" sz="2000" dirty="0"/>
              <a:t>: </a:t>
            </a:r>
            <a:r>
              <a:rPr lang="fr-FR" sz="2000" b="1" dirty="0"/>
              <a:t>Objectif de Sprint </a:t>
            </a:r>
            <a:r>
              <a:rPr lang="fr-FR" sz="2000" dirty="0"/>
              <a:t>L'Objectif de Sprint est l’unique but du Sprint. Bien que l'Objectif de Sprint soit un engagement fait par les </a:t>
            </a:r>
            <a:r>
              <a:rPr lang="fr-FR" sz="2000" dirty="0" err="1"/>
              <a:t>Developers</a:t>
            </a:r>
            <a:r>
              <a:rPr lang="fr-FR" sz="2000" dirty="0"/>
              <a:t>, il offre une certaine flexibilité en termes de travail nécessaire pour atteindre cet objectif. L'Objectif de Sprint crée également de la cohérence et du focus, tout en encourageant la </a:t>
            </a:r>
            <a:r>
              <a:rPr lang="fr-FR" sz="2000" dirty="0" err="1"/>
              <a:t>Scrum</a:t>
            </a:r>
            <a:r>
              <a:rPr lang="fr-FR" sz="2000" dirty="0"/>
              <a:t> Team à travailler ensemble plutôt que sur des initiatives séparées. L'Objectif de Sprint est créé pendant l'événement de Sprint Planning, puis ajouté au Sprint </a:t>
            </a:r>
            <a:r>
              <a:rPr lang="fr-FR" sz="2000" dirty="0" err="1"/>
              <a:t>Backlog</a:t>
            </a:r>
            <a:r>
              <a:rPr lang="fr-FR" sz="2000" dirty="0"/>
              <a:t>. Lorsque les </a:t>
            </a:r>
            <a:r>
              <a:rPr lang="fr-FR" sz="2000" dirty="0" err="1"/>
              <a:t>Developers</a:t>
            </a:r>
            <a:r>
              <a:rPr lang="fr-FR" sz="2000" dirty="0"/>
              <a:t> travaillent pendant le Sprint, ils gardent l'Objectif de Sprint à l'esprit. Si le travail s'avère être différent de ce à quoi ils s'attendaient, ils collaborent avec le Product </a:t>
            </a:r>
            <a:r>
              <a:rPr lang="fr-FR" sz="2000" dirty="0" err="1"/>
              <a:t>Owner</a:t>
            </a:r>
            <a:r>
              <a:rPr lang="fr-FR" sz="2000" dirty="0"/>
              <a:t> pour négocier le périmètre du Sprint </a:t>
            </a:r>
            <a:r>
              <a:rPr lang="fr-FR" sz="2000" dirty="0" err="1"/>
              <a:t>Backlog</a:t>
            </a:r>
            <a:r>
              <a:rPr lang="fr-FR" sz="2000" dirty="0"/>
              <a:t> dans le cadre de ce Sprint, sans que cela n’affecte l'Objectif de Sprint</a:t>
            </a:r>
          </a:p>
        </p:txBody>
      </p:sp>
      <p:sp>
        <p:nvSpPr>
          <p:cNvPr id="3" name="Rectangle 2"/>
          <p:cNvSpPr/>
          <p:nvPr/>
        </p:nvSpPr>
        <p:spPr>
          <a:xfrm>
            <a:off x="4743450" y="633710"/>
            <a:ext cx="6096000" cy="1015663"/>
          </a:xfrm>
          <a:prstGeom prst="rect">
            <a:avLst/>
          </a:prstGeom>
        </p:spPr>
        <p:txBody>
          <a:bodyPr>
            <a:spAutoFit/>
          </a:bodyPr>
          <a:lstStyle/>
          <a:p>
            <a:r>
              <a:rPr lang="fr-FR" dirty="0">
                <a:solidFill>
                  <a:srgbClr val="00B0F0"/>
                </a:solidFill>
              </a:rPr>
              <a:t>L'Objectif de Sprint, les éléments du Product </a:t>
            </a:r>
            <a:r>
              <a:rPr lang="fr-FR" dirty="0" err="1">
                <a:solidFill>
                  <a:srgbClr val="00B0F0"/>
                </a:solidFill>
              </a:rPr>
              <a:t>Backlog</a:t>
            </a:r>
            <a:r>
              <a:rPr lang="fr-FR" dirty="0">
                <a:solidFill>
                  <a:srgbClr val="00B0F0"/>
                </a:solidFill>
              </a:rPr>
              <a:t> sélectionnés pour le Sprint, ainsi que le plan pour les livrer, correspondent à un ensemble appelé </a:t>
            </a:r>
            <a:r>
              <a:rPr lang="fr-FR" sz="2400" dirty="0">
                <a:solidFill>
                  <a:srgbClr val="00B0F0"/>
                </a:solidFill>
              </a:rPr>
              <a:t>le Sprint </a:t>
            </a:r>
            <a:r>
              <a:rPr lang="fr-FR" sz="2400" dirty="0" err="1">
                <a:solidFill>
                  <a:srgbClr val="00B0F0"/>
                </a:solidFill>
              </a:rPr>
              <a:t>Backlog</a:t>
            </a:r>
            <a:endParaRPr lang="fr-FR" sz="2400" dirty="0">
              <a:solidFill>
                <a:srgbClr val="00B0F0"/>
              </a:solidFill>
            </a:endParaRPr>
          </a:p>
        </p:txBody>
      </p:sp>
    </p:spTree>
    <p:extLst>
      <p:ext uri="{BB962C8B-B14F-4D97-AF65-F5344CB8AC3E}">
        <p14:creationId xmlns:p14="http://schemas.microsoft.com/office/powerpoint/2010/main" val="323631501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27139" y="167623"/>
            <a:ext cx="11210925" cy="6801862"/>
          </a:xfrm>
          <a:prstGeom prst="rect">
            <a:avLst/>
          </a:prstGeom>
        </p:spPr>
        <p:txBody>
          <a:bodyPr wrap="square">
            <a:spAutoFit/>
          </a:bodyPr>
          <a:lstStyle/>
          <a:p>
            <a:r>
              <a:rPr lang="fr-FR" sz="3600" dirty="0" err="1">
                <a:solidFill>
                  <a:srgbClr val="FF0000"/>
                </a:solidFill>
              </a:rPr>
              <a:t>Increment</a:t>
            </a:r>
            <a:r>
              <a:rPr lang="fr-FR" sz="3600" dirty="0">
                <a:solidFill>
                  <a:srgbClr val="FF0000"/>
                </a:solidFill>
              </a:rPr>
              <a:t>  </a:t>
            </a:r>
            <a:r>
              <a:rPr lang="fr-FR" sz="2000" dirty="0" smtClean="0"/>
              <a:t>Un </a:t>
            </a:r>
            <a:r>
              <a:rPr lang="fr-FR" sz="2000" dirty="0" err="1"/>
              <a:t>Increment</a:t>
            </a:r>
            <a:r>
              <a:rPr lang="fr-FR" sz="2000" dirty="0"/>
              <a:t> est une première étape concrète vers l'Objectif de Produit. Chaque </a:t>
            </a:r>
            <a:r>
              <a:rPr lang="fr-FR" sz="2000" dirty="0" err="1"/>
              <a:t>Increment</a:t>
            </a:r>
            <a:r>
              <a:rPr lang="fr-FR" sz="2000" dirty="0"/>
              <a:t> s'ajoute à tous les </a:t>
            </a:r>
            <a:r>
              <a:rPr lang="fr-FR" sz="2000" dirty="0" err="1"/>
              <a:t>Increments</a:t>
            </a:r>
            <a:r>
              <a:rPr lang="fr-FR" sz="2000" dirty="0"/>
              <a:t> précédents et fait l'objet d'une vérification approfondie, ce qui garantit que tous les </a:t>
            </a:r>
            <a:r>
              <a:rPr lang="fr-FR" sz="2000" dirty="0" err="1"/>
              <a:t>Increments</a:t>
            </a:r>
            <a:r>
              <a:rPr lang="fr-FR" sz="2000" dirty="0"/>
              <a:t> fonctionnent ensemble. Afin de fournir une valeur, l'</a:t>
            </a:r>
            <a:r>
              <a:rPr lang="fr-FR" sz="2000" dirty="0" err="1"/>
              <a:t>Increment</a:t>
            </a:r>
            <a:r>
              <a:rPr lang="fr-FR" sz="2000" dirty="0"/>
              <a:t> doit être utilisable. Plusieurs </a:t>
            </a:r>
            <a:r>
              <a:rPr lang="fr-FR" sz="2000" dirty="0" err="1"/>
              <a:t>Increments</a:t>
            </a:r>
            <a:r>
              <a:rPr lang="fr-FR" sz="2000" dirty="0"/>
              <a:t> peuvent être créés durant un Sprint. La somme des </a:t>
            </a:r>
            <a:r>
              <a:rPr lang="fr-FR" sz="2000" dirty="0" err="1"/>
              <a:t>Increments</a:t>
            </a:r>
            <a:r>
              <a:rPr lang="fr-FR" sz="2000" dirty="0"/>
              <a:t> est présentée lors de la Sprint </a:t>
            </a:r>
            <a:r>
              <a:rPr lang="fr-FR" sz="2000" dirty="0" err="1"/>
              <a:t>Review</a:t>
            </a:r>
            <a:r>
              <a:rPr lang="fr-FR" sz="2000" dirty="0"/>
              <a:t>, ce qui permet de démontrer l’utilité de l'empirisme. Toutefois, un </a:t>
            </a:r>
            <a:r>
              <a:rPr lang="fr-FR" sz="2000" dirty="0" err="1"/>
              <a:t>Increment</a:t>
            </a:r>
            <a:r>
              <a:rPr lang="fr-FR" sz="2000" dirty="0"/>
              <a:t> peut être livré aux parties prenantes avant la fin du Sprint. La Sprint </a:t>
            </a:r>
            <a:r>
              <a:rPr lang="fr-FR" sz="2000" dirty="0" err="1"/>
              <a:t>Review</a:t>
            </a:r>
            <a:r>
              <a:rPr lang="fr-FR" sz="2000" dirty="0"/>
              <a:t> ne doit jamais être considérée comme le seul moment pour délivrer de la valeur. Un travail qui ne remplirait pas les conditions de la </a:t>
            </a:r>
            <a:r>
              <a:rPr lang="fr-FR" sz="2000" dirty="0" err="1"/>
              <a:t>Definition</a:t>
            </a:r>
            <a:r>
              <a:rPr lang="fr-FR" sz="2000" dirty="0"/>
              <a:t> of </a:t>
            </a:r>
            <a:r>
              <a:rPr lang="fr-FR" sz="2000" dirty="0" err="1"/>
              <a:t>Done</a:t>
            </a:r>
            <a:r>
              <a:rPr lang="fr-FR" sz="2000" dirty="0"/>
              <a:t> ne peut pas être considéré comme un </a:t>
            </a:r>
            <a:r>
              <a:rPr lang="fr-FR" sz="2000" dirty="0" err="1"/>
              <a:t>Increment</a:t>
            </a:r>
            <a:r>
              <a:rPr lang="fr-FR" sz="2000" dirty="0"/>
              <a:t>. </a:t>
            </a:r>
            <a:endParaRPr lang="fr-FR" sz="2000" dirty="0" smtClean="0"/>
          </a:p>
          <a:p>
            <a:pPr algn="just"/>
            <a:endParaRPr lang="fr-FR" sz="2000" dirty="0"/>
          </a:p>
          <a:p>
            <a:pPr algn="just"/>
            <a:r>
              <a:rPr lang="fr-FR" sz="2000" b="1" dirty="0" smtClean="0">
                <a:solidFill>
                  <a:srgbClr val="00B050"/>
                </a:solidFill>
              </a:rPr>
              <a:t>Engagement</a:t>
            </a:r>
            <a:r>
              <a:rPr lang="fr-FR" sz="2000" b="1" dirty="0" smtClean="0"/>
              <a:t> </a:t>
            </a:r>
            <a:r>
              <a:rPr lang="fr-FR" sz="2000" b="1" dirty="0"/>
              <a:t>: </a:t>
            </a:r>
            <a:r>
              <a:rPr lang="fr-FR" sz="2000" b="1" dirty="0" err="1"/>
              <a:t>Definition</a:t>
            </a:r>
            <a:r>
              <a:rPr lang="fr-FR" sz="2000" b="1" dirty="0"/>
              <a:t> of </a:t>
            </a:r>
            <a:r>
              <a:rPr lang="fr-FR" sz="2000" b="1" dirty="0" err="1"/>
              <a:t>Done</a:t>
            </a:r>
            <a:r>
              <a:rPr lang="fr-FR" sz="2000" b="1" dirty="0"/>
              <a:t> </a:t>
            </a:r>
            <a:r>
              <a:rPr lang="fr-FR" sz="2000" dirty="0"/>
              <a:t>(Définition de Fini) La </a:t>
            </a:r>
            <a:r>
              <a:rPr lang="fr-FR" sz="2000" dirty="0" err="1"/>
              <a:t>Definition</a:t>
            </a:r>
            <a:r>
              <a:rPr lang="fr-FR" sz="2000" dirty="0"/>
              <a:t> of </a:t>
            </a:r>
            <a:r>
              <a:rPr lang="fr-FR" sz="2000" dirty="0" err="1"/>
              <a:t>Done</a:t>
            </a:r>
            <a:r>
              <a:rPr lang="fr-FR" sz="2000" dirty="0"/>
              <a:t> (Définition de Fini) est une description formelle de l'état de l'</a:t>
            </a:r>
            <a:r>
              <a:rPr lang="fr-FR" sz="2000" dirty="0" err="1"/>
              <a:t>Increment</a:t>
            </a:r>
            <a:r>
              <a:rPr lang="fr-FR" sz="2000" dirty="0"/>
              <a:t> lorsqu'il satisfait les mesures de qualité requises pour le produit. Dès qu’un élément du Product </a:t>
            </a:r>
            <a:r>
              <a:rPr lang="fr-FR" sz="2000" dirty="0" err="1"/>
              <a:t>Backlog</a:t>
            </a:r>
            <a:r>
              <a:rPr lang="fr-FR" sz="2000" dirty="0"/>
              <a:t> satisfait à la </a:t>
            </a:r>
            <a:r>
              <a:rPr lang="fr-FR" sz="2000" dirty="0" err="1"/>
              <a:t>Definition</a:t>
            </a:r>
            <a:r>
              <a:rPr lang="fr-FR" sz="2000" dirty="0"/>
              <a:t> of </a:t>
            </a:r>
            <a:r>
              <a:rPr lang="fr-FR" sz="2000" dirty="0" err="1"/>
              <a:t>Done</a:t>
            </a:r>
            <a:r>
              <a:rPr lang="fr-FR" sz="2000" dirty="0"/>
              <a:t>, il se transforme en </a:t>
            </a:r>
            <a:r>
              <a:rPr lang="fr-FR" sz="2000" dirty="0" err="1"/>
              <a:t>Increment</a:t>
            </a:r>
            <a:r>
              <a:rPr lang="fr-FR" sz="2000" dirty="0"/>
              <a:t>. La </a:t>
            </a:r>
            <a:r>
              <a:rPr lang="fr-FR" sz="2000" dirty="0" err="1"/>
              <a:t>Definition</a:t>
            </a:r>
            <a:r>
              <a:rPr lang="fr-FR" sz="2000" dirty="0"/>
              <a:t> of </a:t>
            </a:r>
            <a:r>
              <a:rPr lang="fr-FR" sz="2000" dirty="0" err="1"/>
              <a:t>Done</a:t>
            </a:r>
            <a:r>
              <a:rPr lang="fr-FR" sz="2000" dirty="0"/>
              <a:t> apporte de la transparence en permettant à chacun une compréhension commune du travail Fini dans le cadre de l'</a:t>
            </a:r>
            <a:r>
              <a:rPr lang="fr-FR" sz="2000" dirty="0" err="1"/>
              <a:t>Increment</a:t>
            </a:r>
            <a:r>
              <a:rPr lang="fr-FR" sz="2000" dirty="0"/>
              <a:t>. Si un élément du Product </a:t>
            </a:r>
            <a:r>
              <a:rPr lang="fr-FR" sz="2000" dirty="0" err="1"/>
              <a:t>Backlog</a:t>
            </a:r>
            <a:r>
              <a:rPr lang="fr-FR" sz="2000" dirty="0"/>
              <a:t> n’est pas conforme à la </a:t>
            </a:r>
            <a:r>
              <a:rPr lang="fr-FR" sz="2000" dirty="0" err="1"/>
              <a:t>Definition</a:t>
            </a:r>
            <a:r>
              <a:rPr lang="fr-FR" sz="2000" dirty="0"/>
              <a:t> of </a:t>
            </a:r>
            <a:r>
              <a:rPr lang="fr-FR" sz="2000" dirty="0" err="1"/>
              <a:t>Done</a:t>
            </a:r>
            <a:r>
              <a:rPr lang="fr-FR" sz="2000" dirty="0"/>
              <a:t>, il ne peut pas être publié ni même présenté lors de la Sprint </a:t>
            </a:r>
            <a:r>
              <a:rPr lang="fr-FR" sz="2000" dirty="0" err="1"/>
              <a:t>Review</a:t>
            </a:r>
            <a:r>
              <a:rPr lang="fr-FR" sz="2000" dirty="0"/>
              <a:t>. Il est </a:t>
            </a:r>
            <a:r>
              <a:rPr lang="fr-FR" sz="2000" dirty="0" err="1"/>
              <a:t>alorsrenvoyé</a:t>
            </a:r>
            <a:r>
              <a:rPr lang="fr-FR" sz="2000" dirty="0"/>
              <a:t> au Product </a:t>
            </a:r>
            <a:r>
              <a:rPr lang="fr-FR" sz="2000" dirty="0" err="1"/>
              <a:t>Backlog</a:t>
            </a:r>
            <a:r>
              <a:rPr lang="fr-FR" sz="2000" dirty="0"/>
              <a:t> pour être pris en compte ultérieurement. 13 Si la </a:t>
            </a:r>
            <a:r>
              <a:rPr lang="fr-FR" sz="2000" dirty="0" err="1"/>
              <a:t>Definition</a:t>
            </a:r>
            <a:r>
              <a:rPr lang="fr-FR" sz="2000" dirty="0"/>
              <a:t> of </a:t>
            </a:r>
            <a:r>
              <a:rPr lang="fr-FR" sz="2000" dirty="0" err="1"/>
              <a:t>Done</a:t>
            </a:r>
            <a:r>
              <a:rPr lang="fr-FR" sz="2000" dirty="0"/>
              <a:t> pour un </a:t>
            </a:r>
            <a:r>
              <a:rPr lang="fr-FR" sz="2000" dirty="0" err="1"/>
              <a:t>Increment</a:t>
            </a:r>
            <a:r>
              <a:rPr lang="fr-FR" sz="2000" dirty="0"/>
              <a:t> fait partie des standards de l'organisation, toutes les </a:t>
            </a:r>
            <a:r>
              <a:rPr lang="fr-FR" sz="2000" dirty="0" err="1"/>
              <a:t>Scrum</a:t>
            </a:r>
            <a:r>
              <a:rPr lang="fr-FR" sz="2000" dirty="0"/>
              <a:t> Teams doivent la suivre au minimum. Si cela ne fait pas partie des standards de l'organisation, la </a:t>
            </a:r>
            <a:r>
              <a:rPr lang="fr-FR" sz="2000" dirty="0" err="1"/>
              <a:t>Scrum</a:t>
            </a:r>
            <a:r>
              <a:rPr lang="fr-FR" sz="2000" dirty="0"/>
              <a:t> Team doit créer sa propre </a:t>
            </a:r>
            <a:r>
              <a:rPr lang="fr-FR" sz="2000" dirty="0" err="1"/>
              <a:t>Definition</a:t>
            </a:r>
            <a:r>
              <a:rPr lang="fr-FR" sz="2000" dirty="0"/>
              <a:t> of </a:t>
            </a:r>
            <a:r>
              <a:rPr lang="fr-FR" sz="2000" dirty="0" err="1"/>
              <a:t>Done</a:t>
            </a:r>
            <a:r>
              <a:rPr lang="fr-FR" sz="2000" dirty="0"/>
              <a:t> qui soit appropriée pour le produit. Les </a:t>
            </a:r>
            <a:r>
              <a:rPr lang="fr-FR" sz="2000" dirty="0" err="1"/>
              <a:t>Developers</a:t>
            </a:r>
            <a:r>
              <a:rPr lang="fr-FR" sz="2000" dirty="0"/>
              <a:t> sont tenus de se conformer à la </a:t>
            </a:r>
            <a:r>
              <a:rPr lang="fr-FR" sz="2000" dirty="0" err="1"/>
              <a:t>Definition</a:t>
            </a:r>
            <a:r>
              <a:rPr lang="fr-FR" sz="2000" dirty="0"/>
              <a:t> of </a:t>
            </a:r>
            <a:r>
              <a:rPr lang="fr-FR" sz="2000" dirty="0" err="1"/>
              <a:t>Done</a:t>
            </a:r>
            <a:r>
              <a:rPr lang="fr-FR" sz="2000" dirty="0"/>
              <a:t>. Si plusieurs </a:t>
            </a:r>
            <a:r>
              <a:rPr lang="fr-FR" sz="2000" dirty="0" err="1"/>
              <a:t>Scrum</a:t>
            </a:r>
            <a:r>
              <a:rPr lang="fr-FR" sz="2000" dirty="0"/>
              <a:t> Teams travaillent ensemble sur un même produit, elles doivent la définir ensemble et s’y conformer.</a:t>
            </a:r>
          </a:p>
        </p:txBody>
      </p:sp>
    </p:spTree>
    <p:extLst>
      <p:ext uri="{BB962C8B-B14F-4D97-AF65-F5344CB8AC3E}">
        <p14:creationId xmlns:p14="http://schemas.microsoft.com/office/powerpoint/2010/main" val="20892515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1657350" y="1640205"/>
            <a:ext cx="8366216" cy="2308324"/>
          </a:xfrm>
          <a:prstGeom prst="rect">
            <a:avLst/>
          </a:prstGeom>
          <a:noFill/>
        </p:spPr>
        <p:txBody>
          <a:bodyPr wrap="square" rtlCol="0">
            <a:spAutoFit/>
          </a:bodyPr>
          <a:lstStyle/>
          <a:p>
            <a:r>
              <a:rPr lang="fr-FR" sz="4800" b="1" dirty="0" smtClean="0">
                <a:solidFill>
                  <a:srgbClr val="0070C0"/>
                </a:solidFill>
              </a:rPr>
              <a:t>Annexes</a:t>
            </a:r>
          </a:p>
          <a:p>
            <a:endParaRPr lang="fr-FR" sz="4800" b="1" dirty="0" smtClean="0">
              <a:solidFill>
                <a:srgbClr val="FF0000"/>
              </a:solidFill>
            </a:endParaRPr>
          </a:p>
          <a:p>
            <a:r>
              <a:rPr lang="fr-FR" sz="4800" b="1" dirty="0" err="1" smtClean="0">
                <a:solidFill>
                  <a:srgbClr val="FF0000"/>
                </a:solidFill>
              </a:rPr>
              <a:t>Backlog</a:t>
            </a:r>
            <a:r>
              <a:rPr lang="fr-FR" sz="4800" b="1" dirty="0" smtClean="0">
                <a:solidFill>
                  <a:srgbClr val="FF0000"/>
                </a:solidFill>
              </a:rPr>
              <a:t>, Métriques </a:t>
            </a:r>
            <a:r>
              <a:rPr lang="fr-FR" sz="4800" b="1" dirty="0" err="1" smtClean="0">
                <a:solidFill>
                  <a:srgbClr val="FF0000"/>
                </a:solidFill>
              </a:rPr>
              <a:t>scrum</a:t>
            </a:r>
            <a:endParaRPr lang="fr-FR" sz="4800" b="1" dirty="0">
              <a:solidFill>
                <a:srgbClr val="FF0000"/>
              </a:solidFill>
            </a:endParaRPr>
          </a:p>
        </p:txBody>
      </p:sp>
    </p:spTree>
    <p:extLst>
      <p:ext uri="{BB962C8B-B14F-4D97-AF65-F5344CB8AC3E}">
        <p14:creationId xmlns:p14="http://schemas.microsoft.com/office/powerpoint/2010/main" val="25897496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97874" y="983456"/>
            <a:ext cx="9805852" cy="1477328"/>
          </a:xfrm>
          <a:prstGeom prst="rect">
            <a:avLst/>
          </a:prstGeom>
        </p:spPr>
        <p:txBody>
          <a:bodyPr wrap="square">
            <a:spAutoFit/>
          </a:bodyPr>
          <a:lstStyle/>
          <a:p>
            <a:r>
              <a:rPr lang="fr-FR" b="1" dirty="0" smtClean="0">
                <a:solidFill>
                  <a:srgbClr val="FF0000"/>
                </a:solidFill>
              </a:rPr>
              <a:t>le </a:t>
            </a:r>
            <a:r>
              <a:rPr lang="fr-FR" b="1" dirty="0" err="1" smtClean="0">
                <a:solidFill>
                  <a:srgbClr val="FF0000"/>
                </a:solidFill>
              </a:rPr>
              <a:t>backlog</a:t>
            </a:r>
            <a:r>
              <a:rPr lang="fr-FR" b="1" dirty="0" smtClean="0">
                <a:solidFill>
                  <a:srgbClr val="FF0000"/>
                </a:solidFill>
              </a:rPr>
              <a:t>:</a:t>
            </a:r>
          </a:p>
          <a:p>
            <a:r>
              <a:rPr lang="fr-FR" dirty="0" smtClean="0"/>
              <a:t>Avec </a:t>
            </a:r>
            <a:r>
              <a:rPr lang="fr-FR" dirty="0" err="1" smtClean="0"/>
              <a:t>Scrum</a:t>
            </a:r>
            <a:r>
              <a:rPr lang="fr-FR" dirty="0" smtClean="0"/>
              <a:t>, la démarche est fondamentalement différente : les spécifications émergent progressivement par une collaboration continue entre les membres de l’équipe et le Product </a:t>
            </a:r>
            <a:r>
              <a:rPr lang="fr-FR" dirty="0" err="1" smtClean="0"/>
              <a:t>Owner</a:t>
            </a:r>
            <a:r>
              <a:rPr lang="fr-FR" dirty="0" smtClean="0"/>
              <a:t>, et grâce aux feedbacks réguliers donnés par les parties prenantes. L’outil de collecte et de partage s’appelle le </a:t>
            </a:r>
            <a:r>
              <a:rPr lang="fr-FR" dirty="0" err="1" smtClean="0"/>
              <a:t>backlog</a:t>
            </a:r>
            <a:r>
              <a:rPr lang="fr-FR" dirty="0" smtClean="0"/>
              <a:t>.</a:t>
            </a:r>
            <a:endParaRPr lang="fr-FR" dirty="0"/>
          </a:p>
        </p:txBody>
      </p:sp>
      <p:sp>
        <p:nvSpPr>
          <p:cNvPr id="3" name="Rectangle 2"/>
          <p:cNvSpPr/>
          <p:nvPr/>
        </p:nvSpPr>
        <p:spPr>
          <a:xfrm>
            <a:off x="1497873" y="2652990"/>
            <a:ext cx="9588137" cy="369332"/>
          </a:xfrm>
          <a:prstGeom prst="rect">
            <a:avLst/>
          </a:prstGeom>
        </p:spPr>
        <p:txBody>
          <a:bodyPr wrap="square">
            <a:spAutoFit/>
          </a:bodyPr>
          <a:lstStyle/>
          <a:p>
            <a:r>
              <a:rPr lang="fr-FR" dirty="0"/>
              <a:t>En première approche, un </a:t>
            </a:r>
            <a:r>
              <a:rPr lang="fr-FR" dirty="0" err="1"/>
              <a:t>backlog</a:t>
            </a:r>
            <a:r>
              <a:rPr lang="fr-FR" dirty="0"/>
              <a:t> est simplement une liste ordonnée des choses à faire par l’équipe</a:t>
            </a:r>
          </a:p>
        </p:txBody>
      </p:sp>
      <p:sp>
        <p:nvSpPr>
          <p:cNvPr id="4" name="Rectangle 3"/>
          <p:cNvSpPr/>
          <p:nvPr/>
        </p:nvSpPr>
        <p:spPr>
          <a:xfrm>
            <a:off x="1497873" y="3214528"/>
            <a:ext cx="9509759" cy="1200329"/>
          </a:xfrm>
          <a:prstGeom prst="rect">
            <a:avLst/>
          </a:prstGeom>
        </p:spPr>
        <p:txBody>
          <a:bodyPr wrap="square">
            <a:spAutoFit/>
          </a:bodyPr>
          <a:lstStyle/>
          <a:p>
            <a:r>
              <a:rPr lang="fr-FR" dirty="0"/>
              <a:t>Le </a:t>
            </a:r>
            <a:r>
              <a:rPr lang="fr-FR" dirty="0" err="1"/>
              <a:t>backlog</a:t>
            </a:r>
            <a:r>
              <a:rPr lang="fr-FR" dirty="0"/>
              <a:t> indique l’ordre dans lequel seront réalisés les éléments qu’il contient. Priorité ordinale Dans un </a:t>
            </a:r>
            <a:r>
              <a:rPr lang="fr-FR" dirty="0" err="1"/>
              <a:t>backlog</a:t>
            </a:r>
            <a:r>
              <a:rPr lang="fr-FR" dirty="0"/>
              <a:t>, les éléments sont rangés selon l’ordre envisagé pour leur réalisation. Cette notion de priorité ordinale, qui n’est pas usuelle dans les documents de spécification, est adaptée au développement itératif : l’ordre est celui de réalisation.</a:t>
            </a:r>
          </a:p>
        </p:txBody>
      </p:sp>
      <p:sp>
        <p:nvSpPr>
          <p:cNvPr id="5" name="Rectangle 4"/>
          <p:cNvSpPr/>
          <p:nvPr/>
        </p:nvSpPr>
        <p:spPr>
          <a:xfrm>
            <a:off x="1489166" y="4607063"/>
            <a:ext cx="9814560" cy="1477328"/>
          </a:xfrm>
          <a:prstGeom prst="rect">
            <a:avLst/>
          </a:prstGeom>
        </p:spPr>
        <p:txBody>
          <a:bodyPr wrap="square">
            <a:spAutoFit/>
          </a:bodyPr>
          <a:lstStyle/>
          <a:p>
            <a:r>
              <a:rPr lang="fr-FR" dirty="0"/>
              <a:t>Critères pour définir </a:t>
            </a:r>
            <a:r>
              <a:rPr lang="fr-FR" dirty="0" smtClean="0"/>
              <a:t>l’ordre: </a:t>
            </a:r>
            <a:r>
              <a:rPr lang="fr-FR" dirty="0"/>
              <a:t>Les méthodes agiles ont pour but de maximiser la valeur. La notion de valeur va donc être un critère majeur pour définir l’ordre. La valeur donne une idée de combien ça va « rapporter » aux parties prenantes. Combien ça va « coûter » en développement est aussi un critère important. Pour définir l’ordre d’un élément par rapport à un autre, l’idée est de maximiser la valeur rapportée au coût, en tenant compte des dépendances.</a:t>
            </a:r>
          </a:p>
        </p:txBody>
      </p:sp>
    </p:spTree>
    <p:extLst>
      <p:ext uri="{BB962C8B-B14F-4D97-AF65-F5344CB8AC3E}">
        <p14:creationId xmlns:p14="http://schemas.microsoft.com/office/powerpoint/2010/main" val="250024372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62149" y="890175"/>
            <a:ext cx="10563497" cy="1477328"/>
          </a:xfrm>
          <a:prstGeom prst="rect">
            <a:avLst/>
          </a:prstGeom>
        </p:spPr>
        <p:txBody>
          <a:bodyPr wrap="square">
            <a:spAutoFit/>
          </a:bodyPr>
          <a:lstStyle/>
          <a:p>
            <a:pPr marL="285750" indent="-285750" algn="just">
              <a:buFont typeface="Arial" panose="020B0604020202020204" pitchFamily="34" charset="0"/>
              <a:buChar char="•"/>
            </a:pPr>
            <a:r>
              <a:rPr lang="fr-FR" dirty="0" smtClean="0"/>
              <a:t>Le </a:t>
            </a:r>
            <a:r>
              <a:rPr lang="fr-FR" dirty="0" err="1" smtClean="0"/>
              <a:t>backlog</a:t>
            </a:r>
            <a:r>
              <a:rPr lang="fr-FR" dirty="0" smtClean="0"/>
              <a:t> n’est pas figé, il n’est jamais complet ou fini tant que vit le produit. Il est élaboré dans une forme initiale pendant le sprint zéro, puis il évolue constamment : des éléments sont ajoutés, d’autres sont supprimés, certains sont décomposés et l’ordre ajusté. Ce changement continuel n’a pas d’impact immédiat sur les réalisations en cours ; </a:t>
            </a:r>
            <a:r>
              <a:rPr lang="fr-FR" b="1" dirty="0" smtClean="0"/>
              <a:t>pendant un sprint, la partie du </a:t>
            </a:r>
            <a:r>
              <a:rPr lang="fr-FR" b="1" dirty="0" err="1" smtClean="0"/>
              <a:t>backlog</a:t>
            </a:r>
            <a:r>
              <a:rPr lang="fr-FR" b="1" dirty="0" smtClean="0"/>
              <a:t> sur laquelle l’équipe travaille n’est pas modifiable </a:t>
            </a:r>
          </a:p>
        </p:txBody>
      </p:sp>
      <p:sp>
        <p:nvSpPr>
          <p:cNvPr id="3" name="Rectangle 2"/>
          <p:cNvSpPr/>
          <p:nvPr/>
        </p:nvSpPr>
        <p:spPr>
          <a:xfrm>
            <a:off x="2412274" y="2835870"/>
            <a:ext cx="7071360" cy="584775"/>
          </a:xfrm>
          <a:prstGeom prst="rect">
            <a:avLst/>
          </a:prstGeom>
        </p:spPr>
        <p:txBody>
          <a:bodyPr wrap="square">
            <a:spAutoFit/>
          </a:bodyPr>
          <a:lstStyle/>
          <a:p>
            <a:pPr algn="ctr"/>
            <a:r>
              <a:rPr lang="fr-FR" sz="3200" b="1" dirty="0" smtClean="0">
                <a:solidFill>
                  <a:srgbClr val="FF0000"/>
                </a:solidFill>
              </a:rPr>
              <a:t>la </a:t>
            </a:r>
            <a:r>
              <a:rPr lang="fr-FR" sz="3200" b="1" dirty="0">
                <a:solidFill>
                  <a:srgbClr val="FF0000"/>
                </a:solidFill>
              </a:rPr>
              <a:t>story, </a:t>
            </a:r>
            <a:r>
              <a:rPr lang="fr-FR" sz="3200" b="1" dirty="0" err="1" smtClean="0">
                <a:solidFill>
                  <a:srgbClr val="FF0000"/>
                </a:solidFill>
              </a:rPr>
              <a:t>feature</a:t>
            </a:r>
            <a:r>
              <a:rPr lang="fr-FR" sz="3200" b="1" dirty="0" smtClean="0">
                <a:solidFill>
                  <a:srgbClr val="FF0000"/>
                </a:solidFill>
              </a:rPr>
              <a:t> et EPIC</a:t>
            </a:r>
            <a:endParaRPr lang="fr-FR" sz="3200" b="1" dirty="0">
              <a:solidFill>
                <a:srgbClr val="FF0000"/>
              </a:solidFill>
            </a:endParaRPr>
          </a:p>
        </p:txBody>
      </p:sp>
      <p:sp>
        <p:nvSpPr>
          <p:cNvPr id="4" name="Rectangle 3"/>
          <p:cNvSpPr/>
          <p:nvPr/>
        </p:nvSpPr>
        <p:spPr>
          <a:xfrm>
            <a:off x="766354" y="3889012"/>
            <a:ext cx="10763795" cy="2031325"/>
          </a:xfrm>
          <a:prstGeom prst="rect">
            <a:avLst/>
          </a:prstGeom>
        </p:spPr>
        <p:txBody>
          <a:bodyPr wrap="square">
            <a:spAutoFit/>
          </a:bodyPr>
          <a:lstStyle/>
          <a:p>
            <a:pPr algn="just"/>
            <a:r>
              <a:rPr lang="fr-FR" b="1" dirty="0"/>
              <a:t>Une user story est un petit morceau de fonctionnalité visible d’un utilisateur et qui </a:t>
            </a:r>
            <a:r>
              <a:rPr lang="fr-FR" b="1" dirty="0" smtClean="0"/>
              <a:t>doit </a:t>
            </a:r>
            <a:r>
              <a:rPr lang="fr-FR" b="1" dirty="0"/>
              <a:t>être développé en un sprint. </a:t>
            </a:r>
            <a:endParaRPr lang="fr-FR" b="1" dirty="0" smtClean="0"/>
          </a:p>
          <a:p>
            <a:pPr algn="just"/>
            <a:r>
              <a:rPr lang="fr-FR" dirty="0"/>
              <a:t>Dans la vie de la story, le moment structurant est le sprint, c’est pourquoi son contenu est vérifié au départ et à l’arrivée de ce sprint. Pour que la story prenne le départ avec de bonnes chances d’arriver au bout du sprint, l’équipe doit s’assurer qu’elle est prête. Les vérifications à faire sont listées dans la définition de prêt. Une story commencée est normalement finie avant la fin du sprint. Sa définition de fini liste les points à vérifier pour s’en assurer.</a:t>
            </a:r>
          </a:p>
        </p:txBody>
      </p:sp>
    </p:spTree>
    <p:extLst>
      <p:ext uri="{BB962C8B-B14F-4D97-AF65-F5344CB8AC3E}">
        <p14:creationId xmlns:p14="http://schemas.microsoft.com/office/powerpoint/2010/main" val="225620992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66651" y="3629187"/>
            <a:ext cx="10371908" cy="2308324"/>
          </a:xfrm>
          <a:prstGeom prst="rect">
            <a:avLst/>
          </a:prstGeom>
        </p:spPr>
        <p:txBody>
          <a:bodyPr wrap="square">
            <a:spAutoFit/>
          </a:bodyPr>
          <a:lstStyle/>
          <a:p>
            <a:pPr algn="just"/>
            <a:r>
              <a:rPr lang="fr-FR" b="1" dirty="0"/>
              <a:t>L’</a:t>
            </a:r>
            <a:r>
              <a:rPr lang="fr-FR" b="1" dirty="0" err="1"/>
              <a:t>epic</a:t>
            </a:r>
            <a:r>
              <a:rPr lang="fr-FR" b="1" dirty="0"/>
              <a:t> (ou story épique) est une story dont l’équipe considère qu’elle ne peut pas entrer dans un sprint en l’état. Elle ne peut pas passer au statut « prête </a:t>
            </a:r>
            <a:r>
              <a:rPr lang="fr-FR" b="1" dirty="0" smtClean="0"/>
              <a:t>».</a:t>
            </a:r>
          </a:p>
          <a:p>
            <a:pPr marL="285750" indent="-285750" algn="just">
              <a:buFont typeface="Arial" panose="020B0604020202020204" pitchFamily="34" charset="0"/>
              <a:buChar char="•"/>
            </a:pPr>
            <a:r>
              <a:rPr lang="fr-FR" dirty="0" smtClean="0"/>
              <a:t>La </a:t>
            </a:r>
            <a:r>
              <a:rPr lang="fr-FR" dirty="0"/>
              <a:t>raison pour laquelle une story est épique, c’est qu’elle est trop grosse. C’est aussi le cas quand elle est mal connue, car on ne sait pas encore ce qu’elle cache. Une story épique doit donc être décomposée ou étudiée : elle a besoin d’affinage</a:t>
            </a:r>
            <a:r>
              <a:rPr lang="fr-FR" dirty="0" smtClean="0"/>
              <a:t>.</a:t>
            </a:r>
          </a:p>
          <a:p>
            <a:pPr marL="285750" indent="-285750" algn="just">
              <a:buFont typeface="Arial" panose="020B0604020202020204" pitchFamily="34" charset="0"/>
              <a:buChar char="•"/>
            </a:pPr>
            <a:r>
              <a:rPr lang="fr-FR" dirty="0"/>
              <a:t>La story épique cohabite avec la story élémentaire dans le </a:t>
            </a:r>
            <a:r>
              <a:rPr lang="fr-FR" dirty="0" err="1"/>
              <a:t>backlog</a:t>
            </a:r>
            <a:r>
              <a:rPr lang="fr-FR" dirty="0"/>
              <a:t>. Une fois décomposée, elle disparaît. Son usage est optionnel, il est utile pour identifier clairement le travail de décomposition à faire et pour limiter le nombre d’éléments.</a:t>
            </a:r>
            <a:endParaRPr lang="fr-FR" b="1" dirty="0"/>
          </a:p>
        </p:txBody>
      </p:sp>
      <p:sp>
        <p:nvSpPr>
          <p:cNvPr id="3" name="Rectangle 2"/>
          <p:cNvSpPr/>
          <p:nvPr/>
        </p:nvSpPr>
        <p:spPr>
          <a:xfrm>
            <a:off x="896983" y="1303997"/>
            <a:ext cx="10040983" cy="1754326"/>
          </a:xfrm>
          <a:prstGeom prst="rect">
            <a:avLst/>
          </a:prstGeom>
        </p:spPr>
        <p:txBody>
          <a:bodyPr wrap="square">
            <a:spAutoFit/>
          </a:bodyPr>
          <a:lstStyle/>
          <a:p>
            <a:pPr algn="just"/>
            <a:r>
              <a:rPr lang="fr-FR" b="1" dirty="0"/>
              <a:t>Une </a:t>
            </a:r>
            <a:r>
              <a:rPr lang="fr-FR" b="1" dirty="0" err="1"/>
              <a:t>feature</a:t>
            </a:r>
            <a:r>
              <a:rPr lang="fr-FR" b="1" dirty="0"/>
              <a:t> est un service ou une fonction d’un produit dont l’énoncé est clair pour les parties prenantes ; une </a:t>
            </a:r>
            <a:r>
              <a:rPr lang="fr-FR" b="1" dirty="0" err="1"/>
              <a:t>feature</a:t>
            </a:r>
            <a:r>
              <a:rPr lang="fr-FR" b="1" dirty="0"/>
              <a:t> contribue à un impact et se décompose en stories</a:t>
            </a:r>
            <a:r>
              <a:rPr lang="fr-FR" b="1" dirty="0" smtClean="0"/>
              <a:t>.</a:t>
            </a:r>
          </a:p>
          <a:p>
            <a:pPr marL="285750" indent="-285750" algn="just">
              <a:buFont typeface="Arial" panose="020B0604020202020204" pitchFamily="34" charset="0"/>
              <a:buChar char="•"/>
            </a:pPr>
            <a:r>
              <a:rPr lang="fr-FR" dirty="0"/>
              <a:t>Une </a:t>
            </a:r>
            <a:r>
              <a:rPr lang="fr-FR" dirty="0" err="1"/>
              <a:t>feature</a:t>
            </a:r>
            <a:r>
              <a:rPr lang="fr-FR" dirty="0"/>
              <a:t> n’est pas rythmée par le sprint comme la story. Elle peut être non finie à la fin d’un sprint. En revanche, </a:t>
            </a:r>
            <a:r>
              <a:rPr lang="fr-FR" b="1" u="sng" dirty="0"/>
              <a:t>elle doit être finie à la fin de la release</a:t>
            </a:r>
            <a:r>
              <a:rPr lang="fr-FR" dirty="0"/>
              <a:t>, au plus tard. </a:t>
            </a:r>
            <a:endParaRPr lang="fr-FR" dirty="0" smtClean="0"/>
          </a:p>
          <a:p>
            <a:pPr marL="285750" indent="-285750" algn="just">
              <a:buFont typeface="Arial" panose="020B0604020202020204" pitchFamily="34" charset="0"/>
              <a:buChar char="•"/>
            </a:pPr>
            <a:r>
              <a:rPr lang="fr-FR" dirty="0"/>
              <a:t>Une </a:t>
            </a:r>
            <a:r>
              <a:rPr lang="fr-FR" dirty="0" err="1"/>
              <a:t>feature</a:t>
            </a:r>
            <a:r>
              <a:rPr lang="fr-FR" dirty="0"/>
              <a:t> sera réalisée par plusieurs stories. On pourrait la mettre dans le même </a:t>
            </a:r>
            <a:r>
              <a:rPr lang="fr-FR" dirty="0" err="1"/>
              <a:t>backlog</a:t>
            </a:r>
            <a:r>
              <a:rPr lang="fr-FR" dirty="0"/>
              <a:t> que les stories, mais, en général, il est préférable de les mettre ailleurs, pour y voir plus clair.</a:t>
            </a:r>
            <a:endParaRPr lang="fr-FR" b="1" dirty="0"/>
          </a:p>
        </p:txBody>
      </p:sp>
    </p:spTree>
    <p:extLst>
      <p:ext uri="{BB962C8B-B14F-4D97-AF65-F5344CB8AC3E}">
        <p14:creationId xmlns:p14="http://schemas.microsoft.com/office/powerpoint/2010/main" val="276067254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6947" y="1110402"/>
            <a:ext cx="9927771" cy="2308324"/>
          </a:xfrm>
          <a:prstGeom prst="rect">
            <a:avLst/>
          </a:prstGeom>
        </p:spPr>
        <p:txBody>
          <a:bodyPr wrap="square">
            <a:spAutoFit/>
          </a:bodyPr>
          <a:lstStyle/>
          <a:p>
            <a:pPr algn="just"/>
            <a:r>
              <a:rPr lang="fr-FR" dirty="0"/>
              <a:t>Le </a:t>
            </a:r>
            <a:r>
              <a:rPr lang="fr-FR" dirty="0" err="1" smtClean="0"/>
              <a:t>backlog</a:t>
            </a:r>
            <a:r>
              <a:rPr lang="fr-FR" dirty="0" smtClean="0"/>
              <a:t>, C’est </a:t>
            </a:r>
            <a:r>
              <a:rPr lang="fr-FR" dirty="0"/>
              <a:t>l’élément pivot d’un développement avec </a:t>
            </a:r>
            <a:r>
              <a:rPr lang="fr-FR" dirty="0" err="1"/>
              <a:t>Scrum</a:t>
            </a:r>
            <a:r>
              <a:rPr lang="fr-FR" dirty="0"/>
              <a:t>, qui permet de définir le produit et de faire la planification. </a:t>
            </a:r>
            <a:r>
              <a:rPr lang="fr-FR" dirty="0" smtClean="0"/>
              <a:t>C’est une </a:t>
            </a:r>
            <a:r>
              <a:rPr lang="fr-FR" dirty="0"/>
              <a:t>liste unique des choses à faire, ordonnée, est au cœur de la mécanique de mise en œuvre de </a:t>
            </a:r>
            <a:r>
              <a:rPr lang="fr-FR" dirty="0" err="1"/>
              <a:t>Scrum</a:t>
            </a:r>
            <a:r>
              <a:rPr lang="fr-FR" dirty="0"/>
              <a:t> lors des sprints. </a:t>
            </a:r>
            <a:endParaRPr lang="fr-FR" dirty="0" smtClean="0"/>
          </a:p>
          <a:p>
            <a:pPr algn="just"/>
            <a:r>
              <a:rPr lang="fr-FR" dirty="0" smtClean="0"/>
              <a:t>Le </a:t>
            </a:r>
            <a:r>
              <a:rPr lang="fr-FR" dirty="0" err="1"/>
              <a:t>backlog</a:t>
            </a:r>
            <a:r>
              <a:rPr lang="fr-FR" dirty="0"/>
              <a:t> de produit contribue beaucoup à l’élégance et à la simplicité du cadre de développement que constitue </a:t>
            </a:r>
            <a:r>
              <a:rPr lang="fr-FR" dirty="0" err="1"/>
              <a:t>Scrum</a:t>
            </a:r>
            <a:r>
              <a:rPr lang="fr-FR" dirty="0"/>
              <a:t>. </a:t>
            </a:r>
            <a:endParaRPr lang="fr-FR" dirty="0" smtClean="0"/>
          </a:p>
          <a:p>
            <a:pPr algn="just"/>
            <a:r>
              <a:rPr lang="fr-FR" dirty="0" smtClean="0"/>
              <a:t>La </a:t>
            </a:r>
            <a:r>
              <a:rPr lang="fr-FR" dirty="0"/>
              <a:t>structure du </a:t>
            </a:r>
            <a:r>
              <a:rPr lang="fr-FR" dirty="0" err="1"/>
              <a:t>backlog</a:t>
            </a:r>
            <a:r>
              <a:rPr lang="fr-FR" dirty="0"/>
              <a:t> se base sur trois notions : la hiérarchie des éléments (</a:t>
            </a:r>
            <a:r>
              <a:rPr lang="fr-FR" dirty="0" err="1"/>
              <a:t>feature</a:t>
            </a:r>
            <a:r>
              <a:rPr lang="fr-FR" dirty="0"/>
              <a:t>, story), la vie de ces éléments représentée avec les bacs et leur type, selon les parties prenantes auxquelles ils apportent de la valeur</a:t>
            </a:r>
          </a:p>
        </p:txBody>
      </p:sp>
      <p:sp>
        <p:nvSpPr>
          <p:cNvPr id="3" name="Rectangle 2"/>
          <p:cNvSpPr/>
          <p:nvPr/>
        </p:nvSpPr>
        <p:spPr>
          <a:xfrm>
            <a:off x="1166947" y="3696850"/>
            <a:ext cx="9858103" cy="1754326"/>
          </a:xfrm>
          <a:prstGeom prst="rect">
            <a:avLst/>
          </a:prstGeom>
        </p:spPr>
        <p:txBody>
          <a:bodyPr wrap="square">
            <a:spAutoFit/>
          </a:bodyPr>
          <a:lstStyle/>
          <a:p>
            <a:r>
              <a:rPr lang="fr-FR" b="1" dirty="0"/>
              <a:t>L’affinage est une pratique qui permet de conserver un </a:t>
            </a:r>
            <a:r>
              <a:rPr lang="fr-FR" b="1" dirty="0" err="1"/>
              <a:t>backlog</a:t>
            </a:r>
            <a:r>
              <a:rPr lang="fr-FR" b="1" dirty="0"/>
              <a:t> prêt à l’emploi, avec des stories prêtes</a:t>
            </a:r>
            <a:r>
              <a:rPr lang="fr-FR" dirty="0"/>
              <a:t>. La définition de prêt permet d’affermir la confiance de l’équipe à finir une story dans un sprint. Elle se base sur des vérifications, par exemple les « 6D ». L’affinage se pratique en équipe, lors des réunions d’affinage du </a:t>
            </a:r>
            <a:r>
              <a:rPr lang="fr-FR" dirty="0" err="1"/>
              <a:t>backlog</a:t>
            </a:r>
            <a:r>
              <a:rPr lang="fr-FR" dirty="0"/>
              <a:t>, avec des conversations sur les stories. Il a lieu pendant un sprint et influence le contenu des sprints suivants. Il consiste à détailler, décomposer, ordonner, approvisionner, estimer et purger. </a:t>
            </a:r>
          </a:p>
        </p:txBody>
      </p:sp>
    </p:spTree>
    <p:extLst>
      <p:ext uri="{BB962C8B-B14F-4D97-AF65-F5344CB8AC3E}">
        <p14:creationId xmlns:p14="http://schemas.microsoft.com/office/powerpoint/2010/main" val="421247166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342041"/>
            <a:ext cx="10964091" cy="3139321"/>
          </a:xfrm>
          <a:prstGeom prst="rect">
            <a:avLst/>
          </a:prstGeom>
        </p:spPr>
        <p:txBody>
          <a:bodyPr wrap="square">
            <a:spAutoFit/>
          </a:bodyPr>
          <a:lstStyle/>
          <a:p>
            <a:pPr algn="just"/>
            <a:r>
              <a:rPr lang="fr-FR" b="1" dirty="0" smtClean="0">
                <a:solidFill>
                  <a:srgbClr val="FF0000"/>
                </a:solidFill>
              </a:rPr>
              <a:t>WF du story:</a:t>
            </a:r>
          </a:p>
          <a:p>
            <a:pPr algn="just"/>
            <a:r>
              <a:rPr lang="fr-FR" dirty="0" smtClean="0"/>
              <a:t>En </a:t>
            </a:r>
            <a:r>
              <a:rPr lang="fr-FR" dirty="0"/>
              <a:t>2001, Ron </a:t>
            </a:r>
            <a:r>
              <a:rPr lang="fr-FR" dirty="0" err="1"/>
              <a:t>Jeffries</a:t>
            </a:r>
            <a:r>
              <a:rPr lang="fr-FR" dirty="0"/>
              <a:t> définissait la vie de la story avec trois phases : la </a:t>
            </a:r>
            <a:r>
              <a:rPr lang="fr-FR" b="1" dirty="0"/>
              <a:t>carte</a:t>
            </a:r>
            <a:r>
              <a:rPr lang="fr-FR" dirty="0"/>
              <a:t> comme moyen de l’identifier, puis une </a:t>
            </a:r>
            <a:r>
              <a:rPr lang="fr-FR" b="1" dirty="0"/>
              <a:t>conversation</a:t>
            </a:r>
            <a:r>
              <a:rPr lang="fr-FR" dirty="0"/>
              <a:t> et enfin une </a:t>
            </a:r>
            <a:r>
              <a:rPr lang="fr-FR" b="1" dirty="0"/>
              <a:t>confirmation</a:t>
            </a:r>
            <a:r>
              <a:rPr lang="fr-FR" dirty="0"/>
              <a:t>. Cela est connu comme les « 3C » </a:t>
            </a:r>
            <a:r>
              <a:rPr lang="fr-FR" dirty="0" smtClean="0"/>
              <a:t> </a:t>
            </a:r>
            <a:r>
              <a:rPr lang="fr-FR" dirty="0"/>
              <a:t>. En fait, l’équipe déroule deux cycles de conversation et confirmation : un premier pour obtenir une story prête, un second pour qu’elle soit finie : </a:t>
            </a:r>
            <a:endParaRPr lang="fr-FR" dirty="0" smtClean="0"/>
          </a:p>
          <a:p>
            <a:pPr algn="just"/>
            <a:r>
              <a:rPr lang="fr-FR" dirty="0" smtClean="0"/>
              <a:t>1- Un </a:t>
            </a:r>
            <a:r>
              <a:rPr lang="fr-FR" dirty="0"/>
              <a:t>jour, quelqu’un a une idée de story et la note sur une Carte (maintenant on utilise plutôt un Post-it®). </a:t>
            </a:r>
            <a:endParaRPr lang="fr-FR" dirty="0" smtClean="0"/>
          </a:p>
          <a:p>
            <a:pPr algn="just"/>
            <a:r>
              <a:rPr lang="fr-FR" dirty="0" smtClean="0"/>
              <a:t>2- Le </a:t>
            </a:r>
            <a:r>
              <a:rPr lang="fr-FR" dirty="0"/>
              <a:t>Product </a:t>
            </a:r>
            <a:r>
              <a:rPr lang="fr-FR" dirty="0" err="1"/>
              <a:t>Owner</a:t>
            </a:r>
            <a:r>
              <a:rPr lang="fr-FR" dirty="0"/>
              <a:t> et l’équipe affinent cette story, afin qu’elle puisse être réalisée en un sprint, au cours d’une Conversation. </a:t>
            </a:r>
            <a:endParaRPr lang="fr-FR" dirty="0" smtClean="0"/>
          </a:p>
          <a:p>
            <a:pPr algn="just"/>
            <a:r>
              <a:rPr lang="fr-FR" dirty="0" smtClean="0"/>
              <a:t>3-L’équipe </a:t>
            </a:r>
            <a:r>
              <a:rPr lang="fr-FR" dirty="0"/>
              <a:t>apporte sa Confirmation qu’elle est prête. </a:t>
            </a:r>
            <a:endParaRPr lang="fr-FR" dirty="0" smtClean="0"/>
          </a:p>
          <a:p>
            <a:pPr algn="just"/>
            <a:r>
              <a:rPr lang="fr-FR" dirty="0" smtClean="0"/>
              <a:t>4- L’équipe </a:t>
            </a:r>
            <a:r>
              <a:rPr lang="fr-FR" dirty="0"/>
              <a:t>réalise la story pendant un sprint, en tenant une nouvelle Conversation avec le PO, sur son acceptation. </a:t>
            </a:r>
            <a:r>
              <a:rPr lang="fr-FR" dirty="0" smtClean="0"/>
              <a:t>5- Le </a:t>
            </a:r>
            <a:r>
              <a:rPr lang="fr-FR" dirty="0"/>
              <a:t>Product </a:t>
            </a:r>
            <a:r>
              <a:rPr lang="fr-FR" dirty="0" err="1"/>
              <a:t>Owner</a:t>
            </a:r>
            <a:r>
              <a:rPr lang="fr-FR" dirty="0"/>
              <a:t> apporte sa Confirmation qu’elle est finie. </a:t>
            </a:r>
            <a:endParaRPr lang="fr-FR" dirty="0" smtClean="0"/>
          </a:p>
          <a:p>
            <a:pPr algn="just"/>
            <a:r>
              <a:rPr lang="fr-FR" b="1" dirty="0" smtClean="0"/>
              <a:t>Finalement</a:t>
            </a:r>
            <a:r>
              <a:rPr lang="fr-FR" b="1" dirty="0"/>
              <a:t>, nous avons donc « 5C » dans la vie de la </a:t>
            </a:r>
            <a:r>
              <a:rPr lang="fr-FR" b="1" dirty="0" smtClean="0"/>
              <a:t>story.</a:t>
            </a:r>
            <a:endParaRPr lang="fr-FR" b="1" dirty="0"/>
          </a:p>
        </p:txBody>
      </p:sp>
      <p:sp>
        <p:nvSpPr>
          <p:cNvPr id="3" name="Rectangle 2"/>
          <p:cNvSpPr/>
          <p:nvPr/>
        </p:nvSpPr>
        <p:spPr>
          <a:xfrm>
            <a:off x="522515" y="3542605"/>
            <a:ext cx="10955384" cy="2862322"/>
          </a:xfrm>
          <a:prstGeom prst="rect">
            <a:avLst/>
          </a:prstGeom>
        </p:spPr>
        <p:txBody>
          <a:bodyPr wrap="square">
            <a:spAutoFit/>
          </a:bodyPr>
          <a:lstStyle/>
          <a:p>
            <a:r>
              <a:rPr lang="fr-FR" dirty="0" smtClean="0">
                <a:solidFill>
                  <a:srgbClr val="FF0000"/>
                </a:solidFill>
              </a:rPr>
              <a:t>Story Prête: </a:t>
            </a:r>
            <a:r>
              <a:rPr lang="fr-FR" dirty="0" smtClean="0"/>
              <a:t>C’est </a:t>
            </a:r>
            <a:r>
              <a:rPr lang="fr-FR" dirty="0"/>
              <a:t>l’équipe qui décide si une story est prête. Pour prendre sa décision, elle pourra s’appuyer sur une liste de vérifications, qu’on appelle la définition de prêt. Vérifier les « 6D » La définition de prêt est élaborée par l’équipe et dépend du contexte. Une façon simple pour démarrer est de vérifier si la story est « 6D » </a:t>
            </a:r>
            <a:r>
              <a:rPr lang="fr-FR" dirty="0" smtClean="0"/>
              <a:t>:</a:t>
            </a:r>
          </a:p>
          <a:p>
            <a:r>
              <a:rPr lang="fr-FR" b="1" dirty="0" smtClean="0"/>
              <a:t>Décomposée</a:t>
            </a:r>
            <a:r>
              <a:rPr lang="fr-FR" dirty="0" smtClean="0"/>
              <a:t> </a:t>
            </a:r>
            <a:r>
              <a:rPr lang="fr-FR" dirty="0"/>
              <a:t>: ce n’est plus une story épique. </a:t>
            </a:r>
            <a:endParaRPr lang="fr-FR" dirty="0" smtClean="0"/>
          </a:p>
          <a:p>
            <a:r>
              <a:rPr lang="fr-FR" b="1" dirty="0" smtClean="0"/>
              <a:t>Débattue</a:t>
            </a:r>
            <a:r>
              <a:rPr lang="fr-FR" dirty="0" smtClean="0"/>
              <a:t> </a:t>
            </a:r>
            <a:r>
              <a:rPr lang="fr-FR" dirty="0"/>
              <a:t>: elle a été discutée en équipe lors des séances d’affinage, au cours de conversations. </a:t>
            </a:r>
          </a:p>
          <a:p>
            <a:r>
              <a:rPr lang="fr-FR" b="1" dirty="0" err="1" smtClean="0"/>
              <a:t>Dérisquée</a:t>
            </a:r>
            <a:r>
              <a:rPr lang="fr-FR" dirty="0" smtClean="0"/>
              <a:t> : </a:t>
            </a:r>
            <a:r>
              <a:rPr lang="fr-FR" dirty="0"/>
              <a:t>néologisme pour signifier que les risques sur cette story sont réduits. </a:t>
            </a:r>
            <a:endParaRPr lang="fr-FR" dirty="0" smtClean="0"/>
          </a:p>
          <a:p>
            <a:r>
              <a:rPr lang="fr-FR" b="1" dirty="0" err="1" smtClean="0"/>
              <a:t>Done</a:t>
            </a:r>
            <a:r>
              <a:rPr lang="fr-FR" dirty="0" err="1" smtClean="0"/>
              <a:t>:Elle</a:t>
            </a:r>
            <a:r>
              <a:rPr lang="fr-FR" dirty="0" smtClean="0"/>
              <a:t> </a:t>
            </a:r>
            <a:r>
              <a:rPr lang="fr-FR" dirty="0"/>
              <a:t>possède une définition de fini : pour qu’elle soit prête, c’est bien de savoir ce qui permettra de dire qu’elle est finie. </a:t>
            </a:r>
            <a:endParaRPr lang="fr-FR" dirty="0" smtClean="0"/>
          </a:p>
          <a:p>
            <a:r>
              <a:rPr lang="fr-FR" b="1" dirty="0" smtClean="0"/>
              <a:t>Démontrable</a:t>
            </a:r>
            <a:r>
              <a:rPr lang="fr-FR" dirty="0" smtClean="0"/>
              <a:t> </a:t>
            </a:r>
            <a:r>
              <a:rPr lang="fr-FR" dirty="0"/>
              <a:t>: on saura la montrer à la revue, lors de la démo. </a:t>
            </a:r>
            <a:endParaRPr lang="fr-FR" dirty="0" smtClean="0"/>
          </a:p>
          <a:p>
            <a:r>
              <a:rPr lang="fr-FR" b="1" dirty="0" smtClean="0"/>
              <a:t>Désirable</a:t>
            </a:r>
            <a:r>
              <a:rPr lang="fr-FR" dirty="0" smtClean="0"/>
              <a:t> </a:t>
            </a:r>
            <a:r>
              <a:rPr lang="fr-FR" dirty="0"/>
              <a:t>: pour être sûr que la story apporte de la </a:t>
            </a:r>
            <a:r>
              <a:rPr lang="fr-FR" dirty="0" smtClean="0"/>
              <a:t>valeur.</a:t>
            </a:r>
            <a:endParaRPr lang="fr-FR" dirty="0"/>
          </a:p>
        </p:txBody>
      </p:sp>
    </p:spTree>
    <p:extLst>
      <p:ext uri="{BB962C8B-B14F-4D97-AF65-F5344CB8AC3E}">
        <p14:creationId xmlns:p14="http://schemas.microsoft.com/office/powerpoint/2010/main" val="220298045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0845C5DD-1090-4968-BDF5-E966303E3ED7" descr="0845C5DD-1090-4968-BDF5-E966303E3ED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2723" y="852216"/>
            <a:ext cx="7486877" cy="5189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8648698" y="933458"/>
            <a:ext cx="3190876" cy="3416320"/>
          </a:xfrm>
          <a:prstGeom prst="rect">
            <a:avLst/>
          </a:prstGeom>
        </p:spPr>
        <p:txBody>
          <a:bodyPr wrap="square">
            <a:spAutoFit/>
          </a:bodyPr>
          <a:lstStyle/>
          <a:p>
            <a:pPr algn="just"/>
            <a:r>
              <a:rPr lang="fr-FR" i="1" dirty="0">
                <a:solidFill>
                  <a:srgbClr val="091E42"/>
                </a:solidFill>
                <a:latin typeface="Charlie Text"/>
              </a:rPr>
              <a:t>les métriques </a:t>
            </a:r>
            <a:r>
              <a:rPr lang="fr-FR" i="1" dirty="0" err="1">
                <a:solidFill>
                  <a:srgbClr val="091E42"/>
                </a:solidFill>
                <a:latin typeface="Charlie Text"/>
              </a:rPr>
              <a:t>Scrum</a:t>
            </a:r>
            <a:r>
              <a:rPr lang="fr-FR" i="1" dirty="0">
                <a:solidFill>
                  <a:srgbClr val="091E42"/>
                </a:solidFill>
                <a:latin typeface="Charlie Text"/>
              </a:rPr>
              <a:t> sont des points de données spécifiques que les équipes </a:t>
            </a:r>
            <a:r>
              <a:rPr lang="fr-FR" i="1" dirty="0" err="1">
                <a:solidFill>
                  <a:srgbClr val="091E42"/>
                </a:solidFill>
                <a:latin typeface="Charlie Text"/>
              </a:rPr>
              <a:t>Scrum</a:t>
            </a:r>
            <a:r>
              <a:rPr lang="fr-FR" i="1" dirty="0">
                <a:solidFill>
                  <a:srgbClr val="091E42"/>
                </a:solidFill>
                <a:latin typeface="Charlie Text"/>
              </a:rPr>
              <a:t> suivent et utilisent pour améliorer leur </a:t>
            </a:r>
            <a:r>
              <a:rPr lang="fr-FR" i="1" dirty="0" smtClean="0">
                <a:solidFill>
                  <a:srgbClr val="091E42"/>
                </a:solidFill>
                <a:latin typeface="Charlie Text"/>
              </a:rPr>
              <a:t>efficacité </a:t>
            </a:r>
            <a:r>
              <a:rPr lang="fr-FR" dirty="0">
                <a:solidFill>
                  <a:srgbClr val="333F48"/>
                </a:solidFill>
                <a:latin typeface="Raleway" panose="020B0003030101060003" pitchFamily="34" charset="0"/>
              </a:rPr>
              <a:t>et </a:t>
            </a:r>
            <a:r>
              <a:rPr lang="fr-FR" b="1" u="sng" dirty="0">
                <a:solidFill>
                  <a:srgbClr val="FF0000"/>
                </a:solidFill>
                <a:latin typeface="Raleway" panose="020B0003030101060003" pitchFamily="34" charset="0"/>
              </a:rPr>
              <a:t>destiné à elle seule</a:t>
            </a:r>
            <a:r>
              <a:rPr lang="fr-FR" dirty="0">
                <a:solidFill>
                  <a:srgbClr val="FF0000"/>
                </a:solidFill>
                <a:latin typeface="Raleway" panose="020B0003030101060003" pitchFamily="34" charset="0"/>
              </a:rPr>
              <a:t>. </a:t>
            </a:r>
            <a:r>
              <a:rPr lang="fr-FR" i="1" dirty="0" smtClean="0">
                <a:solidFill>
                  <a:srgbClr val="FF0000"/>
                </a:solidFill>
                <a:latin typeface="Charlie Text"/>
              </a:rPr>
              <a:t>. </a:t>
            </a:r>
          </a:p>
          <a:p>
            <a:pPr algn="just"/>
            <a:r>
              <a:rPr lang="fr-FR" i="1" dirty="0" smtClean="0">
                <a:solidFill>
                  <a:srgbClr val="091E42"/>
                </a:solidFill>
                <a:latin typeface="Charlie Text"/>
              </a:rPr>
              <a:t>Elles </a:t>
            </a:r>
            <a:r>
              <a:rPr lang="fr-FR" i="1" dirty="0">
                <a:solidFill>
                  <a:srgbClr val="091E42"/>
                </a:solidFill>
                <a:latin typeface="Charlie Text"/>
              </a:rPr>
              <a:t>permettent de prendre des décisions plus éclairées, de gagner en efficacité dans la planification et l'exécution et de définir des objectifs et des plans d'amélioration.</a:t>
            </a:r>
            <a:endParaRPr lang="fr-FR" dirty="0"/>
          </a:p>
        </p:txBody>
      </p:sp>
      <p:sp>
        <p:nvSpPr>
          <p:cNvPr id="3" name="Rectangle 2"/>
          <p:cNvSpPr/>
          <p:nvPr/>
        </p:nvSpPr>
        <p:spPr>
          <a:xfrm>
            <a:off x="8648699" y="4382147"/>
            <a:ext cx="3190875" cy="1477328"/>
          </a:xfrm>
          <a:prstGeom prst="rect">
            <a:avLst/>
          </a:prstGeom>
        </p:spPr>
        <p:txBody>
          <a:bodyPr wrap="square">
            <a:spAutoFit/>
          </a:bodyPr>
          <a:lstStyle/>
          <a:p>
            <a:pPr algn="just"/>
            <a:r>
              <a:rPr lang="fr-FR" dirty="0">
                <a:solidFill>
                  <a:srgbClr val="FF0000"/>
                </a:solidFill>
                <a:latin typeface="Charlie Text"/>
              </a:rPr>
              <a:t>Lors de la mesure des performances d'une équipe </a:t>
            </a:r>
            <a:r>
              <a:rPr lang="fr-FR" dirty="0" err="1">
                <a:solidFill>
                  <a:srgbClr val="FF0000"/>
                </a:solidFill>
                <a:latin typeface="Charlie Text"/>
              </a:rPr>
              <a:t>Scrum</a:t>
            </a:r>
            <a:r>
              <a:rPr lang="fr-FR" dirty="0">
                <a:solidFill>
                  <a:srgbClr val="FF0000"/>
                </a:solidFill>
                <a:latin typeface="Charlie Text"/>
              </a:rPr>
              <a:t>, il est important de prendre en compte des métriques non liées à </a:t>
            </a:r>
            <a:r>
              <a:rPr lang="fr-FR" dirty="0" err="1">
                <a:solidFill>
                  <a:srgbClr val="FF0000"/>
                </a:solidFill>
                <a:latin typeface="Charlie Text"/>
              </a:rPr>
              <a:t>Scrum</a:t>
            </a:r>
            <a:endParaRPr lang="fr-FR" dirty="0">
              <a:solidFill>
                <a:srgbClr val="FF0000"/>
              </a:solidFill>
            </a:endParaRPr>
          </a:p>
        </p:txBody>
      </p:sp>
      <p:sp>
        <p:nvSpPr>
          <p:cNvPr id="5" name="Rectangle 4"/>
          <p:cNvSpPr/>
          <p:nvPr/>
        </p:nvSpPr>
        <p:spPr>
          <a:xfrm>
            <a:off x="336370" y="6041753"/>
            <a:ext cx="11503204" cy="646331"/>
          </a:xfrm>
          <a:prstGeom prst="rect">
            <a:avLst/>
          </a:prstGeom>
          <a:solidFill>
            <a:schemeClr val="accent4">
              <a:lumMod val="60000"/>
              <a:lumOff val="40000"/>
            </a:schemeClr>
          </a:solidFill>
        </p:spPr>
        <p:txBody>
          <a:bodyPr wrap="square">
            <a:spAutoFit/>
          </a:bodyPr>
          <a:lstStyle/>
          <a:p>
            <a:r>
              <a:rPr lang="fr-FR" dirty="0" smtClean="0">
                <a:solidFill>
                  <a:srgbClr val="333F48"/>
                </a:solidFill>
                <a:latin typeface="Raleway" panose="020B0003030101060003" pitchFamily="34" charset="0"/>
              </a:rPr>
              <a:t>Métriques Mal utilisées, sont à </a:t>
            </a:r>
            <a:r>
              <a:rPr lang="fr-FR" dirty="0">
                <a:solidFill>
                  <a:srgbClr val="333F48"/>
                </a:solidFill>
                <a:latin typeface="Raleway" panose="020B0003030101060003" pitchFamily="34" charset="0"/>
              </a:rPr>
              <a:t>l’origine d’une pression accrue sur l’équipe et sa démotivation</a:t>
            </a:r>
            <a:r>
              <a:rPr lang="fr-FR" dirty="0" smtClean="0">
                <a:solidFill>
                  <a:srgbClr val="333F48"/>
                </a:solidFill>
                <a:latin typeface="Raleway" panose="020B0003030101060003" pitchFamily="34" charset="0"/>
              </a:rPr>
              <a:t>. « </a:t>
            </a:r>
            <a:r>
              <a:rPr lang="fr-FR" dirty="0" smtClean="0"/>
              <a:t>ne </a:t>
            </a:r>
            <a:r>
              <a:rPr lang="fr-FR" dirty="0"/>
              <a:t>doit </a:t>
            </a:r>
            <a:r>
              <a:rPr lang="fr-FR" dirty="0" smtClean="0"/>
              <a:t> </a:t>
            </a:r>
            <a:r>
              <a:rPr lang="fr-FR" dirty="0"/>
              <a:t>pas être utilisée par le </a:t>
            </a:r>
            <a:r>
              <a:rPr lang="fr-FR" dirty="0" smtClean="0"/>
              <a:t>management »</a:t>
            </a:r>
            <a:endParaRPr lang="fr-FR" dirty="0"/>
          </a:p>
        </p:txBody>
      </p:sp>
    </p:spTree>
    <p:extLst>
      <p:ext uri="{BB962C8B-B14F-4D97-AF65-F5344CB8AC3E}">
        <p14:creationId xmlns:p14="http://schemas.microsoft.com/office/powerpoint/2010/main" val="103877955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B868739C-1ED8-48A5-97E1-303D647BE869" descr="B868739C-1ED8-48A5-97E1-303D647BE86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6910" y="849494"/>
            <a:ext cx="8359640"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6015389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3C4650A2-B80D-472B-8273-318649C6F2A5" descr="3C4650A2-B80D-472B-8273-318649C6F2A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2075" y="605655"/>
            <a:ext cx="10164763"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3971924" y="390436"/>
            <a:ext cx="7858125" cy="923330"/>
          </a:xfrm>
          <a:prstGeom prst="rect">
            <a:avLst/>
          </a:prstGeom>
          <a:solidFill>
            <a:schemeClr val="accent4"/>
          </a:solidFill>
        </p:spPr>
        <p:txBody>
          <a:bodyPr wrap="square">
            <a:spAutoFit/>
          </a:bodyPr>
          <a:lstStyle/>
          <a:p>
            <a:r>
              <a:rPr lang="fr-FR" dirty="0">
                <a:solidFill>
                  <a:srgbClr val="333F48"/>
                </a:solidFill>
                <a:latin typeface="Raleway" panose="020B0003030101060003" pitchFamily="34" charset="0"/>
              </a:rPr>
              <a:t>Une fois la vélocité agile stabilisée, il est donc possible de prévoir assez fidèlement le nombre de points d’effort que pourra réaliser l’équipe, et donc d’optimiser la sélection des </a:t>
            </a:r>
            <a:r>
              <a:rPr lang="fr-FR" dirty="0" smtClean="0">
                <a:solidFill>
                  <a:srgbClr val="333F48"/>
                </a:solidFill>
                <a:latin typeface="Raleway" panose="020B0003030101060003" pitchFamily="34" charset="0"/>
              </a:rPr>
              <a:t>US </a:t>
            </a:r>
            <a:r>
              <a:rPr lang="fr-FR" dirty="0">
                <a:solidFill>
                  <a:srgbClr val="333F48"/>
                </a:solidFill>
                <a:latin typeface="Raleway" panose="020B0003030101060003" pitchFamily="34" charset="0"/>
              </a:rPr>
              <a:t>à réaliser durant le prochain sprint.</a:t>
            </a:r>
            <a:endParaRPr lang="fr-FR" dirty="0"/>
          </a:p>
        </p:txBody>
      </p:sp>
    </p:spTree>
    <p:extLst>
      <p:ext uri="{BB962C8B-B14F-4D97-AF65-F5344CB8AC3E}">
        <p14:creationId xmlns:p14="http://schemas.microsoft.com/office/powerpoint/2010/main" val="60394545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5953042B-C9A2-45D0-A304-3C89C7C7F903" descr="5953042B-C9A2-45D0-A304-3C89C7C7F90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8532" y="753700"/>
            <a:ext cx="10164763"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8618148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03EF34F4-0F1E-48A9-880E-12FD9AFEDDCF" descr="03EF34F4-0F1E-48A9-880E-12FD9AFEDDC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9161" y="640488"/>
            <a:ext cx="10164763"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2444489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24A2A9D1-AF0B-40AE-B4B7-3EF927FAA401" descr="24A2A9D1-AF0B-40AE-B4B7-3EF927FAA4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6577" y="727574"/>
            <a:ext cx="10164763"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1995618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8A6B8185-F124-492E-93A3-6F325B548C49" descr="8A6B8185-F124-492E-93A3-6F325B548C4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3995" y="640489"/>
            <a:ext cx="10164763"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5965600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3F082F60-94DE-4918-98C5-1AC9E54EC85B" descr="3F082F60-94DE-4918-98C5-1AC9E54EC85B"/>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6909" y="701448"/>
            <a:ext cx="10164763"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70796875"/>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5099</Words>
  <Application>Microsoft Office PowerPoint</Application>
  <PresentationFormat>Grand écran</PresentationFormat>
  <Paragraphs>298</Paragraphs>
  <Slides>52</Slides>
  <Notes>0</Notes>
  <HiddenSlides>0</HiddenSlides>
  <MMClips>0</MMClips>
  <ScaleCrop>false</ScaleCrop>
  <HeadingPairs>
    <vt:vector size="6" baseType="variant">
      <vt:variant>
        <vt:lpstr>Polices utilisées</vt:lpstr>
      </vt:variant>
      <vt:variant>
        <vt:i4>9</vt:i4>
      </vt:variant>
      <vt:variant>
        <vt:lpstr>Thème</vt:lpstr>
      </vt:variant>
      <vt:variant>
        <vt:i4>1</vt:i4>
      </vt:variant>
      <vt:variant>
        <vt:lpstr>Titres des diapositives</vt:lpstr>
      </vt:variant>
      <vt:variant>
        <vt:i4>52</vt:i4>
      </vt:variant>
    </vt:vector>
  </HeadingPairs>
  <TitlesOfParts>
    <vt:vector size="62" baseType="lpstr">
      <vt:lpstr>Arial</vt:lpstr>
      <vt:lpstr>Calibri</vt:lpstr>
      <vt:lpstr>Calibri Light</vt:lpstr>
      <vt:lpstr>Charlie Text</vt:lpstr>
      <vt:lpstr>inherit</vt:lpstr>
      <vt:lpstr>Linux Libertine</vt:lpstr>
      <vt:lpstr>Palatino Linotype</vt:lpstr>
      <vt:lpstr>Raleway</vt:lpstr>
      <vt:lpstr>Wingdings</vt:lpstr>
      <vt:lpstr>Thème Office</vt:lpstr>
      <vt:lpstr>CH2- Agilité et agilité à l’echelle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L’histoire du guide PMBOK</dc:title>
  <dc:creator/>
  <cp:keywords>Faouzi SALEM</cp:keywords>
  <cp:lastModifiedBy/>
  <cp:revision>114</cp:revision>
  <dcterms:created xsi:type="dcterms:W3CDTF">2023-10-02T09:03:47Z</dcterms:created>
  <dcterms:modified xsi:type="dcterms:W3CDTF">2023-11-23T20:33:03Z</dcterms:modified>
</cp:coreProperties>
</file>