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sldIdLst>
    <p:sldId id="256" r:id="rId5"/>
    <p:sldId id="570" r:id="rId6"/>
    <p:sldId id="569" r:id="rId7"/>
    <p:sldId id="388" r:id="rId8"/>
    <p:sldId id="403" r:id="rId9"/>
    <p:sldId id="420" r:id="rId10"/>
    <p:sldId id="444" r:id="rId11"/>
    <p:sldId id="445" r:id="rId12"/>
    <p:sldId id="489" r:id="rId13"/>
    <p:sldId id="523" r:id="rId14"/>
    <p:sldId id="547" r:id="rId15"/>
    <p:sldId id="549" r:id="rId16"/>
    <p:sldId id="568" r:id="rId17"/>
    <p:sldId id="261" r:id="rId18"/>
    <p:sldId id="28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47" autoAdjust="0"/>
    <p:restoredTop sz="94660"/>
  </p:normalViewPr>
  <p:slideViewPr>
    <p:cSldViewPr snapToGrid="0">
      <p:cViewPr varScale="1">
        <p:scale>
          <a:sx n="65" d="100"/>
          <a:sy n="65" d="100"/>
        </p:scale>
        <p:origin x="5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10/31/2023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409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10/31/2023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269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10/31/2023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02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10/31/2023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836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10/31/2023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944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10/31/2023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047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10/31/2023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28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10/31/2023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394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10/31/2023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757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10/31/2023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45675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10/31/2023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82411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10/31/2023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9994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10/31/2023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447302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10/31/2023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67790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10/31/2023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8705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10/31/2023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992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10/31/2023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83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DFC0DC-A8EF-4739-88B9-61CCCAB943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Digital Transformation Strategy of *</a:t>
            </a:r>
            <a:r>
              <a:rPr lang="en-US" dirty="0" err="1"/>
              <a:t>Entreprise</a:t>
            </a:r>
            <a:r>
              <a:rPr lang="en-US" dirty="0"/>
              <a:t>***</a:t>
            </a:r>
            <a:endParaRPr lang="fr-TN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0E7C9C6-2D7E-42F9-BFF6-C19B3C46C6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Bureau Conseil : *IDEA Lab Conseil*</a:t>
            </a:r>
          </a:p>
          <a:p>
            <a:r>
              <a:rPr lang="en-US" dirty="0"/>
              <a:t>Name 1: </a:t>
            </a:r>
          </a:p>
          <a:p>
            <a:r>
              <a:rPr lang="en-US" dirty="0"/>
              <a:t>Name 2: </a:t>
            </a:r>
          </a:p>
          <a:p>
            <a:r>
              <a:rPr lang="en-US" dirty="0"/>
              <a:t>Name 3: </a:t>
            </a:r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2618331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5D6247-1159-4BA4-B356-E85929008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934C72-5079-4161-9BDA-1C0BA7E3A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Digital Transformation Strategy of **</a:t>
            </a:r>
          </a:p>
          <a:p>
            <a:r>
              <a:rPr lang="en-US" dirty="0"/>
              <a:t>Minimum Viable Product: Fiche de </a:t>
            </a:r>
            <a:r>
              <a:rPr lang="en-US"/>
              <a:t>Projet</a:t>
            </a:r>
            <a:endParaRPr lang="en-US" dirty="0"/>
          </a:p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3580249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D45B9C-BE37-4DA7-9E6E-65742EFD0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255" y="624110"/>
            <a:ext cx="10072254" cy="1280890"/>
          </a:xfrm>
        </p:spPr>
        <p:txBody>
          <a:bodyPr>
            <a:normAutofit/>
          </a:bodyPr>
          <a:lstStyle/>
          <a:p>
            <a:r>
              <a:rPr lang="en-US" sz="3200" b="1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Chapter 1: What is Digital Transformation for “</a:t>
            </a:r>
            <a:r>
              <a:rPr lang="en-US" sz="3200" b="1" i="0" dirty="0" err="1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Entreprise</a:t>
            </a:r>
            <a:r>
              <a:rPr lang="en-US" sz="3200" b="1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”?</a:t>
            </a:r>
            <a:endParaRPr lang="fr-TN" sz="32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356E8D-0394-4052-BDEF-547566E53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8" y="2008909"/>
            <a:ext cx="8183371" cy="4126899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A digital transformation can introduce: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A digital transformation will impact an organization’s:</a:t>
            </a:r>
          </a:p>
          <a:p>
            <a:pPr>
              <a:spcAft>
                <a:spcPts val="1200"/>
              </a:spcAft>
            </a:pPr>
            <a:r>
              <a:rPr lang="en-US" sz="2000" i="0" dirty="0">
                <a:effectLst/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Business, Technology, Data and People</a:t>
            </a:r>
          </a:p>
          <a:p>
            <a:pPr>
              <a:spcAft>
                <a:spcPts val="1200"/>
              </a:spcAft>
            </a:pPr>
            <a:r>
              <a:rPr lang="en-US" sz="2000" i="0" dirty="0">
                <a:effectLst/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Digital Transformation and Technology</a:t>
            </a:r>
          </a:p>
          <a:p>
            <a:pPr>
              <a:spcAft>
                <a:spcPts val="1200"/>
              </a:spcAft>
            </a:pPr>
            <a:r>
              <a:rPr lang="en-US" sz="2000" i="0" dirty="0">
                <a:solidFill>
                  <a:srgbClr val="3D3B49"/>
                </a:solidFill>
                <a:effectLst/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Digital Transformation and Data</a:t>
            </a:r>
          </a:p>
          <a:p>
            <a:pPr>
              <a:spcAft>
                <a:spcPts val="1200"/>
              </a:spcAft>
            </a:pPr>
            <a:r>
              <a:rPr lang="en-US" sz="2000" i="0" dirty="0">
                <a:solidFill>
                  <a:srgbClr val="3D3B49"/>
                </a:solidFill>
                <a:effectLst/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Digital Transformation and People</a:t>
            </a:r>
          </a:p>
          <a:p>
            <a:pPr>
              <a:spcAft>
                <a:spcPts val="1200"/>
              </a:spcAft>
            </a:pPr>
            <a:r>
              <a:rPr lang="en-US" sz="2000" i="0" dirty="0">
                <a:solidFill>
                  <a:srgbClr val="3D3B49"/>
                </a:solidFill>
                <a:effectLst/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Digital Transformation and Organizations and Solutions</a:t>
            </a:r>
          </a:p>
          <a:p>
            <a:pPr>
              <a:spcAft>
                <a:spcPts val="1200"/>
              </a:spcAft>
            </a:pPr>
            <a:endParaRPr lang="en-US" sz="2000" dirty="0">
              <a:latin typeface="Noto Serif" panose="02020600060500020200" pitchFamily="18" charset="0"/>
              <a:ea typeface="Noto Serif" panose="02020600060500020200" pitchFamily="18" charset="0"/>
              <a:cs typeface="Noto Serif" panose="02020600060500020200" pitchFamily="18" charset="0"/>
            </a:endParaRPr>
          </a:p>
          <a:p>
            <a:pPr>
              <a:spcAft>
                <a:spcPts val="1200"/>
              </a:spcAft>
            </a:pPr>
            <a:endParaRPr lang="en-US" sz="2000" i="0" dirty="0">
              <a:effectLst/>
              <a:latin typeface="Noto Serif" panose="02020600060500020200" pitchFamily="18" charset="0"/>
              <a:ea typeface="Noto Serif" panose="02020600060500020200" pitchFamily="18" charset="0"/>
              <a:cs typeface="Noto Serif" panose="02020600060500020200" pitchFamily="18" charset="0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CCD86C-A862-43F5-997C-D62A87F43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@HabibFathallah, University of Carthage, </a:t>
            </a:r>
            <a:r>
              <a:rPr lang="en-US" dirty="0" err="1"/>
              <a:t>DigitalTransformation</a:t>
            </a:r>
            <a:r>
              <a:rPr lang="en-US" dirty="0"/>
              <a:t>, </a:t>
            </a:r>
            <a:r>
              <a:rPr lang="en-US" dirty="0" err="1"/>
              <a:t>TextBook</a:t>
            </a:r>
            <a:r>
              <a:rPr lang="en-US" dirty="0"/>
              <a:t>: </a:t>
            </a:r>
            <a:r>
              <a:rPr lang="en-US" dirty="0" err="1"/>
              <a:t>RogerThomas</a:t>
            </a:r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2238088-F948-4572-8E3A-6D57127D0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pic>
        <p:nvPicPr>
          <p:cNvPr id="8" name="Picture 2" descr="Images">
            <a:extLst>
              <a:ext uri="{FF2B5EF4-FFF2-40B4-BE49-F238E27FC236}">
                <a16:creationId xmlns:a16="http://schemas.microsoft.com/office/drawing/2014/main" id="{45360665-1B44-4EF0-B9A3-BF770F4C1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748" y="2058877"/>
            <a:ext cx="3095761" cy="407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104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D45B9C-BE37-4DA7-9E6E-65742EFD0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255" y="624110"/>
            <a:ext cx="9969933" cy="1280890"/>
          </a:xfrm>
        </p:spPr>
        <p:txBody>
          <a:bodyPr/>
          <a:lstStyle/>
          <a:p>
            <a:r>
              <a:rPr lang="en-US" b="1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Chapter 2: What Led to Digital Transformation?)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356E8D-0394-4052-BDEF-547566E53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8" y="2008909"/>
            <a:ext cx="8183371" cy="4061309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l">
              <a:spcAft>
                <a:spcPts val="1200"/>
              </a:spcAft>
            </a:pPr>
            <a:r>
              <a:rPr lang="en-US" sz="2400" b="0" i="0" dirty="0">
                <a:solidFill>
                  <a:schemeClr val="accent6">
                    <a:lumMod val="50000"/>
                  </a:schemeClr>
                </a:solidFill>
                <a:effectLst/>
                <a:latin typeface="Noto serif" panose="02020600060500020200" pitchFamily="18" charset="0"/>
              </a:rPr>
              <a:t>Losing Touch with Customer Communities</a:t>
            </a:r>
          </a:p>
          <a:p>
            <a:pPr algn="l">
              <a:spcAft>
                <a:spcPts val="1200"/>
              </a:spcAft>
            </a:pPr>
            <a:r>
              <a:rPr lang="en-US" sz="2400" b="0" i="0" dirty="0">
                <a:solidFill>
                  <a:schemeClr val="accent6">
                    <a:lumMod val="50000"/>
                  </a:schemeClr>
                </a:solidFill>
                <a:effectLst/>
                <a:latin typeface="Noto serif" panose="02020600060500020200" pitchFamily="18" charset="0"/>
              </a:rPr>
              <a:t>Inability to Grow in Stale Marketplaces</a:t>
            </a:r>
          </a:p>
          <a:p>
            <a:pPr algn="l">
              <a:spcAft>
                <a:spcPts val="1200"/>
              </a:spcAft>
            </a:pPr>
            <a:r>
              <a:rPr lang="en-US" sz="2400" b="0" i="0" dirty="0">
                <a:solidFill>
                  <a:schemeClr val="accent6">
                    <a:lumMod val="50000"/>
                  </a:schemeClr>
                </a:solidFill>
                <a:effectLst/>
                <a:latin typeface="Noto serif" panose="02020600060500020200" pitchFamily="18" charset="0"/>
              </a:rPr>
              <a:t>Inability to Adapt to Rapidly Changing Marketplaces</a:t>
            </a:r>
          </a:p>
          <a:p>
            <a:pPr algn="l">
              <a:spcAft>
                <a:spcPts val="1200"/>
              </a:spcAft>
            </a:pPr>
            <a:r>
              <a:rPr lang="en-US" sz="2400" b="0" i="0" dirty="0">
                <a:solidFill>
                  <a:schemeClr val="accent6">
                    <a:lumMod val="50000"/>
                  </a:schemeClr>
                </a:solidFill>
                <a:effectLst/>
                <a:latin typeface="Noto serif" panose="02020600060500020200" pitchFamily="18" charset="0"/>
              </a:rPr>
              <a:t>Cold Customer Relationships</a:t>
            </a:r>
          </a:p>
          <a:p>
            <a:pPr algn="l">
              <a:spcAft>
                <a:spcPts val="1200"/>
              </a:spcAft>
            </a:pPr>
            <a:r>
              <a:rPr lang="en-US" sz="2400" b="0" i="0" dirty="0">
                <a:solidFill>
                  <a:schemeClr val="accent6">
                    <a:lumMod val="50000"/>
                  </a:schemeClr>
                </a:solidFill>
                <a:effectLst/>
                <a:latin typeface="Noto serif" panose="02020600060500020200" pitchFamily="18" charset="0"/>
              </a:rPr>
              <a:t>Inefficient Operations</a:t>
            </a:r>
          </a:p>
          <a:p>
            <a:pPr algn="l">
              <a:spcAft>
                <a:spcPts val="1200"/>
              </a:spcAft>
            </a:pPr>
            <a:r>
              <a:rPr lang="en-US" sz="2400" b="0" i="0" dirty="0">
                <a:solidFill>
                  <a:schemeClr val="accent6">
                    <a:lumMod val="50000"/>
                  </a:schemeClr>
                </a:solidFill>
                <a:effectLst/>
                <a:latin typeface="Noto serif" panose="02020600060500020200" pitchFamily="18" charset="0"/>
              </a:rPr>
              <a:t>Inefficient Decision-Making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CCD86C-A862-43F5-997C-D62A87F43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@HabibFathallah, University of Carthage, DigitalTransformation, TextBook: RogerThomas</a:t>
            </a:r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2238088-F948-4572-8E3A-6D57127D0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pic>
        <p:nvPicPr>
          <p:cNvPr id="4" name="Picture 2" descr="Images">
            <a:extLst>
              <a:ext uri="{FF2B5EF4-FFF2-40B4-BE49-F238E27FC236}">
                <a16:creationId xmlns:a16="http://schemas.microsoft.com/office/drawing/2014/main" id="{12E349C6-75A7-41E4-B6D1-9A35CF08F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3862" y="3731697"/>
            <a:ext cx="2190750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929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240D28-5A8D-4D32-B4F1-263FE7E30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5673" y="1676399"/>
            <a:ext cx="9775767" cy="4585855"/>
          </a:xfr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fr-029" sz="2400" dirty="0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 </a:t>
            </a:r>
            <a:r>
              <a:rPr lang="fr-029" sz="2400" dirty="0" err="1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Enhanced</a:t>
            </a:r>
            <a:r>
              <a:rPr lang="fr-029" sz="2400" dirty="0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 and Diverse Data Collection</a:t>
            </a:r>
          </a:p>
          <a:p>
            <a:pPr>
              <a:spcAft>
                <a:spcPts val="1200"/>
              </a:spcAft>
            </a:pPr>
            <a:r>
              <a:rPr lang="fr-029" sz="2400" dirty="0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 </a:t>
            </a:r>
            <a:r>
              <a:rPr lang="fr-029" sz="2400" dirty="0" err="1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Contemporary</a:t>
            </a:r>
            <a:r>
              <a:rPr lang="fr-029" sz="2400" dirty="0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 Data Science</a:t>
            </a:r>
          </a:p>
          <a:p>
            <a:pPr>
              <a:spcAft>
                <a:spcPts val="1200"/>
              </a:spcAft>
            </a:pPr>
            <a:r>
              <a:rPr lang="fr-029" sz="2400" dirty="0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 </a:t>
            </a:r>
            <a:r>
              <a:rPr lang="fr-029" sz="2400" dirty="0" err="1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Sophisticated</a:t>
            </a:r>
            <a:r>
              <a:rPr lang="fr-029" sz="2400" dirty="0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 Automation </a:t>
            </a:r>
            <a:r>
              <a:rPr lang="fr-029" sz="2400" dirty="0" err="1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Technology</a:t>
            </a:r>
            <a:endParaRPr lang="fr-029" sz="2400" dirty="0">
              <a:solidFill>
                <a:schemeClr val="accent6">
                  <a:lumMod val="50000"/>
                </a:schemeClr>
              </a:solidFill>
              <a:latin typeface="Noto serif" panose="02020600060500020200" pitchFamily="18" charset="0"/>
            </a:endParaRPr>
          </a:p>
          <a:p>
            <a:pPr>
              <a:spcAft>
                <a:spcPts val="1200"/>
              </a:spcAft>
            </a:pPr>
            <a:r>
              <a:rPr lang="fr-029" sz="2400" dirty="0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 </a:t>
            </a:r>
            <a:r>
              <a:rPr lang="fr-029" sz="2400" dirty="0" err="1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Autonomous</a:t>
            </a:r>
            <a:r>
              <a:rPr lang="fr-029" sz="2400" dirty="0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 </a:t>
            </a:r>
            <a:r>
              <a:rPr lang="fr-029" sz="2400" dirty="0" err="1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Decision-Making</a:t>
            </a:r>
            <a:endParaRPr lang="fr-029" sz="2400" dirty="0">
              <a:solidFill>
                <a:schemeClr val="accent6">
                  <a:lumMod val="50000"/>
                </a:schemeClr>
              </a:solidFill>
              <a:latin typeface="Noto serif" panose="02020600060500020200" pitchFamily="18" charset="0"/>
            </a:endParaRPr>
          </a:p>
          <a:p>
            <a:pPr>
              <a:spcAft>
                <a:spcPts val="1200"/>
              </a:spcAft>
            </a:pPr>
            <a:r>
              <a:rPr lang="fr-029" sz="2400" dirty="0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 </a:t>
            </a:r>
            <a:r>
              <a:rPr lang="fr-029" sz="2400" dirty="0" err="1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Centralized</a:t>
            </a:r>
            <a:r>
              <a:rPr lang="fr-029" sz="2400" dirty="0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, Scalable, </a:t>
            </a:r>
            <a:r>
              <a:rPr lang="fr-029" sz="2400" dirty="0" err="1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Resilient</a:t>
            </a:r>
            <a:r>
              <a:rPr lang="fr-029" sz="2400" dirty="0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 IT </a:t>
            </a:r>
            <a:r>
              <a:rPr lang="fr-029" sz="2400" dirty="0" err="1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Resources</a:t>
            </a:r>
            <a:endParaRPr lang="fr-029" sz="2400" dirty="0">
              <a:solidFill>
                <a:schemeClr val="accent6">
                  <a:lumMod val="50000"/>
                </a:schemeClr>
              </a:solidFill>
              <a:latin typeface="Noto serif" panose="02020600060500020200" pitchFamily="18" charset="0"/>
            </a:endParaRPr>
          </a:p>
          <a:p>
            <a:pPr>
              <a:spcAft>
                <a:spcPts val="1200"/>
              </a:spcAft>
            </a:pPr>
            <a:r>
              <a:rPr lang="fr-029" sz="2400" dirty="0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 Immutable Data Storage</a:t>
            </a:r>
          </a:p>
          <a:p>
            <a:pPr>
              <a:spcAft>
                <a:spcPts val="1200"/>
              </a:spcAft>
            </a:pPr>
            <a:r>
              <a:rPr lang="fr-029" sz="2400" dirty="0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 </a:t>
            </a:r>
            <a:r>
              <a:rPr lang="fr-029" sz="2400" dirty="0" err="1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Ubiquitous</a:t>
            </a:r>
            <a:r>
              <a:rPr lang="fr-029" sz="2400" dirty="0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 </a:t>
            </a:r>
            <a:r>
              <a:rPr lang="fr-029" sz="2400" dirty="0" err="1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Multiexperience</a:t>
            </a:r>
            <a:r>
              <a:rPr lang="fr-029" sz="2400" dirty="0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 Access</a:t>
            </a:r>
          </a:p>
          <a:p>
            <a:pPr>
              <a:spcAft>
                <a:spcPts val="1200"/>
              </a:spcAft>
            </a:pPr>
            <a:endParaRPr lang="fr-029" sz="2400" u="sng" dirty="0">
              <a:solidFill>
                <a:schemeClr val="accent6">
                  <a:lumMod val="50000"/>
                </a:schemeClr>
              </a:solidFill>
              <a:latin typeface="Noto serif" panose="02020600060500020200" pitchFamily="18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6ED1310-994B-4DC0-9A27-29129667306C}"/>
              </a:ext>
            </a:extLst>
          </p:cNvPr>
          <p:cNvSpPr txBox="1">
            <a:spLocks/>
          </p:cNvSpPr>
          <p:nvPr/>
        </p:nvSpPr>
        <p:spPr>
          <a:xfrm>
            <a:off x="1712218" y="161141"/>
            <a:ext cx="10230400" cy="626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spcBef>
                <a:spcPct val="0"/>
              </a:spcBef>
              <a:buNone/>
              <a:defRPr sz="3600" b="1" i="0">
                <a:solidFill>
                  <a:srgbClr val="3D3B49"/>
                </a:solidFill>
                <a:effectLst/>
                <a:latin typeface="Noto Serif" panose="02020600060500020200" pitchFamily="18" charset="0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fr-029" dirty="0" err="1"/>
              <a:t>Chapter</a:t>
            </a:r>
            <a:r>
              <a:rPr lang="fr-029" dirty="0"/>
              <a:t> 3: Common </a:t>
            </a:r>
            <a:r>
              <a:rPr lang="fr-029" dirty="0" err="1"/>
              <a:t>Technology</a:t>
            </a:r>
            <a:r>
              <a:rPr lang="fr-029" dirty="0"/>
              <a:t> Drivers </a:t>
            </a:r>
          </a:p>
          <a:p>
            <a:r>
              <a:rPr lang="fr-029" dirty="0"/>
              <a:t>(</a:t>
            </a:r>
            <a:r>
              <a:rPr lang="fr-029" dirty="0" err="1"/>
              <a:t>What</a:t>
            </a:r>
            <a:r>
              <a:rPr lang="fr-029" dirty="0"/>
              <a:t> Enables Digital Transformation?)</a:t>
            </a:r>
            <a:endParaRPr lang="fr-TN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0B296E3-6B7E-4C39-B69F-9AC6E8C81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@HabibFathallah, University of Carthage, DigitalTransformation, TextBook: RogerThomas</a:t>
            </a:r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C952EAF-5979-4179-91C3-984302313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680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1F14A973-9464-4DFC-A9D8-2E4102A1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Chapter 4. Common Benefits and Goals (Why Undergo a Digital Transformation?)</a:t>
            </a:r>
            <a:br>
              <a:rPr lang="en-US" b="1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</a:b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BDF3EC-1E85-4081-80EE-D33331EBE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Enhanced Business Alignment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Enhanced Automation and Productivity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Enhanced Data Intelligence and Decision-Making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Improved Customer Experience and Customer Confidence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Improved Organizational Agility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Noto serif" panose="02020600060500020200" pitchFamily="18" charset="0"/>
              </a:rPr>
              <a:t>Improved Ability to Attain Market Growth</a:t>
            </a:r>
          </a:p>
          <a:p>
            <a:pPr>
              <a:spcAft>
                <a:spcPts val="1200"/>
              </a:spcAft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Noto serif" panose="02020600060500020200" pitchFamily="18" charset="0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3C1595E-7742-43A7-8AC8-FF4B88AF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@HabibFathallah, University of Carthage, </a:t>
            </a:r>
            <a:r>
              <a:rPr lang="en-US" dirty="0" err="1"/>
              <a:t>DigitalTransformation</a:t>
            </a:r>
            <a:r>
              <a:rPr lang="en-US" dirty="0"/>
              <a:t>, </a:t>
            </a:r>
            <a:r>
              <a:rPr lang="en-US" dirty="0" err="1"/>
              <a:t>TextBook</a:t>
            </a:r>
            <a:r>
              <a:rPr lang="en-US" dirty="0"/>
              <a:t>: </a:t>
            </a:r>
            <a:r>
              <a:rPr lang="en-US" dirty="0" err="1"/>
              <a:t>RogerThomas</a:t>
            </a:r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F10CD24-0E98-4904-9268-7C4828143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214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8B3A59-08A4-4A88-954C-01E35681E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Chapter 5. Common Risks and Challenges (What Are the Pitfalls?)</a:t>
            </a:r>
            <a:br>
              <a:rPr lang="en-US" b="1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</a:b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FCB171-8F4F-4764-901A-BED6AB948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0635" y="1980530"/>
            <a:ext cx="9156266" cy="407974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4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Poor Data Quality and Data Bias</a:t>
            </a:r>
          </a:p>
          <a:p>
            <a:pPr>
              <a:spcBef>
                <a:spcPts val="0"/>
              </a:spcBef>
            </a:pPr>
            <a:endParaRPr lang="en-US" sz="2400" dirty="0">
              <a:latin typeface="Noto Serif" panose="02020600060500020200" pitchFamily="18" charset="0"/>
              <a:ea typeface="Noto Serif" panose="02020600060500020200" pitchFamily="18" charset="0"/>
              <a:cs typeface="Noto Serif" panose="02020600060500020200" pitchFamily="18" charset="0"/>
            </a:endParaRPr>
          </a:p>
          <a:p>
            <a:pPr>
              <a:spcBef>
                <a:spcPts val="0"/>
              </a:spcBef>
            </a:pPr>
            <a:r>
              <a:rPr lang="en-US" sz="24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Increased Quantity of Vulnerable Digital Data</a:t>
            </a:r>
          </a:p>
          <a:p>
            <a:pPr>
              <a:spcBef>
                <a:spcPts val="0"/>
              </a:spcBef>
            </a:pPr>
            <a:endParaRPr lang="en-US" sz="2400" dirty="0">
              <a:latin typeface="Noto Serif" panose="02020600060500020200" pitchFamily="18" charset="0"/>
              <a:ea typeface="Noto Serif" panose="02020600060500020200" pitchFamily="18" charset="0"/>
              <a:cs typeface="Noto Serif" panose="02020600060500020200" pitchFamily="18" charset="0"/>
            </a:endParaRPr>
          </a:p>
          <a:p>
            <a:pPr>
              <a:spcBef>
                <a:spcPts val="0"/>
              </a:spcBef>
            </a:pPr>
            <a:r>
              <a:rPr lang="en-US" sz="24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Resistance to Digital Culture</a:t>
            </a:r>
          </a:p>
          <a:p>
            <a:pPr>
              <a:spcBef>
                <a:spcPts val="0"/>
              </a:spcBef>
            </a:pPr>
            <a:endParaRPr lang="en-US" sz="2400" dirty="0">
              <a:latin typeface="Noto Serif" panose="02020600060500020200" pitchFamily="18" charset="0"/>
              <a:ea typeface="Noto Serif" panose="02020600060500020200" pitchFamily="18" charset="0"/>
              <a:cs typeface="Noto Serif" panose="02020600060500020200" pitchFamily="18" charset="0"/>
            </a:endParaRPr>
          </a:p>
          <a:p>
            <a:pPr>
              <a:spcBef>
                <a:spcPts val="0"/>
              </a:spcBef>
            </a:pPr>
            <a:r>
              <a:rPr lang="en-US" sz="24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Risk of Over-Automation</a:t>
            </a:r>
          </a:p>
          <a:p>
            <a:pPr>
              <a:spcBef>
                <a:spcPts val="0"/>
              </a:spcBef>
            </a:pPr>
            <a:endParaRPr lang="en-US" sz="2400" dirty="0">
              <a:latin typeface="Noto Serif" panose="02020600060500020200" pitchFamily="18" charset="0"/>
              <a:ea typeface="Noto Serif" panose="02020600060500020200" pitchFamily="18" charset="0"/>
              <a:cs typeface="Noto Serif" panose="02020600060500020200" pitchFamily="18" charset="0"/>
            </a:endParaRPr>
          </a:p>
          <a:p>
            <a:pPr>
              <a:spcBef>
                <a:spcPts val="0"/>
              </a:spcBef>
            </a:pPr>
            <a:r>
              <a:rPr lang="en-US" sz="24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Difficult to Govern</a:t>
            </a:r>
            <a:endParaRPr lang="fr-TN" sz="2400" dirty="0">
              <a:latin typeface="Noto Serif" panose="02020600060500020200" pitchFamily="18" charset="0"/>
              <a:ea typeface="Noto Serif" panose="02020600060500020200" pitchFamily="18" charset="0"/>
              <a:cs typeface="Noto Serif" panose="02020600060500020200" pitchFamily="18" charset="0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11A832-EC9A-4D2D-9A64-01FC0A371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@HabibFathallah, University of Carthage, DigitalTransformation, TextBook: RogerThomas</a:t>
            </a:r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63A622-D871-4229-A94E-4FCDB9DE7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691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97D2E6-E3E7-49B7-8A2B-155C26EE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029" b="1" i="0" dirty="0" err="1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Chapter</a:t>
            </a:r>
            <a:r>
              <a:rPr lang="fr-029" b="1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 6. </a:t>
            </a:r>
            <a:r>
              <a:rPr lang="fr-029" b="1" i="0" dirty="0" err="1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Realizing</a:t>
            </a:r>
            <a:r>
              <a:rPr lang="fr-029" b="1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 Customer-</a:t>
            </a:r>
            <a:r>
              <a:rPr lang="fr-029" b="1" i="0" dirty="0" err="1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Centricity</a:t>
            </a:r>
            <a:br>
              <a:rPr lang="fr-029" b="1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</a:b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A2E75A-AF3C-4316-9535-1ACAE8B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602" y="1853945"/>
            <a:ext cx="8911687" cy="4332918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What Is a Product?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What Is a Customer?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Product-Centric vs. Customer-Centric Relationships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Transaction-Value vs. Relationship-Value Actions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Customer-Facing vs. Customer-Oriented Actions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Relationship Value and Warmth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Single vs. Multi vs. Omni-Channel Customer Interactions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Customer Journeys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Customer Data Intelligence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TN" sz="2400" dirty="0">
              <a:latin typeface="Noto Serif" panose="02020600060500020200" pitchFamily="18" charset="0"/>
              <a:ea typeface="Noto Serif" panose="02020600060500020200" pitchFamily="18" charset="0"/>
              <a:cs typeface="Noto Serif" panose="02020600060500020200" pitchFamily="18" charset="0"/>
            </a:endParaRPr>
          </a:p>
        </p:txBody>
      </p:sp>
      <p:pic>
        <p:nvPicPr>
          <p:cNvPr id="136194" name="Picture 2" descr="Images">
            <a:extLst>
              <a:ext uri="{FF2B5EF4-FFF2-40B4-BE49-F238E27FC236}">
                <a16:creationId xmlns:a16="http://schemas.microsoft.com/office/drawing/2014/main" id="{520ECB0F-9E49-44DA-8B03-8B2A0D9AD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1243" y="3074208"/>
            <a:ext cx="2053518" cy="2366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D2C356-F4EA-4D96-83B1-3AEA39467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@HabibFathallah, University of Carthage, DigitalTransformation, TextBook: RogerThomas</a:t>
            </a:r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E52F13-CA4B-47DF-A4F9-4C2CFE485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473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BC06D2-E8DE-416F-8E31-656D2389A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029" b="1" i="0" dirty="0" err="1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Chapter</a:t>
            </a:r>
            <a:r>
              <a:rPr lang="fr-029" b="1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 7. Data Intelligence Basics</a:t>
            </a:r>
            <a:br>
              <a:rPr lang="fr-029" b="1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</a:b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A848A2-858C-4EE3-B86B-437C150C1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580" y="2133600"/>
            <a:ext cx="7236676" cy="3777622"/>
          </a:xfrm>
        </p:spPr>
        <p:txBody>
          <a:bodyPr/>
          <a:lstStyle/>
          <a:p>
            <a:r>
              <a:rPr lang="en-US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What Is a Product?</a:t>
            </a:r>
          </a:p>
          <a:p>
            <a:r>
              <a:rPr lang="en-US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What Is a Customer?</a:t>
            </a:r>
          </a:p>
          <a:p>
            <a:r>
              <a:rPr lang="en-US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Product-Centric vs. Customer-Centric Relationships</a:t>
            </a:r>
          </a:p>
          <a:p>
            <a:r>
              <a:rPr lang="en-US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Transaction-Value vs. Relationship-Value Actions</a:t>
            </a:r>
          </a:p>
          <a:p>
            <a:r>
              <a:rPr lang="en-US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Customer-Facing vs. Customer-Oriented Actions</a:t>
            </a:r>
          </a:p>
          <a:p>
            <a:r>
              <a:rPr lang="en-US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Relationship Value and Warmth</a:t>
            </a:r>
          </a:p>
          <a:p>
            <a:r>
              <a:rPr lang="en-US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Single vs. Multi vs. Omni-Channel Customer Interactions</a:t>
            </a:r>
          </a:p>
          <a:p>
            <a:r>
              <a:rPr lang="en-US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Customer Journeys</a:t>
            </a:r>
          </a:p>
          <a:p>
            <a:r>
              <a:rPr lang="en-US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Customer Data Intelligence</a:t>
            </a:r>
          </a:p>
          <a:p>
            <a:endParaRPr lang="fr-TN" dirty="0">
              <a:latin typeface="Noto Serif" panose="02020600060500020200" pitchFamily="18" charset="0"/>
              <a:ea typeface="Noto Serif" panose="02020600060500020200" pitchFamily="18" charset="0"/>
              <a:cs typeface="Noto Serif" panose="02020600060500020200" pitchFamily="18" charset="0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5AC7C6-0431-48F7-AA52-F5431F751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@HabibFathallah, University of Carthage, DigitalTransformation, TextBook: RogerThomas</a:t>
            </a:r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98DA00-047A-4C95-BEC2-BA8F30C7F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483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DCF1A2-59D3-4613-9220-C1360B57E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029" b="1" i="0" dirty="0" err="1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Chapter</a:t>
            </a:r>
            <a:r>
              <a:rPr lang="fr-029" b="1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 8. Intelligent </a:t>
            </a:r>
            <a:r>
              <a:rPr lang="fr-029" b="1" i="0" dirty="0" err="1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Decision-Making</a:t>
            </a:r>
            <a:br>
              <a:rPr lang="fr-029" b="1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</a:b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82BB1F-FBE9-4224-86C9-509EC1ED6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579" y="2133600"/>
            <a:ext cx="10193033" cy="3777622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fr-029" sz="24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Manual </a:t>
            </a:r>
            <a:r>
              <a:rPr lang="fr-029" sz="2400" b="0" i="0" dirty="0" err="1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Decision-Making</a:t>
            </a:r>
            <a:endParaRPr lang="fr-029" sz="2400" b="0" i="0" dirty="0">
              <a:solidFill>
                <a:srgbClr val="3D3B49"/>
              </a:solidFill>
              <a:effectLst/>
              <a:latin typeface="Noto serif" panose="02020600060500020200" pitchFamily="18" charset="0"/>
            </a:endParaRPr>
          </a:p>
          <a:p>
            <a:pPr algn="l">
              <a:spcAft>
                <a:spcPts val="600"/>
              </a:spcAft>
            </a:pPr>
            <a:r>
              <a:rPr lang="fr-029" sz="2400" b="0" i="0" dirty="0" err="1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Conditional</a:t>
            </a:r>
            <a:r>
              <a:rPr lang="fr-029" sz="24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 </a:t>
            </a:r>
            <a:r>
              <a:rPr lang="fr-029" sz="2400" b="0" i="0" dirty="0" err="1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Automated</a:t>
            </a:r>
            <a:r>
              <a:rPr lang="fr-029" sz="24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 </a:t>
            </a:r>
            <a:r>
              <a:rPr lang="fr-029" sz="2400" b="0" i="0" dirty="0" err="1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Decision-Making</a:t>
            </a:r>
            <a:endParaRPr lang="fr-029" sz="2400" b="0" i="0" dirty="0">
              <a:solidFill>
                <a:srgbClr val="3D3B49"/>
              </a:solidFill>
              <a:effectLst/>
              <a:latin typeface="Noto serif" panose="02020600060500020200" pitchFamily="18" charset="0"/>
            </a:endParaRPr>
          </a:p>
          <a:p>
            <a:pPr algn="l">
              <a:spcAft>
                <a:spcPts val="600"/>
              </a:spcAft>
            </a:pPr>
            <a:r>
              <a:rPr lang="fr-029" sz="24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Intelligent Manual </a:t>
            </a:r>
            <a:r>
              <a:rPr lang="fr-029" sz="2400" b="0" i="0" dirty="0" err="1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Decision-Making</a:t>
            </a:r>
            <a:endParaRPr lang="fr-029" sz="2400" b="0" i="0" dirty="0">
              <a:solidFill>
                <a:srgbClr val="3D3B49"/>
              </a:solidFill>
              <a:effectLst/>
              <a:latin typeface="Noto serif" panose="02020600060500020200" pitchFamily="18" charset="0"/>
            </a:endParaRPr>
          </a:p>
          <a:p>
            <a:pPr algn="l">
              <a:spcAft>
                <a:spcPts val="600"/>
              </a:spcAft>
            </a:pPr>
            <a:r>
              <a:rPr lang="fr-029" sz="24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Intelligent </a:t>
            </a:r>
            <a:r>
              <a:rPr lang="fr-029" sz="2400" b="0" i="0" dirty="0" err="1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Automated</a:t>
            </a:r>
            <a:r>
              <a:rPr lang="fr-029" sz="24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 </a:t>
            </a:r>
            <a:r>
              <a:rPr lang="fr-029" sz="2400" b="0" i="0" dirty="0" err="1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Decision-Making</a:t>
            </a:r>
            <a:endParaRPr lang="fr-029" sz="2400" b="0" i="0" dirty="0">
              <a:solidFill>
                <a:srgbClr val="3D3B49"/>
              </a:solidFill>
              <a:effectLst/>
              <a:latin typeface="Noto serif" panose="02020600060500020200" pitchFamily="18" charset="0"/>
            </a:endParaRPr>
          </a:p>
          <a:p>
            <a:pPr algn="l">
              <a:spcAft>
                <a:spcPts val="600"/>
              </a:spcAft>
            </a:pPr>
            <a:r>
              <a:rPr lang="fr-029" sz="24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Intelligent Manual vs. Intelligent </a:t>
            </a:r>
            <a:r>
              <a:rPr lang="fr-029" sz="2400" b="0" i="0" dirty="0" err="1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Automated</a:t>
            </a:r>
            <a:r>
              <a:rPr lang="fr-029" sz="24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 </a:t>
            </a:r>
            <a:r>
              <a:rPr lang="fr-029" sz="2400" b="0" i="0" dirty="0" err="1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Decision-Making</a:t>
            </a:r>
            <a:endParaRPr lang="fr-029" sz="2400" b="0" i="0" dirty="0">
              <a:solidFill>
                <a:srgbClr val="3D3B49"/>
              </a:solidFill>
              <a:effectLst/>
              <a:latin typeface="Noto serif" panose="02020600060500020200" pitchFamily="18" charset="0"/>
            </a:endParaRPr>
          </a:p>
          <a:p>
            <a:pPr algn="l">
              <a:spcAft>
                <a:spcPts val="600"/>
              </a:spcAft>
            </a:pPr>
            <a:endParaRPr lang="fr-029" sz="2400" b="0" i="0" dirty="0">
              <a:solidFill>
                <a:srgbClr val="3D3B49"/>
              </a:solidFill>
              <a:effectLst/>
              <a:latin typeface="Noto serif" panose="02020600060500020200" pitchFamily="18" charset="0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9CFD33-1AAD-41C3-BE9E-06B1D4815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@HabibFathallah, University of Carthage, DigitalTransformation, TextBook: RogerThomas</a:t>
            </a:r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78D233-A11C-4B82-A280-C0098D307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539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AEFC7-38FF-4114-8ACE-80DCA2486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029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Part II: Digital Transformation in Practice</a:t>
            </a:r>
            <a:br>
              <a:rPr lang="fr-029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</a:b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5E31CF-6CA9-421F-B7F9-2BF9A86A3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029" sz="2000" dirty="0" err="1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Chapter</a:t>
            </a:r>
            <a:r>
              <a:rPr lang="fr-029" sz="20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 9 </a:t>
            </a:r>
            <a:r>
              <a:rPr lang="fr-029" sz="2000" dirty="0" err="1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Understanding</a:t>
            </a:r>
            <a:r>
              <a:rPr lang="fr-029" sz="20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 Digital Transformation Solutions</a:t>
            </a:r>
          </a:p>
          <a:p>
            <a:pPr>
              <a:spcAft>
                <a:spcPts val="600"/>
              </a:spcAft>
            </a:pPr>
            <a:r>
              <a:rPr lang="fr-029" sz="2000" dirty="0" err="1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Chapter</a:t>
            </a:r>
            <a:r>
              <a:rPr lang="fr-029" sz="20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 10 An Introduction to Digital Transformation Automation Technologies</a:t>
            </a:r>
          </a:p>
          <a:p>
            <a:pPr>
              <a:spcAft>
                <a:spcPts val="600"/>
              </a:spcAft>
            </a:pPr>
            <a:r>
              <a:rPr lang="fr-029" sz="2000" dirty="0" err="1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Chapter</a:t>
            </a:r>
            <a:r>
              <a:rPr lang="fr-029" sz="20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 11 An Introduction to Digital Transformation Data Science Technologies</a:t>
            </a:r>
          </a:p>
          <a:p>
            <a:pPr>
              <a:spcAft>
                <a:spcPts val="600"/>
              </a:spcAft>
            </a:pPr>
            <a:r>
              <a:rPr lang="fr-029" sz="2000" dirty="0" err="1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Chapter</a:t>
            </a:r>
            <a:r>
              <a:rPr lang="fr-029" sz="20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 12 Inside a Customer-</a:t>
            </a:r>
            <a:r>
              <a:rPr lang="fr-029" sz="2000" dirty="0" err="1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Centric</a:t>
            </a:r>
            <a:r>
              <a:rPr lang="fr-029" sz="20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 Solution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02ED65-5E29-4C97-9CEC-3CD6C17D8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@HabibFathallah, University of Carthage, DigitalTransformation, TextBook: RogerThomas</a:t>
            </a:r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DE1967-B083-4D28-ACE3-0F93AE7A7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380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294781-F172-4EF6-9377-94502290B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029" b="1" i="0" dirty="0" err="1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Chapter</a:t>
            </a:r>
            <a:r>
              <a:rPr lang="fr-029" b="1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 9. </a:t>
            </a:r>
            <a:r>
              <a:rPr lang="fr-029" b="1" i="0" dirty="0" err="1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Understanding</a:t>
            </a:r>
            <a:r>
              <a:rPr lang="fr-029" b="1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 Digital Transformation Solutions</a:t>
            </a:r>
            <a:br>
              <a:rPr lang="fr-029" b="1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</a:b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13D48E-8A91-429C-80E5-3F563CE5A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029" sz="2400" dirty="0"/>
              <a:t>Distributed Solution Design Basics</a:t>
            </a:r>
          </a:p>
          <a:p>
            <a:r>
              <a:rPr lang="fr-029" sz="2400" dirty="0"/>
              <a:t>Data </a:t>
            </a:r>
            <a:r>
              <a:rPr lang="fr-029" sz="2400" dirty="0" err="1"/>
              <a:t>Ingress</a:t>
            </a:r>
            <a:r>
              <a:rPr lang="fr-029" sz="2400" dirty="0"/>
              <a:t> Basics</a:t>
            </a:r>
          </a:p>
          <a:p>
            <a:r>
              <a:rPr lang="fr-029" sz="2400" dirty="0"/>
              <a:t>Common Digital Transformation Technologies</a:t>
            </a:r>
          </a:p>
          <a:p>
            <a:endParaRPr lang="fr-029" sz="2400" dirty="0"/>
          </a:p>
          <a:p>
            <a:endParaRPr lang="fr-TN" sz="240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C1E43A-3194-4918-8155-B8E918842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@HabibFathallah, University of Carthage, DigitalTransformation, TextBook: RogerThomas</a:t>
            </a:r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3F2813-370C-4F22-99A8-2AD88CA9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722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02BF2B-A172-4AF8-9999-9F3516307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19" y="624110"/>
            <a:ext cx="9772794" cy="128089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fr-FR" b="1" dirty="0" err="1">
                <a:solidFill>
                  <a:srgbClr val="3D3B49"/>
                </a:solidFill>
                <a:latin typeface="Noto Serif" panose="02020600060500020200" pitchFamily="18" charset="0"/>
              </a:rPr>
              <a:t>Chapter</a:t>
            </a:r>
            <a:r>
              <a:rPr lang="fr-FR" b="1" dirty="0">
                <a:solidFill>
                  <a:srgbClr val="3D3B49"/>
                </a:solidFill>
                <a:latin typeface="Noto Serif" panose="02020600060500020200" pitchFamily="18" charset="0"/>
              </a:rPr>
              <a:t> 10. An Introduction to Digital Transformation Automation Technologies</a:t>
            </a:r>
            <a:br>
              <a:rPr lang="fr-FR" b="1" dirty="0">
                <a:solidFill>
                  <a:srgbClr val="3D3B49"/>
                </a:solidFill>
                <a:latin typeface="Noto Serif" panose="02020600060500020200" pitchFamily="18" charset="0"/>
              </a:rPr>
            </a:br>
            <a:endParaRPr lang="fr-TN" b="1" dirty="0">
              <a:solidFill>
                <a:srgbClr val="3D3B49"/>
              </a:solidFill>
              <a:latin typeface="Noto Serif" panose="02020600060500020200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3579F5-312B-44D0-99DC-E299949B4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2133600"/>
            <a:ext cx="9218612" cy="377762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Cloud Computing</a:t>
            </a:r>
          </a:p>
          <a:p>
            <a:r>
              <a:rPr lang="en-US" sz="24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Blockchain</a:t>
            </a:r>
          </a:p>
          <a:p>
            <a:r>
              <a:rPr lang="en-US" sz="24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Internet of Things (IoT)</a:t>
            </a:r>
          </a:p>
          <a:p>
            <a:r>
              <a:rPr lang="en-US" sz="2400" dirty="0"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Robotic Process Automation (RPA)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1D8822-4150-466A-9A54-AF23A7FDF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@HabibFathallah, University of Carthage, DigitalTransformation, TextBook: RogerThomas</a:t>
            </a:r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26F4F2-184B-4C4C-A4AF-7819719F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899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56417B-92A0-4058-975C-D05CFC9CA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636" y="446088"/>
            <a:ext cx="9720552" cy="1244168"/>
          </a:xfrm>
        </p:spPr>
        <p:txBody>
          <a:bodyPr>
            <a:normAutofit/>
          </a:bodyPr>
          <a:lstStyle/>
          <a:p>
            <a:r>
              <a:rPr lang="fr-029" sz="3200" b="1" dirty="0" err="1">
                <a:solidFill>
                  <a:srgbClr val="3D3B49"/>
                </a:solidFill>
                <a:latin typeface="Noto Serif" panose="02020600060500020200" pitchFamily="18" charset="0"/>
              </a:rPr>
              <a:t>Chapter</a:t>
            </a:r>
            <a:r>
              <a:rPr lang="fr-029" sz="3200" b="1" dirty="0">
                <a:solidFill>
                  <a:srgbClr val="3D3B49"/>
                </a:solidFill>
                <a:latin typeface="Noto Serif" panose="02020600060500020200" pitchFamily="18" charset="0"/>
              </a:rPr>
              <a:t> 11: An Introduction to Digital Transformation Data Science Technologies</a:t>
            </a:r>
            <a:endParaRPr lang="fr-TN" sz="3200" b="1" dirty="0">
              <a:solidFill>
                <a:srgbClr val="3D3B49"/>
              </a:solidFill>
              <a:latin typeface="Noto Serif" panose="02020600060500020200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4EB49A-E9FE-4B63-9FD5-9EF1706D9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7455" y="2535382"/>
            <a:ext cx="9035657" cy="3453938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US" sz="2400" b="0" i="0" dirty="0">
                <a:solidFill>
                  <a:srgbClr val="002060"/>
                </a:solidFill>
                <a:effectLst/>
                <a:latin typeface="Noto serif" panose="02020600060500020200" pitchFamily="18" charset="0"/>
              </a:rPr>
              <a:t>Big Data Analysis and Analytics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400" b="0" i="0" dirty="0">
                <a:solidFill>
                  <a:srgbClr val="002060"/>
                </a:solidFill>
                <a:effectLst/>
                <a:latin typeface="Noto serif" panose="02020600060500020200" pitchFamily="18" charset="0"/>
              </a:rPr>
              <a:t>Machine Learning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400" b="0" i="0" dirty="0">
                <a:solidFill>
                  <a:srgbClr val="002060"/>
                </a:solidFill>
                <a:effectLst/>
                <a:latin typeface="Noto serif" panose="02020600060500020200" pitchFamily="18" charset="0"/>
              </a:rPr>
              <a:t>Artificial Intelligence (AI)</a:t>
            </a:r>
          </a:p>
          <a:p>
            <a:pPr algn="l">
              <a:buFont typeface="Wingdings" panose="05000000000000000000" pitchFamily="2" charset="2"/>
              <a:buChar char="v"/>
            </a:pPr>
            <a:endParaRPr lang="en-US" sz="2400" b="0" i="0" dirty="0">
              <a:solidFill>
                <a:srgbClr val="002060"/>
              </a:solidFill>
              <a:effectLst/>
              <a:latin typeface="Noto serif" panose="02020600060500020200" pitchFamily="18" charset="0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0222D50-C9BE-4EFD-9F2F-23D37874D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@HabibFathallah, University of Carthage, DigitalTransformation, TextBook: RogerThomas</a:t>
            </a:r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BEFC42-779E-4C3C-9E79-42599C41D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870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DDE1B7-6191-4A69-9288-EE662ECF3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1914" y="482188"/>
            <a:ext cx="9572697" cy="976312"/>
          </a:xfrm>
        </p:spPr>
        <p:txBody>
          <a:bodyPr>
            <a:normAutofit fontScale="90000"/>
          </a:bodyPr>
          <a:lstStyle/>
          <a:p>
            <a:r>
              <a:rPr lang="fr-029" sz="3200" b="1" dirty="0" err="1">
                <a:solidFill>
                  <a:srgbClr val="3D3B49"/>
                </a:solidFill>
                <a:latin typeface="Noto Serif" panose="02020600060500020200" pitchFamily="18" charset="0"/>
              </a:rPr>
              <a:t>Chapter</a:t>
            </a:r>
            <a:r>
              <a:rPr lang="fr-029" sz="3200" b="1" dirty="0">
                <a:solidFill>
                  <a:srgbClr val="3D3B49"/>
                </a:solidFill>
                <a:latin typeface="Noto Serif" panose="02020600060500020200" pitchFamily="18" charset="0"/>
              </a:rPr>
              <a:t> 12. Inside a Customer-</a:t>
            </a:r>
            <a:r>
              <a:rPr lang="fr-029" sz="3200" b="1" dirty="0" err="1">
                <a:solidFill>
                  <a:srgbClr val="3D3B49"/>
                </a:solidFill>
                <a:latin typeface="Noto Serif" panose="02020600060500020200" pitchFamily="18" charset="0"/>
              </a:rPr>
              <a:t>Centric</a:t>
            </a:r>
            <a:r>
              <a:rPr lang="fr-029" sz="3200" b="1" dirty="0">
                <a:solidFill>
                  <a:srgbClr val="3D3B49"/>
                </a:solidFill>
                <a:latin typeface="Noto Serif" panose="02020600060500020200" pitchFamily="18" charset="0"/>
              </a:rPr>
              <a:t> Solution</a:t>
            </a:r>
            <a:endParaRPr lang="fr-TN" sz="3200" b="1" dirty="0">
              <a:solidFill>
                <a:srgbClr val="3D3B49"/>
              </a:solidFill>
              <a:latin typeface="Noto Serif" panose="02020600060500020200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D33895-BA12-4589-AB40-63D57E1CE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1" y="2147455"/>
            <a:ext cx="10437812" cy="3713596"/>
          </a:xfr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  <a:latin typeface="Noto serif" panose="02020600060500020200" pitchFamily="18" charset="0"/>
              </a:rPr>
              <a:t>The purpose of this chapter is to: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2060"/>
                </a:solidFill>
                <a:latin typeface="Noto serif" panose="02020600060500020200" pitchFamily="18" charset="0"/>
              </a:rPr>
              <a:t>demonstrate the practices of customer-centricity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>
              <a:solidFill>
                <a:srgbClr val="002060"/>
              </a:solidFill>
              <a:latin typeface="Noto serif" panose="02020600060500020200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2060"/>
                </a:solidFill>
                <a:latin typeface="Noto serif" panose="02020600060500020200" pitchFamily="18" charset="0"/>
              </a:rPr>
              <a:t>indicate how and where digital transformation technology can be utilized to improve a customer journey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>
              <a:solidFill>
                <a:srgbClr val="002060"/>
              </a:solidFill>
              <a:latin typeface="Noto serif" panose="02020600060500020200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2060"/>
                </a:solidFill>
                <a:latin typeface="Noto serif" panose="02020600060500020200" pitchFamily="18" charset="0"/>
              </a:rPr>
              <a:t>highlight how the utilization of customer-centricity practices and digital transformation technology can realize strategic business objectives</a:t>
            </a:r>
            <a:endParaRPr lang="fr-TN" sz="2400" dirty="0">
              <a:solidFill>
                <a:srgbClr val="002060"/>
              </a:solidFill>
              <a:latin typeface="Noto serif" panose="02020600060500020200" pitchFamily="18" charset="0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514FEBF-E16F-4E18-9672-AC4DA5AD2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@HabibFathallah, University of Carthage, DigitalTransformation, TextBook: RogerThomas</a:t>
            </a:r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CB7B183-ECE3-44A4-85B1-6F315855E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449303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578D1176476F4AAE3EEFB23F9D1385" ma:contentTypeVersion="9" ma:contentTypeDescription="Create a new document." ma:contentTypeScope="" ma:versionID="0f02adb0dbbfed5717b2ba27f79c0d65">
  <xsd:schema xmlns:xsd="http://www.w3.org/2001/XMLSchema" xmlns:xs="http://www.w3.org/2001/XMLSchema" xmlns:p="http://schemas.microsoft.com/office/2006/metadata/properties" xmlns:ns3="652793d3-ffc1-4bce-955f-28e550d8e776" targetNamespace="http://schemas.microsoft.com/office/2006/metadata/properties" ma:root="true" ma:fieldsID="e7246b1e750da99819f8c662900fda4e" ns3:_="">
    <xsd:import namespace="652793d3-ffc1-4bce-955f-28e550d8e77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2793d3-ffc1-4bce-955f-28e550d8e7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D247F2-3D02-4DAC-94BC-22D60600B049}">
  <ds:schemaRefs>
    <ds:schemaRef ds:uri="http://schemas.openxmlformats.org/package/2006/metadata/core-properties"/>
    <ds:schemaRef ds:uri="http://purl.org/dc/terms/"/>
    <ds:schemaRef ds:uri="652793d3-ffc1-4bce-955f-28e550d8e776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03A6B2B1-5155-4A18-8A50-84EE7EC24A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3B4EA2-E61D-4D89-9457-A765D96759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2793d3-ffc1-4bce-955f-28e550d8e7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416</TotalTime>
  <Words>696</Words>
  <Application>Microsoft Office PowerPoint</Application>
  <PresentationFormat>Grand écran</PresentationFormat>
  <Paragraphs>126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2" baseType="lpstr">
      <vt:lpstr>Arial</vt:lpstr>
      <vt:lpstr>Century Gothic</vt:lpstr>
      <vt:lpstr>Noto Serif</vt:lpstr>
      <vt:lpstr>Noto Serif</vt:lpstr>
      <vt:lpstr>Wingdings</vt:lpstr>
      <vt:lpstr>Wingdings 3</vt:lpstr>
      <vt:lpstr>Brin</vt:lpstr>
      <vt:lpstr>Digital Transformation Strategy of *Entreprise***</vt:lpstr>
      <vt:lpstr>Table of Content</vt:lpstr>
      <vt:lpstr>Chapter 1: What is Digital Transformation for “Entreprise”?</vt:lpstr>
      <vt:lpstr>Chapter 2: What Led to Digital Transformation?)</vt:lpstr>
      <vt:lpstr>Présentation PowerPoint</vt:lpstr>
      <vt:lpstr>Chapter 4. Common Benefits and Goals (Why Undergo a Digital Transformation?) </vt:lpstr>
      <vt:lpstr>Chapter 5. Common Risks and Challenges (What Are the Pitfalls?) </vt:lpstr>
      <vt:lpstr>Chapter 6. Realizing Customer-Centricity </vt:lpstr>
      <vt:lpstr>Chapter 7. Data Intelligence Basics </vt:lpstr>
      <vt:lpstr>Chapter 8. Intelligent Decision-Making </vt:lpstr>
      <vt:lpstr>Part II: Digital Transformation in Practice </vt:lpstr>
      <vt:lpstr>Chapter 9. Understanding Digital Transformation Solutions </vt:lpstr>
      <vt:lpstr>Chapter 10. An Introduction to Digital Transformation Automation Technologies </vt:lpstr>
      <vt:lpstr>Chapter 11: An Introduction to Digital Transformation Data Science Technologies</vt:lpstr>
      <vt:lpstr>Chapter 12. Inside a Customer-Centric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Transformation Strategy of ***</dc:title>
  <dc:creator>Habib  Fathallah</dc:creator>
  <cp:lastModifiedBy>Habib  Fathallah</cp:lastModifiedBy>
  <cp:revision>6</cp:revision>
  <dcterms:created xsi:type="dcterms:W3CDTF">2023-10-30T08:52:59Z</dcterms:created>
  <dcterms:modified xsi:type="dcterms:W3CDTF">2023-10-31T10:07:20Z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0x010100E7578D1176476F4AAE3EEFB23F9D1385</vt:lpwstr>
  </property>
</Properties>
</file>