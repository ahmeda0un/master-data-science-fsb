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sldIdLst>
    <p:sldId id="312" r:id="rId3"/>
    <p:sldId id="313" r:id="rId4"/>
    <p:sldId id="322" r:id="rId5"/>
    <p:sldId id="319" r:id="rId6"/>
    <p:sldId id="321" r:id="rId7"/>
    <p:sldId id="320" r:id="rId8"/>
    <p:sldId id="323" r:id="rId9"/>
    <p:sldId id="324" r:id="rId10"/>
    <p:sldId id="325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5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90523-FCE3-A52F-841F-033C53E42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B1C85-8CE5-AB0F-8998-DAAD50B89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3D986-620E-5184-5F80-37F2E3EE0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BFE5F-5465-2165-62EB-176332B7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51164-BD49-E30A-1D78-16056C0BD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054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1025-D197-FD11-AF87-706C0428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AB04-D88F-021B-F7D5-50B494280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6A227-34ED-72BF-B694-8EA5F654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EFC4B-B216-49C6-DDF8-0C29E855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CCE01-DAF1-EA47-0777-AD1DA233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77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3047-B609-2D21-4445-0FEF5792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1B15E-1BA3-DBE3-2F43-F0613088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833E-18B8-294E-24DA-008EFEE48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EDC54-6426-9AD4-7D0C-A15C37E14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1E778-2498-947F-8917-C4C647859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2092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E79B-3214-247E-2BAA-4EFD10DE7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A768-A773-D015-CCEA-16581E854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BCDBD-5DD0-037B-01B9-D87FFBCA1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3BFCD-F08E-B173-E514-C6F6C3E3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3984E-B022-4BBE-C8A4-BF2040868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4FB92-AAC4-90B3-7644-A6A3F725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156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F9B1-DA4E-A2EE-31C6-E4AAFED0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4CED8-B997-7AC0-0B42-8D6436446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6BD41-0DB3-AB54-771D-D36F4BDA9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374BE-D8DF-7E17-86E2-48A6FAB8C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07E773-D47E-2C58-CC95-CED0C1CCF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85B52-C0DA-0AC6-1536-7448C8D0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8BDE7A-FEE9-3276-10E4-502B8CFF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AEB3B-7DDB-0519-5436-51771278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57229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628F-FF11-C7ED-714E-A1FB8A52C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60466-1ED3-38B5-2E5A-792D67A5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69019-C28D-5C1F-23B1-0AB23B29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5B95D-3E9B-E43C-EAEC-979E5104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264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30C5F-B7F4-9EA0-2151-B81A719F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3F186D-43F4-349D-0392-24586C84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BB47B-DC29-7ECF-77F8-B2EED7D5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4228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7ED9-DFDA-00AB-7529-0E67AAC5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C5E84-2101-B940-26A5-E4BF79DA9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F6BC9-C1FF-5016-51BA-A8D9232B0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B2C17-6635-6697-B8A0-BEC11420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3FC64-6B05-B621-05A3-F1005894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33AB0-1ABB-7B06-4DA2-BEC6D2A7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456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04E1-5310-71A7-C75D-82D3B2E6E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A068A-4939-9D8C-EC15-FD183DE50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DE1C1-E558-F125-B1B0-EAA64DD80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CA4BA-AED9-0BFF-CF90-16FF53E7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586FD-B919-0727-9A0E-FDBF2174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DD03D-22CB-E6AA-AFB8-00AC4F3A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748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2031-350A-EF39-A8D4-55AB9244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3E57F-A271-AA76-3FA0-BFC9E2FCE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32D57-3DF7-F685-795C-B5064BC2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E6876-9652-B109-59AC-B7E5B34C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3997-173B-4B3F-C83D-C71ACDDF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231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8D97A-AECF-D829-41EC-A6D570009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E4CA9-2B4E-AC43-918A-5D3BF8889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A519B-D46F-0FB0-D249-F70099B4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308BF-8160-8023-B15F-CDC139B1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0A954-4FFB-6FAE-82E7-6E53F00F1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166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2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241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5801"/>
            <a:ext cx="7661275" cy="2057400"/>
          </a:xfrm>
        </p:spPr>
        <p:txBody>
          <a:bodyPr wrap="square"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AB1C8803-0542-76BB-6DF0-FCC5FE74BC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4237" y="2826326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6190" y="2826326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35C6E61-8847-4830-9FF4-365A758995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6191" y="3429001"/>
            <a:ext cx="3283527" cy="238023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424406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685804"/>
            <a:ext cx="7661274" cy="2069086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2" y="3429000"/>
            <a:ext cx="3283527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4237" y="2826327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4237" y="3429000"/>
            <a:ext cx="3283527" cy="238023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53487" y="1153397"/>
            <a:ext cx="2871788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7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302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138039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E235B5-1CFD-192F-6EB8-F70885CA8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81" y="3429000"/>
            <a:ext cx="5143501" cy="238024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5E227211-DEE4-1F0C-C1BA-C744EE226C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2282" y="2826327"/>
            <a:ext cx="5143500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1153397"/>
            <a:ext cx="5629275" cy="449925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50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688289"/>
            <a:ext cx="5629275" cy="2689838"/>
          </a:xfrm>
        </p:spPr>
        <p:txBody>
          <a:bodyPr anchor="t">
            <a:noAutofit/>
          </a:bodyPr>
          <a:lstStyle>
            <a:lvl1pPr>
              <a:defRPr sz="60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61909" y="1030325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4F64B39-6AAB-933F-C46A-07FA43BE05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1909" y="1632997"/>
            <a:ext cx="4763366" cy="119333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CC6E57F-E43B-2EE4-AB08-63909F883D55}"/>
              </a:ext>
            </a:extLst>
          </p:cNvPr>
          <p:cNvSpPr/>
          <p:nvPr userDrawn="1"/>
        </p:nvSpPr>
        <p:spPr>
          <a:xfrm>
            <a:off x="400709" y="5885947"/>
            <a:ext cx="11328458" cy="1"/>
          </a:xfrm>
          <a:prstGeom prst="line">
            <a:avLst/>
          </a:prstGeom>
          <a:ln w="12700">
            <a:solidFill>
              <a:srgbClr val="000000"/>
            </a:solidFill>
            <a:miter/>
          </a:ln>
        </p:spPr>
        <p:txBody>
          <a:bodyPr lIns="34289" rIns="34289"/>
          <a:lstStyle/>
          <a:p>
            <a:endParaRPr sz="135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F14F2A9-59FA-754E-5B1E-11A58CA07A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1909" y="2836716"/>
            <a:ext cx="4763366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23DCBD-0AA5-7D57-EC78-48DF1E6328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1909" y="3439389"/>
            <a:ext cx="4763366" cy="14115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6AF8D7-D3E5-B5C6-030A-DFBC5AEC7D0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2282" y="3616037"/>
            <a:ext cx="5503718" cy="207190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68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D049-71FF-411B-BCE5-A051E826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7692D-ABCF-997B-650B-266DF91A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E306B-148D-CE50-D43B-2DEE1378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411AD-3E1B-501F-B9F8-D0AAF3F5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49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72686-CE9D-3B74-9DE2-86FB708C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748"/>
            <a:ext cx="27432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822D6-F437-1E07-DBC9-57FD7321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748"/>
            <a:ext cx="4114800" cy="3643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AF305-6821-F7EE-9D30-6FE81EC2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79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E5FA-A73B-B042-4DB2-FDFE66B5A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0" y="688288"/>
            <a:ext cx="4433455" cy="3966824"/>
          </a:xfrm>
        </p:spPr>
        <p:txBody>
          <a:bodyPr anchor="t">
            <a:noAutofit/>
          </a:bodyPr>
          <a:lstStyle>
            <a:lvl1pPr>
              <a:defRPr sz="7500" b="0">
                <a:latin typeface="+mn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4AF4F-C46E-4A7B-AF85-1B8E60C4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73946-9152-2148-B286-BEF1B04A819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42E324-B3F9-BA8B-E636-0DB5DCF6B8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096000" cy="685799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4E5E201-FB99-8711-C52C-CBA123864F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11636" y="5936851"/>
            <a:ext cx="3283527" cy="602673"/>
          </a:xfrm>
        </p:spPr>
        <p:txBody>
          <a:bodyPr anchor="b">
            <a:normAutofit/>
          </a:bodyPr>
          <a:lstStyle>
            <a:lvl1pPr marL="0" indent="0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3551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8">
          <p15:clr>
            <a:srgbClr val="FBAE40"/>
          </p15:clr>
        </p15:guide>
        <p15:guide id="2" pos="9848">
          <p15:clr>
            <a:srgbClr val="FBAE40"/>
          </p15:clr>
        </p15:guide>
        <p15:guide id="3" pos="5120">
          <p15:clr>
            <a:srgbClr val="FBAE40"/>
          </p15:clr>
        </p15:guide>
        <p15:guide id="4" orient="horz" pos="542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4CE87-15CA-E8FD-D829-E180A7E67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45FC7-359E-DE94-25BE-2F5CCF999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32395-8105-9B0B-40DA-10FBC61B5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A5661-C225-4B27-B2CF-29BA3D3555DF}" type="datetimeFigureOut">
              <a:rPr lang="LID4096" smtClean="0"/>
              <a:t>05/17/2024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7E297-AEEA-4292-95C1-DC43A716F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544DC-5794-32C1-F1F5-23FB9AF78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E9022-E8FF-4CA1-9310-042F78EA607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232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D9625-ED1C-9C68-D8B9-B6502FCCB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523"/>
            <a:ext cx="10515600" cy="1325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293A9-2FAF-A155-DC7A-FE995344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229"/>
            <a:ext cx="10515600" cy="4351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B5DE-B15D-9D1C-21D2-953FFCB00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323958"/>
            <a:ext cx="373155" cy="364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72D20E-321F-EE4C-A76D-7EFD4B1BDA0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">
            <a:extLst>
              <a:ext uri="{FF2B5EF4-FFF2-40B4-BE49-F238E27FC236}">
                <a16:creationId xmlns:a16="http://schemas.microsoft.com/office/drawing/2014/main" id="{2CC72135-826E-3084-1ACC-9293218F24EE}"/>
              </a:ext>
            </a:extLst>
          </p:cNvPr>
          <p:cNvGrpSpPr/>
          <p:nvPr userDrawn="1"/>
        </p:nvGrpSpPr>
        <p:grpSpPr>
          <a:xfrm>
            <a:off x="11350549" y="6275881"/>
            <a:ext cx="378619" cy="267073"/>
            <a:chOff x="0" y="0"/>
            <a:chExt cx="504824" cy="356095"/>
          </a:xfrm>
        </p:grpSpPr>
        <p:sp>
          <p:nvSpPr>
            <p:cNvPr id="8" name="Line">
              <a:extLst>
                <a:ext uri="{FF2B5EF4-FFF2-40B4-BE49-F238E27FC236}">
                  <a16:creationId xmlns:a16="http://schemas.microsoft.com/office/drawing/2014/main" id="{024BCD63-D1A0-9E6D-3EA4-16D1E0509D18}"/>
                </a:ext>
              </a:extLst>
            </p:cNvPr>
            <p:cNvSpPr/>
            <p:nvPr/>
          </p:nvSpPr>
          <p:spPr>
            <a:xfrm>
              <a:off x="0" y="180134"/>
              <a:ext cx="504825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9" name="Line">
              <a:extLst>
                <a:ext uri="{FF2B5EF4-FFF2-40B4-BE49-F238E27FC236}">
                  <a16:creationId xmlns:a16="http://schemas.microsoft.com/office/drawing/2014/main" id="{3E483999-BF7F-A26B-845E-8C65CD948361}"/>
                </a:ext>
              </a:extLst>
            </p:cNvPr>
            <p:cNvSpPr/>
            <p:nvPr/>
          </p:nvSpPr>
          <p:spPr>
            <a:xfrm>
              <a:off x="324689" y="0"/>
              <a:ext cx="177185" cy="17718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  <p:sp>
          <p:nvSpPr>
            <p:cNvPr id="10" name="Line">
              <a:extLst>
                <a:ext uri="{FF2B5EF4-FFF2-40B4-BE49-F238E27FC236}">
                  <a16:creationId xmlns:a16="http://schemas.microsoft.com/office/drawing/2014/main" id="{B9696663-8271-B1D6-1A2F-9E2DDAA3DD5E}"/>
                </a:ext>
              </a:extLst>
            </p:cNvPr>
            <p:cNvSpPr/>
            <p:nvPr/>
          </p:nvSpPr>
          <p:spPr>
            <a:xfrm flipV="1">
              <a:off x="324689" y="178911"/>
              <a:ext cx="177185" cy="1771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350"/>
            </a:p>
          </p:txBody>
        </p:sp>
      </p:grpSp>
      <p:sp>
        <p:nvSpPr>
          <p:cNvPr id="11" name="textruta 3">
            <a:extLst>
              <a:ext uri="{FF2B5EF4-FFF2-40B4-BE49-F238E27FC236}">
                <a16:creationId xmlns:a16="http://schemas.microsoft.com/office/drawing/2014/main" id="{2DC00BBB-96D5-E144-A351-6386B4BABF32}"/>
              </a:ext>
            </a:extLst>
          </p:cNvPr>
          <p:cNvSpPr txBox="1"/>
          <p:nvPr userDrawn="1"/>
        </p:nvSpPr>
        <p:spPr>
          <a:xfrm>
            <a:off x="10707476" y="6260827"/>
            <a:ext cx="759780" cy="30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4289" rIns="34289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>
                <a:solidFill>
                  <a:srgbClr val="000000"/>
                </a:solidFill>
              </a:defRPr>
            </a:lvl1pPr>
          </a:lstStyle>
          <a:p>
            <a:r>
              <a:rPr sz="1500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27664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>
          <p15:clr>
            <a:srgbClr val="F26B43"/>
          </p15:clr>
        </p15:guide>
        <p15:guide id="2" pos="392">
          <p15:clr>
            <a:srgbClr val="F26B43"/>
          </p15:clr>
        </p15:guide>
        <p15:guide id="3" orient="horz" pos="5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C660B10-D622-7696-9B8F-A29742AFB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600" b="1">
                <a:latin typeface="+mj-lt"/>
              </a:rPr>
              <a:t>Digitalisation des processus Métiers</a:t>
            </a:r>
          </a:p>
        </p:txBody>
      </p:sp>
      <p:sp>
        <p:nvSpPr>
          <p:cNvPr id="6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739B64-C005-FA51-D057-C4B59A15B6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200" dirty="0">
                <a:solidFill>
                  <a:schemeClr val="tx1"/>
                </a:solidFill>
              </a:rPr>
              <a:t>Presenté par :</a:t>
            </a:r>
          </a:p>
          <a:p>
            <a:pPr indent="-228600" defTabSz="9144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Ghada </a:t>
            </a:r>
            <a:r>
              <a:rPr lang="en-US" sz="2200" dirty="0" err="1">
                <a:solidFill>
                  <a:schemeClr val="tx1"/>
                </a:solidFill>
              </a:rPr>
              <a:t>hamoudi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14" name="Picture Placeholder 13" descr="A building with many windows at night&#10;&#10;Description automatically generated">
            <a:extLst>
              <a:ext uri="{FF2B5EF4-FFF2-40B4-BE49-F238E27FC236}">
                <a16:creationId xmlns:a16="http://schemas.microsoft.com/office/drawing/2014/main" id="{E1D1F114-234A-2414-66A4-EBAAEF355FB6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2" r="25738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34E2EC-7405-2A62-940B-47EB7719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E73946-9152-2148-B286-BEF1B04A8193}" type="slidenum">
              <a:rPr lang="en-US" sz="1200" smtClean="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3940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1DAE-5492-9622-9F93-0BACF6C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Illustrer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digramme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processus comment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permettre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et assurer la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traçabilité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carbone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et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évaluer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l’empreinte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carbone</a:t>
            </a: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95274CB-191C-0B20-C93A-C2FDA5E6E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639426"/>
            <a:ext cx="6780700" cy="357681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CAA43-E7ED-D74E-5642-23563430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4184" y="6356350"/>
            <a:ext cx="5143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E73946-9152-2148-B286-BEF1B04A8193}" type="slidenum">
              <a:rPr lang="en-US" sz="1200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2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01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1DAE-5492-9622-9F93-0BACF6C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000">
                <a:latin typeface="+mj-lt"/>
              </a:rPr>
              <a:t>2. Choisir un business workflow parmi la liste en annexe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6EA02-7E1B-81F9-DC06-48153CC8B85C}"/>
              </a:ext>
            </a:extLst>
          </p:cNvPr>
          <p:cNvSpPr txBox="1"/>
          <p:nvPr/>
        </p:nvSpPr>
        <p:spPr>
          <a:xfrm>
            <a:off x="890339" y="4636008"/>
            <a:ext cx="3734014" cy="157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/>
              <a:t>Choix du workflow : Logistics &amp; Supply Chain (Sustainable Transportation)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Boîtes et convoyeurs à rouleaux">
            <a:extLst>
              <a:ext uri="{FF2B5EF4-FFF2-40B4-BE49-F238E27FC236}">
                <a16:creationId xmlns:a16="http://schemas.microsoft.com/office/drawing/2014/main" id="{3A0E7FEF-05F5-4D3F-0B4A-78A2CE4780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9" r="1662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CAA43-E7ED-D74E-5642-23563430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1800" y="6356350"/>
            <a:ext cx="7620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E73946-9152-2148-B286-BEF1B04A8193}" type="slidenum">
              <a:rPr lang="en-US" sz="1200" smtClean="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7781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1DAE-5492-9622-9F93-0BACF6C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Illustrer/construire le workflow standard en digramme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B656D-21F1-B85A-5A95-526A931E9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679541"/>
            <a:ext cx="11548872" cy="19921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CAA43-E7ED-D74E-5642-23563430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E73946-9152-2148-B286-BEF1B04A8193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437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1DAE-5492-9622-9F93-0BACF6C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Présenter l’évolution du workflow après digitalisation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C786B-72C0-E54B-E747-C7B81AF24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781" y="640080"/>
            <a:ext cx="6271646" cy="55504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CAA43-E7ED-D74E-5642-23563430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E73946-9152-2148-B286-BEF1B04A8193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48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1DAE-5492-9622-9F93-0BACF6C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Expliquer l’impact de la transformation digitale sur le workflow.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35739-37DD-6F0C-4F6E-611C8CF036DC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1.  </a:t>
            </a:r>
            <a:r>
              <a:rPr lang="en-US" sz="1700" b="1" dirty="0" err="1"/>
              <a:t>Automatisation</a:t>
            </a:r>
            <a:r>
              <a:rPr lang="en-US" sz="1700" b="1" dirty="0"/>
              <a:t> des Processus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Avant</a:t>
            </a:r>
            <a:r>
              <a:rPr lang="en-US" sz="1700" dirty="0"/>
              <a:t> : Les processus de planification et de </a:t>
            </a:r>
            <a:r>
              <a:rPr lang="en-US" sz="1700" dirty="0" err="1"/>
              <a:t>réservation</a:t>
            </a:r>
            <a:r>
              <a:rPr lang="en-US" sz="1700" dirty="0"/>
              <a:t> </a:t>
            </a:r>
            <a:r>
              <a:rPr lang="en-US" sz="1700" dirty="0" err="1"/>
              <a:t>étaient</a:t>
            </a:r>
            <a:r>
              <a:rPr lang="en-US" sz="1700" dirty="0"/>
              <a:t> </a:t>
            </a:r>
            <a:r>
              <a:rPr lang="en-US" sz="1700" dirty="0" err="1"/>
              <a:t>manuels</a:t>
            </a:r>
            <a:r>
              <a:rPr lang="en-US" sz="1700" dirty="0"/>
              <a:t>, </a:t>
            </a:r>
            <a:r>
              <a:rPr lang="en-US" sz="1700" dirty="0" err="1"/>
              <a:t>nécessitant</a:t>
            </a:r>
            <a:r>
              <a:rPr lang="en-US" sz="1700" dirty="0"/>
              <a:t> beaucoup de temps et </a:t>
            </a:r>
            <a:r>
              <a:rPr lang="en-US" sz="1700" dirty="0" err="1"/>
              <a:t>étant</a:t>
            </a:r>
            <a:r>
              <a:rPr lang="en-US" sz="1700" dirty="0"/>
              <a:t> </a:t>
            </a:r>
            <a:r>
              <a:rPr lang="en-US" sz="1700" dirty="0" err="1"/>
              <a:t>sujets</a:t>
            </a:r>
            <a:r>
              <a:rPr lang="en-US" sz="1700" dirty="0"/>
              <a:t> à des </a:t>
            </a:r>
            <a:r>
              <a:rPr lang="en-US" sz="1700" dirty="0" err="1"/>
              <a:t>erreurs</a:t>
            </a:r>
            <a:r>
              <a:rPr lang="en-US" sz="1700" dirty="0"/>
              <a:t> </a:t>
            </a:r>
            <a:r>
              <a:rPr lang="en-US" sz="1700" dirty="0" err="1"/>
              <a:t>humaines</a:t>
            </a:r>
            <a:r>
              <a:rPr lang="en-US" sz="17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Après</a:t>
            </a:r>
            <a:r>
              <a:rPr lang="en-US" sz="1700" dirty="0"/>
              <a:t> : </a:t>
            </a:r>
            <a:r>
              <a:rPr lang="en-US" sz="1700" dirty="0" err="1"/>
              <a:t>L'automatisation</a:t>
            </a:r>
            <a:r>
              <a:rPr lang="en-US" sz="1700" dirty="0"/>
              <a:t> des </a:t>
            </a:r>
            <a:r>
              <a:rPr lang="en-US" sz="1700" dirty="0" err="1"/>
              <a:t>systèmes</a:t>
            </a:r>
            <a:r>
              <a:rPr lang="en-US" sz="1700" dirty="0"/>
              <a:t> de planification et de </a:t>
            </a:r>
            <a:r>
              <a:rPr lang="en-US" sz="1700" dirty="0" err="1"/>
              <a:t>réservation</a:t>
            </a:r>
            <a:r>
              <a:rPr lang="en-US" sz="1700" dirty="0"/>
              <a:t> </a:t>
            </a:r>
            <a:r>
              <a:rPr lang="en-US" sz="1700" dirty="0" err="1"/>
              <a:t>réduit</a:t>
            </a:r>
            <a:r>
              <a:rPr lang="en-US" sz="1700" dirty="0"/>
              <a:t> les </a:t>
            </a:r>
            <a:r>
              <a:rPr lang="en-US" sz="1700" dirty="0" err="1"/>
              <a:t>délais</a:t>
            </a:r>
            <a:r>
              <a:rPr lang="en-US" sz="1700" dirty="0"/>
              <a:t> et </a:t>
            </a:r>
            <a:r>
              <a:rPr lang="en-US" sz="1700" dirty="0" err="1"/>
              <a:t>améliore</a:t>
            </a:r>
            <a:r>
              <a:rPr lang="en-US" sz="1700" dirty="0"/>
              <a:t> la </a:t>
            </a:r>
            <a:r>
              <a:rPr lang="en-US" sz="1700" dirty="0" err="1"/>
              <a:t>précision</a:t>
            </a:r>
            <a:r>
              <a:rPr lang="en-US" sz="1700" dirty="0"/>
              <a:t>. Les </a:t>
            </a:r>
            <a:r>
              <a:rPr lang="en-US" sz="1700" dirty="0" err="1"/>
              <a:t>plateformes</a:t>
            </a:r>
            <a:r>
              <a:rPr lang="en-US" sz="1700" dirty="0"/>
              <a:t> </a:t>
            </a:r>
            <a:r>
              <a:rPr lang="en-US" sz="1700" dirty="0" err="1"/>
              <a:t>intelligentes</a:t>
            </a:r>
            <a:r>
              <a:rPr lang="en-US" sz="1700" dirty="0"/>
              <a:t> </a:t>
            </a:r>
            <a:r>
              <a:rPr lang="en-US" sz="1700" dirty="0" err="1"/>
              <a:t>gèrent</a:t>
            </a:r>
            <a:r>
              <a:rPr lang="en-US" sz="1700" dirty="0"/>
              <a:t> les </a:t>
            </a:r>
            <a:r>
              <a:rPr lang="en-US" sz="1700" dirty="0" err="1"/>
              <a:t>réservations</a:t>
            </a:r>
            <a:r>
              <a:rPr lang="en-US" sz="1700" dirty="0"/>
              <a:t>, </a:t>
            </a:r>
            <a:r>
              <a:rPr lang="en-US" sz="1700" dirty="0" err="1"/>
              <a:t>intégrant</a:t>
            </a:r>
            <a:r>
              <a:rPr lang="en-US" sz="1700" dirty="0"/>
              <a:t> les </a:t>
            </a:r>
            <a:r>
              <a:rPr lang="en-US" sz="1700" dirty="0" err="1"/>
              <a:t>meilleures</a:t>
            </a:r>
            <a:r>
              <a:rPr lang="en-US" sz="1700" dirty="0"/>
              <a:t> pratiques durables.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 2.   </a:t>
            </a:r>
            <a:r>
              <a:rPr lang="en-US" sz="1700" b="1" dirty="0" err="1"/>
              <a:t>Suivi</a:t>
            </a:r>
            <a:r>
              <a:rPr lang="en-US" sz="1700" b="1" dirty="0"/>
              <a:t> </a:t>
            </a:r>
            <a:r>
              <a:rPr lang="en-US" sz="1700" b="1" dirty="0" err="1"/>
              <a:t>en</a:t>
            </a:r>
            <a:r>
              <a:rPr lang="en-US" sz="1700" b="1" dirty="0"/>
              <a:t> Temps </a:t>
            </a:r>
            <a:r>
              <a:rPr lang="en-US" sz="1700" b="1" dirty="0" err="1"/>
              <a:t>Réel</a:t>
            </a:r>
            <a:r>
              <a:rPr lang="en-US" sz="1700" b="1" dirty="0"/>
              <a:t>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Avant</a:t>
            </a:r>
            <a:r>
              <a:rPr lang="en-US" sz="1700" dirty="0"/>
              <a:t> : Le </a:t>
            </a:r>
            <a:r>
              <a:rPr lang="en-US" sz="1700" dirty="0" err="1"/>
              <a:t>suivi</a:t>
            </a:r>
            <a:r>
              <a:rPr lang="en-US" sz="1700" dirty="0"/>
              <a:t> des transports </a:t>
            </a:r>
            <a:r>
              <a:rPr lang="en-US" sz="1700" dirty="0" err="1"/>
              <a:t>était</a:t>
            </a:r>
            <a:r>
              <a:rPr lang="en-US" sz="1700" dirty="0"/>
              <a:t> </a:t>
            </a:r>
            <a:r>
              <a:rPr lang="en-US" sz="1700" dirty="0" err="1"/>
              <a:t>souvent</a:t>
            </a:r>
            <a:r>
              <a:rPr lang="en-US" sz="1700" dirty="0"/>
              <a:t> </a:t>
            </a:r>
            <a:r>
              <a:rPr lang="en-US" sz="1700" dirty="0" err="1"/>
              <a:t>effectué</a:t>
            </a:r>
            <a:r>
              <a:rPr lang="en-US" sz="1700" dirty="0"/>
              <a:t> via des </a:t>
            </a:r>
            <a:r>
              <a:rPr lang="en-US" sz="1700" dirty="0" err="1"/>
              <a:t>méthodes</a:t>
            </a:r>
            <a:r>
              <a:rPr lang="en-US" sz="1700" dirty="0"/>
              <a:t> </a:t>
            </a:r>
            <a:r>
              <a:rPr lang="en-US" sz="1700" dirty="0" err="1"/>
              <a:t>obsolètes</a:t>
            </a:r>
            <a:r>
              <a:rPr lang="en-US" sz="1700" dirty="0"/>
              <a:t>, avec des mises à jour </a:t>
            </a:r>
            <a:r>
              <a:rPr lang="en-US" sz="1700" dirty="0" err="1"/>
              <a:t>limitées</a:t>
            </a:r>
            <a:r>
              <a:rPr lang="en-US" sz="1700" dirty="0"/>
              <a:t> et des retards dans </a:t>
            </a:r>
            <a:r>
              <a:rPr lang="en-US" sz="1700" dirty="0" err="1"/>
              <a:t>l'obtention</a:t>
            </a:r>
            <a:r>
              <a:rPr lang="en-US" sz="1700" dirty="0"/>
              <a:t> des </a:t>
            </a:r>
            <a:r>
              <a:rPr lang="en-US" sz="1700" dirty="0" err="1"/>
              <a:t>informations</a:t>
            </a:r>
            <a:r>
              <a:rPr lang="en-US" sz="17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Après</a:t>
            </a:r>
            <a:r>
              <a:rPr lang="en-US" sz="1700" dirty="0"/>
              <a:t> : </a:t>
            </a:r>
            <a:r>
              <a:rPr lang="en-US" sz="1700" dirty="0" err="1"/>
              <a:t>L'intégration</a:t>
            </a:r>
            <a:r>
              <a:rPr lang="en-US" sz="1700" dirty="0"/>
              <a:t> de </a:t>
            </a:r>
            <a:r>
              <a:rPr lang="en-US" sz="1700" dirty="0" err="1"/>
              <a:t>l'Internet</a:t>
            </a:r>
            <a:r>
              <a:rPr lang="en-US" sz="1700" dirty="0"/>
              <a:t> des </a:t>
            </a:r>
            <a:r>
              <a:rPr lang="en-US" sz="1700" dirty="0" err="1"/>
              <a:t>Objets</a:t>
            </a:r>
            <a:r>
              <a:rPr lang="en-US" sz="1700" dirty="0"/>
              <a:t> (IoT) </a:t>
            </a:r>
            <a:r>
              <a:rPr lang="en-US" sz="1700" dirty="0" err="1"/>
              <a:t>permet</a:t>
            </a:r>
            <a:r>
              <a:rPr lang="en-US" sz="1700" dirty="0"/>
              <a:t> un </a:t>
            </a:r>
            <a:r>
              <a:rPr lang="en-US" sz="1700" dirty="0" err="1"/>
              <a:t>suivi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temps </a:t>
            </a:r>
            <a:r>
              <a:rPr lang="en-US" sz="1700" dirty="0" err="1"/>
              <a:t>réel</a:t>
            </a:r>
            <a:r>
              <a:rPr lang="en-US" sz="1700" dirty="0"/>
              <a:t> des </a:t>
            </a:r>
            <a:r>
              <a:rPr lang="en-US" sz="1700" dirty="0" err="1"/>
              <a:t>véhicules</a:t>
            </a:r>
            <a:r>
              <a:rPr lang="en-US" sz="1700" dirty="0"/>
              <a:t>, </a:t>
            </a:r>
            <a:r>
              <a:rPr lang="en-US" sz="1700" dirty="0" err="1"/>
              <a:t>offrant</a:t>
            </a:r>
            <a:r>
              <a:rPr lang="en-US" sz="1700" dirty="0"/>
              <a:t> </a:t>
            </a:r>
            <a:r>
              <a:rPr lang="en-US" sz="1700" dirty="0" err="1"/>
              <a:t>une</a:t>
            </a:r>
            <a:r>
              <a:rPr lang="en-US" sz="1700" dirty="0"/>
              <a:t> </a:t>
            </a:r>
            <a:r>
              <a:rPr lang="en-US" sz="1700" dirty="0" err="1"/>
              <a:t>visibilité</a:t>
            </a:r>
            <a:r>
              <a:rPr lang="en-US" sz="1700" dirty="0"/>
              <a:t> </a:t>
            </a:r>
            <a:r>
              <a:rPr lang="en-US" sz="1700" dirty="0" err="1"/>
              <a:t>complète</a:t>
            </a:r>
            <a:r>
              <a:rPr lang="en-US" sz="1700" dirty="0"/>
              <a:t> sur les </a:t>
            </a:r>
            <a:r>
              <a:rPr lang="en-US" sz="1700" dirty="0" err="1"/>
              <a:t>trajets</a:t>
            </a:r>
            <a:r>
              <a:rPr lang="en-US" sz="1700" dirty="0"/>
              <a:t> et les temps de livraison. </a:t>
            </a:r>
            <a:r>
              <a:rPr lang="en-US" sz="1700" dirty="0" err="1"/>
              <a:t>Cela</a:t>
            </a:r>
            <a:r>
              <a:rPr lang="en-US" sz="1700" dirty="0"/>
              <a:t> </a:t>
            </a:r>
            <a:r>
              <a:rPr lang="en-US" sz="1700" dirty="0" err="1"/>
              <a:t>améliore</a:t>
            </a:r>
            <a:r>
              <a:rPr lang="en-US" sz="1700" dirty="0"/>
              <a:t> la gestion des transports et </a:t>
            </a:r>
            <a:r>
              <a:rPr lang="en-US" sz="1700" dirty="0" err="1"/>
              <a:t>permet</a:t>
            </a:r>
            <a:r>
              <a:rPr lang="en-US" sz="1700" dirty="0"/>
              <a:t> </a:t>
            </a:r>
            <a:r>
              <a:rPr lang="en-US" sz="1700" dirty="0" err="1"/>
              <a:t>une</a:t>
            </a:r>
            <a:r>
              <a:rPr lang="en-US" sz="1700" dirty="0"/>
              <a:t> </a:t>
            </a:r>
            <a:r>
              <a:rPr lang="en-US" sz="1700" dirty="0" err="1"/>
              <a:t>réaction</a:t>
            </a:r>
            <a:r>
              <a:rPr lang="en-US" sz="1700" dirty="0"/>
              <a:t> </a:t>
            </a:r>
            <a:r>
              <a:rPr lang="en-US" sz="1700" dirty="0" err="1"/>
              <a:t>rapide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cas</a:t>
            </a:r>
            <a:r>
              <a:rPr lang="en-US" sz="1700" dirty="0"/>
              <a:t> </a:t>
            </a:r>
            <a:r>
              <a:rPr lang="en-US" sz="1700" dirty="0" err="1"/>
              <a:t>d'imprévus</a:t>
            </a:r>
            <a:r>
              <a:rPr lang="en-US" sz="17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CAA43-E7ED-D74E-5642-23563430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E73946-9152-2148-B286-BEF1B04A8193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EE36B-4A6F-0C3A-36CC-EBBED1E0AD38}"/>
              </a:ext>
            </a:extLst>
          </p:cNvPr>
          <p:cNvSpPr txBox="1"/>
          <p:nvPr/>
        </p:nvSpPr>
        <p:spPr>
          <a:xfrm>
            <a:off x="2930013" y="255638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06642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1DAE-5492-9622-9F93-0BACF6C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Expliquer l’impact de la transformation digitale sur le workflow.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35739-37DD-6F0C-4F6E-611C8CF036DC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3.   </a:t>
            </a:r>
            <a:r>
              <a:rPr lang="en-US" sz="1700" b="1" dirty="0" err="1"/>
              <a:t>Précision</a:t>
            </a:r>
            <a:r>
              <a:rPr lang="en-US" sz="1700" b="1" dirty="0"/>
              <a:t> et </a:t>
            </a:r>
            <a:r>
              <a:rPr lang="en-US" sz="1700" b="1" dirty="0" err="1"/>
              <a:t>Rapidité</a:t>
            </a:r>
            <a:r>
              <a:rPr lang="en-US" sz="1700" b="1" dirty="0"/>
              <a:t> des </a:t>
            </a:r>
            <a:r>
              <a:rPr lang="en-US" sz="1700" b="1" dirty="0" err="1"/>
              <a:t>Calculs</a:t>
            </a:r>
            <a:r>
              <a:rPr lang="en-US" sz="1700" b="1" dirty="0"/>
              <a:t> </a:t>
            </a:r>
            <a:r>
              <a:rPr lang="en-US" sz="1700" b="1" dirty="0" err="1"/>
              <a:t>d'Emissions</a:t>
            </a:r>
            <a:r>
              <a:rPr lang="en-US" sz="1700" b="1" dirty="0"/>
              <a:t> 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Avant</a:t>
            </a:r>
            <a:r>
              <a:rPr lang="en-US" sz="1700" dirty="0"/>
              <a:t> : Le </a:t>
            </a:r>
            <a:r>
              <a:rPr lang="en-US" sz="1700" dirty="0" err="1"/>
              <a:t>calcul</a:t>
            </a:r>
            <a:r>
              <a:rPr lang="en-US" sz="1700" dirty="0"/>
              <a:t> des </a:t>
            </a:r>
            <a:r>
              <a:rPr lang="en-US" sz="1700" dirty="0" err="1"/>
              <a:t>émissions</a:t>
            </a:r>
            <a:r>
              <a:rPr lang="en-US" sz="1700" dirty="0"/>
              <a:t> de CO2 </a:t>
            </a:r>
            <a:r>
              <a:rPr lang="en-US" sz="1700" dirty="0" err="1"/>
              <a:t>était</a:t>
            </a:r>
            <a:r>
              <a:rPr lang="en-US" sz="1700" dirty="0"/>
              <a:t> </a:t>
            </a:r>
            <a:r>
              <a:rPr lang="en-US" sz="1700" dirty="0" err="1"/>
              <a:t>effectué</a:t>
            </a:r>
            <a:r>
              <a:rPr lang="en-US" sz="1700" dirty="0"/>
              <a:t> </a:t>
            </a:r>
            <a:r>
              <a:rPr lang="en-US" sz="1700" dirty="0" err="1"/>
              <a:t>manuellement</a:t>
            </a:r>
            <a:r>
              <a:rPr lang="en-US" sz="1700" dirty="0"/>
              <a:t>, </a:t>
            </a:r>
            <a:r>
              <a:rPr lang="en-US" sz="1700" dirty="0" err="1"/>
              <a:t>basé</a:t>
            </a:r>
            <a:r>
              <a:rPr lang="en-US" sz="1700" dirty="0"/>
              <a:t> sur des estimations, </a:t>
            </a:r>
            <a:r>
              <a:rPr lang="en-US" sz="1700" dirty="0" err="1"/>
              <a:t>ce</a:t>
            </a:r>
            <a:r>
              <a:rPr lang="en-US" sz="1700" dirty="0"/>
              <a:t> qui </a:t>
            </a:r>
            <a:r>
              <a:rPr lang="en-US" sz="1700" dirty="0" err="1"/>
              <a:t>pouvait</a:t>
            </a:r>
            <a:r>
              <a:rPr lang="en-US" sz="1700" dirty="0"/>
              <a:t> </a:t>
            </a:r>
            <a:r>
              <a:rPr lang="en-US" sz="1700" dirty="0" err="1"/>
              <a:t>être</a:t>
            </a:r>
            <a:r>
              <a:rPr lang="en-US" sz="1700" dirty="0"/>
              <a:t> </a:t>
            </a:r>
            <a:r>
              <a:rPr lang="en-US" sz="1700" dirty="0" err="1"/>
              <a:t>imprécis</a:t>
            </a:r>
            <a:r>
              <a:rPr lang="en-US" sz="1700" dirty="0"/>
              <a:t> et prendre beaucoup de temps.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Après</a:t>
            </a:r>
            <a:r>
              <a:rPr lang="en-US" sz="1700" dirty="0"/>
              <a:t> : Les </a:t>
            </a:r>
            <a:r>
              <a:rPr lang="en-US" sz="1700" dirty="0" err="1"/>
              <a:t>systèmes</a:t>
            </a:r>
            <a:r>
              <a:rPr lang="en-US" sz="1700" dirty="0"/>
              <a:t> </a:t>
            </a:r>
            <a:r>
              <a:rPr lang="en-US" sz="1700" dirty="0" err="1"/>
              <a:t>automatisés</a:t>
            </a:r>
            <a:r>
              <a:rPr lang="en-US" sz="1700" dirty="0"/>
              <a:t> </a:t>
            </a:r>
            <a:r>
              <a:rPr lang="en-US" sz="1700" dirty="0" err="1"/>
              <a:t>calculent</a:t>
            </a:r>
            <a:r>
              <a:rPr lang="en-US" sz="1700" dirty="0"/>
              <a:t> les </a:t>
            </a:r>
            <a:r>
              <a:rPr lang="en-US" sz="1700" dirty="0" err="1"/>
              <a:t>émissions</a:t>
            </a:r>
            <a:r>
              <a:rPr lang="en-US" sz="1700" dirty="0"/>
              <a:t> de CO2 de manière </a:t>
            </a:r>
            <a:r>
              <a:rPr lang="en-US" sz="1700" dirty="0" err="1"/>
              <a:t>précise</a:t>
            </a:r>
            <a:r>
              <a:rPr lang="en-US" sz="1700" dirty="0"/>
              <a:t> et </a:t>
            </a:r>
            <a:r>
              <a:rPr lang="en-US" sz="1700" dirty="0" err="1"/>
              <a:t>instantanée</a:t>
            </a:r>
            <a:r>
              <a:rPr lang="en-US" sz="1700" dirty="0"/>
              <a:t>. Les </a:t>
            </a:r>
            <a:r>
              <a:rPr lang="en-US" sz="1700" dirty="0" err="1"/>
              <a:t>capteurs</a:t>
            </a:r>
            <a:r>
              <a:rPr lang="en-US" sz="1700" dirty="0"/>
              <a:t> IoT </a:t>
            </a:r>
            <a:r>
              <a:rPr lang="en-US" sz="1700" dirty="0" err="1"/>
              <a:t>collectent</a:t>
            </a:r>
            <a:r>
              <a:rPr lang="en-US" sz="1700" dirty="0"/>
              <a:t> les données </a:t>
            </a:r>
            <a:r>
              <a:rPr lang="en-US" sz="1700" dirty="0" err="1"/>
              <a:t>nécessaires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temps </a:t>
            </a:r>
            <a:r>
              <a:rPr lang="en-US" sz="1700" dirty="0" err="1"/>
              <a:t>réel</a:t>
            </a:r>
            <a:r>
              <a:rPr lang="en-US" sz="1700" dirty="0"/>
              <a:t>, </a:t>
            </a:r>
            <a:r>
              <a:rPr lang="en-US" sz="1700" dirty="0" err="1"/>
              <a:t>assurant</a:t>
            </a:r>
            <a:r>
              <a:rPr lang="en-US" sz="1700" dirty="0"/>
              <a:t> </a:t>
            </a:r>
            <a:r>
              <a:rPr lang="en-US" sz="1700" dirty="0" err="1"/>
              <a:t>une</a:t>
            </a:r>
            <a:r>
              <a:rPr lang="en-US" sz="1700" dirty="0"/>
              <a:t> </a:t>
            </a:r>
            <a:r>
              <a:rPr lang="en-US" sz="1700" dirty="0" err="1"/>
              <a:t>traçabilité</a:t>
            </a:r>
            <a:r>
              <a:rPr lang="en-US" sz="1700" dirty="0"/>
              <a:t> </a:t>
            </a:r>
            <a:r>
              <a:rPr lang="en-US" sz="1700" dirty="0" err="1"/>
              <a:t>carbone</a:t>
            </a:r>
            <a:r>
              <a:rPr lang="en-US" sz="1700" dirty="0"/>
              <a:t> </a:t>
            </a:r>
            <a:r>
              <a:rPr lang="en-US" sz="1700" dirty="0" err="1"/>
              <a:t>fiable</a:t>
            </a:r>
            <a:r>
              <a:rPr lang="en-US" sz="17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 4.   </a:t>
            </a:r>
            <a:r>
              <a:rPr lang="en-US" sz="1700" b="1" dirty="0" err="1"/>
              <a:t>Génération</a:t>
            </a:r>
            <a:r>
              <a:rPr lang="en-US" sz="1700" b="1" dirty="0"/>
              <a:t> </a:t>
            </a:r>
            <a:r>
              <a:rPr lang="en-US" sz="1700" b="1" dirty="0" err="1"/>
              <a:t>Automatique</a:t>
            </a:r>
            <a:r>
              <a:rPr lang="en-US" sz="1700" b="1" dirty="0"/>
              <a:t> de Rapports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Avant</a:t>
            </a:r>
            <a:r>
              <a:rPr lang="en-US" sz="1700" dirty="0"/>
              <a:t> : La </a:t>
            </a:r>
            <a:r>
              <a:rPr lang="en-US" sz="1700" dirty="0" err="1"/>
              <a:t>génération</a:t>
            </a:r>
            <a:r>
              <a:rPr lang="en-US" sz="1700" dirty="0"/>
              <a:t> de rapports sur les </a:t>
            </a:r>
            <a:r>
              <a:rPr lang="en-US" sz="1700" dirty="0" err="1"/>
              <a:t>émissions</a:t>
            </a:r>
            <a:r>
              <a:rPr lang="en-US" sz="1700" dirty="0"/>
              <a:t> de CO2 </a:t>
            </a:r>
            <a:r>
              <a:rPr lang="en-US" sz="1700" dirty="0" err="1"/>
              <a:t>nécessitait</a:t>
            </a:r>
            <a:r>
              <a:rPr lang="en-US" sz="1700" dirty="0"/>
              <a:t> un effort </a:t>
            </a:r>
            <a:r>
              <a:rPr lang="en-US" sz="1700" dirty="0" err="1"/>
              <a:t>manuel</a:t>
            </a:r>
            <a:r>
              <a:rPr lang="en-US" sz="1700" dirty="0"/>
              <a:t> </a:t>
            </a:r>
            <a:r>
              <a:rPr lang="en-US" sz="1700" dirty="0" err="1"/>
              <a:t>considérable</a:t>
            </a:r>
            <a:r>
              <a:rPr lang="en-US" sz="1700" dirty="0"/>
              <a:t>, avec </a:t>
            </a:r>
            <a:r>
              <a:rPr lang="en-US" sz="1700" dirty="0" err="1"/>
              <a:t>une</a:t>
            </a:r>
            <a:r>
              <a:rPr lang="en-US" sz="1700" dirty="0"/>
              <a:t> consolidation des données de </a:t>
            </a:r>
            <a:r>
              <a:rPr lang="en-US" sz="1700" dirty="0" err="1"/>
              <a:t>différentes</a:t>
            </a:r>
            <a:r>
              <a:rPr lang="en-US" sz="1700" dirty="0"/>
              <a:t> sources.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Après</a:t>
            </a:r>
            <a:r>
              <a:rPr lang="en-US" sz="1700" dirty="0"/>
              <a:t> : Les rapports </a:t>
            </a:r>
            <a:r>
              <a:rPr lang="en-US" sz="1700" dirty="0" err="1"/>
              <a:t>sont</a:t>
            </a:r>
            <a:r>
              <a:rPr lang="en-US" sz="1700" dirty="0"/>
              <a:t> </a:t>
            </a:r>
            <a:r>
              <a:rPr lang="en-US" sz="1700" dirty="0" err="1"/>
              <a:t>générés</a:t>
            </a:r>
            <a:r>
              <a:rPr lang="en-US" sz="1700" dirty="0"/>
              <a:t> </a:t>
            </a:r>
            <a:r>
              <a:rPr lang="en-US" sz="1700" dirty="0" err="1"/>
              <a:t>automatiquement</a:t>
            </a:r>
            <a:r>
              <a:rPr lang="en-US" sz="1700" dirty="0"/>
              <a:t> à </a:t>
            </a:r>
            <a:r>
              <a:rPr lang="en-US" sz="1700" dirty="0" err="1"/>
              <a:t>partir</a:t>
            </a:r>
            <a:r>
              <a:rPr lang="en-US" sz="1700" dirty="0"/>
              <a:t> des données </a:t>
            </a:r>
            <a:r>
              <a:rPr lang="en-US" sz="1700" dirty="0" err="1"/>
              <a:t>collectées</a:t>
            </a:r>
            <a:r>
              <a:rPr lang="en-US" sz="1700" dirty="0"/>
              <a:t> et </a:t>
            </a:r>
            <a:r>
              <a:rPr lang="en-US" sz="1700" dirty="0" err="1"/>
              <a:t>analysées</a:t>
            </a:r>
            <a:r>
              <a:rPr lang="en-US" sz="1700" dirty="0"/>
              <a:t>. </a:t>
            </a:r>
            <a:r>
              <a:rPr lang="en-US" sz="1700" dirty="0" err="1"/>
              <a:t>Cela</a:t>
            </a:r>
            <a:r>
              <a:rPr lang="en-US" sz="1700" dirty="0"/>
              <a:t> </a:t>
            </a:r>
            <a:r>
              <a:rPr lang="en-US" sz="1700" dirty="0" err="1"/>
              <a:t>permet</a:t>
            </a:r>
            <a:r>
              <a:rPr lang="en-US" sz="1700" dirty="0"/>
              <a:t> </a:t>
            </a:r>
            <a:r>
              <a:rPr lang="en-US" sz="1700" dirty="0" err="1"/>
              <a:t>une</a:t>
            </a:r>
            <a:r>
              <a:rPr lang="en-US" sz="1700" dirty="0"/>
              <a:t> communication </a:t>
            </a:r>
            <a:r>
              <a:rPr lang="en-US" sz="1700" dirty="0" err="1"/>
              <a:t>rapide</a:t>
            </a:r>
            <a:r>
              <a:rPr lang="en-US" sz="1700" dirty="0"/>
              <a:t> et </a:t>
            </a:r>
            <a:r>
              <a:rPr lang="en-US" sz="1700" dirty="0" err="1"/>
              <a:t>transparente</a:t>
            </a:r>
            <a:r>
              <a:rPr lang="en-US" sz="1700" dirty="0"/>
              <a:t> des performances </a:t>
            </a:r>
            <a:r>
              <a:rPr lang="en-US" sz="1700" dirty="0" err="1"/>
              <a:t>environnementales</a:t>
            </a:r>
            <a:r>
              <a:rPr lang="en-US" sz="1700" dirty="0"/>
              <a:t> aux parties </a:t>
            </a:r>
            <a:r>
              <a:rPr lang="en-US" sz="1700" dirty="0" err="1"/>
              <a:t>prenantes</a:t>
            </a:r>
            <a:r>
              <a:rPr lang="en-US" sz="1700" dirty="0"/>
              <a:t> internes et externes.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CAA43-E7ED-D74E-5642-23563430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E73946-9152-2148-B286-BEF1B04A8193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EE36B-4A6F-0C3A-36CC-EBBED1E0AD38}"/>
              </a:ext>
            </a:extLst>
          </p:cNvPr>
          <p:cNvSpPr txBox="1"/>
          <p:nvPr/>
        </p:nvSpPr>
        <p:spPr>
          <a:xfrm>
            <a:off x="2930013" y="255638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3461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1DAE-5492-9622-9F93-0BACF6C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Expliquer l’impact de la transformation digitale sur le workflow.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35739-37DD-6F0C-4F6E-611C8CF036DC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5.  </a:t>
            </a:r>
            <a:r>
              <a:rPr lang="en-US" sz="1700" b="1" dirty="0" err="1"/>
              <a:t>Analyse</a:t>
            </a:r>
            <a:r>
              <a:rPr lang="en-US" sz="1700" b="1" dirty="0"/>
              <a:t> </a:t>
            </a:r>
            <a:r>
              <a:rPr lang="en-US" sz="1700" b="1" dirty="0" err="1"/>
              <a:t>Avancée</a:t>
            </a:r>
            <a:r>
              <a:rPr lang="en-US" sz="1700" b="1" dirty="0"/>
              <a:t> des Données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Avant</a:t>
            </a:r>
            <a:r>
              <a:rPr lang="en-US" sz="1700" dirty="0"/>
              <a:t> : Les données </a:t>
            </a:r>
            <a:r>
              <a:rPr lang="en-US" sz="1700" dirty="0" err="1"/>
              <a:t>disponibles</a:t>
            </a:r>
            <a:r>
              <a:rPr lang="en-US" sz="1700" dirty="0"/>
              <a:t> </a:t>
            </a:r>
            <a:r>
              <a:rPr lang="en-US" sz="1700" dirty="0" err="1"/>
              <a:t>étaient</a:t>
            </a:r>
            <a:r>
              <a:rPr lang="en-US" sz="1700" dirty="0"/>
              <a:t> </a:t>
            </a:r>
            <a:r>
              <a:rPr lang="en-US" sz="1700" dirty="0" err="1"/>
              <a:t>limitées</a:t>
            </a:r>
            <a:r>
              <a:rPr lang="en-US" sz="1700" dirty="0"/>
              <a:t> et </a:t>
            </a:r>
            <a:r>
              <a:rPr lang="en-US" sz="1700" dirty="0" err="1"/>
              <a:t>souvent</a:t>
            </a:r>
            <a:r>
              <a:rPr lang="en-US" sz="1700" dirty="0"/>
              <a:t> sous-</a:t>
            </a:r>
            <a:r>
              <a:rPr lang="en-US" sz="1700" dirty="0" err="1"/>
              <a:t>utilisées</a:t>
            </a:r>
            <a:r>
              <a:rPr lang="en-US" sz="1700" dirty="0"/>
              <a:t>, </a:t>
            </a:r>
            <a:r>
              <a:rPr lang="en-US" sz="1700" dirty="0" err="1"/>
              <a:t>empêchant</a:t>
            </a:r>
            <a:r>
              <a:rPr lang="en-US" sz="1700" dirty="0"/>
              <a:t> </a:t>
            </a:r>
            <a:r>
              <a:rPr lang="en-US" sz="1700" dirty="0" err="1"/>
              <a:t>une</a:t>
            </a:r>
            <a:r>
              <a:rPr lang="en-US" sz="1700" dirty="0"/>
              <a:t> </a:t>
            </a:r>
            <a:r>
              <a:rPr lang="en-US" sz="1700" dirty="0" err="1"/>
              <a:t>analyse</a:t>
            </a:r>
            <a:r>
              <a:rPr lang="en-US" sz="1700" dirty="0"/>
              <a:t> </a:t>
            </a:r>
            <a:r>
              <a:rPr lang="en-US" sz="1700" dirty="0" err="1"/>
              <a:t>approfondie</a:t>
            </a:r>
            <a:r>
              <a:rPr lang="en-US" sz="1700" dirty="0"/>
              <a:t> et des actions correctives </a:t>
            </a:r>
            <a:r>
              <a:rPr lang="en-US" sz="1700" dirty="0" err="1"/>
              <a:t>efficaces</a:t>
            </a:r>
            <a:r>
              <a:rPr lang="en-US" sz="17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Après</a:t>
            </a:r>
            <a:r>
              <a:rPr lang="en-US" sz="1700" dirty="0"/>
              <a:t> : Les </a:t>
            </a:r>
            <a:r>
              <a:rPr lang="en-US" sz="1700" dirty="0" err="1"/>
              <a:t>outils</a:t>
            </a:r>
            <a:r>
              <a:rPr lang="en-US" sz="1700" dirty="0"/>
              <a:t> </a:t>
            </a:r>
            <a:r>
              <a:rPr lang="en-US" sz="1700" dirty="0" err="1"/>
              <a:t>d'analyse</a:t>
            </a:r>
            <a:r>
              <a:rPr lang="en-US" sz="1700" dirty="0"/>
              <a:t> de données </a:t>
            </a:r>
            <a:r>
              <a:rPr lang="en-US" sz="1700" dirty="0" err="1"/>
              <a:t>avancés</a:t>
            </a:r>
            <a:r>
              <a:rPr lang="en-US" sz="1700" dirty="0"/>
              <a:t> </a:t>
            </a:r>
            <a:r>
              <a:rPr lang="en-US" sz="1700" dirty="0" err="1"/>
              <a:t>permettent</a:t>
            </a:r>
            <a:r>
              <a:rPr lang="en-US" sz="1700" dirty="0"/>
              <a:t> </a:t>
            </a:r>
            <a:r>
              <a:rPr lang="en-US" sz="1700" dirty="0" err="1"/>
              <a:t>d'exploiter</a:t>
            </a:r>
            <a:r>
              <a:rPr lang="en-US" sz="1700" dirty="0"/>
              <a:t> </a:t>
            </a:r>
            <a:r>
              <a:rPr lang="en-US" sz="1700" dirty="0" err="1"/>
              <a:t>pleinement</a:t>
            </a:r>
            <a:r>
              <a:rPr lang="en-US" sz="1700" dirty="0"/>
              <a:t> les </a:t>
            </a:r>
            <a:r>
              <a:rPr lang="en-US" sz="1700" dirty="0" err="1"/>
              <a:t>informations</a:t>
            </a:r>
            <a:r>
              <a:rPr lang="en-US" sz="1700" dirty="0"/>
              <a:t> </a:t>
            </a:r>
            <a:r>
              <a:rPr lang="en-US" sz="1700" dirty="0" err="1"/>
              <a:t>collectées</a:t>
            </a:r>
            <a:r>
              <a:rPr lang="en-US" sz="1700" dirty="0"/>
              <a:t>. Les tendances </a:t>
            </a:r>
            <a:r>
              <a:rPr lang="en-US" sz="1700" dirty="0" err="1"/>
              <a:t>peuvent</a:t>
            </a:r>
            <a:r>
              <a:rPr lang="en-US" sz="1700" dirty="0"/>
              <a:t> </a:t>
            </a:r>
            <a:r>
              <a:rPr lang="en-US" sz="1700" dirty="0" err="1"/>
              <a:t>être</a:t>
            </a:r>
            <a:r>
              <a:rPr lang="en-US" sz="1700" dirty="0"/>
              <a:t> </a:t>
            </a:r>
            <a:r>
              <a:rPr lang="en-US" sz="1700" dirty="0" err="1"/>
              <a:t>identifiées</a:t>
            </a:r>
            <a:r>
              <a:rPr lang="en-US" sz="1700" dirty="0"/>
              <a:t>, les </a:t>
            </a:r>
            <a:r>
              <a:rPr lang="en-US" sz="1700" dirty="0" err="1"/>
              <a:t>inefficacités</a:t>
            </a:r>
            <a:r>
              <a:rPr lang="en-US" sz="1700" dirty="0"/>
              <a:t> </a:t>
            </a:r>
            <a:r>
              <a:rPr lang="en-US" sz="1700" dirty="0" err="1"/>
              <a:t>repérées</a:t>
            </a:r>
            <a:r>
              <a:rPr lang="en-US" sz="1700" dirty="0"/>
              <a:t>, et les </a:t>
            </a:r>
            <a:r>
              <a:rPr lang="en-US" sz="1700" dirty="0" err="1"/>
              <a:t>opportunités</a:t>
            </a:r>
            <a:r>
              <a:rPr lang="en-US" sz="1700" dirty="0"/>
              <a:t> </a:t>
            </a:r>
            <a:r>
              <a:rPr lang="en-US" sz="1700" dirty="0" err="1"/>
              <a:t>d'optimisation</a:t>
            </a:r>
            <a:r>
              <a:rPr lang="en-US" sz="1700" dirty="0"/>
              <a:t> mises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œuvre</a:t>
            </a:r>
            <a:r>
              <a:rPr lang="en-US" sz="1700" dirty="0"/>
              <a:t> pour </a:t>
            </a:r>
            <a:r>
              <a:rPr lang="en-US" sz="1700" dirty="0" err="1"/>
              <a:t>réduire</a:t>
            </a:r>
            <a:r>
              <a:rPr lang="en-US" sz="1700" dirty="0"/>
              <a:t> </a:t>
            </a:r>
            <a:r>
              <a:rPr lang="en-US" sz="1700" dirty="0" err="1"/>
              <a:t>l'empreinte</a:t>
            </a:r>
            <a:r>
              <a:rPr lang="en-US" sz="1700" dirty="0"/>
              <a:t> </a:t>
            </a:r>
            <a:r>
              <a:rPr lang="en-US" sz="1700" dirty="0" err="1"/>
              <a:t>carbone</a:t>
            </a:r>
            <a:r>
              <a:rPr lang="en-US" sz="17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6.  </a:t>
            </a:r>
            <a:r>
              <a:rPr lang="en-US" sz="1700" b="1" dirty="0" err="1"/>
              <a:t>Amélioration</a:t>
            </a:r>
            <a:r>
              <a:rPr lang="en-US" sz="1700" b="1" dirty="0"/>
              <a:t> de la </a:t>
            </a:r>
            <a:r>
              <a:rPr lang="en-US" sz="1700" b="1" dirty="0" err="1"/>
              <a:t>Durabilité</a:t>
            </a:r>
            <a:r>
              <a:rPr lang="en-US" sz="1700" b="1" dirty="0"/>
              <a:t>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Avant</a:t>
            </a:r>
            <a:r>
              <a:rPr lang="en-US" sz="1700" dirty="0"/>
              <a:t> : Les efforts de </a:t>
            </a:r>
            <a:r>
              <a:rPr lang="en-US" sz="1700" dirty="0" err="1"/>
              <a:t>durabilité</a:t>
            </a:r>
            <a:r>
              <a:rPr lang="en-US" sz="1700" dirty="0"/>
              <a:t> </a:t>
            </a:r>
            <a:r>
              <a:rPr lang="en-US" sz="1700" dirty="0" err="1"/>
              <a:t>étaient</a:t>
            </a:r>
            <a:r>
              <a:rPr lang="en-US" sz="1700" dirty="0"/>
              <a:t> </a:t>
            </a:r>
            <a:r>
              <a:rPr lang="en-US" sz="1700" dirty="0" err="1"/>
              <a:t>souvent</a:t>
            </a:r>
            <a:r>
              <a:rPr lang="en-US" sz="1700" dirty="0"/>
              <a:t> </a:t>
            </a:r>
            <a:r>
              <a:rPr lang="en-US" sz="1700" dirty="0" err="1"/>
              <a:t>réactifs</a:t>
            </a:r>
            <a:r>
              <a:rPr lang="en-US" sz="1700" dirty="0"/>
              <a:t> et </a:t>
            </a:r>
            <a:r>
              <a:rPr lang="en-US" sz="1700" dirty="0" err="1"/>
              <a:t>basés</a:t>
            </a:r>
            <a:r>
              <a:rPr lang="en-US" sz="1700" dirty="0"/>
              <a:t> sur des pratiques standard non </a:t>
            </a:r>
            <a:r>
              <a:rPr lang="en-US" sz="1700" dirty="0" err="1"/>
              <a:t>optimisées</a:t>
            </a:r>
            <a:r>
              <a:rPr lang="en-US" sz="17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Après</a:t>
            </a:r>
            <a:r>
              <a:rPr lang="en-US" sz="1700" dirty="0"/>
              <a:t> : La transformation </a:t>
            </a:r>
            <a:r>
              <a:rPr lang="en-US" sz="1700" dirty="0" err="1"/>
              <a:t>digitale</a:t>
            </a:r>
            <a:r>
              <a:rPr lang="en-US" sz="1700" dirty="0"/>
              <a:t> </a:t>
            </a:r>
            <a:r>
              <a:rPr lang="en-US" sz="1700" dirty="0" err="1"/>
              <a:t>permet</a:t>
            </a:r>
            <a:r>
              <a:rPr lang="en-US" sz="1700" dirty="0"/>
              <a:t> </a:t>
            </a:r>
            <a:r>
              <a:rPr lang="en-US" sz="1700" dirty="0" err="1"/>
              <a:t>une</a:t>
            </a:r>
            <a:r>
              <a:rPr lang="en-US" sz="1700" dirty="0"/>
              <a:t> </a:t>
            </a:r>
            <a:r>
              <a:rPr lang="en-US" sz="1700" dirty="0" err="1"/>
              <a:t>approche</a:t>
            </a:r>
            <a:r>
              <a:rPr lang="en-US" sz="1700" dirty="0"/>
              <a:t> proactive et continue de </a:t>
            </a:r>
            <a:r>
              <a:rPr lang="en-US" sz="1700" dirty="0" err="1"/>
              <a:t>l'amélioration</a:t>
            </a:r>
            <a:r>
              <a:rPr lang="en-US" sz="1700" dirty="0"/>
              <a:t> durable. Les données et les analyses </a:t>
            </a:r>
            <a:r>
              <a:rPr lang="en-US" sz="1700" dirty="0" err="1"/>
              <a:t>fournissent</a:t>
            </a:r>
            <a:r>
              <a:rPr lang="en-US" sz="1700" dirty="0"/>
              <a:t> des insights </a:t>
            </a:r>
            <a:r>
              <a:rPr lang="en-US" sz="1700" dirty="0" err="1"/>
              <a:t>permettant</a:t>
            </a:r>
            <a:r>
              <a:rPr lang="en-US" sz="1700" dirty="0"/>
              <a:t> </a:t>
            </a:r>
            <a:r>
              <a:rPr lang="en-US" sz="1700" dirty="0" err="1"/>
              <a:t>d'adopter</a:t>
            </a:r>
            <a:r>
              <a:rPr lang="en-US" sz="1700" dirty="0"/>
              <a:t> des pratiques de transport plus </a:t>
            </a:r>
            <a:r>
              <a:rPr lang="en-US" sz="1700" dirty="0" err="1"/>
              <a:t>écologiques</a:t>
            </a:r>
            <a:r>
              <a:rPr lang="en-US" sz="1700" dirty="0"/>
              <a:t> et </a:t>
            </a:r>
            <a:r>
              <a:rPr lang="en-US" sz="1700" dirty="0" err="1"/>
              <a:t>efficaces</a:t>
            </a:r>
            <a:r>
              <a:rPr lang="en-US" sz="17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CAA43-E7ED-D74E-5642-23563430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E73946-9152-2148-B286-BEF1B04A8193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EE36B-4A6F-0C3A-36CC-EBBED1E0AD38}"/>
              </a:ext>
            </a:extLst>
          </p:cNvPr>
          <p:cNvSpPr txBox="1"/>
          <p:nvPr/>
        </p:nvSpPr>
        <p:spPr>
          <a:xfrm>
            <a:off x="2930013" y="255638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523414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1DAE-5492-9622-9F93-0BACF6CB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Expliquer l’impact de la transformation digitale sur le workflow.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35739-37DD-6F0C-4F6E-611C8CF036DC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7.  </a:t>
            </a:r>
            <a:r>
              <a:rPr lang="en-US" sz="1700" b="1" dirty="0" err="1"/>
              <a:t>Rationalisation</a:t>
            </a:r>
            <a:r>
              <a:rPr lang="en-US" sz="1700" b="1" dirty="0"/>
              <a:t> et </a:t>
            </a:r>
            <a:r>
              <a:rPr lang="en-US" sz="1700" b="1" dirty="0" err="1"/>
              <a:t>Réduction</a:t>
            </a:r>
            <a:r>
              <a:rPr lang="en-US" sz="1700" b="1" dirty="0"/>
              <a:t> des </a:t>
            </a:r>
            <a:r>
              <a:rPr lang="en-US" sz="1700" b="1" dirty="0" err="1"/>
              <a:t>Coûts</a:t>
            </a:r>
            <a:r>
              <a:rPr lang="en-US" sz="1700" b="1" dirty="0"/>
              <a:t>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Avant</a:t>
            </a:r>
            <a:r>
              <a:rPr lang="en-US" sz="1700" dirty="0"/>
              <a:t> : Les </a:t>
            </a:r>
            <a:r>
              <a:rPr lang="en-US" sz="1700" dirty="0" err="1"/>
              <a:t>inefficacités</a:t>
            </a:r>
            <a:r>
              <a:rPr lang="en-US" sz="1700" dirty="0"/>
              <a:t> dans la planification et la gestion des transports </a:t>
            </a:r>
            <a:r>
              <a:rPr lang="en-US" sz="1700" dirty="0" err="1"/>
              <a:t>entraînaient</a:t>
            </a:r>
            <a:r>
              <a:rPr lang="en-US" sz="1700" dirty="0"/>
              <a:t> des </a:t>
            </a:r>
            <a:r>
              <a:rPr lang="en-US" sz="1700" dirty="0" err="1"/>
              <a:t>coûts</a:t>
            </a:r>
            <a:r>
              <a:rPr lang="en-US" sz="1700" dirty="0"/>
              <a:t> </a:t>
            </a:r>
            <a:r>
              <a:rPr lang="en-US" sz="1700" dirty="0" err="1"/>
              <a:t>opérationnels</a:t>
            </a:r>
            <a:r>
              <a:rPr lang="en-US" sz="1700" dirty="0"/>
              <a:t> </a:t>
            </a:r>
            <a:r>
              <a:rPr lang="en-US" sz="1700" dirty="0" err="1"/>
              <a:t>élevés</a:t>
            </a:r>
            <a:r>
              <a:rPr lang="en-US" sz="1700" dirty="0"/>
              <a:t> et </a:t>
            </a:r>
            <a:r>
              <a:rPr lang="en-US" sz="1700" dirty="0" err="1"/>
              <a:t>une</a:t>
            </a:r>
            <a:r>
              <a:rPr lang="en-US" sz="1700" dirty="0"/>
              <a:t> </a:t>
            </a:r>
            <a:r>
              <a:rPr lang="en-US" sz="1700" dirty="0" err="1"/>
              <a:t>empreinte</a:t>
            </a:r>
            <a:r>
              <a:rPr lang="en-US" sz="1700" dirty="0"/>
              <a:t> </a:t>
            </a:r>
            <a:r>
              <a:rPr lang="en-US" sz="1700" dirty="0" err="1"/>
              <a:t>carbone</a:t>
            </a:r>
            <a:r>
              <a:rPr lang="en-US" sz="1700" dirty="0"/>
              <a:t> plus </a:t>
            </a:r>
            <a:r>
              <a:rPr lang="en-US" sz="1700" dirty="0" err="1"/>
              <a:t>importante</a:t>
            </a:r>
            <a:r>
              <a:rPr lang="en-US" sz="17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Après</a:t>
            </a:r>
            <a:r>
              <a:rPr lang="en-US" sz="1700" dirty="0"/>
              <a:t> : La </a:t>
            </a:r>
            <a:r>
              <a:rPr lang="en-US" sz="1700" dirty="0" err="1"/>
              <a:t>rationalisation</a:t>
            </a:r>
            <a:r>
              <a:rPr lang="en-US" sz="1700" dirty="0"/>
              <a:t> des processus grâce à la </a:t>
            </a:r>
            <a:r>
              <a:rPr lang="en-US" sz="1700" dirty="0" err="1"/>
              <a:t>digitalisation</a:t>
            </a:r>
            <a:r>
              <a:rPr lang="en-US" sz="1700" dirty="0"/>
              <a:t> </a:t>
            </a:r>
            <a:r>
              <a:rPr lang="en-US" sz="1700" dirty="0" err="1"/>
              <a:t>réduit</a:t>
            </a:r>
            <a:r>
              <a:rPr lang="en-US" sz="1700" dirty="0"/>
              <a:t> les </a:t>
            </a:r>
            <a:r>
              <a:rPr lang="en-US" sz="1700" dirty="0" err="1"/>
              <a:t>coûts</a:t>
            </a:r>
            <a:r>
              <a:rPr lang="en-US" sz="1700" dirty="0"/>
              <a:t> </a:t>
            </a:r>
            <a:r>
              <a:rPr lang="en-US" sz="1700" dirty="0" err="1"/>
              <a:t>opérationnels</a:t>
            </a:r>
            <a:r>
              <a:rPr lang="en-US" sz="1700" dirty="0"/>
              <a:t> et </a:t>
            </a:r>
            <a:r>
              <a:rPr lang="en-US" sz="1700" dirty="0" err="1"/>
              <a:t>optimise</a:t>
            </a:r>
            <a:r>
              <a:rPr lang="en-US" sz="1700" dirty="0"/>
              <a:t> </a:t>
            </a:r>
            <a:r>
              <a:rPr lang="en-US" sz="1700" dirty="0" err="1"/>
              <a:t>l'utilisation</a:t>
            </a:r>
            <a:r>
              <a:rPr lang="en-US" sz="1700" dirty="0"/>
              <a:t> des </a:t>
            </a:r>
            <a:r>
              <a:rPr lang="en-US" sz="1700" dirty="0" err="1"/>
              <a:t>ressources</a:t>
            </a:r>
            <a:r>
              <a:rPr lang="en-US" sz="1700" dirty="0"/>
              <a:t>. </a:t>
            </a:r>
            <a:r>
              <a:rPr lang="en-US" sz="1700" dirty="0" err="1"/>
              <a:t>Cela</a:t>
            </a:r>
            <a:r>
              <a:rPr lang="en-US" sz="1700" dirty="0"/>
              <a:t> </a:t>
            </a:r>
            <a:r>
              <a:rPr lang="en-US" sz="1700" dirty="0" err="1"/>
              <a:t>permet</a:t>
            </a:r>
            <a:r>
              <a:rPr lang="en-US" sz="1700" dirty="0"/>
              <a:t> </a:t>
            </a:r>
            <a:r>
              <a:rPr lang="en-US" sz="1700" dirty="0" err="1"/>
              <a:t>également</a:t>
            </a:r>
            <a:r>
              <a:rPr lang="en-US" sz="1700" dirty="0"/>
              <a:t> de </a:t>
            </a:r>
            <a:r>
              <a:rPr lang="en-US" sz="1700" dirty="0" err="1"/>
              <a:t>diminuer</a:t>
            </a:r>
            <a:r>
              <a:rPr lang="en-US" sz="1700" dirty="0"/>
              <a:t> les </a:t>
            </a:r>
            <a:r>
              <a:rPr lang="en-US" sz="1700" dirty="0" err="1"/>
              <a:t>émissions</a:t>
            </a:r>
            <a:r>
              <a:rPr lang="en-US" sz="1700" dirty="0"/>
              <a:t> de CO2, </a:t>
            </a:r>
            <a:r>
              <a:rPr lang="en-US" sz="1700" dirty="0" err="1"/>
              <a:t>contribuant</a:t>
            </a:r>
            <a:r>
              <a:rPr lang="en-US" sz="1700" dirty="0"/>
              <a:t> </a:t>
            </a:r>
            <a:r>
              <a:rPr lang="en-US" sz="1700" dirty="0" err="1"/>
              <a:t>ainsi</a:t>
            </a:r>
            <a:r>
              <a:rPr lang="en-US" sz="1700" dirty="0"/>
              <a:t> aux </a:t>
            </a:r>
            <a:r>
              <a:rPr lang="en-US" sz="1700" dirty="0" err="1"/>
              <a:t>objectifs</a:t>
            </a:r>
            <a:r>
              <a:rPr lang="en-US" sz="1700" dirty="0"/>
              <a:t> de </a:t>
            </a:r>
            <a:r>
              <a:rPr lang="en-US" sz="1700" dirty="0" err="1"/>
              <a:t>durabilité</a:t>
            </a:r>
            <a:r>
              <a:rPr lang="en-US" sz="17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dirty="0"/>
              <a:t>En résumé, la transformation </a:t>
            </a:r>
            <a:r>
              <a:rPr lang="en-US" sz="1700" dirty="0" err="1"/>
              <a:t>digitale</a:t>
            </a:r>
            <a:r>
              <a:rPr lang="en-US" sz="1700" dirty="0"/>
              <a:t> du workflow de la </a:t>
            </a:r>
            <a:r>
              <a:rPr lang="en-US" sz="1700" dirty="0" err="1"/>
              <a:t>chaîne</a:t>
            </a:r>
            <a:r>
              <a:rPr lang="en-US" sz="1700" dirty="0"/>
              <a:t> </a:t>
            </a:r>
            <a:r>
              <a:rPr lang="en-US" sz="1700" dirty="0" err="1"/>
              <a:t>logistique</a:t>
            </a:r>
            <a:r>
              <a:rPr lang="en-US" sz="1700" dirty="0"/>
              <a:t> et du transport durable </a:t>
            </a:r>
            <a:r>
              <a:rPr lang="en-US" sz="1700" dirty="0" err="1"/>
              <a:t>apporte</a:t>
            </a:r>
            <a:r>
              <a:rPr lang="en-US" sz="1700" dirty="0"/>
              <a:t> des </a:t>
            </a:r>
            <a:r>
              <a:rPr lang="en-US" sz="1700" dirty="0" err="1"/>
              <a:t>améliorations</a:t>
            </a:r>
            <a:r>
              <a:rPr lang="en-US" sz="1700" dirty="0"/>
              <a:t> </a:t>
            </a:r>
            <a:r>
              <a:rPr lang="en-US" sz="1700" dirty="0" err="1"/>
              <a:t>substantielles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</a:t>
            </a:r>
            <a:r>
              <a:rPr lang="en-US" sz="1700" dirty="0" err="1"/>
              <a:t>termes</a:t>
            </a:r>
            <a:r>
              <a:rPr lang="en-US" sz="1700" dirty="0"/>
              <a:t> </a:t>
            </a:r>
            <a:r>
              <a:rPr lang="en-US" sz="1700" b="1" dirty="0" err="1"/>
              <a:t>d'efficacité</a:t>
            </a:r>
            <a:r>
              <a:rPr lang="en-US" sz="1700" b="1" dirty="0"/>
              <a:t> </a:t>
            </a:r>
            <a:r>
              <a:rPr lang="en-US" sz="1700" b="1" dirty="0" err="1"/>
              <a:t>opérationnelle</a:t>
            </a:r>
            <a:r>
              <a:rPr lang="en-US" sz="1700" dirty="0"/>
              <a:t>, </a:t>
            </a:r>
            <a:r>
              <a:rPr lang="en-US" sz="1700" b="1" dirty="0"/>
              <a:t>de </a:t>
            </a:r>
            <a:r>
              <a:rPr lang="en-US" sz="1700" b="1" dirty="0" err="1"/>
              <a:t>précision</a:t>
            </a:r>
            <a:r>
              <a:rPr lang="en-US" sz="1700" b="1" dirty="0"/>
              <a:t> des données</a:t>
            </a:r>
            <a:r>
              <a:rPr lang="en-US" sz="1700" dirty="0"/>
              <a:t>, de</a:t>
            </a:r>
            <a:r>
              <a:rPr lang="en-US" sz="1700" b="1" dirty="0"/>
              <a:t> </a:t>
            </a:r>
            <a:r>
              <a:rPr lang="en-US" sz="1700" b="1" dirty="0" err="1"/>
              <a:t>durabilité</a:t>
            </a:r>
            <a:r>
              <a:rPr lang="en-US" sz="1700" b="1" dirty="0"/>
              <a:t> </a:t>
            </a:r>
            <a:r>
              <a:rPr lang="en-US" sz="1700" b="1" dirty="0" err="1"/>
              <a:t>environnementale</a:t>
            </a:r>
            <a:r>
              <a:rPr lang="en-US" sz="1700" dirty="0"/>
              <a:t>, et de </a:t>
            </a:r>
            <a:r>
              <a:rPr lang="en-US" sz="1700" b="1" dirty="0" err="1"/>
              <a:t>réduction</a:t>
            </a:r>
            <a:r>
              <a:rPr lang="en-US" sz="1700" b="1" dirty="0"/>
              <a:t> des </a:t>
            </a:r>
            <a:r>
              <a:rPr lang="en-US" sz="1700" b="1" dirty="0" err="1"/>
              <a:t>coûts</a:t>
            </a:r>
            <a:r>
              <a:rPr lang="en-US" sz="1700" dirty="0"/>
              <a:t>. </a:t>
            </a:r>
            <a:r>
              <a:rPr lang="en-US" sz="1700" dirty="0" err="1"/>
              <a:t>Ces</a:t>
            </a:r>
            <a:r>
              <a:rPr lang="en-US" sz="1700" dirty="0"/>
              <a:t> </a:t>
            </a:r>
            <a:r>
              <a:rPr lang="en-US" sz="1700" dirty="0" err="1"/>
              <a:t>changements</a:t>
            </a:r>
            <a:r>
              <a:rPr lang="en-US" sz="1700" dirty="0"/>
              <a:t> </a:t>
            </a:r>
            <a:r>
              <a:rPr lang="en-US" sz="1700" dirty="0" err="1"/>
              <a:t>permettent</a:t>
            </a:r>
            <a:r>
              <a:rPr lang="en-US" sz="1700" dirty="0"/>
              <a:t> à </a:t>
            </a:r>
            <a:r>
              <a:rPr lang="en-US" sz="1700" dirty="0" err="1"/>
              <a:t>l’entreprise</a:t>
            </a:r>
            <a:r>
              <a:rPr lang="en-US" sz="1700" dirty="0"/>
              <a:t> </a:t>
            </a:r>
            <a:r>
              <a:rPr lang="en-US" sz="1700" dirty="0" err="1"/>
              <a:t>d’adopter</a:t>
            </a:r>
            <a:r>
              <a:rPr lang="en-US" sz="1700" dirty="0"/>
              <a:t> des pratiques plus </a:t>
            </a:r>
            <a:r>
              <a:rPr lang="en-US" sz="1700" dirty="0" err="1"/>
              <a:t>responsables</a:t>
            </a:r>
            <a:r>
              <a:rPr lang="en-US" sz="1700" dirty="0"/>
              <a:t> et de </a:t>
            </a:r>
            <a:r>
              <a:rPr lang="en-US" sz="1700" dirty="0" err="1"/>
              <a:t>répondre</a:t>
            </a:r>
            <a:r>
              <a:rPr lang="en-US" sz="1700" dirty="0"/>
              <a:t> aux </a:t>
            </a:r>
            <a:r>
              <a:rPr lang="en-US" sz="1700" dirty="0" err="1"/>
              <a:t>attentes</a:t>
            </a:r>
            <a:r>
              <a:rPr lang="en-US" sz="1700" dirty="0"/>
              <a:t> </a:t>
            </a:r>
            <a:r>
              <a:rPr lang="en-US" sz="1700" dirty="0" err="1"/>
              <a:t>croissantes</a:t>
            </a:r>
            <a:r>
              <a:rPr lang="en-US" sz="1700" dirty="0"/>
              <a:t> </a:t>
            </a:r>
            <a:r>
              <a:rPr lang="en-US" sz="1700" dirty="0" err="1"/>
              <a:t>en</a:t>
            </a:r>
            <a:r>
              <a:rPr lang="en-US" sz="1700" dirty="0"/>
              <a:t> matière de gestion durable et de transparence des </a:t>
            </a:r>
            <a:r>
              <a:rPr lang="en-US" sz="1700" dirty="0" err="1"/>
              <a:t>émissions</a:t>
            </a:r>
            <a:r>
              <a:rPr lang="en-US" sz="1700" dirty="0"/>
              <a:t> de </a:t>
            </a:r>
            <a:r>
              <a:rPr lang="en-US" sz="1700" dirty="0" err="1"/>
              <a:t>carbone</a:t>
            </a:r>
            <a:r>
              <a:rPr lang="en-US" sz="17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CAA43-E7ED-D74E-5642-23563430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E73946-9152-2148-B286-BEF1B04A8193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EE36B-4A6F-0C3A-36CC-EBBED1E0AD38}"/>
              </a:ext>
            </a:extLst>
          </p:cNvPr>
          <p:cNvSpPr txBox="1"/>
          <p:nvPr/>
        </p:nvSpPr>
        <p:spPr>
          <a:xfrm>
            <a:off x="2930013" y="255638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99095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idn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8ED845-626D-4B8F-816C-3C0AFCDACD9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669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Office Theme</vt:lpstr>
      <vt:lpstr>Midnight</vt:lpstr>
      <vt:lpstr>Digitalisation des processus Métiers</vt:lpstr>
      <vt:lpstr>1. Illustrer en digramme de processus comment permettre et assurer la traçabilité carbone et évaluer l’empreinte carbone.</vt:lpstr>
      <vt:lpstr>2. Choisir un business workflow parmi la liste en annexe 2</vt:lpstr>
      <vt:lpstr>3. Illustrer/construire le workflow standard en digramme</vt:lpstr>
      <vt:lpstr>4. Présenter l’évolution du workflow après digitalisation</vt:lpstr>
      <vt:lpstr>5. Expliquer l’impact de la transformation digitale sur le workflow. </vt:lpstr>
      <vt:lpstr>5. Expliquer l’impact de la transformation digitale sur le workflow. </vt:lpstr>
      <vt:lpstr>5. Expliquer l’impact de la transformation digitale sur le workflow. </vt:lpstr>
      <vt:lpstr>5. Expliquer l’impact de la transformation digitale sur le workflow.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Digitalisation des processus Métiers</dc:title>
  <dc:creator>ghadahamoudi</dc:creator>
  <cp:lastModifiedBy>ghadahamoudi</cp:lastModifiedBy>
  <cp:revision>1</cp:revision>
  <dcterms:created xsi:type="dcterms:W3CDTF">2024-05-17T08:12:49Z</dcterms:created>
  <dcterms:modified xsi:type="dcterms:W3CDTF">2024-05-17T09:24:44Z</dcterms:modified>
</cp:coreProperties>
</file>