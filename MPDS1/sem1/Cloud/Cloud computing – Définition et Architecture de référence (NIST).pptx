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sldIdLst>
    <p:sldId id="256" r:id="rId2"/>
    <p:sldId id="275" r:id="rId3"/>
    <p:sldId id="276" r:id="rId4"/>
    <p:sldId id="259" r:id="rId5"/>
    <p:sldId id="282" r:id="rId6"/>
    <p:sldId id="278" r:id="rId7"/>
    <p:sldId id="279" r:id="rId8"/>
    <p:sldId id="280" r:id="rId9"/>
    <p:sldId id="285" r:id="rId10"/>
    <p:sldId id="286" r:id="rId11"/>
    <p:sldId id="287" r:id="rId12"/>
    <p:sldId id="288" r:id="rId13"/>
    <p:sldId id="283" r:id="rId14"/>
    <p:sldId id="289" r:id="rId15"/>
    <p:sldId id="290" r:id="rId16"/>
    <p:sldId id="291" r:id="rId17"/>
    <p:sldId id="284" r:id="rId18"/>
    <p:sldId id="28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6" r:id="rId34"/>
    <p:sldId id="307" r:id="rId35"/>
    <p:sldId id="308" r:id="rId36"/>
    <p:sldId id="309" r:id="rId37"/>
    <p:sldId id="310" r:id="rId38"/>
    <p:sldId id="311" r:id="rId39"/>
    <p:sldId id="312" r:id="rId40"/>
    <p:sldId id="313" r:id="rId41"/>
    <p:sldId id="314" r:id="rId42"/>
    <p:sldId id="315" r:id="rId43"/>
    <p:sldId id="316" r:id="rId44"/>
    <p:sldId id="317" r:id="rId45"/>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9900CC"/>
    <a:srgbClr val="D99B01"/>
    <a:srgbClr val="FF66CC"/>
    <a:srgbClr val="FF67AC"/>
    <a:srgbClr val="CC0099"/>
    <a:srgbClr val="FFDC47"/>
    <a:srgbClr val="5EEC3C"/>
    <a:srgbClr val="CCCC00"/>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105" d="100"/>
          <a:sy n="105" d="100"/>
        </p:scale>
        <p:origin x="758" y="6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20A01-65E4-4D78-9482-2328BEB2BBE8}" type="datetimeFigureOut">
              <a:rPr lang="en-US" smtClean="0"/>
              <a:t>12/6/2023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CC5607-7701-4805-9CE3-F9D2CD9FF35C}" type="slidenum">
              <a:rPr lang="en-US" smtClean="0"/>
              <a:t>‹N°›</a:t>
            </a:fld>
            <a:endParaRPr lang="en-US"/>
          </a:p>
        </p:txBody>
      </p:sp>
    </p:spTree>
    <p:extLst>
      <p:ext uri="{BB962C8B-B14F-4D97-AF65-F5344CB8AC3E}">
        <p14:creationId xmlns:p14="http://schemas.microsoft.com/office/powerpoint/2010/main" val="230412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419045"/>
            <a:ext cx="8246070" cy="773002"/>
          </a:xfrm>
          <a:noFill/>
          <a:effectLst>
            <a:outerShdw blurRad="50800" dist="38100" dir="2700000" algn="tl" rotWithShape="0">
              <a:prstClr val="black">
                <a:alpha val="40000"/>
              </a:prstClr>
            </a:outerShdw>
          </a:effectLst>
        </p:spPr>
        <p:txBody>
          <a:bodyPr>
            <a:normAutofit/>
          </a:bodyPr>
          <a:lstStyle>
            <a:lvl1pPr algn="ctr">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448965" y="3182570"/>
            <a:ext cx="8246070" cy="610821"/>
          </a:xfrm>
        </p:spPr>
        <p:txBody>
          <a:bodyPr>
            <a:normAutofit/>
          </a:bodyPr>
          <a:lstStyle>
            <a:lvl1pPr marL="0" indent="0" algn="ctr">
              <a:buNone/>
              <a:defRPr sz="2800" b="0" i="0">
                <a:solidFill>
                  <a:srgbClr val="002060"/>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4B3770E-9365-4F25-B88F-72C55E3E6AA1}"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1350110"/>
            <a:ext cx="8246070"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6" y="1960930"/>
            <a:ext cx="8246070" cy="2748684"/>
          </a:xfrm>
        </p:spPr>
        <p:txBody>
          <a:bodyPr/>
          <a:lstStyle>
            <a:lvl1pPr algn="ctr">
              <a:defRPr sz="2800">
                <a:solidFill>
                  <a:srgbClr val="002060"/>
                </a:solidFill>
              </a:defRPr>
            </a:lvl1pPr>
            <a:lvl2pPr algn="ctr">
              <a:defRPr>
                <a:solidFill>
                  <a:srgbClr val="002060"/>
                </a:solidFill>
              </a:defRPr>
            </a:lvl2pPr>
            <a:lvl3pPr algn="ctr">
              <a:defRPr>
                <a:solidFill>
                  <a:srgbClr val="002060"/>
                </a:solidFill>
              </a:defRPr>
            </a:lvl3pPr>
            <a:lvl4pPr algn="ctr">
              <a:defRPr>
                <a:solidFill>
                  <a:srgbClr val="002060"/>
                </a:solidFill>
              </a:defRPr>
            </a:lvl4pPr>
            <a:lvl5pPr algn="ct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12F3C580-7D47-4C1B-BEA7-5CBA70D0D10C}"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1670" y="433880"/>
            <a:ext cx="6413610" cy="572644"/>
          </a:xfrm>
        </p:spPr>
        <p:txBody>
          <a:bodyPr>
            <a:normAutofit/>
          </a:bodyPr>
          <a:lstStyle>
            <a:lvl1pPr algn="l">
              <a:defRPr sz="360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601670" y="1198559"/>
            <a:ext cx="6413610" cy="3511061"/>
          </a:xfrm>
        </p:spPr>
        <p:txBody>
          <a:bodyPr/>
          <a:lstStyle>
            <a:lvl1pPr>
              <a:defRPr sz="2800">
                <a:solidFill>
                  <a:srgbClr val="00206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05734AB-681E-4826-8D39-D2E6DDC7B169}"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4CA8958-3011-49FD-89E8-266E59360381}"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3F95167-5018-4937-9DA6-98F5EAE70D79}" type="datetime1">
              <a:rPr lang="en-US" smtClean="0"/>
              <a:t>12/6/2023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48964" y="1350110"/>
            <a:ext cx="8246071" cy="610820"/>
          </a:xfrm>
        </p:spPr>
        <p:txBody>
          <a:bodyPr>
            <a:normAutofit/>
          </a:bodyPr>
          <a:lstStyle>
            <a:lvl1pPr algn="ctr">
              <a:defRPr sz="3600" baseline="0">
                <a:solidFill>
                  <a:srgbClr val="FF9900"/>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2140229"/>
            <a:ext cx="4040188"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571749"/>
            <a:ext cx="4040188"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2140229"/>
            <a:ext cx="4041775" cy="479822"/>
          </a:xfrm>
        </p:spPr>
        <p:txBody>
          <a:bodyPr anchor="b"/>
          <a:lstStyle>
            <a:lvl1pPr marL="0" indent="0" algn="ctr">
              <a:buNone/>
              <a:defRPr sz="2400" b="1">
                <a:solidFill>
                  <a:srgbClr val="00206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571749"/>
            <a:ext cx="4041775" cy="2137871"/>
          </a:xfrm>
        </p:spPr>
        <p:txBody>
          <a:bodyPr/>
          <a:lstStyle>
            <a:lvl1pPr algn="ctr">
              <a:defRPr sz="2400">
                <a:solidFill>
                  <a:srgbClr val="002060"/>
                </a:solidFill>
              </a:defRPr>
            </a:lvl1pPr>
            <a:lvl2pPr algn="ctr">
              <a:defRPr sz="2000">
                <a:solidFill>
                  <a:srgbClr val="002060"/>
                </a:solidFill>
              </a:defRPr>
            </a:lvl2pPr>
            <a:lvl3pPr algn="ctr">
              <a:defRPr sz="1800">
                <a:solidFill>
                  <a:srgbClr val="002060"/>
                </a:solidFill>
              </a:defRPr>
            </a:lvl3pPr>
            <a:lvl4pPr algn="ctr">
              <a:defRPr sz="1600">
                <a:solidFill>
                  <a:srgbClr val="002060"/>
                </a:solidFill>
              </a:defRPr>
            </a:lvl4pPr>
            <a:lvl5pPr algn="ctr">
              <a:defRPr sz="1600">
                <a:solidFill>
                  <a:srgbClr val="002060"/>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9FECFA68-7976-4CAA-8D71-D1847B3B45EB}" type="datetime1">
              <a:rPr lang="en-US" smtClean="0"/>
              <a:t>12/6/2023</a:t>
            </a:fld>
            <a:endParaRPr lang="en-US"/>
          </a:p>
        </p:txBody>
      </p:sp>
      <p:sp>
        <p:nvSpPr>
          <p:cNvPr id="8" name="Footer Placeholder 7"/>
          <p:cNvSpPr>
            <a:spLocks noGrp="1"/>
          </p:cNvSpPr>
          <p:nvPr>
            <p:ph type="ftr" sz="quarter" idx="11"/>
          </p:nvPr>
        </p:nvSpPr>
        <p:spPr/>
        <p:txBody>
          <a:bodyPr/>
          <a:lstStyle/>
          <a:p>
            <a:r>
              <a:rPr lang="en-US"/>
              <a:t>Dr. Bechir Ben Gouissem</a:t>
            </a:r>
          </a:p>
        </p:txBody>
      </p:sp>
      <p:sp>
        <p:nvSpPr>
          <p:cNvPr id="9" name="Slide Number Placeholder 8"/>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11CC34C-4556-43BA-9C5F-3E1B55322378}" type="datetime1">
              <a:rPr lang="en-US" smtClean="0"/>
              <a:t>12/6/2023</a:t>
            </a:fld>
            <a:endParaRPr lang="en-US"/>
          </a:p>
        </p:txBody>
      </p:sp>
      <p:sp>
        <p:nvSpPr>
          <p:cNvPr id="4" name="Footer Placeholder 3"/>
          <p:cNvSpPr>
            <a:spLocks noGrp="1"/>
          </p:cNvSpPr>
          <p:nvPr>
            <p:ph type="ftr" sz="quarter" idx="11"/>
          </p:nvPr>
        </p:nvSpPr>
        <p:spPr/>
        <p:txBody>
          <a:bodyPr/>
          <a:lstStyle/>
          <a:p>
            <a:r>
              <a:rPr lang="en-US"/>
              <a:t>Dr. Bechir Ben Gouissem</a:t>
            </a:r>
          </a:p>
        </p:txBody>
      </p:sp>
      <p:sp>
        <p:nvSpPr>
          <p:cNvPr id="5" name="Slide Number Placeholder 4"/>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047920-2A3A-42B3-9431-12AC3D2B1779}" type="datetime1">
              <a:rPr lang="en-US" smtClean="0"/>
              <a:t>12/6/2023</a:t>
            </a:fld>
            <a:endParaRPr lang="en-US"/>
          </a:p>
        </p:txBody>
      </p:sp>
      <p:sp>
        <p:nvSpPr>
          <p:cNvPr id="3" name="Footer Placeholder 2"/>
          <p:cNvSpPr>
            <a:spLocks noGrp="1"/>
          </p:cNvSpPr>
          <p:nvPr>
            <p:ph type="ftr" sz="quarter" idx="11"/>
          </p:nvPr>
        </p:nvSpPr>
        <p:spPr/>
        <p:txBody>
          <a:bodyPr/>
          <a:lstStyle/>
          <a:p>
            <a:r>
              <a:rPr lang="en-US"/>
              <a:t>Dr. Bechir Ben Gouissem</a:t>
            </a:r>
          </a:p>
        </p:txBody>
      </p:sp>
      <p:sp>
        <p:nvSpPr>
          <p:cNvPr id="4" name="Slide Number Placeholder 3"/>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DA5A5-AC0E-49A2-A58E-9A07AD58EC77}" type="datetime1">
              <a:rPr lang="en-US" smtClean="0"/>
              <a:t>12/6/2023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9CD634-788B-4965-8316-6F4D480307B3}" type="datetime1">
              <a:rPr lang="en-US" smtClean="0"/>
              <a:t>12/6/2023</a:t>
            </a:fld>
            <a:endParaRPr lang="en-US"/>
          </a:p>
        </p:txBody>
      </p:sp>
      <p:sp>
        <p:nvSpPr>
          <p:cNvPr id="6" name="Footer Placeholder 5"/>
          <p:cNvSpPr>
            <a:spLocks noGrp="1"/>
          </p:cNvSpPr>
          <p:nvPr>
            <p:ph type="ftr" sz="quarter" idx="11"/>
          </p:nvPr>
        </p:nvSpPr>
        <p:spPr/>
        <p:txBody>
          <a:bodyPr/>
          <a:lstStyle/>
          <a:p>
            <a:r>
              <a:rPr lang="en-US"/>
              <a:t>Dr. Bechir Ben Gouissem</a:t>
            </a:r>
          </a:p>
        </p:txBody>
      </p:sp>
      <p:sp>
        <p:nvSpPr>
          <p:cNvPr id="7" name="Slide Number Placeholder 6"/>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EB7F48-1326-477E-8FA5-CD4F26B88E6B}"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EE1C7F2-E1A6-4372-8B5A-22E4F8A0024F}" type="datetime1">
              <a:rPr lang="en-US" smtClean="0"/>
              <a:t>12/6/2023</a:t>
            </a:fld>
            <a:endParaRPr lang="en-US"/>
          </a:p>
        </p:txBody>
      </p:sp>
      <p:sp>
        <p:nvSpPr>
          <p:cNvPr id="5" name="Footer Placeholder 4"/>
          <p:cNvSpPr>
            <a:spLocks noGrp="1"/>
          </p:cNvSpPr>
          <p:nvPr>
            <p:ph type="ftr" sz="quarter" idx="11"/>
          </p:nvPr>
        </p:nvSpPr>
        <p:spPr/>
        <p:txBody>
          <a:bodyPr/>
          <a:lstStyle/>
          <a:p>
            <a:r>
              <a:rPr lang="en-US"/>
              <a:t>Dr. Bechir Ben Gouissem</a:t>
            </a:r>
          </a:p>
        </p:txBody>
      </p:sp>
      <p:sp>
        <p:nvSpPr>
          <p:cNvPr id="6" name="Slide Number Placeholder 5"/>
          <p:cNvSpPr>
            <a:spLocks noGrp="1"/>
          </p:cNvSpPr>
          <p:nvPr>
            <p:ph type="sldNum" sz="quarter" idx="12"/>
          </p:nvPr>
        </p:nvSpPr>
        <p:spPr/>
        <p:txBody>
          <a:bodyPr/>
          <a:lstStyle/>
          <a:p>
            <a:fld id="{B82CCC60-E8CD-4174-8B1A-7DF615B22EEF}" type="slidenum">
              <a:rPr lang="en-US" smtClean="0"/>
              <a:pPr/>
              <a:t>‹N°›</a:t>
            </a:fld>
            <a:endParaRPr lang="en-US"/>
          </a:p>
        </p:txBody>
      </p:sp>
      <p:pic>
        <p:nvPicPr>
          <p:cNvPr id="7" name="Picture 6" descr="E:\websites\free-power-point-templates\2012\logos.png">
            <a:extLst>
              <a:ext uri="{FF2B5EF4-FFF2-40B4-BE49-F238E27FC236}">
                <a16:creationId xmlns:a16="http://schemas.microsoft.com/office/drawing/2014/main" id="{AF223013-BAAD-4784-9B88-4DDCCA17941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918306"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055FB94-7A0C-4636-9A35-453A19204D04}" type="datetime1">
              <a:rPr lang="en-US" smtClean="0"/>
              <a:t>12/6/2023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Bechir Ben Gouissem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‹N°›</a:t>
            </a:fld>
            <a:endParaRPr lang="en-US"/>
          </a:p>
        </p:txBody>
      </p:sp>
      <p:sp>
        <p:nvSpPr>
          <p:cNvPr id="7" name="TextBox 6">
            <a:extLst>
              <a:ext uri="{FF2B5EF4-FFF2-40B4-BE49-F238E27FC236}">
                <a16:creationId xmlns:a16="http://schemas.microsoft.com/office/drawing/2014/main" id="{55C64FEC-0EC6-4A1D-A397-6DB8DBF3A92A}"/>
              </a:ext>
            </a:extLst>
          </p:cNvPr>
          <p:cNvSpPr txBox="1"/>
          <p:nvPr userDrawn="1"/>
        </p:nvSpPr>
        <p:spPr>
          <a:xfrm>
            <a:off x="-9150" y="5213747"/>
            <a:ext cx="8389625" cy="523220"/>
          </a:xfrm>
          <a:prstGeom prst="rect">
            <a:avLst/>
          </a:prstGeom>
          <a:noFill/>
        </p:spPr>
        <p:txBody>
          <a:bodyPr wrap="square" rtlCol="0">
            <a:spAutoFit/>
          </a:bodyPr>
          <a:lstStyle/>
          <a:p>
            <a:r>
              <a:rPr lang="en-US" sz="1400">
                <a:solidFill>
                  <a:schemeClr val="bg1">
                    <a:lumMod val="65000"/>
                  </a:schemeClr>
                </a:solidFill>
              </a:rPr>
              <a:t>This presentation uses a free template provided by FPPT.com</a:t>
            </a:r>
          </a:p>
          <a:p>
            <a:r>
              <a:rPr lang="en-US" sz="140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nvlpubs.nist.gov/nistpubs/Legacy/SP/nistspecialpublication800-145.pdf"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8965" y="2561177"/>
            <a:ext cx="8246070" cy="773002"/>
          </a:xfrm>
        </p:spPr>
        <p:txBody>
          <a:bodyPr>
            <a:normAutofit fontScale="90000"/>
          </a:bodyPr>
          <a:lstStyle/>
          <a:p>
            <a:r>
              <a:rPr lang="fr-FR" dirty="0"/>
              <a:t>Cloud </a:t>
            </a:r>
            <a:r>
              <a:rPr lang="fr-FR" dirty="0" err="1"/>
              <a:t>computing</a:t>
            </a:r>
            <a:r>
              <a:rPr lang="fr-FR" dirty="0"/>
              <a:t> – Définition et Architecture de référence (NIST)</a:t>
            </a:r>
            <a:br>
              <a:rPr lang="fr-FR" sz="1800" dirty="0">
                <a:solidFill>
                  <a:srgbClr val="00000A"/>
                </a:solidFill>
                <a:effectLst/>
                <a:latin typeface="Times New Roman" panose="02020603050405020304" pitchFamily="18" charset="0"/>
                <a:ea typeface="Times New Roman" panose="02020603050405020304" pitchFamily="18" charset="0"/>
              </a:rPr>
            </a:br>
            <a:endParaRPr lang="en-US" dirty="0"/>
          </a:p>
        </p:txBody>
      </p:sp>
      <p:sp>
        <p:nvSpPr>
          <p:cNvPr id="3" name="Subtitle 2"/>
          <p:cNvSpPr>
            <a:spLocks noGrp="1"/>
          </p:cNvSpPr>
          <p:nvPr>
            <p:ph type="subTitle" idx="1"/>
          </p:nvPr>
        </p:nvSpPr>
        <p:spPr/>
        <p:txBody>
          <a:bodyPr/>
          <a:lstStyle/>
          <a:p>
            <a:r>
              <a:rPr lang="en-US" dirty="0"/>
              <a:t>Dr. </a:t>
            </a:r>
            <a:r>
              <a:rPr lang="en-US" dirty="0" err="1"/>
              <a:t>Bechir</a:t>
            </a:r>
            <a:r>
              <a:rPr lang="en-US" dirty="0"/>
              <a:t> Ben GOUISSEM</a:t>
            </a:r>
          </a:p>
        </p:txBody>
      </p:sp>
    </p:spTree>
    <p:extLst>
      <p:ext uri="{BB962C8B-B14F-4D97-AF65-F5344CB8AC3E}">
        <p14:creationId xmlns:p14="http://schemas.microsoft.com/office/powerpoint/2010/main" val="3639203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34DF72-6526-D79B-667B-E18724EE77C9}"/>
              </a:ext>
            </a:extLst>
          </p:cNvPr>
          <p:cNvSpPr>
            <a:spLocks noGrp="1"/>
          </p:cNvSpPr>
          <p:nvPr>
            <p:ph type="title"/>
          </p:nvPr>
        </p:nvSpPr>
        <p:spPr>
          <a:xfrm>
            <a:off x="448965" y="1502815"/>
            <a:ext cx="8246070" cy="610820"/>
          </a:xfrm>
        </p:spPr>
        <p:txBody>
          <a:bodyPr>
            <a:noAutofit/>
          </a:bodyPr>
          <a:lstStyle/>
          <a:p>
            <a:r>
              <a:rPr lang="fr-FR" sz="2000" dirty="0">
                <a:latin typeface="Arial Black"/>
                <a:cs typeface="Arial Black"/>
              </a:rPr>
              <a:t>Définition de </a:t>
            </a:r>
            <a:r>
              <a:rPr lang="fr-FR" sz="2000" spc="-5" dirty="0">
                <a:latin typeface="Arial Black"/>
                <a:cs typeface="Arial Black"/>
              </a:rPr>
              <a:t>NIST </a:t>
            </a:r>
            <a:r>
              <a:rPr lang="fr-FR" sz="2000" spc="-20" dirty="0">
                <a:latin typeface="Arial Black"/>
                <a:cs typeface="Arial Black"/>
              </a:rPr>
              <a:t>(National </a:t>
            </a:r>
            <a:r>
              <a:rPr lang="fr-FR" sz="2000" spc="-5" dirty="0">
                <a:latin typeface="Arial Black"/>
                <a:cs typeface="Arial Black"/>
              </a:rPr>
              <a:t>Institute </a:t>
            </a:r>
            <a:r>
              <a:rPr lang="fr-FR" sz="2000" dirty="0">
                <a:latin typeface="Arial Black"/>
                <a:cs typeface="Arial Black"/>
              </a:rPr>
              <a:t>of Standards </a:t>
            </a:r>
            <a:r>
              <a:rPr lang="fr-FR" sz="2000" spc="-10" dirty="0">
                <a:latin typeface="Arial Black"/>
                <a:cs typeface="Arial Black"/>
              </a:rPr>
              <a:t>and</a:t>
            </a:r>
            <a:r>
              <a:rPr lang="fr-FR" sz="2000" spc="225" dirty="0">
                <a:latin typeface="Arial Black"/>
                <a:cs typeface="Arial Black"/>
              </a:rPr>
              <a:t> </a:t>
            </a:r>
            <a:r>
              <a:rPr lang="fr-FR" sz="2000" spc="-45" dirty="0" err="1">
                <a:latin typeface="Arial Black"/>
                <a:cs typeface="Arial Black"/>
              </a:rPr>
              <a:t>Technology</a:t>
            </a:r>
            <a:r>
              <a:rPr lang="fr-FR" sz="2000" spc="-45" dirty="0">
                <a:latin typeface="Arial Black"/>
                <a:cs typeface="Arial Black"/>
              </a:rPr>
              <a:t>)</a:t>
            </a:r>
            <a:br>
              <a:rPr lang="fr-FR" sz="2000" dirty="0">
                <a:latin typeface="Arial Black"/>
                <a:cs typeface="Arial Black"/>
              </a:rPr>
            </a:br>
            <a:endParaRPr lang="fr-FR" sz="2000" dirty="0"/>
          </a:p>
        </p:txBody>
      </p:sp>
      <p:sp>
        <p:nvSpPr>
          <p:cNvPr id="3" name="Espace réservé du contenu 2">
            <a:extLst>
              <a:ext uri="{FF2B5EF4-FFF2-40B4-BE49-F238E27FC236}">
                <a16:creationId xmlns:a16="http://schemas.microsoft.com/office/drawing/2014/main" id="{AEB4907D-3D6F-717E-5BB4-5BE1EAC34409}"/>
              </a:ext>
            </a:extLst>
          </p:cNvPr>
          <p:cNvSpPr>
            <a:spLocks noGrp="1"/>
          </p:cNvSpPr>
          <p:nvPr>
            <p:ph idx="1"/>
          </p:nvPr>
        </p:nvSpPr>
        <p:spPr>
          <a:xfrm>
            <a:off x="448966" y="1960929"/>
            <a:ext cx="8246070" cy="2901395"/>
          </a:xfrm>
        </p:spPr>
        <p:txBody>
          <a:bodyPr>
            <a:normAutofit fontScale="55000" lnSpcReduction="20000"/>
          </a:bodyPr>
          <a:lstStyle/>
          <a:p>
            <a:pPr marL="0" indent="0" algn="just">
              <a:lnSpc>
                <a:spcPct val="100000"/>
              </a:lnSpc>
              <a:spcBef>
                <a:spcPts val="100"/>
              </a:spcBef>
              <a:buNone/>
            </a:pPr>
            <a:r>
              <a:rPr lang="fr-FR" sz="2800" dirty="0">
                <a:latin typeface="Arial Black"/>
                <a:cs typeface="Arial Black"/>
              </a:rPr>
              <a:t>Définition de </a:t>
            </a:r>
            <a:r>
              <a:rPr lang="fr-FR" sz="2800" spc="-5" dirty="0">
                <a:latin typeface="Arial Black"/>
                <a:cs typeface="Arial Black"/>
              </a:rPr>
              <a:t>NIST </a:t>
            </a:r>
            <a:r>
              <a:rPr lang="fr-FR" sz="2800" spc="-20" dirty="0">
                <a:latin typeface="Arial Black"/>
                <a:cs typeface="Arial Black"/>
              </a:rPr>
              <a:t>(National </a:t>
            </a:r>
            <a:r>
              <a:rPr lang="fr-FR" sz="2800" spc="-5" dirty="0">
                <a:latin typeface="Arial Black"/>
                <a:cs typeface="Arial Black"/>
              </a:rPr>
              <a:t>Institute </a:t>
            </a:r>
            <a:r>
              <a:rPr lang="fr-FR" sz="2800" dirty="0">
                <a:latin typeface="Arial Black"/>
                <a:cs typeface="Arial Black"/>
              </a:rPr>
              <a:t>of Standards </a:t>
            </a:r>
            <a:r>
              <a:rPr lang="fr-FR" sz="2800" spc="-10" dirty="0">
                <a:latin typeface="Arial Black"/>
                <a:cs typeface="Arial Black"/>
              </a:rPr>
              <a:t>and</a:t>
            </a:r>
            <a:r>
              <a:rPr lang="fr-FR" sz="2800" spc="225" dirty="0">
                <a:latin typeface="Arial Black"/>
                <a:cs typeface="Arial Black"/>
              </a:rPr>
              <a:t> </a:t>
            </a:r>
            <a:r>
              <a:rPr lang="fr-FR" sz="2800" spc="-45" dirty="0" err="1">
                <a:latin typeface="Arial Black"/>
                <a:cs typeface="Arial Black"/>
              </a:rPr>
              <a:t>Technology</a:t>
            </a:r>
            <a:r>
              <a:rPr lang="fr-FR" sz="2800" spc="-45" dirty="0">
                <a:latin typeface="Arial Black"/>
                <a:cs typeface="Arial Black"/>
              </a:rPr>
              <a:t>)</a:t>
            </a:r>
          </a:p>
          <a:p>
            <a:pPr marL="0" indent="0" algn="just">
              <a:lnSpc>
                <a:spcPct val="100000"/>
              </a:lnSpc>
              <a:spcBef>
                <a:spcPts val="100"/>
              </a:spcBef>
              <a:buNone/>
            </a:pPr>
            <a:endParaRPr lang="fr-FR" sz="4400" dirty="0">
              <a:latin typeface="Arial Black"/>
              <a:cs typeface="Arial Black"/>
            </a:endParaRPr>
          </a:p>
          <a:p>
            <a:pPr marL="12700" marR="5080" algn="just">
              <a:spcBef>
                <a:spcPts val="5"/>
              </a:spcBef>
              <a:tabLst>
                <a:tab pos="4651375" algn="l"/>
                <a:tab pos="5487035" algn="l"/>
                <a:tab pos="6861809" algn="l"/>
                <a:tab pos="7568565" algn="l"/>
                <a:tab pos="9368790" algn="l"/>
                <a:tab pos="14120494" algn="l"/>
              </a:tabLst>
            </a:pPr>
            <a:r>
              <a:rPr lang="fr-FR" sz="2800" spc="40" dirty="0">
                <a:latin typeface="Arial Black"/>
                <a:cs typeface="Arial Black"/>
              </a:rPr>
              <a:t>EN-</a:t>
            </a:r>
            <a:r>
              <a:rPr lang="fr-FR" sz="2800" spc="40" dirty="0">
                <a:latin typeface="Carlito"/>
                <a:cs typeface="Carlito"/>
              </a:rPr>
              <a:t>“</a:t>
            </a:r>
            <a:r>
              <a:rPr lang="fr-FR" sz="2700" spc="40" dirty="0">
                <a:latin typeface="Arial Black"/>
              </a:rPr>
              <a:t>Cloud </a:t>
            </a:r>
            <a:r>
              <a:rPr lang="fr-FR" sz="2700" spc="40" dirty="0" err="1">
                <a:latin typeface="Arial Black"/>
              </a:rPr>
              <a:t>Computing</a:t>
            </a:r>
            <a:r>
              <a:rPr lang="fr-FR" sz="2700" spc="40" dirty="0">
                <a:latin typeface="Arial Black"/>
              </a:rPr>
              <a:t> </a:t>
            </a:r>
            <a:r>
              <a:rPr lang="fr-FR" sz="2700" spc="40" dirty="0" err="1">
                <a:latin typeface="Arial Black"/>
              </a:rPr>
              <a:t>is</a:t>
            </a:r>
            <a:r>
              <a:rPr lang="fr-FR" sz="2700" spc="40" dirty="0">
                <a:latin typeface="Arial Black"/>
              </a:rPr>
              <a:t> a model for </a:t>
            </a:r>
            <a:r>
              <a:rPr lang="fr-FR" sz="2700" spc="40" dirty="0" err="1">
                <a:latin typeface="Arial Black"/>
              </a:rPr>
              <a:t>enabling</a:t>
            </a:r>
            <a:r>
              <a:rPr lang="fr-FR" sz="2700" spc="40" dirty="0">
                <a:latin typeface="Arial Black"/>
              </a:rPr>
              <a:t> </a:t>
            </a:r>
            <a:r>
              <a:rPr lang="fr-FR" sz="2700" spc="40" dirty="0" err="1">
                <a:latin typeface="Arial Black"/>
              </a:rPr>
              <a:t>ubiquitous,convenient</a:t>
            </a:r>
            <a:r>
              <a:rPr lang="fr-FR" sz="2700" spc="40" dirty="0">
                <a:latin typeface="Arial Black"/>
              </a:rPr>
              <a:t>, on-</a:t>
            </a:r>
            <a:r>
              <a:rPr lang="fr-FR" sz="2700" spc="40" dirty="0" err="1">
                <a:latin typeface="Arial Black"/>
              </a:rPr>
              <a:t>demand</a:t>
            </a:r>
            <a:r>
              <a:rPr lang="fr-FR" sz="2700" spc="40" dirty="0">
                <a:latin typeface="Arial Black"/>
              </a:rPr>
              <a:t> </a:t>
            </a:r>
            <a:r>
              <a:rPr lang="en-US" sz="2700" spc="40" dirty="0">
                <a:latin typeface="Arial Black"/>
              </a:rPr>
              <a:t>network access to a configurable computing resources     ( e. g networks, servers, storage, applications and services)that can be rapidly provisioned and	with minimal management effort or service provider </a:t>
            </a:r>
            <a:r>
              <a:rPr lang="fr-FR" sz="2700" spc="40" dirty="0">
                <a:latin typeface="Arial Black"/>
              </a:rPr>
              <a:t>interaction” (</a:t>
            </a:r>
            <a:r>
              <a:rPr lang="fr-FR" sz="2700" spc="40" dirty="0" err="1">
                <a:latin typeface="Arial Black"/>
              </a:rPr>
              <a:t>Mell</a:t>
            </a:r>
            <a:r>
              <a:rPr lang="fr-FR" sz="2700" spc="40" dirty="0">
                <a:latin typeface="Arial Black"/>
              </a:rPr>
              <a:t> &amp; </a:t>
            </a:r>
            <a:r>
              <a:rPr lang="fr-FR" sz="2700" spc="40" dirty="0" err="1">
                <a:latin typeface="Arial Black"/>
              </a:rPr>
              <a:t>Grance</a:t>
            </a:r>
            <a:r>
              <a:rPr lang="fr-FR" sz="2700" spc="40" dirty="0">
                <a:latin typeface="Arial Black"/>
              </a:rPr>
              <a:t>, 2011)</a:t>
            </a:r>
          </a:p>
          <a:p>
            <a:pPr marL="12700" algn="l">
              <a:spcBef>
                <a:spcPts val="5"/>
              </a:spcBef>
              <a:tabLst>
                <a:tab pos="4651375" algn="l"/>
                <a:tab pos="5487035" algn="l"/>
                <a:tab pos="6861809" algn="l"/>
                <a:tab pos="7568565" algn="l"/>
                <a:tab pos="9368790" algn="l"/>
                <a:tab pos="14120494" algn="l"/>
              </a:tabLst>
            </a:pPr>
            <a:endParaRPr lang="en-US" sz="2800" dirty="0">
              <a:latin typeface="Carlito"/>
              <a:cs typeface="Carlito"/>
            </a:endParaRPr>
          </a:p>
          <a:p>
            <a:pPr marL="12700" marR="5080" algn="just">
              <a:spcBef>
                <a:spcPts val="5"/>
              </a:spcBef>
              <a:tabLst>
                <a:tab pos="4651375" algn="l"/>
                <a:tab pos="5487035" algn="l"/>
                <a:tab pos="6861809" algn="l"/>
                <a:tab pos="7568565" algn="l"/>
                <a:tab pos="9368790" algn="l"/>
                <a:tab pos="14120494" algn="l"/>
              </a:tabLst>
            </a:pPr>
            <a:r>
              <a:rPr lang="fr-FR" spc="40" dirty="0">
                <a:latin typeface="Arial Black"/>
              </a:rPr>
              <a:t>FR-“Le Cloud </a:t>
            </a:r>
            <a:r>
              <a:rPr lang="fr-FR" spc="40" dirty="0" err="1">
                <a:latin typeface="Arial Black"/>
              </a:rPr>
              <a:t>Computing</a:t>
            </a:r>
            <a:r>
              <a:rPr lang="fr-FR" spc="40" dirty="0">
                <a:latin typeface="Arial Black"/>
              </a:rPr>
              <a:t> est un modèle qui permet  un accès omniprésent et à la  demande à un ensemble de ressources configurables. Les ressources accessibles  sont rapidement approvisionnées et nécessitent de faibles efforts de gestion ou  d’interactions avec les fournisseurs de services”</a:t>
            </a:r>
          </a:p>
          <a:p>
            <a:pPr marL="403206" marR="4608" indent="-391686" algn="just" fontAlgn="t">
              <a:lnSpc>
                <a:spcPts val="2413"/>
              </a:lnSpc>
              <a:spcBef>
                <a:spcPts val="86"/>
              </a:spcBef>
            </a:pPr>
            <a:endParaRPr lang="fr-FR" spc="-9" dirty="0">
              <a:cs typeface="Arial"/>
            </a:endParaRPr>
          </a:p>
          <a:p>
            <a:pPr marL="403206" marR="4608" indent="-391686" algn="just">
              <a:lnSpc>
                <a:spcPts val="2413"/>
              </a:lnSpc>
              <a:spcBef>
                <a:spcPts val="86"/>
              </a:spcBef>
            </a:pPr>
            <a:endParaRPr lang="fr-FR" sz="2800" dirty="0">
              <a:cs typeface="Arial"/>
            </a:endParaRPr>
          </a:p>
        </p:txBody>
      </p:sp>
      <p:sp>
        <p:nvSpPr>
          <p:cNvPr id="4" name="Espace réservé du pied de page 3">
            <a:extLst>
              <a:ext uri="{FF2B5EF4-FFF2-40B4-BE49-F238E27FC236}">
                <a16:creationId xmlns:a16="http://schemas.microsoft.com/office/drawing/2014/main" id="{0F12D0AA-F20C-686C-39C6-F3248F27D6B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8E74A4B-EEA8-1BAC-39AE-1F5246730CD9}"/>
              </a:ext>
            </a:extLst>
          </p:cNvPr>
          <p:cNvSpPr>
            <a:spLocks noGrp="1"/>
          </p:cNvSpPr>
          <p:nvPr>
            <p:ph type="sldNum" sz="quarter" idx="12"/>
          </p:nvPr>
        </p:nvSpPr>
        <p:spPr/>
        <p:txBody>
          <a:bodyPr/>
          <a:lstStyle/>
          <a:p>
            <a:fld id="{B82CCC60-E8CD-4174-8B1A-7DF615B22EEF}" type="slidenum">
              <a:rPr lang="en-US" smtClean="0"/>
              <a:pPr/>
              <a:t>2</a:t>
            </a:fld>
            <a:endParaRPr lang="en-US"/>
          </a:p>
        </p:txBody>
      </p:sp>
    </p:spTree>
    <p:extLst>
      <p:ext uri="{BB962C8B-B14F-4D97-AF65-F5344CB8AC3E}">
        <p14:creationId xmlns:p14="http://schemas.microsoft.com/office/powerpoint/2010/main" val="3718323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E049675-C5E0-D7AB-5ECE-26AC96398723}"/>
              </a:ext>
            </a:extLst>
          </p:cNvPr>
          <p:cNvSpPr>
            <a:spLocks noGrp="1"/>
          </p:cNvSpPr>
          <p:nvPr>
            <p:ph type="title"/>
          </p:nvPr>
        </p:nvSpPr>
        <p:spPr/>
        <p:txBody>
          <a:bodyPr>
            <a:normAutofit fontScale="90000"/>
          </a:bodyPr>
          <a:lstStyle/>
          <a:p>
            <a:r>
              <a:rPr lang="fr-FR" sz="3600" dirty="0">
                <a:latin typeface="Arial Black"/>
                <a:cs typeface="Arial Black"/>
              </a:rPr>
              <a:t>Définitions</a:t>
            </a:r>
            <a:endParaRPr lang="fr-FR" dirty="0"/>
          </a:p>
        </p:txBody>
      </p:sp>
      <p:sp>
        <p:nvSpPr>
          <p:cNvPr id="3" name="Espace réservé du contenu 2">
            <a:extLst>
              <a:ext uri="{FF2B5EF4-FFF2-40B4-BE49-F238E27FC236}">
                <a16:creationId xmlns:a16="http://schemas.microsoft.com/office/drawing/2014/main" id="{73070EA4-3057-809D-5880-8C5E7F0FDE36}"/>
              </a:ext>
            </a:extLst>
          </p:cNvPr>
          <p:cNvSpPr>
            <a:spLocks noGrp="1"/>
          </p:cNvSpPr>
          <p:nvPr>
            <p:ph idx="1"/>
          </p:nvPr>
        </p:nvSpPr>
        <p:spPr>
          <a:xfrm>
            <a:off x="448966" y="1960929"/>
            <a:ext cx="8246070" cy="2901396"/>
          </a:xfrm>
        </p:spPr>
        <p:txBody>
          <a:bodyPr>
            <a:normAutofit fontScale="25000" lnSpcReduction="20000"/>
          </a:bodyPr>
          <a:lstStyle/>
          <a:p>
            <a:pPr>
              <a:lnSpc>
                <a:spcPct val="100000"/>
              </a:lnSpc>
              <a:spcBef>
                <a:spcPts val="55"/>
              </a:spcBef>
            </a:pPr>
            <a:endParaRPr lang="en-US" sz="7200" dirty="0">
              <a:latin typeface="Arial Black"/>
              <a:cs typeface="Arial Black"/>
            </a:endParaRPr>
          </a:p>
          <a:p>
            <a:pPr marL="12700" marR="5080" algn="just">
              <a:spcBef>
                <a:spcPts val="5"/>
              </a:spcBef>
              <a:tabLst>
                <a:tab pos="4651375" algn="l"/>
                <a:tab pos="5487035" algn="l"/>
                <a:tab pos="6861809" algn="l"/>
                <a:tab pos="7568565" algn="l"/>
                <a:tab pos="9368790" algn="l"/>
                <a:tab pos="14120494" algn="l"/>
              </a:tabLst>
            </a:pPr>
            <a:r>
              <a:rPr lang="en-US" sz="7200" spc="40" dirty="0">
                <a:latin typeface="Arial Black"/>
              </a:rPr>
              <a:t>“A  style of computing in which massively	scalable IT-related capabilities are provided “as a service”, using internet technologies, to multiple external customers“(Gartner 2008)</a:t>
            </a:r>
          </a:p>
          <a:p>
            <a:pPr marL="0" marR="5080" indent="0" algn="just">
              <a:spcBef>
                <a:spcPts val="5"/>
              </a:spcBef>
              <a:buNone/>
              <a:tabLst>
                <a:tab pos="4651375" algn="l"/>
                <a:tab pos="5487035" algn="l"/>
                <a:tab pos="6861809" algn="l"/>
                <a:tab pos="7568565" algn="l"/>
                <a:tab pos="9368790" algn="l"/>
                <a:tab pos="14120494" algn="l"/>
              </a:tabLst>
            </a:pPr>
            <a:endParaRPr lang="en-US" sz="7200" spc="40" dirty="0">
              <a:latin typeface="Arial Black"/>
            </a:endParaRPr>
          </a:p>
          <a:p>
            <a:pPr marL="12700" marR="5080" algn="just">
              <a:spcBef>
                <a:spcPts val="5"/>
              </a:spcBef>
              <a:tabLst>
                <a:tab pos="4651375" algn="l"/>
                <a:tab pos="5487035" algn="l"/>
                <a:tab pos="6861809" algn="l"/>
                <a:tab pos="7568565" algn="l"/>
                <a:tab pos="9368790" algn="l"/>
                <a:tab pos="14120494" algn="l"/>
              </a:tabLst>
            </a:pPr>
            <a:r>
              <a:rPr lang="en-US" sz="7200" spc="40" dirty="0">
                <a:latin typeface="Arial Black"/>
              </a:rPr>
              <a:t>“An emerging IT development, deployment and delivery model, enabling </a:t>
            </a:r>
            <a:r>
              <a:rPr lang="en-US" sz="7200" spc="40" dirty="0" err="1">
                <a:latin typeface="Arial Black"/>
              </a:rPr>
              <a:t>realtime</a:t>
            </a:r>
            <a:r>
              <a:rPr lang="en-US" sz="7200" spc="40" dirty="0">
                <a:latin typeface="Arial Black"/>
              </a:rPr>
              <a:t> delivery  of products,	services and solutions over the internet “ (IDC 2008)</a:t>
            </a:r>
          </a:p>
          <a:p>
            <a:pPr marL="12700" marR="5080" algn="just">
              <a:spcBef>
                <a:spcPts val="5"/>
              </a:spcBef>
              <a:tabLst>
                <a:tab pos="4651375" algn="l"/>
                <a:tab pos="5487035" algn="l"/>
                <a:tab pos="6861809" algn="l"/>
                <a:tab pos="7568565" algn="l"/>
                <a:tab pos="9368790" algn="l"/>
                <a:tab pos="14120494" algn="l"/>
              </a:tabLst>
            </a:pPr>
            <a:r>
              <a:rPr lang="en-US" sz="7200" spc="40" dirty="0">
                <a:latin typeface="Arial Black"/>
              </a:rPr>
              <a:t>“the idea of delivering personal and business productivity applications from centralized  servers “(Merrill Lynch 2008)</a:t>
            </a:r>
          </a:p>
          <a:p>
            <a:endParaRPr lang="fr-FR" dirty="0"/>
          </a:p>
        </p:txBody>
      </p:sp>
      <p:sp>
        <p:nvSpPr>
          <p:cNvPr id="4" name="Espace réservé du pied de page 3">
            <a:extLst>
              <a:ext uri="{FF2B5EF4-FFF2-40B4-BE49-F238E27FC236}">
                <a16:creationId xmlns:a16="http://schemas.microsoft.com/office/drawing/2014/main" id="{328D0F89-345F-EAD9-A060-23C81FF815F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3FF75576-9262-2163-F2B1-A5E279232D06}"/>
              </a:ext>
            </a:extLst>
          </p:cNvPr>
          <p:cNvSpPr>
            <a:spLocks noGrp="1"/>
          </p:cNvSpPr>
          <p:nvPr>
            <p:ph type="sldNum" sz="quarter" idx="12"/>
          </p:nvPr>
        </p:nvSpPr>
        <p:spPr/>
        <p:txBody>
          <a:bodyPr/>
          <a:lstStyle/>
          <a:p>
            <a:fld id="{B82CCC60-E8CD-4174-8B1A-7DF615B22EEF}" type="slidenum">
              <a:rPr lang="en-US" smtClean="0"/>
              <a:pPr/>
              <a:t>3</a:t>
            </a:fld>
            <a:endParaRPr lang="en-US"/>
          </a:p>
        </p:txBody>
      </p:sp>
    </p:spTree>
    <p:extLst>
      <p:ext uri="{BB962C8B-B14F-4D97-AF65-F5344CB8AC3E}">
        <p14:creationId xmlns:p14="http://schemas.microsoft.com/office/powerpoint/2010/main" val="3635514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3555" y="433880"/>
            <a:ext cx="7024430" cy="572644"/>
          </a:xfrm>
        </p:spPr>
        <p:txBody>
          <a:bodyPr>
            <a:normAutofit fontScale="90000"/>
          </a:bodyPr>
          <a:lstStyle/>
          <a:p>
            <a:endParaRPr lang="en-US" dirty="0"/>
          </a:p>
        </p:txBody>
      </p:sp>
      <p:sp>
        <p:nvSpPr>
          <p:cNvPr id="5" name="Content Placeholder 4"/>
          <p:cNvSpPr>
            <a:spLocks noGrp="1"/>
          </p:cNvSpPr>
          <p:nvPr>
            <p:ph idx="1"/>
          </p:nvPr>
        </p:nvSpPr>
        <p:spPr>
          <a:xfrm>
            <a:off x="296261" y="1198560"/>
            <a:ext cx="6871724" cy="3511060"/>
          </a:xfrm>
        </p:spPr>
        <p:txBody>
          <a:bodyPr>
            <a:normAutofit/>
          </a:bodyPr>
          <a:lstStyle/>
          <a:p>
            <a:pPr marL="338455" marR="5080" indent="-326390">
              <a:lnSpc>
                <a:spcPct val="120000"/>
              </a:lnSpc>
              <a:spcBef>
                <a:spcPts val="3704"/>
              </a:spcBef>
              <a:buChar char="•"/>
              <a:tabLst>
                <a:tab pos="339090" algn="l"/>
              </a:tabLst>
            </a:pPr>
            <a:r>
              <a:rPr lang="fr-FR" sz="1800" spc="40" dirty="0">
                <a:latin typeface="Arial Black"/>
              </a:rPr>
              <a:t>Cloud </a:t>
            </a:r>
            <a:r>
              <a:rPr lang="fr-FR" sz="1800" spc="40" dirty="0" err="1">
                <a:latin typeface="Arial Black"/>
              </a:rPr>
              <a:t>Computing</a:t>
            </a:r>
            <a:r>
              <a:rPr lang="fr-FR" sz="1800" spc="40" dirty="0">
                <a:latin typeface="Arial Black"/>
              </a:rPr>
              <a:t> fait référence à la création et usage des ressources informatiques  distantes sur Internet plutôt que via un réseau local.</a:t>
            </a:r>
          </a:p>
          <a:p>
            <a:pPr marL="463550" indent="-451484">
              <a:lnSpc>
                <a:spcPct val="120000"/>
              </a:lnSpc>
              <a:spcBef>
                <a:spcPts val="275"/>
              </a:spcBef>
              <a:buChar char="•"/>
              <a:tabLst>
                <a:tab pos="463550" algn="l"/>
                <a:tab pos="464184" algn="l"/>
              </a:tabLst>
            </a:pPr>
            <a:r>
              <a:rPr lang="fr-FR" sz="1800" spc="40" dirty="0">
                <a:latin typeface="Arial Black"/>
              </a:rPr>
              <a:t>Exemples de ressources : équipements réseau, serveurs, stockage, applications</a:t>
            </a:r>
          </a:p>
          <a:p>
            <a:pPr marL="338455" indent="-326390">
              <a:lnSpc>
                <a:spcPct val="120000"/>
              </a:lnSpc>
              <a:buChar char="•"/>
              <a:tabLst>
                <a:tab pos="339090" algn="l"/>
              </a:tabLst>
            </a:pPr>
            <a:r>
              <a:rPr lang="fr-FR" sz="1800" spc="40" dirty="0">
                <a:latin typeface="Arial Black"/>
              </a:rPr>
              <a:t>Le Cloud </a:t>
            </a:r>
            <a:r>
              <a:rPr lang="fr-FR" sz="1800" spc="40" dirty="0" err="1">
                <a:latin typeface="Arial Black"/>
              </a:rPr>
              <a:t>Computing</a:t>
            </a:r>
            <a:r>
              <a:rPr lang="fr-FR" sz="1800" spc="40" dirty="0">
                <a:latin typeface="Arial Black"/>
              </a:rPr>
              <a:t> est défini du point de vue des utilisateurs finaux (end </a:t>
            </a:r>
            <a:r>
              <a:rPr lang="fr-FR" sz="1800" spc="40" dirty="0" err="1">
                <a:latin typeface="Arial Black"/>
              </a:rPr>
              <a:t>users</a:t>
            </a:r>
            <a:r>
              <a:rPr lang="fr-FR" sz="1800" spc="40" dirty="0">
                <a:latin typeface="Arial Black"/>
              </a:rPr>
              <a:t>): Le Cloud </a:t>
            </a:r>
            <a:r>
              <a:rPr lang="fr-FR" sz="1800" spc="40" dirty="0" err="1">
                <a:latin typeface="Arial Black"/>
              </a:rPr>
              <a:t>Computing</a:t>
            </a:r>
            <a:r>
              <a:rPr lang="fr-FR" sz="1800" spc="40" dirty="0">
                <a:latin typeface="Arial Black"/>
              </a:rPr>
              <a:t> fournit une infrastructure informatique et des applications /services de manière évolutive (scalable).</a:t>
            </a:r>
          </a:p>
        </p:txBody>
      </p:sp>
      <p:sp>
        <p:nvSpPr>
          <p:cNvPr id="2" name="Espace réservé du pied de page 1">
            <a:extLst>
              <a:ext uri="{FF2B5EF4-FFF2-40B4-BE49-F238E27FC236}">
                <a16:creationId xmlns:a16="http://schemas.microsoft.com/office/drawing/2014/main" id="{66F881DC-A804-4A58-9BD0-9B06EC63767D}"/>
              </a:ext>
            </a:extLst>
          </p:cNvPr>
          <p:cNvSpPr>
            <a:spLocks noGrp="1"/>
          </p:cNvSpPr>
          <p:nvPr>
            <p:ph type="ftr" sz="quarter" idx="11"/>
          </p:nvPr>
        </p:nvSpPr>
        <p:spPr/>
        <p:txBody>
          <a:bodyPr/>
          <a:lstStyle/>
          <a:p>
            <a:r>
              <a:rPr lang="en-US"/>
              <a:t>Dr. Bechir Ben Gouissem</a:t>
            </a:r>
            <a:endParaRPr lang="en-US" dirty="0"/>
          </a:p>
        </p:txBody>
      </p:sp>
      <p:sp>
        <p:nvSpPr>
          <p:cNvPr id="3" name="Espace réservé du numéro de diapositive 2">
            <a:extLst>
              <a:ext uri="{FF2B5EF4-FFF2-40B4-BE49-F238E27FC236}">
                <a16:creationId xmlns:a16="http://schemas.microsoft.com/office/drawing/2014/main" id="{9553CA2D-44D3-4BD2-3691-5A7FD2560F4C}"/>
              </a:ext>
            </a:extLst>
          </p:cNvPr>
          <p:cNvSpPr>
            <a:spLocks noGrp="1"/>
          </p:cNvSpPr>
          <p:nvPr>
            <p:ph type="sldNum" sz="quarter" idx="12"/>
          </p:nvPr>
        </p:nvSpPr>
        <p:spPr/>
        <p:txBody>
          <a:bodyPr/>
          <a:lstStyle/>
          <a:p>
            <a:fld id="{B82CCC60-E8CD-4174-8B1A-7DF615B22EEF}" type="slidenum">
              <a:rPr lang="en-US" smtClean="0"/>
              <a:pPr/>
              <a:t>4</a:t>
            </a:fld>
            <a:endParaRPr lang="en-US"/>
          </a:p>
        </p:txBody>
      </p:sp>
    </p:spTree>
    <p:extLst>
      <p:ext uri="{BB962C8B-B14F-4D97-AF65-F5344CB8AC3E}">
        <p14:creationId xmlns:p14="http://schemas.microsoft.com/office/powerpoint/2010/main" val="1101633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42E316-5ED1-E0A4-5E35-5CA80E42B11D}"/>
              </a:ext>
            </a:extLst>
          </p:cNvPr>
          <p:cNvSpPr>
            <a:spLocks noGrp="1"/>
          </p:cNvSpPr>
          <p:nvPr>
            <p:ph type="title"/>
          </p:nvPr>
        </p:nvSpPr>
        <p:spPr/>
        <p:txBody>
          <a:bodyPr>
            <a:normAutofit fontScale="90000"/>
          </a:bodyPr>
          <a:lstStyle/>
          <a:p>
            <a:r>
              <a:rPr lang="fr-FR" dirty="0"/>
              <a:t>Caractéristiques essentielles</a:t>
            </a:r>
          </a:p>
        </p:txBody>
      </p:sp>
      <p:sp>
        <p:nvSpPr>
          <p:cNvPr id="4" name="Espace réservé du pied de page 3">
            <a:extLst>
              <a:ext uri="{FF2B5EF4-FFF2-40B4-BE49-F238E27FC236}">
                <a16:creationId xmlns:a16="http://schemas.microsoft.com/office/drawing/2014/main" id="{108B21B4-21B7-081D-33EC-E72270A58263}"/>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80D2DA3-32BF-B745-A095-51C18E40C13F}"/>
              </a:ext>
            </a:extLst>
          </p:cNvPr>
          <p:cNvSpPr>
            <a:spLocks noGrp="1"/>
          </p:cNvSpPr>
          <p:nvPr>
            <p:ph type="sldNum" sz="quarter" idx="12"/>
          </p:nvPr>
        </p:nvSpPr>
        <p:spPr/>
        <p:txBody>
          <a:bodyPr/>
          <a:lstStyle/>
          <a:p>
            <a:fld id="{B82CCC60-E8CD-4174-8B1A-7DF615B22EEF}" type="slidenum">
              <a:rPr lang="en-US" smtClean="0"/>
              <a:pPr/>
              <a:t>5</a:t>
            </a:fld>
            <a:endParaRPr lang="en-US"/>
          </a:p>
        </p:txBody>
      </p:sp>
      <p:pic>
        <p:nvPicPr>
          <p:cNvPr id="2050" name="Picture 2" descr="Cloud Computing “The characteristics”? Part 2 - hiTechMV">
            <a:extLst>
              <a:ext uri="{FF2B5EF4-FFF2-40B4-BE49-F238E27FC236}">
                <a16:creationId xmlns:a16="http://schemas.microsoft.com/office/drawing/2014/main" id="{9EFE1A84-C3A3-84B0-C6B4-4B79058485B9}"/>
              </a:ext>
            </a:extLst>
          </p:cNvPr>
          <p:cNvPicPr>
            <a:picLocks noGrp="1" noChangeAspect="1" noChangeArrowheads="1"/>
          </p:cNvPicPr>
          <p:nvPr>
            <p:ph idx="1"/>
          </p:nvPr>
        </p:nvPicPr>
        <p:blipFill>
          <a:blip r:embed="rId2">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5900"/>
                    </a14:imgEffect>
                  </a14:imgLayer>
                </a14:imgProps>
              </a:ext>
              <a:ext uri="{28A0092B-C50C-407E-A947-70E740481C1C}">
                <a14:useLocalDpi xmlns:a14="http://schemas.microsoft.com/office/drawing/2010/main" val="0"/>
              </a:ext>
            </a:extLst>
          </a:blip>
          <a:srcRect/>
          <a:stretch>
            <a:fillRect/>
          </a:stretch>
        </p:blipFill>
        <p:spPr bwMode="auto">
          <a:xfrm>
            <a:off x="1670605" y="2113634"/>
            <a:ext cx="5650085" cy="2595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7405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73070EA4-3057-809D-5880-8C5E7F0FDE36}"/>
              </a:ext>
            </a:extLst>
          </p:cNvPr>
          <p:cNvSpPr>
            <a:spLocks noGrp="1"/>
          </p:cNvSpPr>
          <p:nvPr>
            <p:ph idx="1"/>
          </p:nvPr>
        </p:nvSpPr>
        <p:spPr>
          <a:xfrm>
            <a:off x="143555" y="1502815"/>
            <a:ext cx="8856889" cy="3538292"/>
          </a:xfrm>
        </p:spPr>
        <p:txBody>
          <a:bodyPr>
            <a:noAutofit/>
          </a:bodyPr>
          <a:lstStyle/>
          <a:p>
            <a:pPr algn="just"/>
            <a:r>
              <a:rPr lang="fr-FR" sz="1400" b="1" dirty="0"/>
              <a:t>Libre-service à la demande: </a:t>
            </a:r>
            <a:r>
              <a:rPr lang="fr-FR" sz="1400" dirty="0"/>
              <a:t>Un consommateur peut fournir unilatéralement des capacités informatiques, telles que le temps du serveur et le stockage réseau, selon les besoins, automatiquement sans nécessiter d'intervention humaine interaction avec chaque prestataire de services.</a:t>
            </a:r>
          </a:p>
          <a:p>
            <a:pPr algn="just"/>
            <a:r>
              <a:rPr lang="fr-FR" sz="1400" b="1" dirty="0"/>
              <a:t>Large accès au réseau: </a:t>
            </a:r>
            <a:r>
              <a:rPr lang="fr-FR" sz="1400" dirty="0"/>
              <a:t>Les fonctionnalités sont disponibles sur le réseau et accessibles via des mécanismes standardisés qui favorisent l'utilisation par des plates-formes de clients légers ou lourds hétérogènes (par exemple) , téléphones mobiles, tablettes, ordinateurs portables et postes de travail).</a:t>
            </a:r>
          </a:p>
          <a:p>
            <a:pPr algn="just"/>
            <a:r>
              <a:rPr lang="fr-FR" sz="1400" b="1" dirty="0"/>
              <a:t>Mise en commun des ressources: </a:t>
            </a:r>
            <a:r>
              <a:rPr lang="fr-FR" sz="1400" dirty="0"/>
              <a:t>Les ressources informatiques du fournisseur sont mutualisées pour servir plusieurs consommateurs en utilisant un modèle multi-tenant, avec différentes ressources physiques et virtuelles de manière dynamique attribués et réaffectés en fonction de la demande des consommateurs. Il y a un sentiment d'emplacement indépendant dans la mesure où le client n'a généralement aucun contrôle ou connaissance sur le </a:t>
            </a:r>
            <a:r>
              <a:rPr lang="fr-FR" sz="1400"/>
              <a:t>prix exact, </a:t>
            </a:r>
            <a:r>
              <a:rPr lang="fr-FR" sz="1400" dirty="0"/>
              <a:t>l'emplacement des ressources fournies, mais peut être en mesure de spécifier l'emplacement à un niveau supérieur d’abstraction (par exemple, pays, état ou centre de données). Des exemples de ressources incluent le stockage, traitement, mémoire et bande passante réseau.</a:t>
            </a:r>
          </a:p>
        </p:txBody>
      </p:sp>
      <p:sp>
        <p:nvSpPr>
          <p:cNvPr id="4" name="Espace réservé du pied de page 3">
            <a:extLst>
              <a:ext uri="{FF2B5EF4-FFF2-40B4-BE49-F238E27FC236}">
                <a16:creationId xmlns:a16="http://schemas.microsoft.com/office/drawing/2014/main" id="{328D0F89-345F-EAD9-A060-23C81FF815FF}"/>
              </a:ext>
            </a:extLst>
          </p:cNvPr>
          <p:cNvSpPr>
            <a:spLocks noGrp="1"/>
          </p:cNvSpPr>
          <p:nvPr>
            <p:ph type="ftr" sz="quarter" idx="11"/>
          </p:nvPr>
        </p:nvSpPr>
        <p:spPr/>
        <p:txBody>
          <a:bodyPr/>
          <a:lstStyle/>
          <a:p>
            <a:r>
              <a:rPr lang="en-US" dirty="0"/>
              <a:t>Dr. </a:t>
            </a:r>
            <a:r>
              <a:rPr lang="en-US" dirty="0" err="1"/>
              <a:t>Bechir</a:t>
            </a:r>
            <a:r>
              <a:rPr lang="en-US" dirty="0"/>
              <a:t> Ben </a:t>
            </a:r>
            <a:r>
              <a:rPr lang="en-US" dirty="0" err="1"/>
              <a:t>Gouissem</a:t>
            </a:r>
            <a:endParaRPr lang="en-US" dirty="0"/>
          </a:p>
        </p:txBody>
      </p:sp>
      <p:sp>
        <p:nvSpPr>
          <p:cNvPr id="5" name="Espace réservé du numéro de diapositive 4">
            <a:extLst>
              <a:ext uri="{FF2B5EF4-FFF2-40B4-BE49-F238E27FC236}">
                <a16:creationId xmlns:a16="http://schemas.microsoft.com/office/drawing/2014/main" id="{3FF75576-9262-2163-F2B1-A5E279232D06}"/>
              </a:ext>
            </a:extLst>
          </p:cNvPr>
          <p:cNvSpPr>
            <a:spLocks noGrp="1"/>
          </p:cNvSpPr>
          <p:nvPr>
            <p:ph type="sldNum" sz="quarter" idx="12"/>
          </p:nvPr>
        </p:nvSpPr>
        <p:spPr/>
        <p:txBody>
          <a:bodyPr/>
          <a:lstStyle/>
          <a:p>
            <a:fld id="{B82CCC60-E8CD-4174-8B1A-7DF615B22EEF}" type="slidenum">
              <a:rPr lang="en-US" smtClean="0"/>
              <a:pPr/>
              <a:t>6</a:t>
            </a:fld>
            <a:endParaRPr lang="en-US"/>
          </a:p>
        </p:txBody>
      </p:sp>
    </p:spTree>
    <p:extLst>
      <p:ext uri="{BB962C8B-B14F-4D97-AF65-F5344CB8AC3E}">
        <p14:creationId xmlns:p14="http://schemas.microsoft.com/office/powerpoint/2010/main" val="3941791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FAD415-935E-7A82-1ED2-2B6CFDAB7878}"/>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0396D65A-EBB9-4359-8824-0CC20ED1BA17}"/>
              </a:ext>
            </a:extLst>
          </p:cNvPr>
          <p:cNvSpPr>
            <a:spLocks noGrp="1"/>
          </p:cNvSpPr>
          <p:nvPr>
            <p:ph idx="1"/>
          </p:nvPr>
        </p:nvSpPr>
        <p:spPr>
          <a:xfrm>
            <a:off x="448966" y="1960930"/>
            <a:ext cx="8246070" cy="1679756"/>
          </a:xfrm>
        </p:spPr>
        <p:txBody>
          <a:bodyPr>
            <a:normAutofit fontScale="70000" lnSpcReduction="20000"/>
          </a:bodyPr>
          <a:lstStyle/>
          <a:p>
            <a:pPr algn="just"/>
            <a:r>
              <a:rPr lang="fr-FR" sz="2800" b="1" dirty="0"/>
              <a:t>Élasticité rapide: </a:t>
            </a:r>
            <a:r>
              <a:rPr lang="fr-FR" sz="2800" dirty="0"/>
              <a:t>Les capacités peuvent être provisionnées et libérées de manière élastique, dans certains cas automatiquement, pour évoluer rapidement vers l’extérieur et l’intérieur en fonction de la demande. Au consommateur, les capacités disponibles pour le provisionnement semblent souvent illimitées et peuvent être approprié en n'importe quelle quantité et à tout moment.</a:t>
            </a:r>
          </a:p>
        </p:txBody>
      </p:sp>
      <p:sp>
        <p:nvSpPr>
          <p:cNvPr id="4" name="Espace réservé du pied de page 3">
            <a:extLst>
              <a:ext uri="{FF2B5EF4-FFF2-40B4-BE49-F238E27FC236}">
                <a16:creationId xmlns:a16="http://schemas.microsoft.com/office/drawing/2014/main" id="{A47C5D66-745C-8DB6-F0CD-38CFE04DB8D0}"/>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F6CDC20A-E8E8-C280-0C66-213F10B0FC65}"/>
              </a:ext>
            </a:extLst>
          </p:cNvPr>
          <p:cNvSpPr>
            <a:spLocks noGrp="1"/>
          </p:cNvSpPr>
          <p:nvPr>
            <p:ph type="sldNum" sz="quarter" idx="12"/>
          </p:nvPr>
        </p:nvSpPr>
        <p:spPr/>
        <p:txBody>
          <a:bodyPr/>
          <a:lstStyle/>
          <a:p>
            <a:fld id="{B82CCC60-E8CD-4174-8B1A-7DF615B22EEF}" type="slidenum">
              <a:rPr lang="en-US" smtClean="0"/>
              <a:pPr/>
              <a:t>7</a:t>
            </a:fld>
            <a:endParaRPr lang="en-US"/>
          </a:p>
        </p:txBody>
      </p:sp>
      <p:pic>
        <p:nvPicPr>
          <p:cNvPr id="6" name="Picture 2" descr="System Design - Horizontal and Vertical Scaling - GeeksforGeeks">
            <a:extLst>
              <a:ext uri="{FF2B5EF4-FFF2-40B4-BE49-F238E27FC236}">
                <a16:creationId xmlns:a16="http://schemas.microsoft.com/office/drawing/2014/main" id="{244C266A-AEF1-60DC-1003-6D31397A776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572000" y="3226175"/>
            <a:ext cx="3664920" cy="1814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1210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8B89BC-A7CB-FF9F-BB60-964A10EC20C5}"/>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C193A9BE-7A06-F97D-C722-8FA526B82BF5}"/>
              </a:ext>
            </a:extLst>
          </p:cNvPr>
          <p:cNvSpPr>
            <a:spLocks noGrp="1"/>
          </p:cNvSpPr>
          <p:nvPr>
            <p:ph idx="1"/>
          </p:nvPr>
        </p:nvSpPr>
        <p:spPr/>
        <p:txBody>
          <a:bodyPr>
            <a:normAutofit fontScale="77500" lnSpcReduction="20000"/>
          </a:bodyPr>
          <a:lstStyle/>
          <a:p>
            <a:pPr algn="just"/>
            <a:r>
              <a:rPr lang="fr-FR" sz="2800" b="1" dirty="0"/>
              <a:t>Service mesuré: </a:t>
            </a:r>
            <a:r>
              <a:rPr lang="fr-FR" sz="2800" dirty="0"/>
              <a:t>Les systèmes cloud contrôlent et optimisent automatiquement l'utilisation des ressources en tirant parti une capacité de mesure  à un certain niveau d'abstraction approprié au type de service (par exemple</a:t>
            </a:r>
            <a:r>
              <a:rPr lang="fr-FR" dirty="0"/>
              <a:t>;</a:t>
            </a:r>
            <a:r>
              <a:rPr lang="fr-FR" sz="2800" dirty="0"/>
              <a:t> stockage, traitement, bande passante et comptes d'utilisateurs actifs). L'utilisation des ressources peut être surveillé, contrôlé et signalé, assurant la transparence à la fois pour le fournisseur et le consommateur du service utilisé.</a:t>
            </a:r>
          </a:p>
          <a:p>
            <a:pPr marL="0" indent="0">
              <a:buNone/>
            </a:pPr>
            <a:r>
              <a:rPr lang="en-US" dirty="0">
                <a:hlinkClick r:id="rId2"/>
              </a:rPr>
              <a:t>NIST SP 800-145, The NIST Definition of Cloud Computing</a:t>
            </a:r>
            <a:endParaRPr lang="fr-FR" sz="2800" dirty="0"/>
          </a:p>
          <a:p>
            <a:endParaRPr lang="fr-FR" dirty="0"/>
          </a:p>
        </p:txBody>
      </p:sp>
      <p:sp>
        <p:nvSpPr>
          <p:cNvPr id="4" name="Espace réservé du pied de page 3">
            <a:extLst>
              <a:ext uri="{FF2B5EF4-FFF2-40B4-BE49-F238E27FC236}">
                <a16:creationId xmlns:a16="http://schemas.microsoft.com/office/drawing/2014/main" id="{7BF138F0-51EA-2BC4-3B2F-7C8D388FF9E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72146D4-5D57-B86B-F671-F9D1DE568EC2}"/>
              </a:ext>
            </a:extLst>
          </p:cNvPr>
          <p:cNvSpPr>
            <a:spLocks noGrp="1"/>
          </p:cNvSpPr>
          <p:nvPr>
            <p:ph type="sldNum" sz="quarter" idx="12"/>
          </p:nvPr>
        </p:nvSpPr>
        <p:spPr/>
        <p:txBody>
          <a:bodyPr/>
          <a:lstStyle/>
          <a:p>
            <a:fld id="{B82CCC60-E8CD-4174-8B1A-7DF615B22EEF}" type="slidenum">
              <a:rPr lang="en-US" smtClean="0"/>
              <a:pPr/>
              <a:t>8</a:t>
            </a:fld>
            <a:endParaRPr lang="en-US"/>
          </a:p>
        </p:txBody>
      </p:sp>
    </p:spTree>
    <p:extLst>
      <p:ext uri="{BB962C8B-B14F-4D97-AF65-F5344CB8AC3E}">
        <p14:creationId xmlns:p14="http://schemas.microsoft.com/office/powerpoint/2010/main" val="3744108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C739BB-4242-ABF9-8456-75CC7EA4F92D}"/>
              </a:ext>
            </a:extLst>
          </p:cNvPr>
          <p:cNvSpPr>
            <a:spLocks noGrp="1"/>
          </p:cNvSpPr>
          <p:nvPr>
            <p:ph type="title"/>
          </p:nvPr>
        </p:nvSpPr>
        <p:spPr/>
        <p:txBody>
          <a:bodyPr>
            <a:normAutofit fontScale="90000"/>
          </a:bodyPr>
          <a:lstStyle/>
          <a:p>
            <a:r>
              <a:rPr lang="fr-FR" sz="3600" spc="25" dirty="0">
                <a:latin typeface="Arial"/>
                <a:cs typeface="Arial"/>
              </a:rPr>
              <a:t>Les </a:t>
            </a:r>
            <a:r>
              <a:rPr lang="fr-FR" sz="3600" spc="80" dirty="0">
                <a:latin typeface="Arial"/>
                <a:cs typeface="Arial"/>
              </a:rPr>
              <a:t>technologies </a:t>
            </a:r>
            <a:r>
              <a:rPr lang="fr-FR" sz="3600" spc="55" dirty="0">
                <a:latin typeface="Arial"/>
                <a:cs typeface="Arial"/>
              </a:rPr>
              <a:t>clés</a:t>
            </a:r>
            <a:endParaRPr lang="fr-FR" dirty="0"/>
          </a:p>
        </p:txBody>
      </p:sp>
      <p:sp>
        <p:nvSpPr>
          <p:cNvPr id="3" name="Espace réservé du contenu 2">
            <a:extLst>
              <a:ext uri="{FF2B5EF4-FFF2-40B4-BE49-F238E27FC236}">
                <a16:creationId xmlns:a16="http://schemas.microsoft.com/office/drawing/2014/main" id="{DC14F6B8-EE72-5477-C5A4-AFD55EB0752C}"/>
              </a:ext>
            </a:extLst>
          </p:cNvPr>
          <p:cNvSpPr>
            <a:spLocks noGrp="1"/>
          </p:cNvSpPr>
          <p:nvPr>
            <p:ph idx="1"/>
          </p:nvPr>
        </p:nvSpPr>
        <p:spPr/>
        <p:txBody>
          <a:bodyPr>
            <a:normAutofit fontScale="70000" lnSpcReduction="20000"/>
          </a:bodyPr>
          <a:lstStyle/>
          <a:p>
            <a:pPr marL="201295" marR="5080" indent="-189230" algn="just">
              <a:lnSpc>
                <a:spcPct val="100800"/>
              </a:lnSpc>
              <a:spcBef>
                <a:spcPts val="65"/>
              </a:spcBef>
              <a:buChar char="•"/>
              <a:tabLst>
                <a:tab pos="201930" algn="l"/>
              </a:tabLst>
            </a:pPr>
            <a:r>
              <a:rPr lang="fr-FR" sz="3550" spc="25" dirty="0">
                <a:latin typeface="Arial"/>
                <a:cs typeface="Arial"/>
              </a:rPr>
              <a:t>Les </a:t>
            </a:r>
            <a:r>
              <a:rPr lang="fr-FR" sz="3550" spc="80" dirty="0">
                <a:latin typeface="Arial"/>
                <a:cs typeface="Arial"/>
              </a:rPr>
              <a:t>technologies </a:t>
            </a:r>
            <a:r>
              <a:rPr lang="fr-FR" sz="3550" spc="55" dirty="0">
                <a:latin typeface="Arial"/>
                <a:cs typeface="Arial"/>
              </a:rPr>
              <a:t>clés </a:t>
            </a:r>
            <a:r>
              <a:rPr lang="fr-FR" sz="3550" spc="65" dirty="0">
                <a:latin typeface="Arial"/>
                <a:cs typeface="Arial"/>
              </a:rPr>
              <a:t>qui </a:t>
            </a:r>
            <a:r>
              <a:rPr lang="fr-FR" sz="3550" spc="80" dirty="0">
                <a:latin typeface="Arial"/>
                <a:cs typeface="Arial"/>
              </a:rPr>
              <a:t>ont </a:t>
            </a:r>
            <a:r>
              <a:rPr lang="fr-FR" sz="3550" spc="65" dirty="0">
                <a:latin typeface="Arial"/>
                <a:cs typeface="Arial"/>
              </a:rPr>
              <a:t>poussé </a:t>
            </a:r>
            <a:r>
              <a:rPr lang="fr-FR" sz="3550" spc="30" dirty="0">
                <a:latin typeface="Arial"/>
                <a:cs typeface="Arial"/>
              </a:rPr>
              <a:t>vers </a:t>
            </a:r>
            <a:r>
              <a:rPr lang="fr-FR" sz="3550" spc="75" dirty="0">
                <a:latin typeface="Arial"/>
                <a:cs typeface="Arial"/>
              </a:rPr>
              <a:t>l’évolution </a:t>
            </a:r>
            <a:r>
              <a:rPr lang="fr-FR" sz="3550" spc="60" dirty="0">
                <a:latin typeface="Arial"/>
                <a:cs typeface="Arial"/>
              </a:rPr>
              <a:t>rapide du </a:t>
            </a:r>
            <a:r>
              <a:rPr lang="fr-FR" sz="3550" spc="65" dirty="0">
                <a:latin typeface="Arial"/>
                <a:cs typeface="Arial"/>
              </a:rPr>
              <a:t>Cloud  </a:t>
            </a:r>
            <a:r>
              <a:rPr lang="fr-FR" sz="3550" spc="95" dirty="0" err="1">
                <a:latin typeface="Arial"/>
                <a:cs typeface="Arial"/>
              </a:rPr>
              <a:t>Computing</a:t>
            </a:r>
            <a:r>
              <a:rPr lang="fr-FR" sz="3550" spc="95" dirty="0">
                <a:latin typeface="Arial"/>
                <a:cs typeface="Arial"/>
              </a:rPr>
              <a:t> </a:t>
            </a:r>
            <a:r>
              <a:rPr lang="fr-FR" sz="3550" spc="80" dirty="0">
                <a:latin typeface="Arial"/>
                <a:cs typeface="Arial"/>
              </a:rPr>
              <a:t>sont </a:t>
            </a:r>
            <a:r>
              <a:rPr lang="fr-FR" sz="3550" dirty="0">
                <a:latin typeface="Arial"/>
                <a:cs typeface="Arial"/>
              </a:rPr>
              <a:t>:</a:t>
            </a:r>
          </a:p>
          <a:p>
            <a:pPr algn="just">
              <a:lnSpc>
                <a:spcPct val="100000"/>
              </a:lnSpc>
              <a:spcBef>
                <a:spcPts val="5"/>
              </a:spcBef>
              <a:buFont typeface="Arial"/>
              <a:buChar char="•"/>
            </a:pPr>
            <a:endParaRPr lang="fr-FR" sz="4150" dirty="0">
              <a:latin typeface="Arial"/>
              <a:cs typeface="Arial"/>
            </a:endParaRPr>
          </a:p>
          <a:p>
            <a:pPr marL="724535" lvl="1" indent="-377825" algn="just">
              <a:lnSpc>
                <a:spcPct val="100000"/>
              </a:lnSpc>
              <a:buChar char="•"/>
              <a:tabLst>
                <a:tab pos="724535" algn="l"/>
                <a:tab pos="725170" algn="l"/>
              </a:tabLst>
            </a:pPr>
            <a:r>
              <a:rPr lang="fr-FR" sz="3550" spc="10" dirty="0">
                <a:latin typeface="Arial"/>
                <a:cs typeface="Arial"/>
              </a:rPr>
              <a:t>La</a:t>
            </a:r>
            <a:r>
              <a:rPr lang="fr-FR" sz="3550" spc="5" dirty="0">
                <a:latin typeface="Arial"/>
                <a:cs typeface="Arial"/>
              </a:rPr>
              <a:t> </a:t>
            </a:r>
            <a:r>
              <a:rPr lang="fr-FR" sz="3550" spc="50" dirty="0">
                <a:latin typeface="Arial"/>
                <a:cs typeface="Arial"/>
              </a:rPr>
              <a:t>Virtualisation</a:t>
            </a:r>
            <a:endParaRPr lang="fr-FR" sz="3550" dirty="0">
              <a:latin typeface="Arial"/>
              <a:cs typeface="Arial"/>
            </a:endParaRPr>
          </a:p>
          <a:p>
            <a:pPr marL="724535" lvl="1" indent="-377825" algn="just">
              <a:lnSpc>
                <a:spcPct val="100000"/>
              </a:lnSpc>
              <a:buChar char="•"/>
              <a:tabLst>
                <a:tab pos="724535" algn="l"/>
                <a:tab pos="725170" algn="l"/>
              </a:tabLst>
            </a:pPr>
            <a:r>
              <a:rPr lang="fr-FR" sz="3550" spc="20" dirty="0">
                <a:latin typeface="Arial"/>
                <a:cs typeface="Arial"/>
              </a:rPr>
              <a:t>Les </a:t>
            </a:r>
            <a:r>
              <a:rPr lang="fr-FR" sz="3550" spc="35" dirty="0">
                <a:latin typeface="Arial"/>
                <a:cs typeface="Arial"/>
              </a:rPr>
              <a:t>Services </a:t>
            </a:r>
            <a:r>
              <a:rPr lang="fr-FR" sz="3550" dirty="0">
                <a:latin typeface="Arial"/>
                <a:cs typeface="Arial"/>
              </a:rPr>
              <a:t>Web </a:t>
            </a:r>
            <a:r>
              <a:rPr lang="fr-FR" sz="3550" spc="45" dirty="0">
                <a:latin typeface="Arial"/>
                <a:cs typeface="Arial"/>
              </a:rPr>
              <a:t>et </a:t>
            </a:r>
            <a:r>
              <a:rPr lang="fr-FR" sz="3550" spc="70" dirty="0">
                <a:latin typeface="Arial"/>
                <a:cs typeface="Arial"/>
              </a:rPr>
              <a:t>architecture </a:t>
            </a:r>
            <a:r>
              <a:rPr lang="fr-FR" sz="3550" spc="50" dirty="0">
                <a:latin typeface="Arial"/>
                <a:cs typeface="Arial"/>
              </a:rPr>
              <a:t>orientée</a:t>
            </a:r>
            <a:r>
              <a:rPr lang="fr-FR" sz="3550" spc="130" dirty="0">
                <a:latin typeface="Arial"/>
                <a:cs typeface="Arial"/>
              </a:rPr>
              <a:t> </a:t>
            </a:r>
            <a:r>
              <a:rPr lang="fr-FR" sz="3550" spc="45" dirty="0">
                <a:latin typeface="Arial"/>
                <a:cs typeface="Arial"/>
              </a:rPr>
              <a:t>service</a:t>
            </a:r>
            <a:endParaRPr lang="fr-FR" sz="3550" dirty="0">
              <a:latin typeface="Arial"/>
              <a:cs typeface="Arial"/>
            </a:endParaRPr>
          </a:p>
          <a:p>
            <a:pPr marL="724535" lvl="1" indent="-377825" algn="just">
              <a:lnSpc>
                <a:spcPct val="100000"/>
              </a:lnSpc>
              <a:buChar char="•"/>
              <a:tabLst>
                <a:tab pos="724535" algn="l"/>
                <a:tab pos="725170" algn="l"/>
              </a:tabLst>
            </a:pPr>
            <a:r>
              <a:rPr lang="fr-FR" sz="3550" spc="20" dirty="0">
                <a:latin typeface="Arial"/>
                <a:cs typeface="Arial"/>
              </a:rPr>
              <a:t>Les </a:t>
            </a:r>
            <a:r>
              <a:rPr lang="fr-FR" sz="3550" spc="50" dirty="0">
                <a:latin typeface="Arial"/>
                <a:cs typeface="Arial"/>
              </a:rPr>
              <a:t>services </a:t>
            </a:r>
            <a:r>
              <a:rPr lang="fr-FR" sz="3550" dirty="0">
                <a:latin typeface="Arial"/>
                <a:cs typeface="Arial"/>
              </a:rPr>
              <a:t>Web 2.0 &amp;</a:t>
            </a:r>
            <a:r>
              <a:rPr lang="fr-FR" sz="3550" spc="-70" dirty="0">
                <a:latin typeface="Arial"/>
                <a:cs typeface="Arial"/>
              </a:rPr>
              <a:t> </a:t>
            </a:r>
            <a:r>
              <a:rPr lang="fr-FR" sz="3550" spc="70" dirty="0">
                <a:latin typeface="Arial"/>
                <a:cs typeface="Arial"/>
              </a:rPr>
              <a:t>mashup</a:t>
            </a:r>
            <a:endParaRPr lang="fr-FR" sz="3550" dirty="0">
              <a:latin typeface="Arial"/>
              <a:cs typeface="Arial"/>
            </a:endParaRPr>
          </a:p>
        </p:txBody>
      </p:sp>
      <p:sp>
        <p:nvSpPr>
          <p:cNvPr id="4" name="Espace réservé du pied de page 3">
            <a:extLst>
              <a:ext uri="{FF2B5EF4-FFF2-40B4-BE49-F238E27FC236}">
                <a16:creationId xmlns:a16="http://schemas.microsoft.com/office/drawing/2014/main" id="{8BF629C5-51DC-31EF-0EDF-247F7A49898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555EAF3-B4EA-8D3F-443D-B6F1FA7E78F0}"/>
              </a:ext>
            </a:extLst>
          </p:cNvPr>
          <p:cNvSpPr>
            <a:spLocks noGrp="1"/>
          </p:cNvSpPr>
          <p:nvPr>
            <p:ph type="sldNum" sz="quarter" idx="12"/>
          </p:nvPr>
        </p:nvSpPr>
        <p:spPr/>
        <p:txBody>
          <a:bodyPr/>
          <a:lstStyle/>
          <a:p>
            <a:fld id="{B82CCC60-E8CD-4174-8B1A-7DF615B22EEF}" type="slidenum">
              <a:rPr lang="en-US" smtClean="0"/>
              <a:pPr/>
              <a:t>9</a:t>
            </a:fld>
            <a:endParaRPr lang="en-US"/>
          </a:p>
        </p:txBody>
      </p:sp>
    </p:spTree>
    <p:extLst>
      <p:ext uri="{BB962C8B-B14F-4D97-AF65-F5344CB8AC3E}">
        <p14:creationId xmlns:p14="http://schemas.microsoft.com/office/powerpoint/2010/main" val="454275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16F542-4095-8918-CD8B-6F08566A9DD1}"/>
              </a:ext>
            </a:extLst>
          </p:cNvPr>
          <p:cNvSpPr>
            <a:spLocks noGrp="1"/>
          </p:cNvSpPr>
          <p:nvPr>
            <p:ph type="title"/>
          </p:nvPr>
        </p:nvSpPr>
        <p:spPr/>
        <p:txBody>
          <a:bodyPr>
            <a:normAutofit fontScale="90000"/>
          </a:bodyPr>
          <a:lstStyle/>
          <a:p>
            <a:r>
              <a:rPr lang="fr-FR" sz="3600" spc="25" dirty="0">
                <a:latin typeface="Arial"/>
                <a:cs typeface="Arial"/>
              </a:rPr>
              <a:t>Les </a:t>
            </a:r>
            <a:r>
              <a:rPr lang="fr-FR" sz="3600" spc="80" dirty="0">
                <a:latin typeface="Arial"/>
                <a:cs typeface="Arial"/>
              </a:rPr>
              <a:t>technologies </a:t>
            </a:r>
            <a:r>
              <a:rPr lang="fr-FR" sz="3600" spc="55" dirty="0">
                <a:latin typeface="Arial"/>
                <a:cs typeface="Arial"/>
              </a:rPr>
              <a:t>clés: la virtualisation</a:t>
            </a:r>
            <a:endParaRPr lang="fr-FR" dirty="0"/>
          </a:p>
        </p:txBody>
      </p:sp>
      <p:sp>
        <p:nvSpPr>
          <p:cNvPr id="3" name="Espace réservé du contenu 2">
            <a:extLst>
              <a:ext uri="{FF2B5EF4-FFF2-40B4-BE49-F238E27FC236}">
                <a16:creationId xmlns:a16="http://schemas.microsoft.com/office/drawing/2014/main" id="{905A0466-B30C-56EC-BDB7-25A9EF785604}"/>
              </a:ext>
            </a:extLst>
          </p:cNvPr>
          <p:cNvSpPr>
            <a:spLocks noGrp="1"/>
          </p:cNvSpPr>
          <p:nvPr>
            <p:ph idx="1"/>
          </p:nvPr>
        </p:nvSpPr>
        <p:spPr/>
        <p:txBody>
          <a:bodyPr>
            <a:normAutofit fontScale="40000" lnSpcReduction="20000"/>
          </a:bodyPr>
          <a:lstStyle/>
          <a:p>
            <a:pPr marL="723900" marR="5080" lvl="1" indent="-376555" algn="just">
              <a:lnSpc>
                <a:spcPct val="120000"/>
              </a:lnSpc>
              <a:spcBef>
                <a:spcPts val="265"/>
              </a:spcBef>
              <a:buSzPct val="50704"/>
              <a:buFont typeface="Arial" pitchFamily="34" charset="0"/>
              <a:buChar char="•"/>
              <a:tabLst>
                <a:tab pos="723900" algn="l"/>
                <a:tab pos="724535" algn="l"/>
              </a:tabLst>
            </a:pPr>
            <a:r>
              <a:rPr lang="fr-FR" sz="3500" spc="10" dirty="0">
                <a:latin typeface="Arial"/>
                <a:cs typeface="Arial"/>
              </a:rPr>
              <a:t>Ensemble de technologies matérielles </a:t>
            </a:r>
            <a:r>
              <a:rPr lang="fr-FR" sz="3500" spc="10">
                <a:latin typeface="Arial"/>
                <a:cs typeface="Arial"/>
              </a:rPr>
              <a:t>et / ou </a:t>
            </a:r>
            <a:r>
              <a:rPr lang="fr-FR" sz="3500" spc="10" dirty="0">
                <a:latin typeface="Arial"/>
                <a:cs typeface="Arial"/>
              </a:rPr>
              <a:t>logicielles qui permettent à  plusieurs systèmes d'exploitation (OS) ou plusieurs applications de s'exécuter  sur la même machine, séparément les uns des autres , comme s'ils  fonctionnaient sur des machines physiques distinctes.</a:t>
            </a:r>
          </a:p>
          <a:p>
            <a:pPr marL="723900" lvl="1" indent="-376555" algn="just">
              <a:lnSpc>
                <a:spcPct val="120000"/>
              </a:lnSpc>
              <a:spcBef>
                <a:spcPts val="265"/>
              </a:spcBef>
              <a:buFont typeface="Arial" pitchFamily="34" charset="0"/>
              <a:buChar char="•"/>
              <a:tabLst>
                <a:tab pos="723900" algn="l"/>
                <a:tab pos="724535" algn="l"/>
              </a:tabLst>
            </a:pPr>
            <a:r>
              <a:rPr lang="fr-FR" sz="3500" spc="10" dirty="0">
                <a:latin typeface="Arial"/>
                <a:cs typeface="Arial"/>
              </a:rPr>
              <a:t>La virtualisation est l'une des pierres angulaires du Cloud.</a:t>
            </a:r>
          </a:p>
          <a:p>
            <a:pPr marL="723900" lvl="1" indent="-376555" algn="just">
              <a:lnSpc>
                <a:spcPct val="120000"/>
              </a:lnSpc>
              <a:spcBef>
                <a:spcPts val="265"/>
              </a:spcBef>
              <a:buFont typeface="Arial" pitchFamily="34" charset="0"/>
              <a:buChar char="•"/>
              <a:tabLst>
                <a:tab pos="723900" algn="l"/>
                <a:tab pos="724535" algn="l"/>
              </a:tabLst>
            </a:pPr>
            <a:r>
              <a:rPr lang="fr-FR" sz="3500" spc="10" dirty="0">
                <a:latin typeface="Arial"/>
                <a:cs typeface="Arial"/>
              </a:rPr>
              <a:t>Toutes les techniques utilisées dans le Cloud sont basées sur la virtualisation des ressources informatiques : matériel, logiciel, stockage, composantes  réseau, etc.</a:t>
            </a:r>
          </a:p>
          <a:p>
            <a:pPr marL="723900" marR="1138555" lvl="1" indent="-376555" algn="just">
              <a:lnSpc>
                <a:spcPct val="120000"/>
              </a:lnSpc>
              <a:spcBef>
                <a:spcPts val="265"/>
              </a:spcBef>
              <a:buSzPct val="50704"/>
              <a:buFont typeface="Arial" pitchFamily="34" charset="0"/>
              <a:buChar char="•"/>
              <a:tabLst>
                <a:tab pos="723900" algn="l"/>
                <a:tab pos="724535" algn="l"/>
              </a:tabLst>
            </a:pPr>
            <a:r>
              <a:rPr lang="fr-FR" sz="3500" spc="10" dirty="0">
                <a:latin typeface="Arial"/>
                <a:cs typeface="Arial"/>
              </a:rPr>
              <a:t>	La virtualisation permet de mettre en place des architectures hautement  disponibles pour la gestion et l’allocation des ressources Cloud.</a:t>
            </a:r>
          </a:p>
          <a:p>
            <a:pPr algn="just"/>
            <a:endParaRPr lang="fr-FR" dirty="0"/>
          </a:p>
        </p:txBody>
      </p:sp>
      <p:sp>
        <p:nvSpPr>
          <p:cNvPr id="4" name="Espace réservé du pied de page 3">
            <a:extLst>
              <a:ext uri="{FF2B5EF4-FFF2-40B4-BE49-F238E27FC236}">
                <a16:creationId xmlns:a16="http://schemas.microsoft.com/office/drawing/2014/main" id="{7E8FD727-432F-6CA4-4379-30A59CCE72BA}"/>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0BEFBE9-DE79-5047-0881-D48B9E0D9423}"/>
              </a:ext>
            </a:extLst>
          </p:cNvPr>
          <p:cNvSpPr>
            <a:spLocks noGrp="1"/>
          </p:cNvSpPr>
          <p:nvPr>
            <p:ph type="sldNum" sz="quarter" idx="12"/>
          </p:nvPr>
        </p:nvSpPr>
        <p:spPr/>
        <p:txBody>
          <a:bodyPr/>
          <a:lstStyle/>
          <a:p>
            <a:fld id="{B82CCC60-E8CD-4174-8B1A-7DF615B22EEF}" type="slidenum">
              <a:rPr lang="en-US" smtClean="0"/>
              <a:pPr/>
              <a:t>10</a:t>
            </a:fld>
            <a:endParaRPr lang="en-US"/>
          </a:p>
        </p:txBody>
      </p:sp>
    </p:spTree>
    <p:extLst>
      <p:ext uri="{BB962C8B-B14F-4D97-AF65-F5344CB8AC3E}">
        <p14:creationId xmlns:p14="http://schemas.microsoft.com/office/powerpoint/2010/main" val="17663752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C3269D-8081-AAC0-5937-5EE3D7F16B63}"/>
              </a:ext>
            </a:extLst>
          </p:cNvPr>
          <p:cNvSpPr>
            <a:spLocks noGrp="1"/>
          </p:cNvSpPr>
          <p:nvPr>
            <p:ph type="title"/>
          </p:nvPr>
        </p:nvSpPr>
        <p:spPr>
          <a:xfrm>
            <a:off x="143555" y="1350110"/>
            <a:ext cx="8398775" cy="610820"/>
          </a:xfrm>
        </p:spPr>
        <p:txBody>
          <a:bodyPr>
            <a:normAutofit fontScale="90000"/>
          </a:bodyPr>
          <a:lstStyle/>
          <a:p>
            <a:r>
              <a:rPr lang="fr-FR" sz="3600" spc="25" dirty="0">
                <a:latin typeface="Arial"/>
                <a:cs typeface="Arial"/>
              </a:rPr>
              <a:t>Les </a:t>
            </a:r>
            <a:r>
              <a:rPr lang="fr-FR" sz="3600" spc="80" dirty="0">
                <a:latin typeface="Arial"/>
                <a:cs typeface="Arial"/>
              </a:rPr>
              <a:t>technologies </a:t>
            </a:r>
            <a:r>
              <a:rPr lang="fr-FR" spc="80" dirty="0">
                <a:latin typeface="Arial"/>
                <a:cs typeface="Arial"/>
              </a:rPr>
              <a:t>clés:  Web 2.0 et Mashup</a:t>
            </a:r>
          </a:p>
        </p:txBody>
      </p:sp>
      <p:sp>
        <p:nvSpPr>
          <p:cNvPr id="3" name="Espace réservé du contenu 2">
            <a:extLst>
              <a:ext uri="{FF2B5EF4-FFF2-40B4-BE49-F238E27FC236}">
                <a16:creationId xmlns:a16="http://schemas.microsoft.com/office/drawing/2014/main" id="{1F2D266D-2173-2A62-8D34-E89745FA6845}"/>
              </a:ext>
            </a:extLst>
          </p:cNvPr>
          <p:cNvSpPr>
            <a:spLocks noGrp="1"/>
          </p:cNvSpPr>
          <p:nvPr>
            <p:ph idx="1"/>
          </p:nvPr>
        </p:nvSpPr>
        <p:spPr/>
        <p:txBody>
          <a:bodyPr>
            <a:normAutofit fontScale="55000" lnSpcReduction="20000"/>
          </a:bodyPr>
          <a:lstStyle/>
          <a:p>
            <a:pPr marL="598805" marR="5080" lvl="1" indent="-251460" algn="just">
              <a:lnSpc>
                <a:spcPct val="120000"/>
              </a:lnSpc>
              <a:buSzPct val="50704"/>
              <a:buFont typeface="Arial"/>
              <a:buChar char="•"/>
              <a:tabLst>
                <a:tab pos="723900" algn="l"/>
                <a:tab pos="724535" algn="l"/>
              </a:tabLst>
            </a:pPr>
            <a:r>
              <a:rPr lang="fr-FR" dirty="0"/>
              <a:t>	</a:t>
            </a:r>
            <a:r>
              <a:rPr lang="fr-FR" sz="3550" dirty="0">
                <a:latin typeface="Arial"/>
                <a:cs typeface="Arial"/>
              </a:rPr>
              <a:t>Web 2.0 </a:t>
            </a:r>
            <a:r>
              <a:rPr lang="fr-FR" sz="3550" spc="70" dirty="0">
                <a:latin typeface="Arial"/>
                <a:cs typeface="Arial"/>
              </a:rPr>
              <a:t>fait </a:t>
            </a:r>
            <a:r>
              <a:rPr lang="fr-FR" sz="3550" spc="30" dirty="0">
                <a:latin typeface="Arial"/>
                <a:cs typeface="Arial"/>
              </a:rPr>
              <a:t>référence </a:t>
            </a:r>
            <a:r>
              <a:rPr lang="fr-FR" sz="3550" dirty="0">
                <a:latin typeface="Arial"/>
                <a:cs typeface="Arial"/>
              </a:rPr>
              <a:t>à </a:t>
            </a:r>
            <a:r>
              <a:rPr lang="fr-FR" sz="3550" spc="85" dirty="0">
                <a:latin typeface="Arial"/>
                <a:cs typeface="Arial"/>
              </a:rPr>
              <a:t>l'utilisation </a:t>
            </a:r>
            <a:r>
              <a:rPr lang="fr-FR" sz="3550" spc="45" dirty="0">
                <a:latin typeface="Arial"/>
                <a:cs typeface="Arial"/>
              </a:rPr>
              <a:t>de </a:t>
            </a:r>
            <a:r>
              <a:rPr lang="fr-FR" sz="3550" spc="15" dirty="0">
                <a:latin typeface="Arial"/>
                <a:cs typeface="Arial"/>
              </a:rPr>
              <a:t>la </a:t>
            </a:r>
            <a:r>
              <a:rPr lang="fr-FR" sz="3550" spc="80" dirty="0">
                <a:latin typeface="Arial"/>
                <a:cs typeface="Arial"/>
              </a:rPr>
              <a:t>technologie </a:t>
            </a:r>
            <a:r>
              <a:rPr lang="fr-FR" sz="3550" dirty="0">
                <a:latin typeface="Arial"/>
                <a:cs typeface="Arial"/>
              </a:rPr>
              <a:t>Web </a:t>
            </a:r>
            <a:r>
              <a:rPr lang="fr-FR" sz="3550" spc="80" dirty="0">
                <a:latin typeface="Arial"/>
                <a:cs typeface="Arial"/>
              </a:rPr>
              <a:t>pour </a:t>
            </a:r>
            <a:r>
              <a:rPr lang="fr-FR" sz="3550" spc="75" dirty="0">
                <a:latin typeface="Arial"/>
                <a:cs typeface="Arial"/>
              </a:rPr>
              <a:t>améliorer la </a:t>
            </a:r>
            <a:r>
              <a:rPr lang="fr-FR" sz="3550" spc="75" dirty="0">
                <a:solidFill>
                  <a:srgbClr val="C72405"/>
                </a:solidFill>
                <a:latin typeface="Arial"/>
                <a:cs typeface="Arial"/>
              </a:rPr>
              <a:t> </a:t>
            </a:r>
            <a:r>
              <a:rPr lang="fr-FR" sz="3550" spc="60" dirty="0">
                <a:solidFill>
                  <a:srgbClr val="C72405"/>
                </a:solidFill>
                <a:latin typeface="Arial"/>
                <a:cs typeface="Arial"/>
              </a:rPr>
              <a:t>créativité, </a:t>
            </a:r>
            <a:r>
              <a:rPr lang="fr-FR" sz="3550" spc="15" dirty="0">
                <a:solidFill>
                  <a:srgbClr val="C72405"/>
                </a:solidFill>
                <a:latin typeface="Arial"/>
                <a:cs typeface="Arial"/>
              </a:rPr>
              <a:t>le </a:t>
            </a:r>
            <a:r>
              <a:rPr lang="fr-FR" sz="3550" spc="70" dirty="0">
                <a:solidFill>
                  <a:srgbClr val="C72405"/>
                </a:solidFill>
                <a:latin typeface="Arial"/>
                <a:cs typeface="Arial"/>
              </a:rPr>
              <a:t>partage </a:t>
            </a:r>
            <a:r>
              <a:rPr lang="fr-FR" sz="3550" spc="95" dirty="0">
                <a:latin typeface="Arial"/>
                <a:cs typeface="Arial"/>
              </a:rPr>
              <a:t>d'informations </a:t>
            </a:r>
            <a:r>
              <a:rPr lang="fr-FR" sz="3550" spc="45" dirty="0">
                <a:latin typeface="Arial"/>
                <a:cs typeface="Arial"/>
              </a:rPr>
              <a:t>et </a:t>
            </a:r>
            <a:r>
              <a:rPr lang="fr-FR" sz="3550" spc="15" dirty="0">
                <a:latin typeface="Arial"/>
                <a:cs typeface="Arial"/>
              </a:rPr>
              <a:t>la </a:t>
            </a:r>
            <a:r>
              <a:rPr lang="fr-FR" sz="3550" spc="85" dirty="0">
                <a:solidFill>
                  <a:srgbClr val="C72405"/>
                </a:solidFill>
                <a:latin typeface="Arial"/>
                <a:cs typeface="Arial"/>
              </a:rPr>
              <a:t>collaboration </a:t>
            </a:r>
            <a:r>
              <a:rPr lang="fr-FR" sz="3550" spc="35" dirty="0">
                <a:latin typeface="Arial"/>
                <a:cs typeface="Arial"/>
              </a:rPr>
              <a:t>entre </a:t>
            </a:r>
            <a:r>
              <a:rPr lang="fr-FR" sz="3550" spc="20" dirty="0">
                <a:latin typeface="Arial"/>
                <a:cs typeface="Arial"/>
              </a:rPr>
              <a:t>les</a:t>
            </a:r>
            <a:r>
              <a:rPr lang="fr-FR" sz="3550" spc="285" dirty="0">
                <a:latin typeface="Arial"/>
                <a:cs typeface="Arial"/>
              </a:rPr>
              <a:t> </a:t>
            </a:r>
            <a:r>
              <a:rPr lang="fr-FR" sz="3550" spc="50" dirty="0">
                <a:latin typeface="Arial"/>
                <a:cs typeface="Arial"/>
              </a:rPr>
              <a:t>utilisateurs.</a:t>
            </a:r>
            <a:endParaRPr lang="fr-FR" sz="3550" dirty="0">
              <a:latin typeface="Arial"/>
              <a:cs typeface="Arial"/>
            </a:endParaRPr>
          </a:p>
          <a:p>
            <a:pPr marL="598805" marR="869950" lvl="1" indent="-251460" algn="just">
              <a:lnSpc>
                <a:spcPct val="120000"/>
              </a:lnSpc>
              <a:spcBef>
                <a:spcPts val="140"/>
              </a:spcBef>
              <a:buSzPct val="50704"/>
              <a:buFont typeface="Arial"/>
              <a:buChar char="•"/>
              <a:tabLst>
                <a:tab pos="723900" algn="l"/>
                <a:tab pos="724535" algn="l"/>
              </a:tabLst>
            </a:pPr>
            <a:r>
              <a:rPr lang="fr-FR" dirty="0"/>
              <a:t>	</a:t>
            </a:r>
            <a:r>
              <a:rPr lang="fr-FR" sz="3550" spc="75" dirty="0">
                <a:latin typeface="Arial"/>
                <a:cs typeface="Arial"/>
              </a:rPr>
              <a:t>Mashup </a:t>
            </a:r>
            <a:r>
              <a:rPr lang="fr-FR" sz="3550" spc="55" dirty="0">
                <a:latin typeface="Arial"/>
                <a:cs typeface="Arial"/>
              </a:rPr>
              <a:t>est </a:t>
            </a:r>
            <a:r>
              <a:rPr lang="fr-FR" sz="3550" spc="25" dirty="0">
                <a:latin typeface="Arial"/>
                <a:cs typeface="Arial"/>
              </a:rPr>
              <a:t>une </a:t>
            </a:r>
            <a:r>
              <a:rPr lang="fr-FR" sz="3550" spc="85" dirty="0">
                <a:latin typeface="Arial"/>
                <a:cs typeface="Arial"/>
              </a:rPr>
              <a:t>application </a:t>
            </a:r>
            <a:r>
              <a:rPr lang="fr-FR" sz="3550" dirty="0">
                <a:latin typeface="Arial"/>
                <a:cs typeface="Arial"/>
              </a:rPr>
              <a:t>Web </a:t>
            </a:r>
            <a:r>
              <a:rPr lang="fr-FR" sz="3550" spc="70" dirty="0">
                <a:latin typeface="Arial"/>
                <a:cs typeface="Arial"/>
              </a:rPr>
              <a:t>qui </a:t>
            </a:r>
            <a:r>
              <a:rPr lang="fr-FR" sz="3550" spc="90" dirty="0">
                <a:latin typeface="Arial"/>
                <a:cs typeface="Arial"/>
              </a:rPr>
              <a:t>combine </a:t>
            </a:r>
            <a:r>
              <a:rPr lang="fr-FR" sz="3550" spc="20" dirty="0">
                <a:latin typeface="Arial"/>
                <a:cs typeface="Arial"/>
              </a:rPr>
              <a:t>les </a:t>
            </a:r>
            <a:r>
              <a:rPr lang="fr-FR" sz="3550" spc="55" dirty="0">
                <a:latin typeface="Arial"/>
                <a:cs typeface="Arial"/>
              </a:rPr>
              <a:t>données </a:t>
            </a:r>
            <a:r>
              <a:rPr lang="fr-FR" sz="3550" spc="95" dirty="0">
                <a:latin typeface="Arial"/>
                <a:cs typeface="Arial"/>
              </a:rPr>
              <a:t>de plusieurs  </a:t>
            </a:r>
            <a:r>
              <a:rPr lang="fr-FR" sz="3550" spc="55" dirty="0">
                <a:latin typeface="Arial"/>
                <a:cs typeface="Arial"/>
              </a:rPr>
              <a:t>sources </a:t>
            </a:r>
            <a:r>
              <a:rPr lang="fr-FR" sz="3550" spc="10" dirty="0">
                <a:latin typeface="Arial"/>
                <a:cs typeface="Arial"/>
              </a:rPr>
              <a:t>en </a:t>
            </a:r>
            <a:r>
              <a:rPr lang="fr-FR" sz="3550" spc="30" dirty="0">
                <a:latin typeface="Arial"/>
                <a:cs typeface="Arial"/>
              </a:rPr>
              <a:t>un seul </a:t>
            </a:r>
            <a:r>
              <a:rPr lang="fr-FR" sz="3550" spc="70" dirty="0">
                <a:latin typeface="Arial"/>
                <a:cs typeface="Arial"/>
              </a:rPr>
              <a:t>outil </a:t>
            </a:r>
            <a:r>
              <a:rPr lang="fr-FR" sz="3550" spc="50" dirty="0">
                <a:latin typeface="Arial"/>
                <a:cs typeface="Arial"/>
              </a:rPr>
              <a:t>de </a:t>
            </a:r>
            <a:r>
              <a:rPr lang="fr-FR" sz="3550" spc="80" dirty="0">
                <a:latin typeface="Arial"/>
                <a:cs typeface="Arial"/>
              </a:rPr>
              <a:t>stockage</a:t>
            </a:r>
            <a:r>
              <a:rPr lang="fr-FR" sz="3550" spc="220" dirty="0">
                <a:latin typeface="Arial"/>
                <a:cs typeface="Arial"/>
              </a:rPr>
              <a:t> </a:t>
            </a:r>
            <a:r>
              <a:rPr lang="fr-FR" sz="3550" spc="45" dirty="0">
                <a:latin typeface="Arial"/>
                <a:cs typeface="Arial"/>
              </a:rPr>
              <a:t>intégré.</a:t>
            </a:r>
            <a:endParaRPr lang="fr-FR" sz="3550" dirty="0">
              <a:latin typeface="Arial"/>
              <a:cs typeface="Arial"/>
            </a:endParaRPr>
          </a:p>
          <a:p>
            <a:pPr marL="723900" lvl="1" indent="-377190" algn="just">
              <a:lnSpc>
                <a:spcPct val="120000"/>
              </a:lnSpc>
              <a:spcBef>
                <a:spcPts val="110"/>
              </a:spcBef>
              <a:buChar char="•"/>
              <a:tabLst>
                <a:tab pos="723900" algn="l"/>
                <a:tab pos="724535" algn="l"/>
              </a:tabLst>
            </a:pPr>
            <a:r>
              <a:rPr lang="fr-FR" sz="3550" spc="25" dirty="0">
                <a:latin typeface="Arial"/>
                <a:cs typeface="Arial"/>
              </a:rPr>
              <a:t>Les </a:t>
            </a:r>
            <a:r>
              <a:rPr lang="fr-FR" sz="3550" spc="70" dirty="0">
                <a:latin typeface="Arial"/>
                <a:cs typeface="Arial"/>
              </a:rPr>
              <a:t>deux </a:t>
            </a:r>
            <a:r>
              <a:rPr lang="fr-FR" sz="3550" spc="80" dirty="0">
                <a:latin typeface="Arial"/>
                <a:cs typeface="Arial"/>
              </a:rPr>
              <a:t>technologies </a:t>
            </a:r>
            <a:r>
              <a:rPr lang="fr-FR" sz="3550" spc="75" dirty="0">
                <a:latin typeface="Arial"/>
                <a:cs typeface="Arial"/>
              </a:rPr>
              <a:t>sont </a:t>
            </a:r>
            <a:r>
              <a:rPr lang="fr-FR" sz="3550" spc="40" dirty="0">
                <a:latin typeface="Arial"/>
                <a:cs typeface="Arial"/>
              </a:rPr>
              <a:t>très </a:t>
            </a:r>
            <a:r>
              <a:rPr lang="fr-FR" sz="3550" spc="60" dirty="0">
                <a:latin typeface="Arial"/>
                <a:cs typeface="Arial"/>
              </a:rPr>
              <a:t>bénéfiques </a:t>
            </a:r>
            <a:r>
              <a:rPr lang="fr-FR" sz="3550" spc="80" dirty="0">
                <a:latin typeface="Arial"/>
                <a:cs typeface="Arial"/>
              </a:rPr>
              <a:t>pour </a:t>
            </a:r>
            <a:r>
              <a:rPr lang="fr-FR" sz="3550" spc="15" dirty="0">
                <a:latin typeface="Arial"/>
                <a:cs typeface="Arial"/>
              </a:rPr>
              <a:t>le </a:t>
            </a:r>
            <a:r>
              <a:rPr lang="fr-FR" sz="3550" spc="95" dirty="0">
                <a:latin typeface="Arial"/>
                <a:cs typeface="Arial"/>
              </a:rPr>
              <a:t>cloud</a:t>
            </a:r>
            <a:r>
              <a:rPr lang="fr-FR" sz="3550" spc="265" dirty="0">
                <a:latin typeface="Arial"/>
                <a:cs typeface="Arial"/>
              </a:rPr>
              <a:t> </a:t>
            </a:r>
            <a:r>
              <a:rPr lang="fr-FR" sz="3550" spc="100" dirty="0" err="1">
                <a:latin typeface="Arial"/>
                <a:cs typeface="Arial"/>
              </a:rPr>
              <a:t>computing</a:t>
            </a:r>
            <a:r>
              <a:rPr lang="fr-FR" sz="3550" spc="100" dirty="0">
                <a:latin typeface="Arial"/>
                <a:cs typeface="Arial"/>
              </a:rPr>
              <a:t>.</a:t>
            </a:r>
            <a:endParaRPr lang="fr-FR" sz="3550" dirty="0">
              <a:latin typeface="Arial"/>
              <a:cs typeface="Arial"/>
            </a:endParaRPr>
          </a:p>
          <a:p>
            <a:pPr algn="just"/>
            <a:endParaRPr lang="fr-FR" dirty="0"/>
          </a:p>
        </p:txBody>
      </p:sp>
      <p:sp>
        <p:nvSpPr>
          <p:cNvPr id="4" name="Espace réservé du pied de page 3">
            <a:extLst>
              <a:ext uri="{FF2B5EF4-FFF2-40B4-BE49-F238E27FC236}">
                <a16:creationId xmlns:a16="http://schemas.microsoft.com/office/drawing/2014/main" id="{88FA30FB-BAAA-696D-5E9A-BE539EC4FCB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FB56758-657A-4011-E1EC-7DE9515BC5A1}"/>
              </a:ext>
            </a:extLst>
          </p:cNvPr>
          <p:cNvSpPr>
            <a:spLocks noGrp="1"/>
          </p:cNvSpPr>
          <p:nvPr>
            <p:ph type="sldNum" sz="quarter" idx="12"/>
          </p:nvPr>
        </p:nvSpPr>
        <p:spPr/>
        <p:txBody>
          <a:bodyPr/>
          <a:lstStyle/>
          <a:p>
            <a:fld id="{B82CCC60-E8CD-4174-8B1A-7DF615B22EEF}" type="slidenum">
              <a:rPr lang="en-US" smtClean="0"/>
              <a:pPr/>
              <a:t>11</a:t>
            </a:fld>
            <a:endParaRPr lang="en-US"/>
          </a:p>
        </p:txBody>
      </p:sp>
    </p:spTree>
    <p:extLst>
      <p:ext uri="{BB962C8B-B14F-4D97-AF65-F5344CB8AC3E}">
        <p14:creationId xmlns:p14="http://schemas.microsoft.com/office/powerpoint/2010/main" val="2841054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657BE5A-ED4D-E259-42C5-2CD1E78533DB}"/>
              </a:ext>
            </a:extLst>
          </p:cNvPr>
          <p:cNvSpPr>
            <a:spLocks noGrp="1"/>
          </p:cNvSpPr>
          <p:nvPr>
            <p:ph type="title"/>
          </p:nvPr>
        </p:nvSpPr>
        <p:spPr/>
        <p:txBody>
          <a:bodyPr>
            <a:normAutofit fontScale="90000"/>
          </a:bodyPr>
          <a:lstStyle/>
          <a:p>
            <a:r>
              <a:rPr lang="fr-FR" sz="3600" spc="25" dirty="0">
                <a:latin typeface="Arial"/>
                <a:cs typeface="Arial"/>
              </a:rPr>
              <a:t>Les </a:t>
            </a:r>
            <a:r>
              <a:rPr lang="fr-FR" sz="3600" spc="80" dirty="0">
                <a:latin typeface="Arial"/>
                <a:cs typeface="Arial"/>
              </a:rPr>
              <a:t>technologies </a:t>
            </a:r>
            <a:r>
              <a:rPr lang="fr-FR" spc="80" dirty="0">
                <a:latin typeface="Arial"/>
                <a:cs typeface="Arial"/>
              </a:rPr>
              <a:t>clés: SOA</a:t>
            </a:r>
            <a:endParaRPr lang="fr-FR" dirty="0"/>
          </a:p>
        </p:txBody>
      </p:sp>
      <p:sp>
        <p:nvSpPr>
          <p:cNvPr id="4" name="Espace réservé du pied de page 3">
            <a:extLst>
              <a:ext uri="{FF2B5EF4-FFF2-40B4-BE49-F238E27FC236}">
                <a16:creationId xmlns:a16="http://schemas.microsoft.com/office/drawing/2014/main" id="{5ED3A4A2-1CF9-B223-6B4A-3B57656D96D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9609D3E-5D51-569A-064E-038DC7CA1E14}"/>
              </a:ext>
            </a:extLst>
          </p:cNvPr>
          <p:cNvSpPr>
            <a:spLocks noGrp="1"/>
          </p:cNvSpPr>
          <p:nvPr>
            <p:ph type="sldNum" sz="quarter" idx="12"/>
          </p:nvPr>
        </p:nvSpPr>
        <p:spPr/>
        <p:txBody>
          <a:bodyPr/>
          <a:lstStyle/>
          <a:p>
            <a:fld id="{B82CCC60-E8CD-4174-8B1A-7DF615B22EEF}" type="slidenum">
              <a:rPr lang="en-US" smtClean="0"/>
              <a:pPr/>
              <a:t>12</a:t>
            </a:fld>
            <a:endParaRPr lang="en-US"/>
          </a:p>
        </p:txBody>
      </p:sp>
      <p:pic>
        <p:nvPicPr>
          <p:cNvPr id="6146" name="Picture 2" descr="Architecture Orientée Services (SOA) - urbanisation-si,  modelisation-metier, processus-metier, expression-des-besoins">
            <a:extLst>
              <a:ext uri="{FF2B5EF4-FFF2-40B4-BE49-F238E27FC236}">
                <a16:creationId xmlns:a16="http://schemas.microsoft.com/office/drawing/2014/main" id="{9FB70F27-5587-AA0B-80D7-571F4268E8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0" y="2087746"/>
            <a:ext cx="4457700"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1949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588ADF-7996-5DBE-4FB7-CF889459925E}"/>
              </a:ext>
            </a:extLst>
          </p:cNvPr>
          <p:cNvSpPr>
            <a:spLocks noGrp="1"/>
          </p:cNvSpPr>
          <p:nvPr>
            <p:ph type="title"/>
          </p:nvPr>
        </p:nvSpPr>
        <p:spPr/>
        <p:txBody>
          <a:bodyPr>
            <a:normAutofit fontScale="90000"/>
          </a:bodyPr>
          <a:lstStyle/>
          <a:p>
            <a:r>
              <a:rPr lang="fr-FR" dirty="0"/>
              <a:t>Les modèles de service Cloud</a:t>
            </a:r>
          </a:p>
        </p:txBody>
      </p:sp>
      <p:sp>
        <p:nvSpPr>
          <p:cNvPr id="4" name="Espace réservé du pied de page 3">
            <a:extLst>
              <a:ext uri="{FF2B5EF4-FFF2-40B4-BE49-F238E27FC236}">
                <a16:creationId xmlns:a16="http://schemas.microsoft.com/office/drawing/2014/main" id="{E87942CC-8429-EFC3-0566-CA273E1F268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D38B2A80-50EF-5F2F-2D76-5864A01D4F44}"/>
              </a:ext>
            </a:extLst>
          </p:cNvPr>
          <p:cNvSpPr>
            <a:spLocks noGrp="1"/>
          </p:cNvSpPr>
          <p:nvPr>
            <p:ph type="sldNum" sz="quarter" idx="12"/>
          </p:nvPr>
        </p:nvSpPr>
        <p:spPr/>
        <p:txBody>
          <a:bodyPr/>
          <a:lstStyle/>
          <a:p>
            <a:fld id="{B82CCC60-E8CD-4174-8B1A-7DF615B22EEF}" type="slidenum">
              <a:rPr lang="en-US" smtClean="0"/>
              <a:pPr/>
              <a:t>13</a:t>
            </a:fld>
            <a:endParaRPr lang="en-US"/>
          </a:p>
        </p:txBody>
      </p:sp>
      <p:pic>
        <p:nvPicPr>
          <p:cNvPr id="4100" name="Picture 4" descr="Cloud Computing - An Ultimate Guide for Businesses">
            <a:extLst>
              <a:ext uri="{FF2B5EF4-FFF2-40B4-BE49-F238E27FC236}">
                <a16:creationId xmlns:a16="http://schemas.microsoft.com/office/drawing/2014/main" id="{37AAA1F2-37C8-6B1D-07EF-F70E7C7C855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81425" y="2089055"/>
            <a:ext cx="4425582" cy="2607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906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A1E29B-E363-D815-D229-19B0F91E0F55}"/>
              </a:ext>
            </a:extLst>
          </p:cNvPr>
          <p:cNvSpPr>
            <a:spLocks noGrp="1"/>
          </p:cNvSpPr>
          <p:nvPr>
            <p:ph type="title"/>
          </p:nvPr>
        </p:nvSpPr>
        <p:spPr/>
        <p:txBody>
          <a:bodyPr>
            <a:normAutofit fontScale="90000"/>
          </a:bodyPr>
          <a:lstStyle/>
          <a:p>
            <a:r>
              <a:rPr lang="fr-FR" sz="3600" spc="-5" dirty="0">
                <a:latin typeface="Arial Black"/>
                <a:cs typeface="Arial Black"/>
              </a:rPr>
              <a:t>Software </a:t>
            </a:r>
            <a:r>
              <a:rPr lang="fr-FR" sz="3600" dirty="0">
                <a:latin typeface="Arial Black"/>
                <a:cs typeface="Arial Black"/>
              </a:rPr>
              <a:t>as a </a:t>
            </a:r>
            <a:r>
              <a:rPr lang="fr-FR" sz="3600" spc="40" dirty="0">
                <a:latin typeface="Arial Black"/>
                <a:cs typeface="Arial Black"/>
              </a:rPr>
              <a:t>Service</a:t>
            </a:r>
            <a:r>
              <a:rPr lang="fr-FR" sz="3600" spc="-110" dirty="0">
                <a:latin typeface="Arial Black"/>
                <a:cs typeface="Arial Black"/>
              </a:rPr>
              <a:t> </a:t>
            </a:r>
            <a:r>
              <a:rPr lang="fr-FR" sz="3600" spc="-5" dirty="0">
                <a:latin typeface="Arial Black"/>
                <a:cs typeface="Arial Black"/>
              </a:rPr>
              <a:t>(SaaS)</a:t>
            </a:r>
            <a:endParaRPr lang="fr-FR" dirty="0"/>
          </a:p>
        </p:txBody>
      </p:sp>
      <p:sp>
        <p:nvSpPr>
          <p:cNvPr id="3" name="Espace réservé du contenu 2">
            <a:extLst>
              <a:ext uri="{FF2B5EF4-FFF2-40B4-BE49-F238E27FC236}">
                <a16:creationId xmlns:a16="http://schemas.microsoft.com/office/drawing/2014/main" id="{CE86EE83-B36C-3529-8CA5-4DAF89CAAD7F}"/>
              </a:ext>
            </a:extLst>
          </p:cNvPr>
          <p:cNvSpPr>
            <a:spLocks noGrp="1"/>
          </p:cNvSpPr>
          <p:nvPr>
            <p:ph idx="1"/>
          </p:nvPr>
        </p:nvSpPr>
        <p:spPr>
          <a:xfrm>
            <a:off x="448966" y="1960930"/>
            <a:ext cx="8246070" cy="1832460"/>
          </a:xfrm>
        </p:spPr>
        <p:txBody>
          <a:bodyPr>
            <a:normAutofit fontScale="40000" lnSpcReduction="20000"/>
          </a:bodyPr>
          <a:lstStyle/>
          <a:p>
            <a:pPr marL="944880" marR="363855" lvl="1" indent="-251460" algn="just">
              <a:lnSpc>
                <a:spcPct val="120000"/>
              </a:lnSpc>
              <a:spcBef>
                <a:spcPts val="60"/>
              </a:spcBef>
              <a:buSzPct val="50704"/>
              <a:buFont typeface="Arial"/>
              <a:buChar char="•"/>
              <a:tabLst>
                <a:tab pos="1069975" algn="l"/>
                <a:tab pos="1070610" algn="l"/>
              </a:tabLst>
            </a:pPr>
            <a:r>
              <a:rPr lang="fr-FR" sz="3550" spc="10" dirty="0">
                <a:latin typeface="Arial"/>
                <a:cs typeface="Arial"/>
              </a:rPr>
              <a:t>Le </a:t>
            </a:r>
            <a:r>
              <a:rPr lang="fr-FR" sz="3550" spc="60" dirty="0">
                <a:latin typeface="Arial"/>
                <a:cs typeface="Arial"/>
              </a:rPr>
              <a:t>fournisseur du </a:t>
            </a:r>
            <a:r>
              <a:rPr lang="fr-FR" sz="3550" spc="95" dirty="0">
                <a:latin typeface="Arial"/>
                <a:cs typeface="Arial"/>
              </a:rPr>
              <a:t>cloud </a:t>
            </a:r>
            <a:r>
              <a:rPr lang="fr-FR" sz="3550" spc="70" dirty="0">
                <a:latin typeface="Arial"/>
                <a:cs typeface="Arial"/>
              </a:rPr>
              <a:t>met </a:t>
            </a:r>
            <a:r>
              <a:rPr lang="fr-FR" sz="3550" spc="10" dirty="0">
                <a:latin typeface="Arial"/>
                <a:cs typeface="Arial"/>
              </a:rPr>
              <a:t>à </a:t>
            </a:r>
            <a:r>
              <a:rPr lang="fr-FR" sz="3550" spc="95" dirty="0">
                <a:latin typeface="Arial"/>
                <a:cs typeface="Arial"/>
              </a:rPr>
              <a:t>disposition </a:t>
            </a:r>
            <a:r>
              <a:rPr lang="fr-FR" sz="3550" spc="50" dirty="0">
                <a:latin typeface="Arial"/>
                <a:cs typeface="Arial"/>
              </a:rPr>
              <a:t>de </a:t>
            </a:r>
            <a:r>
              <a:rPr lang="fr-FR" sz="3550" spc="70" dirty="0">
                <a:latin typeface="Arial"/>
                <a:cs typeface="Arial"/>
              </a:rPr>
              <a:t>l’utilisateur </a:t>
            </a:r>
            <a:r>
              <a:rPr lang="fr-FR" sz="3550" spc="25" dirty="0">
                <a:latin typeface="Arial"/>
                <a:cs typeface="Arial"/>
              </a:rPr>
              <a:t>une </a:t>
            </a:r>
            <a:r>
              <a:rPr lang="fr-FR" sz="3550" spc="85" dirty="0">
                <a:latin typeface="Arial"/>
                <a:cs typeface="Arial"/>
              </a:rPr>
              <a:t>application </a:t>
            </a:r>
            <a:r>
              <a:rPr lang="fr-FR" sz="3550" spc="20" dirty="0">
                <a:latin typeface="Arial"/>
                <a:cs typeface="Arial"/>
              </a:rPr>
              <a:t>via </a:t>
            </a:r>
            <a:r>
              <a:rPr lang="fr-FR" sz="3550" spc="30" dirty="0">
                <a:latin typeface="Arial"/>
                <a:cs typeface="Arial"/>
              </a:rPr>
              <a:t>un  </a:t>
            </a:r>
            <a:r>
              <a:rPr lang="fr-FR" sz="3550" spc="50" dirty="0">
                <a:latin typeface="Arial"/>
                <a:cs typeface="Arial"/>
              </a:rPr>
              <a:t>navigateur </a:t>
            </a:r>
            <a:r>
              <a:rPr lang="fr-FR" sz="3550" spc="70" dirty="0">
                <a:latin typeface="Arial"/>
                <a:cs typeface="Arial"/>
              </a:rPr>
              <a:t>web, </a:t>
            </a:r>
            <a:r>
              <a:rPr lang="fr-FR" sz="3550" spc="25" dirty="0">
                <a:latin typeface="Arial"/>
                <a:cs typeface="Arial"/>
              </a:rPr>
              <a:t>une </a:t>
            </a:r>
            <a:r>
              <a:rPr lang="fr-FR" sz="3550" spc="85" dirty="0">
                <a:latin typeface="Arial"/>
                <a:cs typeface="Arial"/>
              </a:rPr>
              <a:t>application </a:t>
            </a:r>
            <a:r>
              <a:rPr lang="fr-FR" sz="3550" spc="75" dirty="0">
                <a:latin typeface="Arial"/>
                <a:cs typeface="Arial"/>
              </a:rPr>
              <a:t>mobile </a:t>
            </a:r>
            <a:r>
              <a:rPr lang="fr-FR" sz="3550" spc="50" dirty="0">
                <a:latin typeface="Arial"/>
                <a:cs typeface="Arial"/>
              </a:rPr>
              <a:t>ou </a:t>
            </a:r>
            <a:r>
              <a:rPr lang="fr-FR" sz="3550" spc="25" dirty="0">
                <a:latin typeface="Arial"/>
                <a:cs typeface="Arial"/>
              </a:rPr>
              <a:t>une </a:t>
            </a:r>
            <a:r>
              <a:rPr lang="fr-FR" sz="3550" spc="85" dirty="0">
                <a:latin typeface="Arial"/>
                <a:cs typeface="Arial"/>
              </a:rPr>
              <a:t>application</a:t>
            </a:r>
            <a:r>
              <a:rPr lang="fr-FR" sz="3550" spc="270" dirty="0">
                <a:latin typeface="Arial"/>
                <a:cs typeface="Arial"/>
              </a:rPr>
              <a:t> </a:t>
            </a:r>
            <a:r>
              <a:rPr lang="fr-FR" sz="3550" spc="40" dirty="0">
                <a:latin typeface="Arial"/>
                <a:cs typeface="Arial"/>
              </a:rPr>
              <a:t>bureau.</a:t>
            </a:r>
            <a:endParaRPr lang="fr-FR" sz="3550" dirty="0">
              <a:latin typeface="Arial"/>
              <a:cs typeface="Arial"/>
            </a:endParaRPr>
          </a:p>
          <a:p>
            <a:pPr marL="944880" marR="5080" lvl="1" indent="-251460" algn="just">
              <a:lnSpc>
                <a:spcPct val="120000"/>
              </a:lnSpc>
              <a:buSzPct val="50704"/>
              <a:buFont typeface="Arial"/>
              <a:buChar char="•"/>
              <a:tabLst>
                <a:tab pos="1069975" algn="l"/>
                <a:tab pos="1070610" algn="l"/>
              </a:tabLst>
            </a:pPr>
            <a:r>
              <a:rPr lang="fr-FR" dirty="0"/>
              <a:t>	</a:t>
            </a:r>
            <a:r>
              <a:rPr lang="fr-FR" sz="3550" spc="35" dirty="0">
                <a:latin typeface="Arial"/>
                <a:cs typeface="Arial"/>
              </a:rPr>
              <a:t>L’utilisateur </a:t>
            </a:r>
            <a:r>
              <a:rPr lang="fr-FR" sz="3550" spc="70" dirty="0">
                <a:latin typeface="Arial"/>
                <a:cs typeface="Arial"/>
              </a:rPr>
              <a:t>fait </a:t>
            </a:r>
            <a:r>
              <a:rPr lang="fr-FR" sz="3550" spc="15" dirty="0">
                <a:latin typeface="Arial"/>
                <a:cs typeface="Arial"/>
              </a:rPr>
              <a:t>la </a:t>
            </a:r>
            <a:r>
              <a:rPr lang="fr-FR" sz="3550" spc="90" dirty="0">
                <a:latin typeface="Arial"/>
                <a:cs typeface="Arial"/>
              </a:rPr>
              <a:t>souscription </a:t>
            </a:r>
            <a:r>
              <a:rPr lang="fr-FR" sz="3550" dirty="0">
                <a:latin typeface="Arial"/>
                <a:cs typeface="Arial"/>
              </a:rPr>
              <a:t>à </a:t>
            </a:r>
            <a:r>
              <a:rPr lang="fr-FR" sz="3550" spc="25" dirty="0">
                <a:latin typeface="Arial"/>
                <a:cs typeface="Arial"/>
              </a:rPr>
              <a:t>une </a:t>
            </a:r>
            <a:r>
              <a:rPr lang="fr-FR" sz="3550" spc="45" dirty="0">
                <a:latin typeface="Arial"/>
                <a:cs typeface="Arial"/>
              </a:rPr>
              <a:t>ou </a:t>
            </a:r>
            <a:r>
              <a:rPr lang="fr-FR" sz="3550" spc="60" dirty="0">
                <a:latin typeface="Arial"/>
                <a:cs typeface="Arial"/>
              </a:rPr>
              <a:t>plusieurs </a:t>
            </a:r>
            <a:r>
              <a:rPr lang="fr-FR" sz="3550" spc="85" dirty="0">
                <a:latin typeface="Arial"/>
                <a:cs typeface="Arial"/>
              </a:rPr>
              <a:t>applications </a:t>
            </a:r>
            <a:r>
              <a:rPr lang="fr-FR" sz="3550" spc="-30" dirty="0">
                <a:latin typeface="Arial"/>
                <a:cs typeface="Arial"/>
              </a:rPr>
              <a:t>SaaS </a:t>
            </a:r>
            <a:r>
              <a:rPr lang="fr-FR" sz="3550" spc="85" dirty="0">
                <a:latin typeface="Arial"/>
                <a:cs typeface="Arial"/>
              </a:rPr>
              <a:t>s’exécutant  </a:t>
            </a:r>
            <a:r>
              <a:rPr lang="fr-FR" sz="3550" spc="35" dirty="0">
                <a:latin typeface="Arial"/>
                <a:cs typeface="Arial"/>
              </a:rPr>
              <a:t>sur </a:t>
            </a:r>
            <a:r>
              <a:rPr lang="fr-FR" sz="3550" spc="25" dirty="0">
                <a:latin typeface="Arial"/>
                <a:cs typeface="Arial"/>
              </a:rPr>
              <a:t>une </a:t>
            </a:r>
            <a:r>
              <a:rPr lang="fr-FR" sz="3550" spc="70" dirty="0">
                <a:latin typeface="Arial"/>
                <a:cs typeface="Arial"/>
              </a:rPr>
              <a:t>infrastructure </a:t>
            </a:r>
            <a:r>
              <a:rPr lang="fr-FR" sz="3550" spc="65" dirty="0">
                <a:latin typeface="Arial"/>
                <a:cs typeface="Arial"/>
              </a:rPr>
              <a:t>Cloud </a:t>
            </a:r>
            <a:r>
              <a:rPr lang="fr-FR" sz="3550" spc="30" dirty="0">
                <a:latin typeface="Arial"/>
                <a:cs typeface="Arial"/>
              </a:rPr>
              <a:t>sans </a:t>
            </a:r>
            <a:r>
              <a:rPr lang="fr-FR" sz="3550" spc="15" dirty="0">
                <a:latin typeface="Arial"/>
                <a:cs typeface="Arial"/>
              </a:rPr>
              <a:t>se </a:t>
            </a:r>
            <a:r>
              <a:rPr lang="fr-FR" sz="3550" spc="65" dirty="0">
                <a:latin typeface="Arial"/>
                <a:cs typeface="Arial"/>
              </a:rPr>
              <a:t>soucier </a:t>
            </a:r>
            <a:r>
              <a:rPr lang="fr-FR" sz="3550" spc="50" dirty="0">
                <a:latin typeface="Arial"/>
                <a:cs typeface="Arial"/>
              </a:rPr>
              <a:t>de </a:t>
            </a:r>
            <a:r>
              <a:rPr lang="fr-FR" sz="3550" spc="15" dirty="0">
                <a:latin typeface="Arial"/>
                <a:cs typeface="Arial"/>
              </a:rPr>
              <a:t>la </a:t>
            </a:r>
            <a:r>
              <a:rPr lang="fr-FR" sz="3550" spc="60" dirty="0">
                <a:latin typeface="Arial"/>
                <a:cs typeface="Arial"/>
              </a:rPr>
              <a:t>puissance </a:t>
            </a:r>
            <a:r>
              <a:rPr lang="fr-FR" sz="3550" spc="50" dirty="0">
                <a:latin typeface="Arial"/>
                <a:cs typeface="Arial"/>
              </a:rPr>
              <a:t>machine, </a:t>
            </a:r>
            <a:r>
              <a:rPr lang="fr-FR" sz="3550" spc="105" dirty="0">
                <a:latin typeface="Arial"/>
                <a:cs typeface="Arial"/>
              </a:rPr>
              <a:t>de l’espace  </a:t>
            </a:r>
            <a:r>
              <a:rPr lang="fr-FR" sz="3550" spc="50" dirty="0">
                <a:latin typeface="Arial"/>
                <a:cs typeface="Arial"/>
              </a:rPr>
              <a:t>de </a:t>
            </a:r>
            <a:r>
              <a:rPr lang="fr-FR" sz="3550" spc="80" dirty="0">
                <a:latin typeface="Arial"/>
                <a:cs typeface="Arial"/>
              </a:rPr>
              <a:t>stockage </a:t>
            </a:r>
            <a:r>
              <a:rPr lang="fr-FR" sz="3550" spc="50" dirty="0">
                <a:latin typeface="Arial"/>
                <a:cs typeface="Arial"/>
              </a:rPr>
              <a:t>ou </a:t>
            </a:r>
            <a:r>
              <a:rPr lang="fr-FR" sz="3550" spc="45" dirty="0">
                <a:latin typeface="Arial"/>
                <a:cs typeface="Arial"/>
              </a:rPr>
              <a:t>même </a:t>
            </a:r>
            <a:r>
              <a:rPr lang="fr-FR" sz="3550" spc="50" dirty="0">
                <a:latin typeface="Arial"/>
                <a:cs typeface="Arial"/>
              </a:rPr>
              <a:t>de </a:t>
            </a:r>
            <a:r>
              <a:rPr lang="fr-FR" sz="3550" spc="15" dirty="0">
                <a:latin typeface="Arial"/>
                <a:cs typeface="Arial"/>
              </a:rPr>
              <a:t>la </a:t>
            </a:r>
            <a:r>
              <a:rPr lang="fr-FR" sz="3550" spc="40" dirty="0">
                <a:latin typeface="Arial"/>
                <a:cs typeface="Arial"/>
              </a:rPr>
              <a:t>mise </a:t>
            </a:r>
            <a:r>
              <a:rPr lang="fr-FR" sz="3550" dirty="0">
                <a:latin typeface="Arial"/>
                <a:cs typeface="Arial"/>
              </a:rPr>
              <a:t>à </a:t>
            </a:r>
            <a:r>
              <a:rPr lang="fr-FR" sz="3550" spc="60" dirty="0">
                <a:latin typeface="Arial"/>
                <a:cs typeface="Arial"/>
              </a:rPr>
              <a:t>jour du</a:t>
            </a:r>
            <a:r>
              <a:rPr lang="fr-FR" sz="3550" spc="260" dirty="0">
                <a:latin typeface="Arial"/>
                <a:cs typeface="Arial"/>
              </a:rPr>
              <a:t> </a:t>
            </a:r>
            <a:r>
              <a:rPr lang="fr-FR" sz="3550" spc="60" dirty="0">
                <a:latin typeface="Arial"/>
                <a:cs typeface="Arial"/>
              </a:rPr>
              <a:t>logiciel.</a:t>
            </a:r>
            <a:endParaRPr lang="fr-FR" sz="3550" dirty="0">
              <a:latin typeface="Arial"/>
              <a:cs typeface="Arial"/>
            </a:endParaRPr>
          </a:p>
          <a:p>
            <a:pPr marL="944880" marR="890905" lvl="1" indent="-251460" algn="just">
              <a:lnSpc>
                <a:spcPct val="120000"/>
              </a:lnSpc>
              <a:buSzPct val="50704"/>
              <a:buFont typeface="Arial"/>
              <a:buChar char="•"/>
              <a:tabLst>
                <a:tab pos="1069975" algn="l"/>
                <a:tab pos="1070610" algn="l"/>
              </a:tabLst>
            </a:pPr>
            <a:r>
              <a:rPr lang="fr-FR" sz="3550" spc="35" dirty="0">
                <a:latin typeface="Arial"/>
                <a:cs typeface="Arial"/>
              </a:rPr>
              <a:t>L’utilisateur </a:t>
            </a:r>
            <a:r>
              <a:rPr lang="fr-FR" sz="3550" spc="50" dirty="0">
                <a:latin typeface="Arial"/>
                <a:cs typeface="Arial"/>
              </a:rPr>
              <a:t>n’a pas de </a:t>
            </a:r>
            <a:r>
              <a:rPr lang="fr-FR" sz="3550" spc="70" dirty="0">
                <a:latin typeface="Arial"/>
                <a:cs typeface="Arial"/>
              </a:rPr>
              <a:t>visibilité </a:t>
            </a:r>
            <a:r>
              <a:rPr lang="fr-FR" sz="3550" spc="50" dirty="0">
                <a:latin typeface="Arial"/>
                <a:cs typeface="Arial"/>
              </a:rPr>
              <a:t>ou </a:t>
            </a:r>
            <a:r>
              <a:rPr lang="fr-FR" sz="3550" spc="105" dirty="0">
                <a:latin typeface="Arial"/>
                <a:cs typeface="Arial"/>
              </a:rPr>
              <a:t>d’aptitude </a:t>
            </a:r>
            <a:r>
              <a:rPr lang="fr-FR" sz="3550" spc="80" dirty="0">
                <a:latin typeface="Arial"/>
                <a:cs typeface="Arial"/>
              </a:rPr>
              <a:t>pour </a:t>
            </a:r>
            <a:r>
              <a:rPr lang="fr-FR" sz="3550" spc="30" dirty="0">
                <a:latin typeface="Arial"/>
                <a:cs typeface="Arial"/>
              </a:rPr>
              <a:t>gérer </a:t>
            </a:r>
            <a:r>
              <a:rPr lang="fr-FR" sz="3550" spc="75" dirty="0">
                <a:latin typeface="Arial"/>
                <a:cs typeface="Arial"/>
              </a:rPr>
              <a:t>l’infrastructure sous-  </a:t>
            </a:r>
            <a:r>
              <a:rPr lang="fr-FR" sz="3550" spc="55" dirty="0">
                <a:latin typeface="Arial"/>
                <a:cs typeface="Arial"/>
              </a:rPr>
              <a:t>jacente</a:t>
            </a:r>
            <a:endParaRPr lang="fr-FR" sz="3550" dirty="0">
              <a:latin typeface="Arial"/>
              <a:cs typeface="Arial"/>
            </a:endParaRPr>
          </a:p>
          <a:p>
            <a:pPr algn="just"/>
            <a:endParaRPr lang="fr-FR" dirty="0"/>
          </a:p>
        </p:txBody>
      </p:sp>
      <p:sp>
        <p:nvSpPr>
          <p:cNvPr id="4" name="Espace réservé du pied de page 3">
            <a:extLst>
              <a:ext uri="{FF2B5EF4-FFF2-40B4-BE49-F238E27FC236}">
                <a16:creationId xmlns:a16="http://schemas.microsoft.com/office/drawing/2014/main" id="{A79DC7DB-E37E-FE21-3983-A0E612F03A0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3A2A384D-E41E-D5D7-08CF-FDD5E4F0533D}"/>
              </a:ext>
            </a:extLst>
          </p:cNvPr>
          <p:cNvSpPr>
            <a:spLocks noGrp="1"/>
          </p:cNvSpPr>
          <p:nvPr>
            <p:ph type="sldNum" sz="quarter" idx="12"/>
          </p:nvPr>
        </p:nvSpPr>
        <p:spPr/>
        <p:txBody>
          <a:bodyPr/>
          <a:lstStyle/>
          <a:p>
            <a:fld id="{B82CCC60-E8CD-4174-8B1A-7DF615B22EEF}" type="slidenum">
              <a:rPr lang="en-US" smtClean="0"/>
              <a:pPr/>
              <a:t>14</a:t>
            </a:fld>
            <a:endParaRPr lang="en-US"/>
          </a:p>
        </p:txBody>
      </p:sp>
      <p:pic>
        <p:nvPicPr>
          <p:cNvPr id="11" name="Image 10">
            <a:extLst>
              <a:ext uri="{FF2B5EF4-FFF2-40B4-BE49-F238E27FC236}">
                <a16:creationId xmlns:a16="http://schemas.microsoft.com/office/drawing/2014/main" id="{F023CD77-D31F-5D39-50BF-D1B73EAAAB8A}"/>
              </a:ext>
            </a:extLst>
          </p:cNvPr>
          <p:cNvPicPr>
            <a:picLocks noChangeAspect="1"/>
          </p:cNvPicPr>
          <p:nvPr/>
        </p:nvPicPr>
        <p:blipFill>
          <a:blip r:embed="rId2"/>
          <a:stretch>
            <a:fillRect/>
          </a:stretch>
        </p:blipFill>
        <p:spPr>
          <a:xfrm>
            <a:off x="1356960" y="3531840"/>
            <a:ext cx="7329840" cy="1292299"/>
          </a:xfrm>
          <a:prstGeom prst="rect">
            <a:avLst/>
          </a:prstGeom>
        </p:spPr>
      </p:pic>
    </p:spTree>
    <p:extLst>
      <p:ext uri="{BB962C8B-B14F-4D97-AF65-F5344CB8AC3E}">
        <p14:creationId xmlns:p14="http://schemas.microsoft.com/office/powerpoint/2010/main" val="2363044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CD35BC1-D749-BCB6-3E56-C88FB34342D6}"/>
              </a:ext>
            </a:extLst>
          </p:cNvPr>
          <p:cNvSpPr>
            <a:spLocks noGrp="1"/>
          </p:cNvSpPr>
          <p:nvPr>
            <p:ph type="title"/>
          </p:nvPr>
        </p:nvSpPr>
        <p:spPr/>
        <p:txBody>
          <a:bodyPr>
            <a:normAutofit fontScale="90000"/>
          </a:bodyPr>
          <a:lstStyle/>
          <a:p>
            <a:r>
              <a:rPr lang="fr-FR" sz="3600" dirty="0">
                <a:latin typeface="Arial Black"/>
                <a:cs typeface="Arial Black"/>
              </a:rPr>
              <a:t>Platform as a </a:t>
            </a:r>
            <a:r>
              <a:rPr lang="fr-FR" sz="3600" spc="40" dirty="0">
                <a:latin typeface="Arial Black"/>
                <a:cs typeface="Arial Black"/>
              </a:rPr>
              <a:t>Service</a:t>
            </a:r>
            <a:r>
              <a:rPr lang="fr-FR" sz="3600" spc="-65" dirty="0">
                <a:latin typeface="Arial Black"/>
                <a:cs typeface="Arial Black"/>
              </a:rPr>
              <a:t> </a:t>
            </a:r>
            <a:r>
              <a:rPr lang="fr-FR" sz="3600" spc="-25" dirty="0">
                <a:latin typeface="Arial Black"/>
                <a:cs typeface="Arial Black"/>
              </a:rPr>
              <a:t>(PaaS)</a:t>
            </a:r>
            <a:endParaRPr lang="fr-FR" dirty="0"/>
          </a:p>
        </p:txBody>
      </p:sp>
      <p:sp>
        <p:nvSpPr>
          <p:cNvPr id="3" name="Espace réservé du contenu 2">
            <a:extLst>
              <a:ext uri="{FF2B5EF4-FFF2-40B4-BE49-F238E27FC236}">
                <a16:creationId xmlns:a16="http://schemas.microsoft.com/office/drawing/2014/main" id="{813463BE-4A83-7343-6231-9EE61A1A5F79}"/>
              </a:ext>
            </a:extLst>
          </p:cNvPr>
          <p:cNvSpPr>
            <a:spLocks noGrp="1"/>
          </p:cNvSpPr>
          <p:nvPr>
            <p:ph idx="1"/>
          </p:nvPr>
        </p:nvSpPr>
        <p:spPr>
          <a:xfrm>
            <a:off x="448966" y="1960929"/>
            <a:ext cx="8246070" cy="1679755"/>
          </a:xfrm>
        </p:spPr>
        <p:txBody>
          <a:bodyPr>
            <a:normAutofit fontScale="47500" lnSpcReduction="20000"/>
          </a:bodyPr>
          <a:lstStyle/>
          <a:p>
            <a:pPr marL="945515" marR="311785" lvl="1" indent="-251460" algn="just">
              <a:lnSpc>
                <a:spcPct val="100800"/>
              </a:lnSpc>
              <a:spcBef>
                <a:spcPts val="75"/>
              </a:spcBef>
              <a:buSzPct val="50704"/>
              <a:buFont typeface="Arial"/>
              <a:buChar char="•"/>
              <a:tabLst>
                <a:tab pos="1069975" algn="l"/>
                <a:tab pos="1071245" algn="l"/>
              </a:tabLst>
            </a:pPr>
            <a:r>
              <a:rPr lang="fr-FR" sz="3550" spc="10" dirty="0">
                <a:latin typeface="Arial"/>
                <a:cs typeface="Arial"/>
              </a:rPr>
              <a:t>Le </a:t>
            </a:r>
            <a:r>
              <a:rPr lang="fr-FR" sz="3550" spc="60" dirty="0">
                <a:latin typeface="Arial"/>
                <a:cs typeface="Arial"/>
              </a:rPr>
              <a:t>fournisseur </a:t>
            </a:r>
            <a:r>
              <a:rPr lang="fr-FR" sz="3550" spc="95" dirty="0">
                <a:latin typeface="Arial"/>
                <a:cs typeface="Arial"/>
              </a:rPr>
              <a:t>cloud </a:t>
            </a:r>
            <a:r>
              <a:rPr lang="fr-FR" sz="3550" spc="30" dirty="0">
                <a:latin typeface="Arial"/>
                <a:cs typeface="Arial"/>
              </a:rPr>
              <a:t>offre </a:t>
            </a:r>
            <a:r>
              <a:rPr lang="fr-FR" sz="3550" spc="25" dirty="0">
                <a:latin typeface="Arial"/>
                <a:cs typeface="Arial"/>
              </a:rPr>
              <a:t>une </a:t>
            </a:r>
            <a:r>
              <a:rPr lang="fr-FR" sz="3550" spc="75" dirty="0">
                <a:latin typeface="Arial"/>
                <a:cs typeface="Arial"/>
              </a:rPr>
              <a:t>plateforme </a:t>
            </a:r>
            <a:r>
              <a:rPr lang="fr-FR" sz="3550" spc="40" dirty="0">
                <a:latin typeface="Arial"/>
                <a:cs typeface="Arial"/>
              </a:rPr>
              <a:t>aux </a:t>
            </a:r>
            <a:r>
              <a:rPr lang="fr-FR" sz="3550" spc="60" dirty="0">
                <a:latin typeface="Arial"/>
                <a:cs typeface="Arial"/>
              </a:rPr>
              <a:t>utilisateurs </a:t>
            </a:r>
            <a:r>
              <a:rPr lang="fr-FR" sz="3550" spc="20" dirty="0">
                <a:latin typeface="Arial"/>
                <a:cs typeface="Arial"/>
              </a:rPr>
              <a:t>via </a:t>
            </a:r>
            <a:r>
              <a:rPr lang="fr-FR" sz="3550" spc="55" dirty="0">
                <a:latin typeface="Arial"/>
                <a:cs typeface="Arial"/>
              </a:rPr>
              <a:t>Internet </a:t>
            </a:r>
            <a:r>
              <a:rPr lang="fr-FR" sz="3550" spc="80" dirty="0">
                <a:latin typeface="Arial"/>
                <a:cs typeface="Arial"/>
              </a:rPr>
              <a:t>pour  </a:t>
            </a:r>
            <a:r>
              <a:rPr lang="fr-FR" sz="3550" spc="20" dirty="0">
                <a:latin typeface="Arial"/>
                <a:cs typeface="Arial"/>
              </a:rPr>
              <a:t>développer, </a:t>
            </a:r>
            <a:r>
              <a:rPr lang="fr-FR" sz="3550" spc="55" dirty="0">
                <a:latin typeface="Arial"/>
                <a:cs typeface="Arial"/>
              </a:rPr>
              <a:t>exécuter </a:t>
            </a:r>
            <a:r>
              <a:rPr lang="fr-FR" sz="3550" spc="45" dirty="0">
                <a:latin typeface="Arial"/>
                <a:cs typeface="Arial"/>
              </a:rPr>
              <a:t>et </a:t>
            </a:r>
            <a:r>
              <a:rPr lang="fr-FR" sz="3550" spc="30" dirty="0">
                <a:latin typeface="Arial"/>
                <a:cs typeface="Arial"/>
              </a:rPr>
              <a:t>gérer sans </a:t>
            </a:r>
            <a:r>
              <a:rPr lang="fr-FR" sz="3550" spc="15" dirty="0">
                <a:latin typeface="Arial"/>
                <a:cs typeface="Arial"/>
              </a:rPr>
              <a:t>se </a:t>
            </a:r>
            <a:r>
              <a:rPr lang="fr-FR" sz="3550" spc="65" dirty="0">
                <a:latin typeface="Arial"/>
                <a:cs typeface="Arial"/>
              </a:rPr>
              <a:t>soucier </a:t>
            </a:r>
            <a:r>
              <a:rPr lang="fr-FR" sz="3550" spc="50" dirty="0">
                <a:latin typeface="Arial"/>
                <a:cs typeface="Arial"/>
              </a:rPr>
              <a:t>de </a:t>
            </a:r>
            <a:r>
              <a:rPr lang="fr-FR" sz="3550" spc="75" dirty="0">
                <a:latin typeface="Arial"/>
                <a:cs typeface="Arial"/>
              </a:rPr>
              <a:t>l’infrastructure</a:t>
            </a:r>
            <a:r>
              <a:rPr lang="fr-FR" sz="3550" spc="360" dirty="0">
                <a:latin typeface="Arial"/>
                <a:cs typeface="Arial"/>
              </a:rPr>
              <a:t> </a:t>
            </a:r>
            <a:r>
              <a:rPr lang="fr-FR" sz="3550" spc="35" dirty="0">
                <a:latin typeface="Arial"/>
                <a:cs typeface="Arial"/>
              </a:rPr>
              <a:t>requise.</a:t>
            </a:r>
            <a:endParaRPr lang="fr-FR" sz="3550" dirty="0">
              <a:latin typeface="Arial"/>
              <a:cs typeface="Arial"/>
            </a:endParaRPr>
          </a:p>
          <a:p>
            <a:pPr marL="945515" marR="5080" lvl="1" indent="-251460" algn="just">
              <a:lnSpc>
                <a:spcPct val="101000"/>
              </a:lnSpc>
              <a:spcBef>
                <a:spcPts val="5"/>
              </a:spcBef>
              <a:buSzPct val="50704"/>
              <a:buFont typeface="Arial"/>
              <a:buChar char="•"/>
              <a:tabLst>
                <a:tab pos="1069975" algn="l"/>
                <a:tab pos="1071245" algn="l"/>
              </a:tabLst>
            </a:pPr>
            <a:r>
              <a:rPr lang="fr-FR" sz="3550" spc="5" dirty="0">
                <a:latin typeface="Arial"/>
                <a:cs typeface="Arial"/>
              </a:rPr>
              <a:t>Des </a:t>
            </a:r>
            <a:r>
              <a:rPr lang="fr-FR" sz="3550" spc="35" dirty="0">
                <a:latin typeface="Arial"/>
                <a:cs typeface="Arial"/>
              </a:rPr>
              <a:t>langages </a:t>
            </a:r>
            <a:r>
              <a:rPr lang="fr-FR" sz="3550" spc="50" dirty="0">
                <a:latin typeface="Arial"/>
                <a:cs typeface="Arial"/>
              </a:rPr>
              <a:t>de </a:t>
            </a:r>
            <a:r>
              <a:rPr lang="fr-FR" sz="3550" spc="75" dirty="0">
                <a:latin typeface="Arial"/>
                <a:cs typeface="Arial"/>
              </a:rPr>
              <a:t>programmation, </a:t>
            </a:r>
            <a:r>
              <a:rPr lang="fr-FR" sz="3550" spc="45" dirty="0">
                <a:latin typeface="Arial"/>
                <a:cs typeface="Arial"/>
              </a:rPr>
              <a:t>librairies, </a:t>
            </a:r>
            <a:r>
              <a:rPr lang="fr-FR" sz="3550" spc="55" dirty="0">
                <a:latin typeface="Arial"/>
                <a:cs typeface="Arial"/>
              </a:rPr>
              <a:t>Interface </a:t>
            </a:r>
            <a:r>
              <a:rPr lang="fr-FR" sz="3550" spc="45" dirty="0">
                <a:latin typeface="Arial"/>
                <a:cs typeface="Arial"/>
              </a:rPr>
              <a:t>de </a:t>
            </a:r>
            <a:r>
              <a:rPr lang="fr-FR" sz="3550" spc="80" dirty="0">
                <a:latin typeface="Arial"/>
                <a:cs typeface="Arial"/>
              </a:rPr>
              <a:t>programmation  </a:t>
            </a:r>
            <a:r>
              <a:rPr lang="fr-FR" sz="3550" spc="100" dirty="0">
                <a:latin typeface="Arial"/>
                <a:cs typeface="Arial"/>
              </a:rPr>
              <a:t>d’application </a:t>
            </a:r>
            <a:r>
              <a:rPr lang="fr-FR" sz="3550" spc="-5" dirty="0">
                <a:latin typeface="Arial"/>
                <a:cs typeface="Arial"/>
              </a:rPr>
              <a:t>API, </a:t>
            </a:r>
            <a:r>
              <a:rPr lang="fr-FR" sz="3550" spc="50" dirty="0">
                <a:latin typeface="Arial"/>
                <a:cs typeface="Arial"/>
              </a:rPr>
              <a:t>services </a:t>
            </a:r>
            <a:r>
              <a:rPr lang="fr-FR" sz="3550" spc="45" dirty="0">
                <a:latin typeface="Arial"/>
                <a:cs typeface="Arial"/>
              </a:rPr>
              <a:t>et </a:t>
            </a:r>
            <a:r>
              <a:rPr lang="fr-FR" sz="3550" spc="75" dirty="0">
                <a:latin typeface="Arial"/>
                <a:cs typeface="Arial"/>
              </a:rPr>
              <a:t>outils sont fournis </a:t>
            </a:r>
            <a:r>
              <a:rPr lang="fr-FR" sz="3550" spc="80" dirty="0">
                <a:latin typeface="Arial"/>
                <a:cs typeface="Arial"/>
              </a:rPr>
              <a:t>pour </a:t>
            </a:r>
            <a:r>
              <a:rPr lang="fr-FR" sz="3550" spc="15" dirty="0">
                <a:latin typeface="Arial"/>
                <a:cs typeface="Arial"/>
              </a:rPr>
              <a:t>le </a:t>
            </a:r>
            <a:r>
              <a:rPr lang="fr-FR" sz="3550" spc="80" dirty="0">
                <a:latin typeface="Arial"/>
                <a:cs typeface="Arial"/>
              </a:rPr>
              <a:t>développement </a:t>
            </a:r>
            <a:r>
              <a:rPr lang="fr-FR" sz="3550" spc="45" dirty="0">
                <a:latin typeface="Arial"/>
                <a:cs typeface="Arial"/>
              </a:rPr>
              <a:t>et </a:t>
            </a:r>
            <a:r>
              <a:rPr lang="fr-FR" sz="3550" spc="15" dirty="0">
                <a:latin typeface="Arial"/>
                <a:cs typeface="Arial"/>
              </a:rPr>
              <a:t>le  </a:t>
            </a:r>
            <a:r>
              <a:rPr lang="fr-FR" sz="3550" spc="80" dirty="0">
                <a:latin typeface="Arial"/>
                <a:cs typeface="Arial"/>
              </a:rPr>
              <a:t>déploiement </a:t>
            </a:r>
            <a:r>
              <a:rPr lang="fr-FR" sz="3550" spc="55" dirty="0">
                <a:latin typeface="Arial"/>
                <a:cs typeface="Arial"/>
              </a:rPr>
              <a:t>des </a:t>
            </a:r>
            <a:r>
              <a:rPr lang="fr-FR" sz="3550" spc="85" dirty="0">
                <a:latin typeface="Arial"/>
                <a:cs typeface="Arial"/>
              </a:rPr>
              <a:t>applications</a:t>
            </a:r>
            <a:r>
              <a:rPr lang="fr-FR" sz="3550" spc="155" dirty="0">
                <a:latin typeface="Arial"/>
                <a:cs typeface="Arial"/>
              </a:rPr>
              <a:t> </a:t>
            </a:r>
            <a:r>
              <a:rPr lang="fr-FR" sz="3550" spc="50" dirty="0">
                <a:latin typeface="Arial"/>
                <a:cs typeface="Arial"/>
              </a:rPr>
              <a:t>utilisateurs.</a:t>
            </a:r>
            <a:endParaRPr lang="fr-FR" sz="3550" dirty="0">
              <a:latin typeface="Arial"/>
              <a:cs typeface="Arial"/>
            </a:endParaRPr>
          </a:p>
          <a:p>
            <a:pPr algn="just"/>
            <a:endParaRPr lang="fr-FR" dirty="0"/>
          </a:p>
        </p:txBody>
      </p:sp>
      <p:sp>
        <p:nvSpPr>
          <p:cNvPr id="4" name="Espace réservé du pied de page 3">
            <a:extLst>
              <a:ext uri="{FF2B5EF4-FFF2-40B4-BE49-F238E27FC236}">
                <a16:creationId xmlns:a16="http://schemas.microsoft.com/office/drawing/2014/main" id="{CAFA867E-E3DC-1CB7-722D-1E29ED6FB80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41A53AA-1FCF-1191-66A1-592C4A23DB6F}"/>
              </a:ext>
            </a:extLst>
          </p:cNvPr>
          <p:cNvSpPr>
            <a:spLocks noGrp="1"/>
          </p:cNvSpPr>
          <p:nvPr>
            <p:ph type="sldNum" sz="quarter" idx="12"/>
          </p:nvPr>
        </p:nvSpPr>
        <p:spPr/>
        <p:txBody>
          <a:bodyPr/>
          <a:lstStyle/>
          <a:p>
            <a:fld id="{B82CCC60-E8CD-4174-8B1A-7DF615B22EEF}" type="slidenum">
              <a:rPr lang="en-US" smtClean="0"/>
              <a:pPr/>
              <a:t>15</a:t>
            </a:fld>
            <a:endParaRPr lang="en-US"/>
          </a:p>
        </p:txBody>
      </p:sp>
      <p:pic>
        <p:nvPicPr>
          <p:cNvPr id="6" name="Image 5">
            <a:extLst>
              <a:ext uri="{FF2B5EF4-FFF2-40B4-BE49-F238E27FC236}">
                <a16:creationId xmlns:a16="http://schemas.microsoft.com/office/drawing/2014/main" id="{10E2F480-16AE-01B1-E12A-AD271C6DEBF5}"/>
              </a:ext>
            </a:extLst>
          </p:cNvPr>
          <p:cNvPicPr>
            <a:picLocks noChangeAspect="1"/>
          </p:cNvPicPr>
          <p:nvPr/>
        </p:nvPicPr>
        <p:blipFill>
          <a:blip r:embed="rId2"/>
          <a:stretch>
            <a:fillRect/>
          </a:stretch>
        </p:blipFill>
        <p:spPr>
          <a:xfrm>
            <a:off x="601670" y="3410864"/>
            <a:ext cx="7778805" cy="1679755"/>
          </a:xfrm>
          <a:prstGeom prst="rect">
            <a:avLst/>
          </a:prstGeom>
        </p:spPr>
      </p:pic>
    </p:spTree>
    <p:extLst>
      <p:ext uri="{BB962C8B-B14F-4D97-AF65-F5344CB8AC3E}">
        <p14:creationId xmlns:p14="http://schemas.microsoft.com/office/powerpoint/2010/main" val="2593058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5B6A83-0498-7454-DEBB-E00F14D808BE}"/>
              </a:ext>
            </a:extLst>
          </p:cNvPr>
          <p:cNvSpPr>
            <a:spLocks noGrp="1"/>
          </p:cNvSpPr>
          <p:nvPr>
            <p:ph type="title"/>
          </p:nvPr>
        </p:nvSpPr>
        <p:spPr/>
        <p:txBody>
          <a:bodyPr>
            <a:normAutofit fontScale="90000"/>
          </a:bodyPr>
          <a:lstStyle/>
          <a:p>
            <a:r>
              <a:rPr lang="fr-FR" sz="3600" spc="20" dirty="0">
                <a:latin typeface="Arial Black"/>
                <a:cs typeface="Arial Black"/>
              </a:rPr>
              <a:t>Infrastructure </a:t>
            </a:r>
            <a:r>
              <a:rPr lang="fr-FR" sz="3600" dirty="0">
                <a:latin typeface="Arial Black"/>
                <a:cs typeface="Arial Black"/>
              </a:rPr>
              <a:t>as a </a:t>
            </a:r>
            <a:r>
              <a:rPr lang="fr-FR" sz="3600" spc="40" dirty="0">
                <a:latin typeface="Arial Black"/>
                <a:cs typeface="Arial Black"/>
              </a:rPr>
              <a:t>Service</a:t>
            </a:r>
            <a:r>
              <a:rPr lang="fr-FR" sz="3600" spc="-70" dirty="0">
                <a:latin typeface="Arial Black"/>
                <a:cs typeface="Arial Black"/>
              </a:rPr>
              <a:t> </a:t>
            </a:r>
            <a:r>
              <a:rPr lang="fr-FR" sz="3600" spc="-10" dirty="0">
                <a:latin typeface="Arial Black"/>
                <a:cs typeface="Arial Black"/>
              </a:rPr>
              <a:t>(IaaS)</a:t>
            </a:r>
            <a:endParaRPr lang="fr-FR" dirty="0"/>
          </a:p>
        </p:txBody>
      </p:sp>
      <p:sp>
        <p:nvSpPr>
          <p:cNvPr id="3" name="Espace réservé du contenu 2">
            <a:extLst>
              <a:ext uri="{FF2B5EF4-FFF2-40B4-BE49-F238E27FC236}">
                <a16:creationId xmlns:a16="http://schemas.microsoft.com/office/drawing/2014/main" id="{A14132E7-445D-444A-F273-F061832ECA6F}"/>
              </a:ext>
            </a:extLst>
          </p:cNvPr>
          <p:cNvSpPr>
            <a:spLocks noGrp="1"/>
          </p:cNvSpPr>
          <p:nvPr>
            <p:ph idx="1"/>
          </p:nvPr>
        </p:nvSpPr>
        <p:spPr>
          <a:xfrm>
            <a:off x="448966" y="1960930"/>
            <a:ext cx="8246070" cy="1374346"/>
          </a:xfrm>
        </p:spPr>
        <p:txBody>
          <a:bodyPr>
            <a:normAutofit fontScale="32500" lnSpcReduction="20000"/>
          </a:bodyPr>
          <a:lstStyle/>
          <a:p>
            <a:pPr marL="449263" marR="624840" lvl="1" indent="-269875" algn="just">
              <a:lnSpc>
                <a:spcPct val="120000"/>
              </a:lnSpc>
              <a:spcBef>
                <a:spcPts val="65"/>
              </a:spcBef>
              <a:buClr>
                <a:srgbClr val="0070C0"/>
              </a:buClr>
              <a:buSzPct val="50704"/>
              <a:buFont typeface="Arial" panose="020B0604020202020204" pitchFamily="34" charset="0"/>
              <a:buChar char="•"/>
              <a:tabLst>
                <a:tab pos="900113" algn="l"/>
              </a:tabLst>
            </a:pPr>
            <a:r>
              <a:rPr lang="fr-FR" sz="3550" spc="25" dirty="0">
                <a:latin typeface="Arial"/>
                <a:cs typeface="Arial"/>
              </a:rPr>
              <a:t>Les </a:t>
            </a:r>
            <a:r>
              <a:rPr lang="fr-FR" sz="3550" spc="50" dirty="0">
                <a:latin typeface="Arial"/>
                <a:cs typeface="Arial"/>
              </a:rPr>
              <a:t>services </a:t>
            </a:r>
            <a:r>
              <a:rPr lang="fr-FR" sz="3550" spc="85" dirty="0">
                <a:latin typeface="Arial"/>
                <a:cs typeface="Arial"/>
              </a:rPr>
              <a:t>d’infrastructure </a:t>
            </a:r>
            <a:r>
              <a:rPr lang="fr-FR" sz="3550" spc="55" dirty="0">
                <a:latin typeface="Arial"/>
                <a:cs typeface="Arial"/>
              </a:rPr>
              <a:t>tels </a:t>
            </a:r>
            <a:r>
              <a:rPr lang="fr-FR" sz="3550" spc="50" dirty="0">
                <a:latin typeface="Arial"/>
                <a:cs typeface="Arial"/>
              </a:rPr>
              <a:t>que </a:t>
            </a:r>
            <a:r>
              <a:rPr lang="fr-FR" sz="3550" spc="-30" dirty="0">
                <a:latin typeface="Arial"/>
                <a:cs typeface="Arial"/>
              </a:rPr>
              <a:t>serveur, </a:t>
            </a:r>
            <a:r>
              <a:rPr lang="fr-FR" sz="3550" spc="80" dirty="0">
                <a:latin typeface="Arial"/>
                <a:cs typeface="Arial"/>
              </a:rPr>
              <a:t>stockage </a:t>
            </a:r>
            <a:r>
              <a:rPr lang="fr-FR" sz="3550" spc="45" dirty="0">
                <a:latin typeface="Arial"/>
                <a:cs typeface="Arial"/>
              </a:rPr>
              <a:t>et </a:t>
            </a:r>
            <a:r>
              <a:rPr lang="fr-FR" sz="3550" spc="5" dirty="0">
                <a:latin typeface="Arial"/>
                <a:cs typeface="Arial"/>
              </a:rPr>
              <a:t>réseau </a:t>
            </a:r>
            <a:r>
              <a:rPr lang="fr-FR" sz="3550" spc="70" dirty="0">
                <a:latin typeface="Arial"/>
                <a:cs typeface="Arial"/>
              </a:rPr>
              <a:t>sont  </a:t>
            </a:r>
            <a:r>
              <a:rPr lang="fr-FR" sz="3550" spc="50" dirty="0">
                <a:latin typeface="Arial"/>
                <a:cs typeface="Arial"/>
              </a:rPr>
              <a:t>virtualisés et </a:t>
            </a:r>
            <a:r>
              <a:rPr lang="fr-FR" sz="3550" spc="70" dirty="0">
                <a:latin typeface="Arial"/>
                <a:cs typeface="Arial"/>
              </a:rPr>
              <a:t>fournis </a:t>
            </a:r>
            <a:r>
              <a:rPr lang="fr-FR" sz="3550" spc="20" dirty="0">
                <a:latin typeface="Arial"/>
                <a:cs typeface="Arial"/>
              </a:rPr>
              <a:t>via </a:t>
            </a:r>
            <a:r>
              <a:rPr lang="fr-FR" sz="3550" spc="60" dirty="0">
                <a:latin typeface="Arial"/>
                <a:cs typeface="Arial"/>
              </a:rPr>
              <a:t>Internet </a:t>
            </a:r>
            <a:r>
              <a:rPr lang="fr-FR" sz="3550" spc="80" dirty="0">
                <a:latin typeface="Arial"/>
                <a:cs typeface="Arial"/>
              </a:rPr>
              <a:t>pour </a:t>
            </a:r>
            <a:r>
              <a:rPr lang="fr-FR" sz="3550" spc="10" dirty="0">
                <a:latin typeface="Arial"/>
                <a:cs typeface="Arial"/>
              </a:rPr>
              <a:t>le </a:t>
            </a:r>
            <a:r>
              <a:rPr lang="fr-FR" sz="3550" spc="75" dirty="0">
                <a:latin typeface="Arial"/>
                <a:cs typeface="Arial"/>
              </a:rPr>
              <a:t>déploiement </a:t>
            </a:r>
            <a:r>
              <a:rPr lang="fr-FR" sz="3550" spc="50" dirty="0">
                <a:latin typeface="Arial"/>
                <a:cs typeface="Arial"/>
              </a:rPr>
              <a:t>des </a:t>
            </a:r>
            <a:r>
              <a:rPr lang="fr-FR" sz="3550" spc="75" dirty="0">
                <a:latin typeface="Arial"/>
                <a:cs typeface="Arial"/>
              </a:rPr>
              <a:t>applications,  </a:t>
            </a:r>
            <a:r>
              <a:rPr lang="fr-FR" sz="3550" spc="55" dirty="0">
                <a:latin typeface="Arial"/>
                <a:cs typeface="Arial"/>
              </a:rPr>
              <a:t>des systèmes </a:t>
            </a:r>
            <a:r>
              <a:rPr lang="fr-FR" sz="3550" spc="85" dirty="0">
                <a:latin typeface="Arial"/>
                <a:cs typeface="Arial"/>
              </a:rPr>
              <a:t>d’exploitations,</a:t>
            </a:r>
            <a:r>
              <a:rPr lang="fr-FR" sz="3550" spc="180" dirty="0">
                <a:latin typeface="Arial"/>
                <a:cs typeface="Arial"/>
              </a:rPr>
              <a:t> </a:t>
            </a:r>
            <a:r>
              <a:rPr lang="fr-FR" sz="3550" spc="70" dirty="0">
                <a:latin typeface="Arial"/>
                <a:cs typeface="Arial"/>
              </a:rPr>
              <a:t>etc.</a:t>
            </a:r>
            <a:endParaRPr lang="fr-FR" sz="3550" dirty="0">
              <a:latin typeface="Arial"/>
              <a:cs typeface="Arial"/>
            </a:endParaRPr>
          </a:p>
          <a:p>
            <a:pPr marL="449263" marR="643255" lvl="1" indent="-269875" algn="just">
              <a:lnSpc>
                <a:spcPct val="120000"/>
              </a:lnSpc>
              <a:spcBef>
                <a:spcPts val="140"/>
              </a:spcBef>
              <a:buClr>
                <a:srgbClr val="0070C0"/>
              </a:buClr>
              <a:buSzPct val="50704"/>
              <a:buFont typeface="Arial" panose="020B0604020202020204" pitchFamily="34" charset="0"/>
              <a:buChar char="•"/>
              <a:tabLst>
                <a:tab pos="900113" algn="l"/>
              </a:tabLst>
            </a:pPr>
            <a:r>
              <a:rPr lang="fr-FR" sz="3550" spc="30" dirty="0">
                <a:latin typeface="Arial"/>
                <a:cs typeface="Arial"/>
              </a:rPr>
              <a:t>L’utilisateur </a:t>
            </a:r>
            <a:r>
              <a:rPr lang="fr-FR" sz="3550" spc="70" dirty="0">
                <a:latin typeface="Arial"/>
                <a:cs typeface="Arial"/>
              </a:rPr>
              <a:t>possède </a:t>
            </a:r>
            <a:r>
              <a:rPr lang="fr-FR" sz="3550" spc="30" dirty="0">
                <a:latin typeface="Arial"/>
                <a:cs typeface="Arial"/>
              </a:rPr>
              <a:t>un </a:t>
            </a:r>
            <a:r>
              <a:rPr lang="fr-FR" sz="3550" spc="75" dirty="0">
                <a:latin typeface="Arial"/>
                <a:cs typeface="Arial"/>
              </a:rPr>
              <a:t>contrôle </a:t>
            </a:r>
            <a:r>
              <a:rPr lang="fr-FR" sz="3550" spc="80" dirty="0">
                <a:latin typeface="Arial"/>
                <a:cs typeface="Arial"/>
              </a:rPr>
              <a:t>significatif pour </a:t>
            </a:r>
            <a:r>
              <a:rPr lang="fr-FR" sz="3550" spc="25" dirty="0">
                <a:latin typeface="Arial"/>
                <a:cs typeface="Arial"/>
              </a:rPr>
              <a:t>gérer </a:t>
            </a:r>
            <a:r>
              <a:rPr lang="fr-FR" sz="3550" spc="75" dirty="0">
                <a:latin typeface="Arial"/>
                <a:cs typeface="Arial"/>
              </a:rPr>
              <a:t>l’infrastructure  sous-jacente</a:t>
            </a:r>
            <a:endParaRPr lang="fr-FR" sz="3550" dirty="0">
              <a:latin typeface="Arial"/>
              <a:cs typeface="Arial"/>
            </a:endParaRPr>
          </a:p>
          <a:p>
            <a:pPr marL="449263" lvl="1" indent="-269875" algn="just">
              <a:lnSpc>
                <a:spcPct val="120000"/>
              </a:lnSpc>
              <a:buClr>
                <a:srgbClr val="0070C0"/>
              </a:buClr>
              <a:buSzPct val="50704"/>
              <a:buFont typeface="Arial" panose="020B0604020202020204" pitchFamily="34" charset="0"/>
              <a:buChar char="•"/>
              <a:tabLst>
                <a:tab pos="900113" algn="l"/>
              </a:tabLst>
            </a:pPr>
            <a:r>
              <a:rPr lang="fr-FR" sz="3550" spc="45" dirty="0">
                <a:latin typeface="Arial"/>
                <a:cs typeface="Arial"/>
              </a:rPr>
              <a:t>Permet </a:t>
            </a:r>
            <a:r>
              <a:rPr lang="fr-FR" sz="3550" dirty="0">
                <a:latin typeface="Arial"/>
                <a:cs typeface="Arial"/>
              </a:rPr>
              <a:t>à </a:t>
            </a:r>
            <a:r>
              <a:rPr lang="fr-FR" sz="3550" spc="25" dirty="0">
                <a:latin typeface="Arial"/>
                <a:cs typeface="Arial"/>
              </a:rPr>
              <a:t>une </a:t>
            </a:r>
            <a:r>
              <a:rPr lang="fr-FR" sz="3550" spc="50" dirty="0">
                <a:latin typeface="Arial"/>
                <a:cs typeface="Arial"/>
              </a:rPr>
              <a:t>entreprise de </a:t>
            </a:r>
            <a:r>
              <a:rPr lang="fr-FR" sz="3550" spc="10" dirty="0">
                <a:latin typeface="Arial"/>
                <a:cs typeface="Arial"/>
              </a:rPr>
              <a:t>ne </a:t>
            </a:r>
            <a:r>
              <a:rPr lang="fr-FR" sz="3550" spc="55" dirty="0">
                <a:latin typeface="Arial"/>
                <a:cs typeface="Arial"/>
              </a:rPr>
              <a:t>pas </a:t>
            </a:r>
            <a:r>
              <a:rPr lang="fr-FR" sz="3550" spc="15" dirty="0">
                <a:latin typeface="Arial"/>
                <a:cs typeface="Arial"/>
              </a:rPr>
              <a:t>se </a:t>
            </a:r>
            <a:r>
              <a:rPr lang="fr-FR" sz="3550" spc="65" dirty="0">
                <a:latin typeface="Arial"/>
                <a:cs typeface="Arial"/>
              </a:rPr>
              <a:t>soucier </a:t>
            </a:r>
            <a:r>
              <a:rPr lang="fr-FR" sz="3550" spc="55" dirty="0">
                <a:latin typeface="Arial"/>
                <a:cs typeface="Arial"/>
              </a:rPr>
              <a:t>des </a:t>
            </a:r>
            <a:r>
              <a:rPr lang="fr-FR" sz="3550" spc="50" dirty="0">
                <a:latin typeface="Arial"/>
                <a:cs typeface="Arial"/>
              </a:rPr>
              <a:t>éléments</a:t>
            </a:r>
            <a:r>
              <a:rPr lang="fr-FR" sz="3550" spc="285" dirty="0">
                <a:latin typeface="Arial"/>
                <a:cs typeface="Arial"/>
              </a:rPr>
              <a:t> </a:t>
            </a:r>
            <a:r>
              <a:rPr lang="fr-FR" sz="3550" spc="70" dirty="0">
                <a:latin typeface="Arial"/>
                <a:cs typeface="Arial"/>
              </a:rPr>
              <a:t>infrastructure</a:t>
            </a:r>
            <a:r>
              <a:rPr lang="fr-FR" sz="3550" dirty="0">
                <a:latin typeface="Arial"/>
                <a:cs typeface="Arial"/>
              </a:rPr>
              <a:t> </a:t>
            </a:r>
            <a:r>
              <a:rPr lang="fr-FR" sz="3550" spc="55" dirty="0">
                <a:latin typeface="Arial"/>
                <a:cs typeface="Arial"/>
              </a:rPr>
              <a:t>suivants </a:t>
            </a:r>
            <a:r>
              <a:rPr lang="fr-FR" sz="3550" dirty="0">
                <a:latin typeface="Arial"/>
                <a:cs typeface="Arial"/>
              </a:rPr>
              <a:t>: </a:t>
            </a:r>
            <a:r>
              <a:rPr lang="fr-FR" sz="3550" spc="65" dirty="0">
                <a:latin typeface="Arial"/>
                <a:cs typeface="Arial"/>
              </a:rPr>
              <a:t>data </a:t>
            </a:r>
            <a:r>
              <a:rPr lang="fr-FR" sz="3550" spc="-10" dirty="0">
                <a:latin typeface="Arial"/>
                <a:cs typeface="Arial"/>
              </a:rPr>
              <a:t>center, </a:t>
            </a:r>
            <a:r>
              <a:rPr lang="fr-FR" sz="3550" spc="35" dirty="0">
                <a:latin typeface="Arial"/>
                <a:cs typeface="Arial"/>
              </a:rPr>
              <a:t>hardware, liens </a:t>
            </a:r>
            <a:r>
              <a:rPr lang="fr-FR" sz="3550" spc="70" dirty="0" err="1">
                <a:latin typeface="Arial"/>
                <a:cs typeface="Arial"/>
              </a:rPr>
              <a:t>telecom</a:t>
            </a:r>
            <a:r>
              <a:rPr lang="fr-FR" sz="3550" spc="70" dirty="0">
                <a:latin typeface="Arial"/>
                <a:cs typeface="Arial"/>
              </a:rPr>
              <a:t>,</a:t>
            </a:r>
            <a:r>
              <a:rPr lang="fr-FR" sz="3550" spc="155" dirty="0">
                <a:latin typeface="Arial"/>
                <a:cs typeface="Arial"/>
              </a:rPr>
              <a:t> </a:t>
            </a:r>
            <a:r>
              <a:rPr lang="fr-FR" sz="3550" spc="65" dirty="0">
                <a:latin typeface="Arial"/>
                <a:cs typeface="Arial"/>
              </a:rPr>
              <a:t>etc.</a:t>
            </a:r>
            <a:endParaRPr lang="fr-FR" sz="3550" dirty="0">
              <a:latin typeface="Arial"/>
              <a:cs typeface="Arial"/>
            </a:endParaRPr>
          </a:p>
          <a:p>
            <a:pPr marL="449263" marR="206375" lvl="1" indent="-269875" algn="just">
              <a:lnSpc>
                <a:spcPct val="120000"/>
              </a:lnSpc>
              <a:spcBef>
                <a:spcPts val="140"/>
              </a:spcBef>
              <a:buClr>
                <a:srgbClr val="0070C0"/>
              </a:buClr>
              <a:buSzPct val="50704"/>
              <a:buFont typeface="Arial" panose="020B0604020202020204" pitchFamily="34" charset="0"/>
              <a:buChar char="•"/>
              <a:tabLst>
                <a:tab pos="900113" algn="l"/>
              </a:tabLst>
            </a:pPr>
            <a:r>
              <a:rPr lang="fr-FR" sz="3550" spc="10" dirty="0">
                <a:latin typeface="Arial"/>
                <a:cs typeface="Arial"/>
              </a:rPr>
              <a:t>Le </a:t>
            </a:r>
            <a:r>
              <a:rPr lang="fr-FR" sz="3550" spc="65" dirty="0">
                <a:latin typeface="Arial"/>
                <a:cs typeface="Arial"/>
              </a:rPr>
              <a:t>modèle </a:t>
            </a:r>
            <a:r>
              <a:rPr lang="fr-FR" sz="3550" spc="-20" dirty="0">
                <a:latin typeface="Arial"/>
                <a:cs typeface="Arial"/>
              </a:rPr>
              <a:t>IaaS </a:t>
            </a:r>
            <a:r>
              <a:rPr lang="fr-FR" sz="3550" spc="80" dirty="0">
                <a:latin typeface="Arial"/>
                <a:cs typeface="Arial"/>
              </a:rPr>
              <a:t>permet </a:t>
            </a:r>
            <a:r>
              <a:rPr lang="fr-FR" sz="3550" dirty="0">
                <a:latin typeface="Arial"/>
                <a:cs typeface="Arial"/>
              </a:rPr>
              <a:t>à </a:t>
            </a:r>
            <a:r>
              <a:rPr lang="fr-FR" sz="3550" spc="25" dirty="0">
                <a:latin typeface="Arial"/>
                <a:cs typeface="Arial"/>
              </a:rPr>
              <a:t>une</a:t>
            </a:r>
            <a:r>
              <a:rPr lang="fr-FR" sz="3550" spc="150" dirty="0">
                <a:latin typeface="Arial"/>
                <a:cs typeface="Arial"/>
              </a:rPr>
              <a:t> </a:t>
            </a:r>
            <a:r>
              <a:rPr lang="fr-FR" sz="3550" spc="85" dirty="0">
                <a:latin typeface="Arial"/>
                <a:cs typeface="Arial"/>
              </a:rPr>
              <a:t>petite</a:t>
            </a:r>
            <a:r>
              <a:rPr lang="fr-FR" sz="3550" spc="114" dirty="0">
                <a:latin typeface="Arial"/>
                <a:cs typeface="Arial"/>
              </a:rPr>
              <a:t> </a:t>
            </a:r>
            <a:r>
              <a:rPr lang="fr-FR" sz="3550" spc="50" dirty="0">
                <a:latin typeface="Arial"/>
                <a:cs typeface="Arial"/>
              </a:rPr>
              <a:t>entreprise </a:t>
            </a:r>
            <a:r>
              <a:rPr lang="fr-FR" sz="3550" spc="80" dirty="0">
                <a:latin typeface="Arial"/>
                <a:cs typeface="Arial"/>
              </a:rPr>
              <a:t>d’offrir </a:t>
            </a:r>
            <a:r>
              <a:rPr lang="fr-FR" sz="3550" spc="25" dirty="0">
                <a:latin typeface="Arial"/>
                <a:cs typeface="Arial"/>
              </a:rPr>
              <a:t>une </a:t>
            </a:r>
            <a:r>
              <a:rPr lang="fr-FR" sz="3550" spc="70" dirty="0">
                <a:latin typeface="Arial"/>
                <a:cs typeface="Arial"/>
              </a:rPr>
              <a:t>infrastructure  </a:t>
            </a:r>
            <a:r>
              <a:rPr lang="fr-FR" sz="3550" spc="75" dirty="0">
                <a:latin typeface="Arial"/>
                <a:cs typeface="Arial"/>
              </a:rPr>
              <a:t>robuste </a:t>
            </a:r>
            <a:r>
              <a:rPr lang="fr-FR" sz="3550" spc="80" dirty="0">
                <a:latin typeface="Arial"/>
                <a:cs typeface="Arial"/>
              </a:rPr>
              <a:t>pour </a:t>
            </a:r>
            <a:r>
              <a:rPr lang="fr-FR" sz="3550" spc="20" dirty="0">
                <a:latin typeface="Arial"/>
                <a:cs typeface="Arial"/>
              </a:rPr>
              <a:t>ses</a:t>
            </a:r>
            <a:r>
              <a:rPr lang="fr-FR" sz="3550" spc="40" dirty="0">
                <a:latin typeface="Arial"/>
                <a:cs typeface="Arial"/>
              </a:rPr>
              <a:t> </a:t>
            </a:r>
            <a:r>
              <a:rPr lang="fr-FR" sz="3550" spc="65" dirty="0">
                <a:latin typeface="Arial"/>
                <a:cs typeface="Arial"/>
              </a:rPr>
              <a:t>clients.</a:t>
            </a:r>
            <a:endParaRPr lang="fr-FR" sz="3550" dirty="0">
              <a:latin typeface="Arial"/>
              <a:cs typeface="Arial"/>
            </a:endParaRPr>
          </a:p>
          <a:p>
            <a:endParaRPr lang="fr-FR" dirty="0"/>
          </a:p>
        </p:txBody>
      </p:sp>
      <p:sp>
        <p:nvSpPr>
          <p:cNvPr id="4" name="Espace réservé du pied de page 3">
            <a:extLst>
              <a:ext uri="{FF2B5EF4-FFF2-40B4-BE49-F238E27FC236}">
                <a16:creationId xmlns:a16="http://schemas.microsoft.com/office/drawing/2014/main" id="{A1315CDC-6A71-BF8B-D339-DD2E1597E915}"/>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3707ECA3-E340-D455-9250-803E9089E1AE}"/>
              </a:ext>
            </a:extLst>
          </p:cNvPr>
          <p:cNvSpPr>
            <a:spLocks noGrp="1"/>
          </p:cNvSpPr>
          <p:nvPr>
            <p:ph type="sldNum" sz="quarter" idx="12"/>
          </p:nvPr>
        </p:nvSpPr>
        <p:spPr/>
        <p:txBody>
          <a:bodyPr/>
          <a:lstStyle/>
          <a:p>
            <a:fld id="{B82CCC60-E8CD-4174-8B1A-7DF615B22EEF}" type="slidenum">
              <a:rPr lang="en-US" smtClean="0"/>
              <a:pPr/>
              <a:t>16</a:t>
            </a:fld>
            <a:endParaRPr lang="en-US"/>
          </a:p>
        </p:txBody>
      </p:sp>
      <p:pic>
        <p:nvPicPr>
          <p:cNvPr id="6" name="Image 5">
            <a:extLst>
              <a:ext uri="{FF2B5EF4-FFF2-40B4-BE49-F238E27FC236}">
                <a16:creationId xmlns:a16="http://schemas.microsoft.com/office/drawing/2014/main" id="{477CBEA1-CB70-D5B5-57F8-924C0C2243FB}"/>
              </a:ext>
            </a:extLst>
          </p:cNvPr>
          <p:cNvPicPr>
            <a:picLocks noChangeAspect="1"/>
          </p:cNvPicPr>
          <p:nvPr/>
        </p:nvPicPr>
        <p:blipFill>
          <a:blip r:embed="rId2"/>
          <a:stretch>
            <a:fillRect/>
          </a:stretch>
        </p:blipFill>
        <p:spPr>
          <a:xfrm>
            <a:off x="601670" y="3208134"/>
            <a:ext cx="8085130" cy="1559129"/>
          </a:xfrm>
          <a:prstGeom prst="rect">
            <a:avLst/>
          </a:prstGeom>
        </p:spPr>
      </p:pic>
    </p:spTree>
    <p:extLst>
      <p:ext uri="{BB962C8B-B14F-4D97-AF65-F5344CB8AC3E}">
        <p14:creationId xmlns:p14="http://schemas.microsoft.com/office/powerpoint/2010/main" val="1741055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B1A58823-AB9B-3776-08BD-084A53E69A43}"/>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319F536-1B18-1420-BEA3-8239D6CFBC78}"/>
              </a:ext>
            </a:extLst>
          </p:cNvPr>
          <p:cNvSpPr>
            <a:spLocks noGrp="1"/>
          </p:cNvSpPr>
          <p:nvPr>
            <p:ph type="sldNum" sz="quarter" idx="12"/>
          </p:nvPr>
        </p:nvSpPr>
        <p:spPr/>
        <p:txBody>
          <a:bodyPr/>
          <a:lstStyle/>
          <a:p>
            <a:fld id="{B82CCC60-E8CD-4174-8B1A-7DF615B22EEF}" type="slidenum">
              <a:rPr lang="en-US" smtClean="0"/>
              <a:pPr/>
              <a:t>17</a:t>
            </a:fld>
            <a:endParaRPr lang="en-US"/>
          </a:p>
        </p:txBody>
      </p:sp>
      <p:pic>
        <p:nvPicPr>
          <p:cNvPr id="3" name="Image 2">
            <a:extLst>
              <a:ext uri="{FF2B5EF4-FFF2-40B4-BE49-F238E27FC236}">
                <a16:creationId xmlns:a16="http://schemas.microsoft.com/office/drawing/2014/main" id="{1999118A-1219-277A-3444-300D897E9CA6}"/>
              </a:ext>
            </a:extLst>
          </p:cNvPr>
          <p:cNvPicPr>
            <a:picLocks noChangeAspect="1"/>
          </p:cNvPicPr>
          <p:nvPr/>
        </p:nvPicPr>
        <p:blipFill>
          <a:blip r:embed="rId2"/>
          <a:stretch>
            <a:fillRect/>
          </a:stretch>
        </p:blipFill>
        <p:spPr>
          <a:xfrm>
            <a:off x="1076513" y="1412225"/>
            <a:ext cx="6543487" cy="3423330"/>
          </a:xfrm>
          <a:prstGeom prst="rect">
            <a:avLst/>
          </a:prstGeom>
        </p:spPr>
      </p:pic>
    </p:spTree>
    <p:extLst>
      <p:ext uri="{BB962C8B-B14F-4D97-AF65-F5344CB8AC3E}">
        <p14:creationId xmlns:p14="http://schemas.microsoft.com/office/powerpoint/2010/main" val="323354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C03495-F1FD-9D41-D44F-62E98B9B1D21}"/>
              </a:ext>
            </a:extLst>
          </p:cNvPr>
          <p:cNvSpPr>
            <a:spLocks noGrp="1"/>
          </p:cNvSpPr>
          <p:nvPr>
            <p:ph type="title"/>
          </p:nvPr>
        </p:nvSpPr>
        <p:spPr/>
        <p:txBody>
          <a:bodyPr>
            <a:normAutofit fontScale="90000"/>
          </a:bodyPr>
          <a:lstStyle/>
          <a:p>
            <a:r>
              <a:rPr lang="fr-FR" spc="5" dirty="0"/>
              <a:t>Les </a:t>
            </a:r>
            <a:r>
              <a:rPr lang="fr-FR" spc="10" dirty="0"/>
              <a:t>modèles </a:t>
            </a:r>
            <a:r>
              <a:rPr lang="fr-FR" dirty="0"/>
              <a:t>de déploiement Cloud</a:t>
            </a:r>
          </a:p>
        </p:txBody>
      </p:sp>
      <p:sp>
        <p:nvSpPr>
          <p:cNvPr id="4" name="Espace réservé du pied de page 3">
            <a:extLst>
              <a:ext uri="{FF2B5EF4-FFF2-40B4-BE49-F238E27FC236}">
                <a16:creationId xmlns:a16="http://schemas.microsoft.com/office/drawing/2014/main" id="{E1734E50-D784-1CB2-5B5B-235FFBD744F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D322B62-B09A-2248-835F-121657C1C6DB}"/>
              </a:ext>
            </a:extLst>
          </p:cNvPr>
          <p:cNvSpPr>
            <a:spLocks noGrp="1"/>
          </p:cNvSpPr>
          <p:nvPr>
            <p:ph type="sldNum" sz="quarter" idx="12"/>
          </p:nvPr>
        </p:nvSpPr>
        <p:spPr/>
        <p:txBody>
          <a:bodyPr/>
          <a:lstStyle/>
          <a:p>
            <a:fld id="{B82CCC60-E8CD-4174-8B1A-7DF615B22EEF}" type="slidenum">
              <a:rPr lang="en-US" smtClean="0"/>
              <a:pPr/>
              <a:t>18</a:t>
            </a:fld>
            <a:endParaRPr lang="en-US"/>
          </a:p>
        </p:txBody>
      </p:sp>
      <p:pic>
        <p:nvPicPr>
          <p:cNvPr id="7" name="Image 6">
            <a:extLst>
              <a:ext uri="{FF2B5EF4-FFF2-40B4-BE49-F238E27FC236}">
                <a16:creationId xmlns:a16="http://schemas.microsoft.com/office/drawing/2014/main" id="{6097CA5F-32FD-A1E2-7BC0-FD05A838F50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670605" y="1960929"/>
            <a:ext cx="5585944" cy="2806333"/>
          </a:xfrm>
          <a:prstGeom prst="rect">
            <a:avLst/>
          </a:prstGeom>
        </p:spPr>
      </p:pic>
    </p:spTree>
    <p:extLst>
      <p:ext uri="{BB962C8B-B14F-4D97-AF65-F5344CB8AC3E}">
        <p14:creationId xmlns:p14="http://schemas.microsoft.com/office/powerpoint/2010/main" val="4178520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9EF5184-8ACD-B3DA-07B5-6612A9BB2B7A}"/>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EDE180A4-3732-A5C4-BBC2-D637E8E8F296}"/>
              </a:ext>
            </a:extLst>
          </p:cNvPr>
          <p:cNvSpPr>
            <a:spLocks noGrp="1"/>
          </p:cNvSpPr>
          <p:nvPr>
            <p:ph idx="1"/>
          </p:nvPr>
        </p:nvSpPr>
        <p:spPr>
          <a:xfrm>
            <a:off x="448966" y="1960930"/>
            <a:ext cx="8398774" cy="2748684"/>
          </a:xfrm>
        </p:spPr>
        <p:txBody>
          <a:bodyPr>
            <a:normAutofit fontScale="55000" lnSpcReduction="20000"/>
          </a:bodyPr>
          <a:lstStyle/>
          <a:p>
            <a:pPr marL="263525" marR="197485" indent="-251460" algn="just">
              <a:lnSpc>
                <a:spcPct val="100899"/>
              </a:lnSpc>
              <a:spcBef>
                <a:spcPts val="65"/>
              </a:spcBef>
              <a:buSzPct val="50704"/>
              <a:buFont typeface="Arial"/>
              <a:buChar char="•"/>
              <a:tabLst>
                <a:tab pos="388620" algn="l"/>
                <a:tab pos="389255" algn="l"/>
              </a:tabLst>
            </a:pPr>
            <a:r>
              <a:rPr lang="fr-FR" dirty="0"/>
              <a:t>	</a:t>
            </a:r>
            <a:r>
              <a:rPr lang="fr-FR" sz="3550" spc="10" dirty="0">
                <a:latin typeface="Arial"/>
                <a:cs typeface="Arial"/>
              </a:rPr>
              <a:t>Un </a:t>
            </a:r>
            <a:r>
              <a:rPr lang="fr-FR" sz="3550" spc="70" dirty="0">
                <a:latin typeface="Arial"/>
                <a:cs typeface="Arial"/>
              </a:rPr>
              <a:t>modèle </a:t>
            </a:r>
            <a:r>
              <a:rPr lang="fr-FR" sz="3550" spc="45" dirty="0">
                <a:latin typeface="Arial"/>
                <a:cs typeface="Arial"/>
              </a:rPr>
              <a:t>de </a:t>
            </a:r>
            <a:r>
              <a:rPr lang="fr-FR" sz="3550" spc="80" dirty="0">
                <a:latin typeface="Arial"/>
                <a:cs typeface="Arial"/>
              </a:rPr>
              <a:t>déploiement </a:t>
            </a:r>
            <a:r>
              <a:rPr lang="fr-FR" sz="3550" spc="65" dirty="0">
                <a:latin typeface="Arial"/>
                <a:cs typeface="Arial"/>
              </a:rPr>
              <a:t>Cloud </a:t>
            </a:r>
            <a:r>
              <a:rPr lang="fr-FR" sz="3550" spc="80" dirty="0">
                <a:latin typeface="Arial"/>
                <a:cs typeface="Arial"/>
              </a:rPr>
              <a:t>définit </a:t>
            </a:r>
            <a:r>
              <a:rPr lang="fr-FR" sz="3550" spc="100" dirty="0">
                <a:latin typeface="Arial"/>
                <a:cs typeface="Arial"/>
              </a:rPr>
              <a:t>comment </a:t>
            </a:r>
            <a:r>
              <a:rPr lang="fr-FR" sz="3550" spc="25" dirty="0">
                <a:latin typeface="Arial"/>
                <a:cs typeface="Arial"/>
              </a:rPr>
              <a:t>une </a:t>
            </a:r>
            <a:r>
              <a:rPr lang="fr-FR" sz="3550" spc="70" dirty="0">
                <a:latin typeface="Arial"/>
                <a:cs typeface="Arial"/>
              </a:rPr>
              <a:t>infrastructure </a:t>
            </a:r>
            <a:r>
              <a:rPr lang="fr-FR" sz="3550" spc="95" dirty="0">
                <a:latin typeface="Arial"/>
                <a:cs typeface="Arial"/>
              </a:rPr>
              <a:t>cloud </a:t>
            </a:r>
            <a:r>
              <a:rPr lang="fr-FR" sz="3550" spc="55" dirty="0">
                <a:latin typeface="Arial"/>
                <a:cs typeface="Arial"/>
              </a:rPr>
              <a:t>est </a:t>
            </a:r>
            <a:r>
              <a:rPr lang="fr-FR" sz="3550" u="heavy" spc="55" dirty="0">
                <a:uFill>
                  <a:solidFill>
                    <a:srgbClr val="000000"/>
                  </a:solidFill>
                </a:uFill>
                <a:latin typeface="Arial"/>
                <a:cs typeface="Arial"/>
              </a:rPr>
              <a:t> </a:t>
            </a:r>
            <a:r>
              <a:rPr lang="fr-FR" sz="3550" u="heavy" spc="80" dirty="0">
                <a:uFill>
                  <a:solidFill>
                    <a:srgbClr val="000000"/>
                  </a:solidFill>
                </a:uFill>
                <a:latin typeface="Arial"/>
                <a:cs typeface="Arial"/>
              </a:rPr>
              <a:t>construite</a:t>
            </a:r>
            <a:r>
              <a:rPr lang="fr-FR" sz="3550" spc="80" dirty="0">
                <a:latin typeface="Arial"/>
                <a:cs typeface="Arial"/>
              </a:rPr>
              <a:t>, </a:t>
            </a:r>
            <a:r>
              <a:rPr lang="fr-FR" sz="3550" spc="55" dirty="0">
                <a:latin typeface="Arial"/>
                <a:cs typeface="Arial"/>
              </a:rPr>
              <a:t>est </a:t>
            </a:r>
            <a:r>
              <a:rPr lang="fr-FR" sz="3550" u="heavy" spc="20" dirty="0">
                <a:uFill>
                  <a:solidFill>
                    <a:srgbClr val="000000"/>
                  </a:solidFill>
                </a:uFill>
                <a:latin typeface="Arial"/>
                <a:cs typeface="Arial"/>
              </a:rPr>
              <a:t>gérée</a:t>
            </a:r>
            <a:r>
              <a:rPr lang="fr-FR" sz="3550" spc="20" dirty="0">
                <a:latin typeface="Arial"/>
                <a:cs typeface="Arial"/>
              </a:rPr>
              <a:t> </a:t>
            </a:r>
            <a:r>
              <a:rPr lang="fr-FR" sz="3550" spc="45" dirty="0">
                <a:latin typeface="Arial"/>
                <a:cs typeface="Arial"/>
              </a:rPr>
              <a:t>et </a:t>
            </a:r>
            <a:r>
              <a:rPr lang="fr-FR" sz="3550" spc="55" dirty="0">
                <a:latin typeface="Arial"/>
                <a:cs typeface="Arial"/>
              </a:rPr>
              <a:t>est </a:t>
            </a:r>
            <a:r>
              <a:rPr lang="fr-FR" sz="3550" u="heavy" spc="65" dirty="0">
                <a:uFill>
                  <a:solidFill>
                    <a:srgbClr val="000000"/>
                  </a:solidFill>
                </a:uFill>
                <a:latin typeface="Arial"/>
                <a:cs typeface="Arial"/>
              </a:rPr>
              <a:t>accessible</a:t>
            </a:r>
            <a:r>
              <a:rPr lang="fr-FR" sz="3550" spc="65" dirty="0">
                <a:latin typeface="Arial"/>
                <a:cs typeface="Arial"/>
              </a:rPr>
              <a:t>.</a:t>
            </a:r>
            <a:endParaRPr lang="fr-FR" sz="3550" dirty="0">
              <a:latin typeface="Arial"/>
              <a:cs typeface="Arial"/>
            </a:endParaRPr>
          </a:p>
          <a:p>
            <a:pPr marL="263525" marR="5080" indent="-251460" algn="just">
              <a:lnSpc>
                <a:spcPct val="101099"/>
              </a:lnSpc>
              <a:buSzPct val="50704"/>
              <a:buFont typeface="Arial"/>
              <a:buChar char="•"/>
              <a:tabLst>
                <a:tab pos="388620" algn="l"/>
                <a:tab pos="389255" algn="l"/>
              </a:tabLst>
            </a:pPr>
            <a:r>
              <a:rPr lang="fr-FR" dirty="0"/>
              <a:t>	</a:t>
            </a:r>
            <a:r>
              <a:rPr lang="fr-FR" sz="3550" spc="35" dirty="0">
                <a:latin typeface="Arial"/>
                <a:cs typeface="Arial"/>
              </a:rPr>
              <a:t>Chaque </a:t>
            </a:r>
            <a:r>
              <a:rPr lang="fr-FR" sz="3550" spc="65" dirty="0">
                <a:latin typeface="Arial"/>
                <a:cs typeface="Arial"/>
              </a:rPr>
              <a:t>modèle </a:t>
            </a:r>
            <a:r>
              <a:rPr lang="fr-FR" sz="3550" spc="50" dirty="0">
                <a:latin typeface="Arial"/>
                <a:cs typeface="Arial"/>
              </a:rPr>
              <a:t>de </a:t>
            </a:r>
            <a:r>
              <a:rPr lang="fr-FR" sz="3550" spc="80" dirty="0">
                <a:latin typeface="Arial"/>
                <a:cs typeface="Arial"/>
              </a:rPr>
              <a:t>déploiement peut </a:t>
            </a:r>
            <a:r>
              <a:rPr lang="fr-FR" sz="3550" spc="30" dirty="0">
                <a:latin typeface="Arial"/>
                <a:cs typeface="Arial"/>
              </a:rPr>
              <a:t>être </a:t>
            </a:r>
            <a:r>
              <a:rPr lang="fr-FR" sz="3550" spc="55" dirty="0">
                <a:latin typeface="Arial"/>
                <a:cs typeface="Arial"/>
              </a:rPr>
              <a:t>utilisé </a:t>
            </a:r>
            <a:r>
              <a:rPr lang="fr-FR" sz="3550" spc="80" dirty="0">
                <a:latin typeface="Arial"/>
                <a:cs typeface="Arial"/>
              </a:rPr>
              <a:t>pour </a:t>
            </a:r>
            <a:r>
              <a:rPr lang="fr-FR" sz="3550" spc="105" dirty="0">
                <a:latin typeface="Arial"/>
                <a:cs typeface="Arial"/>
              </a:rPr>
              <a:t>n'importe </a:t>
            </a:r>
            <a:r>
              <a:rPr lang="fr-FR" sz="3550" spc="55" dirty="0">
                <a:latin typeface="Arial"/>
                <a:cs typeface="Arial"/>
              </a:rPr>
              <a:t>quel </a:t>
            </a:r>
            <a:r>
              <a:rPr lang="fr-FR" sz="3550" spc="70" dirty="0">
                <a:latin typeface="Arial"/>
                <a:cs typeface="Arial"/>
              </a:rPr>
              <a:t>modèle </a:t>
            </a:r>
            <a:r>
              <a:rPr lang="fr-FR" sz="3550" spc="45" dirty="0">
                <a:latin typeface="Arial"/>
                <a:cs typeface="Arial"/>
              </a:rPr>
              <a:t>de  service </a:t>
            </a:r>
            <a:r>
              <a:rPr lang="fr-FR" sz="3550" dirty="0">
                <a:latin typeface="Arial"/>
                <a:cs typeface="Arial"/>
              </a:rPr>
              <a:t>: </a:t>
            </a:r>
            <a:r>
              <a:rPr lang="fr-FR" sz="3550" spc="-20" dirty="0">
                <a:latin typeface="Arial"/>
                <a:cs typeface="Arial"/>
              </a:rPr>
              <a:t>IaaS, PaaS,</a:t>
            </a:r>
            <a:r>
              <a:rPr lang="fr-FR" sz="3550" spc="-30" dirty="0">
                <a:latin typeface="Arial"/>
                <a:cs typeface="Arial"/>
              </a:rPr>
              <a:t> SaaS</a:t>
            </a:r>
            <a:endParaRPr lang="fr-FR" sz="3550" dirty="0">
              <a:latin typeface="Arial"/>
              <a:cs typeface="Arial"/>
            </a:endParaRPr>
          </a:p>
          <a:p>
            <a:pPr marL="388620" indent="-376555" algn="just">
              <a:lnSpc>
                <a:spcPct val="100000"/>
              </a:lnSpc>
              <a:spcBef>
                <a:spcPts val="265"/>
              </a:spcBef>
              <a:buChar char="•"/>
              <a:tabLst>
                <a:tab pos="388620" algn="l"/>
                <a:tab pos="389255" algn="l"/>
                <a:tab pos="11708130" algn="l"/>
              </a:tabLst>
            </a:pPr>
            <a:r>
              <a:rPr lang="fr-FR" sz="3550" spc="10" dirty="0">
                <a:latin typeface="Arial"/>
                <a:cs typeface="Arial"/>
              </a:rPr>
              <a:t>Le </a:t>
            </a:r>
            <a:r>
              <a:rPr lang="fr-FR" sz="3550" spc="-30" dirty="0">
                <a:latin typeface="Arial"/>
                <a:cs typeface="Arial"/>
              </a:rPr>
              <a:t>NIST </a:t>
            </a:r>
            <a:r>
              <a:rPr lang="fr-FR" sz="3550" spc="80" dirty="0">
                <a:latin typeface="Arial"/>
                <a:cs typeface="Arial"/>
              </a:rPr>
              <a:t>définit </a:t>
            </a:r>
            <a:r>
              <a:rPr lang="fr-FR" sz="3550" spc="55" dirty="0">
                <a:latin typeface="Arial"/>
                <a:cs typeface="Arial"/>
              </a:rPr>
              <a:t>quatre </a:t>
            </a:r>
            <a:r>
              <a:rPr lang="fr-FR" sz="3550" spc="70" dirty="0">
                <a:latin typeface="Arial"/>
                <a:cs typeface="Arial"/>
              </a:rPr>
              <a:t>modèles </a:t>
            </a:r>
            <a:r>
              <a:rPr lang="fr-FR" sz="3550" spc="45" dirty="0">
                <a:latin typeface="Arial"/>
                <a:cs typeface="Arial"/>
              </a:rPr>
              <a:t>de</a:t>
            </a:r>
            <a:r>
              <a:rPr lang="fr-FR" sz="3550" spc="165" dirty="0">
                <a:latin typeface="Arial"/>
                <a:cs typeface="Arial"/>
              </a:rPr>
              <a:t> </a:t>
            </a:r>
            <a:r>
              <a:rPr lang="fr-FR" sz="3550" spc="80" dirty="0">
                <a:latin typeface="Arial"/>
                <a:cs typeface="Arial"/>
              </a:rPr>
              <a:t>déploiement</a:t>
            </a:r>
            <a:r>
              <a:rPr lang="fr-FR" sz="3550" spc="110" dirty="0">
                <a:latin typeface="Arial"/>
                <a:cs typeface="Arial"/>
              </a:rPr>
              <a:t> </a:t>
            </a:r>
            <a:r>
              <a:rPr lang="fr-FR" sz="3550" spc="95" dirty="0">
                <a:latin typeface="Arial"/>
                <a:cs typeface="Arial"/>
              </a:rPr>
              <a:t>cloud:</a:t>
            </a:r>
            <a:endParaRPr lang="fr-FR" sz="3550" dirty="0">
              <a:latin typeface="Arial"/>
              <a:cs typeface="Arial"/>
            </a:endParaRPr>
          </a:p>
          <a:p>
            <a:pPr marL="609600" lvl="1" indent="-252095" algn="just">
              <a:lnSpc>
                <a:spcPct val="100000"/>
              </a:lnSpc>
              <a:buChar char="•"/>
              <a:tabLst>
                <a:tab pos="610235" algn="l"/>
              </a:tabLst>
            </a:pPr>
            <a:r>
              <a:rPr lang="fr-FR" sz="3550" spc="65" dirty="0">
                <a:latin typeface="Arial"/>
                <a:cs typeface="Arial"/>
              </a:rPr>
              <a:t>Cloud </a:t>
            </a:r>
            <a:r>
              <a:rPr lang="fr-FR" sz="3550" spc="55" dirty="0">
                <a:latin typeface="Arial"/>
                <a:cs typeface="Arial"/>
              </a:rPr>
              <a:t>privé </a:t>
            </a:r>
            <a:r>
              <a:rPr lang="fr-FR" sz="3550" spc="15" dirty="0">
                <a:latin typeface="Arial"/>
                <a:cs typeface="Arial"/>
              </a:rPr>
              <a:t>(</a:t>
            </a:r>
            <a:r>
              <a:rPr lang="fr-FR" sz="3550" spc="15" dirty="0" err="1">
                <a:latin typeface="Arial"/>
                <a:cs typeface="Arial"/>
              </a:rPr>
              <a:t>Private</a:t>
            </a:r>
            <a:r>
              <a:rPr lang="fr-FR" sz="3550" spc="65" dirty="0">
                <a:latin typeface="Arial"/>
                <a:cs typeface="Arial"/>
              </a:rPr>
              <a:t> </a:t>
            </a:r>
            <a:r>
              <a:rPr lang="fr-FR" sz="3550" spc="50" dirty="0">
                <a:latin typeface="Arial"/>
                <a:cs typeface="Arial"/>
              </a:rPr>
              <a:t>cloud)</a:t>
            </a:r>
            <a:endParaRPr lang="fr-FR" sz="3550" dirty="0">
              <a:latin typeface="Arial"/>
              <a:cs typeface="Arial"/>
            </a:endParaRPr>
          </a:p>
          <a:p>
            <a:pPr marL="609600" lvl="1" indent="-252095" algn="just">
              <a:lnSpc>
                <a:spcPct val="100000"/>
              </a:lnSpc>
              <a:buChar char="•"/>
              <a:tabLst>
                <a:tab pos="610235" algn="l"/>
              </a:tabLst>
            </a:pPr>
            <a:r>
              <a:rPr lang="fr-FR" sz="3550" spc="65" dirty="0">
                <a:latin typeface="Arial"/>
                <a:cs typeface="Arial"/>
              </a:rPr>
              <a:t>Cloud </a:t>
            </a:r>
            <a:r>
              <a:rPr lang="fr-FR" sz="3550" spc="50" dirty="0">
                <a:latin typeface="Arial"/>
                <a:cs typeface="Arial"/>
              </a:rPr>
              <a:t>Communautaire (Community</a:t>
            </a:r>
            <a:r>
              <a:rPr lang="fr-FR" sz="3550" spc="105" dirty="0">
                <a:latin typeface="Arial"/>
                <a:cs typeface="Arial"/>
              </a:rPr>
              <a:t> </a:t>
            </a:r>
            <a:r>
              <a:rPr lang="fr-FR" sz="3550" spc="55" dirty="0">
                <a:latin typeface="Arial"/>
                <a:cs typeface="Arial"/>
              </a:rPr>
              <a:t>cloud)</a:t>
            </a:r>
            <a:endParaRPr lang="fr-FR" sz="3550" dirty="0">
              <a:latin typeface="Arial"/>
              <a:cs typeface="Arial"/>
            </a:endParaRPr>
          </a:p>
          <a:p>
            <a:pPr marL="609600" lvl="1" indent="-252095" algn="just">
              <a:lnSpc>
                <a:spcPct val="100000"/>
              </a:lnSpc>
              <a:buChar char="•"/>
              <a:tabLst>
                <a:tab pos="610235" algn="l"/>
              </a:tabLst>
            </a:pPr>
            <a:r>
              <a:rPr lang="fr-FR" sz="3550" spc="65" dirty="0">
                <a:latin typeface="Arial"/>
                <a:cs typeface="Arial"/>
              </a:rPr>
              <a:t>Cloud </a:t>
            </a:r>
            <a:r>
              <a:rPr lang="fr-FR" sz="3550" spc="100" dirty="0">
                <a:latin typeface="Arial"/>
                <a:cs typeface="Arial"/>
              </a:rPr>
              <a:t>public </a:t>
            </a:r>
            <a:r>
              <a:rPr lang="fr-FR" sz="3550" spc="35" dirty="0">
                <a:latin typeface="Arial"/>
                <a:cs typeface="Arial"/>
              </a:rPr>
              <a:t>(Public</a:t>
            </a:r>
            <a:r>
              <a:rPr lang="fr-FR" sz="3550" spc="95" dirty="0">
                <a:latin typeface="Arial"/>
                <a:cs typeface="Arial"/>
              </a:rPr>
              <a:t> </a:t>
            </a:r>
            <a:r>
              <a:rPr lang="fr-FR" sz="3550" spc="55" dirty="0">
                <a:latin typeface="Arial"/>
                <a:cs typeface="Arial"/>
              </a:rPr>
              <a:t>cloud)</a:t>
            </a:r>
            <a:endParaRPr lang="fr-FR" sz="3550" dirty="0">
              <a:latin typeface="Arial"/>
              <a:cs typeface="Arial"/>
            </a:endParaRPr>
          </a:p>
          <a:p>
            <a:pPr marL="609600" lvl="1" indent="-252095" algn="just">
              <a:lnSpc>
                <a:spcPct val="100000"/>
              </a:lnSpc>
              <a:buChar char="•"/>
              <a:tabLst>
                <a:tab pos="610235" algn="l"/>
              </a:tabLst>
            </a:pPr>
            <a:r>
              <a:rPr lang="fr-FR" sz="3550" spc="65" dirty="0">
                <a:latin typeface="Arial"/>
                <a:cs typeface="Arial"/>
              </a:rPr>
              <a:t>Cloud </a:t>
            </a:r>
            <a:r>
              <a:rPr lang="fr-FR" sz="3550" spc="75" dirty="0">
                <a:latin typeface="Arial"/>
                <a:cs typeface="Arial"/>
              </a:rPr>
              <a:t>hybride </a:t>
            </a:r>
            <a:r>
              <a:rPr lang="fr-FR" sz="3550" spc="35" dirty="0">
                <a:latin typeface="Arial"/>
                <a:cs typeface="Arial"/>
              </a:rPr>
              <a:t>(</a:t>
            </a:r>
            <a:r>
              <a:rPr lang="fr-FR" sz="3550" spc="35" dirty="0" err="1">
                <a:latin typeface="Arial"/>
                <a:cs typeface="Arial"/>
              </a:rPr>
              <a:t>Hybrid</a:t>
            </a:r>
            <a:r>
              <a:rPr lang="fr-FR" sz="3550" spc="55" dirty="0">
                <a:latin typeface="Arial"/>
                <a:cs typeface="Arial"/>
              </a:rPr>
              <a:t> cloud)</a:t>
            </a:r>
            <a:endParaRPr lang="fr-FR" sz="3550" dirty="0">
              <a:latin typeface="Arial"/>
              <a:cs typeface="Arial"/>
            </a:endParaRPr>
          </a:p>
          <a:p>
            <a:pPr algn="just"/>
            <a:endParaRPr lang="fr-FR" dirty="0"/>
          </a:p>
        </p:txBody>
      </p:sp>
      <p:sp>
        <p:nvSpPr>
          <p:cNvPr id="4" name="Espace réservé du pied de page 3">
            <a:extLst>
              <a:ext uri="{FF2B5EF4-FFF2-40B4-BE49-F238E27FC236}">
                <a16:creationId xmlns:a16="http://schemas.microsoft.com/office/drawing/2014/main" id="{ADE54187-4E73-5560-9274-2E8148B8488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C460153-1B93-916E-124E-B879125F9B43}"/>
              </a:ext>
            </a:extLst>
          </p:cNvPr>
          <p:cNvSpPr>
            <a:spLocks noGrp="1"/>
          </p:cNvSpPr>
          <p:nvPr>
            <p:ph type="sldNum" sz="quarter" idx="12"/>
          </p:nvPr>
        </p:nvSpPr>
        <p:spPr/>
        <p:txBody>
          <a:bodyPr/>
          <a:lstStyle/>
          <a:p>
            <a:fld id="{B82CCC60-E8CD-4174-8B1A-7DF615B22EEF}" type="slidenum">
              <a:rPr lang="en-US" smtClean="0"/>
              <a:pPr/>
              <a:t>19</a:t>
            </a:fld>
            <a:endParaRPr lang="en-US"/>
          </a:p>
        </p:txBody>
      </p:sp>
    </p:spTree>
    <p:extLst>
      <p:ext uri="{BB962C8B-B14F-4D97-AF65-F5344CB8AC3E}">
        <p14:creationId xmlns:p14="http://schemas.microsoft.com/office/powerpoint/2010/main" val="10872098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6C796E-3F66-FF1B-5567-1F3D47A2F3EB}"/>
              </a:ext>
            </a:extLst>
          </p:cNvPr>
          <p:cNvSpPr>
            <a:spLocks noGrp="1"/>
          </p:cNvSpPr>
          <p:nvPr>
            <p:ph type="title"/>
          </p:nvPr>
        </p:nvSpPr>
        <p:spPr/>
        <p:txBody>
          <a:bodyPr>
            <a:normAutofit fontScale="90000"/>
          </a:bodyPr>
          <a:lstStyle/>
          <a:p>
            <a:r>
              <a:rPr lang="fr-FR" sz="3600" spc="-15" dirty="0">
                <a:latin typeface="Arial Black"/>
                <a:cs typeface="Arial Black"/>
              </a:rPr>
              <a:t>Cloud</a:t>
            </a:r>
            <a:r>
              <a:rPr lang="fr-FR" sz="3600" spc="-20" dirty="0">
                <a:latin typeface="Arial Black"/>
                <a:cs typeface="Arial Black"/>
              </a:rPr>
              <a:t> </a:t>
            </a:r>
            <a:r>
              <a:rPr lang="fr-FR" sz="3600" spc="-5" dirty="0">
                <a:latin typeface="Arial Black"/>
                <a:cs typeface="Arial Black"/>
              </a:rPr>
              <a:t>Public</a:t>
            </a:r>
            <a:endParaRPr lang="fr-FR" dirty="0"/>
          </a:p>
        </p:txBody>
      </p:sp>
      <p:sp>
        <p:nvSpPr>
          <p:cNvPr id="3" name="Espace réservé du contenu 2">
            <a:extLst>
              <a:ext uri="{FF2B5EF4-FFF2-40B4-BE49-F238E27FC236}">
                <a16:creationId xmlns:a16="http://schemas.microsoft.com/office/drawing/2014/main" id="{42CB829B-C3A3-43B4-0251-B01DE27B7C25}"/>
              </a:ext>
            </a:extLst>
          </p:cNvPr>
          <p:cNvSpPr>
            <a:spLocks noGrp="1"/>
          </p:cNvSpPr>
          <p:nvPr>
            <p:ph idx="1"/>
          </p:nvPr>
        </p:nvSpPr>
        <p:spPr>
          <a:xfrm>
            <a:off x="448966" y="1960929"/>
            <a:ext cx="8398774" cy="3080178"/>
          </a:xfrm>
        </p:spPr>
        <p:txBody>
          <a:bodyPr>
            <a:normAutofit fontScale="62500" lnSpcReduction="20000"/>
          </a:bodyPr>
          <a:lstStyle/>
          <a:p>
            <a:pPr marL="598805" marR="1506220" indent="-251460" algn="just">
              <a:lnSpc>
                <a:spcPct val="120000"/>
              </a:lnSpc>
              <a:spcBef>
                <a:spcPts val="3710"/>
              </a:spcBef>
              <a:buSzPct val="50704"/>
              <a:buFont typeface="Arial"/>
              <a:buChar char="•"/>
              <a:tabLst>
                <a:tab pos="723900" algn="l"/>
                <a:tab pos="724535" algn="l"/>
              </a:tabLst>
            </a:pPr>
            <a:r>
              <a:rPr lang="fr-FR" sz="2800" spc="30" dirty="0">
                <a:latin typeface="Arial"/>
                <a:cs typeface="Arial"/>
              </a:rPr>
              <a:t>L’environnement </a:t>
            </a:r>
            <a:r>
              <a:rPr lang="fr-FR" sz="2800" spc="95" dirty="0">
                <a:latin typeface="Arial"/>
                <a:cs typeface="Arial"/>
              </a:rPr>
              <a:t>cloud </a:t>
            </a:r>
            <a:r>
              <a:rPr lang="fr-FR" sz="2800" spc="55" dirty="0">
                <a:latin typeface="Arial"/>
                <a:cs typeface="Arial"/>
              </a:rPr>
              <a:t>est désigné </a:t>
            </a:r>
            <a:r>
              <a:rPr lang="fr-FR" sz="2800" spc="80" dirty="0">
                <a:latin typeface="Arial"/>
                <a:cs typeface="Arial"/>
              </a:rPr>
              <a:t>pour </a:t>
            </a:r>
            <a:r>
              <a:rPr lang="fr-FR" sz="2800" spc="75" dirty="0">
                <a:latin typeface="Arial"/>
                <a:cs typeface="Arial"/>
              </a:rPr>
              <a:t>l’utilisation </a:t>
            </a:r>
            <a:r>
              <a:rPr lang="fr-FR" sz="2800" spc="60" dirty="0">
                <a:latin typeface="Arial"/>
                <a:cs typeface="Arial"/>
              </a:rPr>
              <a:t>du </a:t>
            </a:r>
            <a:r>
              <a:rPr lang="fr-FR" sz="2800" spc="65" dirty="0">
                <a:latin typeface="Arial"/>
                <a:cs typeface="Arial"/>
              </a:rPr>
              <a:t>grand </a:t>
            </a:r>
            <a:r>
              <a:rPr lang="fr-FR" sz="2800" spc="100" dirty="0">
                <a:latin typeface="Arial"/>
                <a:cs typeface="Arial"/>
              </a:rPr>
              <a:t>public </a:t>
            </a:r>
            <a:r>
              <a:rPr lang="fr-FR" sz="2800" spc="70" dirty="0">
                <a:latin typeface="Arial"/>
                <a:cs typeface="Arial"/>
              </a:rPr>
              <a:t>qui  </a:t>
            </a:r>
            <a:r>
              <a:rPr lang="fr-FR" sz="2800" spc="55" dirty="0">
                <a:latin typeface="Arial"/>
                <a:cs typeface="Arial"/>
              </a:rPr>
              <a:t>souhaite souscrire </a:t>
            </a:r>
            <a:r>
              <a:rPr lang="fr-FR" sz="2800" spc="40" dirty="0">
                <a:latin typeface="Arial"/>
                <a:cs typeface="Arial"/>
              </a:rPr>
              <a:t>aux </a:t>
            </a:r>
            <a:r>
              <a:rPr lang="fr-FR" sz="2800" spc="50" dirty="0">
                <a:latin typeface="Arial"/>
                <a:cs typeface="Arial"/>
              </a:rPr>
              <a:t>services</a:t>
            </a:r>
            <a:r>
              <a:rPr lang="fr-FR" sz="2800" spc="110" dirty="0">
                <a:latin typeface="Arial"/>
                <a:cs typeface="Arial"/>
              </a:rPr>
              <a:t> </a:t>
            </a:r>
            <a:r>
              <a:rPr lang="fr-FR" sz="2800" spc="60" dirty="0">
                <a:latin typeface="Arial"/>
                <a:cs typeface="Arial"/>
              </a:rPr>
              <a:t>offerts.</a:t>
            </a:r>
            <a:endParaRPr lang="fr-FR" sz="2800" dirty="0">
              <a:latin typeface="Arial"/>
              <a:cs typeface="Arial"/>
            </a:endParaRPr>
          </a:p>
          <a:p>
            <a:pPr marL="598805" marR="408305" indent="-251460" algn="just">
              <a:lnSpc>
                <a:spcPct val="120000"/>
              </a:lnSpc>
              <a:spcBef>
                <a:spcPts val="150"/>
              </a:spcBef>
              <a:buSzPct val="50704"/>
              <a:buFont typeface="Arial"/>
              <a:buChar char="•"/>
              <a:tabLst>
                <a:tab pos="723900" algn="l"/>
                <a:tab pos="724535" algn="l"/>
              </a:tabLst>
            </a:pPr>
            <a:r>
              <a:rPr lang="fr-FR" dirty="0"/>
              <a:t>	</a:t>
            </a:r>
            <a:r>
              <a:rPr lang="fr-FR" sz="2800" spc="50" dirty="0">
                <a:latin typeface="Arial"/>
                <a:cs typeface="Arial"/>
              </a:rPr>
              <a:t>L’infrastructure </a:t>
            </a:r>
            <a:r>
              <a:rPr lang="fr-FR" sz="2800" spc="95" dirty="0">
                <a:latin typeface="Arial"/>
                <a:cs typeface="Arial"/>
              </a:rPr>
              <a:t>cloud </a:t>
            </a:r>
            <a:r>
              <a:rPr lang="fr-FR" sz="2800" spc="80" dirty="0">
                <a:latin typeface="Arial"/>
                <a:cs typeface="Arial"/>
              </a:rPr>
              <a:t>peut </a:t>
            </a:r>
            <a:r>
              <a:rPr lang="fr-FR" sz="2800" spc="30" dirty="0">
                <a:latin typeface="Arial"/>
                <a:cs typeface="Arial"/>
              </a:rPr>
              <a:t>être </a:t>
            </a:r>
            <a:r>
              <a:rPr lang="fr-FR" sz="2800" spc="25" dirty="0">
                <a:latin typeface="Arial"/>
                <a:cs typeface="Arial"/>
              </a:rPr>
              <a:t>une </a:t>
            </a:r>
            <a:r>
              <a:rPr lang="fr-FR" sz="2800" spc="65" dirty="0">
                <a:latin typeface="Arial"/>
                <a:cs typeface="Arial"/>
              </a:rPr>
              <a:t>entité </a:t>
            </a:r>
            <a:r>
              <a:rPr lang="fr-FR" sz="2800" spc="45" dirty="0">
                <a:latin typeface="Arial"/>
                <a:cs typeface="Arial"/>
              </a:rPr>
              <a:t>privée </a:t>
            </a:r>
            <a:r>
              <a:rPr lang="fr-FR" sz="2800" spc="50" dirty="0">
                <a:latin typeface="Arial"/>
                <a:cs typeface="Arial"/>
              </a:rPr>
              <a:t>ou </a:t>
            </a:r>
            <a:r>
              <a:rPr lang="fr-FR" sz="2800" spc="80" dirty="0">
                <a:latin typeface="Arial"/>
                <a:cs typeface="Arial"/>
              </a:rPr>
              <a:t>publique </a:t>
            </a:r>
            <a:r>
              <a:rPr lang="fr-FR" sz="2800" spc="40" dirty="0">
                <a:latin typeface="Arial"/>
                <a:cs typeface="Arial"/>
              </a:rPr>
              <a:t>(gouvernement,  </a:t>
            </a:r>
            <a:r>
              <a:rPr lang="fr-FR" sz="2800" spc="90" dirty="0">
                <a:latin typeface="Arial"/>
                <a:cs typeface="Arial"/>
              </a:rPr>
              <a:t>institut</a:t>
            </a:r>
            <a:r>
              <a:rPr lang="fr-FR" sz="2800" spc="125" dirty="0">
                <a:latin typeface="Arial"/>
                <a:cs typeface="Arial"/>
              </a:rPr>
              <a:t> </a:t>
            </a:r>
            <a:r>
              <a:rPr lang="fr-FR" sz="2800" spc="40" dirty="0">
                <a:latin typeface="Arial"/>
                <a:cs typeface="Arial"/>
              </a:rPr>
              <a:t>académique).</a:t>
            </a:r>
            <a:endParaRPr lang="fr-FR" sz="2800" dirty="0">
              <a:latin typeface="Arial"/>
              <a:cs typeface="Arial"/>
            </a:endParaRPr>
          </a:p>
          <a:p>
            <a:pPr marL="723900" indent="-377190" algn="just">
              <a:lnSpc>
                <a:spcPct val="120000"/>
              </a:lnSpc>
              <a:spcBef>
                <a:spcPts val="114"/>
              </a:spcBef>
              <a:buChar char="•"/>
              <a:tabLst>
                <a:tab pos="723900" algn="l"/>
                <a:tab pos="724535" algn="l"/>
              </a:tabLst>
            </a:pPr>
            <a:r>
              <a:rPr lang="fr-FR" sz="2800" spc="20" dirty="0">
                <a:latin typeface="Arial"/>
                <a:cs typeface="Arial"/>
              </a:rPr>
              <a:t>Les </a:t>
            </a:r>
            <a:r>
              <a:rPr lang="fr-FR" sz="2800" spc="50" dirty="0">
                <a:latin typeface="Arial"/>
                <a:cs typeface="Arial"/>
              </a:rPr>
              <a:t>services </a:t>
            </a:r>
            <a:r>
              <a:rPr lang="fr-FR" sz="2800" spc="95" dirty="0">
                <a:latin typeface="Arial"/>
                <a:cs typeface="Arial"/>
              </a:rPr>
              <a:t>cloud </a:t>
            </a:r>
            <a:r>
              <a:rPr lang="fr-FR" sz="2800" spc="65" dirty="0">
                <a:latin typeface="Arial"/>
                <a:cs typeface="Arial"/>
              </a:rPr>
              <a:t>peuvent </a:t>
            </a:r>
            <a:r>
              <a:rPr lang="fr-FR" sz="2800" spc="30" dirty="0">
                <a:latin typeface="Arial"/>
                <a:cs typeface="Arial"/>
              </a:rPr>
              <a:t>être </a:t>
            </a:r>
            <a:r>
              <a:rPr lang="fr-FR" sz="2800" spc="80" dirty="0">
                <a:latin typeface="Arial"/>
                <a:cs typeface="Arial"/>
              </a:rPr>
              <a:t>gratuits </a:t>
            </a:r>
            <a:r>
              <a:rPr lang="fr-FR" sz="2800" spc="50" dirty="0">
                <a:latin typeface="Arial"/>
                <a:cs typeface="Arial"/>
              </a:rPr>
              <a:t>ou </a:t>
            </a:r>
            <a:r>
              <a:rPr lang="fr-FR" sz="2800" spc="70" dirty="0">
                <a:latin typeface="Arial"/>
                <a:cs typeface="Arial"/>
              </a:rPr>
              <a:t>facturés</a:t>
            </a:r>
            <a:r>
              <a:rPr lang="fr-FR" sz="2800" spc="844" dirty="0">
                <a:latin typeface="Arial"/>
                <a:cs typeface="Arial"/>
              </a:rPr>
              <a:t> </a:t>
            </a:r>
            <a:r>
              <a:rPr lang="fr-FR" sz="2800" spc="90" dirty="0">
                <a:latin typeface="Arial"/>
                <a:cs typeface="Arial"/>
              </a:rPr>
              <a:t>à l’utilisation.</a:t>
            </a:r>
            <a:endParaRPr lang="fr-FR" sz="2800" dirty="0">
              <a:latin typeface="Arial"/>
              <a:cs typeface="Arial"/>
            </a:endParaRPr>
          </a:p>
          <a:p>
            <a:pPr marL="723900" indent="-377190" algn="just">
              <a:lnSpc>
                <a:spcPct val="120000"/>
              </a:lnSpc>
              <a:buSzPct val="50704"/>
              <a:buChar char="•"/>
              <a:tabLst>
                <a:tab pos="723900" algn="l"/>
                <a:tab pos="724535" algn="l"/>
              </a:tabLst>
            </a:pPr>
            <a:r>
              <a:rPr lang="fr-FR" sz="2800" spc="45" dirty="0">
                <a:latin typeface="Arial"/>
                <a:cs typeface="Arial"/>
              </a:rPr>
              <a:t>Permet </a:t>
            </a:r>
            <a:r>
              <a:rPr lang="fr-FR" sz="2800" spc="40" dirty="0">
                <a:latin typeface="Arial"/>
                <a:cs typeface="Arial"/>
              </a:rPr>
              <a:t>aux </a:t>
            </a:r>
            <a:r>
              <a:rPr lang="fr-FR" sz="2800" spc="50" dirty="0">
                <a:latin typeface="Arial"/>
                <a:cs typeface="Arial"/>
              </a:rPr>
              <a:t>entreprises de </a:t>
            </a:r>
            <a:r>
              <a:rPr lang="fr-FR" sz="2800" spc="15" dirty="0">
                <a:latin typeface="Arial"/>
                <a:cs typeface="Arial"/>
              </a:rPr>
              <a:t>se </a:t>
            </a:r>
            <a:r>
              <a:rPr lang="fr-FR" sz="2800" spc="75" dirty="0">
                <a:latin typeface="Arial"/>
                <a:cs typeface="Arial"/>
              </a:rPr>
              <a:t>concentrer </a:t>
            </a:r>
            <a:r>
              <a:rPr lang="fr-FR" sz="2800" spc="35" dirty="0">
                <a:latin typeface="Arial"/>
                <a:cs typeface="Arial"/>
              </a:rPr>
              <a:t>sur </a:t>
            </a:r>
            <a:r>
              <a:rPr lang="fr-FR" sz="2800" spc="20" dirty="0">
                <a:latin typeface="Arial"/>
                <a:cs typeface="Arial"/>
              </a:rPr>
              <a:t>les </a:t>
            </a:r>
            <a:r>
              <a:rPr lang="fr-FR" sz="2800" spc="70" dirty="0">
                <a:latin typeface="Arial"/>
                <a:cs typeface="Arial"/>
              </a:rPr>
              <a:t>processus </a:t>
            </a:r>
            <a:r>
              <a:rPr lang="fr-FR" sz="2800" spc="55" dirty="0">
                <a:latin typeface="Arial"/>
                <a:cs typeface="Arial"/>
              </a:rPr>
              <a:t>métiers</a:t>
            </a:r>
            <a:r>
              <a:rPr lang="fr-FR" sz="2800" spc="1025" dirty="0">
                <a:latin typeface="Arial"/>
                <a:cs typeface="Arial"/>
              </a:rPr>
              <a:t> </a:t>
            </a:r>
            <a:r>
              <a:rPr lang="fr-FR" sz="2800" spc="105" dirty="0">
                <a:latin typeface="Arial"/>
                <a:cs typeface="Arial"/>
              </a:rPr>
              <a:t>en confiant</a:t>
            </a:r>
            <a:r>
              <a:rPr lang="fr-FR" dirty="0">
                <a:latin typeface="Arial"/>
                <a:cs typeface="Arial"/>
              </a:rPr>
              <a:t> </a:t>
            </a:r>
            <a:r>
              <a:rPr lang="fr-FR" sz="2800" spc="15" dirty="0">
                <a:latin typeface="Arial"/>
                <a:cs typeface="Arial"/>
              </a:rPr>
              <a:t>la </a:t>
            </a:r>
            <a:r>
              <a:rPr lang="fr-FR" sz="2800" spc="75" dirty="0">
                <a:latin typeface="Arial"/>
                <a:cs typeface="Arial"/>
              </a:rPr>
              <a:t>gestion </a:t>
            </a:r>
            <a:r>
              <a:rPr lang="fr-FR" sz="2800" spc="45" dirty="0">
                <a:latin typeface="Arial"/>
                <a:cs typeface="Arial"/>
              </a:rPr>
              <a:t>de </a:t>
            </a:r>
            <a:r>
              <a:rPr lang="fr-FR" sz="2800" spc="35" dirty="0">
                <a:latin typeface="Arial"/>
                <a:cs typeface="Arial"/>
              </a:rPr>
              <a:t>leurs </a:t>
            </a:r>
            <a:r>
              <a:rPr lang="fr-FR" sz="2800" spc="55" dirty="0">
                <a:latin typeface="Arial"/>
                <a:cs typeface="Arial"/>
              </a:rPr>
              <a:t>systèmes </a:t>
            </a:r>
            <a:r>
              <a:rPr lang="fr-FR" sz="2800" spc="75" dirty="0">
                <a:latin typeface="Arial"/>
                <a:cs typeface="Arial"/>
              </a:rPr>
              <a:t>informatiques </a:t>
            </a:r>
            <a:r>
              <a:rPr lang="fr-FR" sz="2800" spc="40" dirty="0">
                <a:latin typeface="Arial"/>
                <a:cs typeface="Arial"/>
              </a:rPr>
              <a:t>aux </a:t>
            </a:r>
            <a:r>
              <a:rPr lang="fr-FR" sz="2800" spc="60" dirty="0">
                <a:latin typeface="Arial"/>
                <a:cs typeface="Arial"/>
              </a:rPr>
              <a:t>fournisseurs </a:t>
            </a:r>
            <a:r>
              <a:rPr lang="fr-FR" sz="2800" spc="50" dirty="0">
                <a:latin typeface="Arial"/>
                <a:cs typeface="Arial"/>
              </a:rPr>
              <a:t>de services</a:t>
            </a:r>
            <a:r>
              <a:rPr lang="fr-FR" sz="2800" spc="335" dirty="0">
                <a:latin typeface="Arial"/>
                <a:cs typeface="Arial"/>
              </a:rPr>
              <a:t> </a:t>
            </a:r>
            <a:r>
              <a:rPr lang="fr-FR" sz="2800" spc="85" dirty="0">
                <a:latin typeface="Arial"/>
                <a:cs typeface="Arial"/>
              </a:rPr>
              <a:t>cloud.</a:t>
            </a:r>
            <a:endParaRPr lang="fr-FR" dirty="0"/>
          </a:p>
        </p:txBody>
      </p:sp>
      <p:sp>
        <p:nvSpPr>
          <p:cNvPr id="4" name="Espace réservé du pied de page 3">
            <a:extLst>
              <a:ext uri="{FF2B5EF4-FFF2-40B4-BE49-F238E27FC236}">
                <a16:creationId xmlns:a16="http://schemas.microsoft.com/office/drawing/2014/main" id="{B8F20AB3-3C39-6146-5C70-5EA456F574E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02F7E89-6F7E-F824-2B8E-4140B4D5D20A}"/>
              </a:ext>
            </a:extLst>
          </p:cNvPr>
          <p:cNvSpPr>
            <a:spLocks noGrp="1"/>
          </p:cNvSpPr>
          <p:nvPr>
            <p:ph type="sldNum" sz="quarter" idx="12"/>
          </p:nvPr>
        </p:nvSpPr>
        <p:spPr/>
        <p:txBody>
          <a:bodyPr/>
          <a:lstStyle/>
          <a:p>
            <a:fld id="{B82CCC60-E8CD-4174-8B1A-7DF615B22EEF}" type="slidenum">
              <a:rPr lang="en-US" smtClean="0"/>
              <a:pPr/>
              <a:t>20</a:t>
            </a:fld>
            <a:endParaRPr lang="en-US"/>
          </a:p>
        </p:txBody>
      </p:sp>
    </p:spTree>
    <p:extLst>
      <p:ext uri="{BB962C8B-B14F-4D97-AF65-F5344CB8AC3E}">
        <p14:creationId xmlns:p14="http://schemas.microsoft.com/office/powerpoint/2010/main" val="33894930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B7D068-B60B-CB5E-D2FB-16854BE924F4}"/>
              </a:ext>
            </a:extLst>
          </p:cNvPr>
          <p:cNvSpPr>
            <a:spLocks noGrp="1"/>
          </p:cNvSpPr>
          <p:nvPr>
            <p:ph type="title"/>
          </p:nvPr>
        </p:nvSpPr>
        <p:spPr/>
        <p:txBody>
          <a:bodyPr>
            <a:normAutofit fontScale="90000"/>
          </a:bodyPr>
          <a:lstStyle/>
          <a:p>
            <a:r>
              <a:rPr lang="fr-FR" sz="3600" spc="-20" dirty="0">
                <a:latin typeface="Arial Black"/>
                <a:cs typeface="Arial Black"/>
              </a:rPr>
              <a:t>Avantages </a:t>
            </a:r>
            <a:r>
              <a:rPr lang="fr-FR" sz="3600" spc="-5" dirty="0">
                <a:latin typeface="Arial Black"/>
                <a:cs typeface="Arial Black"/>
              </a:rPr>
              <a:t>du </a:t>
            </a:r>
            <a:r>
              <a:rPr lang="fr-FR" sz="3600" spc="-15" dirty="0">
                <a:latin typeface="Arial Black"/>
                <a:cs typeface="Arial Black"/>
              </a:rPr>
              <a:t>Cloud</a:t>
            </a:r>
            <a:r>
              <a:rPr lang="fr-FR" sz="3600" spc="-40" dirty="0">
                <a:latin typeface="Arial Black"/>
                <a:cs typeface="Arial Black"/>
              </a:rPr>
              <a:t> </a:t>
            </a:r>
            <a:r>
              <a:rPr lang="fr-FR" sz="3600" spc="-5" dirty="0">
                <a:latin typeface="Arial Black"/>
                <a:cs typeface="Arial Black"/>
              </a:rPr>
              <a:t>Public</a:t>
            </a:r>
            <a:endParaRPr lang="fr-FR" dirty="0"/>
          </a:p>
        </p:txBody>
      </p:sp>
      <p:sp>
        <p:nvSpPr>
          <p:cNvPr id="3" name="Espace réservé du contenu 2">
            <a:extLst>
              <a:ext uri="{FF2B5EF4-FFF2-40B4-BE49-F238E27FC236}">
                <a16:creationId xmlns:a16="http://schemas.microsoft.com/office/drawing/2014/main" id="{E3EF7660-E523-A71F-664A-CFB572FBFEB4}"/>
              </a:ext>
            </a:extLst>
          </p:cNvPr>
          <p:cNvSpPr>
            <a:spLocks noGrp="1"/>
          </p:cNvSpPr>
          <p:nvPr>
            <p:ph idx="1"/>
          </p:nvPr>
        </p:nvSpPr>
        <p:spPr/>
        <p:txBody>
          <a:bodyPr>
            <a:normAutofit fontScale="55000" lnSpcReduction="20000"/>
          </a:bodyPr>
          <a:lstStyle/>
          <a:p>
            <a:pPr marL="599440" indent="-252729" algn="just">
              <a:lnSpc>
                <a:spcPct val="120000"/>
              </a:lnSpc>
              <a:spcBef>
                <a:spcPts val="3970"/>
              </a:spcBef>
              <a:buChar char="•"/>
              <a:tabLst>
                <a:tab pos="600075" algn="l"/>
              </a:tabLst>
            </a:pPr>
            <a:r>
              <a:rPr lang="fr-FR" sz="2800" spc="75" dirty="0">
                <a:solidFill>
                  <a:srgbClr val="0A5D17"/>
                </a:solidFill>
                <a:latin typeface="Arial"/>
                <a:cs typeface="Arial"/>
              </a:rPr>
              <a:t>Disponibilité</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 </a:t>
            </a:r>
            <a:r>
              <a:rPr lang="fr-FR" sz="2800" spc="40" dirty="0">
                <a:solidFill>
                  <a:srgbClr val="212121"/>
                </a:solidFill>
                <a:latin typeface="Arial"/>
                <a:cs typeface="Arial"/>
              </a:rPr>
              <a:t>Pour </a:t>
            </a:r>
            <a:r>
              <a:rPr lang="fr-FR" sz="2800" spc="30" dirty="0">
                <a:solidFill>
                  <a:srgbClr val="212121"/>
                </a:solidFill>
                <a:latin typeface="Arial"/>
                <a:cs typeface="Arial"/>
              </a:rPr>
              <a:t>assurer </a:t>
            </a:r>
            <a:r>
              <a:rPr lang="fr-FR" sz="2800" spc="15" dirty="0">
                <a:solidFill>
                  <a:srgbClr val="212121"/>
                </a:solidFill>
                <a:latin typeface="Arial"/>
                <a:cs typeface="Arial"/>
              </a:rPr>
              <a:t>la </a:t>
            </a:r>
            <a:r>
              <a:rPr lang="fr-FR" sz="2800" spc="85" dirty="0">
                <a:solidFill>
                  <a:srgbClr val="212121"/>
                </a:solidFill>
                <a:latin typeface="Arial"/>
                <a:cs typeface="Arial"/>
              </a:rPr>
              <a:t>disponibilité </a:t>
            </a:r>
            <a:r>
              <a:rPr lang="fr-FR" sz="2800" spc="55" dirty="0">
                <a:solidFill>
                  <a:srgbClr val="212121"/>
                </a:solidFill>
                <a:latin typeface="Arial"/>
                <a:cs typeface="Arial"/>
              </a:rPr>
              <a:t>des </a:t>
            </a:r>
            <a:r>
              <a:rPr lang="fr-FR" sz="2800" spc="45" dirty="0">
                <a:solidFill>
                  <a:srgbClr val="212121"/>
                </a:solidFill>
                <a:latin typeface="Arial"/>
                <a:cs typeface="Arial"/>
              </a:rPr>
              <a:t>services, </a:t>
            </a:r>
            <a:r>
              <a:rPr lang="fr-FR" sz="2800" spc="25" dirty="0">
                <a:solidFill>
                  <a:srgbClr val="212121"/>
                </a:solidFill>
                <a:latin typeface="Arial"/>
                <a:cs typeface="Arial"/>
              </a:rPr>
              <a:t>une </a:t>
            </a:r>
            <a:r>
              <a:rPr lang="fr-FR" sz="2800" spc="50" dirty="0">
                <a:solidFill>
                  <a:srgbClr val="212121"/>
                </a:solidFill>
                <a:latin typeface="Arial"/>
                <a:cs typeface="Arial"/>
              </a:rPr>
              <a:t>entreprise </a:t>
            </a:r>
            <a:r>
              <a:rPr lang="fr-FR" sz="2800" spc="105" dirty="0">
                <a:solidFill>
                  <a:srgbClr val="212121"/>
                </a:solidFill>
                <a:latin typeface="Arial"/>
                <a:cs typeface="Arial"/>
              </a:rPr>
              <a:t>doit </a:t>
            </a:r>
            <a:r>
              <a:rPr lang="fr-FR" sz="2800" spc="25" dirty="0">
                <a:solidFill>
                  <a:srgbClr val="212121"/>
                </a:solidFill>
                <a:latin typeface="Arial"/>
                <a:cs typeface="Arial"/>
              </a:rPr>
              <a:t>faire</a:t>
            </a:r>
            <a:r>
              <a:rPr lang="fr-FR" sz="2800" spc="-440" dirty="0">
                <a:solidFill>
                  <a:srgbClr val="212121"/>
                </a:solidFill>
                <a:latin typeface="Arial"/>
                <a:cs typeface="Arial"/>
              </a:rPr>
              <a:t> </a:t>
            </a:r>
            <a:r>
              <a:rPr lang="fr-FR" sz="2800" spc="55" dirty="0">
                <a:solidFill>
                  <a:srgbClr val="212121"/>
                </a:solidFill>
                <a:latin typeface="Arial"/>
                <a:cs typeface="Arial"/>
              </a:rPr>
              <a:t>des</a:t>
            </a:r>
            <a:r>
              <a:rPr lang="fr-FR" dirty="0">
                <a:latin typeface="Arial"/>
                <a:cs typeface="Arial"/>
              </a:rPr>
              <a:t> </a:t>
            </a:r>
            <a:r>
              <a:rPr lang="fr-FR" sz="2800" spc="60" dirty="0">
                <a:solidFill>
                  <a:srgbClr val="212121"/>
                </a:solidFill>
                <a:latin typeface="Arial"/>
                <a:cs typeface="Arial"/>
              </a:rPr>
              <a:t>dépenses </a:t>
            </a:r>
            <a:r>
              <a:rPr lang="fr-FR" sz="2800" spc="50" dirty="0">
                <a:solidFill>
                  <a:srgbClr val="212121"/>
                </a:solidFill>
                <a:latin typeface="Arial"/>
                <a:cs typeface="Arial"/>
              </a:rPr>
              <a:t>diverses </a:t>
            </a:r>
            <a:r>
              <a:rPr lang="fr-FR" sz="2800" dirty="0">
                <a:solidFill>
                  <a:srgbClr val="212121"/>
                </a:solidFill>
                <a:latin typeface="Arial"/>
                <a:cs typeface="Arial"/>
              </a:rPr>
              <a:t>: </a:t>
            </a:r>
            <a:r>
              <a:rPr lang="fr-FR" sz="2800" spc="35" dirty="0">
                <a:solidFill>
                  <a:srgbClr val="212121"/>
                </a:solidFill>
                <a:latin typeface="Arial"/>
                <a:cs typeface="Arial"/>
              </a:rPr>
              <a:t>hardware, </a:t>
            </a:r>
            <a:r>
              <a:rPr lang="fr-FR" sz="2800" spc="60" dirty="0">
                <a:solidFill>
                  <a:srgbClr val="212121"/>
                </a:solidFill>
                <a:latin typeface="Arial"/>
                <a:cs typeface="Arial"/>
              </a:rPr>
              <a:t>software, </a:t>
            </a:r>
            <a:r>
              <a:rPr lang="fr-FR" sz="2800" spc="80" dirty="0">
                <a:solidFill>
                  <a:srgbClr val="212121"/>
                </a:solidFill>
                <a:latin typeface="Arial"/>
                <a:cs typeface="Arial"/>
              </a:rPr>
              <a:t>formation </a:t>
            </a:r>
            <a:r>
              <a:rPr lang="fr-FR" sz="2800" spc="60" dirty="0">
                <a:solidFill>
                  <a:srgbClr val="212121"/>
                </a:solidFill>
                <a:latin typeface="Arial"/>
                <a:cs typeface="Arial"/>
              </a:rPr>
              <a:t>du </a:t>
            </a:r>
            <a:r>
              <a:rPr lang="fr-FR" sz="2800" spc="45" dirty="0">
                <a:solidFill>
                  <a:srgbClr val="212121"/>
                </a:solidFill>
                <a:latin typeface="Arial"/>
                <a:cs typeface="Arial"/>
              </a:rPr>
              <a:t>staff,</a:t>
            </a:r>
            <a:r>
              <a:rPr lang="fr-FR" sz="2800" spc="235" dirty="0">
                <a:solidFill>
                  <a:srgbClr val="212121"/>
                </a:solidFill>
                <a:latin typeface="Arial"/>
                <a:cs typeface="Arial"/>
              </a:rPr>
              <a:t> </a:t>
            </a:r>
            <a:r>
              <a:rPr lang="fr-FR" sz="2800" spc="65" dirty="0">
                <a:solidFill>
                  <a:srgbClr val="212121"/>
                </a:solidFill>
                <a:latin typeface="Arial"/>
                <a:cs typeface="Arial"/>
              </a:rPr>
              <a:t>etc.</a:t>
            </a:r>
            <a:endParaRPr lang="fr-FR" sz="2800" dirty="0">
              <a:latin typeface="Arial"/>
              <a:cs typeface="Arial"/>
            </a:endParaRPr>
          </a:p>
          <a:p>
            <a:pPr marL="755650" marR="699770" indent="0" algn="just">
              <a:lnSpc>
                <a:spcPct val="120000"/>
              </a:lnSpc>
              <a:buNone/>
              <a:tabLst>
                <a:tab pos="7958455" algn="l"/>
              </a:tabLst>
            </a:pPr>
            <a:r>
              <a:rPr lang="fr-FR" sz="2800" dirty="0">
                <a:solidFill>
                  <a:srgbClr val="212121"/>
                </a:solidFill>
                <a:latin typeface="Arial"/>
                <a:cs typeface="Arial"/>
              </a:rPr>
              <a:t>-</a:t>
            </a:r>
            <a:r>
              <a:rPr lang="fr-FR" sz="2800" spc="10" dirty="0">
                <a:solidFill>
                  <a:srgbClr val="212121"/>
                </a:solidFill>
                <a:latin typeface="Arial"/>
                <a:cs typeface="Arial"/>
              </a:rPr>
              <a:t>Le </a:t>
            </a:r>
            <a:r>
              <a:rPr lang="fr-FR" sz="2800" spc="80" dirty="0">
                <a:solidFill>
                  <a:srgbClr val="212121"/>
                </a:solidFill>
                <a:latin typeface="Arial"/>
                <a:cs typeface="Arial"/>
              </a:rPr>
              <a:t>déploiement </a:t>
            </a:r>
            <a:r>
              <a:rPr lang="fr-FR" sz="2800" spc="60" dirty="0">
                <a:solidFill>
                  <a:srgbClr val="212121"/>
                </a:solidFill>
                <a:latin typeface="Arial"/>
                <a:cs typeface="Arial"/>
              </a:rPr>
              <a:t>du</a:t>
            </a:r>
            <a:r>
              <a:rPr lang="fr-FR" sz="2800" spc="-459" dirty="0">
                <a:solidFill>
                  <a:srgbClr val="212121"/>
                </a:solidFill>
                <a:latin typeface="Arial"/>
                <a:cs typeface="Arial"/>
              </a:rPr>
              <a:t> </a:t>
            </a:r>
            <a:r>
              <a:rPr lang="fr-FR" sz="2800" spc="65" dirty="0">
                <a:solidFill>
                  <a:srgbClr val="212121"/>
                </a:solidFill>
                <a:latin typeface="Arial"/>
                <a:cs typeface="Arial"/>
              </a:rPr>
              <a:t>Cloud</a:t>
            </a:r>
            <a:r>
              <a:rPr lang="fr-FR" spc="95" dirty="0">
                <a:solidFill>
                  <a:srgbClr val="212121"/>
                </a:solidFill>
                <a:latin typeface="Arial"/>
                <a:cs typeface="Arial"/>
              </a:rPr>
              <a:t> </a:t>
            </a:r>
            <a:r>
              <a:rPr lang="fr-FR" sz="2800" spc="100" dirty="0">
                <a:solidFill>
                  <a:srgbClr val="212121"/>
                </a:solidFill>
                <a:latin typeface="Arial"/>
                <a:cs typeface="Arial"/>
              </a:rPr>
              <a:t>public </a:t>
            </a:r>
            <a:r>
              <a:rPr lang="fr-FR" sz="2800" spc="80" dirty="0">
                <a:solidFill>
                  <a:srgbClr val="212121"/>
                </a:solidFill>
                <a:latin typeface="Arial"/>
                <a:cs typeface="Arial"/>
              </a:rPr>
              <a:t>permet d’atteindre </a:t>
            </a:r>
            <a:r>
              <a:rPr lang="fr-FR" sz="2800" spc="25" dirty="0">
                <a:solidFill>
                  <a:srgbClr val="212121"/>
                </a:solidFill>
                <a:latin typeface="Arial"/>
                <a:cs typeface="Arial"/>
              </a:rPr>
              <a:t>une </a:t>
            </a:r>
            <a:r>
              <a:rPr lang="fr-FR" sz="2800" spc="85" dirty="0">
                <a:solidFill>
                  <a:srgbClr val="212121"/>
                </a:solidFill>
                <a:latin typeface="Arial"/>
                <a:cs typeface="Arial"/>
              </a:rPr>
              <a:t>disponibilité </a:t>
            </a:r>
            <a:r>
              <a:rPr lang="fr-FR" sz="2800" spc="30" dirty="0">
                <a:solidFill>
                  <a:srgbClr val="212121"/>
                </a:solidFill>
                <a:latin typeface="Arial"/>
                <a:cs typeface="Arial"/>
              </a:rPr>
              <a:t>meilleure  </a:t>
            </a:r>
            <a:r>
              <a:rPr lang="fr-FR" sz="2800" spc="75" dirty="0">
                <a:solidFill>
                  <a:srgbClr val="212121"/>
                </a:solidFill>
                <a:latin typeface="Arial"/>
                <a:cs typeface="Arial"/>
              </a:rPr>
              <a:t>vis-à-vis </a:t>
            </a:r>
            <a:r>
              <a:rPr lang="fr-FR" sz="2800" dirty="0">
                <a:solidFill>
                  <a:srgbClr val="212121"/>
                </a:solidFill>
                <a:latin typeface="Arial"/>
                <a:cs typeface="Arial"/>
              </a:rPr>
              <a:t>à </a:t>
            </a:r>
            <a:r>
              <a:rPr lang="fr-FR" sz="2800" spc="45" dirty="0">
                <a:solidFill>
                  <a:srgbClr val="212121"/>
                </a:solidFill>
                <a:latin typeface="Arial"/>
                <a:cs typeface="Arial"/>
              </a:rPr>
              <a:t>ce </a:t>
            </a:r>
            <a:r>
              <a:rPr lang="fr-FR" sz="2800" spc="70" dirty="0">
                <a:solidFill>
                  <a:srgbClr val="212121"/>
                </a:solidFill>
                <a:latin typeface="Arial"/>
                <a:cs typeface="Arial"/>
              </a:rPr>
              <a:t>qui </a:t>
            </a:r>
            <a:r>
              <a:rPr lang="fr-FR" sz="2800" spc="30" dirty="0">
                <a:solidFill>
                  <a:srgbClr val="212121"/>
                </a:solidFill>
                <a:latin typeface="Arial"/>
                <a:cs typeface="Arial"/>
              </a:rPr>
              <a:t>réalisable </a:t>
            </a:r>
            <a:r>
              <a:rPr lang="fr-FR" sz="2800" spc="10" dirty="0">
                <a:solidFill>
                  <a:srgbClr val="212121"/>
                </a:solidFill>
                <a:latin typeface="Arial"/>
                <a:cs typeface="Arial"/>
              </a:rPr>
              <a:t>en </a:t>
            </a:r>
            <a:r>
              <a:rPr lang="fr-FR" sz="2800" spc="70" dirty="0">
                <a:solidFill>
                  <a:srgbClr val="212121"/>
                </a:solidFill>
                <a:latin typeface="Arial"/>
                <a:cs typeface="Arial"/>
              </a:rPr>
              <a:t>utilisant </a:t>
            </a:r>
            <a:r>
              <a:rPr lang="fr-FR" sz="2800" spc="75" dirty="0">
                <a:solidFill>
                  <a:srgbClr val="212121"/>
                </a:solidFill>
                <a:latin typeface="Arial"/>
                <a:cs typeface="Arial"/>
              </a:rPr>
              <a:t>l’infrastructure </a:t>
            </a:r>
            <a:r>
              <a:rPr lang="fr-FR" sz="2800" spc="55" dirty="0">
                <a:solidFill>
                  <a:srgbClr val="212121"/>
                </a:solidFill>
                <a:latin typeface="Arial"/>
                <a:cs typeface="Arial"/>
              </a:rPr>
              <a:t>locale</a:t>
            </a:r>
            <a:r>
              <a:rPr lang="fr-FR" sz="2800" spc="240" dirty="0">
                <a:solidFill>
                  <a:srgbClr val="212121"/>
                </a:solidFill>
                <a:latin typeface="Arial"/>
                <a:cs typeface="Arial"/>
              </a:rPr>
              <a:t> </a:t>
            </a:r>
            <a:r>
              <a:rPr lang="fr-FR" sz="2800" spc="5" dirty="0">
                <a:solidFill>
                  <a:srgbClr val="212121"/>
                </a:solidFill>
                <a:latin typeface="Arial"/>
                <a:cs typeface="Arial"/>
              </a:rPr>
              <a:t>(interne).</a:t>
            </a:r>
            <a:endParaRPr lang="fr-FR" sz="2800" dirty="0">
              <a:latin typeface="Arial"/>
              <a:cs typeface="Arial"/>
            </a:endParaRPr>
          </a:p>
          <a:p>
            <a:pPr marL="411480" indent="0" algn="just">
              <a:lnSpc>
                <a:spcPct val="120000"/>
              </a:lnSpc>
              <a:spcBef>
                <a:spcPts val="265"/>
              </a:spcBef>
              <a:buNone/>
            </a:pPr>
            <a:r>
              <a:rPr lang="fr-FR" sz="2800" dirty="0">
                <a:solidFill>
                  <a:srgbClr val="212121"/>
                </a:solidFill>
                <a:latin typeface="Arial"/>
                <a:cs typeface="Arial"/>
              </a:rPr>
              <a:t>	- </a:t>
            </a:r>
            <a:r>
              <a:rPr lang="fr-FR" sz="2800" spc="10" dirty="0">
                <a:solidFill>
                  <a:srgbClr val="212121"/>
                </a:solidFill>
                <a:latin typeface="Arial"/>
                <a:cs typeface="Arial"/>
              </a:rPr>
              <a:t>La </a:t>
            </a:r>
            <a:r>
              <a:rPr lang="fr-FR" sz="2800" spc="85" dirty="0">
                <a:solidFill>
                  <a:srgbClr val="212121"/>
                </a:solidFill>
                <a:latin typeface="Arial"/>
                <a:cs typeface="Arial"/>
              </a:rPr>
              <a:t>disponibilité </a:t>
            </a:r>
            <a:r>
              <a:rPr lang="fr-FR" sz="2800" spc="70" dirty="0">
                <a:solidFill>
                  <a:srgbClr val="212121"/>
                </a:solidFill>
                <a:latin typeface="Arial"/>
                <a:cs typeface="Arial"/>
              </a:rPr>
              <a:t>fait </a:t>
            </a:r>
            <a:r>
              <a:rPr lang="fr-FR" sz="2800" spc="65" dirty="0">
                <a:solidFill>
                  <a:srgbClr val="212121"/>
                </a:solidFill>
                <a:latin typeface="Arial"/>
                <a:cs typeface="Arial"/>
              </a:rPr>
              <a:t>partie </a:t>
            </a:r>
            <a:r>
              <a:rPr lang="fr-FR" sz="2800" spc="45" dirty="0">
                <a:solidFill>
                  <a:srgbClr val="212121"/>
                </a:solidFill>
                <a:latin typeface="Arial"/>
                <a:cs typeface="Arial"/>
              </a:rPr>
              <a:t>de </a:t>
            </a:r>
            <a:r>
              <a:rPr lang="fr-FR" sz="2800" spc="100" dirty="0">
                <a:solidFill>
                  <a:srgbClr val="212121"/>
                </a:solidFill>
                <a:latin typeface="Arial"/>
                <a:cs typeface="Arial"/>
              </a:rPr>
              <a:t>“l’entente </a:t>
            </a:r>
            <a:r>
              <a:rPr lang="fr-FR" sz="2800" spc="45" dirty="0">
                <a:solidFill>
                  <a:srgbClr val="212121"/>
                </a:solidFill>
                <a:latin typeface="Arial"/>
                <a:cs typeface="Arial"/>
              </a:rPr>
              <a:t>de </a:t>
            </a:r>
            <a:r>
              <a:rPr lang="fr-FR" sz="2800" spc="30" dirty="0">
                <a:solidFill>
                  <a:srgbClr val="212121"/>
                </a:solidFill>
                <a:latin typeface="Arial"/>
                <a:cs typeface="Arial"/>
              </a:rPr>
              <a:t>niveau </a:t>
            </a:r>
            <a:r>
              <a:rPr lang="fr-FR" sz="2800" spc="45" dirty="0">
                <a:solidFill>
                  <a:srgbClr val="212121"/>
                </a:solidFill>
                <a:latin typeface="Arial"/>
                <a:cs typeface="Arial"/>
              </a:rPr>
              <a:t>de </a:t>
            </a:r>
            <a:r>
              <a:rPr lang="fr-FR" sz="2800" spc="90" dirty="0">
                <a:solidFill>
                  <a:srgbClr val="212121"/>
                </a:solidFill>
                <a:latin typeface="Arial"/>
                <a:cs typeface="Arial"/>
              </a:rPr>
              <a:t>service”</a:t>
            </a:r>
            <a:r>
              <a:rPr lang="fr-FR" sz="2800" spc="625" dirty="0">
                <a:solidFill>
                  <a:srgbClr val="212121"/>
                </a:solidFill>
                <a:latin typeface="Arial"/>
                <a:cs typeface="Arial"/>
              </a:rPr>
              <a:t> </a:t>
            </a:r>
            <a:r>
              <a:rPr lang="fr-FR" sz="2800" spc="-60" dirty="0">
                <a:solidFill>
                  <a:srgbClr val="212121"/>
                </a:solidFill>
                <a:latin typeface="Arial"/>
                <a:cs typeface="Arial"/>
              </a:rPr>
              <a:t>(SLA).</a:t>
            </a:r>
            <a:endParaRPr lang="fr-FR" sz="2800" dirty="0">
              <a:latin typeface="Arial"/>
              <a:cs typeface="Arial"/>
            </a:endParaRPr>
          </a:p>
          <a:p>
            <a:pPr algn="just">
              <a:lnSpc>
                <a:spcPct val="120000"/>
              </a:lnSpc>
              <a:spcBef>
                <a:spcPts val="15"/>
              </a:spcBef>
            </a:pPr>
            <a:endParaRPr lang="fr-FR" sz="3200" dirty="0">
              <a:latin typeface="Arial"/>
              <a:cs typeface="Arial"/>
            </a:endParaRPr>
          </a:p>
          <a:p>
            <a:pPr marL="599440" indent="-252729" algn="just">
              <a:lnSpc>
                <a:spcPct val="120000"/>
              </a:lnSpc>
              <a:spcBef>
                <a:spcPts val="5"/>
              </a:spcBef>
              <a:buChar char="•"/>
              <a:tabLst>
                <a:tab pos="600075" algn="l"/>
              </a:tabLst>
            </a:pPr>
            <a:r>
              <a:rPr lang="fr-FR" sz="2800" spc="50" dirty="0">
                <a:solidFill>
                  <a:srgbClr val="0A5D17"/>
                </a:solidFill>
                <a:latin typeface="Arial"/>
                <a:cs typeface="Arial"/>
              </a:rPr>
              <a:t>Evolutivité</a:t>
            </a:r>
            <a:endParaRPr lang="fr-FR" sz="2800" dirty="0">
              <a:latin typeface="Arial"/>
              <a:cs typeface="Arial"/>
            </a:endParaRPr>
          </a:p>
          <a:p>
            <a:pPr marL="411480" indent="0" algn="just">
              <a:lnSpc>
                <a:spcPct val="120000"/>
              </a:lnSpc>
              <a:buNone/>
              <a:tabLst>
                <a:tab pos="4514215" algn="l"/>
              </a:tabLst>
            </a:pPr>
            <a:r>
              <a:rPr lang="fr-FR" sz="2800" dirty="0">
                <a:solidFill>
                  <a:srgbClr val="212121"/>
                </a:solidFill>
                <a:latin typeface="Arial"/>
                <a:cs typeface="Arial"/>
              </a:rPr>
              <a:t>- </a:t>
            </a:r>
            <a:r>
              <a:rPr lang="fr-FR" sz="2800" spc="10" dirty="0">
                <a:solidFill>
                  <a:srgbClr val="212121"/>
                </a:solidFill>
                <a:latin typeface="Arial"/>
                <a:cs typeface="Arial"/>
              </a:rPr>
              <a:t>Le</a:t>
            </a:r>
            <a:r>
              <a:rPr lang="fr-FR" sz="2800" spc="345" dirty="0">
                <a:solidFill>
                  <a:srgbClr val="212121"/>
                </a:solidFill>
                <a:latin typeface="Arial"/>
                <a:cs typeface="Arial"/>
              </a:rPr>
              <a:t> </a:t>
            </a:r>
            <a:r>
              <a:rPr lang="fr-FR" sz="2800" spc="95" dirty="0">
                <a:solidFill>
                  <a:srgbClr val="212121"/>
                </a:solidFill>
                <a:latin typeface="Arial"/>
                <a:cs typeface="Arial"/>
              </a:rPr>
              <a:t>cloud</a:t>
            </a:r>
            <a:r>
              <a:rPr lang="fr-FR" sz="2800" spc="165" dirty="0">
                <a:solidFill>
                  <a:srgbClr val="212121"/>
                </a:solidFill>
                <a:latin typeface="Arial"/>
                <a:cs typeface="Arial"/>
              </a:rPr>
              <a:t> </a:t>
            </a:r>
            <a:r>
              <a:rPr lang="fr-FR" sz="2800" spc="100" dirty="0">
                <a:solidFill>
                  <a:srgbClr val="212121"/>
                </a:solidFill>
                <a:latin typeface="Arial"/>
                <a:cs typeface="Arial"/>
              </a:rPr>
              <a:t>public </a:t>
            </a:r>
            <a:r>
              <a:rPr lang="fr-FR" sz="2800" spc="30" dirty="0">
                <a:solidFill>
                  <a:srgbClr val="212121"/>
                </a:solidFill>
                <a:latin typeface="Arial"/>
                <a:cs typeface="Arial"/>
              </a:rPr>
              <a:t>offre </a:t>
            </a:r>
            <a:r>
              <a:rPr lang="fr-FR" sz="2800" spc="25" dirty="0">
                <a:solidFill>
                  <a:srgbClr val="212121"/>
                </a:solidFill>
                <a:latin typeface="Arial"/>
                <a:cs typeface="Arial"/>
              </a:rPr>
              <a:t>une </a:t>
            </a:r>
            <a:r>
              <a:rPr lang="fr-FR" sz="2800" spc="70" dirty="0">
                <a:solidFill>
                  <a:srgbClr val="212121"/>
                </a:solidFill>
                <a:latin typeface="Arial"/>
                <a:cs typeface="Arial"/>
              </a:rPr>
              <a:t>architecture </a:t>
            </a:r>
            <a:r>
              <a:rPr lang="fr-FR" sz="2800" dirty="0">
                <a:solidFill>
                  <a:srgbClr val="212121"/>
                </a:solidFill>
                <a:latin typeface="Arial"/>
                <a:cs typeface="Arial"/>
              </a:rPr>
              <a:t>à </a:t>
            </a:r>
            <a:r>
              <a:rPr lang="fr-FR" sz="2800" spc="45" dirty="0">
                <a:solidFill>
                  <a:srgbClr val="212121"/>
                </a:solidFill>
                <a:latin typeface="Arial"/>
                <a:cs typeface="Arial"/>
              </a:rPr>
              <a:t>haute</a:t>
            </a:r>
            <a:r>
              <a:rPr lang="fr-FR" sz="2800" spc="85" dirty="0">
                <a:solidFill>
                  <a:srgbClr val="212121"/>
                </a:solidFill>
                <a:latin typeface="Arial"/>
                <a:cs typeface="Arial"/>
              </a:rPr>
              <a:t> </a:t>
            </a:r>
            <a:r>
              <a:rPr lang="fr-FR" sz="2800" spc="60" dirty="0">
                <a:solidFill>
                  <a:srgbClr val="212121"/>
                </a:solidFill>
                <a:latin typeface="Arial"/>
                <a:cs typeface="Arial"/>
              </a:rPr>
              <a:t>évolutivité.</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B05CD596-9DA7-F591-F3FB-C01B66952788}"/>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DAA86BF9-2551-D674-69D2-580C1C0C200D}"/>
              </a:ext>
            </a:extLst>
          </p:cNvPr>
          <p:cNvSpPr>
            <a:spLocks noGrp="1"/>
          </p:cNvSpPr>
          <p:nvPr>
            <p:ph type="sldNum" sz="quarter" idx="12"/>
          </p:nvPr>
        </p:nvSpPr>
        <p:spPr/>
        <p:txBody>
          <a:bodyPr/>
          <a:lstStyle/>
          <a:p>
            <a:fld id="{B82CCC60-E8CD-4174-8B1A-7DF615B22EEF}" type="slidenum">
              <a:rPr lang="en-US" smtClean="0"/>
              <a:pPr/>
              <a:t>21</a:t>
            </a:fld>
            <a:endParaRPr lang="en-US"/>
          </a:p>
        </p:txBody>
      </p:sp>
    </p:spTree>
    <p:extLst>
      <p:ext uri="{BB962C8B-B14F-4D97-AF65-F5344CB8AC3E}">
        <p14:creationId xmlns:p14="http://schemas.microsoft.com/office/powerpoint/2010/main" val="3434775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2113EC5-4003-B2A3-AA6E-B3FFC45788E8}"/>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B61059BA-2DC9-C50A-5C81-0F4CB4B375E9}"/>
              </a:ext>
            </a:extLst>
          </p:cNvPr>
          <p:cNvSpPr>
            <a:spLocks noGrp="1"/>
          </p:cNvSpPr>
          <p:nvPr>
            <p:ph idx="1"/>
          </p:nvPr>
        </p:nvSpPr>
        <p:spPr/>
        <p:txBody>
          <a:bodyPr>
            <a:normAutofit fontScale="62500" lnSpcReduction="20000"/>
          </a:bodyPr>
          <a:lstStyle/>
          <a:p>
            <a:pPr marL="723900" indent="-376555" algn="just">
              <a:lnSpc>
                <a:spcPct val="120000"/>
              </a:lnSpc>
              <a:spcBef>
                <a:spcPts val="3975"/>
              </a:spcBef>
              <a:buChar char="•"/>
              <a:tabLst>
                <a:tab pos="723900" algn="l"/>
                <a:tab pos="724535" algn="l"/>
              </a:tabLst>
            </a:pPr>
            <a:r>
              <a:rPr lang="fr-FR" sz="2800" spc="75" dirty="0">
                <a:solidFill>
                  <a:srgbClr val="0A5D17"/>
                </a:solidFill>
                <a:latin typeface="Arial"/>
                <a:cs typeface="Arial"/>
              </a:rPr>
              <a:t>Accessibilité</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0" dirty="0">
                <a:solidFill>
                  <a:srgbClr val="212121"/>
                </a:solidFill>
                <a:latin typeface="Arial"/>
                <a:cs typeface="Arial"/>
              </a:rPr>
              <a:t>Les </a:t>
            </a:r>
            <a:r>
              <a:rPr lang="fr-FR" sz="2800" spc="50" dirty="0">
                <a:solidFill>
                  <a:srgbClr val="212121"/>
                </a:solidFill>
                <a:latin typeface="Arial"/>
                <a:cs typeface="Arial"/>
              </a:rPr>
              <a:t>services </a:t>
            </a:r>
            <a:r>
              <a:rPr lang="fr-FR" sz="2800" spc="60" dirty="0">
                <a:solidFill>
                  <a:srgbClr val="212121"/>
                </a:solidFill>
                <a:latin typeface="Arial"/>
                <a:cs typeface="Arial"/>
              </a:rPr>
              <a:t>du </a:t>
            </a:r>
            <a:r>
              <a:rPr lang="fr-FR" sz="2800" spc="65" dirty="0">
                <a:solidFill>
                  <a:srgbClr val="212121"/>
                </a:solidFill>
                <a:latin typeface="Arial"/>
                <a:cs typeface="Arial"/>
              </a:rPr>
              <a:t>Cloud </a:t>
            </a:r>
            <a:r>
              <a:rPr lang="fr-FR" sz="2800" spc="100" dirty="0">
                <a:solidFill>
                  <a:srgbClr val="212121"/>
                </a:solidFill>
                <a:latin typeface="Arial"/>
                <a:cs typeface="Arial"/>
              </a:rPr>
              <a:t>public </a:t>
            </a:r>
            <a:r>
              <a:rPr lang="fr-FR" sz="2800" spc="80" dirty="0">
                <a:solidFill>
                  <a:srgbClr val="212121"/>
                </a:solidFill>
                <a:latin typeface="Arial"/>
                <a:cs typeface="Arial"/>
              </a:rPr>
              <a:t>sont </a:t>
            </a:r>
            <a:r>
              <a:rPr lang="fr-FR" sz="2800" spc="70" dirty="0">
                <a:solidFill>
                  <a:srgbClr val="212121"/>
                </a:solidFill>
                <a:latin typeface="Arial"/>
                <a:cs typeface="Arial"/>
              </a:rPr>
              <a:t>accessibles </a:t>
            </a:r>
            <a:r>
              <a:rPr lang="fr-FR" sz="2800" spc="20" dirty="0">
                <a:solidFill>
                  <a:srgbClr val="212121"/>
                </a:solidFill>
                <a:latin typeface="Arial"/>
                <a:cs typeface="Arial"/>
              </a:rPr>
              <a:t>via </a:t>
            </a:r>
            <a:r>
              <a:rPr lang="fr-FR" sz="2800" spc="55" dirty="0">
                <a:solidFill>
                  <a:srgbClr val="212121"/>
                </a:solidFill>
                <a:latin typeface="Arial"/>
                <a:cs typeface="Arial"/>
              </a:rPr>
              <a:t>des </a:t>
            </a:r>
            <a:r>
              <a:rPr lang="fr-FR" sz="2800" spc="65" dirty="0">
                <a:solidFill>
                  <a:srgbClr val="212121"/>
                </a:solidFill>
                <a:latin typeface="Arial"/>
                <a:cs typeface="Arial"/>
              </a:rPr>
              <a:t>périphériques</a:t>
            </a:r>
            <a:r>
              <a:rPr lang="fr-FR" sz="2800" spc="-385" dirty="0">
                <a:solidFill>
                  <a:srgbClr val="212121"/>
                </a:solidFill>
                <a:latin typeface="Arial"/>
                <a:cs typeface="Arial"/>
              </a:rPr>
              <a:t> </a:t>
            </a:r>
            <a:r>
              <a:rPr lang="fr-FR" sz="2800" spc="55" dirty="0">
                <a:solidFill>
                  <a:srgbClr val="212121"/>
                </a:solidFill>
                <a:latin typeface="Arial"/>
                <a:cs typeface="Arial"/>
              </a:rPr>
              <a:t>divers</a:t>
            </a:r>
            <a:r>
              <a:rPr lang="fr-FR" dirty="0">
                <a:latin typeface="Arial"/>
                <a:cs typeface="Arial"/>
              </a:rPr>
              <a:t> </a:t>
            </a:r>
            <a:r>
              <a:rPr lang="fr-FR" sz="2800" spc="30" dirty="0">
                <a:solidFill>
                  <a:srgbClr val="212121"/>
                </a:solidFill>
                <a:latin typeface="Arial"/>
                <a:cs typeface="Arial"/>
              </a:rPr>
              <a:t>sans </a:t>
            </a:r>
            <a:r>
              <a:rPr lang="fr-FR" sz="2800" spc="70" dirty="0">
                <a:solidFill>
                  <a:srgbClr val="212121"/>
                </a:solidFill>
                <a:latin typeface="Arial"/>
                <a:cs typeface="Arial"/>
              </a:rPr>
              <a:t>besoin </a:t>
            </a:r>
            <a:r>
              <a:rPr lang="fr-FR" sz="2800" spc="90" dirty="0">
                <a:solidFill>
                  <a:srgbClr val="212121"/>
                </a:solidFill>
                <a:latin typeface="Arial"/>
                <a:cs typeface="Arial"/>
              </a:rPr>
              <a:t>d’un </a:t>
            </a:r>
            <a:r>
              <a:rPr lang="fr-FR" sz="2800" spc="75" dirty="0">
                <a:solidFill>
                  <a:srgbClr val="212121"/>
                </a:solidFill>
                <a:latin typeface="Arial"/>
                <a:cs typeface="Arial"/>
              </a:rPr>
              <a:t>client</a:t>
            </a:r>
            <a:r>
              <a:rPr lang="fr-FR" sz="2800" spc="95" dirty="0">
                <a:solidFill>
                  <a:srgbClr val="212121"/>
                </a:solidFill>
                <a:latin typeface="Arial"/>
                <a:cs typeface="Arial"/>
              </a:rPr>
              <a:t> </a:t>
            </a:r>
            <a:r>
              <a:rPr lang="fr-FR" sz="2800" spc="60" dirty="0">
                <a:solidFill>
                  <a:srgbClr val="212121"/>
                </a:solidFill>
                <a:latin typeface="Arial"/>
                <a:cs typeface="Arial"/>
              </a:rPr>
              <a:t>software.</a:t>
            </a:r>
            <a:endParaRPr lang="fr-FR" sz="2800" dirty="0">
              <a:latin typeface="Arial"/>
              <a:cs typeface="Arial"/>
            </a:endParaRPr>
          </a:p>
          <a:p>
            <a:pPr marL="723900" indent="-376555" algn="just">
              <a:lnSpc>
                <a:spcPct val="120000"/>
              </a:lnSpc>
              <a:buChar char="•"/>
              <a:tabLst>
                <a:tab pos="723900" algn="l"/>
                <a:tab pos="724535" algn="l"/>
              </a:tabLst>
            </a:pPr>
            <a:r>
              <a:rPr lang="fr-FR" sz="2800" spc="80" dirty="0">
                <a:solidFill>
                  <a:srgbClr val="0A5D17"/>
                </a:solidFill>
                <a:latin typeface="Arial"/>
                <a:cs typeface="Arial"/>
              </a:rPr>
              <a:t>Réduction </a:t>
            </a:r>
            <a:r>
              <a:rPr lang="fr-FR" sz="2800" spc="55" dirty="0">
                <a:solidFill>
                  <a:srgbClr val="0A5D17"/>
                </a:solidFill>
                <a:latin typeface="Arial"/>
                <a:cs typeface="Arial"/>
              </a:rPr>
              <a:t>des</a:t>
            </a:r>
            <a:r>
              <a:rPr lang="fr-FR" sz="2800" spc="40" dirty="0">
                <a:solidFill>
                  <a:srgbClr val="0A5D17"/>
                </a:solidFill>
                <a:latin typeface="Arial"/>
                <a:cs typeface="Arial"/>
              </a:rPr>
              <a:t> </a:t>
            </a:r>
            <a:r>
              <a:rPr lang="fr-FR" sz="2800" spc="90" dirty="0">
                <a:solidFill>
                  <a:srgbClr val="0A5D17"/>
                </a:solidFill>
                <a:latin typeface="Arial"/>
                <a:cs typeface="Arial"/>
              </a:rPr>
              <a:t>coûts</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Les </a:t>
            </a:r>
            <a:r>
              <a:rPr lang="fr-FR" sz="2800" spc="50" dirty="0">
                <a:solidFill>
                  <a:srgbClr val="212121"/>
                </a:solidFill>
                <a:latin typeface="Arial"/>
                <a:cs typeface="Arial"/>
              </a:rPr>
              <a:t>services </a:t>
            </a:r>
            <a:r>
              <a:rPr lang="fr-FR" sz="2800" spc="65" dirty="0">
                <a:solidFill>
                  <a:srgbClr val="212121"/>
                </a:solidFill>
                <a:latin typeface="Arial"/>
                <a:cs typeface="Arial"/>
              </a:rPr>
              <a:t>Cloud </a:t>
            </a:r>
            <a:r>
              <a:rPr lang="fr-FR" sz="2800" spc="100" dirty="0">
                <a:solidFill>
                  <a:srgbClr val="212121"/>
                </a:solidFill>
                <a:latin typeface="Arial"/>
                <a:cs typeface="Arial"/>
              </a:rPr>
              <a:t>public </a:t>
            </a:r>
            <a:r>
              <a:rPr lang="fr-FR" sz="2800" spc="80" dirty="0">
                <a:solidFill>
                  <a:srgbClr val="212121"/>
                </a:solidFill>
                <a:latin typeface="Arial"/>
                <a:cs typeface="Arial"/>
              </a:rPr>
              <a:t>permettent </a:t>
            </a:r>
            <a:r>
              <a:rPr lang="fr-FR" sz="2800" spc="50" dirty="0">
                <a:solidFill>
                  <a:srgbClr val="212121"/>
                </a:solidFill>
                <a:latin typeface="Arial"/>
                <a:cs typeface="Arial"/>
              </a:rPr>
              <a:t>de </a:t>
            </a:r>
            <a:r>
              <a:rPr lang="fr-FR" sz="2800" spc="30" dirty="0">
                <a:solidFill>
                  <a:srgbClr val="212121"/>
                </a:solidFill>
                <a:latin typeface="Arial"/>
                <a:cs typeface="Arial"/>
              </a:rPr>
              <a:t>réduire </a:t>
            </a:r>
            <a:r>
              <a:rPr lang="fr-FR" sz="2800" spc="20" dirty="0">
                <a:solidFill>
                  <a:srgbClr val="212121"/>
                </a:solidFill>
                <a:latin typeface="Arial"/>
                <a:cs typeface="Arial"/>
              </a:rPr>
              <a:t>les </a:t>
            </a:r>
            <a:r>
              <a:rPr lang="fr-FR" sz="2800" spc="90" dirty="0">
                <a:solidFill>
                  <a:srgbClr val="212121"/>
                </a:solidFill>
                <a:latin typeface="Arial"/>
                <a:cs typeface="Arial"/>
              </a:rPr>
              <a:t>coûts </a:t>
            </a:r>
            <a:r>
              <a:rPr lang="fr-FR" sz="2800" spc="10" dirty="0">
                <a:solidFill>
                  <a:srgbClr val="212121"/>
                </a:solidFill>
                <a:latin typeface="Arial"/>
                <a:cs typeface="Arial"/>
              </a:rPr>
              <a:t>en </a:t>
            </a:r>
            <a:r>
              <a:rPr lang="fr-FR" sz="2800" spc="50" dirty="0">
                <a:solidFill>
                  <a:srgbClr val="212121"/>
                </a:solidFill>
                <a:latin typeface="Arial"/>
                <a:cs typeface="Arial"/>
              </a:rPr>
              <a:t>terme </a:t>
            </a:r>
            <a:r>
              <a:rPr lang="fr-FR" sz="2800" spc="55" dirty="0">
                <a:solidFill>
                  <a:srgbClr val="212121"/>
                </a:solidFill>
                <a:latin typeface="Arial"/>
                <a:cs typeface="Arial"/>
              </a:rPr>
              <a:t>des</a:t>
            </a:r>
            <a:r>
              <a:rPr lang="fr-FR" sz="2800" spc="-140" dirty="0">
                <a:solidFill>
                  <a:srgbClr val="212121"/>
                </a:solidFill>
                <a:latin typeface="Arial"/>
                <a:cs typeface="Arial"/>
              </a:rPr>
              <a:t> </a:t>
            </a:r>
            <a:r>
              <a:rPr lang="fr-FR" sz="2800" spc="90" dirty="0">
                <a:solidFill>
                  <a:srgbClr val="212121"/>
                </a:solidFill>
                <a:latin typeface="Arial"/>
                <a:cs typeface="Arial"/>
              </a:rPr>
              <a:t>coûts</a:t>
            </a:r>
            <a:r>
              <a:rPr lang="fr-FR" dirty="0">
                <a:latin typeface="Arial"/>
                <a:cs typeface="Arial"/>
              </a:rPr>
              <a:t> </a:t>
            </a:r>
            <a:r>
              <a:rPr lang="fr-FR" sz="2800" spc="55" dirty="0">
                <a:solidFill>
                  <a:srgbClr val="212121"/>
                </a:solidFill>
                <a:latin typeface="Arial"/>
                <a:cs typeface="Arial"/>
              </a:rPr>
              <a:t>initiaux.</a:t>
            </a:r>
            <a:endParaRPr lang="fr-FR" sz="2800" dirty="0">
              <a:latin typeface="Arial"/>
              <a:cs typeface="Arial"/>
            </a:endParaRPr>
          </a:p>
          <a:p>
            <a:pPr marL="413385" indent="0" algn="just">
              <a:lnSpc>
                <a:spcPct val="120000"/>
              </a:lnSpc>
              <a:spcBef>
                <a:spcPts val="35"/>
              </a:spcBef>
              <a:buNone/>
            </a:pPr>
            <a:r>
              <a:rPr lang="fr-FR" sz="2800" dirty="0">
                <a:solidFill>
                  <a:srgbClr val="212121"/>
                </a:solidFill>
                <a:latin typeface="Arial"/>
                <a:cs typeface="Arial"/>
              </a:rPr>
              <a:t>- </a:t>
            </a:r>
            <a:r>
              <a:rPr lang="fr-FR" sz="2800" spc="40" dirty="0">
                <a:solidFill>
                  <a:srgbClr val="212121"/>
                </a:solidFill>
                <a:latin typeface="Arial"/>
                <a:cs typeface="Arial"/>
              </a:rPr>
              <a:t>Pour </a:t>
            </a:r>
            <a:r>
              <a:rPr lang="fr-FR" sz="2800" spc="30" dirty="0">
                <a:solidFill>
                  <a:srgbClr val="212121"/>
                </a:solidFill>
                <a:latin typeface="Arial"/>
                <a:cs typeface="Arial"/>
              </a:rPr>
              <a:t>assurer </a:t>
            </a:r>
            <a:r>
              <a:rPr lang="fr-FR" sz="2800" spc="75" dirty="0">
                <a:solidFill>
                  <a:srgbClr val="212121"/>
                </a:solidFill>
                <a:latin typeface="Arial"/>
                <a:cs typeface="Arial"/>
              </a:rPr>
              <a:t>l’accessibilité, </a:t>
            </a:r>
            <a:r>
              <a:rPr lang="fr-FR" sz="2800" spc="15" dirty="0">
                <a:solidFill>
                  <a:srgbClr val="212121"/>
                </a:solidFill>
                <a:latin typeface="Arial"/>
                <a:cs typeface="Arial"/>
              </a:rPr>
              <a:t>le </a:t>
            </a:r>
            <a:r>
              <a:rPr lang="fr-FR" sz="2800" spc="50" dirty="0">
                <a:solidFill>
                  <a:srgbClr val="212121"/>
                </a:solidFill>
                <a:latin typeface="Arial"/>
                <a:cs typeface="Arial"/>
              </a:rPr>
              <a:t>service </a:t>
            </a:r>
            <a:r>
              <a:rPr lang="fr-FR" sz="2800" spc="65" dirty="0">
                <a:solidFill>
                  <a:srgbClr val="212121"/>
                </a:solidFill>
                <a:latin typeface="Arial"/>
                <a:cs typeface="Arial"/>
              </a:rPr>
              <a:t>offert </a:t>
            </a:r>
            <a:r>
              <a:rPr lang="fr-FR" sz="2800" spc="105" dirty="0">
                <a:solidFill>
                  <a:srgbClr val="212121"/>
                </a:solidFill>
                <a:latin typeface="Arial"/>
                <a:cs typeface="Arial"/>
              </a:rPr>
              <a:t>doit </a:t>
            </a:r>
            <a:r>
              <a:rPr lang="fr-FR" sz="2800" spc="90" dirty="0">
                <a:solidFill>
                  <a:srgbClr val="212121"/>
                </a:solidFill>
                <a:latin typeface="Arial"/>
                <a:cs typeface="Arial"/>
              </a:rPr>
              <a:t>supporter </a:t>
            </a:r>
            <a:r>
              <a:rPr lang="fr-FR" sz="2800" spc="60" dirty="0">
                <a:solidFill>
                  <a:srgbClr val="212121"/>
                </a:solidFill>
                <a:latin typeface="Arial"/>
                <a:cs typeface="Arial"/>
              </a:rPr>
              <a:t>plusieurs</a:t>
            </a:r>
            <a:r>
              <a:rPr lang="fr-FR" sz="2800" spc="-420" dirty="0">
                <a:solidFill>
                  <a:srgbClr val="212121"/>
                </a:solidFill>
                <a:latin typeface="Arial"/>
                <a:cs typeface="Arial"/>
              </a:rPr>
              <a:t> </a:t>
            </a:r>
            <a:r>
              <a:rPr lang="fr-FR" sz="2800" spc="60" dirty="0">
                <a:solidFill>
                  <a:srgbClr val="212121"/>
                </a:solidFill>
                <a:latin typeface="Arial"/>
                <a:cs typeface="Arial"/>
              </a:rPr>
              <a:t>systèmes </a:t>
            </a:r>
            <a:r>
              <a:rPr lang="fr-FR" sz="2800" spc="95" dirty="0">
                <a:solidFill>
                  <a:srgbClr val="212121"/>
                </a:solidFill>
                <a:latin typeface="Arial"/>
                <a:cs typeface="Arial"/>
              </a:rPr>
              <a:t>d’exploitation </a:t>
            </a:r>
            <a:r>
              <a:rPr lang="fr-FR" sz="2800" spc="45" dirty="0">
                <a:solidFill>
                  <a:srgbClr val="212121"/>
                </a:solidFill>
                <a:latin typeface="Arial"/>
                <a:cs typeface="Arial"/>
              </a:rPr>
              <a:t>et </a:t>
            </a:r>
            <a:r>
              <a:rPr lang="fr-FR" sz="2800" spc="50" dirty="0">
                <a:solidFill>
                  <a:srgbClr val="212121"/>
                </a:solidFill>
                <a:latin typeface="Arial"/>
                <a:cs typeface="Arial"/>
              </a:rPr>
              <a:t>navigateurs </a:t>
            </a:r>
            <a:r>
              <a:rPr lang="fr-FR" sz="2800" dirty="0">
                <a:solidFill>
                  <a:srgbClr val="212121"/>
                </a:solidFill>
                <a:latin typeface="Arial"/>
                <a:cs typeface="Arial"/>
              </a:rPr>
              <a:t>: </a:t>
            </a:r>
            <a:r>
              <a:rPr lang="fr-FR" sz="2800" spc="15" dirty="0">
                <a:solidFill>
                  <a:srgbClr val="212121"/>
                </a:solidFill>
                <a:latin typeface="Arial"/>
                <a:cs typeface="Arial"/>
              </a:rPr>
              <a:t>le </a:t>
            </a:r>
            <a:r>
              <a:rPr lang="fr-FR" sz="2800" spc="105" dirty="0">
                <a:solidFill>
                  <a:srgbClr val="212121"/>
                </a:solidFill>
                <a:latin typeface="Arial"/>
                <a:cs typeface="Arial"/>
              </a:rPr>
              <a:t>coût </a:t>
            </a:r>
            <a:r>
              <a:rPr lang="fr-FR" sz="2800" spc="50" dirty="0">
                <a:solidFill>
                  <a:srgbClr val="212121"/>
                </a:solidFill>
                <a:latin typeface="Arial"/>
                <a:cs typeface="Arial"/>
              </a:rPr>
              <a:t>(solution traditionnelle) </a:t>
            </a:r>
            <a:r>
              <a:rPr lang="fr-FR" sz="2800" spc="80" dirty="0">
                <a:solidFill>
                  <a:srgbClr val="212121"/>
                </a:solidFill>
                <a:latin typeface="Arial"/>
                <a:cs typeface="Arial"/>
              </a:rPr>
              <a:t>peut </a:t>
            </a:r>
            <a:r>
              <a:rPr lang="fr-FR" sz="2800" spc="30" dirty="0">
                <a:solidFill>
                  <a:srgbClr val="212121"/>
                </a:solidFill>
                <a:latin typeface="Arial"/>
                <a:cs typeface="Arial"/>
              </a:rPr>
              <a:t>être  </a:t>
            </a:r>
            <a:r>
              <a:rPr lang="fr-FR" sz="2800" spc="60" dirty="0">
                <a:solidFill>
                  <a:srgbClr val="212121"/>
                </a:solidFill>
                <a:latin typeface="Arial"/>
                <a:cs typeface="Arial"/>
              </a:rPr>
              <a:t>extrêmement</a:t>
            </a:r>
            <a:r>
              <a:rPr lang="fr-FR" sz="2800" spc="55" dirty="0">
                <a:solidFill>
                  <a:srgbClr val="212121"/>
                </a:solidFill>
                <a:latin typeface="Arial"/>
                <a:cs typeface="Arial"/>
              </a:rPr>
              <a:t> </a:t>
            </a:r>
            <a:r>
              <a:rPr lang="fr-FR" sz="2800" spc="15" dirty="0">
                <a:solidFill>
                  <a:srgbClr val="212121"/>
                </a:solidFill>
                <a:latin typeface="Arial"/>
                <a:cs typeface="Arial"/>
              </a:rPr>
              <a:t>élevé.</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E651823C-4F62-880E-9696-37CCAF1AFBC6}"/>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7C83CB51-044B-EA78-BC65-261C4BC5BFC8}"/>
              </a:ext>
            </a:extLst>
          </p:cNvPr>
          <p:cNvSpPr>
            <a:spLocks noGrp="1"/>
          </p:cNvSpPr>
          <p:nvPr>
            <p:ph type="sldNum" sz="quarter" idx="12"/>
          </p:nvPr>
        </p:nvSpPr>
        <p:spPr/>
        <p:txBody>
          <a:bodyPr/>
          <a:lstStyle/>
          <a:p>
            <a:fld id="{B82CCC60-E8CD-4174-8B1A-7DF615B22EEF}" type="slidenum">
              <a:rPr lang="en-US" smtClean="0"/>
              <a:pPr/>
              <a:t>22</a:t>
            </a:fld>
            <a:endParaRPr lang="en-US"/>
          </a:p>
        </p:txBody>
      </p:sp>
    </p:spTree>
    <p:extLst>
      <p:ext uri="{BB962C8B-B14F-4D97-AF65-F5344CB8AC3E}">
        <p14:creationId xmlns:p14="http://schemas.microsoft.com/office/powerpoint/2010/main" val="221059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E590E-271C-5AB5-161F-89D0FF1A6089}"/>
              </a:ext>
            </a:extLst>
          </p:cNvPr>
          <p:cNvSpPr>
            <a:spLocks noGrp="1"/>
          </p:cNvSpPr>
          <p:nvPr>
            <p:ph type="title"/>
          </p:nvPr>
        </p:nvSpPr>
        <p:spPr/>
        <p:txBody>
          <a:bodyPr>
            <a:normAutofit fontScale="90000"/>
          </a:bodyPr>
          <a:lstStyle/>
          <a:p>
            <a:r>
              <a:rPr lang="fr-FR" sz="3600" spc="-25" dirty="0">
                <a:latin typeface="Arial Black"/>
                <a:cs typeface="Arial Black"/>
              </a:rPr>
              <a:t>Inconvénients </a:t>
            </a:r>
            <a:r>
              <a:rPr lang="fr-FR" sz="3600" spc="-5" dirty="0">
                <a:latin typeface="Arial Black"/>
                <a:cs typeface="Arial Black"/>
              </a:rPr>
              <a:t>du </a:t>
            </a:r>
            <a:r>
              <a:rPr lang="fr-FR" sz="3600" spc="-15" dirty="0">
                <a:latin typeface="Arial Black"/>
                <a:cs typeface="Arial Black"/>
              </a:rPr>
              <a:t>Cloud</a:t>
            </a:r>
            <a:r>
              <a:rPr lang="fr-FR" sz="3600" spc="-70" dirty="0">
                <a:latin typeface="Arial Black"/>
                <a:cs typeface="Arial Black"/>
              </a:rPr>
              <a:t> </a:t>
            </a:r>
            <a:r>
              <a:rPr lang="fr-FR" sz="3600" dirty="0">
                <a:latin typeface="Arial Black"/>
                <a:cs typeface="Arial Black"/>
              </a:rPr>
              <a:t>public</a:t>
            </a:r>
            <a:endParaRPr lang="fr-FR" dirty="0"/>
          </a:p>
        </p:txBody>
      </p:sp>
      <p:sp>
        <p:nvSpPr>
          <p:cNvPr id="3" name="Espace réservé du contenu 2">
            <a:extLst>
              <a:ext uri="{FF2B5EF4-FFF2-40B4-BE49-F238E27FC236}">
                <a16:creationId xmlns:a16="http://schemas.microsoft.com/office/drawing/2014/main" id="{48255120-A7BD-2EDB-2F9C-11148976BBEC}"/>
              </a:ext>
            </a:extLst>
          </p:cNvPr>
          <p:cNvSpPr>
            <a:spLocks noGrp="1"/>
          </p:cNvSpPr>
          <p:nvPr>
            <p:ph idx="1"/>
          </p:nvPr>
        </p:nvSpPr>
        <p:spPr>
          <a:xfrm>
            <a:off x="448966" y="1960930"/>
            <a:ext cx="8246070" cy="2901396"/>
          </a:xfrm>
        </p:spPr>
        <p:txBody>
          <a:bodyPr>
            <a:normAutofit fontScale="40000" lnSpcReduction="20000"/>
          </a:bodyPr>
          <a:lstStyle/>
          <a:p>
            <a:pPr marL="598805" indent="-252095" algn="just">
              <a:lnSpc>
                <a:spcPct val="120000"/>
              </a:lnSpc>
              <a:spcBef>
                <a:spcPts val="3970"/>
              </a:spcBef>
              <a:buChar char="•"/>
              <a:tabLst>
                <a:tab pos="599440" algn="l"/>
              </a:tabLst>
            </a:pPr>
            <a:r>
              <a:rPr lang="fr-FR" sz="2800" spc="70" dirty="0">
                <a:solidFill>
                  <a:srgbClr val="0A5D17"/>
                </a:solidFill>
                <a:latin typeface="Arial"/>
                <a:cs typeface="Arial"/>
              </a:rPr>
              <a:t>Limites </a:t>
            </a:r>
            <a:r>
              <a:rPr lang="fr-FR" sz="2800" spc="85" dirty="0">
                <a:solidFill>
                  <a:srgbClr val="0A5D17"/>
                </a:solidFill>
                <a:latin typeface="Arial"/>
                <a:cs typeface="Arial"/>
              </a:rPr>
              <a:t>d’intégration</a:t>
            </a:r>
            <a:endParaRPr lang="fr-FR" sz="2800" dirty="0">
              <a:latin typeface="Arial"/>
              <a:cs typeface="Arial"/>
            </a:endParaRPr>
          </a:p>
          <a:p>
            <a:pPr algn="just">
              <a:lnSpc>
                <a:spcPct val="120000"/>
              </a:lnSpc>
              <a:spcBef>
                <a:spcPts val="40"/>
              </a:spcBef>
              <a:buClr>
                <a:srgbClr val="0A5D17"/>
              </a:buClr>
              <a:buFont typeface="Arial"/>
              <a:buChar char="•"/>
            </a:pPr>
            <a:endParaRPr lang="fr-FR" sz="2800" dirty="0">
              <a:latin typeface="Arial"/>
              <a:cs typeface="Arial"/>
            </a:endParaRPr>
          </a:p>
          <a:p>
            <a:pPr marL="755650" marR="1998980" indent="0" algn="just">
              <a:lnSpc>
                <a:spcPct val="120000"/>
              </a:lnSpc>
              <a:spcBef>
                <a:spcPts val="5"/>
              </a:spcBef>
              <a:buNone/>
            </a:pPr>
            <a:r>
              <a:rPr lang="fr-FR" sz="2800" dirty="0">
                <a:solidFill>
                  <a:srgbClr val="212121"/>
                </a:solidFill>
                <a:latin typeface="Arial"/>
                <a:cs typeface="Arial"/>
              </a:rPr>
              <a:t>- </a:t>
            </a:r>
            <a:r>
              <a:rPr lang="fr-FR" sz="2800" spc="20" dirty="0">
                <a:solidFill>
                  <a:srgbClr val="212121"/>
                </a:solidFill>
                <a:latin typeface="Arial"/>
                <a:cs typeface="Arial"/>
              </a:rPr>
              <a:t>Les </a:t>
            </a:r>
            <a:r>
              <a:rPr lang="fr-FR" sz="2800" spc="60" dirty="0">
                <a:solidFill>
                  <a:srgbClr val="212121"/>
                </a:solidFill>
                <a:latin typeface="Arial"/>
                <a:cs typeface="Arial"/>
              </a:rPr>
              <a:t>organisations </a:t>
            </a:r>
            <a:r>
              <a:rPr lang="fr-FR" sz="2800" spc="70" dirty="0">
                <a:solidFill>
                  <a:srgbClr val="212121"/>
                </a:solidFill>
                <a:latin typeface="Arial"/>
                <a:cs typeface="Arial"/>
              </a:rPr>
              <a:t>peuvent </a:t>
            </a:r>
            <a:r>
              <a:rPr lang="fr-FR" sz="2800" spc="60" dirty="0">
                <a:solidFill>
                  <a:srgbClr val="212121"/>
                </a:solidFill>
                <a:latin typeface="Arial"/>
                <a:cs typeface="Arial"/>
              </a:rPr>
              <a:t>rencontrer </a:t>
            </a:r>
            <a:r>
              <a:rPr lang="fr-FR" sz="2800" spc="55" dirty="0">
                <a:solidFill>
                  <a:srgbClr val="212121"/>
                </a:solidFill>
                <a:latin typeface="Arial"/>
                <a:cs typeface="Arial"/>
              </a:rPr>
              <a:t>des </a:t>
            </a:r>
            <a:r>
              <a:rPr lang="fr-FR" sz="2800" spc="70" dirty="0">
                <a:solidFill>
                  <a:srgbClr val="212121"/>
                </a:solidFill>
                <a:latin typeface="Arial"/>
                <a:cs typeface="Arial"/>
              </a:rPr>
              <a:t>problèmes </a:t>
            </a:r>
            <a:r>
              <a:rPr lang="fr-FR" sz="2800" spc="60" dirty="0">
                <a:solidFill>
                  <a:srgbClr val="212121"/>
                </a:solidFill>
                <a:latin typeface="Arial"/>
                <a:cs typeface="Arial"/>
              </a:rPr>
              <a:t>lors du </a:t>
            </a:r>
            <a:r>
              <a:rPr lang="fr-FR" sz="2800" spc="50" dirty="0">
                <a:solidFill>
                  <a:srgbClr val="212121"/>
                </a:solidFill>
                <a:latin typeface="Arial"/>
                <a:cs typeface="Arial"/>
              </a:rPr>
              <a:t>passage </a:t>
            </a:r>
            <a:r>
              <a:rPr lang="fr-FR" sz="2800" spc="114" dirty="0" err="1">
                <a:solidFill>
                  <a:srgbClr val="212121"/>
                </a:solidFill>
                <a:latin typeface="Arial"/>
                <a:cs typeface="Arial"/>
              </a:rPr>
              <a:t>àdes</a:t>
            </a:r>
            <a:r>
              <a:rPr lang="fr-FR" sz="2800" spc="114" dirty="0">
                <a:solidFill>
                  <a:srgbClr val="212121"/>
                </a:solidFill>
                <a:latin typeface="Arial"/>
                <a:cs typeface="Arial"/>
              </a:rPr>
              <a:t>  </a:t>
            </a:r>
            <a:r>
              <a:rPr lang="fr-FR" sz="2800" spc="55" dirty="0">
                <a:solidFill>
                  <a:srgbClr val="212121"/>
                </a:solidFill>
                <a:latin typeface="Arial"/>
                <a:cs typeface="Arial"/>
              </a:rPr>
              <a:t>systèmes </a:t>
            </a:r>
            <a:r>
              <a:rPr lang="fr-FR" sz="2800" spc="35" dirty="0">
                <a:solidFill>
                  <a:srgbClr val="212121"/>
                </a:solidFill>
                <a:latin typeface="Arial"/>
                <a:cs typeface="Arial"/>
              </a:rPr>
              <a:t>sur </a:t>
            </a:r>
            <a:r>
              <a:rPr lang="fr-FR" sz="2800" spc="60" dirty="0">
                <a:solidFill>
                  <a:srgbClr val="212121"/>
                </a:solidFill>
                <a:latin typeface="Arial"/>
                <a:cs typeface="Arial"/>
              </a:rPr>
              <a:t>site </a:t>
            </a:r>
            <a:r>
              <a:rPr lang="fr-FR" sz="2800" dirty="0">
                <a:solidFill>
                  <a:srgbClr val="212121"/>
                </a:solidFill>
                <a:latin typeface="Arial"/>
                <a:cs typeface="Arial"/>
              </a:rPr>
              <a:t>(local) : </a:t>
            </a:r>
            <a:r>
              <a:rPr lang="fr-FR" sz="2800" spc="55" dirty="0">
                <a:solidFill>
                  <a:srgbClr val="212121"/>
                </a:solidFill>
                <a:latin typeface="Arial"/>
                <a:cs typeface="Arial"/>
              </a:rPr>
              <a:t>par </a:t>
            </a:r>
            <a:r>
              <a:rPr lang="fr-FR" sz="2800" spc="50" dirty="0">
                <a:solidFill>
                  <a:srgbClr val="212121"/>
                </a:solidFill>
                <a:latin typeface="Arial"/>
                <a:cs typeface="Arial"/>
              </a:rPr>
              <a:t>exemple, </a:t>
            </a:r>
            <a:r>
              <a:rPr lang="fr-FR" sz="2800" spc="55" dirty="0">
                <a:solidFill>
                  <a:srgbClr val="212121"/>
                </a:solidFill>
                <a:latin typeface="Arial"/>
                <a:cs typeface="Arial"/>
              </a:rPr>
              <a:t>des données </a:t>
            </a:r>
            <a:r>
              <a:rPr lang="fr-FR" sz="2800" spc="50" dirty="0">
                <a:solidFill>
                  <a:srgbClr val="212121"/>
                </a:solidFill>
                <a:latin typeface="Arial"/>
                <a:cs typeface="Arial"/>
              </a:rPr>
              <a:t>dans </a:t>
            </a:r>
            <a:r>
              <a:rPr lang="fr-FR" sz="2800" spc="55" dirty="0">
                <a:solidFill>
                  <a:srgbClr val="212121"/>
                </a:solidFill>
                <a:latin typeface="Arial"/>
                <a:cs typeface="Arial"/>
              </a:rPr>
              <a:t>des</a:t>
            </a:r>
            <a:r>
              <a:rPr lang="fr-FR" sz="2800" spc="280" dirty="0">
                <a:solidFill>
                  <a:srgbClr val="212121"/>
                </a:solidFill>
                <a:latin typeface="Arial"/>
                <a:cs typeface="Arial"/>
              </a:rPr>
              <a:t> </a:t>
            </a:r>
            <a:r>
              <a:rPr lang="fr-FR" sz="2800" spc="95" dirty="0" err="1">
                <a:solidFill>
                  <a:srgbClr val="212121"/>
                </a:solidFill>
                <a:latin typeface="Arial"/>
                <a:cs typeface="Arial"/>
              </a:rPr>
              <a:t>clouds</a:t>
            </a:r>
            <a:r>
              <a:rPr lang="fr-FR" sz="2800" spc="95" dirty="0">
                <a:solidFill>
                  <a:srgbClr val="212121"/>
                </a:solidFill>
                <a:latin typeface="Arial"/>
                <a:cs typeface="Arial"/>
              </a:rPr>
              <a:t> </a:t>
            </a:r>
            <a:r>
              <a:rPr lang="fr-FR" sz="2800" spc="-35" dirty="0">
                <a:solidFill>
                  <a:srgbClr val="212121"/>
                </a:solidFill>
                <a:latin typeface="Arial"/>
                <a:cs typeface="Arial"/>
              </a:rPr>
              <a:t>SaaS.</a:t>
            </a:r>
            <a:endParaRPr lang="fr-FR" sz="2800" dirty="0">
              <a:latin typeface="Arial"/>
              <a:cs typeface="Arial"/>
            </a:endParaRPr>
          </a:p>
          <a:p>
            <a:pPr marL="755650" marR="5080" indent="0" algn="just">
              <a:lnSpc>
                <a:spcPct val="120000"/>
              </a:lnSpc>
              <a:spcBef>
                <a:spcPts val="5"/>
              </a:spcBef>
              <a:buNone/>
            </a:pPr>
            <a:r>
              <a:rPr lang="fr-FR" sz="2800" dirty="0">
                <a:solidFill>
                  <a:srgbClr val="212121"/>
                </a:solidFill>
                <a:latin typeface="Arial"/>
                <a:cs typeface="Arial"/>
              </a:rPr>
              <a:t>- </a:t>
            </a:r>
            <a:r>
              <a:rPr lang="fr-FR" sz="2800" spc="70" dirty="0">
                <a:solidFill>
                  <a:srgbClr val="212121"/>
                </a:solidFill>
                <a:latin typeface="Arial"/>
                <a:cs typeface="Arial"/>
              </a:rPr>
              <a:t>Intégration </a:t>
            </a:r>
            <a:r>
              <a:rPr lang="fr-FR" sz="2800" spc="55" dirty="0">
                <a:solidFill>
                  <a:srgbClr val="212121"/>
                </a:solidFill>
                <a:latin typeface="Arial"/>
                <a:cs typeface="Arial"/>
              </a:rPr>
              <a:t>des </a:t>
            </a:r>
            <a:r>
              <a:rPr lang="fr-FR" sz="2800" spc="85" dirty="0">
                <a:solidFill>
                  <a:srgbClr val="212121"/>
                </a:solidFill>
                <a:latin typeface="Arial"/>
                <a:cs typeface="Arial"/>
              </a:rPr>
              <a:t>applications </a:t>
            </a:r>
            <a:r>
              <a:rPr lang="fr-FR" sz="2800" dirty="0">
                <a:solidFill>
                  <a:srgbClr val="212121"/>
                </a:solidFill>
                <a:latin typeface="Arial"/>
                <a:cs typeface="Arial"/>
              </a:rPr>
              <a:t>: </a:t>
            </a:r>
            <a:r>
              <a:rPr lang="fr-FR" sz="2800" spc="85" dirty="0">
                <a:solidFill>
                  <a:srgbClr val="212121"/>
                </a:solidFill>
                <a:latin typeface="Arial"/>
                <a:cs typeface="Arial"/>
              </a:rPr>
              <a:t>l'intégration, </a:t>
            </a:r>
            <a:r>
              <a:rPr lang="fr-FR" sz="2800" spc="30" dirty="0">
                <a:solidFill>
                  <a:srgbClr val="212121"/>
                </a:solidFill>
                <a:latin typeface="Arial"/>
                <a:cs typeface="Arial"/>
              </a:rPr>
              <a:t>sans </a:t>
            </a:r>
            <a:r>
              <a:rPr lang="fr-FR" sz="2800" spc="70" dirty="0">
                <a:solidFill>
                  <a:srgbClr val="212121"/>
                </a:solidFill>
                <a:latin typeface="Arial"/>
                <a:cs typeface="Arial"/>
              </a:rPr>
              <a:t>répétition, </a:t>
            </a:r>
            <a:r>
              <a:rPr lang="fr-FR" sz="2800" spc="55" dirty="0">
                <a:solidFill>
                  <a:srgbClr val="212121"/>
                </a:solidFill>
                <a:latin typeface="Arial"/>
                <a:cs typeface="Arial"/>
              </a:rPr>
              <a:t>des </a:t>
            </a:r>
            <a:r>
              <a:rPr lang="fr-FR" sz="2800" spc="45" dirty="0">
                <a:solidFill>
                  <a:srgbClr val="212121"/>
                </a:solidFill>
                <a:latin typeface="Arial"/>
                <a:cs typeface="Arial"/>
              </a:rPr>
              <a:t>mêmes  </a:t>
            </a:r>
            <a:r>
              <a:rPr lang="fr-FR" sz="2800" spc="80" dirty="0">
                <a:solidFill>
                  <a:srgbClr val="212121"/>
                </a:solidFill>
                <a:latin typeface="Arial"/>
                <a:cs typeface="Arial"/>
              </a:rPr>
              <a:t>fonctionnalités </a:t>
            </a:r>
            <a:r>
              <a:rPr lang="fr-FR" sz="2800" spc="50" dirty="0">
                <a:solidFill>
                  <a:srgbClr val="212121"/>
                </a:solidFill>
                <a:latin typeface="Arial"/>
                <a:cs typeface="Arial"/>
              </a:rPr>
              <a:t>dans </a:t>
            </a:r>
            <a:r>
              <a:rPr lang="fr-FR" sz="2800" spc="45" dirty="0">
                <a:solidFill>
                  <a:srgbClr val="212121"/>
                </a:solidFill>
                <a:latin typeface="Arial"/>
                <a:cs typeface="Arial"/>
              </a:rPr>
              <a:t>différentes </a:t>
            </a:r>
            <a:r>
              <a:rPr lang="fr-FR" sz="2800" spc="85" dirty="0">
                <a:solidFill>
                  <a:srgbClr val="212121"/>
                </a:solidFill>
                <a:latin typeface="Arial"/>
                <a:cs typeface="Arial"/>
              </a:rPr>
              <a:t>applications </a:t>
            </a:r>
            <a:r>
              <a:rPr lang="fr-FR" sz="2800" spc="80" dirty="0">
                <a:solidFill>
                  <a:srgbClr val="212121"/>
                </a:solidFill>
                <a:latin typeface="Arial"/>
                <a:cs typeface="Arial"/>
              </a:rPr>
              <a:t>peut </a:t>
            </a:r>
            <a:r>
              <a:rPr lang="fr-FR" sz="2800" spc="65" dirty="0">
                <a:solidFill>
                  <a:srgbClr val="212121"/>
                </a:solidFill>
                <a:latin typeface="Arial"/>
                <a:cs typeface="Arial"/>
              </a:rPr>
              <a:t>poser </a:t>
            </a:r>
            <a:r>
              <a:rPr lang="fr-FR" sz="2800" spc="30" dirty="0">
                <a:solidFill>
                  <a:srgbClr val="212121"/>
                </a:solidFill>
                <a:latin typeface="Arial"/>
                <a:cs typeface="Arial"/>
              </a:rPr>
              <a:t>un </a:t>
            </a:r>
            <a:r>
              <a:rPr lang="fr-FR" sz="2800" spc="75" dirty="0">
                <a:solidFill>
                  <a:srgbClr val="212121"/>
                </a:solidFill>
                <a:latin typeface="Arial"/>
                <a:cs typeface="Arial"/>
              </a:rPr>
              <a:t>problème </a:t>
            </a:r>
            <a:r>
              <a:rPr lang="fr-FR" sz="2800" spc="50" dirty="0">
                <a:solidFill>
                  <a:srgbClr val="212121"/>
                </a:solidFill>
                <a:latin typeface="Arial"/>
                <a:cs typeface="Arial"/>
              </a:rPr>
              <a:t>dans </a:t>
            </a:r>
            <a:r>
              <a:rPr lang="fr-FR" sz="2800" spc="20" dirty="0">
                <a:solidFill>
                  <a:srgbClr val="212121"/>
                </a:solidFill>
                <a:latin typeface="Arial"/>
                <a:cs typeface="Arial"/>
              </a:rPr>
              <a:t>les </a:t>
            </a:r>
            <a:r>
              <a:rPr lang="fr-FR" sz="2800" spc="65" dirty="0" err="1">
                <a:solidFill>
                  <a:srgbClr val="212121"/>
                </a:solidFill>
                <a:latin typeface="Arial"/>
                <a:cs typeface="Arial"/>
              </a:rPr>
              <a:t>Clouds</a:t>
            </a:r>
            <a:r>
              <a:rPr lang="fr-FR" sz="2800" spc="65" dirty="0">
                <a:solidFill>
                  <a:srgbClr val="212121"/>
                </a:solidFill>
                <a:latin typeface="Arial"/>
                <a:cs typeface="Arial"/>
              </a:rPr>
              <a:t>  </a:t>
            </a:r>
            <a:r>
              <a:rPr lang="fr-FR" sz="2800" spc="-35" dirty="0">
                <a:solidFill>
                  <a:srgbClr val="212121"/>
                </a:solidFill>
                <a:latin typeface="Arial"/>
                <a:cs typeface="Arial"/>
              </a:rPr>
              <a:t>SaaS.</a:t>
            </a:r>
            <a:endParaRPr lang="fr-FR" sz="2800" dirty="0">
              <a:latin typeface="Arial"/>
              <a:cs typeface="Arial"/>
            </a:endParaRPr>
          </a:p>
          <a:p>
            <a:pPr algn="just">
              <a:lnSpc>
                <a:spcPct val="120000"/>
              </a:lnSpc>
              <a:spcBef>
                <a:spcPts val="45"/>
              </a:spcBef>
            </a:pPr>
            <a:endParaRPr lang="fr-FR" sz="3600" dirty="0">
              <a:latin typeface="Arial"/>
              <a:cs typeface="Arial"/>
            </a:endParaRPr>
          </a:p>
          <a:p>
            <a:pPr marL="598805" indent="-252095" algn="just">
              <a:lnSpc>
                <a:spcPct val="120000"/>
              </a:lnSpc>
              <a:spcBef>
                <a:spcPts val="5"/>
              </a:spcBef>
              <a:buChar char="•"/>
              <a:tabLst>
                <a:tab pos="599440" algn="l"/>
              </a:tabLst>
            </a:pPr>
            <a:r>
              <a:rPr lang="fr-FR" sz="2800" spc="60" dirty="0">
                <a:solidFill>
                  <a:srgbClr val="0A5D17"/>
                </a:solidFill>
                <a:latin typeface="Arial"/>
                <a:cs typeface="Arial"/>
              </a:rPr>
              <a:t>Flexibilité</a:t>
            </a:r>
            <a:r>
              <a:rPr lang="fr-FR" sz="2800" spc="80" dirty="0">
                <a:solidFill>
                  <a:srgbClr val="0A5D17"/>
                </a:solidFill>
                <a:latin typeface="Arial"/>
                <a:cs typeface="Arial"/>
              </a:rPr>
              <a:t> </a:t>
            </a:r>
            <a:r>
              <a:rPr lang="fr-FR" sz="2800" spc="55" dirty="0">
                <a:solidFill>
                  <a:srgbClr val="0A5D17"/>
                </a:solidFill>
                <a:latin typeface="Arial"/>
                <a:cs typeface="Arial"/>
              </a:rPr>
              <a:t>réduite</a:t>
            </a:r>
            <a:endParaRPr lang="fr-FR" sz="2800" dirty="0">
              <a:latin typeface="Arial"/>
              <a:cs typeface="Arial"/>
            </a:endParaRPr>
          </a:p>
          <a:p>
            <a:pPr marL="755650" marR="1503680"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Les </a:t>
            </a:r>
            <a:r>
              <a:rPr lang="fr-FR" sz="2800" spc="45" dirty="0">
                <a:solidFill>
                  <a:srgbClr val="212121"/>
                </a:solidFill>
                <a:latin typeface="Arial"/>
                <a:cs typeface="Arial"/>
              </a:rPr>
              <a:t>mises </a:t>
            </a:r>
            <a:r>
              <a:rPr lang="fr-FR" sz="2800" dirty="0">
                <a:solidFill>
                  <a:srgbClr val="212121"/>
                </a:solidFill>
                <a:latin typeface="Arial"/>
                <a:cs typeface="Arial"/>
              </a:rPr>
              <a:t>à </a:t>
            </a:r>
            <a:r>
              <a:rPr lang="fr-FR" sz="2800" spc="30" dirty="0">
                <a:solidFill>
                  <a:srgbClr val="212121"/>
                </a:solidFill>
                <a:latin typeface="Arial"/>
                <a:cs typeface="Arial"/>
              </a:rPr>
              <a:t>niveau </a:t>
            </a:r>
            <a:r>
              <a:rPr lang="fr-FR" sz="2800" spc="60" dirty="0">
                <a:solidFill>
                  <a:srgbClr val="212121"/>
                </a:solidFill>
                <a:latin typeface="Arial"/>
                <a:cs typeface="Arial"/>
              </a:rPr>
              <a:t>du </a:t>
            </a:r>
            <a:r>
              <a:rPr lang="fr-FR" sz="2800" spc="55" dirty="0">
                <a:solidFill>
                  <a:srgbClr val="212121"/>
                </a:solidFill>
                <a:latin typeface="Arial"/>
                <a:cs typeface="Arial"/>
              </a:rPr>
              <a:t>système </a:t>
            </a:r>
            <a:r>
              <a:rPr lang="fr-FR" sz="2800" spc="95" dirty="0">
                <a:solidFill>
                  <a:srgbClr val="212121"/>
                </a:solidFill>
                <a:latin typeface="Arial"/>
                <a:cs typeface="Arial"/>
              </a:rPr>
              <a:t>d’exploitation </a:t>
            </a:r>
            <a:r>
              <a:rPr lang="fr-FR" sz="2800" spc="70" dirty="0">
                <a:solidFill>
                  <a:srgbClr val="212121"/>
                </a:solidFill>
                <a:latin typeface="Arial"/>
                <a:cs typeface="Arial"/>
              </a:rPr>
              <a:t>peuvent </a:t>
            </a:r>
            <a:r>
              <a:rPr lang="fr-FR" sz="2800" spc="80" dirty="0">
                <a:solidFill>
                  <a:srgbClr val="212121"/>
                </a:solidFill>
                <a:latin typeface="Arial"/>
                <a:cs typeface="Arial"/>
              </a:rPr>
              <a:t>provoquer </a:t>
            </a:r>
            <a:r>
              <a:rPr lang="fr-FR" sz="2800" spc="30" dirty="0">
                <a:solidFill>
                  <a:srgbClr val="212121"/>
                </a:solidFill>
                <a:latin typeface="Arial"/>
                <a:cs typeface="Arial"/>
              </a:rPr>
              <a:t>un</a:t>
            </a:r>
            <a:r>
              <a:rPr lang="fr-FR" sz="2800" spc="-400" dirty="0">
                <a:solidFill>
                  <a:srgbClr val="212121"/>
                </a:solidFill>
                <a:latin typeface="Arial"/>
                <a:cs typeface="Arial"/>
              </a:rPr>
              <a:t> </a:t>
            </a:r>
            <a:r>
              <a:rPr lang="fr-FR" sz="2800" spc="85" dirty="0">
                <a:solidFill>
                  <a:srgbClr val="212121"/>
                </a:solidFill>
                <a:latin typeface="Arial"/>
                <a:cs typeface="Arial"/>
              </a:rPr>
              <a:t>problème  </a:t>
            </a:r>
            <a:r>
              <a:rPr lang="fr-FR" sz="2800" spc="55" dirty="0">
                <a:solidFill>
                  <a:srgbClr val="212121"/>
                </a:solidFill>
                <a:latin typeface="Arial"/>
                <a:cs typeface="Arial"/>
              </a:rPr>
              <a:t>(mixed-versions </a:t>
            </a:r>
            <a:r>
              <a:rPr lang="fr-FR" sz="2800" spc="5" dirty="0">
                <a:solidFill>
                  <a:srgbClr val="212121"/>
                </a:solidFill>
                <a:latin typeface="Arial"/>
                <a:cs typeface="Arial"/>
              </a:rPr>
              <a:t>race) </a:t>
            </a:r>
            <a:r>
              <a:rPr lang="fr-FR" sz="2800" spc="35" dirty="0">
                <a:solidFill>
                  <a:srgbClr val="212121"/>
                </a:solidFill>
                <a:latin typeface="Arial"/>
                <a:cs typeface="Arial"/>
              </a:rPr>
              <a:t>entre </a:t>
            </a:r>
            <a:r>
              <a:rPr lang="fr-FR" sz="2800" spc="20" dirty="0">
                <a:solidFill>
                  <a:srgbClr val="212121"/>
                </a:solidFill>
                <a:latin typeface="Arial"/>
                <a:cs typeface="Arial"/>
              </a:rPr>
              <a:t>les </a:t>
            </a:r>
            <a:r>
              <a:rPr lang="fr-FR" sz="2800" spc="45" dirty="0">
                <a:solidFill>
                  <a:srgbClr val="212121"/>
                </a:solidFill>
                <a:latin typeface="Arial"/>
                <a:cs typeface="Arial"/>
              </a:rPr>
              <a:t>différentes </a:t>
            </a:r>
            <a:r>
              <a:rPr lang="fr-FR" sz="2800" spc="50" dirty="0">
                <a:solidFill>
                  <a:srgbClr val="212121"/>
                </a:solidFill>
                <a:latin typeface="Arial"/>
                <a:cs typeface="Arial"/>
              </a:rPr>
              <a:t>versions de </a:t>
            </a:r>
            <a:r>
              <a:rPr lang="fr-FR" sz="2800" spc="15" dirty="0">
                <a:solidFill>
                  <a:srgbClr val="212121"/>
                </a:solidFill>
                <a:latin typeface="Arial"/>
                <a:cs typeface="Arial"/>
              </a:rPr>
              <a:t>la </a:t>
            </a:r>
            <a:r>
              <a:rPr lang="fr-FR" sz="2800" spc="45" dirty="0">
                <a:solidFill>
                  <a:srgbClr val="212121"/>
                </a:solidFill>
                <a:latin typeface="Arial"/>
                <a:cs typeface="Arial"/>
              </a:rPr>
              <a:t>même</a:t>
            </a:r>
            <a:r>
              <a:rPr lang="fr-FR" sz="2800" spc="355" dirty="0">
                <a:solidFill>
                  <a:srgbClr val="212121"/>
                </a:solidFill>
                <a:latin typeface="Arial"/>
                <a:cs typeface="Arial"/>
              </a:rPr>
              <a:t> </a:t>
            </a:r>
            <a:r>
              <a:rPr lang="fr-FR" sz="2800" spc="80" dirty="0">
                <a:solidFill>
                  <a:srgbClr val="212121"/>
                </a:solidFill>
                <a:latin typeface="Arial"/>
                <a:cs typeface="Arial"/>
              </a:rPr>
              <a:t>application.</a:t>
            </a:r>
            <a:endParaRPr lang="fr-FR" sz="2800" dirty="0">
              <a:latin typeface="Arial"/>
              <a:cs typeface="Arial"/>
            </a:endParaRPr>
          </a:p>
          <a:p>
            <a:pPr algn="just">
              <a:lnSpc>
                <a:spcPct val="120000"/>
              </a:lnSpc>
              <a:spcBef>
                <a:spcPts val="10"/>
              </a:spcBef>
            </a:pPr>
            <a:endParaRPr lang="fr-FR" sz="3200" dirty="0">
              <a:latin typeface="Arial"/>
              <a:cs typeface="Arial"/>
            </a:endParaRPr>
          </a:p>
          <a:p>
            <a:pPr marL="723900" indent="-377190" algn="just">
              <a:lnSpc>
                <a:spcPct val="120000"/>
              </a:lnSpc>
              <a:buChar char="•"/>
              <a:tabLst>
                <a:tab pos="723900" algn="l"/>
                <a:tab pos="724535" algn="l"/>
              </a:tabLst>
            </a:pPr>
            <a:r>
              <a:rPr lang="fr-FR" sz="2800" spc="-95" dirty="0">
                <a:solidFill>
                  <a:srgbClr val="0A5D17"/>
                </a:solidFill>
                <a:latin typeface="Arial"/>
                <a:cs typeface="Arial"/>
              </a:rPr>
              <a:t>Temps </a:t>
            </a:r>
            <a:r>
              <a:rPr lang="fr-FR" sz="2800" spc="75" dirty="0">
                <a:solidFill>
                  <a:srgbClr val="0A5D17"/>
                </a:solidFill>
                <a:latin typeface="Arial"/>
                <a:cs typeface="Arial"/>
              </a:rPr>
              <a:t>d’arrêt</a:t>
            </a:r>
            <a:r>
              <a:rPr lang="fr-FR" sz="2800" spc="130" dirty="0">
                <a:solidFill>
                  <a:srgbClr val="0A5D17"/>
                </a:solidFill>
                <a:latin typeface="Arial"/>
                <a:cs typeface="Arial"/>
              </a:rPr>
              <a:t> </a:t>
            </a:r>
            <a:r>
              <a:rPr lang="fr-FR" sz="2800" spc="70" dirty="0">
                <a:solidFill>
                  <a:srgbClr val="0A5D17"/>
                </a:solidFill>
                <a:latin typeface="Arial"/>
                <a:cs typeface="Arial"/>
              </a:rPr>
              <a:t>forcé</a:t>
            </a:r>
            <a:endParaRPr lang="fr-FR" sz="2800" dirty="0">
              <a:latin typeface="Arial"/>
              <a:cs typeface="Arial"/>
            </a:endParaRPr>
          </a:p>
          <a:p>
            <a:pPr marL="755650" marR="824230" indent="0" algn="just">
              <a:lnSpc>
                <a:spcPct val="120000"/>
              </a:lnSpc>
              <a:spcBef>
                <a:spcPts val="5"/>
              </a:spcBef>
              <a:buNone/>
            </a:pPr>
            <a:r>
              <a:rPr lang="fr-FR" sz="2800" dirty="0">
                <a:solidFill>
                  <a:srgbClr val="212121"/>
                </a:solidFill>
                <a:latin typeface="Arial"/>
                <a:cs typeface="Arial"/>
              </a:rPr>
              <a:t>- </a:t>
            </a:r>
            <a:r>
              <a:rPr lang="fr-FR" sz="2800" spc="10" dirty="0">
                <a:solidFill>
                  <a:srgbClr val="212121"/>
                </a:solidFill>
                <a:latin typeface="Arial"/>
                <a:cs typeface="Arial"/>
              </a:rPr>
              <a:t>La </a:t>
            </a:r>
            <a:r>
              <a:rPr lang="fr-FR" sz="2800" spc="50" dirty="0">
                <a:solidFill>
                  <a:srgbClr val="212121"/>
                </a:solidFill>
                <a:latin typeface="Arial"/>
                <a:cs typeface="Arial"/>
              </a:rPr>
              <a:t>maintenance </a:t>
            </a:r>
            <a:r>
              <a:rPr lang="fr-FR" sz="2800" spc="60" dirty="0">
                <a:solidFill>
                  <a:srgbClr val="212121"/>
                </a:solidFill>
                <a:latin typeface="Arial"/>
                <a:cs typeface="Arial"/>
              </a:rPr>
              <a:t>du </a:t>
            </a:r>
            <a:r>
              <a:rPr lang="fr-FR" sz="2800" spc="55" dirty="0">
                <a:solidFill>
                  <a:srgbClr val="212121"/>
                </a:solidFill>
                <a:latin typeface="Arial"/>
                <a:cs typeface="Arial"/>
              </a:rPr>
              <a:t>système </a:t>
            </a:r>
            <a:r>
              <a:rPr lang="fr-FR" sz="2800" spc="45" dirty="0">
                <a:solidFill>
                  <a:srgbClr val="212121"/>
                </a:solidFill>
                <a:latin typeface="Arial"/>
                <a:cs typeface="Arial"/>
              </a:rPr>
              <a:t>et </a:t>
            </a:r>
            <a:r>
              <a:rPr lang="fr-FR" sz="2800" spc="15" dirty="0">
                <a:solidFill>
                  <a:srgbClr val="212121"/>
                </a:solidFill>
                <a:latin typeface="Arial"/>
                <a:cs typeface="Arial"/>
              </a:rPr>
              <a:t>la </a:t>
            </a:r>
            <a:r>
              <a:rPr lang="fr-FR" sz="2800" spc="80" dirty="0">
                <a:solidFill>
                  <a:srgbClr val="212121"/>
                </a:solidFill>
                <a:latin typeface="Arial"/>
                <a:cs typeface="Arial"/>
              </a:rPr>
              <a:t>planification </a:t>
            </a:r>
            <a:r>
              <a:rPr lang="fr-FR" sz="2800" spc="55" dirty="0">
                <a:solidFill>
                  <a:srgbClr val="212121"/>
                </a:solidFill>
                <a:latin typeface="Arial"/>
                <a:cs typeface="Arial"/>
              </a:rPr>
              <a:t>des </a:t>
            </a:r>
            <a:r>
              <a:rPr lang="fr-FR" sz="2800" spc="45" dirty="0">
                <a:solidFill>
                  <a:srgbClr val="212121"/>
                </a:solidFill>
                <a:latin typeface="Arial"/>
                <a:cs typeface="Arial"/>
              </a:rPr>
              <a:t>mises </a:t>
            </a:r>
            <a:r>
              <a:rPr lang="fr-FR" sz="2800" dirty="0">
                <a:solidFill>
                  <a:srgbClr val="212121"/>
                </a:solidFill>
                <a:latin typeface="Arial"/>
                <a:cs typeface="Arial"/>
              </a:rPr>
              <a:t>à </a:t>
            </a:r>
            <a:r>
              <a:rPr lang="fr-FR" sz="2800" spc="25" dirty="0">
                <a:solidFill>
                  <a:srgbClr val="212121"/>
                </a:solidFill>
                <a:latin typeface="Arial"/>
                <a:cs typeface="Arial"/>
              </a:rPr>
              <a:t>niveau </a:t>
            </a:r>
            <a:r>
              <a:rPr lang="fr-FR" sz="2800" spc="90" dirty="0" err="1">
                <a:solidFill>
                  <a:srgbClr val="212121"/>
                </a:solidFill>
                <a:latin typeface="Arial"/>
                <a:cs typeface="Arial"/>
              </a:rPr>
              <a:t>peuventcauser</a:t>
            </a:r>
            <a:r>
              <a:rPr lang="fr-FR" sz="2800" spc="90" dirty="0">
                <a:solidFill>
                  <a:srgbClr val="212121"/>
                </a:solidFill>
                <a:latin typeface="Arial"/>
                <a:cs typeface="Arial"/>
              </a:rPr>
              <a:t>  </a:t>
            </a:r>
            <a:r>
              <a:rPr lang="fr-FR" sz="2800" spc="55" dirty="0">
                <a:solidFill>
                  <a:srgbClr val="212121"/>
                </a:solidFill>
                <a:latin typeface="Arial"/>
                <a:cs typeface="Arial"/>
              </a:rPr>
              <a:t>des </a:t>
            </a:r>
            <a:r>
              <a:rPr lang="fr-FR" sz="2800" spc="90" dirty="0">
                <a:solidFill>
                  <a:srgbClr val="212121"/>
                </a:solidFill>
                <a:latin typeface="Arial"/>
                <a:cs typeface="Arial"/>
              </a:rPr>
              <a:t>temps </a:t>
            </a:r>
            <a:r>
              <a:rPr lang="fr-FR" sz="2800" spc="75" dirty="0">
                <a:solidFill>
                  <a:srgbClr val="212121"/>
                </a:solidFill>
                <a:latin typeface="Arial"/>
                <a:cs typeface="Arial"/>
              </a:rPr>
              <a:t>d’arrêt </a:t>
            </a:r>
            <a:r>
              <a:rPr lang="fr-FR" sz="2800" spc="65" dirty="0">
                <a:solidFill>
                  <a:srgbClr val="212121"/>
                </a:solidFill>
                <a:latin typeface="Arial"/>
                <a:cs typeface="Arial"/>
              </a:rPr>
              <a:t>forcés </a:t>
            </a:r>
            <a:r>
              <a:rPr lang="fr-FR" sz="2800" spc="45" dirty="0">
                <a:solidFill>
                  <a:srgbClr val="212121"/>
                </a:solidFill>
                <a:latin typeface="Arial"/>
                <a:cs typeface="Arial"/>
              </a:rPr>
              <a:t>et </a:t>
            </a:r>
            <a:r>
              <a:rPr lang="fr-FR" sz="2800" spc="35" dirty="0">
                <a:solidFill>
                  <a:srgbClr val="212121"/>
                </a:solidFill>
                <a:latin typeface="Arial"/>
                <a:cs typeface="Arial"/>
              </a:rPr>
              <a:t>ainsi </a:t>
            </a:r>
            <a:r>
              <a:rPr lang="fr-FR" sz="2800" spc="15" dirty="0">
                <a:solidFill>
                  <a:srgbClr val="212121"/>
                </a:solidFill>
                <a:latin typeface="Arial"/>
                <a:cs typeface="Arial"/>
              </a:rPr>
              <a:t>la </a:t>
            </a:r>
            <a:r>
              <a:rPr lang="fr-FR" sz="2800" spc="110" dirty="0">
                <a:solidFill>
                  <a:srgbClr val="212121"/>
                </a:solidFill>
                <a:latin typeface="Arial"/>
                <a:cs typeface="Arial"/>
              </a:rPr>
              <a:t>non-disponibilité des</a:t>
            </a:r>
            <a:r>
              <a:rPr lang="fr-FR" sz="2800" spc="855" dirty="0">
                <a:solidFill>
                  <a:srgbClr val="212121"/>
                </a:solidFill>
                <a:latin typeface="Arial"/>
                <a:cs typeface="Arial"/>
              </a:rPr>
              <a:t> </a:t>
            </a:r>
            <a:r>
              <a:rPr lang="fr-FR" sz="2800" spc="45" dirty="0">
                <a:solidFill>
                  <a:srgbClr val="212121"/>
                </a:solidFill>
                <a:latin typeface="Arial"/>
                <a:cs typeface="Arial"/>
              </a:rPr>
              <a:t>services.</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5FF87740-3E71-27A2-B446-EE43F056978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A578878-FECE-3053-7E35-E7BA06C5D8A8}"/>
              </a:ext>
            </a:extLst>
          </p:cNvPr>
          <p:cNvSpPr>
            <a:spLocks noGrp="1"/>
          </p:cNvSpPr>
          <p:nvPr>
            <p:ph type="sldNum" sz="quarter" idx="12"/>
          </p:nvPr>
        </p:nvSpPr>
        <p:spPr/>
        <p:txBody>
          <a:bodyPr/>
          <a:lstStyle/>
          <a:p>
            <a:fld id="{B82CCC60-E8CD-4174-8B1A-7DF615B22EEF}" type="slidenum">
              <a:rPr lang="en-US" smtClean="0"/>
              <a:pPr/>
              <a:t>23</a:t>
            </a:fld>
            <a:endParaRPr lang="en-US"/>
          </a:p>
        </p:txBody>
      </p:sp>
    </p:spTree>
    <p:extLst>
      <p:ext uri="{BB962C8B-B14F-4D97-AF65-F5344CB8AC3E}">
        <p14:creationId xmlns:p14="http://schemas.microsoft.com/office/powerpoint/2010/main" val="4175362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DF4EE7-2AD6-FAFB-52F1-11DD2ECECD1A}"/>
              </a:ext>
            </a:extLst>
          </p:cNvPr>
          <p:cNvSpPr>
            <a:spLocks noGrp="1"/>
          </p:cNvSpPr>
          <p:nvPr>
            <p:ph type="title"/>
          </p:nvPr>
        </p:nvSpPr>
        <p:spPr/>
        <p:txBody>
          <a:bodyPr>
            <a:noAutofit/>
          </a:bodyPr>
          <a:lstStyle/>
          <a:p>
            <a:r>
              <a:rPr lang="fr-FR" sz="2800" spc="-10" dirty="0">
                <a:latin typeface="Arial Black"/>
                <a:cs typeface="Arial Black"/>
              </a:rPr>
              <a:t>Cloud </a:t>
            </a:r>
            <a:r>
              <a:rPr lang="fr-FR" sz="2800" spc="-5" dirty="0">
                <a:latin typeface="Arial Black"/>
                <a:cs typeface="Arial Black"/>
              </a:rPr>
              <a:t>public </a:t>
            </a:r>
            <a:r>
              <a:rPr lang="fr-FR" sz="2800" dirty="0">
                <a:latin typeface="Arial Black"/>
                <a:cs typeface="Arial Black"/>
              </a:rPr>
              <a:t>: </a:t>
            </a:r>
            <a:r>
              <a:rPr lang="fr-FR" sz="2800" spc="-5" dirty="0">
                <a:latin typeface="Arial Black"/>
                <a:cs typeface="Arial Black"/>
              </a:rPr>
              <a:t>Considérations </a:t>
            </a:r>
            <a:r>
              <a:rPr lang="fr-FR" sz="2800" dirty="0">
                <a:latin typeface="Arial Black"/>
                <a:cs typeface="Arial Black"/>
              </a:rPr>
              <a:t>de</a:t>
            </a:r>
            <a:r>
              <a:rPr lang="fr-FR" sz="2800" spc="-145" dirty="0">
                <a:latin typeface="Arial Black"/>
                <a:cs typeface="Arial Black"/>
              </a:rPr>
              <a:t> </a:t>
            </a:r>
            <a:r>
              <a:rPr lang="fr-FR" sz="2800" spc="-5" dirty="0">
                <a:latin typeface="Arial Black"/>
                <a:cs typeface="Arial Black"/>
              </a:rPr>
              <a:t>sécurité</a:t>
            </a:r>
            <a:endParaRPr lang="fr-FR" sz="2800" dirty="0"/>
          </a:p>
        </p:txBody>
      </p:sp>
      <p:sp>
        <p:nvSpPr>
          <p:cNvPr id="3" name="Espace réservé du contenu 2">
            <a:extLst>
              <a:ext uri="{FF2B5EF4-FFF2-40B4-BE49-F238E27FC236}">
                <a16:creationId xmlns:a16="http://schemas.microsoft.com/office/drawing/2014/main" id="{24948E16-6F15-257F-6B10-6BF1D3C51F64}"/>
              </a:ext>
            </a:extLst>
          </p:cNvPr>
          <p:cNvSpPr>
            <a:spLocks noGrp="1"/>
          </p:cNvSpPr>
          <p:nvPr>
            <p:ph idx="1"/>
          </p:nvPr>
        </p:nvSpPr>
        <p:spPr>
          <a:xfrm>
            <a:off x="448966" y="1960930"/>
            <a:ext cx="8246070" cy="3054100"/>
          </a:xfrm>
        </p:spPr>
        <p:txBody>
          <a:bodyPr>
            <a:normAutofit fontScale="55000" lnSpcReduction="20000"/>
          </a:bodyPr>
          <a:lstStyle/>
          <a:p>
            <a:pPr marL="268288" indent="-250825" algn="just">
              <a:lnSpc>
                <a:spcPct val="120000"/>
              </a:lnSpc>
              <a:spcBef>
                <a:spcPts val="3970"/>
              </a:spcBef>
              <a:buChar char="•"/>
              <a:tabLst>
                <a:tab pos="449263" algn="l"/>
              </a:tabLst>
            </a:pPr>
            <a:r>
              <a:rPr lang="fr-FR" sz="2800" spc="45" dirty="0">
                <a:solidFill>
                  <a:srgbClr val="0A5D17"/>
                </a:solidFill>
                <a:latin typeface="Arial"/>
                <a:cs typeface="Arial"/>
              </a:rPr>
              <a:t>Sécurité </a:t>
            </a:r>
            <a:r>
              <a:rPr lang="fr-FR" sz="2800" spc="55" dirty="0">
                <a:solidFill>
                  <a:srgbClr val="0A5D17"/>
                </a:solidFill>
                <a:latin typeface="Arial"/>
                <a:cs typeface="Arial"/>
              </a:rPr>
              <a:t>des</a:t>
            </a:r>
            <a:r>
              <a:rPr lang="fr-FR" sz="2800" spc="70" dirty="0">
                <a:solidFill>
                  <a:srgbClr val="0A5D17"/>
                </a:solidFill>
                <a:latin typeface="Arial"/>
                <a:cs typeface="Arial"/>
              </a:rPr>
              <a:t> </a:t>
            </a:r>
            <a:r>
              <a:rPr lang="fr-FR" sz="2800" spc="55" dirty="0">
                <a:solidFill>
                  <a:srgbClr val="0A5D17"/>
                </a:solidFill>
                <a:latin typeface="Arial"/>
                <a:cs typeface="Arial"/>
              </a:rPr>
              <a:t>données</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Les </a:t>
            </a:r>
            <a:r>
              <a:rPr lang="fr-FR" sz="2800" spc="50" dirty="0">
                <a:solidFill>
                  <a:srgbClr val="212121"/>
                </a:solidFill>
                <a:latin typeface="Arial"/>
                <a:cs typeface="Arial"/>
              </a:rPr>
              <a:t>prestataires </a:t>
            </a:r>
            <a:r>
              <a:rPr lang="fr-FR" sz="2800" spc="45" dirty="0">
                <a:solidFill>
                  <a:srgbClr val="212121"/>
                </a:solidFill>
                <a:latin typeface="Arial"/>
                <a:cs typeface="Arial"/>
              </a:rPr>
              <a:t>de </a:t>
            </a:r>
            <a:r>
              <a:rPr lang="fr-FR" sz="2800" spc="50" dirty="0">
                <a:solidFill>
                  <a:srgbClr val="212121"/>
                </a:solidFill>
                <a:latin typeface="Arial"/>
                <a:cs typeface="Arial"/>
              </a:rPr>
              <a:t>services </a:t>
            </a:r>
            <a:r>
              <a:rPr lang="fr-FR" sz="2800" spc="65" dirty="0">
                <a:solidFill>
                  <a:srgbClr val="212121"/>
                </a:solidFill>
                <a:latin typeface="Arial"/>
                <a:cs typeface="Arial"/>
              </a:rPr>
              <a:t>Cloud </a:t>
            </a:r>
            <a:r>
              <a:rPr lang="fr-FR" sz="2800" spc="100" dirty="0">
                <a:solidFill>
                  <a:srgbClr val="212121"/>
                </a:solidFill>
                <a:latin typeface="Arial"/>
                <a:cs typeface="Arial"/>
              </a:rPr>
              <a:t>public </a:t>
            </a:r>
            <a:r>
              <a:rPr lang="fr-FR" sz="2800" spc="80" dirty="0">
                <a:solidFill>
                  <a:srgbClr val="212121"/>
                </a:solidFill>
                <a:latin typeface="Arial"/>
                <a:cs typeface="Arial"/>
              </a:rPr>
              <a:t>ont </a:t>
            </a:r>
            <a:r>
              <a:rPr lang="fr-FR" sz="2800" spc="15" dirty="0">
                <a:solidFill>
                  <a:srgbClr val="212121"/>
                </a:solidFill>
                <a:latin typeface="Arial"/>
                <a:cs typeface="Arial"/>
              </a:rPr>
              <a:t>la</a:t>
            </a:r>
            <a:r>
              <a:rPr lang="fr-FR" sz="2800" spc="-360" dirty="0">
                <a:solidFill>
                  <a:srgbClr val="212121"/>
                </a:solidFill>
                <a:latin typeface="Arial"/>
                <a:cs typeface="Arial"/>
              </a:rPr>
              <a:t> </a:t>
            </a:r>
            <a:r>
              <a:rPr lang="fr-FR" sz="2800" spc="80" dirty="0">
                <a:solidFill>
                  <a:srgbClr val="212121"/>
                </a:solidFill>
                <a:latin typeface="Arial"/>
                <a:cs typeface="Arial"/>
              </a:rPr>
              <a:t>propriété </a:t>
            </a:r>
            <a:r>
              <a:rPr lang="fr-FR" sz="2800" spc="55" dirty="0">
                <a:solidFill>
                  <a:srgbClr val="212121"/>
                </a:solidFill>
                <a:latin typeface="Arial"/>
                <a:cs typeface="Arial"/>
              </a:rPr>
              <a:t>des </a:t>
            </a:r>
            <a:r>
              <a:rPr lang="fr-FR" sz="2800" spc="60" dirty="0">
                <a:solidFill>
                  <a:srgbClr val="212121"/>
                </a:solidFill>
                <a:latin typeface="Arial"/>
                <a:cs typeface="Arial"/>
              </a:rPr>
              <a:t>données </a:t>
            </a:r>
            <a:r>
              <a:rPr lang="fr-FR" sz="2800" dirty="0">
                <a:solidFill>
                  <a:srgbClr val="212121"/>
                </a:solidFill>
                <a:latin typeface="Arial"/>
                <a:cs typeface="Arial"/>
              </a:rPr>
              <a:t>:</a:t>
            </a:r>
            <a:r>
              <a:rPr lang="fr-FR" sz="2800" spc="-140" dirty="0">
                <a:solidFill>
                  <a:srgbClr val="212121"/>
                </a:solidFill>
                <a:latin typeface="Arial"/>
                <a:cs typeface="Arial"/>
              </a:rPr>
              <a:t> </a:t>
            </a:r>
            <a:r>
              <a:rPr lang="fr-FR" sz="2800" spc="55" dirty="0">
                <a:solidFill>
                  <a:srgbClr val="212121"/>
                </a:solidFill>
                <a:latin typeface="Arial"/>
                <a:cs typeface="Arial"/>
              </a:rPr>
              <a:t>celui </a:t>
            </a:r>
            <a:r>
              <a:rPr lang="fr-FR" sz="2800" spc="70" dirty="0">
                <a:solidFill>
                  <a:srgbClr val="212121"/>
                </a:solidFill>
                <a:latin typeface="Arial"/>
                <a:cs typeface="Arial"/>
              </a:rPr>
              <a:t>qui </a:t>
            </a:r>
            <a:r>
              <a:rPr lang="fr-FR" sz="2800" spc="75" dirty="0">
                <a:solidFill>
                  <a:srgbClr val="212121"/>
                </a:solidFill>
                <a:latin typeface="Arial"/>
                <a:cs typeface="Arial"/>
              </a:rPr>
              <a:t>possède </a:t>
            </a:r>
            <a:r>
              <a:rPr lang="fr-FR" sz="2800" spc="20" dirty="0">
                <a:solidFill>
                  <a:srgbClr val="212121"/>
                </a:solidFill>
                <a:latin typeface="Arial"/>
                <a:cs typeface="Arial"/>
              </a:rPr>
              <a:t>les </a:t>
            </a:r>
            <a:r>
              <a:rPr lang="fr-FR" sz="2800" spc="55" dirty="0">
                <a:solidFill>
                  <a:srgbClr val="212121"/>
                </a:solidFill>
                <a:latin typeface="Arial"/>
                <a:cs typeface="Arial"/>
              </a:rPr>
              <a:t>données est son </a:t>
            </a:r>
            <a:r>
              <a:rPr lang="fr-FR" sz="2800" spc="30" dirty="0">
                <a:solidFill>
                  <a:srgbClr val="212121"/>
                </a:solidFill>
                <a:latin typeface="Arial"/>
                <a:cs typeface="Arial"/>
              </a:rPr>
              <a:t>vrai</a:t>
            </a:r>
            <a:r>
              <a:rPr lang="fr-FR" sz="2800" spc="95" dirty="0">
                <a:solidFill>
                  <a:srgbClr val="212121"/>
                </a:solidFill>
                <a:latin typeface="Arial"/>
                <a:cs typeface="Arial"/>
              </a:rPr>
              <a:t> </a:t>
            </a:r>
            <a:r>
              <a:rPr lang="fr-FR" sz="2800" spc="55" dirty="0">
                <a:solidFill>
                  <a:srgbClr val="212121"/>
                </a:solidFill>
                <a:latin typeface="Arial"/>
                <a:cs typeface="Arial"/>
              </a:rPr>
              <a:t>propriétaire.</a:t>
            </a:r>
          </a:p>
          <a:p>
            <a:pPr marL="413385" indent="0" algn="just">
              <a:lnSpc>
                <a:spcPct val="120000"/>
              </a:lnSpc>
              <a:buNone/>
            </a:pPr>
            <a:r>
              <a:rPr lang="fr-FR" sz="2800" dirty="0">
                <a:solidFill>
                  <a:srgbClr val="212121"/>
                </a:solidFill>
                <a:latin typeface="Arial"/>
                <a:cs typeface="Arial"/>
              </a:rPr>
              <a:t>- </a:t>
            </a:r>
            <a:r>
              <a:rPr lang="fr-FR" sz="2800" spc="50" dirty="0">
                <a:solidFill>
                  <a:srgbClr val="212121"/>
                </a:solidFill>
                <a:latin typeface="Arial"/>
                <a:cs typeface="Arial"/>
              </a:rPr>
              <a:t>Théoriquement, </a:t>
            </a:r>
            <a:r>
              <a:rPr lang="fr-FR" sz="2800" spc="20" dirty="0">
                <a:solidFill>
                  <a:srgbClr val="212121"/>
                </a:solidFill>
                <a:latin typeface="Arial"/>
                <a:cs typeface="Arial"/>
              </a:rPr>
              <a:t>les </a:t>
            </a:r>
            <a:r>
              <a:rPr lang="fr-FR" sz="2800" spc="60" dirty="0">
                <a:solidFill>
                  <a:srgbClr val="212121"/>
                </a:solidFill>
                <a:latin typeface="Arial"/>
                <a:cs typeface="Arial"/>
              </a:rPr>
              <a:t>employés du </a:t>
            </a:r>
            <a:r>
              <a:rPr lang="fr-FR" sz="2800" spc="50" dirty="0">
                <a:solidFill>
                  <a:srgbClr val="212121"/>
                </a:solidFill>
                <a:latin typeface="Arial"/>
                <a:cs typeface="Arial"/>
              </a:rPr>
              <a:t>prestataire de services </a:t>
            </a:r>
            <a:r>
              <a:rPr lang="fr-FR" sz="2800" spc="70" dirty="0">
                <a:solidFill>
                  <a:srgbClr val="212121"/>
                </a:solidFill>
                <a:latin typeface="Arial"/>
                <a:cs typeface="Arial"/>
              </a:rPr>
              <a:t>peuvent </a:t>
            </a:r>
            <a:r>
              <a:rPr lang="fr-FR" sz="2800" spc="25" dirty="0">
                <a:solidFill>
                  <a:srgbClr val="212121"/>
                </a:solidFill>
                <a:latin typeface="Arial"/>
                <a:cs typeface="Arial"/>
              </a:rPr>
              <a:t>faire</a:t>
            </a:r>
            <a:r>
              <a:rPr lang="fr-FR" sz="2800" spc="-340" dirty="0">
                <a:solidFill>
                  <a:srgbClr val="212121"/>
                </a:solidFill>
                <a:latin typeface="Arial"/>
                <a:cs typeface="Arial"/>
              </a:rPr>
              <a:t> </a:t>
            </a:r>
            <a:r>
              <a:rPr lang="fr-FR" sz="2800" spc="80" dirty="0">
                <a:solidFill>
                  <a:srgbClr val="212121"/>
                </a:solidFill>
                <a:latin typeface="Arial"/>
                <a:cs typeface="Arial"/>
              </a:rPr>
              <a:t>l’accès  </a:t>
            </a:r>
            <a:r>
              <a:rPr lang="fr-FR" sz="2800" spc="40" dirty="0">
                <a:solidFill>
                  <a:srgbClr val="212121"/>
                </a:solidFill>
                <a:latin typeface="Arial"/>
                <a:cs typeface="Arial"/>
              </a:rPr>
              <a:t>aux </a:t>
            </a:r>
            <a:r>
              <a:rPr lang="fr-FR" sz="2800" spc="60" dirty="0">
                <a:solidFill>
                  <a:srgbClr val="212121"/>
                </a:solidFill>
                <a:latin typeface="Arial"/>
                <a:cs typeface="Arial"/>
              </a:rPr>
              <a:t>données </a:t>
            </a:r>
            <a:r>
              <a:rPr lang="fr-FR" sz="2800" spc="55" dirty="0">
                <a:solidFill>
                  <a:srgbClr val="212121"/>
                </a:solidFill>
                <a:latin typeface="Arial"/>
                <a:cs typeface="Arial"/>
              </a:rPr>
              <a:t>des</a:t>
            </a:r>
            <a:r>
              <a:rPr lang="fr-FR" sz="2800" spc="45" dirty="0">
                <a:solidFill>
                  <a:srgbClr val="212121"/>
                </a:solidFill>
                <a:latin typeface="Arial"/>
                <a:cs typeface="Arial"/>
              </a:rPr>
              <a:t> </a:t>
            </a:r>
            <a:r>
              <a:rPr lang="fr-FR" sz="2800" spc="70" dirty="0">
                <a:solidFill>
                  <a:srgbClr val="212121"/>
                </a:solidFill>
                <a:latin typeface="Arial"/>
                <a:cs typeface="Arial"/>
              </a:rPr>
              <a:t>clients.</a:t>
            </a:r>
            <a:endParaRPr lang="fr-FR" sz="2800" dirty="0">
              <a:latin typeface="Arial"/>
              <a:cs typeface="Arial"/>
            </a:endParaRPr>
          </a:p>
          <a:p>
            <a:pPr marL="263525" indent="-251460" algn="just">
              <a:lnSpc>
                <a:spcPct val="120000"/>
              </a:lnSpc>
              <a:spcBef>
                <a:spcPts val="100"/>
              </a:spcBef>
              <a:buChar char="•"/>
              <a:tabLst>
                <a:tab pos="264160" algn="l"/>
              </a:tabLst>
            </a:pPr>
            <a:r>
              <a:rPr lang="fr-FR" sz="2800" spc="75" dirty="0">
                <a:solidFill>
                  <a:srgbClr val="0A5D17"/>
                </a:solidFill>
                <a:latin typeface="Arial"/>
                <a:cs typeface="Arial"/>
              </a:rPr>
              <a:t>Conformité</a:t>
            </a:r>
            <a:endParaRPr lang="fr-FR" sz="2800" dirty="0">
              <a:latin typeface="Arial"/>
              <a:cs typeface="Arial"/>
            </a:endParaRPr>
          </a:p>
          <a:p>
            <a:pPr marL="0" indent="0" algn="just" defTabSz="355600">
              <a:lnSpc>
                <a:spcPct val="120000"/>
              </a:lnSpc>
              <a:spcBef>
                <a:spcPts val="100"/>
              </a:spcBef>
              <a:buNone/>
            </a:pPr>
            <a:r>
              <a:rPr lang="fr-FR" sz="2800" dirty="0">
                <a:solidFill>
                  <a:srgbClr val="212121"/>
                </a:solidFill>
                <a:latin typeface="Arial"/>
                <a:cs typeface="Arial"/>
              </a:rPr>
              <a:t>	- </a:t>
            </a:r>
            <a:r>
              <a:rPr lang="fr-FR" sz="2800" spc="10" dirty="0">
                <a:solidFill>
                  <a:srgbClr val="212121"/>
                </a:solidFill>
                <a:latin typeface="Arial"/>
                <a:cs typeface="Arial"/>
              </a:rPr>
              <a:t>La </a:t>
            </a:r>
            <a:r>
              <a:rPr lang="fr-FR" sz="2800" spc="90" dirty="0">
                <a:solidFill>
                  <a:srgbClr val="212121"/>
                </a:solidFill>
                <a:latin typeface="Arial"/>
                <a:cs typeface="Arial"/>
              </a:rPr>
              <a:t>conformité </a:t>
            </a:r>
            <a:r>
              <a:rPr lang="fr-FR" sz="2800" spc="65" dirty="0">
                <a:solidFill>
                  <a:srgbClr val="212121"/>
                </a:solidFill>
                <a:latin typeface="Arial"/>
                <a:cs typeface="Arial"/>
              </a:rPr>
              <a:t>Cloud</a:t>
            </a:r>
            <a:r>
              <a:rPr lang="fr-FR" sz="2800" spc="-530" dirty="0">
                <a:solidFill>
                  <a:srgbClr val="212121"/>
                </a:solidFill>
                <a:latin typeface="Arial"/>
                <a:cs typeface="Arial"/>
              </a:rPr>
              <a:t> </a:t>
            </a:r>
            <a:r>
              <a:rPr lang="fr-FR" sz="2800" spc="85" dirty="0">
                <a:solidFill>
                  <a:srgbClr val="212121"/>
                </a:solidFill>
                <a:latin typeface="Arial"/>
                <a:cs typeface="Arial"/>
              </a:rPr>
              <a:t>compliance </a:t>
            </a:r>
            <a:r>
              <a:rPr lang="fr-FR" sz="2800" spc="80" dirty="0">
                <a:solidFill>
                  <a:srgbClr val="212121"/>
                </a:solidFill>
                <a:latin typeface="Arial"/>
                <a:cs typeface="Arial"/>
              </a:rPr>
              <a:t>consiste </a:t>
            </a:r>
            <a:r>
              <a:rPr lang="fr-FR" sz="2800" dirty="0">
                <a:solidFill>
                  <a:srgbClr val="212121"/>
                </a:solidFill>
                <a:latin typeface="Arial"/>
                <a:cs typeface="Arial"/>
              </a:rPr>
              <a:t>à </a:t>
            </a:r>
            <a:r>
              <a:rPr lang="fr-FR" sz="2800" spc="60" dirty="0">
                <a:solidFill>
                  <a:srgbClr val="212121"/>
                </a:solidFill>
                <a:latin typeface="Arial"/>
                <a:cs typeface="Arial"/>
              </a:rPr>
              <a:t>respecter </a:t>
            </a:r>
            <a:r>
              <a:rPr lang="fr-FR" sz="2800" spc="20" dirty="0">
                <a:solidFill>
                  <a:srgbClr val="212121"/>
                </a:solidFill>
                <a:latin typeface="Arial"/>
                <a:cs typeface="Arial"/>
              </a:rPr>
              <a:t>les </a:t>
            </a:r>
            <a:r>
              <a:rPr lang="fr-FR" sz="2800" spc="60" dirty="0">
                <a:solidFill>
                  <a:srgbClr val="212121"/>
                </a:solidFill>
                <a:latin typeface="Arial"/>
                <a:cs typeface="Arial"/>
              </a:rPr>
              <a:t>lois</a:t>
            </a:r>
            <a:r>
              <a:rPr lang="fr-FR" sz="2800" spc="35" dirty="0">
                <a:solidFill>
                  <a:srgbClr val="212121"/>
                </a:solidFill>
                <a:latin typeface="Arial"/>
                <a:cs typeface="Arial"/>
              </a:rPr>
              <a:t> </a:t>
            </a:r>
            <a:r>
              <a:rPr lang="fr-FR" sz="2800" spc="45" dirty="0">
                <a:solidFill>
                  <a:srgbClr val="212121"/>
                </a:solidFill>
                <a:latin typeface="Arial"/>
                <a:cs typeface="Arial"/>
              </a:rPr>
              <a:t>et </a:t>
            </a:r>
            <a:r>
              <a:rPr lang="fr-FR" sz="2800" spc="60" dirty="0">
                <a:solidFill>
                  <a:srgbClr val="212121"/>
                </a:solidFill>
                <a:latin typeface="Arial"/>
                <a:cs typeface="Arial"/>
              </a:rPr>
              <a:t>réglementations </a:t>
            </a:r>
            <a:r>
              <a:rPr lang="fr-FR" sz="2800" spc="80" dirty="0">
                <a:solidFill>
                  <a:srgbClr val="212121"/>
                </a:solidFill>
                <a:latin typeface="Arial"/>
                <a:cs typeface="Arial"/>
              </a:rPr>
              <a:t>applicables </a:t>
            </a:r>
            <a:r>
              <a:rPr lang="fr-FR" sz="2800" dirty="0">
                <a:solidFill>
                  <a:srgbClr val="212121"/>
                </a:solidFill>
                <a:latin typeface="Arial"/>
                <a:cs typeface="Arial"/>
              </a:rPr>
              <a:t>à </a:t>
            </a:r>
            <a:r>
              <a:rPr lang="fr-FR" sz="2800" spc="85" dirty="0">
                <a:solidFill>
                  <a:srgbClr val="212121"/>
                </a:solidFill>
                <a:latin typeface="Arial"/>
                <a:cs typeface="Arial"/>
              </a:rPr>
              <a:t>l'utilisation </a:t>
            </a:r>
            <a:r>
              <a:rPr lang="fr-FR" sz="2800" spc="60" dirty="0">
                <a:solidFill>
                  <a:srgbClr val="212121"/>
                </a:solidFill>
                <a:latin typeface="Arial"/>
                <a:cs typeface="Arial"/>
              </a:rPr>
              <a:t>du</a:t>
            </a:r>
            <a:r>
              <a:rPr lang="fr-FR" sz="2800" spc="200" dirty="0">
                <a:solidFill>
                  <a:srgbClr val="212121"/>
                </a:solidFill>
                <a:latin typeface="Arial"/>
                <a:cs typeface="Arial"/>
              </a:rPr>
              <a:t> </a:t>
            </a:r>
            <a:r>
              <a:rPr lang="fr-FR" sz="2800" spc="85" dirty="0">
                <a:solidFill>
                  <a:srgbClr val="212121"/>
                </a:solidFill>
                <a:latin typeface="Arial"/>
                <a:cs typeface="Arial"/>
              </a:rPr>
              <a:t>cloud.</a:t>
            </a:r>
            <a:endParaRPr lang="fr-FR" sz="2800" dirty="0">
              <a:latin typeface="Arial"/>
              <a:cs typeface="Arial"/>
            </a:endParaRPr>
          </a:p>
          <a:p>
            <a:pPr marL="12065" marR="5080" indent="0" algn="just" defTabSz="355600">
              <a:lnSpc>
                <a:spcPct val="120000"/>
              </a:lnSpc>
              <a:spcBef>
                <a:spcPts val="140"/>
              </a:spcBef>
              <a:buNone/>
            </a:pPr>
            <a:r>
              <a:rPr lang="fr-FR" sz="2800" dirty="0">
                <a:solidFill>
                  <a:srgbClr val="212121"/>
                </a:solidFill>
                <a:latin typeface="Arial"/>
                <a:cs typeface="Arial"/>
              </a:rPr>
              <a:t>	- </a:t>
            </a:r>
            <a:r>
              <a:rPr lang="fr-FR" sz="2800" spc="35" dirty="0">
                <a:solidFill>
                  <a:srgbClr val="212121"/>
                </a:solidFill>
                <a:latin typeface="Arial"/>
                <a:cs typeface="Arial"/>
              </a:rPr>
              <a:t>L’utilisateur </a:t>
            </a:r>
            <a:r>
              <a:rPr lang="fr-FR" sz="2800" spc="55" dirty="0">
                <a:solidFill>
                  <a:srgbClr val="212121"/>
                </a:solidFill>
                <a:latin typeface="Arial"/>
                <a:cs typeface="Arial"/>
              </a:rPr>
              <a:t>n’a pas </a:t>
            </a:r>
            <a:r>
              <a:rPr lang="fr-FR" sz="2800" spc="45" dirty="0">
                <a:solidFill>
                  <a:srgbClr val="212121"/>
                </a:solidFill>
                <a:latin typeface="Arial"/>
                <a:cs typeface="Arial"/>
              </a:rPr>
              <a:t>de </a:t>
            </a:r>
            <a:r>
              <a:rPr lang="fr-FR" sz="2800" spc="65" dirty="0">
                <a:solidFill>
                  <a:srgbClr val="212121"/>
                </a:solidFill>
                <a:latin typeface="Arial"/>
                <a:cs typeface="Arial"/>
              </a:rPr>
              <a:t>visibilité </a:t>
            </a:r>
            <a:r>
              <a:rPr lang="fr-FR" sz="2800" spc="55" dirty="0">
                <a:solidFill>
                  <a:srgbClr val="212121"/>
                </a:solidFill>
                <a:latin typeface="Arial"/>
                <a:cs typeface="Arial"/>
              </a:rPr>
              <a:t>des </a:t>
            </a:r>
            <a:r>
              <a:rPr lang="fr-FR" sz="2800" spc="75" dirty="0">
                <a:solidFill>
                  <a:srgbClr val="212121"/>
                </a:solidFill>
                <a:latin typeface="Arial"/>
                <a:cs typeface="Arial"/>
              </a:rPr>
              <a:t>opérations</a:t>
            </a:r>
            <a:r>
              <a:rPr lang="fr-FR" sz="2800" spc="-335" dirty="0">
                <a:solidFill>
                  <a:srgbClr val="212121"/>
                </a:solidFill>
                <a:latin typeface="Arial"/>
                <a:cs typeface="Arial"/>
              </a:rPr>
              <a:t> </a:t>
            </a:r>
            <a:r>
              <a:rPr lang="fr-FR" sz="2800" spc="60" dirty="0">
                <a:solidFill>
                  <a:srgbClr val="212121"/>
                </a:solidFill>
                <a:latin typeface="Arial"/>
                <a:cs typeface="Arial"/>
              </a:rPr>
              <a:t>exécutées </a:t>
            </a:r>
            <a:r>
              <a:rPr lang="fr-FR" sz="2800" spc="50" dirty="0">
                <a:solidFill>
                  <a:srgbClr val="212121"/>
                </a:solidFill>
                <a:latin typeface="Arial"/>
                <a:cs typeface="Arial"/>
              </a:rPr>
              <a:t>dans </a:t>
            </a:r>
            <a:r>
              <a:rPr lang="fr-FR" sz="2800" spc="15" dirty="0">
                <a:solidFill>
                  <a:srgbClr val="212121"/>
                </a:solidFill>
                <a:latin typeface="Arial"/>
                <a:cs typeface="Arial"/>
              </a:rPr>
              <a:t>la </a:t>
            </a:r>
            <a:r>
              <a:rPr lang="fr-FR" sz="2800" spc="65" dirty="0">
                <a:solidFill>
                  <a:srgbClr val="212121"/>
                </a:solidFill>
                <a:latin typeface="Arial"/>
                <a:cs typeface="Arial"/>
              </a:rPr>
              <a:t>partie</a:t>
            </a:r>
            <a:r>
              <a:rPr lang="fr-FR" sz="2800" dirty="0">
                <a:solidFill>
                  <a:srgbClr val="212121"/>
                </a:solidFill>
                <a:latin typeface="Arial"/>
                <a:cs typeface="Arial"/>
              </a:rPr>
              <a:t> </a:t>
            </a:r>
            <a:r>
              <a:rPr lang="fr-FR" sz="2800" spc="114" dirty="0">
                <a:solidFill>
                  <a:srgbClr val="212121"/>
                </a:solidFill>
                <a:latin typeface="Arial"/>
                <a:cs typeface="Arial"/>
              </a:rPr>
              <a:t>backend</a:t>
            </a:r>
          </a:p>
          <a:p>
            <a:pPr marL="263525" indent="-251460" algn="just">
              <a:lnSpc>
                <a:spcPct val="120000"/>
              </a:lnSpc>
              <a:spcBef>
                <a:spcPts val="100"/>
              </a:spcBef>
              <a:buChar char="•"/>
              <a:tabLst>
                <a:tab pos="264160" algn="l"/>
              </a:tabLst>
            </a:pPr>
            <a:r>
              <a:rPr lang="fr-FR" sz="2800" spc="70" dirty="0">
                <a:solidFill>
                  <a:srgbClr val="0A5D17"/>
                </a:solidFill>
                <a:latin typeface="Arial"/>
                <a:cs typeface="Arial"/>
              </a:rPr>
              <a:t>Audit</a:t>
            </a:r>
            <a:endParaRPr lang="fr-FR" sz="2800" dirty="0">
              <a:latin typeface="Arial"/>
              <a:cs typeface="Arial"/>
            </a:endParaRPr>
          </a:p>
          <a:p>
            <a:pPr marL="78105" indent="0" algn="just" defTabSz="355600">
              <a:lnSpc>
                <a:spcPct val="120000"/>
              </a:lnSpc>
              <a:buNone/>
            </a:pPr>
            <a:r>
              <a:rPr lang="fr-FR" sz="2800" dirty="0">
                <a:solidFill>
                  <a:srgbClr val="212121"/>
                </a:solidFill>
                <a:latin typeface="Arial"/>
                <a:cs typeface="Arial"/>
              </a:rPr>
              <a:t>	- </a:t>
            </a:r>
            <a:r>
              <a:rPr lang="fr-FR" sz="2800" spc="60" dirty="0">
                <a:solidFill>
                  <a:srgbClr val="212121"/>
                </a:solidFill>
                <a:latin typeface="Arial"/>
                <a:cs typeface="Arial"/>
              </a:rPr>
              <a:t>Capacités </a:t>
            </a:r>
            <a:r>
              <a:rPr lang="fr-FR" sz="2800" spc="100" dirty="0">
                <a:solidFill>
                  <a:srgbClr val="212121"/>
                </a:solidFill>
                <a:latin typeface="Arial"/>
                <a:cs typeface="Arial"/>
              </a:rPr>
              <a:t>d’audit </a:t>
            </a:r>
            <a:r>
              <a:rPr lang="fr-FR" sz="2800" spc="60" dirty="0">
                <a:solidFill>
                  <a:srgbClr val="212121"/>
                </a:solidFill>
                <a:latin typeface="Arial"/>
                <a:cs typeface="Arial"/>
              </a:rPr>
              <a:t>limitées </a:t>
            </a:r>
            <a:r>
              <a:rPr lang="fr-FR" sz="2800" dirty="0">
                <a:solidFill>
                  <a:srgbClr val="212121"/>
                </a:solidFill>
                <a:latin typeface="Arial"/>
                <a:cs typeface="Arial"/>
              </a:rPr>
              <a:t>: </a:t>
            </a:r>
            <a:r>
              <a:rPr lang="fr-FR" sz="2800" spc="55" dirty="0">
                <a:solidFill>
                  <a:srgbClr val="212121"/>
                </a:solidFill>
                <a:latin typeface="Arial"/>
                <a:cs typeface="Arial"/>
              </a:rPr>
              <a:t>pas </a:t>
            </a:r>
            <a:r>
              <a:rPr lang="fr-FR" sz="2800" spc="100" dirty="0">
                <a:solidFill>
                  <a:srgbClr val="212121"/>
                </a:solidFill>
                <a:latin typeface="Arial"/>
                <a:cs typeface="Arial"/>
              </a:rPr>
              <a:t>d’accès </a:t>
            </a:r>
            <a:r>
              <a:rPr lang="fr-FR" sz="2800" spc="85" dirty="0">
                <a:solidFill>
                  <a:srgbClr val="212121"/>
                </a:solidFill>
                <a:latin typeface="Arial"/>
                <a:cs typeface="Arial"/>
              </a:rPr>
              <a:t>direct </a:t>
            </a:r>
            <a:r>
              <a:rPr lang="fr-FR" sz="2800" spc="40" dirty="0">
                <a:solidFill>
                  <a:srgbClr val="212121"/>
                </a:solidFill>
                <a:latin typeface="Arial"/>
                <a:cs typeface="Arial"/>
              </a:rPr>
              <a:t>aux </a:t>
            </a:r>
            <a:r>
              <a:rPr lang="fr-FR" sz="2800" spc="60" dirty="0">
                <a:solidFill>
                  <a:srgbClr val="212121"/>
                </a:solidFill>
                <a:latin typeface="Arial"/>
                <a:cs typeface="Arial"/>
              </a:rPr>
              <a:t>journaux</a:t>
            </a:r>
            <a:r>
              <a:rPr lang="fr-FR" sz="2800" spc="-445" dirty="0">
                <a:solidFill>
                  <a:srgbClr val="212121"/>
                </a:solidFill>
                <a:latin typeface="Arial"/>
                <a:cs typeface="Arial"/>
              </a:rPr>
              <a:t> </a:t>
            </a:r>
            <a:r>
              <a:rPr lang="fr-FR" sz="2800" spc="50" dirty="0">
                <a:solidFill>
                  <a:srgbClr val="212121"/>
                </a:solidFill>
                <a:latin typeface="Arial"/>
                <a:cs typeface="Arial"/>
              </a:rPr>
              <a:t>système,</a:t>
            </a:r>
            <a:r>
              <a:rPr lang="fr-FR" dirty="0">
                <a:latin typeface="Arial"/>
                <a:cs typeface="Arial"/>
              </a:rPr>
              <a:t> </a:t>
            </a:r>
            <a:r>
              <a:rPr lang="fr-FR" sz="2800" spc="85" dirty="0">
                <a:solidFill>
                  <a:srgbClr val="212121"/>
                </a:solidFill>
                <a:latin typeface="Arial"/>
                <a:cs typeface="Arial"/>
              </a:rPr>
              <a:t>impossible </a:t>
            </a:r>
            <a:r>
              <a:rPr lang="fr-FR" sz="2800" spc="50" dirty="0">
                <a:solidFill>
                  <a:srgbClr val="212121"/>
                </a:solidFill>
                <a:latin typeface="Arial"/>
                <a:cs typeface="Arial"/>
              </a:rPr>
              <a:t>de </a:t>
            </a:r>
            <a:r>
              <a:rPr lang="fr-FR" sz="2800" spc="65" dirty="0">
                <a:solidFill>
                  <a:srgbClr val="212121"/>
                </a:solidFill>
                <a:latin typeface="Arial"/>
                <a:cs typeface="Arial"/>
              </a:rPr>
              <a:t>mettre </a:t>
            </a:r>
            <a:r>
              <a:rPr lang="fr-FR" sz="2800" spc="10" dirty="0">
                <a:solidFill>
                  <a:srgbClr val="212121"/>
                </a:solidFill>
                <a:latin typeface="Arial"/>
                <a:cs typeface="Arial"/>
              </a:rPr>
              <a:t>en </a:t>
            </a:r>
            <a:r>
              <a:rPr lang="fr-FR" sz="2800" dirty="0">
                <a:solidFill>
                  <a:srgbClr val="212121"/>
                </a:solidFill>
                <a:latin typeface="Arial"/>
                <a:cs typeface="Arial"/>
              </a:rPr>
              <a:t>œuvre </a:t>
            </a:r>
            <a:r>
              <a:rPr lang="fr-FR" sz="2800" spc="25" dirty="0">
                <a:solidFill>
                  <a:srgbClr val="212121"/>
                </a:solidFill>
                <a:latin typeface="Arial"/>
                <a:cs typeface="Arial"/>
              </a:rPr>
              <a:t>une </a:t>
            </a:r>
            <a:r>
              <a:rPr lang="fr-FR" sz="2800" spc="35" dirty="0">
                <a:solidFill>
                  <a:srgbClr val="212121"/>
                </a:solidFill>
                <a:latin typeface="Arial"/>
                <a:cs typeface="Arial"/>
              </a:rPr>
              <a:t>alerte</a:t>
            </a:r>
            <a:r>
              <a:rPr lang="fr-FR" sz="2800" spc="85" dirty="0">
                <a:solidFill>
                  <a:srgbClr val="212121"/>
                </a:solidFill>
                <a:latin typeface="Arial"/>
                <a:cs typeface="Arial"/>
              </a:rPr>
              <a:t> </a:t>
            </a:r>
            <a:r>
              <a:rPr lang="fr-FR" sz="2800" spc="90" dirty="0" err="1">
                <a:solidFill>
                  <a:srgbClr val="212121"/>
                </a:solidFill>
                <a:latin typeface="Arial"/>
                <a:cs typeface="Arial"/>
              </a:rPr>
              <a:t>back-end</a:t>
            </a:r>
            <a:r>
              <a:rPr lang="fr-FR" sz="2800" spc="90" dirty="0">
                <a:solidFill>
                  <a:srgbClr val="212121"/>
                </a:solidFill>
                <a:latin typeface="Arial"/>
                <a:cs typeface="Arial"/>
              </a:rPr>
              <a:t>.</a:t>
            </a:r>
            <a:endParaRPr lang="fr-FR" sz="2800" dirty="0">
              <a:latin typeface="Arial"/>
              <a:cs typeface="Arial"/>
            </a:endParaRPr>
          </a:p>
          <a:p>
            <a:pPr marL="201295" marR="5080" indent="-189230" algn="just">
              <a:lnSpc>
                <a:spcPct val="120000"/>
              </a:lnSpc>
              <a:spcBef>
                <a:spcPts val="140"/>
              </a:spcBef>
            </a:pPr>
            <a:endParaRPr lang="fr-FR" sz="2800" dirty="0">
              <a:latin typeface="Arial"/>
              <a:cs typeface="Arial"/>
            </a:endParaRPr>
          </a:p>
          <a:p>
            <a:pPr marL="421005" algn="just">
              <a:lnSpc>
                <a:spcPct val="120000"/>
              </a:lnSpc>
            </a:pPr>
            <a:endParaRPr lang="fr-FR" sz="2800" dirty="0">
              <a:latin typeface="Arial"/>
              <a:cs typeface="Arial"/>
            </a:endParaRPr>
          </a:p>
          <a:p>
            <a:pPr marL="413385" indent="0" algn="just">
              <a:lnSpc>
                <a:spcPct val="120000"/>
              </a:lnSpc>
              <a:buNone/>
            </a:pP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AD6EC9B2-8347-6B95-DB6E-16FF298A681D}"/>
              </a:ext>
            </a:extLst>
          </p:cNvPr>
          <p:cNvSpPr>
            <a:spLocks noGrp="1"/>
          </p:cNvSpPr>
          <p:nvPr>
            <p:ph type="ftr" sz="quarter" idx="11"/>
          </p:nvPr>
        </p:nvSpPr>
        <p:spPr/>
        <p:txBody>
          <a:bodyPr/>
          <a:lstStyle/>
          <a:p>
            <a:r>
              <a:rPr lang="en-US" dirty="0"/>
              <a:t>Dr. </a:t>
            </a:r>
            <a:r>
              <a:rPr lang="en-US" dirty="0" err="1"/>
              <a:t>Bechir</a:t>
            </a:r>
            <a:r>
              <a:rPr lang="en-US" dirty="0"/>
              <a:t> Ben </a:t>
            </a:r>
            <a:r>
              <a:rPr lang="en-US" dirty="0" err="1"/>
              <a:t>Gouissem</a:t>
            </a:r>
            <a:endParaRPr lang="en-US" dirty="0"/>
          </a:p>
        </p:txBody>
      </p:sp>
      <p:sp>
        <p:nvSpPr>
          <p:cNvPr id="5" name="Espace réservé du numéro de diapositive 4">
            <a:extLst>
              <a:ext uri="{FF2B5EF4-FFF2-40B4-BE49-F238E27FC236}">
                <a16:creationId xmlns:a16="http://schemas.microsoft.com/office/drawing/2014/main" id="{D6AB078E-F75D-F51A-96CA-5DEC4A446C8D}"/>
              </a:ext>
            </a:extLst>
          </p:cNvPr>
          <p:cNvSpPr>
            <a:spLocks noGrp="1"/>
          </p:cNvSpPr>
          <p:nvPr>
            <p:ph type="sldNum" sz="quarter" idx="12"/>
          </p:nvPr>
        </p:nvSpPr>
        <p:spPr/>
        <p:txBody>
          <a:bodyPr/>
          <a:lstStyle/>
          <a:p>
            <a:fld id="{B82CCC60-E8CD-4174-8B1A-7DF615B22EEF}" type="slidenum">
              <a:rPr lang="en-US" smtClean="0"/>
              <a:pPr/>
              <a:t>24</a:t>
            </a:fld>
            <a:endParaRPr lang="en-US"/>
          </a:p>
        </p:txBody>
      </p:sp>
    </p:spTree>
    <p:extLst>
      <p:ext uri="{BB962C8B-B14F-4D97-AF65-F5344CB8AC3E}">
        <p14:creationId xmlns:p14="http://schemas.microsoft.com/office/powerpoint/2010/main" val="385028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B6F5AA-FAC1-BFF9-EFD9-7B47F170216B}"/>
              </a:ext>
            </a:extLst>
          </p:cNvPr>
          <p:cNvSpPr>
            <a:spLocks noGrp="1"/>
          </p:cNvSpPr>
          <p:nvPr>
            <p:ph type="title"/>
          </p:nvPr>
        </p:nvSpPr>
        <p:spPr/>
        <p:txBody>
          <a:bodyPr>
            <a:normAutofit fontScale="90000"/>
          </a:bodyPr>
          <a:lstStyle/>
          <a:p>
            <a:r>
              <a:rPr lang="fr-FR" sz="3600" spc="-15" dirty="0">
                <a:latin typeface="Arial Black"/>
                <a:cs typeface="Arial Black"/>
              </a:rPr>
              <a:t>Cloud</a:t>
            </a:r>
            <a:r>
              <a:rPr lang="fr-FR" sz="3600" spc="-20" dirty="0">
                <a:latin typeface="Arial Black"/>
                <a:cs typeface="Arial Black"/>
              </a:rPr>
              <a:t> </a:t>
            </a:r>
            <a:r>
              <a:rPr lang="fr-FR" sz="3600" dirty="0">
                <a:latin typeface="Arial Black"/>
                <a:cs typeface="Arial Black"/>
              </a:rPr>
              <a:t>privé</a:t>
            </a:r>
            <a:endParaRPr lang="fr-FR" dirty="0"/>
          </a:p>
        </p:txBody>
      </p:sp>
      <p:sp>
        <p:nvSpPr>
          <p:cNvPr id="3" name="Espace réservé du contenu 2">
            <a:extLst>
              <a:ext uri="{FF2B5EF4-FFF2-40B4-BE49-F238E27FC236}">
                <a16:creationId xmlns:a16="http://schemas.microsoft.com/office/drawing/2014/main" id="{4DA79B73-D546-24B4-DDDF-801E83AC9DDA}"/>
              </a:ext>
            </a:extLst>
          </p:cNvPr>
          <p:cNvSpPr>
            <a:spLocks noGrp="1"/>
          </p:cNvSpPr>
          <p:nvPr>
            <p:ph idx="1"/>
          </p:nvPr>
        </p:nvSpPr>
        <p:spPr>
          <a:xfrm>
            <a:off x="448966" y="1960929"/>
            <a:ext cx="8246070" cy="2901395"/>
          </a:xfrm>
        </p:spPr>
        <p:txBody>
          <a:bodyPr>
            <a:normAutofit fontScale="62500" lnSpcReduction="20000"/>
          </a:bodyPr>
          <a:lstStyle/>
          <a:p>
            <a:pPr marL="637540" marR="896619" indent="-251460" algn="just">
              <a:lnSpc>
                <a:spcPct val="120000"/>
              </a:lnSpc>
              <a:spcBef>
                <a:spcPts val="3700"/>
              </a:spcBef>
              <a:buSzPct val="50704"/>
              <a:buFont typeface="Arial"/>
              <a:buChar char="•"/>
              <a:tabLst>
                <a:tab pos="763905" algn="l"/>
                <a:tab pos="764540" algn="l"/>
              </a:tabLst>
            </a:pPr>
            <a:r>
              <a:rPr lang="fr-FR" dirty="0"/>
              <a:t>	</a:t>
            </a:r>
            <a:r>
              <a:rPr lang="fr-FR" sz="2800" spc="30" dirty="0">
                <a:latin typeface="Arial"/>
                <a:cs typeface="Arial"/>
              </a:rPr>
              <a:t>L’environnement </a:t>
            </a:r>
            <a:r>
              <a:rPr lang="fr-FR" sz="2800" spc="95" dirty="0">
                <a:latin typeface="Arial"/>
                <a:cs typeface="Arial"/>
              </a:rPr>
              <a:t>cloud </a:t>
            </a:r>
            <a:r>
              <a:rPr lang="fr-FR" sz="2800" spc="55" dirty="0">
                <a:latin typeface="Arial"/>
                <a:cs typeface="Arial"/>
              </a:rPr>
              <a:t>est désigné </a:t>
            </a:r>
            <a:r>
              <a:rPr lang="fr-FR" sz="2800" spc="80" dirty="0">
                <a:latin typeface="Arial"/>
                <a:cs typeface="Arial"/>
              </a:rPr>
              <a:t>pour </a:t>
            </a:r>
            <a:r>
              <a:rPr lang="fr-FR" sz="2800" spc="75" dirty="0">
                <a:latin typeface="Arial"/>
                <a:cs typeface="Arial"/>
              </a:rPr>
              <a:t>l’utilisation </a:t>
            </a:r>
            <a:r>
              <a:rPr lang="fr-FR" sz="2800" spc="60" dirty="0">
                <a:latin typeface="Arial"/>
                <a:cs typeface="Arial"/>
              </a:rPr>
              <a:t>exclusive </a:t>
            </a:r>
            <a:r>
              <a:rPr lang="fr-FR" sz="2800" spc="75" dirty="0">
                <a:latin typeface="Arial"/>
                <a:cs typeface="Arial"/>
              </a:rPr>
              <a:t>d’une </a:t>
            </a:r>
            <a:r>
              <a:rPr lang="fr-FR" sz="2800" spc="25" dirty="0">
                <a:latin typeface="Arial"/>
                <a:cs typeface="Arial"/>
              </a:rPr>
              <a:t>seule  </a:t>
            </a:r>
            <a:r>
              <a:rPr lang="fr-FR" sz="2800" spc="50" dirty="0">
                <a:latin typeface="Arial"/>
                <a:cs typeface="Arial"/>
              </a:rPr>
              <a:t>entreprise, </a:t>
            </a:r>
            <a:r>
              <a:rPr lang="fr-FR" sz="2800" spc="45" dirty="0">
                <a:latin typeface="Arial"/>
                <a:cs typeface="Arial"/>
              </a:rPr>
              <a:t>avec </a:t>
            </a:r>
            <a:r>
              <a:rPr lang="fr-FR" sz="2800" spc="60" dirty="0">
                <a:latin typeface="Arial"/>
                <a:cs typeface="Arial"/>
              </a:rPr>
              <a:t>plusieurs </a:t>
            </a:r>
            <a:r>
              <a:rPr lang="fr-FR" sz="2800" spc="50" dirty="0">
                <a:latin typeface="Arial"/>
                <a:cs typeface="Arial"/>
              </a:rPr>
              <a:t>unités </a:t>
            </a:r>
            <a:r>
              <a:rPr lang="fr-FR" sz="2800" spc="55" dirty="0">
                <a:latin typeface="Arial"/>
                <a:cs typeface="Arial"/>
              </a:rPr>
              <a:t>d’affaires </a:t>
            </a:r>
            <a:r>
              <a:rPr lang="fr-FR" sz="2800" spc="45" dirty="0">
                <a:latin typeface="Arial"/>
                <a:cs typeface="Arial"/>
              </a:rPr>
              <a:t>ou </a:t>
            </a:r>
            <a:r>
              <a:rPr lang="fr-FR" sz="2800" spc="35" dirty="0">
                <a:latin typeface="Arial"/>
                <a:cs typeface="Arial"/>
              </a:rPr>
              <a:t>filiales, </a:t>
            </a:r>
            <a:r>
              <a:rPr lang="fr-FR" sz="2800" spc="70" dirty="0">
                <a:latin typeface="Arial"/>
                <a:cs typeface="Arial"/>
              </a:rPr>
              <a:t>qui </a:t>
            </a:r>
            <a:r>
              <a:rPr lang="fr-FR" sz="2800" spc="30" dirty="0">
                <a:latin typeface="Arial"/>
                <a:cs typeface="Arial"/>
              </a:rPr>
              <a:t>préfère </a:t>
            </a:r>
            <a:r>
              <a:rPr lang="fr-FR" sz="2800" spc="85" dirty="0">
                <a:latin typeface="Arial"/>
                <a:cs typeface="Arial"/>
              </a:rPr>
              <a:t>conserver ses  </a:t>
            </a:r>
            <a:r>
              <a:rPr lang="fr-FR" sz="2800" spc="55" dirty="0">
                <a:latin typeface="Arial"/>
                <a:cs typeface="Arial"/>
              </a:rPr>
              <a:t>données </a:t>
            </a:r>
            <a:r>
              <a:rPr lang="fr-FR" sz="2800" spc="50" dirty="0">
                <a:latin typeface="Arial"/>
                <a:cs typeface="Arial"/>
              </a:rPr>
              <a:t>dans </a:t>
            </a:r>
            <a:r>
              <a:rPr lang="fr-FR" sz="2800" spc="30" dirty="0">
                <a:latin typeface="Arial"/>
                <a:cs typeface="Arial"/>
              </a:rPr>
              <a:t>un </a:t>
            </a:r>
            <a:r>
              <a:rPr lang="fr-FR" sz="2800" spc="50" dirty="0">
                <a:latin typeface="Arial"/>
                <a:cs typeface="Arial"/>
              </a:rPr>
              <a:t>environnement </a:t>
            </a:r>
            <a:r>
              <a:rPr lang="fr-FR" sz="2800" spc="80" dirty="0">
                <a:latin typeface="Arial"/>
                <a:cs typeface="Arial"/>
              </a:rPr>
              <a:t>contrôlé </a:t>
            </a:r>
            <a:r>
              <a:rPr lang="fr-FR" sz="2800" spc="45" dirty="0">
                <a:latin typeface="Arial"/>
                <a:cs typeface="Arial"/>
              </a:rPr>
              <a:t>et</a:t>
            </a:r>
            <a:r>
              <a:rPr lang="fr-FR" sz="2800" spc="160" dirty="0">
                <a:latin typeface="Arial"/>
                <a:cs typeface="Arial"/>
              </a:rPr>
              <a:t> </a:t>
            </a:r>
            <a:r>
              <a:rPr lang="fr-FR" sz="2800" spc="45" dirty="0">
                <a:latin typeface="Arial"/>
                <a:cs typeface="Arial"/>
              </a:rPr>
              <a:t>sécurisé.</a:t>
            </a:r>
            <a:endParaRPr lang="fr-FR" sz="2800" dirty="0">
              <a:latin typeface="Arial"/>
              <a:cs typeface="Arial"/>
            </a:endParaRPr>
          </a:p>
          <a:p>
            <a:pPr marL="637540" marR="256540" indent="-251460" algn="just">
              <a:lnSpc>
                <a:spcPct val="120000"/>
              </a:lnSpc>
              <a:spcBef>
                <a:spcPts val="15"/>
              </a:spcBef>
              <a:buSzPct val="50704"/>
              <a:buFont typeface="Arial"/>
              <a:buChar char="•"/>
              <a:tabLst>
                <a:tab pos="763905" algn="l"/>
                <a:tab pos="764540" algn="l"/>
              </a:tabLst>
            </a:pPr>
            <a:r>
              <a:rPr lang="fr-FR" dirty="0"/>
              <a:t>	</a:t>
            </a:r>
            <a:r>
              <a:rPr lang="fr-FR" sz="2800" spc="50" dirty="0">
                <a:latin typeface="Arial"/>
                <a:cs typeface="Arial"/>
              </a:rPr>
              <a:t>L’infrastructure </a:t>
            </a:r>
            <a:r>
              <a:rPr lang="fr-FR" sz="2800" spc="85" dirty="0">
                <a:latin typeface="Arial"/>
                <a:cs typeface="Arial"/>
              </a:rPr>
              <a:t>appartient </a:t>
            </a:r>
            <a:r>
              <a:rPr lang="fr-FR" sz="2800" dirty="0">
                <a:latin typeface="Arial"/>
                <a:cs typeface="Arial"/>
              </a:rPr>
              <a:t>à </a:t>
            </a:r>
            <a:r>
              <a:rPr lang="fr-FR" sz="2800" spc="75" dirty="0">
                <a:latin typeface="Arial"/>
                <a:cs typeface="Arial"/>
              </a:rPr>
              <a:t>l’organisation </a:t>
            </a:r>
            <a:r>
              <a:rPr lang="fr-FR" sz="2800" spc="70" dirty="0">
                <a:latin typeface="Arial"/>
                <a:cs typeface="Arial"/>
              </a:rPr>
              <a:t>qui </a:t>
            </a:r>
            <a:r>
              <a:rPr lang="fr-FR" sz="2800" spc="80" dirty="0">
                <a:latin typeface="Arial"/>
                <a:cs typeface="Arial"/>
              </a:rPr>
              <a:t>exploite </a:t>
            </a:r>
            <a:r>
              <a:rPr lang="fr-FR" sz="2800" spc="20" dirty="0">
                <a:latin typeface="Arial"/>
                <a:cs typeface="Arial"/>
              </a:rPr>
              <a:t>les </a:t>
            </a:r>
            <a:r>
              <a:rPr lang="fr-FR" sz="2800" spc="85" dirty="0">
                <a:latin typeface="Arial"/>
                <a:cs typeface="Arial"/>
              </a:rPr>
              <a:t>postes </a:t>
            </a:r>
            <a:r>
              <a:rPr lang="fr-FR" sz="2800" spc="50" dirty="0">
                <a:latin typeface="Arial"/>
                <a:cs typeface="Arial"/>
              </a:rPr>
              <a:t>de </a:t>
            </a:r>
            <a:r>
              <a:rPr lang="fr-FR" sz="2800" spc="45" dirty="0">
                <a:latin typeface="Arial"/>
                <a:cs typeface="Arial"/>
              </a:rPr>
              <a:t>travail </a:t>
            </a:r>
            <a:r>
              <a:rPr lang="fr-FR" sz="2800" spc="50" dirty="0">
                <a:latin typeface="Arial"/>
                <a:cs typeface="Arial"/>
              </a:rPr>
              <a:t>ou </a:t>
            </a:r>
            <a:r>
              <a:rPr lang="fr-FR" sz="2800" spc="20" dirty="0">
                <a:latin typeface="Arial"/>
                <a:cs typeface="Arial"/>
              </a:rPr>
              <a:t>les  </a:t>
            </a:r>
            <a:r>
              <a:rPr lang="fr-FR" sz="2800" spc="80" dirty="0">
                <a:latin typeface="Arial"/>
                <a:cs typeface="Arial"/>
              </a:rPr>
              <a:t>applications.</a:t>
            </a:r>
            <a:endParaRPr lang="fr-FR" sz="2800" dirty="0">
              <a:latin typeface="Arial"/>
              <a:cs typeface="Arial"/>
            </a:endParaRPr>
          </a:p>
          <a:p>
            <a:pPr marL="762000" indent="-376555" algn="just">
              <a:lnSpc>
                <a:spcPct val="120000"/>
              </a:lnSpc>
              <a:spcBef>
                <a:spcPts val="265"/>
              </a:spcBef>
              <a:buChar char="•"/>
              <a:tabLst>
                <a:tab pos="762000" algn="l"/>
                <a:tab pos="762635" algn="l"/>
              </a:tabLst>
            </a:pPr>
            <a:r>
              <a:rPr lang="fr-FR" sz="2800" spc="10" dirty="0">
                <a:latin typeface="Arial"/>
                <a:cs typeface="Arial"/>
              </a:rPr>
              <a:t>La </a:t>
            </a:r>
            <a:r>
              <a:rPr lang="fr-FR" sz="2800" spc="60" dirty="0">
                <a:latin typeface="Arial"/>
                <a:cs typeface="Arial"/>
              </a:rPr>
              <a:t>virtualisation </a:t>
            </a:r>
            <a:r>
              <a:rPr lang="fr-FR" sz="2800" spc="80" dirty="0">
                <a:latin typeface="Arial"/>
                <a:cs typeface="Arial"/>
              </a:rPr>
              <a:t>peut concerner </a:t>
            </a:r>
            <a:r>
              <a:rPr lang="fr-FR" sz="2800" spc="15" dirty="0">
                <a:latin typeface="Arial"/>
                <a:cs typeface="Arial"/>
              </a:rPr>
              <a:t>le </a:t>
            </a:r>
            <a:r>
              <a:rPr lang="fr-FR" sz="2800" spc="80" dirty="0">
                <a:latin typeface="Arial"/>
                <a:cs typeface="Arial"/>
              </a:rPr>
              <a:t>stockage, </a:t>
            </a:r>
            <a:r>
              <a:rPr lang="fr-FR" sz="2800" spc="20" dirty="0">
                <a:latin typeface="Arial"/>
                <a:cs typeface="Arial"/>
              </a:rPr>
              <a:t>les </a:t>
            </a:r>
            <a:r>
              <a:rPr lang="fr-FR" sz="2800" spc="30" dirty="0">
                <a:latin typeface="Arial"/>
                <a:cs typeface="Arial"/>
              </a:rPr>
              <a:t>serveurs, </a:t>
            </a:r>
            <a:r>
              <a:rPr lang="fr-FR" sz="2800" spc="20" dirty="0">
                <a:latin typeface="Arial"/>
                <a:cs typeface="Arial"/>
              </a:rPr>
              <a:t>les </a:t>
            </a:r>
            <a:r>
              <a:rPr lang="fr-FR" sz="2800" spc="85" dirty="0">
                <a:latin typeface="Arial"/>
                <a:cs typeface="Arial"/>
              </a:rPr>
              <a:t>postes</a:t>
            </a:r>
            <a:r>
              <a:rPr lang="fr-FR" sz="2800" spc="1015" dirty="0">
                <a:latin typeface="Arial"/>
                <a:cs typeface="Arial"/>
              </a:rPr>
              <a:t> </a:t>
            </a:r>
            <a:r>
              <a:rPr lang="fr-FR" sz="2800" spc="85" dirty="0">
                <a:latin typeface="Arial"/>
                <a:cs typeface="Arial"/>
              </a:rPr>
              <a:t>de travail.</a:t>
            </a:r>
            <a:endParaRPr lang="fr-FR" sz="2800" dirty="0">
              <a:latin typeface="Arial"/>
              <a:cs typeface="Arial"/>
            </a:endParaRPr>
          </a:p>
          <a:p>
            <a:pPr marL="637540" marR="1202690" indent="-251460" algn="just">
              <a:lnSpc>
                <a:spcPct val="120000"/>
              </a:lnSpc>
              <a:spcBef>
                <a:spcPts val="5"/>
              </a:spcBef>
              <a:buSzPct val="50704"/>
              <a:buFont typeface="Arial"/>
              <a:buChar char="•"/>
              <a:tabLst>
                <a:tab pos="763905" algn="l"/>
                <a:tab pos="764540" algn="l"/>
              </a:tabLst>
            </a:pPr>
            <a:r>
              <a:rPr lang="fr-FR" dirty="0"/>
              <a:t>	</a:t>
            </a:r>
            <a:r>
              <a:rPr lang="fr-FR" sz="2800" spc="50" dirty="0">
                <a:latin typeface="Arial"/>
                <a:cs typeface="Arial"/>
              </a:rPr>
              <a:t>L’infrastructure </a:t>
            </a:r>
            <a:r>
              <a:rPr lang="fr-FR" sz="2800" spc="95" dirty="0">
                <a:latin typeface="Arial"/>
                <a:cs typeface="Arial"/>
              </a:rPr>
              <a:t>cloud </a:t>
            </a:r>
            <a:r>
              <a:rPr lang="fr-FR" sz="2800" spc="80" dirty="0">
                <a:latin typeface="Arial"/>
                <a:cs typeface="Arial"/>
              </a:rPr>
              <a:t>peut </a:t>
            </a:r>
            <a:r>
              <a:rPr lang="fr-FR" sz="2800" spc="30" dirty="0">
                <a:latin typeface="Arial"/>
                <a:cs typeface="Arial"/>
              </a:rPr>
              <a:t>être </a:t>
            </a:r>
            <a:r>
              <a:rPr lang="fr-FR" sz="2800" spc="25" dirty="0">
                <a:latin typeface="Arial"/>
                <a:cs typeface="Arial"/>
              </a:rPr>
              <a:t>une </a:t>
            </a:r>
            <a:r>
              <a:rPr lang="fr-FR" sz="2800" spc="65" dirty="0">
                <a:latin typeface="Arial"/>
                <a:cs typeface="Arial"/>
              </a:rPr>
              <a:t>entité </a:t>
            </a:r>
            <a:r>
              <a:rPr lang="fr-FR" sz="2800" spc="45" dirty="0">
                <a:latin typeface="Arial"/>
                <a:cs typeface="Arial"/>
              </a:rPr>
              <a:t>privée </a:t>
            </a:r>
            <a:r>
              <a:rPr lang="fr-FR" sz="2800" spc="50" dirty="0">
                <a:latin typeface="Arial"/>
                <a:cs typeface="Arial"/>
              </a:rPr>
              <a:t>ou </a:t>
            </a:r>
            <a:r>
              <a:rPr lang="fr-FR" sz="2800" spc="80" dirty="0">
                <a:latin typeface="Arial"/>
                <a:cs typeface="Arial"/>
              </a:rPr>
              <a:t>publique </a:t>
            </a:r>
            <a:r>
              <a:rPr lang="fr-FR" sz="2800" spc="40" dirty="0">
                <a:latin typeface="Arial"/>
                <a:cs typeface="Arial"/>
              </a:rPr>
              <a:t>(gouvernement,  </a:t>
            </a:r>
            <a:r>
              <a:rPr lang="fr-FR" sz="2800" spc="90" dirty="0">
                <a:latin typeface="Arial"/>
                <a:cs typeface="Arial"/>
              </a:rPr>
              <a:t>institut</a:t>
            </a:r>
            <a:r>
              <a:rPr lang="fr-FR" sz="2800" spc="125" dirty="0">
                <a:latin typeface="Arial"/>
                <a:cs typeface="Arial"/>
              </a:rPr>
              <a:t> </a:t>
            </a:r>
            <a:r>
              <a:rPr lang="fr-FR" sz="2800" spc="40" dirty="0">
                <a:latin typeface="Arial"/>
                <a:cs typeface="Arial"/>
              </a:rPr>
              <a:t>académique).</a:t>
            </a:r>
            <a:endParaRPr lang="fr-FR" sz="2800" dirty="0">
              <a:latin typeface="Arial"/>
              <a:cs typeface="Arial"/>
            </a:endParaRPr>
          </a:p>
          <a:p>
            <a:endParaRPr lang="fr-FR" dirty="0"/>
          </a:p>
        </p:txBody>
      </p:sp>
      <p:sp>
        <p:nvSpPr>
          <p:cNvPr id="4" name="Espace réservé du pied de page 3">
            <a:extLst>
              <a:ext uri="{FF2B5EF4-FFF2-40B4-BE49-F238E27FC236}">
                <a16:creationId xmlns:a16="http://schemas.microsoft.com/office/drawing/2014/main" id="{F8768094-785F-158D-3826-C91F59B6F0B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B10E1D1-D51D-E272-B4F1-4C671FA159CB}"/>
              </a:ext>
            </a:extLst>
          </p:cNvPr>
          <p:cNvSpPr>
            <a:spLocks noGrp="1"/>
          </p:cNvSpPr>
          <p:nvPr>
            <p:ph type="sldNum" sz="quarter" idx="12"/>
          </p:nvPr>
        </p:nvSpPr>
        <p:spPr/>
        <p:txBody>
          <a:bodyPr/>
          <a:lstStyle/>
          <a:p>
            <a:fld id="{B82CCC60-E8CD-4174-8B1A-7DF615B22EEF}" type="slidenum">
              <a:rPr lang="en-US" smtClean="0"/>
              <a:pPr/>
              <a:t>25</a:t>
            </a:fld>
            <a:endParaRPr lang="en-US"/>
          </a:p>
        </p:txBody>
      </p:sp>
    </p:spTree>
    <p:extLst>
      <p:ext uri="{BB962C8B-B14F-4D97-AF65-F5344CB8AC3E}">
        <p14:creationId xmlns:p14="http://schemas.microsoft.com/office/powerpoint/2010/main" val="1491984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5C0178-CE38-282F-2572-B32AF239CE2C}"/>
              </a:ext>
            </a:extLst>
          </p:cNvPr>
          <p:cNvSpPr>
            <a:spLocks noGrp="1"/>
          </p:cNvSpPr>
          <p:nvPr>
            <p:ph type="title"/>
          </p:nvPr>
        </p:nvSpPr>
        <p:spPr/>
        <p:txBody>
          <a:bodyPr>
            <a:normAutofit fontScale="90000"/>
          </a:bodyPr>
          <a:lstStyle/>
          <a:p>
            <a:r>
              <a:rPr lang="fr-FR" sz="3600" spc="-20" dirty="0">
                <a:latin typeface="Arial Black"/>
                <a:cs typeface="Arial Black"/>
              </a:rPr>
              <a:t>Avantages </a:t>
            </a:r>
            <a:r>
              <a:rPr lang="fr-FR" sz="3600" spc="-5" dirty="0">
                <a:latin typeface="Arial Black"/>
                <a:cs typeface="Arial Black"/>
              </a:rPr>
              <a:t>du </a:t>
            </a:r>
            <a:r>
              <a:rPr lang="fr-FR" sz="3600" spc="-15" dirty="0">
                <a:latin typeface="Arial Black"/>
                <a:cs typeface="Arial Black"/>
              </a:rPr>
              <a:t>Cloud</a:t>
            </a:r>
            <a:r>
              <a:rPr lang="fr-FR" sz="3600" spc="-40" dirty="0">
                <a:latin typeface="Arial Black"/>
                <a:cs typeface="Arial Black"/>
              </a:rPr>
              <a:t> </a:t>
            </a:r>
            <a:r>
              <a:rPr lang="fr-FR" sz="3600" dirty="0">
                <a:latin typeface="Arial Black"/>
                <a:cs typeface="Arial Black"/>
              </a:rPr>
              <a:t>privé</a:t>
            </a:r>
            <a:endParaRPr lang="fr-FR" dirty="0"/>
          </a:p>
        </p:txBody>
      </p:sp>
      <p:sp>
        <p:nvSpPr>
          <p:cNvPr id="3" name="Espace réservé du contenu 2">
            <a:extLst>
              <a:ext uri="{FF2B5EF4-FFF2-40B4-BE49-F238E27FC236}">
                <a16:creationId xmlns:a16="http://schemas.microsoft.com/office/drawing/2014/main" id="{226E5452-05F5-52C8-19EA-55F2FDC0D641}"/>
              </a:ext>
            </a:extLst>
          </p:cNvPr>
          <p:cNvSpPr>
            <a:spLocks noGrp="1"/>
          </p:cNvSpPr>
          <p:nvPr>
            <p:ph idx="1"/>
          </p:nvPr>
        </p:nvSpPr>
        <p:spPr>
          <a:xfrm>
            <a:off x="448966" y="1960929"/>
            <a:ext cx="8246070" cy="3080177"/>
          </a:xfrm>
        </p:spPr>
        <p:txBody>
          <a:bodyPr>
            <a:normAutofit fontScale="47500" lnSpcReduction="20000"/>
          </a:bodyPr>
          <a:lstStyle/>
          <a:p>
            <a:pPr marL="12700" algn="just">
              <a:lnSpc>
                <a:spcPct val="120000"/>
              </a:lnSpc>
              <a:spcBef>
                <a:spcPts val="100"/>
              </a:spcBef>
            </a:pPr>
            <a:r>
              <a:rPr lang="fr-FR" sz="3550" spc="90" dirty="0">
                <a:solidFill>
                  <a:srgbClr val="0A5D17"/>
                </a:solidFill>
                <a:latin typeface="Arial"/>
                <a:cs typeface="Arial"/>
              </a:rPr>
              <a:t>Support </a:t>
            </a:r>
            <a:r>
              <a:rPr lang="fr-FR" sz="3550" spc="50" dirty="0">
                <a:solidFill>
                  <a:srgbClr val="0A5D17"/>
                </a:solidFill>
                <a:latin typeface="Arial"/>
                <a:cs typeface="Arial"/>
              </a:rPr>
              <a:t>et</a:t>
            </a:r>
            <a:r>
              <a:rPr lang="fr-FR" sz="3550" spc="65" dirty="0">
                <a:solidFill>
                  <a:srgbClr val="0A5D17"/>
                </a:solidFill>
                <a:latin typeface="Arial"/>
                <a:cs typeface="Arial"/>
              </a:rPr>
              <a:t> dépannage</a:t>
            </a:r>
            <a:endParaRPr lang="fr-FR" sz="3550" dirty="0">
              <a:latin typeface="Arial"/>
              <a:cs typeface="Arial"/>
            </a:endParaRPr>
          </a:p>
          <a:p>
            <a:pPr marL="413385" indent="0" algn="just">
              <a:lnSpc>
                <a:spcPct val="120000"/>
              </a:lnSpc>
              <a:buNone/>
            </a:pPr>
            <a:r>
              <a:rPr lang="fr-FR" sz="3550" dirty="0">
                <a:solidFill>
                  <a:srgbClr val="212121"/>
                </a:solidFill>
                <a:latin typeface="Arial"/>
                <a:cs typeface="Arial"/>
              </a:rPr>
              <a:t>- </a:t>
            </a:r>
            <a:r>
              <a:rPr lang="fr-FR" sz="3550" spc="25" dirty="0">
                <a:solidFill>
                  <a:srgbClr val="212121"/>
                </a:solidFill>
                <a:latin typeface="Arial"/>
                <a:cs typeface="Arial"/>
              </a:rPr>
              <a:t>Les </a:t>
            </a:r>
            <a:r>
              <a:rPr lang="fr-FR" sz="3550" spc="50" dirty="0">
                <a:solidFill>
                  <a:srgbClr val="212121"/>
                </a:solidFill>
                <a:latin typeface="Arial"/>
                <a:cs typeface="Arial"/>
              </a:rPr>
              <a:t>environnements </a:t>
            </a:r>
            <a:r>
              <a:rPr lang="fr-FR" sz="3550" spc="60" dirty="0">
                <a:solidFill>
                  <a:srgbClr val="212121"/>
                </a:solidFill>
                <a:latin typeface="Arial"/>
                <a:cs typeface="Arial"/>
              </a:rPr>
              <a:t>du </a:t>
            </a:r>
            <a:r>
              <a:rPr lang="fr-FR" sz="3550" spc="65" dirty="0">
                <a:solidFill>
                  <a:srgbClr val="212121"/>
                </a:solidFill>
                <a:latin typeface="Arial"/>
                <a:cs typeface="Arial"/>
              </a:rPr>
              <a:t>Cloud </a:t>
            </a:r>
            <a:r>
              <a:rPr lang="fr-FR" sz="3550" spc="55" dirty="0">
                <a:solidFill>
                  <a:srgbClr val="212121"/>
                </a:solidFill>
                <a:latin typeface="Arial"/>
                <a:cs typeface="Arial"/>
              </a:rPr>
              <a:t>privé </a:t>
            </a:r>
            <a:r>
              <a:rPr lang="fr-FR" sz="3550" spc="80" dirty="0">
                <a:solidFill>
                  <a:srgbClr val="212121"/>
                </a:solidFill>
                <a:latin typeface="Arial"/>
                <a:cs typeface="Arial"/>
              </a:rPr>
              <a:t>sont </a:t>
            </a:r>
            <a:r>
              <a:rPr lang="fr-FR" sz="3550" spc="70" dirty="0">
                <a:solidFill>
                  <a:srgbClr val="212121"/>
                </a:solidFill>
                <a:latin typeface="Arial"/>
                <a:cs typeface="Arial"/>
              </a:rPr>
              <a:t>plus </a:t>
            </a:r>
            <a:r>
              <a:rPr lang="fr-FR" sz="3550" spc="55" dirty="0">
                <a:solidFill>
                  <a:srgbClr val="212121"/>
                </a:solidFill>
                <a:latin typeface="Arial"/>
                <a:cs typeface="Arial"/>
              </a:rPr>
              <a:t>faciles </a:t>
            </a:r>
            <a:r>
              <a:rPr lang="fr-FR" sz="3550" dirty="0">
                <a:solidFill>
                  <a:srgbClr val="212121"/>
                </a:solidFill>
                <a:latin typeface="Arial"/>
                <a:cs typeface="Arial"/>
              </a:rPr>
              <a:t>à </a:t>
            </a:r>
            <a:r>
              <a:rPr lang="fr-FR" sz="3550" spc="60" dirty="0">
                <a:solidFill>
                  <a:srgbClr val="212121"/>
                </a:solidFill>
                <a:latin typeface="Arial"/>
                <a:cs typeface="Arial"/>
              </a:rPr>
              <a:t>dépanner </a:t>
            </a:r>
            <a:r>
              <a:rPr lang="fr-FR" sz="3550" spc="55" dirty="0">
                <a:solidFill>
                  <a:srgbClr val="212121"/>
                </a:solidFill>
                <a:latin typeface="Arial"/>
                <a:cs typeface="Arial"/>
              </a:rPr>
              <a:t>que</a:t>
            </a:r>
            <a:r>
              <a:rPr lang="fr-FR" sz="3550" spc="-409" dirty="0">
                <a:solidFill>
                  <a:srgbClr val="212121"/>
                </a:solidFill>
                <a:latin typeface="Arial"/>
                <a:cs typeface="Arial"/>
              </a:rPr>
              <a:t> </a:t>
            </a:r>
            <a:r>
              <a:rPr lang="fr-FR" sz="3550" spc="20" dirty="0">
                <a:solidFill>
                  <a:srgbClr val="212121"/>
                </a:solidFill>
                <a:latin typeface="Arial"/>
                <a:cs typeface="Arial"/>
              </a:rPr>
              <a:t>les</a:t>
            </a:r>
            <a:r>
              <a:rPr lang="fr-FR" sz="3550" dirty="0">
                <a:latin typeface="Arial"/>
                <a:cs typeface="Arial"/>
              </a:rPr>
              <a:t> </a:t>
            </a:r>
            <a:r>
              <a:rPr lang="fr-FR" sz="3550" spc="50" dirty="0">
                <a:solidFill>
                  <a:srgbClr val="212121"/>
                </a:solidFill>
                <a:latin typeface="Arial"/>
                <a:cs typeface="Arial"/>
              </a:rPr>
              <a:t>environnements </a:t>
            </a:r>
            <a:r>
              <a:rPr lang="fr-FR" sz="3550" spc="60" dirty="0">
                <a:solidFill>
                  <a:srgbClr val="212121"/>
                </a:solidFill>
                <a:latin typeface="Arial"/>
                <a:cs typeface="Arial"/>
              </a:rPr>
              <a:t>du </a:t>
            </a:r>
            <a:r>
              <a:rPr lang="fr-FR" sz="3550" spc="65" dirty="0">
                <a:solidFill>
                  <a:srgbClr val="212121"/>
                </a:solidFill>
                <a:latin typeface="Arial"/>
                <a:cs typeface="Arial"/>
              </a:rPr>
              <a:t>Cloud</a:t>
            </a:r>
            <a:r>
              <a:rPr lang="fr-FR" sz="3550" spc="155" dirty="0">
                <a:solidFill>
                  <a:srgbClr val="212121"/>
                </a:solidFill>
                <a:latin typeface="Arial"/>
                <a:cs typeface="Arial"/>
              </a:rPr>
              <a:t> </a:t>
            </a:r>
            <a:r>
              <a:rPr lang="fr-FR" sz="3550" spc="90" dirty="0">
                <a:solidFill>
                  <a:srgbClr val="212121"/>
                </a:solidFill>
                <a:latin typeface="Arial"/>
                <a:cs typeface="Arial"/>
              </a:rPr>
              <a:t>public.</a:t>
            </a:r>
          </a:p>
          <a:p>
            <a:pPr marL="413385" indent="0" algn="just">
              <a:lnSpc>
                <a:spcPct val="120000"/>
              </a:lnSpc>
              <a:buNone/>
            </a:pPr>
            <a:r>
              <a:rPr lang="fr-FR" sz="3550" spc="70" dirty="0">
                <a:solidFill>
                  <a:srgbClr val="212121"/>
                </a:solidFill>
                <a:latin typeface="Arial"/>
                <a:cs typeface="Arial"/>
              </a:rPr>
              <a:t>- Accès </a:t>
            </a:r>
            <a:r>
              <a:rPr lang="fr-FR" sz="3550" spc="85" dirty="0">
                <a:solidFill>
                  <a:srgbClr val="212121"/>
                </a:solidFill>
                <a:latin typeface="Arial"/>
                <a:cs typeface="Arial"/>
              </a:rPr>
              <a:t>direct </a:t>
            </a:r>
            <a:r>
              <a:rPr lang="fr-FR" sz="3550" spc="40" dirty="0">
                <a:solidFill>
                  <a:srgbClr val="212121"/>
                </a:solidFill>
                <a:latin typeface="Arial"/>
                <a:cs typeface="Arial"/>
              </a:rPr>
              <a:t>aux </a:t>
            </a:r>
            <a:r>
              <a:rPr lang="fr-FR" sz="3550" spc="60" dirty="0">
                <a:solidFill>
                  <a:srgbClr val="212121"/>
                </a:solidFill>
                <a:latin typeface="Arial"/>
                <a:cs typeface="Arial"/>
              </a:rPr>
              <a:t>journaux</a:t>
            </a:r>
            <a:r>
              <a:rPr lang="fr-FR" sz="3550" spc="190" dirty="0">
                <a:solidFill>
                  <a:srgbClr val="212121"/>
                </a:solidFill>
                <a:latin typeface="Arial"/>
                <a:cs typeface="Arial"/>
              </a:rPr>
              <a:t> </a:t>
            </a:r>
            <a:r>
              <a:rPr lang="fr-FR" sz="3550" spc="50" dirty="0">
                <a:solidFill>
                  <a:srgbClr val="212121"/>
                </a:solidFill>
                <a:latin typeface="Arial"/>
                <a:cs typeface="Arial"/>
              </a:rPr>
              <a:t>système,</a:t>
            </a:r>
            <a:r>
              <a:rPr lang="fr-FR" sz="3550" spc="105" dirty="0">
                <a:solidFill>
                  <a:srgbClr val="212121"/>
                </a:solidFill>
                <a:latin typeface="Arial"/>
                <a:cs typeface="Arial"/>
              </a:rPr>
              <a:t> </a:t>
            </a:r>
            <a:r>
              <a:rPr lang="fr-FR" sz="3550" spc="40" dirty="0">
                <a:solidFill>
                  <a:srgbClr val="212121"/>
                </a:solidFill>
                <a:latin typeface="Arial"/>
                <a:cs typeface="Arial"/>
              </a:rPr>
              <a:t>aux	</a:t>
            </a:r>
            <a:r>
              <a:rPr lang="fr-FR" sz="3550" spc="65" dirty="0">
                <a:solidFill>
                  <a:srgbClr val="212121"/>
                </a:solidFill>
                <a:latin typeface="Arial"/>
                <a:cs typeface="Arial"/>
              </a:rPr>
              <a:t>traces </a:t>
            </a:r>
            <a:r>
              <a:rPr lang="fr-FR" sz="3550" spc="5" dirty="0">
                <a:solidFill>
                  <a:srgbClr val="212121"/>
                </a:solidFill>
                <a:latin typeface="Arial"/>
                <a:cs typeface="Arial"/>
              </a:rPr>
              <a:t>réseau,</a:t>
            </a:r>
            <a:r>
              <a:rPr lang="fr-FR" sz="3550" spc="45" dirty="0">
                <a:solidFill>
                  <a:srgbClr val="212121"/>
                </a:solidFill>
                <a:latin typeface="Arial"/>
                <a:cs typeface="Arial"/>
              </a:rPr>
              <a:t> </a:t>
            </a:r>
            <a:r>
              <a:rPr lang="fr-FR" sz="3550" spc="65" dirty="0">
                <a:solidFill>
                  <a:srgbClr val="212121"/>
                </a:solidFill>
                <a:latin typeface="Arial"/>
                <a:cs typeface="Arial"/>
              </a:rPr>
              <a:t>etc.</a:t>
            </a:r>
            <a:endParaRPr lang="fr-FR" sz="3900" dirty="0">
              <a:latin typeface="Arial"/>
              <a:cs typeface="Arial"/>
            </a:endParaRPr>
          </a:p>
          <a:p>
            <a:pPr marL="599440" indent="-252095" algn="just">
              <a:lnSpc>
                <a:spcPct val="120000"/>
              </a:lnSpc>
              <a:buChar char="•"/>
              <a:tabLst>
                <a:tab pos="600075" algn="l"/>
              </a:tabLst>
            </a:pPr>
            <a:r>
              <a:rPr lang="fr-FR" sz="3550" spc="60" dirty="0">
                <a:solidFill>
                  <a:srgbClr val="0A5D17"/>
                </a:solidFill>
                <a:latin typeface="Arial"/>
                <a:cs typeface="Arial"/>
              </a:rPr>
              <a:t>Maintenance</a:t>
            </a:r>
            <a:endParaRPr lang="fr-FR" sz="3550" dirty="0">
              <a:latin typeface="Arial"/>
              <a:cs typeface="Arial"/>
            </a:endParaRPr>
          </a:p>
          <a:p>
            <a:pPr marL="1069975" lvl="1" indent="-316230" algn="just">
              <a:lnSpc>
                <a:spcPct val="120000"/>
              </a:lnSpc>
              <a:buChar char="-"/>
              <a:tabLst>
                <a:tab pos="1070610" algn="l"/>
              </a:tabLst>
            </a:pPr>
            <a:r>
              <a:rPr lang="fr-FR" sz="3550" spc="70" dirty="0">
                <a:solidFill>
                  <a:srgbClr val="212121"/>
                </a:solidFill>
                <a:latin typeface="Arial"/>
                <a:cs typeface="Arial"/>
              </a:rPr>
              <a:t>Maitrise </a:t>
            </a:r>
            <a:r>
              <a:rPr lang="fr-FR" sz="3550" spc="50" dirty="0">
                <a:solidFill>
                  <a:srgbClr val="212121"/>
                </a:solidFill>
                <a:latin typeface="Arial"/>
                <a:cs typeface="Arial"/>
              </a:rPr>
              <a:t>de </a:t>
            </a:r>
            <a:r>
              <a:rPr lang="fr-FR" sz="3550" spc="15" dirty="0">
                <a:solidFill>
                  <a:srgbClr val="212121"/>
                </a:solidFill>
                <a:latin typeface="Arial"/>
                <a:cs typeface="Arial"/>
              </a:rPr>
              <a:t>la </a:t>
            </a:r>
            <a:r>
              <a:rPr lang="fr-FR" sz="3550" spc="50" dirty="0">
                <a:solidFill>
                  <a:srgbClr val="212121"/>
                </a:solidFill>
                <a:latin typeface="Arial"/>
                <a:cs typeface="Arial"/>
              </a:rPr>
              <a:t>maintenance </a:t>
            </a:r>
            <a:r>
              <a:rPr lang="fr-FR" sz="3550" spc="45" dirty="0">
                <a:solidFill>
                  <a:srgbClr val="212121"/>
                </a:solidFill>
                <a:latin typeface="Arial"/>
                <a:cs typeface="Arial"/>
              </a:rPr>
              <a:t>et </a:t>
            </a:r>
            <a:r>
              <a:rPr lang="fr-FR" sz="3550" spc="80" dirty="0">
                <a:solidFill>
                  <a:srgbClr val="212121"/>
                </a:solidFill>
                <a:latin typeface="Arial"/>
                <a:cs typeface="Arial"/>
              </a:rPr>
              <a:t>contrôle </a:t>
            </a:r>
            <a:r>
              <a:rPr lang="fr-FR" sz="3550" spc="55" dirty="0">
                <a:solidFill>
                  <a:srgbClr val="212121"/>
                </a:solidFill>
                <a:latin typeface="Arial"/>
                <a:cs typeface="Arial"/>
              </a:rPr>
              <a:t>des </a:t>
            </a:r>
            <a:r>
              <a:rPr lang="fr-FR" sz="3550" spc="45" dirty="0">
                <a:solidFill>
                  <a:srgbClr val="212121"/>
                </a:solidFill>
                <a:latin typeface="Arial"/>
                <a:cs typeface="Arial"/>
              </a:rPr>
              <a:t>mises </a:t>
            </a:r>
            <a:r>
              <a:rPr lang="fr-FR" sz="3550" dirty="0">
                <a:solidFill>
                  <a:srgbClr val="212121"/>
                </a:solidFill>
                <a:latin typeface="Arial"/>
                <a:cs typeface="Arial"/>
              </a:rPr>
              <a:t>à </a:t>
            </a:r>
            <a:r>
              <a:rPr lang="fr-FR" sz="3550" spc="25" dirty="0">
                <a:solidFill>
                  <a:srgbClr val="212121"/>
                </a:solidFill>
                <a:latin typeface="Arial"/>
                <a:cs typeface="Arial"/>
              </a:rPr>
              <a:t>niveau </a:t>
            </a:r>
            <a:r>
              <a:rPr lang="fr-FR" sz="3550" spc="60" dirty="0">
                <a:solidFill>
                  <a:srgbClr val="212121"/>
                </a:solidFill>
                <a:latin typeface="Arial"/>
                <a:cs typeface="Arial"/>
              </a:rPr>
              <a:t>du</a:t>
            </a:r>
            <a:r>
              <a:rPr lang="fr-FR" sz="3550" spc="325" dirty="0">
                <a:solidFill>
                  <a:srgbClr val="212121"/>
                </a:solidFill>
                <a:latin typeface="Arial"/>
                <a:cs typeface="Arial"/>
              </a:rPr>
              <a:t> </a:t>
            </a:r>
            <a:r>
              <a:rPr lang="fr-FR" sz="3550" spc="50" dirty="0">
                <a:solidFill>
                  <a:srgbClr val="212121"/>
                </a:solidFill>
                <a:latin typeface="Arial"/>
                <a:cs typeface="Arial"/>
              </a:rPr>
              <a:t>système.</a:t>
            </a:r>
            <a:endParaRPr lang="fr-FR" sz="3900" dirty="0">
              <a:latin typeface="Arial"/>
              <a:cs typeface="Arial"/>
            </a:endParaRPr>
          </a:p>
          <a:p>
            <a:pPr marL="599440" indent="-252095" algn="just">
              <a:lnSpc>
                <a:spcPct val="120000"/>
              </a:lnSpc>
              <a:buChar char="•"/>
              <a:tabLst>
                <a:tab pos="600075" algn="l"/>
              </a:tabLst>
            </a:pPr>
            <a:r>
              <a:rPr lang="fr-FR" sz="3550" spc="90" dirty="0">
                <a:solidFill>
                  <a:srgbClr val="0A5D17"/>
                </a:solidFill>
                <a:latin typeface="Arial"/>
                <a:cs typeface="Arial"/>
              </a:rPr>
              <a:t>Monitoring</a:t>
            </a:r>
            <a:endParaRPr lang="fr-FR" sz="3550" dirty="0">
              <a:latin typeface="Arial"/>
              <a:cs typeface="Arial"/>
            </a:endParaRPr>
          </a:p>
          <a:p>
            <a:pPr marL="413385" indent="0" algn="just">
              <a:lnSpc>
                <a:spcPct val="120000"/>
              </a:lnSpc>
              <a:buNone/>
            </a:pPr>
            <a:r>
              <a:rPr lang="fr-FR" sz="3550" dirty="0">
                <a:solidFill>
                  <a:srgbClr val="212121"/>
                </a:solidFill>
                <a:latin typeface="Arial"/>
                <a:cs typeface="Arial"/>
              </a:rPr>
              <a:t>- </a:t>
            </a:r>
            <a:r>
              <a:rPr lang="fr-FR" sz="3550" spc="60" dirty="0">
                <a:solidFill>
                  <a:srgbClr val="212121"/>
                </a:solidFill>
                <a:latin typeface="Arial"/>
                <a:cs typeface="Arial"/>
              </a:rPr>
              <a:t>Capacité </a:t>
            </a:r>
            <a:r>
              <a:rPr lang="fr-FR" sz="3550" dirty="0">
                <a:solidFill>
                  <a:srgbClr val="212121"/>
                </a:solidFill>
                <a:latin typeface="Arial"/>
                <a:cs typeface="Arial"/>
              </a:rPr>
              <a:t>à </a:t>
            </a:r>
            <a:r>
              <a:rPr lang="fr-FR" sz="3550" spc="40" dirty="0">
                <a:solidFill>
                  <a:srgbClr val="212121"/>
                </a:solidFill>
                <a:latin typeface="Arial"/>
                <a:cs typeface="Arial"/>
              </a:rPr>
              <a:t>surveiller </a:t>
            </a:r>
            <a:r>
              <a:rPr lang="fr-FR" sz="3550" spc="95" dirty="0">
                <a:solidFill>
                  <a:srgbClr val="212121"/>
                </a:solidFill>
                <a:latin typeface="Arial"/>
                <a:cs typeface="Arial"/>
              </a:rPr>
              <a:t>complètement </a:t>
            </a:r>
            <a:r>
              <a:rPr lang="fr-FR" sz="3550" spc="15" dirty="0">
                <a:solidFill>
                  <a:srgbClr val="212121"/>
                </a:solidFill>
                <a:latin typeface="Arial"/>
                <a:cs typeface="Arial"/>
              </a:rPr>
              <a:t>le </a:t>
            </a:r>
            <a:r>
              <a:rPr lang="fr-FR" sz="3550" spc="55" dirty="0">
                <a:solidFill>
                  <a:srgbClr val="212121"/>
                </a:solidFill>
                <a:latin typeface="Arial"/>
                <a:cs typeface="Arial"/>
              </a:rPr>
              <a:t>système </a:t>
            </a:r>
            <a:r>
              <a:rPr lang="fr-FR" sz="3550" dirty="0">
                <a:solidFill>
                  <a:srgbClr val="212121"/>
                </a:solidFill>
                <a:latin typeface="Arial"/>
                <a:cs typeface="Arial"/>
              </a:rPr>
              <a:t>: </a:t>
            </a:r>
            <a:r>
              <a:rPr lang="fr-FR" sz="3550" spc="40" dirty="0">
                <a:solidFill>
                  <a:srgbClr val="212121"/>
                </a:solidFill>
                <a:latin typeface="Arial"/>
                <a:cs typeface="Arial"/>
              </a:rPr>
              <a:t>cela </a:t>
            </a:r>
            <a:r>
              <a:rPr lang="fr-FR" sz="3550" spc="80" dirty="0">
                <a:solidFill>
                  <a:srgbClr val="212121"/>
                </a:solidFill>
                <a:latin typeface="Arial"/>
                <a:cs typeface="Arial"/>
              </a:rPr>
              <a:t>permet </a:t>
            </a:r>
            <a:r>
              <a:rPr lang="fr-FR" sz="3550" spc="50" dirty="0">
                <a:solidFill>
                  <a:srgbClr val="212121"/>
                </a:solidFill>
                <a:latin typeface="Arial"/>
                <a:cs typeface="Arial"/>
              </a:rPr>
              <a:t>de </a:t>
            </a:r>
            <a:r>
              <a:rPr lang="fr-FR" sz="3550" spc="55" dirty="0">
                <a:solidFill>
                  <a:srgbClr val="212121"/>
                </a:solidFill>
                <a:latin typeface="Arial"/>
                <a:cs typeface="Arial"/>
              </a:rPr>
              <a:t>prendre</a:t>
            </a:r>
            <a:r>
              <a:rPr lang="fr-FR" sz="3550" spc="-505" dirty="0">
                <a:solidFill>
                  <a:srgbClr val="212121"/>
                </a:solidFill>
                <a:latin typeface="Arial"/>
                <a:cs typeface="Arial"/>
              </a:rPr>
              <a:t> </a:t>
            </a:r>
            <a:r>
              <a:rPr lang="fr-FR" sz="3550" spc="55" dirty="0">
                <a:solidFill>
                  <a:srgbClr val="212121"/>
                </a:solidFill>
                <a:latin typeface="Arial"/>
                <a:cs typeface="Arial"/>
              </a:rPr>
              <a:t>des</a:t>
            </a:r>
            <a:r>
              <a:rPr lang="fr-FR" sz="3550" dirty="0">
                <a:latin typeface="Arial"/>
                <a:cs typeface="Arial"/>
              </a:rPr>
              <a:t> </a:t>
            </a:r>
            <a:r>
              <a:rPr lang="fr-FR" sz="3550" spc="30" dirty="0">
                <a:solidFill>
                  <a:srgbClr val="212121"/>
                </a:solidFill>
                <a:latin typeface="Arial"/>
                <a:cs typeface="Arial"/>
              </a:rPr>
              <a:t>mesures </a:t>
            </a:r>
            <a:r>
              <a:rPr lang="fr-FR" sz="3550" spc="50" dirty="0">
                <a:solidFill>
                  <a:srgbClr val="212121"/>
                </a:solidFill>
                <a:latin typeface="Arial"/>
                <a:cs typeface="Arial"/>
              </a:rPr>
              <a:t>préventives </a:t>
            </a:r>
            <a:r>
              <a:rPr lang="fr-FR" sz="3550" spc="80" dirty="0">
                <a:solidFill>
                  <a:srgbClr val="212121"/>
                </a:solidFill>
                <a:latin typeface="Arial"/>
                <a:cs typeface="Arial"/>
              </a:rPr>
              <a:t>pour </a:t>
            </a:r>
            <a:r>
              <a:rPr lang="fr-FR" sz="3550" spc="45" dirty="0">
                <a:solidFill>
                  <a:srgbClr val="212121"/>
                </a:solidFill>
                <a:latin typeface="Arial"/>
                <a:cs typeface="Arial"/>
              </a:rPr>
              <a:t>éviter </a:t>
            </a:r>
            <a:r>
              <a:rPr lang="fr-FR" sz="3550" spc="25" dirty="0">
                <a:solidFill>
                  <a:srgbClr val="212121"/>
                </a:solidFill>
                <a:latin typeface="Arial"/>
                <a:cs typeface="Arial"/>
              </a:rPr>
              <a:t>une</a:t>
            </a:r>
            <a:r>
              <a:rPr lang="fr-FR" sz="3550" spc="100" dirty="0">
                <a:solidFill>
                  <a:srgbClr val="212121"/>
                </a:solidFill>
                <a:latin typeface="Arial"/>
                <a:cs typeface="Arial"/>
              </a:rPr>
              <a:t> </a:t>
            </a:r>
            <a:r>
              <a:rPr lang="fr-FR" sz="3550" spc="50" dirty="0">
                <a:solidFill>
                  <a:srgbClr val="212121"/>
                </a:solidFill>
                <a:latin typeface="Arial"/>
                <a:cs typeface="Arial"/>
              </a:rPr>
              <a:t>panne.</a:t>
            </a:r>
            <a:endParaRPr lang="fr-FR" sz="355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8E876096-C562-3260-4B38-FE4C5A03E06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57F46874-F0CB-FF34-CA88-162E9F8F2279}"/>
              </a:ext>
            </a:extLst>
          </p:cNvPr>
          <p:cNvSpPr>
            <a:spLocks noGrp="1"/>
          </p:cNvSpPr>
          <p:nvPr>
            <p:ph type="sldNum" sz="quarter" idx="12"/>
          </p:nvPr>
        </p:nvSpPr>
        <p:spPr/>
        <p:txBody>
          <a:bodyPr/>
          <a:lstStyle/>
          <a:p>
            <a:fld id="{B82CCC60-E8CD-4174-8B1A-7DF615B22EEF}" type="slidenum">
              <a:rPr lang="en-US" smtClean="0"/>
              <a:pPr/>
              <a:t>26</a:t>
            </a:fld>
            <a:endParaRPr lang="en-US"/>
          </a:p>
        </p:txBody>
      </p:sp>
    </p:spTree>
    <p:extLst>
      <p:ext uri="{BB962C8B-B14F-4D97-AF65-F5344CB8AC3E}">
        <p14:creationId xmlns:p14="http://schemas.microsoft.com/office/powerpoint/2010/main" val="24846255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891719-7254-2D6D-E3F5-4ED4858C5C26}"/>
              </a:ext>
            </a:extLst>
          </p:cNvPr>
          <p:cNvSpPr>
            <a:spLocks noGrp="1"/>
          </p:cNvSpPr>
          <p:nvPr>
            <p:ph type="title"/>
          </p:nvPr>
        </p:nvSpPr>
        <p:spPr/>
        <p:txBody>
          <a:bodyPr>
            <a:normAutofit fontScale="90000"/>
          </a:bodyPr>
          <a:lstStyle/>
          <a:p>
            <a:r>
              <a:rPr lang="fr-FR" sz="3600" spc="-25" dirty="0">
                <a:latin typeface="Arial Black"/>
                <a:cs typeface="Arial Black"/>
              </a:rPr>
              <a:t>Inconvénients </a:t>
            </a:r>
            <a:r>
              <a:rPr lang="fr-FR" sz="3600" spc="-5" dirty="0">
                <a:latin typeface="Arial Black"/>
                <a:cs typeface="Arial Black"/>
              </a:rPr>
              <a:t>du </a:t>
            </a:r>
            <a:r>
              <a:rPr lang="fr-FR" sz="3600" spc="-15" dirty="0">
                <a:latin typeface="Arial Black"/>
                <a:cs typeface="Arial Black"/>
              </a:rPr>
              <a:t>Cloud</a:t>
            </a:r>
            <a:r>
              <a:rPr lang="fr-FR" sz="3600" spc="-65" dirty="0">
                <a:latin typeface="Arial Black"/>
                <a:cs typeface="Arial Black"/>
              </a:rPr>
              <a:t> </a:t>
            </a:r>
            <a:r>
              <a:rPr lang="fr-FR" sz="3600" dirty="0">
                <a:latin typeface="Arial Black"/>
                <a:cs typeface="Arial Black"/>
              </a:rPr>
              <a:t>privé</a:t>
            </a:r>
            <a:endParaRPr lang="fr-FR" dirty="0"/>
          </a:p>
        </p:txBody>
      </p:sp>
      <p:sp>
        <p:nvSpPr>
          <p:cNvPr id="3" name="Espace réservé du contenu 2">
            <a:extLst>
              <a:ext uri="{FF2B5EF4-FFF2-40B4-BE49-F238E27FC236}">
                <a16:creationId xmlns:a16="http://schemas.microsoft.com/office/drawing/2014/main" id="{E771A48B-3999-4617-1888-DEBCE66D0CEB}"/>
              </a:ext>
            </a:extLst>
          </p:cNvPr>
          <p:cNvSpPr>
            <a:spLocks noGrp="1"/>
          </p:cNvSpPr>
          <p:nvPr>
            <p:ph idx="1"/>
          </p:nvPr>
        </p:nvSpPr>
        <p:spPr>
          <a:xfrm>
            <a:off x="448966" y="1960930"/>
            <a:ext cx="8246070" cy="3054100"/>
          </a:xfrm>
        </p:spPr>
        <p:txBody>
          <a:bodyPr>
            <a:normAutofit fontScale="47500" lnSpcReduction="20000"/>
          </a:bodyPr>
          <a:lstStyle/>
          <a:p>
            <a:pPr marL="598805" indent="-252095" algn="just">
              <a:lnSpc>
                <a:spcPct val="120000"/>
              </a:lnSpc>
              <a:spcBef>
                <a:spcPts val="3970"/>
              </a:spcBef>
              <a:buChar char="•"/>
              <a:tabLst>
                <a:tab pos="599440" algn="l"/>
              </a:tabLst>
            </a:pPr>
            <a:r>
              <a:rPr lang="fr-FR" sz="2800" spc="70" dirty="0">
                <a:solidFill>
                  <a:srgbClr val="0A5D17"/>
                </a:solidFill>
                <a:latin typeface="Arial"/>
                <a:cs typeface="Arial"/>
              </a:rPr>
              <a:t>Coût</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10" dirty="0">
                <a:solidFill>
                  <a:srgbClr val="212121"/>
                </a:solidFill>
                <a:latin typeface="Arial"/>
                <a:cs typeface="Arial"/>
              </a:rPr>
              <a:t>La </a:t>
            </a:r>
            <a:r>
              <a:rPr lang="fr-FR" sz="2800" spc="45" dirty="0">
                <a:solidFill>
                  <a:srgbClr val="212121"/>
                </a:solidFill>
                <a:latin typeface="Arial"/>
                <a:cs typeface="Arial"/>
              </a:rPr>
              <a:t>mise </a:t>
            </a:r>
            <a:r>
              <a:rPr lang="fr-FR" sz="2800" spc="10" dirty="0">
                <a:solidFill>
                  <a:srgbClr val="212121"/>
                </a:solidFill>
                <a:latin typeface="Arial"/>
                <a:cs typeface="Arial"/>
              </a:rPr>
              <a:t>en </a:t>
            </a:r>
            <a:r>
              <a:rPr lang="fr-FR" sz="2800" dirty="0">
                <a:solidFill>
                  <a:srgbClr val="212121"/>
                </a:solidFill>
                <a:latin typeface="Arial"/>
                <a:cs typeface="Arial"/>
              </a:rPr>
              <a:t>œuvre </a:t>
            </a:r>
            <a:r>
              <a:rPr lang="fr-FR" sz="2800" spc="114" dirty="0">
                <a:solidFill>
                  <a:srgbClr val="212121"/>
                </a:solidFill>
                <a:latin typeface="Arial"/>
                <a:cs typeface="Arial"/>
              </a:rPr>
              <a:t>d'un </a:t>
            </a:r>
            <a:r>
              <a:rPr lang="fr-FR" sz="2800" spc="55" dirty="0">
                <a:solidFill>
                  <a:srgbClr val="212121"/>
                </a:solidFill>
                <a:latin typeface="Arial"/>
                <a:cs typeface="Arial"/>
              </a:rPr>
              <a:t>environnement </a:t>
            </a:r>
            <a:r>
              <a:rPr lang="fr-FR" sz="2800" spc="65" dirty="0">
                <a:solidFill>
                  <a:srgbClr val="212121"/>
                </a:solidFill>
                <a:latin typeface="Arial"/>
                <a:cs typeface="Arial"/>
              </a:rPr>
              <a:t>Cloud </a:t>
            </a:r>
            <a:r>
              <a:rPr lang="fr-FR" sz="2800" spc="55" dirty="0">
                <a:solidFill>
                  <a:srgbClr val="212121"/>
                </a:solidFill>
                <a:latin typeface="Arial"/>
                <a:cs typeface="Arial"/>
              </a:rPr>
              <a:t>privé </a:t>
            </a:r>
            <a:r>
              <a:rPr lang="fr-FR" sz="2800" spc="60" dirty="0">
                <a:solidFill>
                  <a:srgbClr val="212121"/>
                </a:solidFill>
                <a:latin typeface="Arial"/>
                <a:cs typeface="Arial"/>
              </a:rPr>
              <a:t>nécessite </a:t>
            </a:r>
            <a:r>
              <a:rPr lang="fr-FR" sz="2800" spc="55" dirty="0">
                <a:solidFill>
                  <a:srgbClr val="212121"/>
                </a:solidFill>
                <a:latin typeface="Arial"/>
                <a:cs typeface="Arial"/>
              </a:rPr>
              <a:t>des </a:t>
            </a:r>
            <a:r>
              <a:rPr lang="fr-FR" sz="2800" spc="90" dirty="0">
                <a:solidFill>
                  <a:srgbClr val="212121"/>
                </a:solidFill>
                <a:latin typeface="Arial"/>
                <a:cs typeface="Arial"/>
              </a:rPr>
              <a:t>coûts</a:t>
            </a:r>
            <a:r>
              <a:rPr lang="fr-FR" sz="2800" spc="-390" dirty="0">
                <a:solidFill>
                  <a:srgbClr val="212121"/>
                </a:solidFill>
                <a:latin typeface="Arial"/>
                <a:cs typeface="Arial"/>
              </a:rPr>
              <a:t> </a:t>
            </a:r>
            <a:r>
              <a:rPr lang="fr-FR" sz="2800" spc="60" dirty="0">
                <a:solidFill>
                  <a:srgbClr val="212121"/>
                </a:solidFill>
                <a:latin typeface="Arial"/>
                <a:cs typeface="Arial"/>
              </a:rPr>
              <a:t>initiaux</a:t>
            </a:r>
            <a:r>
              <a:rPr lang="fr-FR" dirty="0">
                <a:latin typeface="Arial"/>
                <a:cs typeface="Arial"/>
              </a:rPr>
              <a:t> </a:t>
            </a:r>
            <a:r>
              <a:rPr lang="fr-FR" sz="2800" spc="80" dirty="0">
                <a:solidFill>
                  <a:srgbClr val="212121"/>
                </a:solidFill>
                <a:latin typeface="Arial"/>
                <a:cs typeface="Arial"/>
              </a:rPr>
              <a:t>importants.</a:t>
            </a:r>
            <a:endParaRPr lang="fr-FR" sz="2800" dirty="0">
              <a:latin typeface="Arial"/>
              <a:cs typeface="Arial"/>
            </a:endParaRPr>
          </a:p>
          <a:p>
            <a:pPr marL="598805" indent="-252095" algn="just">
              <a:lnSpc>
                <a:spcPct val="120000"/>
              </a:lnSpc>
              <a:spcBef>
                <a:spcPts val="275"/>
              </a:spcBef>
              <a:buChar char="•"/>
              <a:tabLst>
                <a:tab pos="599440" algn="l"/>
              </a:tabLst>
            </a:pPr>
            <a:r>
              <a:rPr lang="fr-FR" sz="2800" spc="85" dirty="0">
                <a:solidFill>
                  <a:srgbClr val="0A5D17"/>
                </a:solidFill>
                <a:latin typeface="Arial"/>
                <a:cs typeface="Arial"/>
              </a:rPr>
              <a:t>Comptabilité </a:t>
            </a:r>
            <a:r>
              <a:rPr lang="fr-FR" sz="2800" spc="60" dirty="0">
                <a:solidFill>
                  <a:srgbClr val="0A5D17"/>
                </a:solidFill>
                <a:latin typeface="Arial"/>
                <a:cs typeface="Arial"/>
              </a:rPr>
              <a:t>du </a:t>
            </a:r>
            <a:r>
              <a:rPr lang="fr-FR" sz="2800" spc="35" dirty="0">
                <a:solidFill>
                  <a:srgbClr val="0A5D17"/>
                </a:solidFill>
                <a:latin typeface="Arial"/>
                <a:cs typeface="Arial"/>
              </a:rPr>
              <a:t>Hardware </a:t>
            </a:r>
            <a:r>
              <a:rPr lang="fr-FR" sz="2800" dirty="0">
                <a:solidFill>
                  <a:srgbClr val="0A5D17"/>
                </a:solidFill>
                <a:latin typeface="Arial"/>
                <a:cs typeface="Arial"/>
              </a:rPr>
              <a:t>&amp;</a:t>
            </a:r>
            <a:r>
              <a:rPr lang="fr-FR" sz="2800" spc="30" dirty="0">
                <a:solidFill>
                  <a:srgbClr val="0A5D17"/>
                </a:solidFill>
                <a:latin typeface="Arial"/>
                <a:cs typeface="Arial"/>
              </a:rPr>
              <a:t> </a:t>
            </a:r>
            <a:r>
              <a:rPr lang="fr-FR" sz="2800" spc="55" dirty="0">
                <a:solidFill>
                  <a:srgbClr val="0A5D17"/>
                </a:solidFill>
                <a:latin typeface="Arial"/>
                <a:cs typeface="Arial"/>
              </a:rPr>
              <a:t>Software</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10" dirty="0">
                <a:solidFill>
                  <a:srgbClr val="212121"/>
                </a:solidFill>
                <a:latin typeface="Arial"/>
                <a:cs typeface="Arial"/>
              </a:rPr>
              <a:t>Le </a:t>
            </a:r>
            <a:r>
              <a:rPr lang="fr-FR" sz="2800" spc="70" dirty="0">
                <a:solidFill>
                  <a:srgbClr val="212121"/>
                </a:solidFill>
                <a:latin typeface="Arial"/>
                <a:cs typeface="Arial"/>
              </a:rPr>
              <a:t>software </a:t>
            </a:r>
            <a:r>
              <a:rPr lang="fr-FR" sz="2800" spc="50" dirty="0">
                <a:solidFill>
                  <a:srgbClr val="212121"/>
                </a:solidFill>
                <a:latin typeface="Arial"/>
                <a:cs typeface="Arial"/>
              </a:rPr>
              <a:t>installé dans </a:t>
            </a:r>
            <a:r>
              <a:rPr lang="fr-FR" sz="2800" spc="30" dirty="0">
                <a:solidFill>
                  <a:srgbClr val="212121"/>
                </a:solidFill>
                <a:latin typeface="Arial"/>
                <a:cs typeface="Arial"/>
              </a:rPr>
              <a:t>un </a:t>
            </a:r>
            <a:r>
              <a:rPr lang="fr-FR" sz="2800" spc="50" dirty="0">
                <a:solidFill>
                  <a:srgbClr val="212121"/>
                </a:solidFill>
                <a:latin typeface="Arial"/>
                <a:cs typeface="Arial"/>
              </a:rPr>
              <a:t>environnement </a:t>
            </a:r>
            <a:r>
              <a:rPr lang="fr-FR" sz="2800" spc="65" dirty="0">
                <a:solidFill>
                  <a:srgbClr val="212121"/>
                </a:solidFill>
                <a:latin typeface="Arial"/>
                <a:cs typeface="Arial"/>
              </a:rPr>
              <a:t>Cloud </a:t>
            </a:r>
            <a:r>
              <a:rPr lang="fr-FR" sz="2800" spc="105" dirty="0">
                <a:solidFill>
                  <a:srgbClr val="212121"/>
                </a:solidFill>
                <a:latin typeface="Arial"/>
                <a:cs typeface="Arial"/>
              </a:rPr>
              <a:t>doit </a:t>
            </a:r>
            <a:r>
              <a:rPr lang="fr-FR" sz="2800" spc="30" dirty="0">
                <a:solidFill>
                  <a:srgbClr val="212121"/>
                </a:solidFill>
                <a:latin typeface="Arial"/>
                <a:cs typeface="Arial"/>
              </a:rPr>
              <a:t>être </a:t>
            </a:r>
            <a:r>
              <a:rPr lang="fr-FR" sz="2800" spc="100" dirty="0">
                <a:solidFill>
                  <a:srgbClr val="212121"/>
                </a:solidFill>
                <a:latin typeface="Arial"/>
                <a:cs typeface="Arial"/>
              </a:rPr>
              <a:t>compatible </a:t>
            </a:r>
            <a:r>
              <a:rPr lang="fr-FR" sz="2800" spc="40" dirty="0">
                <a:solidFill>
                  <a:srgbClr val="212121"/>
                </a:solidFill>
                <a:latin typeface="Arial"/>
                <a:cs typeface="Arial"/>
              </a:rPr>
              <a:t>avec</a:t>
            </a:r>
            <a:r>
              <a:rPr lang="fr-FR" sz="2800" spc="-310" dirty="0">
                <a:solidFill>
                  <a:srgbClr val="212121"/>
                </a:solidFill>
                <a:latin typeface="Arial"/>
                <a:cs typeface="Arial"/>
              </a:rPr>
              <a:t> </a:t>
            </a:r>
            <a:r>
              <a:rPr lang="fr-FR" sz="2800" spc="15" dirty="0">
                <a:solidFill>
                  <a:srgbClr val="212121"/>
                </a:solidFill>
                <a:latin typeface="Arial"/>
                <a:cs typeface="Arial"/>
              </a:rPr>
              <a:t>le</a:t>
            </a:r>
            <a:r>
              <a:rPr lang="fr-FR" dirty="0">
                <a:latin typeface="Arial"/>
                <a:cs typeface="Arial"/>
              </a:rPr>
              <a:t> </a:t>
            </a:r>
            <a:r>
              <a:rPr lang="fr-FR" sz="2800" spc="40" dirty="0">
                <a:solidFill>
                  <a:srgbClr val="212121"/>
                </a:solidFill>
                <a:latin typeface="Arial"/>
                <a:cs typeface="Arial"/>
              </a:rPr>
              <a:t>hardware </a:t>
            </a:r>
            <a:r>
              <a:rPr lang="fr-FR" sz="2800" spc="60" dirty="0">
                <a:solidFill>
                  <a:srgbClr val="212121"/>
                </a:solidFill>
                <a:latin typeface="Arial"/>
                <a:cs typeface="Arial"/>
              </a:rPr>
              <a:t>existant.</a:t>
            </a:r>
            <a:endParaRPr lang="fr-FR" sz="2800" dirty="0">
              <a:latin typeface="Arial"/>
              <a:cs typeface="Arial"/>
            </a:endParaRPr>
          </a:p>
          <a:p>
            <a:pPr marL="598805" indent="-252095" algn="just">
              <a:lnSpc>
                <a:spcPct val="120000"/>
              </a:lnSpc>
              <a:spcBef>
                <a:spcPts val="265"/>
              </a:spcBef>
              <a:buChar char="•"/>
              <a:tabLst>
                <a:tab pos="599440" algn="l"/>
              </a:tabLst>
            </a:pPr>
            <a:r>
              <a:rPr lang="fr-FR" sz="2800" spc="55" dirty="0">
                <a:solidFill>
                  <a:srgbClr val="0A5D17"/>
                </a:solidFill>
                <a:latin typeface="Arial"/>
                <a:cs typeface="Arial"/>
              </a:rPr>
              <a:t>Besoin</a:t>
            </a:r>
            <a:r>
              <a:rPr lang="fr-FR" sz="2800" spc="50" dirty="0">
                <a:solidFill>
                  <a:srgbClr val="0A5D17"/>
                </a:solidFill>
                <a:latin typeface="Arial"/>
                <a:cs typeface="Arial"/>
              </a:rPr>
              <a:t> </a:t>
            </a:r>
            <a:r>
              <a:rPr lang="fr-FR" sz="2800" spc="80" dirty="0">
                <a:solidFill>
                  <a:srgbClr val="0A5D17"/>
                </a:solidFill>
                <a:latin typeface="Arial"/>
                <a:cs typeface="Arial"/>
              </a:rPr>
              <a:t>d’expertise</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L’entreprise </a:t>
            </a:r>
            <a:r>
              <a:rPr lang="fr-FR" sz="2800" spc="15" dirty="0">
                <a:solidFill>
                  <a:srgbClr val="212121"/>
                </a:solidFill>
                <a:latin typeface="Arial"/>
                <a:cs typeface="Arial"/>
              </a:rPr>
              <a:t>(vous, </a:t>
            </a:r>
            <a:r>
              <a:rPr lang="fr-FR" sz="2800" spc="50" dirty="0">
                <a:solidFill>
                  <a:srgbClr val="212121"/>
                </a:solidFill>
                <a:latin typeface="Arial"/>
                <a:cs typeface="Arial"/>
              </a:rPr>
              <a:t>l’utilisateur) </a:t>
            </a:r>
            <a:r>
              <a:rPr lang="fr-FR" sz="2800" spc="55" dirty="0">
                <a:solidFill>
                  <a:srgbClr val="212121"/>
                </a:solidFill>
                <a:latin typeface="Arial"/>
                <a:cs typeface="Arial"/>
              </a:rPr>
              <a:t>est </a:t>
            </a:r>
            <a:r>
              <a:rPr lang="fr-FR" sz="2800" spc="50" dirty="0">
                <a:solidFill>
                  <a:srgbClr val="212121"/>
                </a:solidFill>
                <a:latin typeface="Arial"/>
                <a:cs typeface="Arial"/>
              </a:rPr>
              <a:t>responsable de </a:t>
            </a:r>
            <a:r>
              <a:rPr lang="fr-FR" sz="2800" spc="70" dirty="0">
                <a:solidFill>
                  <a:srgbClr val="212121"/>
                </a:solidFill>
                <a:latin typeface="Arial"/>
                <a:cs typeface="Arial"/>
              </a:rPr>
              <a:t>l’installation, </a:t>
            </a:r>
            <a:r>
              <a:rPr lang="fr-FR" sz="2800" spc="50" dirty="0">
                <a:solidFill>
                  <a:srgbClr val="212121"/>
                </a:solidFill>
                <a:latin typeface="Arial"/>
                <a:cs typeface="Arial"/>
              </a:rPr>
              <a:t>de</a:t>
            </a:r>
            <a:r>
              <a:rPr lang="fr-FR" sz="2800" spc="150" dirty="0">
                <a:solidFill>
                  <a:srgbClr val="212121"/>
                </a:solidFill>
                <a:latin typeface="Arial"/>
                <a:cs typeface="Arial"/>
              </a:rPr>
              <a:t> </a:t>
            </a:r>
            <a:r>
              <a:rPr lang="fr-FR" sz="2800" spc="15" dirty="0">
                <a:solidFill>
                  <a:srgbClr val="212121"/>
                </a:solidFill>
                <a:latin typeface="Arial"/>
                <a:cs typeface="Arial"/>
              </a:rPr>
              <a:t>la</a:t>
            </a:r>
            <a:r>
              <a:rPr lang="fr-FR" dirty="0">
                <a:latin typeface="Arial"/>
                <a:cs typeface="Arial"/>
              </a:rPr>
              <a:t> </a:t>
            </a:r>
            <a:r>
              <a:rPr lang="fr-FR" sz="2800" spc="50" dirty="0">
                <a:solidFill>
                  <a:srgbClr val="212121"/>
                </a:solidFill>
                <a:latin typeface="Arial"/>
                <a:cs typeface="Arial"/>
              </a:rPr>
              <a:t>maintenance </a:t>
            </a:r>
            <a:r>
              <a:rPr lang="fr-FR" sz="2800" spc="45" dirty="0">
                <a:solidFill>
                  <a:srgbClr val="212121"/>
                </a:solidFill>
                <a:latin typeface="Arial"/>
                <a:cs typeface="Arial"/>
              </a:rPr>
              <a:t>et </a:t>
            </a:r>
            <a:r>
              <a:rPr lang="fr-FR" sz="2800" spc="60" dirty="0">
                <a:solidFill>
                  <a:srgbClr val="212121"/>
                </a:solidFill>
                <a:latin typeface="Arial"/>
                <a:cs typeface="Arial"/>
              </a:rPr>
              <a:t>du </a:t>
            </a:r>
            <a:r>
              <a:rPr lang="fr-FR" sz="2800" spc="100" dirty="0">
                <a:solidFill>
                  <a:srgbClr val="212121"/>
                </a:solidFill>
                <a:latin typeface="Arial"/>
                <a:cs typeface="Arial"/>
              </a:rPr>
              <a:t>support </a:t>
            </a:r>
            <a:r>
              <a:rPr lang="fr-FR" sz="2800" spc="55" dirty="0">
                <a:solidFill>
                  <a:srgbClr val="212121"/>
                </a:solidFill>
                <a:latin typeface="Arial"/>
                <a:cs typeface="Arial"/>
              </a:rPr>
              <a:t>des systèmes </a:t>
            </a:r>
            <a:r>
              <a:rPr lang="fr-FR" sz="2800" spc="45" dirty="0">
                <a:solidFill>
                  <a:srgbClr val="212121"/>
                </a:solidFill>
                <a:latin typeface="Arial"/>
                <a:cs typeface="Arial"/>
              </a:rPr>
              <a:t>et </a:t>
            </a:r>
            <a:r>
              <a:rPr lang="fr-FR" sz="2800" spc="55" dirty="0">
                <a:solidFill>
                  <a:srgbClr val="212121"/>
                </a:solidFill>
                <a:latin typeface="Arial"/>
                <a:cs typeface="Arial"/>
              </a:rPr>
              <a:t>des </a:t>
            </a:r>
            <a:r>
              <a:rPr lang="fr-FR" sz="2800" spc="85" dirty="0">
                <a:solidFill>
                  <a:srgbClr val="212121"/>
                </a:solidFill>
                <a:latin typeface="Arial"/>
                <a:cs typeface="Arial"/>
              </a:rPr>
              <a:t>applications </a:t>
            </a:r>
            <a:r>
              <a:rPr lang="fr-FR" sz="2800" dirty="0">
                <a:solidFill>
                  <a:srgbClr val="212121"/>
                </a:solidFill>
                <a:latin typeface="Arial"/>
                <a:cs typeface="Arial"/>
              </a:rPr>
              <a:t>à</a:t>
            </a:r>
            <a:r>
              <a:rPr lang="fr-FR" sz="2800" spc="445" dirty="0">
                <a:solidFill>
                  <a:srgbClr val="212121"/>
                </a:solidFill>
                <a:latin typeface="Arial"/>
                <a:cs typeface="Arial"/>
              </a:rPr>
              <a:t> </a:t>
            </a:r>
            <a:r>
              <a:rPr lang="fr-FR" sz="2800" spc="-5" dirty="0">
                <a:solidFill>
                  <a:srgbClr val="212121"/>
                </a:solidFill>
                <a:latin typeface="Arial"/>
                <a:cs typeface="Arial"/>
              </a:rPr>
              <a:t>installer.</a:t>
            </a:r>
            <a:endParaRPr lang="fr-FR" sz="2800" dirty="0">
              <a:latin typeface="Arial"/>
              <a:cs typeface="Arial"/>
            </a:endParaRPr>
          </a:p>
          <a:p>
            <a:pPr marL="413385" indent="0" algn="just">
              <a:lnSpc>
                <a:spcPct val="120000"/>
              </a:lnSpc>
              <a:spcBef>
                <a:spcPts val="35"/>
              </a:spcBef>
              <a:buNone/>
            </a:pPr>
            <a:r>
              <a:rPr lang="fr-FR" sz="4400" spc="15" baseline="2347" dirty="0">
                <a:solidFill>
                  <a:srgbClr val="212121"/>
                </a:solidFill>
                <a:latin typeface="AoyagiKouzanFontT"/>
                <a:cs typeface="AoyagiKouzanFontT"/>
              </a:rPr>
              <a:t>➡</a:t>
            </a:r>
            <a:r>
              <a:rPr lang="fr-FR" sz="2800" spc="10" dirty="0">
                <a:solidFill>
                  <a:srgbClr val="212121"/>
                </a:solidFill>
                <a:latin typeface="Arial"/>
                <a:cs typeface="Arial"/>
              </a:rPr>
              <a:t>L’entreprise </a:t>
            </a:r>
            <a:r>
              <a:rPr lang="fr-FR" sz="2800" spc="105" dirty="0">
                <a:solidFill>
                  <a:srgbClr val="212121"/>
                </a:solidFill>
                <a:latin typeface="Arial"/>
                <a:cs typeface="Arial"/>
              </a:rPr>
              <a:t>doit </a:t>
            </a:r>
            <a:r>
              <a:rPr lang="fr-FR" sz="2800" spc="45" dirty="0">
                <a:solidFill>
                  <a:srgbClr val="212121"/>
                </a:solidFill>
                <a:latin typeface="Arial"/>
                <a:cs typeface="Arial"/>
              </a:rPr>
              <a:t>avoir </a:t>
            </a:r>
            <a:r>
              <a:rPr lang="fr-FR" sz="2800" spc="55" dirty="0">
                <a:solidFill>
                  <a:srgbClr val="212121"/>
                </a:solidFill>
                <a:latin typeface="Arial"/>
                <a:cs typeface="Arial"/>
              </a:rPr>
              <a:t>des </a:t>
            </a:r>
            <a:r>
              <a:rPr lang="fr-FR" sz="2800" spc="60" dirty="0">
                <a:solidFill>
                  <a:srgbClr val="212121"/>
                </a:solidFill>
                <a:latin typeface="Arial"/>
                <a:cs typeface="Arial"/>
              </a:rPr>
              <a:t>connaissances internes </a:t>
            </a:r>
            <a:r>
              <a:rPr lang="fr-FR" sz="2800" spc="30" dirty="0">
                <a:solidFill>
                  <a:srgbClr val="212121"/>
                </a:solidFill>
                <a:latin typeface="Arial"/>
                <a:cs typeface="Arial"/>
              </a:rPr>
              <a:t>(personnel qualifié) </a:t>
            </a:r>
            <a:r>
              <a:rPr lang="fr-FR" sz="2800" spc="45" dirty="0">
                <a:solidFill>
                  <a:srgbClr val="212121"/>
                </a:solidFill>
                <a:latin typeface="Arial"/>
                <a:cs typeface="Arial"/>
              </a:rPr>
              <a:t>ou</a:t>
            </a:r>
            <a:r>
              <a:rPr lang="fr-FR" sz="2800" spc="484" dirty="0">
                <a:solidFill>
                  <a:srgbClr val="212121"/>
                </a:solidFill>
                <a:latin typeface="Arial"/>
                <a:cs typeface="Arial"/>
              </a:rPr>
              <a:t> </a:t>
            </a:r>
            <a:r>
              <a:rPr lang="fr-FR" sz="2800" spc="30" dirty="0">
                <a:solidFill>
                  <a:srgbClr val="212121"/>
                </a:solidFill>
                <a:latin typeface="Arial"/>
                <a:cs typeface="Arial"/>
              </a:rPr>
              <a:t>être</a:t>
            </a:r>
            <a:r>
              <a:rPr lang="fr-FR" dirty="0">
                <a:latin typeface="Arial"/>
                <a:cs typeface="Arial"/>
              </a:rPr>
              <a:t> </a:t>
            </a:r>
            <a:r>
              <a:rPr lang="fr-FR" sz="2800" spc="10" dirty="0">
                <a:solidFill>
                  <a:srgbClr val="212121"/>
                </a:solidFill>
                <a:latin typeface="Arial"/>
                <a:cs typeface="Arial"/>
              </a:rPr>
              <a:t>en </a:t>
            </a:r>
            <a:r>
              <a:rPr lang="fr-FR" sz="2800" spc="25" dirty="0">
                <a:solidFill>
                  <a:srgbClr val="212121"/>
                </a:solidFill>
                <a:latin typeface="Arial"/>
                <a:cs typeface="Arial"/>
              </a:rPr>
              <a:t>mesure </a:t>
            </a:r>
            <a:r>
              <a:rPr lang="fr-FR" sz="2800" spc="50" dirty="0">
                <a:solidFill>
                  <a:srgbClr val="212121"/>
                </a:solidFill>
                <a:latin typeface="Arial"/>
                <a:cs typeface="Arial"/>
              </a:rPr>
              <a:t>de </a:t>
            </a:r>
            <a:r>
              <a:rPr lang="fr-FR" sz="2800" spc="25" dirty="0">
                <a:solidFill>
                  <a:srgbClr val="212121"/>
                </a:solidFill>
                <a:latin typeface="Arial"/>
                <a:cs typeface="Arial"/>
              </a:rPr>
              <a:t>faire </a:t>
            </a:r>
            <a:r>
              <a:rPr lang="fr-FR" sz="2800" spc="65" dirty="0">
                <a:solidFill>
                  <a:srgbClr val="212121"/>
                </a:solidFill>
                <a:latin typeface="Arial"/>
                <a:cs typeface="Arial"/>
              </a:rPr>
              <a:t>appel </a:t>
            </a:r>
            <a:r>
              <a:rPr lang="fr-FR" sz="2800" dirty="0">
                <a:solidFill>
                  <a:srgbClr val="212121"/>
                </a:solidFill>
                <a:latin typeface="Arial"/>
                <a:cs typeface="Arial"/>
              </a:rPr>
              <a:t>à </a:t>
            </a:r>
            <a:r>
              <a:rPr lang="fr-FR" sz="2800" spc="55" dirty="0">
                <a:solidFill>
                  <a:srgbClr val="212121"/>
                </a:solidFill>
                <a:latin typeface="Arial"/>
                <a:cs typeface="Arial"/>
              </a:rPr>
              <a:t>des </a:t>
            </a:r>
            <a:r>
              <a:rPr lang="fr-FR" sz="2800" spc="40" dirty="0">
                <a:solidFill>
                  <a:srgbClr val="212121"/>
                </a:solidFill>
                <a:latin typeface="Arial"/>
                <a:cs typeface="Arial"/>
              </a:rPr>
              <a:t>entrepreneurs </a:t>
            </a:r>
            <a:r>
              <a:rPr lang="fr-FR" sz="2800" spc="50" dirty="0">
                <a:solidFill>
                  <a:srgbClr val="212121"/>
                </a:solidFill>
                <a:latin typeface="Arial"/>
                <a:cs typeface="Arial"/>
              </a:rPr>
              <a:t>ou </a:t>
            </a:r>
            <a:r>
              <a:rPr lang="fr-FR" sz="2800" spc="80" dirty="0">
                <a:solidFill>
                  <a:srgbClr val="212121"/>
                </a:solidFill>
                <a:latin typeface="Arial"/>
                <a:cs typeface="Arial"/>
              </a:rPr>
              <a:t>consultants </a:t>
            </a:r>
            <a:r>
              <a:rPr lang="fr-FR" sz="2800" spc="60" dirty="0">
                <a:solidFill>
                  <a:srgbClr val="212121"/>
                </a:solidFill>
                <a:latin typeface="Arial"/>
                <a:cs typeface="Arial"/>
              </a:rPr>
              <a:t>externes </a:t>
            </a:r>
            <a:r>
              <a:rPr lang="fr-FR" sz="2800" spc="80" dirty="0">
                <a:solidFill>
                  <a:srgbClr val="212121"/>
                </a:solidFill>
                <a:latin typeface="Arial"/>
                <a:cs typeface="Arial"/>
              </a:rPr>
              <a:t>pour  </a:t>
            </a:r>
            <a:r>
              <a:rPr lang="fr-FR" sz="2800" spc="65" dirty="0">
                <a:solidFill>
                  <a:srgbClr val="212121"/>
                </a:solidFill>
                <a:latin typeface="Arial"/>
                <a:cs typeface="Arial"/>
              </a:rPr>
              <a:t>l’aider</a:t>
            </a:r>
            <a:r>
              <a:rPr lang="fr-FR" sz="2800" spc="95" dirty="0">
                <a:solidFill>
                  <a:srgbClr val="212121"/>
                </a:solidFill>
                <a:latin typeface="Arial"/>
                <a:cs typeface="Arial"/>
              </a:rPr>
              <a:t> </a:t>
            </a:r>
            <a:r>
              <a:rPr lang="fr-FR" sz="2800" dirty="0">
                <a:solidFill>
                  <a:srgbClr val="212121"/>
                </a:solidFill>
                <a:latin typeface="Arial"/>
                <a:cs typeface="Arial"/>
              </a:rPr>
              <a:t>à	</a:t>
            </a:r>
            <a:r>
              <a:rPr lang="fr-FR" sz="2800" spc="55" dirty="0">
                <a:solidFill>
                  <a:srgbClr val="212121"/>
                </a:solidFill>
                <a:latin typeface="Arial"/>
                <a:cs typeface="Arial"/>
              </a:rPr>
              <a:t>ces</a:t>
            </a:r>
            <a:r>
              <a:rPr lang="fr-FR" sz="2800" spc="85" dirty="0">
                <a:solidFill>
                  <a:srgbClr val="212121"/>
                </a:solidFill>
                <a:latin typeface="Arial"/>
                <a:cs typeface="Arial"/>
              </a:rPr>
              <a:t> </a:t>
            </a:r>
            <a:r>
              <a:rPr lang="fr-FR" sz="2800" spc="55" dirty="0">
                <a:solidFill>
                  <a:srgbClr val="212121"/>
                </a:solidFill>
                <a:latin typeface="Arial"/>
                <a:cs typeface="Arial"/>
              </a:rPr>
              <a:t>tâches.</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AA97A523-4E51-4E87-DFEF-D792AE0E9FA2}"/>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FDE0E1D-B733-9C3D-A464-79971D3863A1}"/>
              </a:ext>
            </a:extLst>
          </p:cNvPr>
          <p:cNvSpPr>
            <a:spLocks noGrp="1"/>
          </p:cNvSpPr>
          <p:nvPr>
            <p:ph type="sldNum" sz="quarter" idx="12"/>
          </p:nvPr>
        </p:nvSpPr>
        <p:spPr/>
        <p:txBody>
          <a:bodyPr/>
          <a:lstStyle/>
          <a:p>
            <a:fld id="{B82CCC60-E8CD-4174-8B1A-7DF615B22EEF}" type="slidenum">
              <a:rPr lang="en-US" smtClean="0"/>
              <a:pPr/>
              <a:t>27</a:t>
            </a:fld>
            <a:endParaRPr lang="en-US"/>
          </a:p>
        </p:txBody>
      </p:sp>
    </p:spTree>
    <p:extLst>
      <p:ext uri="{BB962C8B-B14F-4D97-AF65-F5344CB8AC3E}">
        <p14:creationId xmlns:p14="http://schemas.microsoft.com/office/powerpoint/2010/main" val="14686614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563485-B82F-89FE-9F80-5D531B123D03}"/>
              </a:ext>
            </a:extLst>
          </p:cNvPr>
          <p:cNvSpPr>
            <a:spLocks noGrp="1"/>
          </p:cNvSpPr>
          <p:nvPr>
            <p:ph type="title"/>
          </p:nvPr>
        </p:nvSpPr>
        <p:spPr/>
        <p:txBody>
          <a:bodyPr>
            <a:normAutofit/>
          </a:bodyPr>
          <a:lstStyle/>
          <a:p>
            <a:r>
              <a:rPr lang="fr-FR" sz="2800" spc="-15" dirty="0">
                <a:latin typeface="Arial Black"/>
                <a:cs typeface="Arial Black"/>
              </a:rPr>
              <a:t>Cloud </a:t>
            </a:r>
            <a:r>
              <a:rPr lang="fr-FR" sz="2800" dirty="0">
                <a:latin typeface="Arial Black"/>
                <a:cs typeface="Arial Black"/>
              </a:rPr>
              <a:t>privé : </a:t>
            </a:r>
            <a:r>
              <a:rPr lang="fr-FR" sz="2800" spc="-5" dirty="0">
                <a:latin typeface="Arial Black"/>
                <a:cs typeface="Arial Black"/>
              </a:rPr>
              <a:t>Considérations </a:t>
            </a:r>
            <a:r>
              <a:rPr lang="fr-FR" sz="2800" dirty="0">
                <a:latin typeface="Arial Black"/>
                <a:cs typeface="Arial Black"/>
              </a:rPr>
              <a:t>de</a:t>
            </a:r>
            <a:r>
              <a:rPr lang="fr-FR" sz="2800" spc="-150" dirty="0">
                <a:latin typeface="Arial Black"/>
                <a:cs typeface="Arial Black"/>
              </a:rPr>
              <a:t> </a:t>
            </a:r>
            <a:r>
              <a:rPr lang="fr-FR" sz="2800" spc="-5" dirty="0">
                <a:latin typeface="Arial Black"/>
                <a:cs typeface="Arial Black"/>
              </a:rPr>
              <a:t>sécurité</a:t>
            </a:r>
            <a:endParaRPr lang="fr-FR" sz="2800" dirty="0"/>
          </a:p>
        </p:txBody>
      </p:sp>
      <p:sp>
        <p:nvSpPr>
          <p:cNvPr id="3" name="Espace réservé du contenu 2">
            <a:extLst>
              <a:ext uri="{FF2B5EF4-FFF2-40B4-BE49-F238E27FC236}">
                <a16:creationId xmlns:a16="http://schemas.microsoft.com/office/drawing/2014/main" id="{FE9677EC-2A4B-F35C-BF11-D93CD3153E86}"/>
              </a:ext>
            </a:extLst>
          </p:cNvPr>
          <p:cNvSpPr>
            <a:spLocks noGrp="1"/>
          </p:cNvSpPr>
          <p:nvPr>
            <p:ph idx="1"/>
          </p:nvPr>
        </p:nvSpPr>
        <p:spPr>
          <a:xfrm>
            <a:off x="448966" y="1960930"/>
            <a:ext cx="8246070" cy="3182570"/>
          </a:xfrm>
        </p:spPr>
        <p:txBody>
          <a:bodyPr>
            <a:normAutofit fontScale="47500" lnSpcReduction="20000"/>
          </a:bodyPr>
          <a:lstStyle/>
          <a:p>
            <a:pPr marL="598805" indent="-252095" algn="just">
              <a:lnSpc>
                <a:spcPct val="120000"/>
              </a:lnSpc>
              <a:buChar char="•"/>
              <a:tabLst>
                <a:tab pos="599440" algn="l"/>
              </a:tabLst>
            </a:pPr>
            <a:r>
              <a:rPr lang="fr-FR" sz="2800" spc="45" dirty="0">
                <a:solidFill>
                  <a:srgbClr val="0A5D17"/>
                </a:solidFill>
                <a:latin typeface="Arial"/>
                <a:cs typeface="Arial"/>
              </a:rPr>
              <a:t>Sécurité </a:t>
            </a:r>
            <a:r>
              <a:rPr lang="fr-FR" sz="2800" spc="55" dirty="0">
                <a:solidFill>
                  <a:srgbClr val="0A5D17"/>
                </a:solidFill>
                <a:latin typeface="Arial"/>
                <a:cs typeface="Arial"/>
              </a:rPr>
              <a:t>des</a:t>
            </a:r>
            <a:r>
              <a:rPr lang="fr-FR" sz="2800" spc="75" dirty="0">
                <a:solidFill>
                  <a:srgbClr val="0A5D17"/>
                </a:solidFill>
                <a:latin typeface="Arial"/>
                <a:cs typeface="Arial"/>
              </a:rPr>
              <a:t> </a:t>
            </a:r>
            <a:r>
              <a:rPr lang="fr-FR" sz="2800" spc="55" dirty="0">
                <a:solidFill>
                  <a:srgbClr val="0A5D17"/>
                </a:solidFill>
                <a:latin typeface="Arial"/>
                <a:cs typeface="Arial"/>
              </a:rPr>
              <a:t>données</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15" dirty="0">
                <a:solidFill>
                  <a:srgbClr val="212121"/>
                </a:solidFill>
                <a:latin typeface="Arial"/>
                <a:cs typeface="Arial"/>
              </a:rPr>
              <a:t>Dans </a:t>
            </a:r>
            <a:r>
              <a:rPr lang="fr-FR" sz="2800" spc="30" dirty="0">
                <a:solidFill>
                  <a:srgbClr val="212121"/>
                </a:solidFill>
                <a:latin typeface="Arial"/>
                <a:cs typeface="Arial"/>
              </a:rPr>
              <a:t>un </a:t>
            </a:r>
            <a:r>
              <a:rPr lang="fr-FR" sz="2800" spc="50" dirty="0">
                <a:solidFill>
                  <a:srgbClr val="212121"/>
                </a:solidFill>
                <a:latin typeface="Arial"/>
                <a:cs typeface="Arial"/>
              </a:rPr>
              <a:t>environnement </a:t>
            </a:r>
            <a:r>
              <a:rPr lang="fr-FR" sz="2800" spc="65" dirty="0">
                <a:solidFill>
                  <a:srgbClr val="212121"/>
                </a:solidFill>
                <a:latin typeface="Arial"/>
                <a:cs typeface="Arial"/>
              </a:rPr>
              <a:t>Cloud </a:t>
            </a:r>
            <a:r>
              <a:rPr lang="fr-FR" sz="2800" spc="45" dirty="0">
                <a:solidFill>
                  <a:srgbClr val="212121"/>
                </a:solidFill>
                <a:latin typeface="Arial"/>
                <a:cs typeface="Arial"/>
              </a:rPr>
              <a:t>privé, </a:t>
            </a:r>
            <a:r>
              <a:rPr lang="fr-FR" sz="2800" spc="60" dirty="0">
                <a:solidFill>
                  <a:srgbClr val="212121"/>
                </a:solidFill>
                <a:latin typeface="Arial"/>
                <a:cs typeface="Arial"/>
              </a:rPr>
              <a:t>l’entreprise </a:t>
            </a:r>
            <a:r>
              <a:rPr lang="fr-FR" sz="2800" spc="55" dirty="0">
                <a:solidFill>
                  <a:srgbClr val="212121"/>
                </a:solidFill>
                <a:latin typeface="Arial"/>
                <a:cs typeface="Arial"/>
              </a:rPr>
              <a:t>est </a:t>
            </a:r>
            <a:r>
              <a:rPr lang="fr-FR" sz="2800" spc="60" dirty="0">
                <a:solidFill>
                  <a:srgbClr val="212121"/>
                </a:solidFill>
                <a:latin typeface="Arial"/>
                <a:cs typeface="Arial"/>
              </a:rPr>
              <a:t>propriétaire </a:t>
            </a:r>
            <a:r>
              <a:rPr lang="fr-FR" sz="2800" spc="55" dirty="0">
                <a:solidFill>
                  <a:srgbClr val="212121"/>
                </a:solidFill>
                <a:latin typeface="Arial"/>
                <a:cs typeface="Arial"/>
              </a:rPr>
              <a:t>des données </a:t>
            </a:r>
            <a:r>
              <a:rPr lang="fr-FR" sz="2800" spc="45" dirty="0">
                <a:solidFill>
                  <a:srgbClr val="212121"/>
                </a:solidFill>
                <a:latin typeface="Arial"/>
                <a:cs typeface="Arial"/>
              </a:rPr>
              <a:t>et</a:t>
            </a:r>
            <a:r>
              <a:rPr lang="fr-FR" sz="2800" spc="425" dirty="0">
                <a:solidFill>
                  <a:srgbClr val="212121"/>
                </a:solidFill>
                <a:latin typeface="Arial"/>
                <a:cs typeface="Arial"/>
              </a:rPr>
              <a:t> </a:t>
            </a:r>
            <a:r>
              <a:rPr lang="fr-FR" sz="2800" spc="60" dirty="0">
                <a:solidFill>
                  <a:srgbClr val="212121"/>
                </a:solidFill>
                <a:latin typeface="Arial"/>
                <a:cs typeface="Arial"/>
              </a:rPr>
              <a:t>du </a:t>
            </a:r>
            <a:r>
              <a:rPr lang="fr-FR" sz="2800" spc="55" dirty="0">
                <a:solidFill>
                  <a:srgbClr val="212121"/>
                </a:solidFill>
                <a:latin typeface="Arial"/>
                <a:cs typeface="Arial"/>
              </a:rPr>
              <a:t>système </a:t>
            </a:r>
            <a:r>
              <a:rPr lang="fr-FR" sz="2800" spc="70" dirty="0">
                <a:solidFill>
                  <a:srgbClr val="212121"/>
                </a:solidFill>
                <a:latin typeface="Arial"/>
                <a:cs typeface="Arial"/>
              </a:rPr>
              <a:t>qui </a:t>
            </a:r>
            <a:r>
              <a:rPr lang="fr-FR" sz="2800" spc="55" dirty="0">
                <a:solidFill>
                  <a:srgbClr val="212121"/>
                </a:solidFill>
                <a:latin typeface="Arial"/>
                <a:cs typeface="Arial"/>
              </a:rPr>
              <a:t>héberge </a:t>
            </a:r>
            <a:r>
              <a:rPr lang="fr-FR" sz="2800" spc="20" dirty="0">
                <a:solidFill>
                  <a:srgbClr val="212121"/>
                </a:solidFill>
                <a:latin typeface="Arial"/>
                <a:cs typeface="Arial"/>
              </a:rPr>
              <a:t>les </a:t>
            </a:r>
            <a:r>
              <a:rPr lang="fr-FR" sz="2800" spc="50" dirty="0">
                <a:solidFill>
                  <a:srgbClr val="212121"/>
                </a:solidFill>
                <a:latin typeface="Arial"/>
                <a:cs typeface="Arial"/>
              </a:rPr>
              <a:t>données, </a:t>
            </a:r>
            <a:r>
              <a:rPr lang="fr-FR" sz="2800" spc="45" dirty="0">
                <a:solidFill>
                  <a:srgbClr val="212121"/>
                </a:solidFill>
                <a:latin typeface="Arial"/>
                <a:cs typeface="Arial"/>
              </a:rPr>
              <a:t>ce </a:t>
            </a:r>
            <a:r>
              <a:rPr lang="fr-FR" sz="2800" spc="70" dirty="0">
                <a:solidFill>
                  <a:srgbClr val="212121"/>
                </a:solidFill>
                <a:latin typeface="Arial"/>
                <a:cs typeface="Arial"/>
              </a:rPr>
              <a:t>qui </a:t>
            </a:r>
            <a:r>
              <a:rPr lang="fr-FR" sz="2800" spc="40" dirty="0">
                <a:solidFill>
                  <a:srgbClr val="212121"/>
                </a:solidFill>
                <a:latin typeface="Arial"/>
                <a:cs typeface="Arial"/>
              </a:rPr>
              <a:t>lui </a:t>
            </a:r>
            <a:r>
              <a:rPr lang="fr-FR" sz="2800" spc="65" dirty="0">
                <a:solidFill>
                  <a:srgbClr val="212121"/>
                </a:solidFill>
                <a:latin typeface="Arial"/>
                <a:cs typeface="Arial"/>
              </a:rPr>
              <a:t>donne</a:t>
            </a:r>
            <a:r>
              <a:rPr lang="fr-FR" sz="2800" spc="990" dirty="0">
                <a:solidFill>
                  <a:srgbClr val="212121"/>
                </a:solidFill>
                <a:latin typeface="Arial"/>
                <a:cs typeface="Arial"/>
              </a:rPr>
              <a:t> </a:t>
            </a:r>
            <a:r>
              <a:rPr lang="fr-FR" sz="2800" spc="110" dirty="0" err="1">
                <a:solidFill>
                  <a:srgbClr val="212121"/>
                </a:solidFill>
                <a:latin typeface="Arial"/>
                <a:cs typeface="Arial"/>
              </a:rPr>
              <a:t>uncontrôle</a:t>
            </a:r>
            <a:r>
              <a:rPr lang="fr-FR" sz="2800" spc="114" dirty="0">
                <a:solidFill>
                  <a:srgbClr val="212121"/>
                </a:solidFill>
                <a:latin typeface="Arial"/>
                <a:cs typeface="Arial"/>
              </a:rPr>
              <a:t> </a:t>
            </a:r>
            <a:r>
              <a:rPr lang="fr-FR" sz="2800" spc="90" dirty="0">
                <a:solidFill>
                  <a:srgbClr val="212121"/>
                </a:solidFill>
                <a:latin typeface="Arial"/>
                <a:cs typeface="Arial"/>
              </a:rPr>
              <a:t>total	</a:t>
            </a:r>
            <a:r>
              <a:rPr lang="fr-FR" sz="2800" spc="35" dirty="0">
                <a:solidFill>
                  <a:srgbClr val="212121"/>
                </a:solidFill>
                <a:latin typeface="Arial"/>
                <a:cs typeface="Arial"/>
              </a:rPr>
              <a:t>sur </a:t>
            </a:r>
            <a:r>
              <a:rPr lang="fr-FR" sz="2800" spc="80" dirty="0">
                <a:solidFill>
                  <a:srgbClr val="212121"/>
                </a:solidFill>
                <a:latin typeface="Arial"/>
                <a:cs typeface="Arial"/>
              </a:rPr>
              <a:t>l’accès </a:t>
            </a:r>
            <a:r>
              <a:rPr lang="fr-FR" sz="2800" spc="50" dirty="0">
                <a:solidFill>
                  <a:srgbClr val="212121"/>
                </a:solidFill>
                <a:latin typeface="Arial"/>
                <a:cs typeface="Arial"/>
              </a:rPr>
              <a:t>et</a:t>
            </a:r>
            <a:r>
              <a:rPr lang="fr-FR" sz="2800" spc="5" dirty="0">
                <a:solidFill>
                  <a:srgbClr val="212121"/>
                </a:solidFill>
                <a:latin typeface="Arial"/>
                <a:cs typeface="Arial"/>
              </a:rPr>
              <a:t> </a:t>
            </a:r>
            <a:r>
              <a:rPr lang="fr-FR" sz="2800" spc="15" dirty="0">
                <a:solidFill>
                  <a:srgbClr val="212121"/>
                </a:solidFill>
                <a:latin typeface="Arial"/>
                <a:cs typeface="Arial"/>
              </a:rPr>
              <a:t>la  </a:t>
            </a:r>
            <a:r>
              <a:rPr lang="fr-FR" sz="2800" spc="60" dirty="0">
                <a:solidFill>
                  <a:srgbClr val="212121"/>
                </a:solidFill>
                <a:latin typeface="Arial"/>
                <a:cs typeface="Arial"/>
              </a:rPr>
              <a:t>gestion.</a:t>
            </a:r>
            <a:endParaRPr lang="fr-FR" sz="2800" dirty="0">
              <a:latin typeface="Arial"/>
              <a:cs typeface="Arial"/>
            </a:endParaRPr>
          </a:p>
          <a:p>
            <a:pPr marL="598805" indent="-252095" algn="just">
              <a:lnSpc>
                <a:spcPct val="120000"/>
              </a:lnSpc>
              <a:spcBef>
                <a:spcPts val="280"/>
              </a:spcBef>
              <a:buChar char="•"/>
              <a:tabLst>
                <a:tab pos="599440" algn="l"/>
              </a:tabLst>
            </a:pPr>
            <a:r>
              <a:rPr lang="fr-FR" sz="2800" spc="75" dirty="0">
                <a:solidFill>
                  <a:srgbClr val="0A5D17"/>
                </a:solidFill>
                <a:latin typeface="Arial"/>
                <a:cs typeface="Arial"/>
              </a:rPr>
              <a:t>Conformité</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L’entreprise </a:t>
            </a:r>
            <a:r>
              <a:rPr lang="fr-FR" sz="2800" spc="55" dirty="0">
                <a:solidFill>
                  <a:srgbClr val="212121"/>
                </a:solidFill>
                <a:latin typeface="Arial"/>
                <a:cs typeface="Arial"/>
              </a:rPr>
              <a:t>est </a:t>
            </a:r>
            <a:r>
              <a:rPr lang="fr-FR" sz="2800" spc="50" dirty="0">
                <a:solidFill>
                  <a:srgbClr val="212121"/>
                </a:solidFill>
                <a:latin typeface="Arial"/>
                <a:cs typeface="Arial"/>
              </a:rPr>
              <a:t>responsable de </a:t>
            </a:r>
            <a:r>
              <a:rPr lang="fr-FR" sz="2800" spc="45" dirty="0">
                <a:solidFill>
                  <a:srgbClr val="212121"/>
                </a:solidFill>
                <a:latin typeface="Arial"/>
                <a:cs typeface="Arial"/>
              </a:rPr>
              <a:t>s’assurer </a:t>
            </a:r>
            <a:r>
              <a:rPr lang="fr-FR" sz="2800" spc="65" dirty="0">
                <a:solidFill>
                  <a:srgbClr val="212121"/>
                </a:solidFill>
                <a:latin typeface="Arial"/>
                <a:cs typeface="Arial"/>
              </a:rPr>
              <a:t>qu’elle </a:t>
            </a:r>
            <a:r>
              <a:rPr lang="fr-FR" sz="2800" spc="55" dirty="0">
                <a:solidFill>
                  <a:srgbClr val="212121"/>
                </a:solidFill>
                <a:latin typeface="Arial"/>
                <a:cs typeface="Arial"/>
              </a:rPr>
              <a:t>respecte </a:t>
            </a:r>
            <a:r>
              <a:rPr lang="fr-FR" sz="2800" spc="20" dirty="0">
                <a:solidFill>
                  <a:srgbClr val="212121"/>
                </a:solidFill>
                <a:latin typeface="Arial"/>
                <a:cs typeface="Arial"/>
              </a:rPr>
              <a:t>les </a:t>
            </a:r>
            <a:r>
              <a:rPr lang="fr-FR" sz="2800" spc="60" dirty="0">
                <a:solidFill>
                  <a:srgbClr val="212121"/>
                </a:solidFill>
                <a:latin typeface="Arial"/>
                <a:cs typeface="Arial"/>
              </a:rPr>
              <a:t>réglementations</a:t>
            </a:r>
            <a:r>
              <a:rPr lang="fr-FR" sz="2800" spc="-250" dirty="0">
                <a:solidFill>
                  <a:srgbClr val="212121"/>
                </a:solidFill>
                <a:latin typeface="Arial"/>
                <a:cs typeface="Arial"/>
              </a:rPr>
              <a:t> </a:t>
            </a:r>
            <a:r>
              <a:rPr lang="fr-FR" sz="2800" spc="45" dirty="0">
                <a:solidFill>
                  <a:srgbClr val="212121"/>
                </a:solidFill>
                <a:latin typeface="Arial"/>
                <a:cs typeface="Arial"/>
              </a:rPr>
              <a:t>de</a:t>
            </a:r>
            <a:r>
              <a:rPr lang="fr-FR" dirty="0">
                <a:latin typeface="Arial"/>
                <a:cs typeface="Arial"/>
              </a:rPr>
              <a:t> </a:t>
            </a:r>
            <a:r>
              <a:rPr lang="fr-FR" sz="2800" spc="90" dirty="0">
                <a:solidFill>
                  <a:srgbClr val="212121"/>
                </a:solidFill>
                <a:latin typeface="Arial"/>
                <a:cs typeface="Arial"/>
              </a:rPr>
              <a:t>conformité </a:t>
            </a:r>
            <a:r>
              <a:rPr lang="fr-FR" sz="2800" spc="75" dirty="0">
                <a:solidFill>
                  <a:srgbClr val="212121"/>
                </a:solidFill>
                <a:latin typeface="Arial"/>
                <a:cs typeface="Arial"/>
              </a:rPr>
              <a:t>applicables.</a:t>
            </a:r>
            <a:endParaRPr lang="fr-FR" sz="2800" dirty="0">
              <a:latin typeface="Arial"/>
              <a:cs typeface="Arial"/>
            </a:endParaRPr>
          </a:p>
          <a:p>
            <a:pPr marL="755650" marR="1158240" indent="0" algn="just">
              <a:lnSpc>
                <a:spcPct val="120000"/>
              </a:lnSpc>
              <a:spcBef>
                <a:spcPts val="150"/>
              </a:spcBef>
              <a:buNone/>
            </a:pPr>
            <a:r>
              <a:rPr lang="fr-FR" sz="4400" spc="-30" baseline="2347" dirty="0">
                <a:solidFill>
                  <a:srgbClr val="212121"/>
                </a:solidFill>
                <a:latin typeface="AoyagiKouzanFontT"/>
                <a:cs typeface="AoyagiKouzanFontT"/>
              </a:rPr>
              <a:t>➡</a:t>
            </a:r>
            <a:r>
              <a:rPr lang="fr-FR" sz="2800" spc="-20" dirty="0">
                <a:solidFill>
                  <a:srgbClr val="212121"/>
                </a:solidFill>
                <a:latin typeface="Arial"/>
                <a:cs typeface="Arial"/>
              </a:rPr>
              <a:t>L’entreprise </a:t>
            </a:r>
            <a:r>
              <a:rPr lang="fr-FR" sz="2800" spc="105" dirty="0">
                <a:solidFill>
                  <a:srgbClr val="212121"/>
                </a:solidFill>
                <a:latin typeface="Arial"/>
                <a:cs typeface="Arial"/>
              </a:rPr>
              <a:t>doit </a:t>
            </a:r>
            <a:r>
              <a:rPr lang="fr-FR" sz="2800" spc="70" dirty="0">
                <a:solidFill>
                  <a:srgbClr val="212121"/>
                </a:solidFill>
                <a:latin typeface="Arial"/>
                <a:cs typeface="Arial"/>
              </a:rPr>
              <a:t>posséder </a:t>
            </a:r>
            <a:r>
              <a:rPr lang="fr-FR" sz="2800" spc="20" dirty="0">
                <a:solidFill>
                  <a:srgbClr val="212121"/>
                </a:solidFill>
                <a:latin typeface="Arial"/>
                <a:cs typeface="Arial"/>
              </a:rPr>
              <a:t>les </a:t>
            </a:r>
            <a:r>
              <a:rPr lang="fr-FR" sz="2800" spc="85" dirty="0">
                <a:solidFill>
                  <a:srgbClr val="212121"/>
                </a:solidFill>
                <a:latin typeface="Arial"/>
                <a:cs typeface="Arial"/>
              </a:rPr>
              <a:t>compétences </a:t>
            </a:r>
            <a:r>
              <a:rPr lang="fr-FR" sz="2800" spc="45" dirty="0">
                <a:solidFill>
                  <a:srgbClr val="212121"/>
                </a:solidFill>
                <a:latin typeface="Arial"/>
                <a:cs typeface="Arial"/>
              </a:rPr>
              <a:t>et </a:t>
            </a:r>
            <a:r>
              <a:rPr lang="fr-FR" sz="2800" spc="15" dirty="0">
                <a:solidFill>
                  <a:srgbClr val="212121"/>
                </a:solidFill>
                <a:latin typeface="Arial"/>
                <a:cs typeface="Arial"/>
              </a:rPr>
              <a:t>la </a:t>
            </a:r>
            <a:r>
              <a:rPr lang="fr-FR" sz="2800" spc="80" dirty="0">
                <a:solidFill>
                  <a:srgbClr val="212121"/>
                </a:solidFill>
                <a:latin typeface="Arial"/>
                <a:cs typeface="Arial"/>
              </a:rPr>
              <a:t>technologie </a:t>
            </a:r>
            <a:r>
              <a:rPr lang="fr-FR" sz="2800" spc="75" dirty="0" err="1">
                <a:solidFill>
                  <a:srgbClr val="212121"/>
                </a:solidFill>
                <a:latin typeface="Arial"/>
                <a:cs typeface="Arial"/>
              </a:rPr>
              <a:t>nécessairespour</a:t>
            </a:r>
            <a:r>
              <a:rPr lang="fr-FR" sz="2800" spc="75" dirty="0">
                <a:solidFill>
                  <a:srgbClr val="212121"/>
                </a:solidFill>
                <a:latin typeface="Arial"/>
                <a:cs typeface="Arial"/>
              </a:rPr>
              <a:t>  </a:t>
            </a:r>
            <a:r>
              <a:rPr lang="fr-FR" sz="2800" spc="60" dirty="0">
                <a:solidFill>
                  <a:srgbClr val="212121"/>
                </a:solidFill>
                <a:latin typeface="Arial"/>
                <a:cs typeface="Arial"/>
              </a:rPr>
              <a:t>garantir </a:t>
            </a:r>
            <a:r>
              <a:rPr lang="fr-FR" sz="2800" spc="15" dirty="0">
                <a:solidFill>
                  <a:srgbClr val="212121"/>
                </a:solidFill>
                <a:latin typeface="Arial"/>
                <a:cs typeface="Arial"/>
              </a:rPr>
              <a:t>le </a:t>
            </a:r>
            <a:r>
              <a:rPr lang="fr-FR" sz="2800" spc="75" dirty="0">
                <a:solidFill>
                  <a:srgbClr val="212121"/>
                </a:solidFill>
                <a:latin typeface="Arial"/>
                <a:cs typeface="Arial"/>
              </a:rPr>
              <a:t>respect </a:t>
            </a:r>
            <a:r>
              <a:rPr lang="fr-FR" sz="2800" spc="55" dirty="0">
                <a:solidFill>
                  <a:srgbClr val="212121"/>
                </a:solidFill>
                <a:latin typeface="Arial"/>
                <a:cs typeface="Arial"/>
              </a:rPr>
              <a:t>des </a:t>
            </a:r>
            <a:r>
              <a:rPr lang="fr-FR" sz="2800" spc="60" dirty="0">
                <a:solidFill>
                  <a:srgbClr val="212121"/>
                </a:solidFill>
                <a:latin typeface="Arial"/>
                <a:cs typeface="Arial"/>
              </a:rPr>
              <a:t>réglementations </a:t>
            </a:r>
            <a:r>
              <a:rPr lang="fr-FR" sz="2800" spc="50" dirty="0">
                <a:solidFill>
                  <a:srgbClr val="212121"/>
                </a:solidFill>
                <a:latin typeface="Arial"/>
                <a:cs typeface="Arial"/>
              </a:rPr>
              <a:t>de</a:t>
            </a:r>
            <a:r>
              <a:rPr lang="fr-FR" sz="2800" spc="95" dirty="0">
                <a:solidFill>
                  <a:srgbClr val="212121"/>
                </a:solidFill>
                <a:latin typeface="Arial"/>
                <a:cs typeface="Arial"/>
              </a:rPr>
              <a:t> </a:t>
            </a:r>
            <a:r>
              <a:rPr lang="fr-FR" sz="2800" spc="80" dirty="0">
                <a:solidFill>
                  <a:srgbClr val="212121"/>
                </a:solidFill>
                <a:latin typeface="Arial"/>
                <a:cs typeface="Arial"/>
              </a:rPr>
              <a:t>conformité.</a:t>
            </a:r>
            <a:endParaRPr lang="fr-FR" sz="2800" dirty="0">
              <a:latin typeface="Arial"/>
              <a:cs typeface="Arial"/>
            </a:endParaRPr>
          </a:p>
          <a:p>
            <a:pPr marL="598805" indent="-252095" algn="just">
              <a:lnSpc>
                <a:spcPct val="120000"/>
              </a:lnSpc>
              <a:spcBef>
                <a:spcPts val="110"/>
              </a:spcBef>
              <a:buChar char="•"/>
              <a:tabLst>
                <a:tab pos="599440" algn="l"/>
              </a:tabLst>
            </a:pPr>
            <a:r>
              <a:rPr lang="fr-FR" sz="2800" spc="70" dirty="0">
                <a:solidFill>
                  <a:srgbClr val="0A5D17"/>
                </a:solidFill>
                <a:latin typeface="Arial"/>
                <a:cs typeface="Arial"/>
              </a:rPr>
              <a:t>Audit</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60" dirty="0">
                <a:solidFill>
                  <a:srgbClr val="212121"/>
                </a:solidFill>
                <a:latin typeface="Arial"/>
                <a:cs typeface="Arial"/>
              </a:rPr>
              <a:t>Capacités </a:t>
            </a:r>
            <a:r>
              <a:rPr lang="fr-FR" sz="2800" spc="120" dirty="0">
                <a:solidFill>
                  <a:srgbClr val="212121"/>
                </a:solidFill>
                <a:latin typeface="Arial"/>
                <a:cs typeface="Arial"/>
              </a:rPr>
              <a:t>d'audit </a:t>
            </a:r>
            <a:r>
              <a:rPr lang="fr-FR" sz="2800" spc="90" dirty="0">
                <a:solidFill>
                  <a:srgbClr val="212121"/>
                </a:solidFill>
                <a:latin typeface="Arial"/>
                <a:cs typeface="Arial"/>
              </a:rPr>
              <a:t>complètes </a:t>
            </a:r>
            <a:r>
              <a:rPr lang="fr-FR" sz="2800" dirty="0">
                <a:solidFill>
                  <a:srgbClr val="212121"/>
                </a:solidFill>
                <a:latin typeface="Arial"/>
                <a:cs typeface="Arial"/>
              </a:rPr>
              <a:t>: </a:t>
            </a:r>
            <a:r>
              <a:rPr lang="fr-FR" sz="2800" spc="60" dirty="0">
                <a:solidFill>
                  <a:srgbClr val="212121"/>
                </a:solidFill>
                <a:latin typeface="Arial"/>
                <a:cs typeface="Arial"/>
              </a:rPr>
              <a:t>l’entreprise </a:t>
            </a:r>
            <a:r>
              <a:rPr lang="fr-FR" sz="2800" dirty="0">
                <a:solidFill>
                  <a:srgbClr val="212121"/>
                </a:solidFill>
                <a:latin typeface="Arial"/>
                <a:cs typeface="Arial"/>
              </a:rPr>
              <a:t>a </a:t>
            </a:r>
            <a:r>
              <a:rPr lang="fr-FR" sz="2800" spc="30" dirty="0">
                <a:solidFill>
                  <a:srgbClr val="212121"/>
                </a:solidFill>
                <a:latin typeface="Arial"/>
                <a:cs typeface="Arial"/>
              </a:rPr>
              <a:t>un </a:t>
            </a:r>
            <a:r>
              <a:rPr lang="fr-FR" sz="2800" spc="70" dirty="0">
                <a:solidFill>
                  <a:srgbClr val="212121"/>
                </a:solidFill>
                <a:latin typeface="Arial"/>
                <a:cs typeface="Arial"/>
              </a:rPr>
              <a:t>accès </a:t>
            </a:r>
            <a:r>
              <a:rPr lang="fr-FR" sz="2800" spc="100" dirty="0">
                <a:solidFill>
                  <a:srgbClr val="212121"/>
                </a:solidFill>
                <a:latin typeface="Arial"/>
                <a:cs typeface="Arial"/>
              </a:rPr>
              <a:t>complet </a:t>
            </a:r>
            <a:r>
              <a:rPr lang="fr-FR" sz="2800" spc="40" dirty="0">
                <a:solidFill>
                  <a:srgbClr val="212121"/>
                </a:solidFill>
                <a:latin typeface="Arial"/>
                <a:cs typeface="Arial"/>
              </a:rPr>
              <a:t>aux</a:t>
            </a:r>
            <a:r>
              <a:rPr lang="fr-FR" sz="2800" spc="285" dirty="0">
                <a:solidFill>
                  <a:srgbClr val="212121"/>
                </a:solidFill>
                <a:latin typeface="Arial"/>
                <a:cs typeface="Arial"/>
              </a:rPr>
              <a:t> </a:t>
            </a:r>
            <a:r>
              <a:rPr lang="fr-FR" sz="2800" spc="80" dirty="0">
                <a:solidFill>
                  <a:srgbClr val="212121"/>
                </a:solidFill>
                <a:latin typeface="Arial"/>
                <a:cs typeface="Arial"/>
              </a:rPr>
              <a:t>journaux système,</a:t>
            </a:r>
            <a:r>
              <a:rPr lang="fr-FR" dirty="0">
                <a:latin typeface="Arial"/>
                <a:cs typeface="Arial"/>
              </a:rPr>
              <a:t> </a:t>
            </a:r>
            <a:r>
              <a:rPr lang="fr-FR" sz="2800" spc="15" dirty="0">
                <a:solidFill>
                  <a:srgbClr val="212121"/>
                </a:solidFill>
                <a:latin typeface="Arial"/>
                <a:cs typeface="Arial"/>
              </a:rPr>
              <a:t>la </a:t>
            </a:r>
            <a:r>
              <a:rPr lang="fr-FR" sz="2800" spc="80" dirty="0">
                <a:solidFill>
                  <a:srgbClr val="212121"/>
                </a:solidFill>
                <a:latin typeface="Arial"/>
                <a:cs typeface="Arial"/>
              </a:rPr>
              <a:t>possibilité </a:t>
            </a:r>
            <a:r>
              <a:rPr lang="fr-FR" sz="2800" spc="45" dirty="0">
                <a:solidFill>
                  <a:srgbClr val="212121"/>
                </a:solidFill>
                <a:latin typeface="Arial"/>
                <a:cs typeface="Arial"/>
              </a:rPr>
              <a:t>de </a:t>
            </a:r>
            <a:r>
              <a:rPr lang="fr-FR" sz="2800" spc="65" dirty="0">
                <a:solidFill>
                  <a:srgbClr val="212121"/>
                </a:solidFill>
                <a:latin typeface="Arial"/>
                <a:cs typeface="Arial"/>
              </a:rPr>
              <a:t>mettre </a:t>
            </a:r>
            <a:r>
              <a:rPr lang="fr-FR" sz="2800" spc="10" dirty="0">
                <a:solidFill>
                  <a:srgbClr val="212121"/>
                </a:solidFill>
                <a:latin typeface="Arial"/>
                <a:cs typeface="Arial"/>
              </a:rPr>
              <a:t>en </a:t>
            </a:r>
            <a:r>
              <a:rPr lang="fr-FR" sz="2800" dirty="0">
                <a:solidFill>
                  <a:srgbClr val="212121"/>
                </a:solidFill>
                <a:latin typeface="Arial"/>
                <a:cs typeface="Arial"/>
              </a:rPr>
              <a:t>œuvre </a:t>
            </a:r>
            <a:r>
              <a:rPr lang="fr-FR" sz="2800" spc="105" dirty="0">
                <a:solidFill>
                  <a:srgbClr val="212121"/>
                </a:solidFill>
                <a:latin typeface="Arial"/>
                <a:cs typeface="Arial"/>
              </a:rPr>
              <a:t>n'importe </a:t>
            </a:r>
            <a:r>
              <a:rPr lang="fr-FR" sz="2800" spc="50" dirty="0">
                <a:solidFill>
                  <a:srgbClr val="212121"/>
                </a:solidFill>
                <a:latin typeface="Arial"/>
                <a:cs typeface="Arial"/>
              </a:rPr>
              <a:t>quelle </a:t>
            </a:r>
            <a:r>
              <a:rPr lang="fr-FR" sz="2800" spc="35" dirty="0">
                <a:solidFill>
                  <a:srgbClr val="212121"/>
                </a:solidFill>
                <a:latin typeface="Arial"/>
                <a:cs typeface="Arial"/>
              </a:rPr>
              <a:t>alerte </a:t>
            </a:r>
            <a:r>
              <a:rPr lang="fr-FR" sz="2800" spc="70" dirty="0">
                <a:solidFill>
                  <a:srgbClr val="212121"/>
                </a:solidFill>
                <a:latin typeface="Arial"/>
                <a:cs typeface="Arial"/>
              </a:rPr>
              <a:t>principale, </a:t>
            </a:r>
            <a:r>
              <a:rPr lang="fr-FR" sz="2800" spc="15" dirty="0">
                <a:solidFill>
                  <a:srgbClr val="212121"/>
                </a:solidFill>
                <a:latin typeface="Arial"/>
                <a:cs typeface="Arial"/>
              </a:rPr>
              <a:t>la </a:t>
            </a:r>
            <a:r>
              <a:rPr lang="fr-FR" sz="2800" spc="85" dirty="0">
                <a:solidFill>
                  <a:srgbClr val="212121"/>
                </a:solidFill>
                <a:latin typeface="Arial"/>
                <a:cs typeface="Arial"/>
              </a:rPr>
              <a:t>possibilité </a:t>
            </a:r>
            <a:r>
              <a:rPr lang="fr-FR" sz="2800" spc="45" dirty="0">
                <a:solidFill>
                  <a:srgbClr val="212121"/>
                </a:solidFill>
                <a:latin typeface="Arial"/>
                <a:cs typeface="Arial"/>
              </a:rPr>
              <a:t>de  </a:t>
            </a:r>
            <a:r>
              <a:rPr lang="fr-FR" sz="2800" spc="55" dirty="0">
                <a:solidFill>
                  <a:srgbClr val="212121"/>
                </a:solidFill>
                <a:latin typeface="Arial"/>
                <a:cs typeface="Arial"/>
              </a:rPr>
              <a:t>prendre </a:t>
            </a:r>
            <a:r>
              <a:rPr lang="fr-FR" sz="2800" spc="105" dirty="0">
                <a:solidFill>
                  <a:srgbClr val="212121"/>
                </a:solidFill>
                <a:latin typeface="Arial"/>
                <a:cs typeface="Arial"/>
              </a:rPr>
              <a:t>n'importe </a:t>
            </a:r>
            <a:r>
              <a:rPr lang="fr-FR" sz="2800" spc="50" dirty="0">
                <a:solidFill>
                  <a:srgbClr val="212121"/>
                </a:solidFill>
                <a:latin typeface="Arial"/>
                <a:cs typeface="Arial"/>
              </a:rPr>
              <a:t>quelle </a:t>
            </a:r>
            <a:r>
              <a:rPr lang="fr-FR" sz="2800" spc="85" dirty="0">
                <a:solidFill>
                  <a:srgbClr val="212121"/>
                </a:solidFill>
                <a:latin typeface="Arial"/>
                <a:cs typeface="Arial"/>
              </a:rPr>
              <a:t>action </a:t>
            </a:r>
            <a:r>
              <a:rPr lang="fr-FR" sz="2800" spc="80" dirty="0">
                <a:solidFill>
                  <a:srgbClr val="212121"/>
                </a:solidFill>
                <a:latin typeface="Arial"/>
                <a:cs typeface="Arial"/>
              </a:rPr>
              <a:t>pour </a:t>
            </a:r>
            <a:r>
              <a:rPr lang="fr-FR" sz="2800" spc="25" dirty="0">
                <a:solidFill>
                  <a:srgbClr val="212121"/>
                </a:solidFill>
                <a:latin typeface="Arial"/>
                <a:cs typeface="Arial"/>
              </a:rPr>
              <a:t>assurer </a:t>
            </a:r>
            <a:r>
              <a:rPr lang="fr-FR" sz="2800" spc="85" dirty="0">
                <a:solidFill>
                  <a:srgbClr val="212121"/>
                </a:solidFill>
                <a:latin typeface="Arial"/>
                <a:cs typeface="Arial"/>
              </a:rPr>
              <a:t>l'intégrité </a:t>
            </a:r>
            <a:r>
              <a:rPr lang="fr-FR" sz="2800" spc="60" dirty="0">
                <a:solidFill>
                  <a:srgbClr val="212121"/>
                </a:solidFill>
                <a:latin typeface="Arial"/>
                <a:cs typeface="Arial"/>
              </a:rPr>
              <a:t>du</a:t>
            </a:r>
            <a:r>
              <a:rPr lang="fr-FR" sz="2800" spc="245" dirty="0">
                <a:solidFill>
                  <a:srgbClr val="212121"/>
                </a:solidFill>
                <a:latin typeface="Arial"/>
                <a:cs typeface="Arial"/>
              </a:rPr>
              <a:t> </a:t>
            </a:r>
            <a:r>
              <a:rPr lang="fr-FR" sz="2800" spc="50" dirty="0">
                <a:solidFill>
                  <a:srgbClr val="212121"/>
                </a:solidFill>
                <a:latin typeface="Arial"/>
                <a:cs typeface="Arial"/>
              </a:rPr>
              <a:t>système.</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763160A6-1B48-1D99-21A6-0BF84B0C8E7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BA49CD4F-1F85-5958-E0CE-81810527A656}"/>
              </a:ext>
            </a:extLst>
          </p:cNvPr>
          <p:cNvSpPr>
            <a:spLocks noGrp="1"/>
          </p:cNvSpPr>
          <p:nvPr>
            <p:ph type="sldNum" sz="quarter" idx="12"/>
          </p:nvPr>
        </p:nvSpPr>
        <p:spPr/>
        <p:txBody>
          <a:bodyPr/>
          <a:lstStyle/>
          <a:p>
            <a:fld id="{B82CCC60-E8CD-4174-8B1A-7DF615B22EEF}" type="slidenum">
              <a:rPr lang="en-US" smtClean="0"/>
              <a:pPr/>
              <a:t>28</a:t>
            </a:fld>
            <a:endParaRPr lang="en-US"/>
          </a:p>
        </p:txBody>
      </p:sp>
    </p:spTree>
    <p:extLst>
      <p:ext uri="{BB962C8B-B14F-4D97-AF65-F5344CB8AC3E}">
        <p14:creationId xmlns:p14="http://schemas.microsoft.com/office/powerpoint/2010/main" val="9197725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1B34F34-FE54-8862-60E0-21B4DE6218F7}"/>
              </a:ext>
            </a:extLst>
          </p:cNvPr>
          <p:cNvSpPr>
            <a:spLocks noGrp="1"/>
          </p:cNvSpPr>
          <p:nvPr>
            <p:ph type="title"/>
          </p:nvPr>
        </p:nvSpPr>
        <p:spPr/>
        <p:txBody>
          <a:bodyPr>
            <a:normAutofit fontScale="90000"/>
          </a:bodyPr>
          <a:lstStyle/>
          <a:p>
            <a:r>
              <a:rPr lang="fr-FR" sz="3600" spc="-15" dirty="0">
                <a:latin typeface="Arial Black"/>
                <a:cs typeface="Arial Black"/>
              </a:rPr>
              <a:t>Cloud</a:t>
            </a:r>
            <a:r>
              <a:rPr lang="fr-FR" sz="3600" spc="-20" dirty="0">
                <a:latin typeface="Arial Black"/>
                <a:cs typeface="Arial Black"/>
              </a:rPr>
              <a:t> </a:t>
            </a:r>
            <a:r>
              <a:rPr lang="fr-FR" sz="3600" dirty="0">
                <a:latin typeface="Arial Black"/>
                <a:cs typeface="Arial Black"/>
              </a:rPr>
              <a:t>communautaire</a:t>
            </a:r>
            <a:endParaRPr lang="fr-FR" dirty="0"/>
          </a:p>
        </p:txBody>
      </p:sp>
      <p:sp>
        <p:nvSpPr>
          <p:cNvPr id="3" name="Espace réservé du contenu 2">
            <a:extLst>
              <a:ext uri="{FF2B5EF4-FFF2-40B4-BE49-F238E27FC236}">
                <a16:creationId xmlns:a16="http://schemas.microsoft.com/office/drawing/2014/main" id="{E84E426E-99E5-E04E-1116-744EE287E5BC}"/>
              </a:ext>
            </a:extLst>
          </p:cNvPr>
          <p:cNvSpPr>
            <a:spLocks noGrp="1"/>
          </p:cNvSpPr>
          <p:nvPr>
            <p:ph idx="1"/>
          </p:nvPr>
        </p:nvSpPr>
        <p:spPr/>
        <p:txBody>
          <a:bodyPr>
            <a:normAutofit fontScale="85000" lnSpcReduction="20000"/>
          </a:bodyPr>
          <a:lstStyle/>
          <a:p>
            <a:pPr marL="598805" marR="5080" indent="-251460" algn="just">
              <a:lnSpc>
                <a:spcPct val="120000"/>
              </a:lnSpc>
              <a:spcBef>
                <a:spcPts val="3700"/>
              </a:spcBef>
              <a:buSzPct val="50704"/>
              <a:buFont typeface="Arial"/>
              <a:buChar char="•"/>
              <a:tabLst>
                <a:tab pos="849630" algn="l"/>
                <a:tab pos="850265" algn="l"/>
              </a:tabLst>
            </a:pPr>
            <a:r>
              <a:rPr lang="fr-FR" sz="2800" spc="30" dirty="0">
                <a:latin typeface="Arial"/>
                <a:cs typeface="Arial"/>
              </a:rPr>
              <a:t>L’environnement </a:t>
            </a:r>
            <a:r>
              <a:rPr lang="fr-FR" sz="2800" spc="95" dirty="0">
                <a:latin typeface="Arial"/>
                <a:cs typeface="Arial"/>
              </a:rPr>
              <a:t>cloud </a:t>
            </a:r>
            <a:r>
              <a:rPr lang="fr-FR" sz="2800" spc="55" dirty="0">
                <a:latin typeface="Arial"/>
                <a:cs typeface="Arial"/>
              </a:rPr>
              <a:t>est </a:t>
            </a:r>
            <a:r>
              <a:rPr lang="fr-FR" sz="2800" spc="60" dirty="0">
                <a:latin typeface="Arial"/>
                <a:cs typeface="Arial"/>
              </a:rPr>
              <a:t>désigné </a:t>
            </a:r>
            <a:r>
              <a:rPr lang="fr-FR" sz="2800" spc="80" dirty="0">
                <a:latin typeface="Arial"/>
                <a:cs typeface="Arial"/>
              </a:rPr>
              <a:t>pour l’utilisation </a:t>
            </a:r>
            <a:r>
              <a:rPr lang="fr-FR" sz="2800" spc="75" dirty="0">
                <a:latin typeface="Arial"/>
                <a:cs typeface="Arial"/>
              </a:rPr>
              <a:t>d’une </a:t>
            </a:r>
            <a:r>
              <a:rPr lang="fr-FR" sz="2800" spc="80" dirty="0">
                <a:latin typeface="Arial"/>
                <a:cs typeface="Arial"/>
              </a:rPr>
              <a:t>communauté </a:t>
            </a:r>
            <a:r>
              <a:rPr lang="fr-FR" sz="2800" spc="60" dirty="0">
                <a:latin typeface="Arial"/>
                <a:cs typeface="Arial"/>
              </a:rPr>
              <a:t>précise  </a:t>
            </a:r>
            <a:r>
              <a:rPr lang="fr-FR" sz="2800" spc="80" dirty="0">
                <a:latin typeface="Arial"/>
                <a:cs typeface="Arial"/>
              </a:rPr>
              <a:t>d’utilisateurs </a:t>
            </a:r>
            <a:r>
              <a:rPr lang="fr-FR" sz="2800" spc="45" dirty="0">
                <a:latin typeface="Arial"/>
                <a:cs typeface="Arial"/>
              </a:rPr>
              <a:t>ayant </a:t>
            </a:r>
            <a:r>
              <a:rPr lang="fr-FR" sz="2800" spc="55" dirty="0">
                <a:latin typeface="Arial"/>
                <a:cs typeface="Arial"/>
              </a:rPr>
              <a:t>des </a:t>
            </a:r>
            <a:r>
              <a:rPr lang="fr-FR" sz="2800" spc="95" dirty="0">
                <a:latin typeface="Arial"/>
                <a:cs typeface="Arial"/>
              </a:rPr>
              <a:t>préoccupations </a:t>
            </a:r>
            <a:r>
              <a:rPr lang="fr-FR" sz="2800" spc="80" dirty="0">
                <a:latin typeface="Arial"/>
                <a:cs typeface="Arial"/>
              </a:rPr>
              <a:t>communes </a:t>
            </a:r>
            <a:r>
              <a:rPr lang="fr-FR" sz="2800" spc="50" dirty="0">
                <a:latin typeface="Arial"/>
                <a:cs typeface="Arial"/>
              </a:rPr>
              <a:t>et </a:t>
            </a:r>
            <a:r>
              <a:rPr lang="fr-FR" sz="2800" spc="55" dirty="0">
                <a:latin typeface="Arial"/>
                <a:cs typeface="Arial"/>
              </a:rPr>
              <a:t>des </a:t>
            </a:r>
            <a:r>
              <a:rPr lang="fr-FR" sz="2800" spc="70" dirty="0">
                <a:latin typeface="Arial"/>
                <a:cs typeface="Arial"/>
              </a:rPr>
              <a:t>besoins </a:t>
            </a:r>
            <a:r>
              <a:rPr lang="fr-FR" sz="2800" spc="60" dirty="0">
                <a:latin typeface="Arial"/>
                <a:cs typeface="Arial"/>
              </a:rPr>
              <a:t>partagés, </a:t>
            </a:r>
            <a:r>
              <a:rPr lang="fr-FR" sz="2800" spc="95" dirty="0">
                <a:latin typeface="Arial"/>
                <a:cs typeface="Arial"/>
              </a:rPr>
              <a:t>comme  </a:t>
            </a:r>
            <a:r>
              <a:rPr lang="fr-FR" sz="2800" spc="15" dirty="0">
                <a:latin typeface="Arial"/>
                <a:cs typeface="Arial"/>
              </a:rPr>
              <a:t>la</a:t>
            </a:r>
            <a:r>
              <a:rPr lang="fr-FR" sz="2800" spc="10" dirty="0">
                <a:latin typeface="Arial"/>
                <a:cs typeface="Arial"/>
              </a:rPr>
              <a:t> </a:t>
            </a:r>
            <a:r>
              <a:rPr lang="fr-FR" sz="2800" spc="60" dirty="0">
                <a:latin typeface="Arial"/>
                <a:cs typeface="Arial"/>
              </a:rPr>
              <a:t>sécurité.</a:t>
            </a:r>
            <a:endParaRPr lang="fr-FR" sz="2800" dirty="0">
              <a:latin typeface="Arial"/>
              <a:cs typeface="Arial"/>
            </a:endParaRPr>
          </a:p>
          <a:p>
            <a:pPr marL="598805" marR="544195" indent="-251460" algn="just">
              <a:lnSpc>
                <a:spcPct val="120000"/>
              </a:lnSpc>
              <a:spcBef>
                <a:spcPts val="15"/>
              </a:spcBef>
              <a:buSzPct val="50704"/>
              <a:buFont typeface="Arial"/>
              <a:buChar char="•"/>
              <a:tabLst>
                <a:tab pos="724535" algn="l"/>
                <a:tab pos="725170" algn="l"/>
              </a:tabLst>
            </a:pPr>
            <a:r>
              <a:rPr lang="fr-FR" sz="2800" spc="50" dirty="0">
                <a:latin typeface="Arial"/>
                <a:cs typeface="Arial"/>
              </a:rPr>
              <a:t>L’infrastructure </a:t>
            </a:r>
            <a:r>
              <a:rPr lang="fr-FR" sz="2800" spc="60" dirty="0">
                <a:latin typeface="Arial"/>
                <a:cs typeface="Arial"/>
              </a:rPr>
              <a:t>du </a:t>
            </a:r>
            <a:r>
              <a:rPr lang="fr-FR" sz="2800" spc="65" dirty="0">
                <a:latin typeface="Arial"/>
                <a:cs typeface="Arial"/>
              </a:rPr>
              <a:t>Cloud </a:t>
            </a:r>
            <a:r>
              <a:rPr lang="fr-FR" sz="2800" spc="60" dirty="0">
                <a:latin typeface="Arial"/>
                <a:cs typeface="Arial"/>
              </a:rPr>
              <a:t>communautaire </a:t>
            </a:r>
            <a:r>
              <a:rPr lang="fr-FR" sz="2800" spc="80" dirty="0">
                <a:latin typeface="Arial"/>
                <a:cs typeface="Arial"/>
              </a:rPr>
              <a:t>peut </a:t>
            </a:r>
            <a:r>
              <a:rPr lang="fr-FR" sz="2800" spc="30" dirty="0">
                <a:latin typeface="Arial"/>
                <a:cs typeface="Arial"/>
              </a:rPr>
              <a:t>être </a:t>
            </a:r>
            <a:r>
              <a:rPr lang="fr-FR" sz="2800" spc="20" dirty="0">
                <a:latin typeface="Arial"/>
                <a:cs typeface="Arial"/>
              </a:rPr>
              <a:t>gérée </a:t>
            </a:r>
            <a:r>
              <a:rPr lang="fr-FR" sz="2800" spc="55" dirty="0">
                <a:latin typeface="Arial"/>
                <a:cs typeface="Arial"/>
              </a:rPr>
              <a:t>par </a:t>
            </a:r>
            <a:r>
              <a:rPr lang="fr-FR" sz="2800" spc="20" dirty="0">
                <a:latin typeface="Arial"/>
                <a:cs typeface="Arial"/>
              </a:rPr>
              <a:t>les </a:t>
            </a:r>
            <a:r>
              <a:rPr lang="fr-FR" sz="2800" spc="60" dirty="0">
                <a:latin typeface="Arial"/>
                <a:cs typeface="Arial"/>
              </a:rPr>
              <a:t>organisations </a:t>
            </a:r>
            <a:r>
              <a:rPr lang="fr-FR" sz="2800" spc="45" dirty="0">
                <a:latin typeface="Arial"/>
                <a:cs typeface="Arial"/>
              </a:rPr>
              <a:t>ou  </a:t>
            </a:r>
            <a:r>
              <a:rPr lang="fr-FR" sz="2800" spc="55" dirty="0">
                <a:latin typeface="Arial"/>
                <a:cs typeface="Arial"/>
              </a:rPr>
              <a:t>par </a:t>
            </a:r>
            <a:r>
              <a:rPr lang="fr-FR" sz="2800" spc="25" dirty="0">
                <a:latin typeface="Arial"/>
                <a:cs typeface="Arial"/>
              </a:rPr>
              <a:t>une </a:t>
            </a:r>
            <a:r>
              <a:rPr lang="fr-FR" sz="2800" spc="55" dirty="0">
                <a:latin typeface="Arial"/>
                <a:cs typeface="Arial"/>
              </a:rPr>
              <a:t>tierce</a:t>
            </a:r>
            <a:r>
              <a:rPr lang="fr-FR" sz="2800" spc="80" dirty="0">
                <a:latin typeface="Arial"/>
                <a:cs typeface="Arial"/>
              </a:rPr>
              <a:t> </a:t>
            </a:r>
            <a:r>
              <a:rPr lang="fr-FR" sz="2800" spc="60" dirty="0">
                <a:latin typeface="Arial"/>
                <a:cs typeface="Arial"/>
              </a:rPr>
              <a:t>partie.</a:t>
            </a:r>
            <a:endParaRPr lang="fr-FR" sz="2800" dirty="0">
              <a:latin typeface="Arial"/>
              <a:cs typeface="Arial"/>
            </a:endParaRPr>
          </a:p>
          <a:p>
            <a:pPr marL="0" indent="0" algn="just">
              <a:lnSpc>
                <a:spcPct val="120000"/>
              </a:lnSpc>
              <a:buNone/>
            </a:pPr>
            <a:endParaRPr lang="fr-FR" dirty="0"/>
          </a:p>
        </p:txBody>
      </p:sp>
      <p:sp>
        <p:nvSpPr>
          <p:cNvPr id="4" name="Espace réservé du pied de page 3">
            <a:extLst>
              <a:ext uri="{FF2B5EF4-FFF2-40B4-BE49-F238E27FC236}">
                <a16:creationId xmlns:a16="http://schemas.microsoft.com/office/drawing/2014/main" id="{DDDF96AF-426B-369D-5C19-7DC7A7B2B099}"/>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1FBE3682-6CC1-C41F-FD3D-6995D835AB6A}"/>
              </a:ext>
            </a:extLst>
          </p:cNvPr>
          <p:cNvSpPr>
            <a:spLocks noGrp="1"/>
          </p:cNvSpPr>
          <p:nvPr>
            <p:ph type="sldNum" sz="quarter" idx="12"/>
          </p:nvPr>
        </p:nvSpPr>
        <p:spPr/>
        <p:txBody>
          <a:bodyPr/>
          <a:lstStyle/>
          <a:p>
            <a:fld id="{B82CCC60-E8CD-4174-8B1A-7DF615B22EEF}" type="slidenum">
              <a:rPr lang="en-US" smtClean="0"/>
              <a:pPr/>
              <a:t>29</a:t>
            </a:fld>
            <a:endParaRPr lang="en-US"/>
          </a:p>
        </p:txBody>
      </p:sp>
    </p:spTree>
    <p:extLst>
      <p:ext uri="{BB962C8B-B14F-4D97-AF65-F5344CB8AC3E}">
        <p14:creationId xmlns:p14="http://schemas.microsoft.com/office/powerpoint/2010/main" val="1206875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9E3853-9285-0A25-0596-474416B074F7}"/>
              </a:ext>
            </a:extLst>
          </p:cNvPr>
          <p:cNvSpPr>
            <a:spLocks noGrp="1"/>
          </p:cNvSpPr>
          <p:nvPr>
            <p:ph type="title"/>
          </p:nvPr>
        </p:nvSpPr>
        <p:spPr/>
        <p:txBody>
          <a:bodyPr>
            <a:normAutofit fontScale="90000"/>
          </a:bodyPr>
          <a:lstStyle/>
          <a:p>
            <a:r>
              <a:rPr lang="fr-FR" sz="3600" spc="-15" dirty="0">
                <a:latin typeface="Arial Black"/>
                <a:cs typeface="Arial Black"/>
              </a:rPr>
              <a:t>Avantages </a:t>
            </a:r>
            <a:r>
              <a:rPr lang="fr-FR" sz="3600" dirty="0">
                <a:latin typeface="Arial Black"/>
                <a:cs typeface="Arial Black"/>
              </a:rPr>
              <a:t>du </a:t>
            </a:r>
            <a:r>
              <a:rPr lang="fr-FR" sz="3600" spc="-15" dirty="0">
                <a:latin typeface="Arial Black"/>
                <a:cs typeface="Arial Black"/>
              </a:rPr>
              <a:t>Cloud</a:t>
            </a:r>
            <a:r>
              <a:rPr lang="fr-FR" sz="3600" spc="-65" dirty="0">
                <a:latin typeface="Arial Black"/>
                <a:cs typeface="Arial Black"/>
              </a:rPr>
              <a:t> </a:t>
            </a:r>
            <a:r>
              <a:rPr lang="fr-FR" sz="3600" dirty="0">
                <a:latin typeface="Arial Black"/>
                <a:cs typeface="Arial Black"/>
              </a:rPr>
              <a:t>communautaire</a:t>
            </a:r>
            <a:endParaRPr lang="fr-FR" dirty="0"/>
          </a:p>
        </p:txBody>
      </p:sp>
      <p:sp>
        <p:nvSpPr>
          <p:cNvPr id="3" name="Espace réservé du contenu 2">
            <a:extLst>
              <a:ext uri="{FF2B5EF4-FFF2-40B4-BE49-F238E27FC236}">
                <a16:creationId xmlns:a16="http://schemas.microsoft.com/office/drawing/2014/main" id="{7B61AC7F-88E1-9878-00C7-ED1E371F4C2B}"/>
              </a:ext>
            </a:extLst>
          </p:cNvPr>
          <p:cNvSpPr>
            <a:spLocks noGrp="1"/>
          </p:cNvSpPr>
          <p:nvPr>
            <p:ph idx="1"/>
          </p:nvPr>
        </p:nvSpPr>
        <p:spPr/>
        <p:txBody>
          <a:bodyPr>
            <a:normAutofit fontScale="62500" lnSpcReduction="20000"/>
          </a:bodyPr>
          <a:lstStyle/>
          <a:p>
            <a:pPr marL="599440" indent="-252095" algn="just">
              <a:lnSpc>
                <a:spcPct val="120000"/>
              </a:lnSpc>
              <a:spcBef>
                <a:spcPts val="3970"/>
              </a:spcBef>
              <a:buChar char="•"/>
              <a:tabLst>
                <a:tab pos="600075" algn="l"/>
              </a:tabLst>
            </a:pPr>
            <a:r>
              <a:rPr lang="fr-FR" sz="2800" spc="70" dirty="0">
                <a:solidFill>
                  <a:srgbClr val="0A5D17"/>
                </a:solidFill>
                <a:latin typeface="Arial"/>
                <a:cs typeface="Arial"/>
              </a:rPr>
              <a:t>Coût</a:t>
            </a:r>
            <a:endParaRPr lang="fr-FR" sz="2800" dirty="0">
              <a:latin typeface="Arial"/>
              <a:cs typeface="Arial"/>
            </a:endParaRPr>
          </a:p>
          <a:p>
            <a:pPr marL="756285" algn="just">
              <a:lnSpc>
                <a:spcPct val="120000"/>
              </a:lnSpc>
            </a:pPr>
            <a:r>
              <a:rPr lang="fr-FR" sz="2800" dirty="0">
                <a:solidFill>
                  <a:srgbClr val="212121"/>
                </a:solidFill>
                <a:latin typeface="Arial"/>
                <a:cs typeface="Arial"/>
              </a:rPr>
              <a:t>- </a:t>
            </a:r>
            <a:r>
              <a:rPr lang="fr-FR" sz="2800" spc="15" dirty="0">
                <a:solidFill>
                  <a:srgbClr val="212121"/>
                </a:solidFill>
                <a:latin typeface="Arial"/>
                <a:cs typeface="Arial"/>
              </a:rPr>
              <a:t>Dans </a:t>
            </a:r>
            <a:r>
              <a:rPr lang="fr-FR" sz="2800" spc="30" dirty="0">
                <a:solidFill>
                  <a:srgbClr val="212121"/>
                </a:solidFill>
                <a:latin typeface="Arial"/>
                <a:cs typeface="Arial"/>
              </a:rPr>
              <a:t>un </a:t>
            </a:r>
            <a:r>
              <a:rPr lang="fr-FR" sz="2800" spc="50" dirty="0">
                <a:solidFill>
                  <a:srgbClr val="212121"/>
                </a:solidFill>
                <a:latin typeface="Arial"/>
                <a:cs typeface="Arial"/>
              </a:rPr>
              <a:t>environnement </a:t>
            </a:r>
            <a:r>
              <a:rPr lang="fr-FR" sz="2800" spc="65" dirty="0">
                <a:solidFill>
                  <a:srgbClr val="212121"/>
                </a:solidFill>
                <a:latin typeface="Arial"/>
                <a:cs typeface="Arial"/>
              </a:rPr>
              <a:t>Cloud </a:t>
            </a:r>
            <a:r>
              <a:rPr lang="fr-FR" sz="2800" spc="60" dirty="0">
                <a:solidFill>
                  <a:srgbClr val="212121"/>
                </a:solidFill>
                <a:latin typeface="Arial"/>
                <a:cs typeface="Arial"/>
              </a:rPr>
              <a:t>communautaire, </a:t>
            </a:r>
            <a:r>
              <a:rPr lang="fr-FR" sz="2800" spc="20" dirty="0">
                <a:solidFill>
                  <a:srgbClr val="212121"/>
                </a:solidFill>
                <a:latin typeface="Arial"/>
                <a:cs typeface="Arial"/>
              </a:rPr>
              <a:t>les </a:t>
            </a:r>
            <a:r>
              <a:rPr lang="fr-FR" sz="2800" spc="90" dirty="0">
                <a:solidFill>
                  <a:srgbClr val="212121"/>
                </a:solidFill>
                <a:latin typeface="Arial"/>
                <a:cs typeface="Arial"/>
              </a:rPr>
              <a:t>coûts </a:t>
            </a:r>
            <a:r>
              <a:rPr lang="fr-FR" sz="2800" spc="80" dirty="0">
                <a:solidFill>
                  <a:srgbClr val="212121"/>
                </a:solidFill>
                <a:latin typeface="Arial"/>
                <a:cs typeface="Arial"/>
              </a:rPr>
              <a:t>sont </a:t>
            </a:r>
            <a:r>
              <a:rPr lang="fr-FR" sz="2800" spc="60" dirty="0">
                <a:solidFill>
                  <a:srgbClr val="212121"/>
                </a:solidFill>
                <a:latin typeface="Arial"/>
                <a:cs typeface="Arial"/>
              </a:rPr>
              <a:t>partagés</a:t>
            </a:r>
            <a:r>
              <a:rPr lang="fr-FR" sz="2800" spc="-285" dirty="0">
                <a:solidFill>
                  <a:srgbClr val="212121"/>
                </a:solidFill>
                <a:latin typeface="Arial"/>
                <a:cs typeface="Arial"/>
              </a:rPr>
              <a:t> </a:t>
            </a:r>
            <a:r>
              <a:rPr lang="fr-FR" sz="2800" spc="35" dirty="0">
                <a:solidFill>
                  <a:srgbClr val="212121"/>
                </a:solidFill>
                <a:latin typeface="Arial"/>
                <a:cs typeface="Arial"/>
              </a:rPr>
              <a:t>entre </a:t>
            </a:r>
            <a:r>
              <a:rPr lang="fr-FR" sz="2800" spc="20" dirty="0">
                <a:solidFill>
                  <a:srgbClr val="212121"/>
                </a:solidFill>
                <a:latin typeface="Arial"/>
                <a:cs typeface="Arial"/>
              </a:rPr>
              <a:t>les</a:t>
            </a:r>
            <a:r>
              <a:rPr lang="fr-FR" sz="2800" spc="25" dirty="0">
                <a:solidFill>
                  <a:srgbClr val="212121"/>
                </a:solidFill>
                <a:latin typeface="Arial"/>
                <a:cs typeface="Arial"/>
              </a:rPr>
              <a:t> </a:t>
            </a:r>
            <a:r>
              <a:rPr lang="fr-FR" sz="2800" spc="50" dirty="0">
                <a:solidFill>
                  <a:srgbClr val="212121"/>
                </a:solidFill>
                <a:latin typeface="Arial"/>
                <a:cs typeface="Arial"/>
              </a:rPr>
              <a:t>membres.</a:t>
            </a:r>
            <a:endParaRPr lang="fr-FR" sz="3600" dirty="0">
              <a:latin typeface="Arial"/>
              <a:cs typeface="Arial"/>
            </a:endParaRPr>
          </a:p>
          <a:p>
            <a:pPr marL="599440" indent="-252095" algn="just">
              <a:lnSpc>
                <a:spcPct val="120000"/>
              </a:lnSpc>
              <a:buChar char="•"/>
              <a:tabLst>
                <a:tab pos="600075" algn="l"/>
              </a:tabLst>
            </a:pPr>
            <a:r>
              <a:rPr lang="fr-FR" sz="2800" spc="70" dirty="0">
                <a:solidFill>
                  <a:srgbClr val="0A5D17"/>
                </a:solidFill>
                <a:latin typeface="Arial"/>
                <a:cs typeface="Arial"/>
              </a:rPr>
              <a:t>Architecture</a:t>
            </a:r>
            <a:r>
              <a:rPr lang="fr-FR" sz="2800" spc="90" dirty="0">
                <a:solidFill>
                  <a:srgbClr val="0A5D17"/>
                </a:solidFill>
                <a:latin typeface="Arial"/>
                <a:cs typeface="Arial"/>
              </a:rPr>
              <a:t> Multi-tenant</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 </a:t>
            </a:r>
            <a:r>
              <a:rPr lang="fr-FR" sz="2800" spc="15" dirty="0">
                <a:solidFill>
                  <a:srgbClr val="212121"/>
                </a:solidFill>
                <a:latin typeface="Arial"/>
                <a:cs typeface="Arial"/>
              </a:rPr>
              <a:t>Dans </a:t>
            </a:r>
            <a:r>
              <a:rPr lang="fr-FR" sz="2800" spc="30" dirty="0">
                <a:solidFill>
                  <a:srgbClr val="212121"/>
                </a:solidFill>
                <a:latin typeface="Arial"/>
                <a:cs typeface="Arial"/>
              </a:rPr>
              <a:t>un </a:t>
            </a:r>
            <a:r>
              <a:rPr lang="fr-FR" sz="2800" spc="50" dirty="0">
                <a:solidFill>
                  <a:srgbClr val="212121"/>
                </a:solidFill>
                <a:latin typeface="Arial"/>
                <a:cs typeface="Arial"/>
              </a:rPr>
              <a:t>environnement </a:t>
            </a:r>
            <a:r>
              <a:rPr lang="fr-FR" sz="2800" spc="65" dirty="0">
                <a:solidFill>
                  <a:srgbClr val="212121"/>
                </a:solidFill>
                <a:latin typeface="Arial"/>
                <a:cs typeface="Arial"/>
              </a:rPr>
              <a:t>Cloud </a:t>
            </a:r>
            <a:r>
              <a:rPr lang="fr-FR" sz="2800" spc="60" dirty="0">
                <a:solidFill>
                  <a:srgbClr val="212121"/>
                </a:solidFill>
                <a:latin typeface="Arial"/>
                <a:cs typeface="Arial"/>
              </a:rPr>
              <a:t>communautaire, </a:t>
            </a:r>
            <a:r>
              <a:rPr lang="fr-FR" sz="2800" spc="15" dirty="0">
                <a:solidFill>
                  <a:srgbClr val="212121"/>
                </a:solidFill>
                <a:latin typeface="Arial"/>
                <a:cs typeface="Arial"/>
              </a:rPr>
              <a:t>la </a:t>
            </a:r>
            <a:r>
              <a:rPr lang="fr-FR" sz="2800" spc="70" dirty="0">
                <a:solidFill>
                  <a:srgbClr val="212121"/>
                </a:solidFill>
                <a:latin typeface="Arial"/>
                <a:cs typeface="Arial"/>
              </a:rPr>
              <a:t>mutualisation </a:t>
            </a:r>
            <a:r>
              <a:rPr lang="fr-FR" sz="2800" spc="55" dirty="0">
                <a:solidFill>
                  <a:srgbClr val="212121"/>
                </a:solidFill>
                <a:latin typeface="Arial"/>
                <a:cs typeface="Arial"/>
              </a:rPr>
              <a:t>des</a:t>
            </a:r>
            <a:r>
              <a:rPr lang="fr-FR" sz="2800" spc="-370" dirty="0">
                <a:solidFill>
                  <a:srgbClr val="212121"/>
                </a:solidFill>
                <a:latin typeface="Arial"/>
                <a:cs typeface="Arial"/>
              </a:rPr>
              <a:t> </a:t>
            </a:r>
            <a:r>
              <a:rPr lang="fr-FR" sz="2800" spc="45" dirty="0">
                <a:solidFill>
                  <a:srgbClr val="212121"/>
                </a:solidFill>
                <a:latin typeface="Arial"/>
                <a:cs typeface="Arial"/>
              </a:rPr>
              <a:t>ressources</a:t>
            </a:r>
            <a:r>
              <a:rPr lang="fr-FR" dirty="0">
                <a:latin typeface="Arial"/>
                <a:cs typeface="Arial"/>
              </a:rPr>
              <a:t> </a:t>
            </a:r>
            <a:r>
              <a:rPr lang="fr-FR" sz="2800" spc="80" dirty="0">
                <a:solidFill>
                  <a:srgbClr val="212121"/>
                </a:solidFill>
                <a:latin typeface="Arial"/>
                <a:cs typeface="Arial"/>
              </a:rPr>
              <a:t>permet </a:t>
            </a:r>
            <a:r>
              <a:rPr lang="fr-FR" sz="2800" spc="15" dirty="0">
                <a:solidFill>
                  <a:srgbClr val="212121"/>
                </a:solidFill>
                <a:latin typeface="Arial"/>
                <a:cs typeface="Arial"/>
              </a:rPr>
              <a:t>le </a:t>
            </a:r>
            <a:r>
              <a:rPr lang="fr-FR" sz="2800" spc="70" dirty="0">
                <a:solidFill>
                  <a:srgbClr val="212121"/>
                </a:solidFill>
                <a:latin typeface="Arial"/>
                <a:cs typeface="Arial"/>
              </a:rPr>
              <a:t>partage </a:t>
            </a:r>
            <a:r>
              <a:rPr lang="fr-FR" sz="2800" spc="55" dirty="0">
                <a:solidFill>
                  <a:srgbClr val="212121"/>
                </a:solidFill>
                <a:latin typeface="Arial"/>
                <a:cs typeface="Arial"/>
              </a:rPr>
              <a:t>des </a:t>
            </a:r>
            <a:r>
              <a:rPr lang="fr-FR" sz="2800" spc="65" dirty="0">
                <a:solidFill>
                  <a:srgbClr val="212121"/>
                </a:solidFill>
                <a:latin typeface="Arial"/>
                <a:cs typeface="Arial"/>
              </a:rPr>
              <a:t>tâches </a:t>
            </a:r>
            <a:r>
              <a:rPr lang="fr-FR" sz="2800" spc="45" dirty="0">
                <a:solidFill>
                  <a:srgbClr val="212121"/>
                </a:solidFill>
                <a:latin typeface="Arial"/>
                <a:cs typeface="Arial"/>
              </a:rPr>
              <a:t>de </a:t>
            </a:r>
            <a:r>
              <a:rPr lang="fr-FR" sz="2800" spc="100" dirty="0">
                <a:solidFill>
                  <a:srgbClr val="212121"/>
                </a:solidFill>
                <a:latin typeface="Arial"/>
                <a:cs typeface="Arial"/>
              </a:rPr>
              <a:t>support </a:t>
            </a:r>
            <a:r>
              <a:rPr lang="fr-FR" sz="2800" spc="45" dirty="0">
                <a:solidFill>
                  <a:srgbClr val="212121"/>
                </a:solidFill>
                <a:latin typeface="Arial"/>
                <a:cs typeface="Arial"/>
              </a:rPr>
              <a:t>et de </a:t>
            </a:r>
            <a:r>
              <a:rPr lang="fr-FR" sz="2800" spc="15" dirty="0">
                <a:solidFill>
                  <a:srgbClr val="212121"/>
                </a:solidFill>
                <a:latin typeface="Arial"/>
                <a:cs typeface="Arial"/>
              </a:rPr>
              <a:t>la</a:t>
            </a:r>
            <a:r>
              <a:rPr lang="fr-FR" sz="2800" spc="120" dirty="0">
                <a:solidFill>
                  <a:srgbClr val="212121"/>
                </a:solidFill>
                <a:latin typeface="Arial"/>
                <a:cs typeface="Arial"/>
              </a:rPr>
              <a:t> </a:t>
            </a:r>
            <a:r>
              <a:rPr lang="fr-FR" sz="2800" spc="55" dirty="0">
                <a:solidFill>
                  <a:srgbClr val="212121"/>
                </a:solidFill>
                <a:latin typeface="Arial"/>
                <a:cs typeface="Arial"/>
              </a:rPr>
              <a:t>maintenance.</a:t>
            </a:r>
            <a:endParaRPr lang="fr-FR" sz="2800" dirty="0">
              <a:latin typeface="Arial"/>
              <a:cs typeface="Arial"/>
            </a:endParaRPr>
          </a:p>
          <a:p>
            <a:pPr marL="411480" indent="0" algn="just">
              <a:lnSpc>
                <a:spcPct val="120000"/>
              </a:lnSpc>
              <a:spcBef>
                <a:spcPts val="270"/>
              </a:spcBef>
              <a:buNone/>
            </a:pPr>
            <a:r>
              <a:rPr lang="fr-FR" sz="2800" dirty="0">
                <a:solidFill>
                  <a:srgbClr val="212121"/>
                </a:solidFill>
                <a:latin typeface="Arial"/>
                <a:cs typeface="Arial"/>
              </a:rPr>
              <a:t>	- </a:t>
            </a:r>
            <a:r>
              <a:rPr lang="fr-FR" sz="2800" spc="35" dirty="0">
                <a:solidFill>
                  <a:srgbClr val="212121"/>
                </a:solidFill>
                <a:latin typeface="Arial"/>
                <a:cs typeface="Arial"/>
              </a:rPr>
              <a:t>Chaque </a:t>
            </a:r>
            <a:r>
              <a:rPr lang="fr-FR" sz="2800" spc="55" dirty="0">
                <a:solidFill>
                  <a:srgbClr val="212121"/>
                </a:solidFill>
                <a:latin typeface="Arial"/>
                <a:cs typeface="Arial"/>
              </a:rPr>
              <a:t>membre </a:t>
            </a:r>
            <a:r>
              <a:rPr lang="fr-FR" sz="2800" spc="80" dirty="0">
                <a:solidFill>
                  <a:srgbClr val="212121"/>
                </a:solidFill>
                <a:latin typeface="Arial"/>
                <a:cs typeface="Arial"/>
              </a:rPr>
              <a:t>peut contribuer </a:t>
            </a:r>
            <a:r>
              <a:rPr lang="fr-FR" sz="2800" spc="50" dirty="0">
                <a:solidFill>
                  <a:srgbClr val="212121"/>
                </a:solidFill>
                <a:latin typeface="Arial"/>
                <a:cs typeface="Arial"/>
              </a:rPr>
              <a:t>dans </a:t>
            </a:r>
            <a:r>
              <a:rPr lang="fr-FR" sz="2800" spc="55" dirty="0">
                <a:solidFill>
                  <a:srgbClr val="212121"/>
                </a:solidFill>
                <a:latin typeface="Arial"/>
                <a:cs typeface="Arial"/>
              </a:rPr>
              <a:t>son </a:t>
            </a:r>
            <a:r>
              <a:rPr lang="fr-FR" sz="2800" spc="65" dirty="0">
                <a:solidFill>
                  <a:srgbClr val="212121"/>
                </a:solidFill>
                <a:latin typeface="Arial"/>
                <a:cs typeface="Arial"/>
              </a:rPr>
              <a:t>domaine</a:t>
            </a:r>
            <a:r>
              <a:rPr lang="fr-FR" sz="2800" spc="525" dirty="0">
                <a:solidFill>
                  <a:srgbClr val="212121"/>
                </a:solidFill>
                <a:latin typeface="Arial"/>
                <a:cs typeface="Arial"/>
              </a:rPr>
              <a:t> </a:t>
            </a:r>
            <a:r>
              <a:rPr lang="fr-FR" sz="2800" spc="80" dirty="0">
                <a:solidFill>
                  <a:srgbClr val="212121"/>
                </a:solidFill>
                <a:latin typeface="Arial"/>
                <a:cs typeface="Arial"/>
              </a:rPr>
              <a:t>d’expertise.</a:t>
            </a:r>
            <a:endParaRPr lang="fr-FR" dirty="0"/>
          </a:p>
        </p:txBody>
      </p:sp>
      <p:sp>
        <p:nvSpPr>
          <p:cNvPr id="4" name="Espace réservé du pied de page 3">
            <a:extLst>
              <a:ext uri="{FF2B5EF4-FFF2-40B4-BE49-F238E27FC236}">
                <a16:creationId xmlns:a16="http://schemas.microsoft.com/office/drawing/2014/main" id="{6A4FB98E-A51A-5CA8-EE65-6017020672BC}"/>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054266A-D726-083B-3429-D2757F12D611}"/>
              </a:ext>
            </a:extLst>
          </p:cNvPr>
          <p:cNvSpPr>
            <a:spLocks noGrp="1"/>
          </p:cNvSpPr>
          <p:nvPr>
            <p:ph type="sldNum" sz="quarter" idx="12"/>
          </p:nvPr>
        </p:nvSpPr>
        <p:spPr/>
        <p:txBody>
          <a:bodyPr/>
          <a:lstStyle/>
          <a:p>
            <a:fld id="{B82CCC60-E8CD-4174-8B1A-7DF615B22EEF}" type="slidenum">
              <a:rPr lang="en-US" smtClean="0"/>
              <a:pPr/>
              <a:t>30</a:t>
            </a:fld>
            <a:endParaRPr lang="en-US"/>
          </a:p>
        </p:txBody>
      </p:sp>
    </p:spTree>
    <p:extLst>
      <p:ext uri="{BB962C8B-B14F-4D97-AF65-F5344CB8AC3E}">
        <p14:creationId xmlns:p14="http://schemas.microsoft.com/office/powerpoint/2010/main" val="4207226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D61A89-CC87-7E9E-8EE5-CFA515365AA7}"/>
              </a:ext>
            </a:extLst>
          </p:cNvPr>
          <p:cNvSpPr>
            <a:spLocks noGrp="1"/>
          </p:cNvSpPr>
          <p:nvPr>
            <p:ph type="title"/>
          </p:nvPr>
        </p:nvSpPr>
        <p:spPr/>
        <p:txBody>
          <a:bodyPr>
            <a:normAutofit/>
          </a:bodyPr>
          <a:lstStyle/>
          <a:p>
            <a:r>
              <a:rPr lang="fr-FR" sz="2800" spc="-25" dirty="0">
                <a:latin typeface="Arial Black"/>
                <a:cs typeface="Arial Black"/>
              </a:rPr>
              <a:t>Inconvénients </a:t>
            </a:r>
            <a:r>
              <a:rPr lang="fr-FR" sz="2800" spc="-5" dirty="0">
                <a:latin typeface="Arial Black"/>
                <a:cs typeface="Arial Black"/>
              </a:rPr>
              <a:t>du </a:t>
            </a:r>
            <a:r>
              <a:rPr lang="fr-FR" sz="2800" spc="-15" dirty="0">
                <a:latin typeface="Arial Black"/>
                <a:cs typeface="Arial Black"/>
              </a:rPr>
              <a:t>Cloud</a:t>
            </a:r>
            <a:r>
              <a:rPr lang="fr-FR" sz="2800" spc="-70" dirty="0">
                <a:latin typeface="Arial Black"/>
                <a:cs typeface="Arial Black"/>
              </a:rPr>
              <a:t> </a:t>
            </a:r>
            <a:r>
              <a:rPr lang="fr-FR" sz="2800" dirty="0">
                <a:latin typeface="Arial Black"/>
                <a:cs typeface="Arial Black"/>
              </a:rPr>
              <a:t>communautaire</a:t>
            </a:r>
            <a:endParaRPr lang="fr-FR" sz="2800" dirty="0"/>
          </a:p>
        </p:txBody>
      </p:sp>
      <p:sp>
        <p:nvSpPr>
          <p:cNvPr id="3" name="Espace réservé du contenu 2">
            <a:extLst>
              <a:ext uri="{FF2B5EF4-FFF2-40B4-BE49-F238E27FC236}">
                <a16:creationId xmlns:a16="http://schemas.microsoft.com/office/drawing/2014/main" id="{495D791A-F597-D236-76FA-029371C18F18}"/>
              </a:ext>
            </a:extLst>
          </p:cNvPr>
          <p:cNvSpPr>
            <a:spLocks noGrp="1"/>
          </p:cNvSpPr>
          <p:nvPr>
            <p:ph idx="1"/>
          </p:nvPr>
        </p:nvSpPr>
        <p:spPr/>
        <p:txBody>
          <a:bodyPr>
            <a:normAutofit fontScale="77500" lnSpcReduction="20000"/>
          </a:bodyPr>
          <a:lstStyle/>
          <a:p>
            <a:pPr marL="598805" indent="-252095" algn="just">
              <a:lnSpc>
                <a:spcPct val="120000"/>
              </a:lnSpc>
              <a:spcBef>
                <a:spcPts val="3970"/>
              </a:spcBef>
              <a:buChar char="•"/>
              <a:tabLst>
                <a:tab pos="599440" algn="l"/>
              </a:tabLst>
            </a:pPr>
            <a:r>
              <a:rPr lang="fr-FR" sz="2800" spc="10" dirty="0">
                <a:solidFill>
                  <a:srgbClr val="0A5D17"/>
                </a:solidFill>
                <a:latin typeface="Arial"/>
                <a:cs typeface="Arial"/>
              </a:rPr>
              <a:t>La </a:t>
            </a:r>
            <a:r>
              <a:rPr lang="fr-FR" sz="2800" spc="80" dirty="0">
                <a:solidFill>
                  <a:srgbClr val="0A5D17"/>
                </a:solidFill>
                <a:latin typeface="Arial"/>
                <a:cs typeface="Arial"/>
              </a:rPr>
              <a:t>propriété </a:t>
            </a:r>
            <a:r>
              <a:rPr lang="fr-FR" sz="2800" dirty="0">
                <a:solidFill>
                  <a:srgbClr val="0A5D17"/>
                </a:solidFill>
                <a:latin typeface="Arial"/>
                <a:cs typeface="Arial"/>
              </a:rPr>
              <a:t>/</a:t>
            </a:r>
            <a:r>
              <a:rPr lang="fr-FR" sz="2800" spc="260" dirty="0">
                <a:solidFill>
                  <a:srgbClr val="0A5D17"/>
                </a:solidFill>
                <a:latin typeface="Arial"/>
                <a:cs typeface="Arial"/>
              </a:rPr>
              <a:t> </a:t>
            </a:r>
            <a:r>
              <a:rPr lang="fr-FR" sz="2800" spc="70" dirty="0">
                <a:solidFill>
                  <a:srgbClr val="0A5D17"/>
                </a:solidFill>
                <a:latin typeface="Arial"/>
                <a:cs typeface="Arial"/>
              </a:rPr>
              <a:t>possession</a:t>
            </a:r>
            <a:endParaRPr lang="fr-FR" sz="2800" dirty="0">
              <a:latin typeface="Arial"/>
              <a:cs typeface="Arial"/>
            </a:endParaRPr>
          </a:p>
          <a:p>
            <a:pPr marL="756285" algn="just">
              <a:lnSpc>
                <a:spcPct val="120000"/>
              </a:lnSpc>
            </a:pPr>
            <a:r>
              <a:rPr lang="fr-FR" sz="2800" dirty="0">
                <a:solidFill>
                  <a:srgbClr val="212121"/>
                </a:solidFill>
                <a:latin typeface="Arial"/>
                <a:cs typeface="Arial"/>
              </a:rPr>
              <a:t>- </a:t>
            </a:r>
            <a:r>
              <a:rPr lang="fr-FR" sz="2800" spc="15" dirty="0">
                <a:solidFill>
                  <a:srgbClr val="212121"/>
                </a:solidFill>
                <a:latin typeface="Arial"/>
                <a:cs typeface="Arial"/>
              </a:rPr>
              <a:t>Dans le </a:t>
            </a:r>
            <a:r>
              <a:rPr lang="fr-FR" sz="2800" spc="95" dirty="0">
                <a:solidFill>
                  <a:srgbClr val="212121"/>
                </a:solidFill>
                <a:latin typeface="Arial"/>
                <a:cs typeface="Arial"/>
              </a:rPr>
              <a:t>cloud </a:t>
            </a:r>
            <a:r>
              <a:rPr lang="fr-FR" sz="2800" spc="60" dirty="0">
                <a:solidFill>
                  <a:srgbClr val="212121"/>
                </a:solidFill>
                <a:latin typeface="Arial"/>
                <a:cs typeface="Arial"/>
              </a:rPr>
              <a:t>communautaire, </a:t>
            </a:r>
            <a:r>
              <a:rPr lang="fr-FR" sz="2800" spc="15" dirty="0">
                <a:solidFill>
                  <a:srgbClr val="212121"/>
                </a:solidFill>
                <a:latin typeface="Arial"/>
                <a:cs typeface="Arial"/>
              </a:rPr>
              <a:t>la </a:t>
            </a:r>
            <a:r>
              <a:rPr lang="fr-FR" sz="2800" spc="80" dirty="0">
                <a:solidFill>
                  <a:srgbClr val="212121"/>
                </a:solidFill>
                <a:latin typeface="Arial"/>
                <a:cs typeface="Arial"/>
              </a:rPr>
              <a:t>propriété </a:t>
            </a:r>
            <a:r>
              <a:rPr lang="fr-FR" sz="2800" spc="105" dirty="0">
                <a:solidFill>
                  <a:srgbClr val="212121"/>
                </a:solidFill>
                <a:latin typeface="Arial"/>
                <a:cs typeface="Arial"/>
              </a:rPr>
              <a:t>doit </a:t>
            </a:r>
            <a:r>
              <a:rPr lang="fr-FR" sz="2800" spc="30" dirty="0">
                <a:solidFill>
                  <a:srgbClr val="212121"/>
                </a:solidFill>
                <a:latin typeface="Arial"/>
                <a:cs typeface="Arial"/>
              </a:rPr>
              <a:t>être </a:t>
            </a:r>
            <a:r>
              <a:rPr lang="fr-FR" sz="2800" spc="60" dirty="0">
                <a:solidFill>
                  <a:srgbClr val="212121"/>
                </a:solidFill>
                <a:latin typeface="Arial"/>
                <a:cs typeface="Arial"/>
              </a:rPr>
              <a:t>clairement définie</a:t>
            </a:r>
            <a:r>
              <a:rPr lang="fr-FR" sz="2800" spc="-440" dirty="0">
                <a:solidFill>
                  <a:srgbClr val="212121"/>
                </a:solidFill>
                <a:latin typeface="Arial"/>
                <a:cs typeface="Arial"/>
              </a:rPr>
              <a:t> </a:t>
            </a:r>
            <a:r>
              <a:rPr lang="fr-FR" sz="2800" dirty="0">
                <a:solidFill>
                  <a:srgbClr val="212121"/>
                </a:solidFill>
                <a:latin typeface="Arial"/>
                <a:cs typeface="Arial"/>
              </a:rPr>
              <a:t>:</a:t>
            </a:r>
            <a:r>
              <a:rPr lang="fr-FR" sz="2800" spc="70" dirty="0">
                <a:solidFill>
                  <a:srgbClr val="212121"/>
                </a:solidFill>
                <a:latin typeface="Arial"/>
                <a:cs typeface="Arial"/>
              </a:rPr>
              <a:t>certains </a:t>
            </a:r>
            <a:r>
              <a:rPr lang="fr-FR" sz="2800" spc="90" dirty="0">
                <a:solidFill>
                  <a:srgbClr val="212121"/>
                </a:solidFill>
                <a:latin typeface="Arial"/>
                <a:cs typeface="Arial"/>
              </a:rPr>
              <a:t>accords </a:t>
            </a:r>
            <a:r>
              <a:rPr lang="fr-FR" sz="2800" spc="80" dirty="0">
                <a:solidFill>
                  <a:srgbClr val="212121"/>
                </a:solidFill>
                <a:latin typeface="Arial"/>
                <a:cs typeface="Arial"/>
              </a:rPr>
              <a:t>sont </a:t>
            </a:r>
            <a:r>
              <a:rPr lang="fr-FR" sz="2800" spc="70" dirty="0">
                <a:solidFill>
                  <a:srgbClr val="212121"/>
                </a:solidFill>
                <a:latin typeface="Arial"/>
                <a:cs typeface="Arial"/>
              </a:rPr>
              <a:t>définis </a:t>
            </a:r>
            <a:r>
              <a:rPr lang="fr-FR" sz="2800" spc="80" dirty="0">
                <a:solidFill>
                  <a:srgbClr val="212121"/>
                </a:solidFill>
                <a:latin typeface="Arial"/>
                <a:cs typeface="Arial"/>
              </a:rPr>
              <a:t>pour </a:t>
            </a:r>
            <a:r>
              <a:rPr lang="fr-FR" sz="2800" spc="45" dirty="0">
                <a:solidFill>
                  <a:srgbClr val="212121"/>
                </a:solidFill>
                <a:latin typeface="Arial"/>
                <a:cs typeface="Arial"/>
              </a:rPr>
              <a:t>rejoindre </a:t>
            </a:r>
            <a:r>
              <a:rPr lang="fr-FR" sz="2800" spc="15" dirty="0">
                <a:solidFill>
                  <a:srgbClr val="212121"/>
                </a:solidFill>
                <a:latin typeface="Arial"/>
                <a:cs typeface="Arial"/>
              </a:rPr>
              <a:t>le</a:t>
            </a:r>
            <a:r>
              <a:rPr lang="fr-FR" sz="2800" spc="700" dirty="0">
                <a:solidFill>
                  <a:srgbClr val="212121"/>
                </a:solidFill>
                <a:latin typeface="Arial"/>
                <a:cs typeface="Arial"/>
              </a:rPr>
              <a:t> </a:t>
            </a:r>
            <a:r>
              <a:rPr lang="fr-FR" sz="2800" spc="80" dirty="0">
                <a:solidFill>
                  <a:srgbClr val="212121"/>
                </a:solidFill>
                <a:latin typeface="Arial"/>
                <a:cs typeface="Arial"/>
              </a:rPr>
              <a:t>groupe propriétaire.</a:t>
            </a:r>
            <a:endParaRPr lang="fr-FR" sz="2800" dirty="0">
              <a:latin typeface="Arial"/>
              <a:cs typeface="Arial"/>
            </a:endParaRPr>
          </a:p>
          <a:p>
            <a:pPr marL="755650" marR="321310" indent="0" algn="just">
              <a:lnSpc>
                <a:spcPct val="120000"/>
              </a:lnSpc>
              <a:buNone/>
            </a:pPr>
            <a:r>
              <a:rPr lang="fr-FR" sz="2800" dirty="0">
                <a:solidFill>
                  <a:srgbClr val="212121"/>
                </a:solidFill>
                <a:latin typeface="Arial"/>
                <a:cs typeface="Arial"/>
              </a:rPr>
              <a:t>- </a:t>
            </a:r>
            <a:r>
              <a:rPr lang="fr-FR" sz="2800" spc="15" dirty="0">
                <a:solidFill>
                  <a:srgbClr val="212121"/>
                </a:solidFill>
                <a:latin typeface="Arial"/>
                <a:cs typeface="Arial"/>
              </a:rPr>
              <a:t>Dans </a:t>
            </a:r>
            <a:r>
              <a:rPr lang="fr-FR" sz="2800" spc="70" dirty="0">
                <a:solidFill>
                  <a:srgbClr val="212121"/>
                </a:solidFill>
                <a:latin typeface="Arial"/>
                <a:cs typeface="Arial"/>
              </a:rPr>
              <a:t>certains </a:t>
            </a:r>
            <a:r>
              <a:rPr lang="fr-FR" sz="2800" spc="40" dirty="0">
                <a:solidFill>
                  <a:srgbClr val="212121"/>
                </a:solidFill>
                <a:latin typeface="Arial"/>
                <a:cs typeface="Arial"/>
              </a:rPr>
              <a:t>cas, </a:t>
            </a:r>
            <a:r>
              <a:rPr lang="fr-FR" sz="2800" spc="20" dirty="0">
                <a:solidFill>
                  <a:srgbClr val="212121"/>
                </a:solidFill>
                <a:latin typeface="Arial"/>
                <a:cs typeface="Arial"/>
              </a:rPr>
              <a:t>les </a:t>
            </a:r>
            <a:r>
              <a:rPr lang="fr-FR" sz="2800" spc="60" dirty="0">
                <a:solidFill>
                  <a:srgbClr val="212121"/>
                </a:solidFill>
                <a:latin typeface="Arial"/>
                <a:cs typeface="Arial"/>
              </a:rPr>
              <a:t>membres </a:t>
            </a:r>
            <a:r>
              <a:rPr lang="fr-FR" sz="2800" spc="70" dirty="0">
                <a:solidFill>
                  <a:srgbClr val="212121"/>
                </a:solidFill>
                <a:latin typeface="Arial"/>
                <a:cs typeface="Arial"/>
              </a:rPr>
              <a:t>peuvent </a:t>
            </a:r>
            <a:r>
              <a:rPr lang="fr-FR" sz="2800" spc="35" dirty="0">
                <a:solidFill>
                  <a:srgbClr val="212121"/>
                </a:solidFill>
                <a:latin typeface="Arial"/>
                <a:cs typeface="Arial"/>
              </a:rPr>
              <a:t>créer </a:t>
            </a:r>
            <a:r>
              <a:rPr lang="fr-FR" sz="2800" spc="20" dirty="0">
                <a:solidFill>
                  <a:srgbClr val="212121"/>
                </a:solidFill>
                <a:latin typeface="Arial"/>
                <a:cs typeface="Arial"/>
              </a:rPr>
              <a:t>une </a:t>
            </a:r>
            <a:r>
              <a:rPr lang="fr-FR" sz="2800" spc="25" dirty="0">
                <a:solidFill>
                  <a:srgbClr val="212121"/>
                </a:solidFill>
                <a:latin typeface="Arial"/>
                <a:cs typeface="Arial"/>
              </a:rPr>
              <a:t>seule</a:t>
            </a:r>
            <a:r>
              <a:rPr lang="fr-FR" sz="2800" spc="-555" dirty="0">
                <a:solidFill>
                  <a:srgbClr val="212121"/>
                </a:solidFill>
                <a:latin typeface="Arial"/>
                <a:cs typeface="Arial"/>
              </a:rPr>
              <a:t> </a:t>
            </a:r>
            <a:r>
              <a:rPr lang="fr-FR" sz="2800" spc="60" dirty="0">
                <a:solidFill>
                  <a:srgbClr val="212121"/>
                </a:solidFill>
                <a:latin typeface="Arial"/>
                <a:cs typeface="Arial"/>
              </a:rPr>
              <a:t>organisation  </a:t>
            </a:r>
            <a:r>
              <a:rPr lang="fr-FR" sz="2800" spc="80" dirty="0">
                <a:solidFill>
                  <a:srgbClr val="212121"/>
                </a:solidFill>
                <a:latin typeface="Arial"/>
                <a:cs typeface="Arial"/>
              </a:rPr>
              <a:t>commune </a:t>
            </a:r>
            <a:r>
              <a:rPr lang="fr-FR" sz="2800" spc="60" dirty="0">
                <a:solidFill>
                  <a:srgbClr val="212121"/>
                </a:solidFill>
                <a:latin typeface="Arial"/>
                <a:cs typeface="Arial"/>
              </a:rPr>
              <a:t>propriétaire </a:t>
            </a:r>
            <a:r>
              <a:rPr lang="fr-FR" sz="2800" spc="55" dirty="0">
                <a:solidFill>
                  <a:srgbClr val="212121"/>
                </a:solidFill>
                <a:latin typeface="Arial"/>
                <a:cs typeface="Arial"/>
              </a:rPr>
              <a:t>des </a:t>
            </a:r>
            <a:r>
              <a:rPr lang="fr-FR" sz="2800" spc="45" dirty="0">
                <a:solidFill>
                  <a:srgbClr val="212121"/>
                </a:solidFill>
                <a:latin typeface="Arial"/>
                <a:cs typeface="Arial"/>
              </a:rPr>
              <a:t>ressources</a:t>
            </a:r>
            <a:r>
              <a:rPr lang="fr-FR" sz="2800" spc="105" dirty="0">
                <a:solidFill>
                  <a:srgbClr val="212121"/>
                </a:solidFill>
                <a:latin typeface="Arial"/>
                <a:cs typeface="Arial"/>
              </a:rPr>
              <a:t> </a:t>
            </a:r>
            <a:r>
              <a:rPr lang="fr-FR" sz="2800" spc="50" dirty="0">
                <a:solidFill>
                  <a:srgbClr val="212121"/>
                </a:solidFill>
                <a:latin typeface="Arial"/>
                <a:cs typeface="Arial"/>
              </a:rPr>
              <a:t>partagées.</a:t>
            </a:r>
            <a:endParaRPr lang="fr-FR" sz="2800" dirty="0">
              <a:latin typeface="Arial"/>
              <a:cs typeface="Arial"/>
            </a:endParaRPr>
          </a:p>
        </p:txBody>
      </p:sp>
      <p:sp>
        <p:nvSpPr>
          <p:cNvPr id="4" name="Espace réservé du pied de page 3">
            <a:extLst>
              <a:ext uri="{FF2B5EF4-FFF2-40B4-BE49-F238E27FC236}">
                <a16:creationId xmlns:a16="http://schemas.microsoft.com/office/drawing/2014/main" id="{0A334E6E-42D4-4880-0178-992814F3C88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4FB26A49-49C1-BDA3-85D5-24A31CB8E789}"/>
              </a:ext>
            </a:extLst>
          </p:cNvPr>
          <p:cNvSpPr>
            <a:spLocks noGrp="1"/>
          </p:cNvSpPr>
          <p:nvPr>
            <p:ph type="sldNum" sz="quarter" idx="12"/>
          </p:nvPr>
        </p:nvSpPr>
        <p:spPr/>
        <p:txBody>
          <a:bodyPr/>
          <a:lstStyle/>
          <a:p>
            <a:fld id="{B82CCC60-E8CD-4174-8B1A-7DF615B22EEF}" type="slidenum">
              <a:rPr lang="en-US" smtClean="0"/>
              <a:pPr/>
              <a:t>31</a:t>
            </a:fld>
            <a:endParaRPr lang="en-US"/>
          </a:p>
        </p:txBody>
      </p:sp>
    </p:spTree>
    <p:extLst>
      <p:ext uri="{BB962C8B-B14F-4D97-AF65-F5344CB8AC3E}">
        <p14:creationId xmlns:p14="http://schemas.microsoft.com/office/powerpoint/2010/main" val="2855214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E6296F4-9883-308F-87CF-739C3728BA02}"/>
              </a:ext>
            </a:extLst>
          </p:cNvPr>
          <p:cNvSpPr>
            <a:spLocks noGrp="1"/>
          </p:cNvSpPr>
          <p:nvPr>
            <p:ph type="title"/>
          </p:nvPr>
        </p:nvSpPr>
        <p:spPr/>
        <p:txBody>
          <a:bodyPr>
            <a:normAutofit/>
          </a:bodyPr>
          <a:lstStyle/>
          <a:p>
            <a:r>
              <a:rPr lang="fr-FR" sz="2000" spc="-15" dirty="0">
                <a:latin typeface="Arial Black"/>
                <a:cs typeface="Arial Black"/>
              </a:rPr>
              <a:t>Cloud </a:t>
            </a:r>
            <a:r>
              <a:rPr lang="fr-FR" sz="2000" dirty="0">
                <a:latin typeface="Arial Black"/>
                <a:cs typeface="Arial Black"/>
              </a:rPr>
              <a:t>communautaire : </a:t>
            </a:r>
            <a:r>
              <a:rPr lang="fr-FR" sz="2000" spc="-10" dirty="0">
                <a:latin typeface="Arial Black"/>
                <a:cs typeface="Arial Black"/>
              </a:rPr>
              <a:t>Considérations </a:t>
            </a:r>
            <a:r>
              <a:rPr lang="fr-FR" sz="2000" dirty="0">
                <a:latin typeface="Arial Black"/>
                <a:cs typeface="Arial Black"/>
              </a:rPr>
              <a:t>de</a:t>
            </a:r>
            <a:r>
              <a:rPr lang="fr-FR" sz="2000" spc="-100" dirty="0">
                <a:latin typeface="Arial Black"/>
                <a:cs typeface="Arial Black"/>
              </a:rPr>
              <a:t> </a:t>
            </a:r>
            <a:r>
              <a:rPr lang="fr-FR" sz="2000" spc="-5" dirty="0">
                <a:latin typeface="Arial Black"/>
                <a:cs typeface="Arial Black"/>
              </a:rPr>
              <a:t>sécurité</a:t>
            </a:r>
            <a:endParaRPr lang="fr-FR" sz="2000" dirty="0"/>
          </a:p>
        </p:txBody>
      </p:sp>
      <p:sp>
        <p:nvSpPr>
          <p:cNvPr id="3" name="Espace réservé du contenu 2">
            <a:extLst>
              <a:ext uri="{FF2B5EF4-FFF2-40B4-BE49-F238E27FC236}">
                <a16:creationId xmlns:a16="http://schemas.microsoft.com/office/drawing/2014/main" id="{BE5E74F5-4580-2C8C-D8F7-D87EADC0DBE1}"/>
              </a:ext>
            </a:extLst>
          </p:cNvPr>
          <p:cNvSpPr>
            <a:spLocks noGrp="1"/>
          </p:cNvSpPr>
          <p:nvPr>
            <p:ph idx="1"/>
          </p:nvPr>
        </p:nvSpPr>
        <p:spPr>
          <a:xfrm>
            <a:off x="448966" y="1960929"/>
            <a:ext cx="8246070" cy="3080178"/>
          </a:xfrm>
        </p:spPr>
        <p:txBody>
          <a:bodyPr>
            <a:normAutofit fontScale="47500" lnSpcReduction="20000"/>
          </a:bodyPr>
          <a:lstStyle/>
          <a:p>
            <a:pPr marL="598805" indent="-252095" algn="just">
              <a:lnSpc>
                <a:spcPct val="120000"/>
              </a:lnSpc>
              <a:buChar char="•"/>
              <a:tabLst>
                <a:tab pos="599440" algn="l"/>
              </a:tabLst>
            </a:pPr>
            <a:r>
              <a:rPr lang="fr-FR" sz="2800" spc="50" dirty="0">
                <a:solidFill>
                  <a:srgbClr val="0A5D17"/>
                </a:solidFill>
                <a:latin typeface="Arial"/>
                <a:cs typeface="Arial"/>
              </a:rPr>
              <a:t>Sécurité </a:t>
            </a:r>
            <a:r>
              <a:rPr lang="fr-FR" sz="2800" spc="55" dirty="0">
                <a:solidFill>
                  <a:srgbClr val="0A5D17"/>
                </a:solidFill>
                <a:latin typeface="Arial"/>
                <a:cs typeface="Arial"/>
              </a:rPr>
              <a:t>des</a:t>
            </a:r>
            <a:r>
              <a:rPr lang="fr-FR" sz="2800" spc="65" dirty="0">
                <a:solidFill>
                  <a:srgbClr val="0A5D17"/>
                </a:solidFill>
                <a:latin typeface="Arial"/>
                <a:cs typeface="Arial"/>
              </a:rPr>
              <a:t> </a:t>
            </a:r>
            <a:r>
              <a:rPr lang="fr-FR" sz="2800" spc="55" dirty="0">
                <a:solidFill>
                  <a:srgbClr val="0A5D17"/>
                </a:solidFill>
                <a:latin typeface="Arial"/>
                <a:cs typeface="Arial"/>
              </a:rPr>
              <a:t>données</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145" dirty="0">
                <a:solidFill>
                  <a:srgbClr val="212121"/>
                </a:solidFill>
                <a:latin typeface="Arial"/>
                <a:cs typeface="Arial"/>
              </a:rPr>
              <a:t>Tous </a:t>
            </a:r>
            <a:r>
              <a:rPr lang="fr-FR" sz="2800" spc="20" dirty="0">
                <a:solidFill>
                  <a:srgbClr val="212121"/>
                </a:solidFill>
                <a:latin typeface="Arial"/>
                <a:cs typeface="Arial"/>
              </a:rPr>
              <a:t>les </a:t>
            </a:r>
            <a:r>
              <a:rPr lang="fr-FR" sz="2800" spc="60" dirty="0">
                <a:solidFill>
                  <a:srgbClr val="212121"/>
                </a:solidFill>
                <a:latin typeface="Arial"/>
                <a:cs typeface="Arial"/>
              </a:rPr>
              <a:t>membres </a:t>
            </a:r>
            <a:r>
              <a:rPr lang="fr-FR" sz="2800" spc="80" dirty="0">
                <a:solidFill>
                  <a:srgbClr val="212121"/>
                </a:solidFill>
                <a:latin typeface="Arial"/>
                <a:cs typeface="Arial"/>
              </a:rPr>
              <a:t>ont </a:t>
            </a:r>
            <a:r>
              <a:rPr lang="fr-FR" sz="2800" spc="75" dirty="0">
                <a:solidFill>
                  <a:srgbClr val="212121"/>
                </a:solidFill>
                <a:latin typeface="Arial"/>
                <a:cs typeface="Arial"/>
              </a:rPr>
              <a:t>accès </a:t>
            </a:r>
            <a:r>
              <a:rPr lang="fr-FR" sz="2800" spc="40" dirty="0">
                <a:solidFill>
                  <a:srgbClr val="212121"/>
                </a:solidFill>
                <a:latin typeface="Arial"/>
                <a:cs typeface="Arial"/>
              </a:rPr>
              <a:t>aux </a:t>
            </a:r>
            <a:r>
              <a:rPr lang="fr-FR" sz="2800" spc="65" dirty="0">
                <a:solidFill>
                  <a:srgbClr val="212121"/>
                </a:solidFill>
                <a:latin typeface="Arial"/>
                <a:cs typeface="Arial"/>
              </a:rPr>
              <a:t>données </a:t>
            </a:r>
            <a:r>
              <a:rPr lang="fr-FR" sz="2800" dirty="0">
                <a:solidFill>
                  <a:srgbClr val="212121"/>
                </a:solidFill>
                <a:latin typeface="Arial"/>
                <a:cs typeface="Arial"/>
              </a:rPr>
              <a:t>: </a:t>
            </a:r>
            <a:r>
              <a:rPr lang="fr-FR" sz="2800" spc="30" dirty="0">
                <a:solidFill>
                  <a:srgbClr val="212121"/>
                </a:solidFill>
                <a:latin typeface="Arial"/>
                <a:cs typeface="Arial"/>
              </a:rPr>
              <a:t>il </a:t>
            </a:r>
            <a:r>
              <a:rPr lang="fr-FR" sz="2800" spc="70" dirty="0">
                <a:solidFill>
                  <a:srgbClr val="212121"/>
                </a:solidFill>
                <a:latin typeface="Arial"/>
                <a:cs typeface="Arial"/>
              </a:rPr>
              <a:t>faut </a:t>
            </a:r>
            <a:r>
              <a:rPr lang="fr-FR" sz="2800" spc="30" dirty="0">
                <a:solidFill>
                  <a:srgbClr val="212121"/>
                </a:solidFill>
                <a:latin typeface="Arial"/>
                <a:cs typeface="Arial"/>
              </a:rPr>
              <a:t>être </a:t>
            </a:r>
            <a:r>
              <a:rPr lang="fr-FR" sz="2800" spc="90" dirty="0">
                <a:solidFill>
                  <a:srgbClr val="212121"/>
                </a:solidFill>
                <a:latin typeface="Arial"/>
                <a:cs typeface="Arial"/>
              </a:rPr>
              <a:t>conscient </a:t>
            </a:r>
            <a:r>
              <a:rPr lang="fr-FR" sz="2800" dirty="0">
                <a:solidFill>
                  <a:srgbClr val="212121"/>
                </a:solidFill>
                <a:latin typeface="Arial"/>
                <a:cs typeface="Arial"/>
              </a:rPr>
              <a:t>à </a:t>
            </a:r>
            <a:r>
              <a:rPr lang="fr-FR" sz="2800" spc="95" dirty="0">
                <a:solidFill>
                  <a:srgbClr val="212121"/>
                </a:solidFill>
                <a:latin typeface="Arial"/>
                <a:cs typeface="Arial"/>
              </a:rPr>
              <a:t>propos</a:t>
            </a:r>
            <a:r>
              <a:rPr lang="fr-FR" sz="2800" spc="-445" dirty="0">
                <a:solidFill>
                  <a:srgbClr val="212121"/>
                </a:solidFill>
                <a:latin typeface="Arial"/>
                <a:cs typeface="Arial"/>
              </a:rPr>
              <a:t> </a:t>
            </a:r>
            <a:r>
              <a:rPr lang="fr-FR" sz="2800" spc="45" dirty="0">
                <a:solidFill>
                  <a:srgbClr val="212121"/>
                </a:solidFill>
                <a:latin typeface="Arial"/>
                <a:cs typeface="Arial"/>
              </a:rPr>
              <a:t>de</a:t>
            </a:r>
            <a:r>
              <a:rPr lang="fr-FR" dirty="0">
                <a:latin typeface="Arial"/>
                <a:cs typeface="Arial"/>
              </a:rPr>
              <a:t> </a:t>
            </a:r>
            <a:r>
              <a:rPr lang="fr-FR" sz="2800" spc="80" dirty="0">
                <a:solidFill>
                  <a:srgbClr val="212121"/>
                </a:solidFill>
                <a:latin typeface="Arial"/>
                <a:cs typeface="Arial"/>
              </a:rPr>
              <a:t>stockage </a:t>
            </a:r>
            <a:r>
              <a:rPr lang="fr-FR" sz="2800" spc="55" dirty="0">
                <a:solidFill>
                  <a:srgbClr val="212121"/>
                </a:solidFill>
                <a:latin typeface="Arial"/>
                <a:cs typeface="Arial"/>
              </a:rPr>
              <a:t>des données </a:t>
            </a:r>
            <a:r>
              <a:rPr lang="fr-FR" sz="2800" spc="60" dirty="0">
                <a:solidFill>
                  <a:srgbClr val="212121"/>
                </a:solidFill>
                <a:latin typeface="Arial"/>
                <a:cs typeface="Arial"/>
              </a:rPr>
              <a:t>restreintes/sensible </a:t>
            </a:r>
            <a:r>
              <a:rPr lang="fr-FR" sz="2800" spc="50" dirty="0">
                <a:solidFill>
                  <a:srgbClr val="212121"/>
                </a:solidFill>
                <a:latin typeface="Arial"/>
                <a:cs typeface="Arial"/>
              </a:rPr>
              <a:t>dans </a:t>
            </a:r>
            <a:r>
              <a:rPr lang="fr-FR" sz="2800" spc="15" dirty="0">
                <a:solidFill>
                  <a:srgbClr val="212121"/>
                </a:solidFill>
                <a:latin typeface="Arial"/>
                <a:cs typeface="Arial"/>
              </a:rPr>
              <a:t>le</a:t>
            </a:r>
            <a:r>
              <a:rPr lang="fr-FR" sz="2800" spc="125" dirty="0">
                <a:solidFill>
                  <a:srgbClr val="212121"/>
                </a:solidFill>
                <a:latin typeface="Arial"/>
                <a:cs typeface="Arial"/>
              </a:rPr>
              <a:t> </a:t>
            </a:r>
            <a:r>
              <a:rPr lang="fr-FR" sz="2800" spc="50" dirty="0">
                <a:solidFill>
                  <a:srgbClr val="212121"/>
                </a:solidFill>
                <a:latin typeface="Arial"/>
                <a:cs typeface="Arial"/>
              </a:rPr>
              <a:t>système.</a:t>
            </a:r>
            <a:endParaRPr lang="fr-FR" sz="2800" dirty="0">
              <a:latin typeface="Arial"/>
              <a:cs typeface="Arial"/>
            </a:endParaRPr>
          </a:p>
          <a:p>
            <a:pPr algn="just">
              <a:lnSpc>
                <a:spcPct val="120000"/>
              </a:lnSpc>
              <a:spcBef>
                <a:spcPts val="50"/>
              </a:spcBef>
            </a:pPr>
            <a:endParaRPr lang="fr-FR" sz="3600" dirty="0">
              <a:latin typeface="Arial"/>
              <a:cs typeface="Arial"/>
            </a:endParaRPr>
          </a:p>
          <a:p>
            <a:pPr marL="598805" indent="-252095" algn="just">
              <a:lnSpc>
                <a:spcPct val="120000"/>
              </a:lnSpc>
              <a:buChar char="•"/>
              <a:tabLst>
                <a:tab pos="599440" algn="l"/>
              </a:tabLst>
            </a:pPr>
            <a:r>
              <a:rPr lang="fr-FR" sz="2800" spc="75" dirty="0">
                <a:solidFill>
                  <a:srgbClr val="0A5D17"/>
                </a:solidFill>
                <a:latin typeface="Arial"/>
                <a:cs typeface="Arial"/>
              </a:rPr>
              <a:t>Conformité</a:t>
            </a:r>
            <a:endParaRPr lang="fr-FR" spc="75" dirty="0">
              <a:latin typeface="Arial"/>
              <a:cs typeface="Arial"/>
            </a:endParaRPr>
          </a:p>
          <a:p>
            <a:pPr marL="346710" indent="0" algn="just">
              <a:lnSpc>
                <a:spcPct val="120000"/>
              </a:lnSpc>
              <a:buNone/>
              <a:tabLst>
                <a:tab pos="599440" algn="l"/>
              </a:tabLst>
            </a:pPr>
            <a:r>
              <a:rPr lang="fr-FR" sz="2800" dirty="0">
                <a:solidFill>
                  <a:srgbClr val="212121"/>
                </a:solidFill>
                <a:latin typeface="Arial"/>
                <a:cs typeface="Arial"/>
              </a:rPr>
              <a:t>- </a:t>
            </a:r>
            <a:r>
              <a:rPr lang="fr-FR" sz="2800" spc="-145" dirty="0">
                <a:solidFill>
                  <a:srgbClr val="212121"/>
                </a:solidFill>
                <a:latin typeface="Arial"/>
                <a:cs typeface="Arial"/>
              </a:rPr>
              <a:t>Tous </a:t>
            </a:r>
            <a:r>
              <a:rPr lang="fr-FR" sz="2800" spc="20" dirty="0">
                <a:solidFill>
                  <a:srgbClr val="212121"/>
                </a:solidFill>
                <a:latin typeface="Arial"/>
                <a:cs typeface="Arial"/>
              </a:rPr>
              <a:t>les </a:t>
            </a:r>
            <a:r>
              <a:rPr lang="fr-FR" sz="2800" spc="60" dirty="0">
                <a:solidFill>
                  <a:srgbClr val="212121"/>
                </a:solidFill>
                <a:latin typeface="Arial"/>
                <a:cs typeface="Arial"/>
              </a:rPr>
              <a:t>membres </a:t>
            </a:r>
            <a:r>
              <a:rPr lang="fr-FR" sz="2800" spc="75" dirty="0">
                <a:solidFill>
                  <a:srgbClr val="212121"/>
                </a:solidFill>
                <a:latin typeface="Arial"/>
                <a:cs typeface="Arial"/>
              </a:rPr>
              <a:t>sont </a:t>
            </a:r>
            <a:r>
              <a:rPr lang="fr-FR" sz="2800" spc="70" dirty="0">
                <a:solidFill>
                  <a:srgbClr val="212121"/>
                </a:solidFill>
                <a:latin typeface="Arial"/>
                <a:cs typeface="Arial"/>
              </a:rPr>
              <a:t>soumis </a:t>
            </a:r>
            <a:r>
              <a:rPr lang="fr-FR" sz="2800" dirty="0">
                <a:solidFill>
                  <a:srgbClr val="212121"/>
                </a:solidFill>
                <a:latin typeface="Arial"/>
                <a:cs typeface="Arial"/>
              </a:rPr>
              <a:t>à </a:t>
            </a:r>
            <a:r>
              <a:rPr lang="fr-FR" sz="2800" spc="85" dirty="0">
                <a:solidFill>
                  <a:srgbClr val="212121"/>
                </a:solidFill>
                <a:latin typeface="Arial"/>
                <a:cs typeface="Arial"/>
              </a:rPr>
              <a:t>toutes </a:t>
            </a:r>
            <a:r>
              <a:rPr lang="fr-FR" sz="2800" spc="20" dirty="0">
                <a:solidFill>
                  <a:srgbClr val="212121"/>
                </a:solidFill>
                <a:latin typeface="Arial"/>
                <a:cs typeface="Arial"/>
              </a:rPr>
              <a:t>les </a:t>
            </a:r>
            <a:r>
              <a:rPr lang="fr-FR" sz="2800" spc="60" dirty="0">
                <a:solidFill>
                  <a:srgbClr val="212121"/>
                </a:solidFill>
                <a:latin typeface="Arial"/>
                <a:cs typeface="Arial"/>
              </a:rPr>
              <a:t>réglementations </a:t>
            </a:r>
            <a:r>
              <a:rPr lang="fr-FR" sz="2800" spc="45" dirty="0">
                <a:solidFill>
                  <a:srgbClr val="212121"/>
                </a:solidFill>
                <a:latin typeface="Arial"/>
                <a:cs typeface="Arial"/>
              </a:rPr>
              <a:t>de</a:t>
            </a:r>
            <a:r>
              <a:rPr lang="fr-FR" sz="2800" spc="-350" dirty="0">
                <a:solidFill>
                  <a:srgbClr val="212121"/>
                </a:solidFill>
                <a:latin typeface="Arial"/>
                <a:cs typeface="Arial"/>
              </a:rPr>
              <a:t> </a:t>
            </a:r>
            <a:r>
              <a:rPr lang="fr-FR" sz="2800" spc="90" dirty="0">
                <a:solidFill>
                  <a:srgbClr val="212121"/>
                </a:solidFill>
                <a:latin typeface="Arial"/>
                <a:cs typeface="Arial"/>
              </a:rPr>
              <a:t>conformité</a:t>
            </a:r>
            <a:r>
              <a:rPr lang="fr-FR" dirty="0">
                <a:latin typeface="Arial"/>
                <a:cs typeface="Arial"/>
              </a:rPr>
              <a:t> </a:t>
            </a:r>
            <a:r>
              <a:rPr lang="fr-FR" sz="2800" spc="50" dirty="0">
                <a:solidFill>
                  <a:srgbClr val="212121"/>
                </a:solidFill>
                <a:latin typeface="Arial"/>
                <a:cs typeface="Arial"/>
              </a:rPr>
              <a:t>auxquelles </a:t>
            </a:r>
            <a:r>
              <a:rPr lang="fr-FR" sz="2800" spc="65" dirty="0">
                <a:solidFill>
                  <a:srgbClr val="212121"/>
                </a:solidFill>
                <a:latin typeface="Arial"/>
                <a:cs typeface="Arial"/>
              </a:rPr>
              <a:t>chaque </a:t>
            </a:r>
            <a:r>
              <a:rPr lang="fr-FR" sz="2800" spc="60" dirty="0">
                <a:solidFill>
                  <a:srgbClr val="212121"/>
                </a:solidFill>
                <a:latin typeface="Arial"/>
                <a:cs typeface="Arial"/>
              </a:rPr>
              <a:t>organisation </a:t>
            </a:r>
            <a:r>
              <a:rPr lang="fr-FR" sz="2800" spc="85" dirty="0">
                <a:solidFill>
                  <a:srgbClr val="212121"/>
                </a:solidFill>
                <a:latin typeface="Arial"/>
                <a:cs typeface="Arial"/>
              </a:rPr>
              <a:t>participante </a:t>
            </a:r>
            <a:r>
              <a:rPr lang="fr-FR" sz="2800" spc="55" dirty="0">
                <a:solidFill>
                  <a:srgbClr val="212121"/>
                </a:solidFill>
                <a:latin typeface="Arial"/>
                <a:cs typeface="Arial"/>
              </a:rPr>
              <a:t>est</a:t>
            </a:r>
            <a:r>
              <a:rPr lang="fr-FR" sz="2800" spc="200" dirty="0">
                <a:solidFill>
                  <a:srgbClr val="212121"/>
                </a:solidFill>
                <a:latin typeface="Arial"/>
                <a:cs typeface="Arial"/>
              </a:rPr>
              <a:t> </a:t>
            </a:r>
            <a:r>
              <a:rPr lang="fr-FR" sz="2800" spc="50" dirty="0">
                <a:solidFill>
                  <a:srgbClr val="212121"/>
                </a:solidFill>
                <a:latin typeface="Arial"/>
                <a:cs typeface="Arial"/>
              </a:rPr>
              <a:t>soumise.</a:t>
            </a:r>
            <a:endParaRPr lang="fr-FR" sz="2800" dirty="0">
              <a:latin typeface="Arial"/>
              <a:cs typeface="Arial"/>
            </a:endParaRPr>
          </a:p>
          <a:p>
            <a:pPr marL="756285" marR="5080" indent="0" algn="just">
              <a:lnSpc>
                <a:spcPct val="120000"/>
              </a:lnSpc>
              <a:spcBef>
                <a:spcPts val="135"/>
              </a:spcBef>
              <a:buNone/>
            </a:pPr>
            <a:r>
              <a:rPr lang="fr-FR" sz="4400" spc="37" baseline="2347" dirty="0">
                <a:solidFill>
                  <a:srgbClr val="212121"/>
                </a:solidFill>
                <a:latin typeface="AoyagiKouzanFontT"/>
                <a:cs typeface="AoyagiKouzanFontT"/>
              </a:rPr>
              <a:t>➡</a:t>
            </a:r>
            <a:r>
              <a:rPr lang="fr-FR" sz="2800" spc="25" dirty="0">
                <a:solidFill>
                  <a:srgbClr val="212121"/>
                </a:solidFill>
                <a:latin typeface="Arial"/>
                <a:cs typeface="Arial"/>
              </a:rPr>
              <a:t>Certains </a:t>
            </a:r>
            <a:r>
              <a:rPr lang="fr-FR" sz="2800" spc="60" dirty="0">
                <a:solidFill>
                  <a:srgbClr val="212121"/>
                </a:solidFill>
                <a:latin typeface="Arial"/>
                <a:cs typeface="Arial"/>
              </a:rPr>
              <a:t>membres </a:t>
            </a:r>
            <a:r>
              <a:rPr lang="fr-FR" sz="2800" spc="70" dirty="0">
                <a:solidFill>
                  <a:srgbClr val="212121"/>
                </a:solidFill>
                <a:latin typeface="Arial"/>
                <a:cs typeface="Arial"/>
              </a:rPr>
              <a:t>peuvent </a:t>
            </a:r>
            <a:r>
              <a:rPr lang="fr-FR" sz="2800" spc="30" dirty="0">
                <a:solidFill>
                  <a:srgbClr val="212121"/>
                </a:solidFill>
                <a:latin typeface="Arial"/>
                <a:cs typeface="Arial"/>
              </a:rPr>
              <a:t>être </a:t>
            </a:r>
            <a:r>
              <a:rPr lang="fr-FR" sz="2800" spc="70" dirty="0">
                <a:solidFill>
                  <a:srgbClr val="212121"/>
                </a:solidFill>
                <a:latin typeface="Arial"/>
                <a:cs typeface="Arial"/>
              </a:rPr>
              <a:t>soumis </a:t>
            </a:r>
            <a:r>
              <a:rPr lang="fr-FR" sz="2800" dirty="0">
                <a:solidFill>
                  <a:srgbClr val="212121"/>
                </a:solidFill>
                <a:latin typeface="Arial"/>
                <a:cs typeface="Arial"/>
              </a:rPr>
              <a:t>à </a:t>
            </a:r>
            <a:r>
              <a:rPr lang="fr-FR" sz="2800" spc="55" dirty="0">
                <a:solidFill>
                  <a:srgbClr val="212121"/>
                </a:solidFill>
                <a:latin typeface="Arial"/>
                <a:cs typeface="Arial"/>
              </a:rPr>
              <a:t>des </a:t>
            </a:r>
            <a:r>
              <a:rPr lang="fr-FR" sz="2800" spc="60" dirty="0">
                <a:solidFill>
                  <a:srgbClr val="212121"/>
                </a:solidFill>
                <a:latin typeface="Arial"/>
                <a:cs typeface="Arial"/>
              </a:rPr>
              <a:t>réglementations </a:t>
            </a:r>
            <a:r>
              <a:rPr lang="fr-FR" sz="2800" spc="80" dirty="0">
                <a:solidFill>
                  <a:srgbClr val="212121"/>
                </a:solidFill>
                <a:latin typeface="Arial"/>
                <a:cs typeface="Arial"/>
              </a:rPr>
              <a:t>qu’ils </a:t>
            </a:r>
            <a:r>
              <a:rPr lang="fr-FR" sz="2800" spc="95" dirty="0">
                <a:solidFill>
                  <a:srgbClr val="212121"/>
                </a:solidFill>
                <a:latin typeface="Arial"/>
                <a:cs typeface="Arial"/>
              </a:rPr>
              <a:t>ne connaissent  </a:t>
            </a:r>
            <a:r>
              <a:rPr lang="fr-FR" sz="2800" spc="40" dirty="0">
                <a:solidFill>
                  <a:srgbClr val="212121"/>
                </a:solidFill>
                <a:latin typeface="Arial"/>
                <a:cs typeface="Arial"/>
              </a:rPr>
              <a:t>pas.</a:t>
            </a:r>
            <a:endParaRPr lang="fr-FR" sz="3200" dirty="0">
              <a:latin typeface="Arial"/>
              <a:cs typeface="Arial"/>
            </a:endParaRPr>
          </a:p>
          <a:p>
            <a:pPr marL="598805" indent="-252095" algn="just">
              <a:lnSpc>
                <a:spcPct val="120000"/>
              </a:lnSpc>
              <a:buChar char="•"/>
              <a:tabLst>
                <a:tab pos="599440" algn="l"/>
              </a:tabLst>
            </a:pPr>
            <a:r>
              <a:rPr lang="fr-FR" sz="2800" spc="70" dirty="0">
                <a:solidFill>
                  <a:srgbClr val="0A5D17"/>
                </a:solidFill>
                <a:latin typeface="Arial"/>
                <a:cs typeface="Arial"/>
              </a:rPr>
              <a:t>Audit</a:t>
            </a:r>
            <a:endParaRPr lang="fr-FR" sz="2800" dirty="0">
              <a:latin typeface="Arial"/>
              <a:cs typeface="Arial"/>
            </a:endParaRPr>
          </a:p>
          <a:p>
            <a:pPr marL="756285" marR="1093470" indent="0" algn="just">
              <a:lnSpc>
                <a:spcPct val="120000"/>
              </a:lnSpc>
              <a:buNone/>
            </a:pPr>
            <a:r>
              <a:rPr lang="fr-FR" sz="2800" dirty="0">
                <a:solidFill>
                  <a:srgbClr val="212121"/>
                </a:solidFill>
                <a:latin typeface="Arial"/>
                <a:cs typeface="Arial"/>
              </a:rPr>
              <a:t>- </a:t>
            </a:r>
            <a:r>
              <a:rPr lang="fr-FR" sz="2800" spc="-145" dirty="0">
                <a:solidFill>
                  <a:srgbClr val="212121"/>
                </a:solidFill>
                <a:latin typeface="Arial"/>
                <a:cs typeface="Arial"/>
              </a:rPr>
              <a:t>Tous </a:t>
            </a:r>
            <a:r>
              <a:rPr lang="fr-FR" sz="2800" spc="20" dirty="0">
                <a:solidFill>
                  <a:srgbClr val="212121"/>
                </a:solidFill>
                <a:latin typeface="Arial"/>
                <a:cs typeface="Arial"/>
              </a:rPr>
              <a:t>les </a:t>
            </a:r>
            <a:r>
              <a:rPr lang="fr-FR" sz="2800" spc="60" dirty="0">
                <a:solidFill>
                  <a:srgbClr val="212121"/>
                </a:solidFill>
                <a:latin typeface="Arial"/>
                <a:cs typeface="Arial"/>
              </a:rPr>
              <a:t>membres </a:t>
            </a:r>
            <a:r>
              <a:rPr lang="fr-FR" sz="2800" spc="80" dirty="0">
                <a:solidFill>
                  <a:srgbClr val="212121"/>
                </a:solidFill>
                <a:latin typeface="Arial"/>
                <a:cs typeface="Arial"/>
              </a:rPr>
              <a:t>ont </a:t>
            </a:r>
            <a:r>
              <a:rPr lang="fr-FR" sz="2800" spc="55" dirty="0">
                <a:solidFill>
                  <a:srgbClr val="212121"/>
                </a:solidFill>
                <a:latin typeface="Arial"/>
                <a:cs typeface="Arial"/>
              </a:rPr>
              <a:t>des </a:t>
            </a:r>
            <a:r>
              <a:rPr lang="fr-FR" sz="2800" spc="80" dirty="0">
                <a:solidFill>
                  <a:srgbClr val="212121"/>
                </a:solidFill>
                <a:latin typeface="Arial"/>
                <a:cs typeface="Arial"/>
              </a:rPr>
              <a:t>capacités </a:t>
            </a:r>
            <a:r>
              <a:rPr lang="fr-FR" sz="2800" spc="120" dirty="0">
                <a:solidFill>
                  <a:srgbClr val="212121"/>
                </a:solidFill>
                <a:latin typeface="Arial"/>
                <a:cs typeface="Arial"/>
              </a:rPr>
              <a:t>d'audit </a:t>
            </a:r>
            <a:r>
              <a:rPr lang="fr-FR" sz="2800" spc="90" dirty="0">
                <a:solidFill>
                  <a:srgbClr val="212121"/>
                </a:solidFill>
                <a:latin typeface="Arial"/>
                <a:cs typeface="Arial"/>
              </a:rPr>
              <a:t>complètes </a:t>
            </a:r>
            <a:r>
              <a:rPr lang="fr-FR" sz="2800" spc="80" dirty="0">
                <a:solidFill>
                  <a:srgbClr val="212121"/>
                </a:solidFill>
                <a:latin typeface="Arial"/>
                <a:cs typeface="Arial"/>
              </a:rPr>
              <a:t>pour </a:t>
            </a:r>
            <a:r>
              <a:rPr lang="fr-FR" sz="2800" spc="50" dirty="0">
                <a:solidFill>
                  <a:srgbClr val="212121"/>
                </a:solidFill>
                <a:latin typeface="Arial"/>
                <a:cs typeface="Arial"/>
              </a:rPr>
              <a:t>effectuer</a:t>
            </a:r>
            <a:r>
              <a:rPr lang="fr-FR" sz="2800" spc="-245" dirty="0">
                <a:solidFill>
                  <a:srgbClr val="212121"/>
                </a:solidFill>
                <a:latin typeface="Arial"/>
                <a:cs typeface="Arial"/>
              </a:rPr>
              <a:t> </a:t>
            </a:r>
            <a:r>
              <a:rPr lang="fr-FR" sz="2800" spc="105" dirty="0">
                <a:solidFill>
                  <a:srgbClr val="212121"/>
                </a:solidFill>
                <a:latin typeface="Arial"/>
                <a:cs typeface="Arial"/>
              </a:rPr>
              <a:t>n'importe  </a:t>
            </a:r>
            <a:r>
              <a:rPr lang="fr-FR" sz="2800" spc="50" dirty="0">
                <a:solidFill>
                  <a:srgbClr val="212121"/>
                </a:solidFill>
                <a:latin typeface="Arial"/>
                <a:cs typeface="Arial"/>
              </a:rPr>
              <a:t>quelle</a:t>
            </a:r>
            <a:r>
              <a:rPr lang="fr-FR" spc="40" dirty="0">
                <a:solidFill>
                  <a:srgbClr val="212121"/>
                </a:solidFill>
                <a:latin typeface="Arial"/>
                <a:cs typeface="Arial"/>
              </a:rPr>
              <a:t> </a:t>
            </a:r>
            <a:r>
              <a:rPr lang="fr-FR" sz="2800" spc="75" dirty="0">
                <a:solidFill>
                  <a:srgbClr val="212121"/>
                </a:solidFill>
                <a:latin typeface="Arial"/>
                <a:cs typeface="Arial"/>
              </a:rPr>
              <a:t>action.</a:t>
            </a:r>
            <a:endParaRPr lang="fr-FR" sz="2800" dirty="0">
              <a:latin typeface="Arial"/>
              <a:cs typeface="Arial"/>
            </a:endParaRPr>
          </a:p>
          <a:p>
            <a:pPr marL="413385" indent="0" algn="just">
              <a:lnSpc>
                <a:spcPct val="120000"/>
              </a:lnSpc>
              <a:spcBef>
                <a:spcPts val="150"/>
              </a:spcBef>
              <a:buNone/>
            </a:pPr>
            <a:r>
              <a:rPr lang="fr-FR" sz="4400" baseline="2347" dirty="0">
                <a:solidFill>
                  <a:srgbClr val="212121"/>
                </a:solidFill>
                <a:latin typeface="AoyagiKouzanFontT"/>
                <a:cs typeface="AoyagiKouzanFontT"/>
              </a:rPr>
              <a:t>➡ </a:t>
            </a:r>
            <a:r>
              <a:rPr lang="fr-FR" sz="2800" spc="55" dirty="0">
                <a:solidFill>
                  <a:srgbClr val="212121"/>
                </a:solidFill>
                <a:latin typeface="Arial"/>
                <a:cs typeface="Arial"/>
              </a:rPr>
              <a:t>Besoin </a:t>
            </a:r>
            <a:r>
              <a:rPr lang="fr-FR" sz="2800" spc="45" dirty="0">
                <a:solidFill>
                  <a:srgbClr val="212121"/>
                </a:solidFill>
                <a:latin typeface="Arial"/>
                <a:cs typeface="Arial"/>
              </a:rPr>
              <a:t>de </a:t>
            </a:r>
            <a:r>
              <a:rPr lang="fr-FR" sz="2800" spc="55" dirty="0">
                <a:solidFill>
                  <a:srgbClr val="212121"/>
                </a:solidFill>
                <a:latin typeface="Arial"/>
                <a:cs typeface="Arial"/>
              </a:rPr>
              <a:t>trouver </a:t>
            </a:r>
            <a:r>
              <a:rPr lang="fr-FR" sz="2800" spc="30" dirty="0">
                <a:solidFill>
                  <a:srgbClr val="212121"/>
                </a:solidFill>
                <a:latin typeface="Arial"/>
                <a:cs typeface="Arial"/>
              </a:rPr>
              <a:t>un </a:t>
            </a:r>
            <a:r>
              <a:rPr lang="fr-FR" sz="2800" spc="95" dirty="0">
                <a:solidFill>
                  <a:srgbClr val="212121"/>
                </a:solidFill>
                <a:latin typeface="Arial"/>
                <a:cs typeface="Arial"/>
              </a:rPr>
              <a:t>accord </a:t>
            </a:r>
            <a:r>
              <a:rPr lang="fr-FR" sz="2800" spc="35" dirty="0">
                <a:solidFill>
                  <a:srgbClr val="212121"/>
                </a:solidFill>
                <a:latin typeface="Arial"/>
                <a:cs typeface="Arial"/>
              </a:rPr>
              <a:t>entre </a:t>
            </a:r>
            <a:r>
              <a:rPr lang="fr-FR" sz="2800" spc="20" dirty="0">
                <a:solidFill>
                  <a:srgbClr val="212121"/>
                </a:solidFill>
                <a:latin typeface="Arial"/>
                <a:cs typeface="Arial"/>
              </a:rPr>
              <a:t>les </a:t>
            </a:r>
            <a:r>
              <a:rPr lang="fr-FR" sz="2800" spc="60" dirty="0">
                <a:solidFill>
                  <a:srgbClr val="212121"/>
                </a:solidFill>
                <a:latin typeface="Arial"/>
                <a:cs typeface="Arial"/>
              </a:rPr>
              <a:t>membres </a:t>
            </a:r>
            <a:r>
              <a:rPr lang="fr-FR" sz="2800" spc="40" dirty="0">
                <a:solidFill>
                  <a:srgbClr val="212121"/>
                </a:solidFill>
                <a:latin typeface="Arial"/>
                <a:cs typeface="Arial"/>
              </a:rPr>
              <a:t>sur </a:t>
            </a:r>
            <a:r>
              <a:rPr lang="fr-FR" sz="2800" spc="70" dirty="0">
                <a:solidFill>
                  <a:srgbClr val="212121"/>
                </a:solidFill>
                <a:latin typeface="Arial"/>
                <a:cs typeface="Arial"/>
              </a:rPr>
              <a:t>qui </a:t>
            </a:r>
            <a:r>
              <a:rPr lang="fr-FR" sz="2800" spc="60" dirty="0">
                <a:solidFill>
                  <a:srgbClr val="212121"/>
                </a:solidFill>
                <a:latin typeface="Arial"/>
                <a:cs typeface="Arial"/>
              </a:rPr>
              <a:t>exécutera </a:t>
            </a:r>
            <a:r>
              <a:rPr lang="fr-FR" sz="2800" spc="50" dirty="0">
                <a:solidFill>
                  <a:srgbClr val="212121"/>
                </a:solidFill>
                <a:latin typeface="Arial"/>
                <a:cs typeface="Arial"/>
              </a:rPr>
              <a:t>quelles</a:t>
            </a:r>
            <a:r>
              <a:rPr lang="fr-FR" sz="2800" spc="-114" dirty="0">
                <a:solidFill>
                  <a:srgbClr val="212121"/>
                </a:solidFill>
                <a:latin typeface="Arial"/>
                <a:cs typeface="Arial"/>
              </a:rPr>
              <a:t> </a:t>
            </a:r>
            <a:r>
              <a:rPr lang="fr-FR" sz="2800" spc="65" dirty="0">
                <a:solidFill>
                  <a:srgbClr val="212121"/>
                </a:solidFill>
                <a:latin typeface="Arial"/>
                <a:cs typeface="Arial"/>
              </a:rPr>
              <a:t>activités.</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0545A2E6-5AD8-4EA4-4FB1-C33C251769FE}"/>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C46DCA19-FAFD-B795-B6B2-174774071FC2}"/>
              </a:ext>
            </a:extLst>
          </p:cNvPr>
          <p:cNvSpPr>
            <a:spLocks noGrp="1"/>
          </p:cNvSpPr>
          <p:nvPr>
            <p:ph type="sldNum" sz="quarter" idx="12"/>
          </p:nvPr>
        </p:nvSpPr>
        <p:spPr/>
        <p:txBody>
          <a:bodyPr/>
          <a:lstStyle/>
          <a:p>
            <a:fld id="{B82CCC60-E8CD-4174-8B1A-7DF615B22EEF}" type="slidenum">
              <a:rPr lang="en-US" smtClean="0"/>
              <a:pPr/>
              <a:t>32</a:t>
            </a:fld>
            <a:endParaRPr lang="en-US"/>
          </a:p>
        </p:txBody>
      </p:sp>
    </p:spTree>
    <p:extLst>
      <p:ext uri="{BB962C8B-B14F-4D97-AF65-F5344CB8AC3E}">
        <p14:creationId xmlns:p14="http://schemas.microsoft.com/office/powerpoint/2010/main" val="3170536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FE7524-7F40-0644-FD11-7EE4E97D2BB7}"/>
              </a:ext>
            </a:extLst>
          </p:cNvPr>
          <p:cNvSpPr>
            <a:spLocks noGrp="1"/>
          </p:cNvSpPr>
          <p:nvPr>
            <p:ph type="title"/>
          </p:nvPr>
        </p:nvSpPr>
        <p:spPr/>
        <p:txBody>
          <a:bodyPr>
            <a:normAutofit fontScale="90000"/>
          </a:bodyPr>
          <a:lstStyle/>
          <a:p>
            <a:r>
              <a:rPr lang="fr-FR" sz="3600" spc="-15" dirty="0">
                <a:latin typeface="Arial Black"/>
                <a:cs typeface="Arial Black"/>
              </a:rPr>
              <a:t>Cloud</a:t>
            </a:r>
            <a:r>
              <a:rPr lang="fr-FR" sz="3600" spc="-25" dirty="0">
                <a:latin typeface="Arial Black"/>
                <a:cs typeface="Arial Black"/>
              </a:rPr>
              <a:t> </a:t>
            </a:r>
            <a:r>
              <a:rPr lang="fr-FR" sz="3600" spc="-15" dirty="0">
                <a:latin typeface="Arial Black"/>
                <a:cs typeface="Arial Black"/>
              </a:rPr>
              <a:t>hybride</a:t>
            </a:r>
            <a:endParaRPr lang="fr-FR" dirty="0"/>
          </a:p>
        </p:txBody>
      </p:sp>
      <p:sp>
        <p:nvSpPr>
          <p:cNvPr id="3" name="Espace réservé du contenu 2">
            <a:extLst>
              <a:ext uri="{FF2B5EF4-FFF2-40B4-BE49-F238E27FC236}">
                <a16:creationId xmlns:a16="http://schemas.microsoft.com/office/drawing/2014/main" id="{6043CEC4-72B3-BB25-EF82-F82D3EA16705}"/>
              </a:ext>
            </a:extLst>
          </p:cNvPr>
          <p:cNvSpPr>
            <a:spLocks noGrp="1"/>
          </p:cNvSpPr>
          <p:nvPr>
            <p:ph idx="1"/>
          </p:nvPr>
        </p:nvSpPr>
        <p:spPr>
          <a:xfrm>
            <a:off x="448966" y="1960929"/>
            <a:ext cx="8246070" cy="3054101"/>
          </a:xfrm>
        </p:spPr>
        <p:txBody>
          <a:bodyPr/>
          <a:lstStyle/>
          <a:p>
            <a:pPr algn="just"/>
            <a:r>
              <a:rPr lang="fr-FR" sz="2800" spc="40" dirty="0">
                <a:latin typeface="Arial"/>
                <a:cs typeface="Arial"/>
              </a:rPr>
              <a:t>Environnement </a:t>
            </a:r>
            <a:r>
              <a:rPr lang="fr-FR" sz="2800" spc="10" dirty="0">
                <a:latin typeface="Arial"/>
                <a:cs typeface="Arial"/>
              </a:rPr>
              <a:t>au </a:t>
            </a:r>
            <a:r>
              <a:rPr lang="fr-FR" sz="2800" spc="30" dirty="0">
                <a:latin typeface="Arial"/>
                <a:cs typeface="Arial"/>
              </a:rPr>
              <a:t>sein </a:t>
            </a:r>
            <a:r>
              <a:rPr lang="fr-FR" sz="2800" spc="60" dirty="0">
                <a:latin typeface="Arial"/>
                <a:cs typeface="Arial"/>
              </a:rPr>
              <a:t>du </a:t>
            </a:r>
            <a:r>
              <a:rPr lang="fr-FR" sz="2800" spc="55" dirty="0">
                <a:latin typeface="Arial"/>
                <a:cs typeface="Arial"/>
              </a:rPr>
              <a:t>quel</a:t>
            </a:r>
            <a:r>
              <a:rPr lang="fr-FR" sz="2800" spc="295" dirty="0">
                <a:latin typeface="Arial"/>
                <a:cs typeface="Arial"/>
              </a:rPr>
              <a:t> </a:t>
            </a:r>
            <a:r>
              <a:rPr lang="fr-FR" sz="2800" spc="25" dirty="0">
                <a:latin typeface="Arial"/>
                <a:cs typeface="Arial"/>
              </a:rPr>
              <a:t>une</a:t>
            </a:r>
            <a:r>
              <a:rPr lang="fr-FR" sz="2800" spc="50" dirty="0">
                <a:latin typeface="Arial"/>
                <a:cs typeface="Arial"/>
              </a:rPr>
              <a:t> </a:t>
            </a:r>
            <a:r>
              <a:rPr lang="fr-FR" sz="2800" spc="60" dirty="0">
                <a:latin typeface="Arial"/>
                <a:cs typeface="Arial"/>
              </a:rPr>
              <a:t>organisation	</a:t>
            </a:r>
            <a:r>
              <a:rPr lang="fr-FR" sz="2800" spc="75" dirty="0">
                <a:latin typeface="Arial"/>
                <a:cs typeface="Arial"/>
              </a:rPr>
              <a:t>possède </a:t>
            </a:r>
            <a:r>
              <a:rPr lang="fr-FR" sz="2800" spc="25" dirty="0">
                <a:latin typeface="Arial"/>
                <a:cs typeface="Arial"/>
              </a:rPr>
              <a:t>une </a:t>
            </a:r>
            <a:r>
              <a:rPr lang="fr-FR" sz="2800" spc="65" dirty="0">
                <a:latin typeface="Arial"/>
                <a:cs typeface="Arial"/>
              </a:rPr>
              <a:t>partie </a:t>
            </a:r>
            <a:r>
              <a:rPr lang="fr-FR" sz="2800" spc="45" dirty="0">
                <a:latin typeface="Arial"/>
                <a:cs typeface="Arial"/>
              </a:rPr>
              <a:t>de  </a:t>
            </a:r>
            <a:r>
              <a:rPr lang="fr-FR" sz="2800" spc="75" dirty="0">
                <a:latin typeface="Arial"/>
                <a:cs typeface="Arial"/>
              </a:rPr>
              <a:t>l’infrastructure </a:t>
            </a:r>
            <a:r>
              <a:rPr lang="fr-FR" sz="2800" spc="55" dirty="0">
                <a:latin typeface="Arial"/>
                <a:cs typeface="Arial"/>
              </a:rPr>
              <a:t>des </a:t>
            </a:r>
            <a:r>
              <a:rPr lang="fr-FR" sz="2800" spc="50" dirty="0">
                <a:latin typeface="Arial"/>
                <a:cs typeface="Arial"/>
              </a:rPr>
              <a:t>services </a:t>
            </a:r>
            <a:r>
              <a:rPr lang="fr-FR" sz="2800" dirty="0">
                <a:latin typeface="Arial"/>
                <a:cs typeface="Arial"/>
              </a:rPr>
              <a:t>à </a:t>
            </a:r>
            <a:r>
              <a:rPr lang="fr-FR" sz="2800" spc="80" dirty="0">
                <a:latin typeface="Arial"/>
                <a:cs typeface="Arial"/>
              </a:rPr>
              <a:t>domicile </a:t>
            </a:r>
            <a:r>
              <a:rPr lang="fr-FR" sz="2800" spc="55" dirty="0">
                <a:latin typeface="Arial"/>
                <a:cs typeface="Arial"/>
              </a:rPr>
              <a:t>(cloud </a:t>
            </a:r>
            <a:r>
              <a:rPr lang="fr-FR" sz="2800" spc="15" dirty="0">
                <a:latin typeface="Arial"/>
                <a:cs typeface="Arial"/>
              </a:rPr>
              <a:t>privé), le </a:t>
            </a:r>
            <a:r>
              <a:rPr lang="fr-FR" sz="2800" spc="35" dirty="0">
                <a:latin typeface="Arial"/>
                <a:cs typeface="Arial"/>
              </a:rPr>
              <a:t>reste </a:t>
            </a:r>
            <a:r>
              <a:rPr lang="fr-FR" sz="2800" spc="50" dirty="0">
                <a:latin typeface="Arial"/>
                <a:cs typeface="Arial"/>
              </a:rPr>
              <a:t>dans </a:t>
            </a:r>
            <a:r>
              <a:rPr lang="fr-FR" sz="2800" spc="20" dirty="0">
                <a:latin typeface="Arial"/>
                <a:cs typeface="Arial"/>
              </a:rPr>
              <a:t>les </a:t>
            </a:r>
            <a:r>
              <a:rPr lang="fr-FR" sz="2800" spc="95" dirty="0" err="1">
                <a:latin typeface="Arial"/>
                <a:cs typeface="Arial"/>
              </a:rPr>
              <a:t>clouds</a:t>
            </a:r>
            <a:r>
              <a:rPr lang="fr-FR" sz="2800" spc="95" dirty="0">
                <a:latin typeface="Arial"/>
                <a:cs typeface="Arial"/>
              </a:rPr>
              <a:t>  </a:t>
            </a:r>
            <a:r>
              <a:rPr lang="fr-FR" sz="2800" spc="75" dirty="0">
                <a:latin typeface="Arial"/>
                <a:cs typeface="Arial"/>
              </a:rPr>
              <a:t>publiques.</a:t>
            </a:r>
            <a:endParaRPr lang="fr-FR" dirty="0"/>
          </a:p>
        </p:txBody>
      </p:sp>
      <p:sp>
        <p:nvSpPr>
          <p:cNvPr id="4" name="Espace réservé du pied de page 3">
            <a:extLst>
              <a:ext uri="{FF2B5EF4-FFF2-40B4-BE49-F238E27FC236}">
                <a16:creationId xmlns:a16="http://schemas.microsoft.com/office/drawing/2014/main" id="{D0C8C9AA-ADCB-0077-CE72-59F9BD32BF2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9EC7DBC3-C0EB-9901-C0F9-0D29E6DD1331}"/>
              </a:ext>
            </a:extLst>
          </p:cNvPr>
          <p:cNvSpPr>
            <a:spLocks noGrp="1"/>
          </p:cNvSpPr>
          <p:nvPr>
            <p:ph type="sldNum" sz="quarter" idx="12"/>
          </p:nvPr>
        </p:nvSpPr>
        <p:spPr/>
        <p:txBody>
          <a:bodyPr/>
          <a:lstStyle/>
          <a:p>
            <a:fld id="{B82CCC60-E8CD-4174-8B1A-7DF615B22EEF}" type="slidenum">
              <a:rPr lang="en-US" smtClean="0"/>
              <a:pPr/>
              <a:t>33</a:t>
            </a:fld>
            <a:endParaRPr lang="en-US"/>
          </a:p>
        </p:txBody>
      </p:sp>
    </p:spTree>
    <p:extLst>
      <p:ext uri="{BB962C8B-B14F-4D97-AF65-F5344CB8AC3E}">
        <p14:creationId xmlns:p14="http://schemas.microsoft.com/office/powerpoint/2010/main" val="2009379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E6B8411-BDD5-6FB4-5B3E-F1FF4445DB51}"/>
              </a:ext>
            </a:extLst>
          </p:cNvPr>
          <p:cNvSpPr>
            <a:spLocks noGrp="1"/>
          </p:cNvSpPr>
          <p:nvPr>
            <p:ph type="title"/>
          </p:nvPr>
        </p:nvSpPr>
        <p:spPr/>
        <p:txBody>
          <a:bodyPr>
            <a:normAutofit fontScale="90000"/>
          </a:bodyPr>
          <a:lstStyle/>
          <a:p>
            <a:r>
              <a:rPr lang="fr-FR" sz="3600" spc="-15" dirty="0">
                <a:latin typeface="Arial Black"/>
                <a:cs typeface="Arial Black"/>
              </a:rPr>
              <a:t>Avantages </a:t>
            </a:r>
            <a:r>
              <a:rPr lang="fr-FR" sz="3600" spc="-5" dirty="0">
                <a:latin typeface="Arial Black"/>
                <a:cs typeface="Arial Black"/>
              </a:rPr>
              <a:t>du </a:t>
            </a:r>
            <a:r>
              <a:rPr lang="fr-FR" sz="3600" spc="-15" dirty="0">
                <a:latin typeface="Arial Black"/>
                <a:cs typeface="Arial Black"/>
              </a:rPr>
              <a:t>Cloud</a:t>
            </a:r>
            <a:r>
              <a:rPr lang="fr-FR" sz="3600" spc="-35" dirty="0">
                <a:latin typeface="Arial Black"/>
                <a:cs typeface="Arial Black"/>
              </a:rPr>
              <a:t> </a:t>
            </a:r>
            <a:r>
              <a:rPr lang="fr-FR" sz="3600" spc="-15" dirty="0">
                <a:latin typeface="Arial Black"/>
                <a:cs typeface="Arial Black"/>
              </a:rPr>
              <a:t>hybride</a:t>
            </a:r>
            <a:endParaRPr lang="fr-FR" dirty="0"/>
          </a:p>
        </p:txBody>
      </p:sp>
      <p:sp>
        <p:nvSpPr>
          <p:cNvPr id="3" name="Espace réservé du contenu 2">
            <a:extLst>
              <a:ext uri="{FF2B5EF4-FFF2-40B4-BE49-F238E27FC236}">
                <a16:creationId xmlns:a16="http://schemas.microsoft.com/office/drawing/2014/main" id="{92805FCF-FEF0-11FD-8021-50B9C47A38E2}"/>
              </a:ext>
            </a:extLst>
          </p:cNvPr>
          <p:cNvSpPr>
            <a:spLocks noGrp="1"/>
          </p:cNvSpPr>
          <p:nvPr>
            <p:ph idx="1"/>
          </p:nvPr>
        </p:nvSpPr>
        <p:spPr/>
        <p:txBody>
          <a:bodyPr>
            <a:normAutofit fontScale="77500" lnSpcReduction="20000"/>
          </a:bodyPr>
          <a:lstStyle/>
          <a:p>
            <a:pPr marL="598805" indent="-253365" algn="just">
              <a:lnSpc>
                <a:spcPct val="120000"/>
              </a:lnSpc>
              <a:spcBef>
                <a:spcPts val="3970"/>
              </a:spcBef>
              <a:buChar char="•"/>
              <a:tabLst>
                <a:tab pos="599440" algn="l"/>
              </a:tabLst>
            </a:pPr>
            <a:r>
              <a:rPr lang="fr-FR" sz="2800" spc="60" dirty="0">
                <a:solidFill>
                  <a:srgbClr val="0A5D17"/>
                </a:solidFill>
                <a:latin typeface="Arial"/>
                <a:cs typeface="Arial"/>
              </a:rPr>
              <a:t>Flexibilité</a:t>
            </a:r>
            <a:r>
              <a:rPr lang="fr-FR" sz="2800" spc="80" dirty="0">
                <a:solidFill>
                  <a:srgbClr val="0A5D17"/>
                </a:solidFill>
                <a:latin typeface="Arial"/>
                <a:cs typeface="Arial"/>
              </a:rPr>
              <a:t> </a:t>
            </a:r>
            <a:r>
              <a:rPr lang="fr-FR" sz="2800" spc="65" dirty="0">
                <a:solidFill>
                  <a:srgbClr val="0A5D17"/>
                </a:solidFill>
                <a:latin typeface="Arial"/>
                <a:cs typeface="Arial"/>
              </a:rPr>
              <a:t>accrue</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25" dirty="0">
                <a:solidFill>
                  <a:srgbClr val="212121"/>
                </a:solidFill>
                <a:latin typeface="Arial"/>
                <a:cs typeface="Arial"/>
              </a:rPr>
              <a:t>Les </a:t>
            </a:r>
            <a:r>
              <a:rPr lang="fr-FR" sz="2800" spc="55" dirty="0">
                <a:solidFill>
                  <a:srgbClr val="212121"/>
                </a:solidFill>
                <a:latin typeface="Arial"/>
                <a:cs typeface="Arial"/>
              </a:rPr>
              <a:t>environnements </a:t>
            </a:r>
            <a:r>
              <a:rPr lang="fr-FR" sz="2800" spc="95" dirty="0">
                <a:solidFill>
                  <a:srgbClr val="212121"/>
                </a:solidFill>
                <a:latin typeface="Arial"/>
                <a:cs typeface="Arial"/>
              </a:rPr>
              <a:t>cloud </a:t>
            </a:r>
            <a:r>
              <a:rPr lang="fr-FR" sz="2800" spc="70" dirty="0">
                <a:solidFill>
                  <a:srgbClr val="212121"/>
                </a:solidFill>
                <a:latin typeface="Arial"/>
                <a:cs typeface="Arial"/>
              </a:rPr>
              <a:t>hybrides </a:t>
            </a:r>
            <a:r>
              <a:rPr lang="fr-FR" sz="2800" spc="75" dirty="0">
                <a:solidFill>
                  <a:srgbClr val="212121"/>
                </a:solidFill>
                <a:latin typeface="Arial"/>
                <a:cs typeface="Arial"/>
              </a:rPr>
              <a:t>bénéficient </a:t>
            </a:r>
            <a:r>
              <a:rPr lang="fr-FR" sz="2800" spc="55" dirty="0">
                <a:solidFill>
                  <a:srgbClr val="212121"/>
                </a:solidFill>
                <a:latin typeface="Arial"/>
                <a:cs typeface="Arial"/>
              </a:rPr>
              <a:t>des </a:t>
            </a:r>
            <a:r>
              <a:rPr lang="fr-FR" sz="2800" spc="45" dirty="0">
                <a:solidFill>
                  <a:srgbClr val="212121"/>
                </a:solidFill>
                <a:latin typeface="Arial"/>
                <a:cs typeface="Arial"/>
              </a:rPr>
              <a:t>avantages </a:t>
            </a:r>
            <a:r>
              <a:rPr lang="fr-FR" sz="2800" spc="55" dirty="0">
                <a:solidFill>
                  <a:srgbClr val="212121"/>
                </a:solidFill>
                <a:latin typeface="Arial"/>
                <a:cs typeface="Arial"/>
              </a:rPr>
              <a:t>des</a:t>
            </a:r>
            <a:r>
              <a:rPr lang="fr-FR" sz="2800" spc="-490" dirty="0">
                <a:solidFill>
                  <a:srgbClr val="212121"/>
                </a:solidFill>
                <a:latin typeface="Arial"/>
                <a:cs typeface="Arial"/>
              </a:rPr>
              <a:t> </a:t>
            </a:r>
            <a:r>
              <a:rPr lang="fr-FR" sz="2800" spc="70" dirty="0">
                <a:solidFill>
                  <a:srgbClr val="212121"/>
                </a:solidFill>
                <a:latin typeface="Arial"/>
                <a:cs typeface="Arial"/>
              </a:rPr>
              <a:t>deux modèles </a:t>
            </a:r>
            <a:r>
              <a:rPr lang="fr-FR" sz="2800" dirty="0">
                <a:solidFill>
                  <a:srgbClr val="212121"/>
                </a:solidFill>
                <a:latin typeface="Arial"/>
                <a:cs typeface="Arial"/>
              </a:rPr>
              <a:t>: </a:t>
            </a:r>
            <a:r>
              <a:rPr lang="fr-FR" sz="2800" spc="100" dirty="0">
                <a:solidFill>
                  <a:srgbClr val="212121"/>
                </a:solidFill>
                <a:latin typeface="Arial"/>
                <a:cs typeface="Arial"/>
              </a:rPr>
              <a:t>public </a:t>
            </a:r>
            <a:r>
              <a:rPr lang="fr-FR" sz="2800" spc="50" dirty="0">
                <a:solidFill>
                  <a:srgbClr val="212121"/>
                </a:solidFill>
                <a:latin typeface="Arial"/>
                <a:cs typeface="Arial"/>
              </a:rPr>
              <a:t>et</a:t>
            </a:r>
            <a:r>
              <a:rPr lang="fr-FR" sz="2800" spc="85" dirty="0">
                <a:solidFill>
                  <a:srgbClr val="212121"/>
                </a:solidFill>
                <a:latin typeface="Arial"/>
                <a:cs typeface="Arial"/>
              </a:rPr>
              <a:t> </a:t>
            </a:r>
            <a:r>
              <a:rPr lang="fr-FR" sz="2800" spc="45" dirty="0">
                <a:solidFill>
                  <a:srgbClr val="212121"/>
                </a:solidFill>
                <a:latin typeface="Arial"/>
                <a:cs typeface="Arial"/>
              </a:rPr>
              <a:t>privé.</a:t>
            </a:r>
            <a:endParaRPr lang="fr-FR" sz="2800" dirty="0">
              <a:latin typeface="Arial"/>
              <a:cs typeface="Arial"/>
            </a:endParaRPr>
          </a:p>
          <a:p>
            <a:pPr marL="411480" indent="0" algn="just">
              <a:lnSpc>
                <a:spcPct val="120000"/>
              </a:lnSpc>
              <a:spcBef>
                <a:spcPts val="275"/>
              </a:spcBef>
              <a:buNone/>
              <a:tabLst>
                <a:tab pos="1195070" algn="l"/>
              </a:tabLst>
            </a:pPr>
            <a:r>
              <a:rPr lang="fr-FR" sz="2800" dirty="0">
                <a:solidFill>
                  <a:srgbClr val="212121"/>
                </a:solidFill>
                <a:latin typeface="Arial"/>
                <a:cs typeface="Arial"/>
              </a:rPr>
              <a:t>-	On </a:t>
            </a:r>
            <a:r>
              <a:rPr lang="fr-FR" sz="2800" spc="80" dirty="0">
                <a:solidFill>
                  <a:srgbClr val="212121"/>
                </a:solidFill>
                <a:latin typeface="Arial"/>
                <a:cs typeface="Arial"/>
              </a:rPr>
              <a:t>peut </a:t>
            </a:r>
            <a:r>
              <a:rPr lang="fr-FR" sz="2800" spc="45" dirty="0">
                <a:solidFill>
                  <a:srgbClr val="212121"/>
                </a:solidFill>
                <a:latin typeface="Arial"/>
                <a:cs typeface="Arial"/>
              </a:rPr>
              <a:t>avoir </a:t>
            </a:r>
            <a:r>
              <a:rPr lang="fr-FR" sz="2800" spc="60" dirty="0">
                <a:solidFill>
                  <a:srgbClr val="212121"/>
                </a:solidFill>
                <a:latin typeface="Arial"/>
                <a:cs typeface="Arial"/>
              </a:rPr>
              <a:t>certaines </a:t>
            </a:r>
            <a:r>
              <a:rPr lang="fr-FR" sz="2800" spc="85" dirty="0">
                <a:solidFill>
                  <a:srgbClr val="212121"/>
                </a:solidFill>
                <a:latin typeface="Arial"/>
                <a:cs typeface="Arial"/>
              </a:rPr>
              <a:t>applications </a:t>
            </a:r>
            <a:r>
              <a:rPr lang="fr-FR" sz="2800" spc="45" dirty="0">
                <a:solidFill>
                  <a:srgbClr val="212121"/>
                </a:solidFill>
                <a:latin typeface="Arial"/>
                <a:cs typeface="Arial"/>
              </a:rPr>
              <a:t>hébergées </a:t>
            </a:r>
            <a:r>
              <a:rPr lang="fr-FR" sz="2800" spc="50" dirty="0">
                <a:solidFill>
                  <a:srgbClr val="212121"/>
                </a:solidFill>
                <a:latin typeface="Arial"/>
                <a:cs typeface="Arial"/>
              </a:rPr>
              <a:t>dans </a:t>
            </a:r>
            <a:r>
              <a:rPr lang="fr-FR" sz="2800" spc="20" dirty="0">
                <a:solidFill>
                  <a:srgbClr val="212121"/>
                </a:solidFill>
                <a:latin typeface="Arial"/>
                <a:cs typeface="Arial"/>
              </a:rPr>
              <a:t>les </a:t>
            </a:r>
            <a:r>
              <a:rPr lang="fr-FR" sz="2800" spc="75" dirty="0">
                <a:solidFill>
                  <a:srgbClr val="212121"/>
                </a:solidFill>
                <a:latin typeface="Arial"/>
                <a:cs typeface="Arial"/>
              </a:rPr>
              <a:t>deux</a:t>
            </a:r>
            <a:r>
              <a:rPr lang="fr-FR" sz="2800" spc="275" dirty="0">
                <a:solidFill>
                  <a:srgbClr val="212121"/>
                </a:solidFill>
                <a:latin typeface="Arial"/>
                <a:cs typeface="Arial"/>
              </a:rPr>
              <a:t> </a:t>
            </a:r>
            <a:r>
              <a:rPr lang="fr-FR" sz="2800" spc="45" dirty="0">
                <a:solidFill>
                  <a:srgbClr val="212121"/>
                </a:solidFill>
                <a:latin typeface="Arial"/>
                <a:cs typeface="Arial"/>
              </a:rPr>
              <a:t>environnements;</a:t>
            </a:r>
            <a:endParaRPr lang="fr-FR" sz="2800" dirty="0">
              <a:latin typeface="Arial"/>
              <a:cs typeface="Arial"/>
            </a:endParaRPr>
          </a:p>
          <a:p>
            <a:pPr marL="413385" indent="0" algn="just">
              <a:lnSpc>
                <a:spcPct val="120000"/>
              </a:lnSpc>
              <a:buNone/>
            </a:pPr>
            <a:r>
              <a:rPr lang="fr-FR" sz="4400" spc="104" baseline="2347" dirty="0">
                <a:solidFill>
                  <a:srgbClr val="212121"/>
                </a:solidFill>
                <a:latin typeface="AoyagiKouzanFontT"/>
                <a:cs typeface="AoyagiKouzanFontT"/>
              </a:rPr>
              <a:t>➡</a:t>
            </a:r>
            <a:r>
              <a:rPr lang="fr-FR" sz="2800" spc="70" dirty="0">
                <a:solidFill>
                  <a:srgbClr val="212121"/>
                </a:solidFill>
                <a:latin typeface="Arial"/>
                <a:cs typeface="Arial"/>
              </a:rPr>
              <a:t>lorsqu'un </a:t>
            </a:r>
            <a:r>
              <a:rPr lang="fr-FR" sz="2800" spc="50" dirty="0">
                <a:solidFill>
                  <a:srgbClr val="212121"/>
                </a:solidFill>
                <a:latin typeface="Arial"/>
                <a:cs typeface="Arial"/>
              </a:rPr>
              <a:t>environnement </a:t>
            </a:r>
            <a:r>
              <a:rPr lang="fr-FR" sz="2800" spc="90" dirty="0">
                <a:solidFill>
                  <a:srgbClr val="212121"/>
                </a:solidFill>
                <a:latin typeface="Arial"/>
                <a:cs typeface="Arial"/>
              </a:rPr>
              <a:t>tombe </a:t>
            </a:r>
            <a:r>
              <a:rPr lang="fr-FR" sz="2800" spc="10" dirty="0">
                <a:solidFill>
                  <a:srgbClr val="212121"/>
                </a:solidFill>
                <a:latin typeface="Arial"/>
                <a:cs typeface="Arial"/>
              </a:rPr>
              <a:t>en </a:t>
            </a:r>
            <a:r>
              <a:rPr lang="fr-FR" sz="2800" spc="35" dirty="0">
                <a:solidFill>
                  <a:srgbClr val="212121"/>
                </a:solidFill>
                <a:latin typeface="Arial"/>
                <a:cs typeface="Arial"/>
              </a:rPr>
              <a:t>panne, </a:t>
            </a:r>
            <a:r>
              <a:rPr lang="fr-FR" sz="2800" spc="50" dirty="0">
                <a:solidFill>
                  <a:srgbClr val="212121"/>
                </a:solidFill>
                <a:latin typeface="Arial"/>
                <a:cs typeface="Arial"/>
              </a:rPr>
              <a:t>on </a:t>
            </a:r>
            <a:r>
              <a:rPr lang="fr-FR" sz="2800" spc="80" dirty="0">
                <a:solidFill>
                  <a:srgbClr val="212121"/>
                </a:solidFill>
                <a:latin typeface="Arial"/>
                <a:cs typeface="Arial"/>
              </a:rPr>
              <a:t>peut toujours</a:t>
            </a:r>
            <a:r>
              <a:rPr lang="fr-FR" sz="2800" spc="1015" dirty="0">
                <a:solidFill>
                  <a:srgbClr val="212121"/>
                </a:solidFill>
                <a:latin typeface="Arial"/>
                <a:cs typeface="Arial"/>
              </a:rPr>
              <a:t> </a:t>
            </a:r>
            <a:r>
              <a:rPr lang="fr-FR" sz="2800" spc="120" dirty="0">
                <a:solidFill>
                  <a:srgbClr val="212121"/>
                </a:solidFill>
                <a:latin typeface="Arial"/>
                <a:cs typeface="Arial"/>
              </a:rPr>
              <a:t>accéder à </a:t>
            </a:r>
            <a:r>
              <a:rPr lang="fr-FR" sz="2800" spc="90" dirty="0">
                <a:solidFill>
                  <a:srgbClr val="212121"/>
                </a:solidFill>
                <a:latin typeface="Arial"/>
                <a:cs typeface="Arial"/>
              </a:rPr>
              <a:t>l'application.</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F8B81149-DE47-32F0-FA13-0FB044AE24C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54F77952-5BE1-77E9-BA57-98ACEAF8BC17}"/>
              </a:ext>
            </a:extLst>
          </p:cNvPr>
          <p:cNvSpPr>
            <a:spLocks noGrp="1"/>
          </p:cNvSpPr>
          <p:nvPr>
            <p:ph type="sldNum" sz="quarter" idx="12"/>
          </p:nvPr>
        </p:nvSpPr>
        <p:spPr/>
        <p:txBody>
          <a:bodyPr/>
          <a:lstStyle/>
          <a:p>
            <a:fld id="{B82CCC60-E8CD-4174-8B1A-7DF615B22EEF}" type="slidenum">
              <a:rPr lang="en-US" smtClean="0"/>
              <a:pPr/>
              <a:t>34</a:t>
            </a:fld>
            <a:endParaRPr lang="en-US"/>
          </a:p>
        </p:txBody>
      </p:sp>
    </p:spTree>
    <p:extLst>
      <p:ext uri="{BB962C8B-B14F-4D97-AF65-F5344CB8AC3E}">
        <p14:creationId xmlns:p14="http://schemas.microsoft.com/office/powerpoint/2010/main" val="20963051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1707F07-5B43-18F4-D8BC-A629501374D4}"/>
              </a:ext>
            </a:extLst>
          </p:cNvPr>
          <p:cNvSpPr>
            <a:spLocks noGrp="1"/>
          </p:cNvSpPr>
          <p:nvPr>
            <p:ph type="title"/>
          </p:nvPr>
        </p:nvSpPr>
        <p:spPr/>
        <p:txBody>
          <a:bodyPr>
            <a:normAutofit fontScale="90000"/>
          </a:bodyPr>
          <a:lstStyle/>
          <a:p>
            <a:r>
              <a:rPr lang="fr-FR" sz="3600" spc="-25" dirty="0">
                <a:latin typeface="Arial Black"/>
                <a:cs typeface="Arial Black"/>
              </a:rPr>
              <a:t>Inconvénients </a:t>
            </a:r>
            <a:r>
              <a:rPr lang="fr-FR" sz="3600" spc="-5" dirty="0">
                <a:latin typeface="Arial Black"/>
                <a:cs typeface="Arial Black"/>
              </a:rPr>
              <a:t>du </a:t>
            </a:r>
            <a:r>
              <a:rPr lang="fr-FR" sz="3600" spc="-15" dirty="0">
                <a:latin typeface="Arial Black"/>
                <a:cs typeface="Arial Black"/>
              </a:rPr>
              <a:t>Cloud</a:t>
            </a:r>
            <a:r>
              <a:rPr lang="fr-FR" sz="3600" spc="-65" dirty="0">
                <a:latin typeface="Arial Black"/>
                <a:cs typeface="Arial Black"/>
              </a:rPr>
              <a:t> </a:t>
            </a:r>
            <a:r>
              <a:rPr lang="fr-FR" sz="3600" spc="-15" dirty="0">
                <a:latin typeface="Arial Black"/>
                <a:cs typeface="Arial Black"/>
              </a:rPr>
              <a:t>hybride</a:t>
            </a:r>
            <a:endParaRPr lang="fr-FR" dirty="0"/>
          </a:p>
        </p:txBody>
      </p:sp>
      <p:sp>
        <p:nvSpPr>
          <p:cNvPr id="3" name="Espace réservé du contenu 2">
            <a:extLst>
              <a:ext uri="{FF2B5EF4-FFF2-40B4-BE49-F238E27FC236}">
                <a16:creationId xmlns:a16="http://schemas.microsoft.com/office/drawing/2014/main" id="{F0D9F4F3-05AC-E628-561E-4AF6D9988336}"/>
              </a:ext>
            </a:extLst>
          </p:cNvPr>
          <p:cNvSpPr>
            <a:spLocks noGrp="1"/>
          </p:cNvSpPr>
          <p:nvPr>
            <p:ph idx="1"/>
          </p:nvPr>
        </p:nvSpPr>
        <p:spPr/>
        <p:txBody>
          <a:bodyPr>
            <a:normAutofit fontScale="62500" lnSpcReduction="20000"/>
          </a:bodyPr>
          <a:lstStyle/>
          <a:p>
            <a:pPr marL="599440" indent="-252729">
              <a:lnSpc>
                <a:spcPts val="4145"/>
              </a:lnSpc>
              <a:spcBef>
                <a:spcPts val="3970"/>
              </a:spcBef>
              <a:buChar char="•"/>
              <a:tabLst>
                <a:tab pos="600075" algn="l"/>
              </a:tabLst>
            </a:pPr>
            <a:r>
              <a:rPr lang="fr-FR" sz="2800" spc="70" dirty="0">
                <a:solidFill>
                  <a:srgbClr val="0A5D17"/>
                </a:solidFill>
                <a:latin typeface="Arial"/>
                <a:cs typeface="Arial"/>
              </a:rPr>
              <a:t>Intégration</a:t>
            </a:r>
            <a:endParaRPr lang="fr-FR" sz="2800" dirty="0">
              <a:latin typeface="Arial"/>
              <a:cs typeface="Arial"/>
            </a:endParaRPr>
          </a:p>
          <a:p>
            <a:pPr marL="413385" indent="0">
              <a:lnSpc>
                <a:spcPts val="4145"/>
              </a:lnSpc>
              <a:buNone/>
            </a:pPr>
            <a:r>
              <a:rPr lang="fr-FR" sz="2800" dirty="0">
                <a:solidFill>
                  <a:srgbClr val="212121"/>
                </a:solidFill>
                <a:latin typeface="Arial"/>
                <a:cs typeface="Arial"/>
              </a:rPr>
              <a:t>- </a:t>
            </a:r>
            <a:r>
              <a:rPr lang="fr-FR" sz="2800" spc="20" dirty="0">
                <a:solidFill>
                  <a:srgbClr val="212121"/>
                </a:solidFill>
                <a:latin typeface="Arial"/>
                <a:cs typeface="Arial"/>
              </a:rPr>
              <a:t>Les </a:t>
            </a:r>
            <a:r>
              <a:rPr lang="fr-FR" sz="2800" spc="85" dirty="0">
                <a:solidFill>
                  <a:srgbClr val="212121"/>
                </a:solidFill>
                <a:latin typeface="Arial"/>
                <a:cs typeface="Arial"/>
              </a:rPr>
              <a:t>applications </a:t>
            </a:r>
            <a:r>
              <a:rPr lang="fr-FR" sz="2800" spc="70" dirty="0">
                <a:solidFill>
                  <a:srgbClr val="212121"/>
                </a:solidFill>
                <a:latin typeface="Arial"/>
                <a:cs typeface="Arial"/>
              </a:rPr>
              <a:t>qui </a:t>
            </a:r>
            <a:r>
              <a:rPr lang="fr-FR" sz="2800" spc="80" dirty="0">
                <a:solidFill>
                  <a:srgbClr val="212121"/>
                </a:solidFill>
                <a:latin typeface="Arial"/>
                <a:cs typeface="Arial"/>
              </a:rPr>
              <a:t>s’exécutent </a:t>
            </a:r>
            <a:r>
              <a:rPr lang="fr-FR" sz="2800" spc="35" dirty="0">
                <a:solidFill>
                  <a:srgbClr val="212121"/>
                </a:solidFill>
                <a:latin typeface="Arial"/>
                <a:cs typeface="Arial"/>
              </a:rPr>
              <a:t>sur </a:t>
            </a:r>
            <a:r>
              <a:rPr lang="fr-FR" sz="2800" spc="20" dirty="0">
                <a:solidFill>
                  <a:srgbClr val="212121"/>
                </a:solidFill>
                <a:latin typeface="Arial"/>
                <a:cs typeface="Arial"/>
              </a:rPr>
              <a:t>les </a:t>
            </a:r>
            <a:r>
              <a:rPr lang="fr-FR" sz="2800" spc="70" dirty="0">
                <a:solidFill>
                  <a:srgbClr val="212121"/>
                </a:solidFill>
                <a:latin typeface="Arial"/>
                <a:cs typeface="Arial"/>
              </a:rPr>
              <a:t>deux </a:t>
            </a:r>
            <a:r>
              <a:rPr lang="fr-FR" sz="2800" spc="50" dirty="0">
                <a:solidFill>
                  <a:srgbClr val="212121"/>
                </a:solidFill>
                <a:latin typeface="Arial"/>
                <a:cs typeface="Arial"/>
              </a:rPr>
              <a:t>environnements</a:t>
            </a:r>
            <a:r>
              <a:rPr lang="fr-FR" sz="2800" spc="345" dirty="0">
                <a:solidFill>
                  <a:srgbClr val="212121"/>
                </a:solidFill>
                <a:latin typeface="Arial"/>
                <a:cs typeface="Arial"/>
              </a:rPr>
              <a:t> </a:t>
            </a:r>
            <a:r>
              <a:rPr lang="fr-FR" sz="2800" spc="90" dirty="0">
                <a:solidFill>
                  <a:srgbClr val="212121"/>
                </a:solidFill>
                <a:latin typeface="Arial"/>
                <a:cs typeface="Arial"/>
              </a:rPr>
              <a:t>peuvent avoir </a:t>
            </a:r>
            <a:r>
              <a:rPr lang="fr-FR" sz="2800" spc="70" dirty="0">
                <a:solidFill>
                  <a:srgbClr val="212121"/>
                </a:solidFill>
                <a:latin typeface="Arial"/>
                <a:cs typeface="Arial"/>
              </a:rPr>
              <a:t>besoin </a:t>
            </a:r>
            <a:r>
              <a:rPr lang="fr-FR" sz="2800" spc="105" dirty="0">
                <a:solidFill>
                  <a:srgbClr val="212121"/>
                </a:solidFill>
                <a:latin typeface="Arial"/>
                <a:cs typeface="Arial"/>
              </a:rPr>
              <a:t>d'accéder </a:t>
            </a:r>
            <a:r>
              <a:rPr lang="fr-FR" sz="2800" spc="45" dirty="0">
                <a:solidFill>
                  <a:srgbClr val="212121"/>
                </a:solidFill>
                <a:latin typeface="Arial"/>
                <a:cs typeface="Arial"/>
              </a:rPr>
              <a:t>et </a:t>
            </a:r>
            <a:r>
              <a:rPr lang="fr-FR" sz="2800" spc="90" dirty="0">
                <a:solidFill>
                  <a:srgbClr val="212121"/>
                </a:solidFill>
                <a:latin typeface="Arial"/>
                <a:cs typeface="Arial"/>
              </a:rPr>
              <a:t>d'utiliser </a:t>
            </a:r>
            <a:r>
              <a:rPr lang="fr-FR" sz="2800" spc="20" dirty="0">
                <a:solidFill>
                  <a:srgbClr val="212121"/>
                </a:solidFill>
                <a:latin typeface="Arial"/>
                <a:cs typeface="Arial"/>
              </a:rPr>
              <a:t>les </a:t>
            </a:r>
            <a:r>
              <a:rPr lang="fr-FR" sz="2800" spc="50" dirty="0">
                <a:solidFill>
                  <a:srgbClr val="212121"/>
                </a:solidFill>
                <a:latin typeface="Arial"/>
                <a:cs typeface="Arial"/>
              </a:rPr>
              <a:t>mêmes</a:t>
            </a:r>
            <a:r>
              <a:rPr lang="fr-FR" sz="2800" spc="145" dirty="0">
                <a:solidFill>
                  <a:srgbClr val="212121"/>
                </a:solidFill>
                <a:latin typeface="Arial"/>
                <a:cs typeface="Arial"/>
              </a:rPr>
              <a:t> </a:t>
            </a:r>
            <a:r>
              <a:rPr lang="fr-FR" sz="2800" spc="50" dirty="0">
                <a:solidFill>
                  <a:srgbClr val="212121"/>
                </a:solidFill>
                <a:latin typeface="Arial"/>
                <a:cs typeface="Arial"/>
              </a:rPr>
              <a:t>données.</a:t>
            </a:r>
            <a:endParaRPr lang="fr-FR" sz="2800" dirty="0">
              <a:latin typeface="Arial"/>
              <a:cs typeface="Arial"/>
            </a:endParaRPr>
          </a:p>
          <a:p>
            <a:pPr marL="756285" marR="5080" indent="0">
              <a:lnSpc>
                <a:spcPct val="101099"/>
              </a:lnSpc>
              <a:buNone/>
            </a:pPr>
            <a:r>
              <a:rPr lang="fr-FR" sz="4400" spc="44" baseline="2347" dirty="0">
                <a:solidFill>
                  <a:srgbClr val="212121"/>
                </a:solidFill>
                <a:latin typeface="AoyagiKouzanFontT"/>
                <a:cs typeface="AoyagiKouzanFontT"/>
              </a:rPr>
              <a:t>➡</a:t>
            </a:r>
            <a:r>
              <a:rPr lang="fr-FR" sz="2800" spc="30" dirty="0">
                <a:solidFill>
                  <a:srgbClr val="212121"/>
                </a:solidFill>
                <a:latin typeface="Arial"/>
                <a:cs typeface="Arial"/>
              </a:rPr>
              <a:t>Choix </a:t>
            </a:r>
            <a:r>
              <a:rPr lang="fr-FR" sz="2800" spc="80" dirty="0">
                <a:solidFill>
                  <a:srgbClr val="212121"/>
                </a:solidFill>
                <a:latin typeface="Arial"/>
                <a:cs typeface="Arial"/>
              </a:rPr>
              <a:t>possibles </a:t>
            </a:r>
            <a:r>
              <a:rPr lang="fr-FR" sz="2800" spc="55" dirty="0">
                <a:solidFill>
                  <a:srgbClr val="212121"/>
                </a:solidFill>
                <a:latin typeface="Arial"/>
                <a:cs typeface="Arial"/>
              </a:rPr>
              <a:t>dans </a:t>
            </a:r>
            <a:r>
              <a:rPr lang="fr-FR" sz="2800" spc="45" dirty="0">
                <a:solidFill>
                  <a:srgbClr val="212121"/>
                </a:solidFill>
                <a:latin typeface="Arial"/>
                <a:cs typeface="Arial"/>
              </a:rPr>
              <a:t>ce </a:t>
            </a:r>
            <a:r>
              <a:rPr lang="fr-FR" sz="2800" spc="55" dirty="0">
                <a:solidFill>
                  <a:srgbClr val="212121"/>
                </a:solidFill>
                <a:latin typeface="Arial"/>
                <a:cs typeface="Arial"/>
              </a:rPr>
              <a:t>cas </a:t>
            </a:r>
            <a:r>
              <a:rPr lang="fr-FR" sz="2800" dirty="0">
                <a:solidFill>
                  <a:srgbClr val="212121"/>
                </a:solidFill>
                <a:latin typeface="Arial"/>
                <a:cs typeface="Arial"/>
              </a:rPr>
              <a:t>: </a:t>
            </a:r>
            <a:r>
              <a:rPr lang="fr-FR" sz="2800" spc="95" dirty="0">
                <a:solidFill>
                  <a:srgbClr val="212121"/>
                </a:solidFill>
                <a:latin typeface="Arial"/>
                <a:cs typeface="Arial"/>
              </a:rPr>
              <a:t>duplication </a:t>
            </a:r>
            <a:r>
              <a:rPr lang="fr-FR" sz="2800" spc="55" dirty="0">
                <a:solidFill>
                  <a:srgbClr val="212121"/>
                </a:solidFill>
                <a:latin typeface="Arial"/>
                <a:cs typeface="Arial"/>
              </a:rPr>
              <a:t>des données </a:t>
            </a:r>
            <a:r>
              <a:rPr lang="fr-FR" sz="2800" spc="50" dirty="0">
                <a:solidFill>
                  <a:srgbClr val="212121"/>
                </a:solidFill>
                <a:latin typeface="Arial"/>
                <a:cs typeface="Arial"/>
              </a:rPr>
              <a:t>et </a:t>
            </a:r>
            <a:r>
              <a:rPr lang="fr-FR" sz="2800" spc="70" dirty="0">
                <a:solidFill>
                  <a:srgbClr val="212121"/>
                </a:solidFill>
                <a:latin typeface="Arial"/>
                <a:cs typeface="Arial"/>
              </a:rPr>
              <a:t>synchronisation </a:t>
            </a:r>
            <a:r>
              <a:rPr lang="fr-FR" sz="2800" spc="45" dirty="0">
                <a:solidFill>
                  <a:srgbClr val="212121"/>
                </a:solidFill>
                <a:latin typeface="Arial"/>
                <a:cs typeface="Arial"/>
              </a:rPr>
              <a:t>ou  </a:t>
            </a:r>
            <a:r>
              <a:rPr lang="fr-FR" sz="2800" spc="80" dirty="0">
                <a:solidFill>
                  <a:srgbClr val="212121"/>
                </a:solidFill>
                <a:latin typeface="Arial"/>
                <a:cs typeface="Arial"/>
              </a:rPr>
              <a:t>déplacement </a:t>
            </a:r>
            <a:r>
              <a:rPr lang="fr-FR" sz="2800" spc="55" dirty="0">
                <a:solidFill>
                  <a:srgbClr val="212121"/>
                </a:solidFill>
                <a:latin typeface="Arial"/>
                <a:cs typeface="Arial"/>
              </a:rPr>
              <a:t>des </a:t>
            </a:r>
            <a:r>
              <a:rPr lang="fr-FR" sz="2800" spc="60" dirty="0">
                <a:solidFill>
                  <a:srgbClr val="212121"/>
                </a:solidFill>
                <a:latin typeface="Arial"/>
                <a:cs typeface="Arial"/>
              </a:rPr>
              <a:t>données </a:t>
            </a:r>
            <a:r>
              <a:rPr lang="fr-FR" sz="2800" spc="45" dirty="0">
                <a:solidFill>
                  <a:srgbClr val="212121"/>
                </a:solidFill>
                <a:latin typeface="Arial"/>
                <a:cs typeface="Arial"/>
              </a:rPr>
              <a:t>selon </a:t>
            </a:r>
            <a:r>
              <a:rPr lang="fr-FR" sz="2800" spc="20" dirty="0">
                <a:solidFill>
                  <a:srgbClr val="212121"/>
                </a:solidFill>
                <a:latin typeface="Arial"/>
                <a:cs typeface="Arial"/>
              </a:rPr>
              <a:t>les </a:t>
            </a:r>
            <a:r>
              <a:rPr lang="fr-FR" sz="2800" spc="60" dirty="0">
                <a:solidFill>
                  <a:srgbClr val="212121"/>
                </a:solidFill>
                <a:latin typeface="Arial"/>
                <a:cs typeface="Arial"/>
              </a:rPr>
              <a:t>besoins!</a:t>
            </a:r>
            <a:endParaRPr lang="fr-FR" sz="2800" dirty="0">
              <a:latin typeface="Arial"/>
              <a:cs typeface="Arial"/>
            </a:endParaRPr>
          </a:p>
          <a:p>
            <a:endParaRPr lang="fr-FR" dirty="0"/>
          </a:p>
        </p:txBody>
      </p:sp>
      <p:sp>
        <p:nvSpPr>
          <p:cNvPr id="4" name="Espace réservé du pied de page 3">
            <a:extLst>
              <a:ext uri="{FF2B5EF4-FFF2-40B4-BE49-F238E27FC236}">
                <a16:creationId xmlns:a16="http://schemas.microsoft.com/office/drawing/2014/main" id="{59C327D4-4CA2-73A0-757E-EE50B43EE11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B324665-D792-4913-EF64-07A6A63DF002}"/>
              </a:ext>
            </a:extLst>
          </p:cNvPr>
          <p:cNvSpPr>
            <a:spLocks noGrp="1"/>
          </p:cNvSpPr>
          <p:nvPr>
            <p:ph type="sldNum" sz="quarter" idx="12"/>
          </p:nvPr>
        </p:nvSpPr>
        <p:spPr/>
        <p:txBody>
          <a:bodyPr/>
          <a:lstStyle/>
          <a:p>
            <a:fld id="{B82CCC60-E8CD-4174-8B1A-7DF615B22EEF}" type="slidenum">
              <a:rPr lang="en-US" smtClean="0"/>
              <a:pPr/>
              <a:t>35</a:t>
            </a:fld>
            <a:endParaRPr lang="en-US"/>
          </a:p>
        </p:txBody>
      </p:sp>
    </p:spTree>
    <p:extLst>
      <p:ext uri="{BB962C8B-B14F-4D97-AF65-F5344CB8AC3E}">
        <p14:creationId xmlns:p14="http://schemas.microsoft.com/office/powerpoint/2010/main" val="2078077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85DA1F7-0592-F2D6-33B6-C9B6745EF18E}"/>
              </a:ext>
            </a:extLst>
          </p:cNvPr>
          <p:cNvSpPr>
            <a:spLocks noGrp="1"/>
          </p:cNvSpPr>
          <p:nvPr>
            <p:ph type="title"/>
          </p:nvPr>
        </p:nvSpPr>
        <p:spPr/>
        <p:txBody>
          <a:bodyPr>
            <a:noAutofit/>
          </a:bodyPr>
          <a:lstStyle/>
          <a:p>
            <a:r>
              <a:rPr lang="fr-FR" sz="2400" spc="-15" dirty="0">
                <a:latin typeface="Arial Black"/>
                <a:cs typeface="Arial Black"/>
              </a:rPr>
              <a:t>Cloud hybride </a:t>
            </a:r>
            <a:r>
              <a:rPr lang="fr-FR" sz="2400" dirty="0">
                <a:latin typeface="Arial Black"/>
                <a:cs typeface="Arial Black"/>
              </a:rPr>
              <a:t>: </a:t>
            </a:r>
            <a:r>
              <a:rPr lang="fr-FR" sz="2400" spc="-10" dirty="0">
                <a:latin typeface="Arial Black"/>
                <a:cs typeface="Arial Black"/>
              </a:rPr>
              <a:t>Considérations </a:t>
            </a:r>
            <a:r>
              <a:rPr lang="fr-FR" sz="2400" dirty="0">
                <a:latin typeface="Arial Black"/>
                <a:cs typeface="Arial Black"/>
              </a:rPr>
              <a:t>de</a:t>
            </a:r>
            <a:r>
              <a:rPr lang="fr-FR" sz="2400" spc="-70" dirty="0">
                <a:latin typeface="Arial Black"/>
                <a:cs typeface="Arial Black"/>
              </a:rPr>
              <a:t> </a:t>
            </a:r>
            <a:r>
              <a:rPr lang="fr-FR" sz="2400" spc="-5" dirty="0">
                <a:latin typeface="Arial Black"/>
                <a:cs typeface="Arial Black"/>
              </a:rPr>
              <a:t>sécurité</a:t>
            </a:r>
            <a:endParaRPr lang="fr-FR" sz="2400" dirty="0"/>
          </a:p>
        </p:txBody>
      </p:sp>
      <p:sp>
        <p:nvSpPr>
          <p:cNvPr id="3" name="Espace réservé du contenu 2">
            <a:extLst>
              <a:ext uri="{FF2B5EF4-FFF2-40B4-BE49-F238E27FC236}">
                <a16:creationId xmlns:a16="http://schemas.microsoft.com/office/drawing/2014/main" id="{8B35D1C8-DA01-F537-0FB2-5D3906E22516}"/>
              </a:ext>
            </a:extLst>
          </p:cNvPr>
          <p:cNvSpPr>
            <a:spLocks noGrp="1"/>
          </p:cNvSpPr>
          <p:nvPr>
            <p:ph idx="1"/>
          </p:nvPr>
        </p:nvSpPr>
        <p:spPr>
          <a:xfrm>
            <a:off x="448966" y="1960930"/>
            <a:ext cx="8246070" cy="3054100"/>
          </a:xfrm>
        </p:spPr>
        <p:txBody>
          <a:bodyPr>
            <a:normAutofit fontScale="62500" lnSpcReduction="20000"/>
          </a:bodyPr>
          <a:lstStyle/>
          <a:p>
            <a:pPr algn="just">
              <a:lnSpc>
                <a:spcPct val="120000"/>
              </a:lnSpc>
              <a:spcBef>
                <a:spcPts val="25"/>
              </a:spcBef>
            </a:pPr>
            <a:endParaRPr lang="fr-FR" sz="2800" dirty="0">
              <a:latin typeface="Arial Black"/>
              <a:cs typeface="Arial Black"/>
            </a:endParaRPr>
          </a:p>
          <a:p>
            <a:pPr marL="599440" indent="-252095" algn="just">
              <a:lnSpc>
                <a:spcPct val="120000"/>
              </a:lnSpc>
              <a:spcBef>
                <a:spcPts val="5"/>
              </a:spcBef>
              <a:buChar char="•"/>
              <a:tabLst>
                <a:tab pos="600075" algn="l"/>
              </a:tabLst>
            </a:pPr>
            <a:r>
              <a:rPr lang="fr-FR" sz="2800" spc="45" dirty="0">
                <a:solidFill>
                  <a:srgbClr val="0A5D17"/>
                </a:solidFill>
                <a:latin typeface="Arial"/>
                <a:cs typeface="Arial"/>
              </a:rPr>
              <a:t>Sécurité </a:t>
            </a:r>
            <a:r>
              <a:rPr lang="fr-FR" sz="2800" spc="55" dirty="0">
                <a:solidFill>
                  <a:srgbClr val="0A5D17"/>
                </a:solidFill>
                <a:latin typeface="Arial"/>
                <a:cs typeface="Arial"/>
              </a:rPr>
              <a:t>des</a:t>
            </a:r>
            <a:r>
              <a:rPr lang="fr-FR" sz="2800" spc="70" dirty="0">
                <a:solidFill>
                  <a:srgbClr val="0A5D17"/>
                </a:solidFill>
                <a:latin typeface="Arial"/>
                <a:cs typeface="Arial"/>
              </a:rPr>
              <a:t> </a:t>
            </a:r>
            <a:r>
              <a:rPr lang="fr-FR" sz="2800" spc="55" dirty="0">
                <a:solidFill>
                  <a:srgbClr val="0A5D17"/>
                </a:solidFill>
                <a:latin typeface="Arial"/>
                <a:cs typeface="Arial"/>
              </a:rPr>
              <a:t>données</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10" dirty="0">
                <a:solidFill>
                  <a:srgbClr val="212121"/>
                </a:solidFill>
                <a:latin typeface="Arial"/>
                <a:cs typeface="Arial"/>
              </a:rPr>
              <a:t>Le </a:t>
            </a:r>
            <a:r>
              <a:rPr lang="fr-FR" sz="2800" spc="80" dirty="0">
                <a:solidFill>
                  <a:srgbClr val="212121"/>
                </a:solidFill>
                <a:latin typeface="Arial"/>
                <a:cs typeface="Arial"/>
              </a:rPr>
              <a:t>déplacement </a:t>
            </a:r>
            <a:r>
              <a:rPr lang="fr-FR" sz="2800" spc="45" dirty="0">
                <a:solidFill>
                  <a:srgbClr val="212121"/>
                </a:solidFill>
                <a:latin typeface="Arial"/>
                <a:cs typeface="Arial"/>
              </a:rPr>
              <a:t>de </a:t>
            </a:r>
            <a:r>
              <a:rPr lang="fr-FR" sz="2800" spc="55" dirty="0">
                <a:solidFill>
                  <a:srgbClr val="212121"/>
                </a:solidFill>
                <a:latin typeface="Arial"/>
                <a:cs typeface="Arial"/>
              </a:rPr>
              <a:t>données </a:t>
            </a:r>
            <a:r>
              <a:rPr lang="fr-FR" sz="2800" spc="35" dirty="0">
                <a:solidFill>
                  <a:srgbClr val="212121"/>
                </a:solidFill>
                <a:latin typeface="Arial"/>
                <a:cs typeface="Arial"/>
              </a:rPr>
              <a:t>entre </a:t>
            </a:r>
            <a:r>
              <a:rPr lang="fr-FR" sz="2800" spc="20" dirty="0">
                <a:solidFill>
                  <a:srgbClr val="212121"/>
                </a:solidFill>
                <a:latin typeface="Arial"/>
                <a:cs typeface="Arial"/>
              </a:rPr>
              <a:t>les </a:t>
            </a:r>
            <a:r>
              <a:rPr lang="fr-FR" sz="2800" spc="70" dirty="0">
                <a:solidFill>
                  <a:srgbClr val="212121"/>
                </a:solidFill>
                <a:latin typeface="Arial"/>
                <a:cs typeface="Arial"/>
              </a:rPr>
              <a:t>deux </a:t>
            </a:r>
            <a:r>
              <a:rPr lang="fr-FR" sz="2800" spc="50" dirty="0">
                <a:solidFill>
                  <a:srgbClr val="212121"/>
                </a:solidFill>
                <a:latin typeface="Arial"/>
                <a:cs typeface="Arial"/>
              </a:rPr>
              <a:t>environnements </a:t>
            </a:r>
            <a:r>
              <a:rPr lang="fr-FR" sz="2800" spc="95" dirty="0">
                <a:solidFill>
                  <a:srgbClr val="212121"/>
                </a:solidFill>
                <a:latin typeface="Arial"/>
                <a:cs typeface="Arial"/>
              </a:rPr>
              <a:t>cloud </a:t>
            </a:r>
            <a:r>
              <a:rPr lang="fr-FR" sz="2800" spc="80" dirty="0">
                <a:solidFill>
                  <a:srgbClr val="212121"/>
                </a:solidFill>
                <a:latin typeface="Arial"/>
                <a:cs typeface="Arial"/>
              </a:rPr>
              <a:t>peut</a:t>
            </a:r>
            <a:r>
              <a:rPr lang="fr-FR" sz="2800" spc="-350" dirty="0">
                <a:solidFill>
                  <a:srgbClr val="212121"/>
                </a:solidFill>
                <a:latin typeface="Arial"/>
                <a:cs typeface="Arial"/>
              </a:rPr>
              <a:t> </a:t>
            </a:r>
            <a:r>
              <a:rPr lang="fr-FR" sz="2800" spc="30" dirty="0">
                <a:solidFill>
                  <a:srgbClr val="212121"/>
                </a:solidFill>
                <a:latin typeface="Arial"/>
                <a:cs typeface="Arial"/>
              </a:rPr>
              <a:t>être </a:t>
            </a:r>
            <a:r>
              <a:rPr lang="fr-FR" sz="2800" spc="55" dirty="0">
                <a:solidFill>
                  <a:srgbClr val="212121"/>
                </a:solidFill>
                <a:latin typeface="Arial"/>
                <a:cs typeface="Arial"/>
              </a:rPr>
              <a:t>risqué </a:t>
            </a:r>
            <a:r>
              <a:rPr lang="fr-FR" sz="2800" dirty="0">
                <a:solidFill>
                  <a:srgbClr val="212121"/>
                </a:solidFill>
                <a:latin typeface="Arial"/>
                <a:cs typeface="Arial"/>
              </a:rPr>
              <a:t>: </a:t>
            </a:r>
            <a:r>
              <a:rPr lang="fr-FR" sz="2800" spc="20" dirty="0">
                <a:solidFill>
                  <a:srgbClr val="212121"/>
                </a:solidFill>
                <a:latin typeface="Arial"/>
                <a:cs typeface="Arial"/>
              </a:rPr>
              <a:t>les </a:t>
            </a:r>
            <a:r>
              <a:rPr lang="fr-FR" sz="2800" spc="70" dirty="0">
                <a:solidFill>
                  <a:srgbClr val="212121"/>
                </a:solidFill>
                <a:latin typeface="Arial"/>
                <a:cs typeface="Arial"/>
              </a:rPr>
              <a:t>deux </a:t>
            </a:r>
            <a:r>
              <a:rPr lang="fr-FR" sz="2800" spc="50" dirty="0">
                <a:solidFill>
                  <a:srgbClr val="212121"/>
                </a:solidFill>
                <a:latin typeface="Arial"/>
                <a:cs typeface="Arial"/>
              </a:rPr>
              <a:t>environnements </a:t>
            </a:r>
            <a:r>
              <a:rPr lang="fr-FR" sz="2800" spc="80" dirty="0">
                <a:solidFill>
                  <a:srgbClr val="212121"/>
                </a:solidFill>
                <a:latin typeface="Arial"/>
                <a:cs typeface="Arial"/>
              </a:rPr>
              <a:t>doivent </a:t>
            </a:r>
            <a:r>
              <a:rPr lang="fr-FR" sz="2800" spc="55" dirty="0">
                <a:solidFill>
                  <a:srgbClr val="212121"/>
                </a:solidFill>
                <a:latin typeface="Arial"/>
                <a:cs typeface="Arial"/>
              </a:rPr>
              <a:t>prendre </a:t>
            </a:r>
            <a:r>
              <a:rPr lang="fr-FR" sz="2800" spc="10" dirty="0">
                <a:solidFill>
                  <a:srgbClr val="212121"/>
                </a:solidFill>
                <a:latin typeface="Arial"/>
                <a:cs typeface="Arial"/>
              </a:rPr>
              <a:t>en </a:t>
            </a:r>
            <a:r>
              <a:rPr lang="fr-FR" sz="2800" spc="55" dirty="0">
                <a:solidFill>
                  <a:srgbClr val="212121"/>
                </a:solidFill>
                <a:latin typeface="Arial"/>
                <a:cs typeface="Arial"/>
              </a:rPr>
              <a:t>charge </a:t>
            </a:r>
            <a:r>
              <a:rPr lang="fr-FR" sz="2800" spc="20" dirty="0">
                <a:solidFill>
                  <a:srgbClr val="212121"/>
                </a:solidFill>
                <a:latin typeface="Arial"/>
                <a:cs typeface="Arial"/>
              </a:rPr>
              <a:t>les </a:t>
            </a:r>
            <a:r>
              <a:rPr lang="fr-FR" sz="2800" spc="45" dirty="0">
                <a:solidFill>
                  <a:srgbClr val="212121"/>
                </a:solidFill>
                <a:latin typeface="Arial"/>
                <a:cs typeface="Arial"/>
              </a:rPr>
              <a:t>mêmes  </a:t>
            </a:r>
            <a:r>
              <a:rPr lang="fr-FR" sz="2800" spc="90" dirty="0">
                <a:solidFill>
                  <a:srgbClr val="212121"/>
                </a:solidFill>
                <a:latin typeface="Arial"/>
                <a:cs typeface="Arial"/>
              </a:rPr>
              <a:t>protocoles </a:t>
            </a:r>
            <a:r>
              <a:rPr lang="fr-FR" sz="2800" spc="45" dirty="0">
                <a:solidFill>
                  <a:srgbClr val="212121"/>
                </a:solidFill>
                <a:latin typeface="Arial"/>
                <a:cs typeface="Arial"/>
              </a:rPr>
              <a:t>de </a:t>
            </a:r>
            <a:r>
              <a:rPr lang="fr-FR" sz="2800" spc="60" dirty="0">
                <a:solidFill>
                  <a:srgbClr val="212121"/>
                </a:solidFill>
                <a:latin typeface="Arial"/>
                <a:cs typeface="Arial"/>
              </a:rPr>
              <a:t>sécurité, </a:t>
            </a:r>
            <a:r>
              <a:rPr lang="fr-FR" sz="2800" spc="40" dirty="0">
                <a:solidFill>
                  <a:srgbClr val="212121"/>
                </a:solidFill>
                <a:latin typeface="Arial"/>
                <a:cs typeface="Arial"/>
              </a:rPr>
              <a:t>ils </a:t>
            </a:r>
            <a:r>
              <a:rPr lang="fr-FR" sz="2800" spc="80" dirty="0">
                <a:solidFill>
                  <a:srgbClr val="212121"/>
                </a:solidFill>
                <a:latin typeface="Arial"/>
                <a:cs typeface="Arial"/>
              </a:rPr>
              <a:t>doivent </a:t>
            </a:r>
            <a:r>
              <a:rPr lang="fr-FR" sz="2800" spc="30" dirty="0">
                <a:solidFill>
                  <a:srgbClr val="212121"/>
                </a:solidFill>
                <a:latin typeface="Arial"/>
                <a:cs typeface="Arial"/>
              </a:rPr>
              <a:t>être </a:t>
            </a:r>
            <a:r>
              <a:rPr lang="fr-FR" sz="2800" spc="95" dirty="0">
                <a:solidFill>
                  <a:srgbClr val="212121"/>
                </a:solidFill>
                <a:latin typeface="Arial"/>
                <a:cs typeface="Arial"/>
              </a:rPr>
              <a:t>compatibles</a:t>
            </a:r>
            <a:r>
              <a:rPr lang="fr-FR" sz="2800" spc="880" dirty="0">
                <a:solidFill>
                  <a:srgbClr val="212121"/>
                </a:solidFill>
                <a:latin typeface="Arial"/>
                <a:cs typeface="Arial"/>
              </a:rPr>
              <a:t> </a:t>
            </a:r>
            <a:r>
              <a:rPr lang="fr-FR" sz="2800" spc="75" dirty="0">
                <a:solidFill>
                  <a:srgbClr val="212121"/>
                </a:solidFill>
                <a:latin typeface="Arial"/>
                <a:cs typeface="Arial"/>
              </a:rPr>
              <a:t>entre eux.</a:t>
            </a:r>
            <a:endParaRPr lang="fr-FR" sz="3600" dirty="0">
              <a:latin typeface="Arial"/>
              <a:cs typeface="Arial"/>
            </a:endParaRPr>
          </a:p>
          <a:p>
            <a:pPr marL="599440" indent="-252095" algn="just">
              <a:lnSpc>
                <a:spcPct val="120000"/>
              </a:lnSpc>
              <a:spcBef>
                <a:spcPts val="5"/>
              </a:spcBef>
              <a:buChar char="•"/>
              <a:tabLst>
                <a:tab pos="600075" algn="l"/>
              </a:tabLst>
            </a:pPr>
            <a:r>
              <a:rPr lang="fr-FR" sz="2800" spc="70" dirty="0">
                <a:solidFill>
                  <a:srgbClr val="0A5D17"/>
                </a:solidFill>
                <a:latin typeface="Arial"/>
                <a:cs typeface="Arial"/>
              </a:rPr>
              <a:t>Audit</a:t>
            </a:r>
            <a:endParaRPr lang="fr-FR" sz="2800" dirty="0">
              <a:latin typeface="Arial"/>
              <a:cs typeface="Arial"/>
            </a:endParaRPr>
          </a:p>
          <a:p>
            <a:pPr marL="413385" indent="0" algn="just">
              <a:lnSpc>
                <a:spcPct val="120000"/>
              </a:lnSpc>
              <a:buNone/>
            </a:pPr>
            <a:r>
              <a:rPr lang="fr-FR" sz="2800" dirty="0">
                <a:solidFill>
                  <a:srgbClr val="212121"/>
                </a:solidFill>
                <a:latin typeface="Arial"/>
                <a:cs typeface="Arial"/>
              </a:rPr>
              <a:t>- </a:t>
            </a:r>
            <a:r>
              <a:rPr lang="fr-FR" sz="2800" spc="55" dirty="0">
                <a:solidFill>
                  <a:srgbClr val="212121"/>
                </a:solidFill>
                <a:latin typeface="Arial"/>
                <a:cs typeface="Arial"/>
              </a:rPr>
              <a:t>Besoin </a:t>
            </a:r>
            <a:r>
              <a:rPr lang="fr-FR" sz="2800" spc="114" dirty="0">
                <a:solidFill>
                  <a:srgbClr val="212121"/>
                </a:solidFill>
                <a:latin typeface="Arial"/>
                <a:cs typeface="Arial"/>
              </a:rPr>
              <a:t>d'un </a:t>
            </a:r>
            <a:r>
              <a:rPr lang="fr-FR" sz="2800" spc="60" dirty="0">
                <a:solidFill>
                  <a:srgbClr val="212121"/>
                </a:solidFill>
                <a:latin typeface="Arial"/>
                <a:cs typeface="Arial"/>
              </a:rPr>
              <a:t>mécanisme </a:t>
            </a:r>
            <a:r>
              <a:rPr lang="fr-FR" sz="2800" spc="80" dirty="0">
                <a:solidFill>
                  <a:srgbClr val="212121"/>
                </a:solidFill>
                <a:latin typeface="Arial"/>
                <a:cs typeface="Arial"/>
              </a:rPr>
              <a:t>pour </a:t>
            </a:r>
            <a:r>
              <a:rPr lang="fr-FR" sz="2800" spc="25" dirty="0">
                <a:solidFill>
                  <a:srgbClr val="212121"/>
                </a:solidFill>
                <a:latin typeface="Arial"/>
                <a:cs typeface="Arial"/>
              </a:rPr>
              <a:t>assurer </a:t>
            </a:r>
            <a:r>
              <a:rPr lang="fr-FR" sz="2800" spc="15" dirty="0">
                <a:solidFill>
                  <a:srgbClr val="212121"/>
                </a:solidFill>
                <a:latin typeface="Arial"/>
                <a:cs typeface="Arial"/>
              </a:rPr>
              <a:t>la </a:t>
            </a:r>
            <a:r>
              <a:rPr lang="fr-FR" sz="2800" spc="70" dirty="0">
                <a:solidFill>
                  <a:srgbClr val="212121"/>
                </a:solidFill>
                <a:latin typeface="Arial"/>
                <a:cs typeface="Arial"/>
              </a:rPr>
              <a:t>corrélation </a:t>
            </a:r>
            <a:r>
              <a:rPr lang="fr-FR" sz="2800" spc="60" dirty="0">
                <a:solidFill>
                  <a:srgbClr val="212121"/>
                </a:solidFill>
                <a:latin typeface="Arial"/>
                <a:cs typeface="Arial"/>
              </a:rPr>
              <a:t>du journal </a:t>
            </a:r>
            <a:r>
              <a:rPr lang="fr-FR" sz="2800" spc="55" dirty="0">
                <a:solidFill>
                  <a:srgbClr val="212121"/>
                </a:solidFill>
                <a:latin typeface="Arial"/>
                <a:cs typeface="Arial"/>
              </a:rPr>
              <a:t>des</a:t>
            </a:r>
            <a:r>
              <a:rPr lang="fr-FR" sz="2800" spc="-490" dirty="0">
                <a:solidFill>
                  <a:srgbClr val="212121"/>
                </a:solidFill>
                <a:latin typeface="Arial"/>
                <a:cs typeface="Arial"/>
              </a:rPr>
              <a:t> </a:t>
            </a:r>
            <a:r>
              <a:rPr lang="fr-FR" sz="2800" spc="45" dirty="0">
                <a:solidFill>
                  <a:srgbClr val="212121"/>
                </a:solidFill>
                <a:latin typeface="Arial"/>
                <a:cs typeface="Arial"/>
              </a:rPr>
              <a:t>événements</a:t>
            </a:r>
            <a:r>
              <a:rPr lang="fr-FR" dirty="0">
                <a:latin typeface="Arial"/>
                <a:cs typeface="Arial"/>
              </a:rPr>
              <a:t> </a:t>
            </a:r>
            <a:r>
              <a:rPr lang="fr-FR" sz="2800" spc="35" dirty="0">
                <a:solidFill>
                  <a:srgbClr val="212121"/>
                </a:solidFill>
                <a:latin typeface="Arial"/>
                <a:cs typeface="Arial"/>
              </a:rPr>
              <a:t>entre </a:t>
            </a:r>
            <a:r>
              <a:rPr lang="fr-FR" sz="2800" spc="15" dirty="0">
                <a:solidFill>
                  <a:srgbClr val="212121"/>
                </a:solidFill>
                <a:latin typeface="Arial"/>
                <a:cs typeface="Arial"/>
              </a:rPr>
              <a:t>le </a:t>
            </a:r>
            <a:r>
              <a:rPr lang="fr-FR" sz="2800" spc="55" dirty="0">
                <a:solidFill>
                  <a:srgbClr val="212121"/>
                </a:solidFill>
                <a:latin typeface="Arial"/>
                <a:cs typeface="Arial"/>
              </a:rPr>
              <a:t>système </a:t>
            </a:r>
            <a:r>
              <a:rPr lang="fr-FR" sz="2800" spc="60" dirty="0">
                <a:solidFill>
                  <a:srgbClr val="212121"/>
                </a:solidFill>
                <a:latin typeface="Arial"/>
                <a:cs typeface="Arial"/>
              </a:rPr>
              <a:t>interne </a:t>
            </a:r>
            <a:r>
              <a:rPr lang="fr-FR" sz="2800" dirty="0">
                <a:solidFill>
                  <a:srgbClr val="212121"/>
                </a:solidFill>
                <a:latin typeface="Arial"/>
                <a:cs typeface="Arial"/>
              </a:rPr>
              <a:t>(privé) </a:t>
            </a:r>
            <a:r>
              <a:rPr lang="fr-FR" sz="2800" spc="45" dirty="0">
                <a:solidFill>
                  <a:srgbClr val="212121"/>
                </a:solidFill>
                <a:latin typeface="Arial"/>
                <a:cs typeface="Arial"/>
              </a:rPr>
              <a:t>et </a:t>
            </a:r>
            <a:r>
              <a:rPr lang="fr-FR" sz="2800" spc="55" dirty="0">
                <a:solidFill>
                  <a:srgbClr val="212121"/>
                </a:solidFill>
                <a:latin typeface="Arial"/>
                <a:cs typeface="Arial"/>
              </a:rPr>
              <a:t>externe </a:t>
            </a:r>
            <a:r>
              <a:rPr lang="fr-FR" sz="2800" spc="35" dirty="0">
                <a:solidFill>
                  <a:srgbClr val="212121"/>
                </a:solidFill>
                <a:latin typeface="Arial"/>
                <a:cs typeface="Arial"/>
              </a:rPr>
              <a:t>(public) </a:t>
            </a:r>
            <a:r>
              <a:rPr lang="fr-FR" sz="2800" spc="80" dirty="0">
                <a:solidFill>
                  <a:srgbClr val="212121"/>
                </a:solidFill>
                <a:latin typeface="Arial"/>
                <a:cs typeface="Arial"/>
              </a:rPr>
              <a:t>pour </a:t>
            </a:r>
            <a:r>
              <a:rPr lang="fr-FR" sz="2800" spc="50" dirty="0">
                <a:solidFill>
                  <a:srgbClr val="212121"/>
                </a:solidFill>
                <a:latin typeface="Arial"/>
                <a:cs typeface="Arial"/>
              </a:rPr>
              <a:t>effectuer </a:t>
            </a:r>
            <a:r>
              <a:rPr lang="fr-FR" sz="2800" spc="55" dirty="0">
                <a:solidFill>
                  <a:srgbClr val="212121"/>
                </a:solidFill>
                <a:latin typeface="Arial"/>
                <a:cs typeface="Arial"/>
              </a:rPr>
              <a:t>des </a:t>
            </a:r>
            <a:r>
              <a:rPr lang="fr-FR" sz="2800" spc="80" dirty="0">
                <a:solidFill>
                  <a:srgbClr val="212121"/>
                </a:solidFill>
                <a:latin typeface="Arial"/>
                <a:cs typeface="Arial"/>
              </a:rPr>
              <a:t>actions  </a:t>
            </a:r>
            <a:r>
              <a:rPr lang="fr-FR" sz="2800" spc="90" dirty="0">
                <a:solidFill>
                  <a:srgbClr val="212121"/>
                </a:solidFill>
                <a:latin typeface="Arial"/>
                <a:cs typeface="Arial"/>
              </a:rPr>
              <a:t>d’audit.</a:t>
            </a:r>
            <a:endParaRPr lang="fr-FR" sz="280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1D75D743-F33E-F91E-2905-E29721A6555D}"/>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0B9D8950-DCB4-A8AD-FB33-2474B3D95A51}"/>
              </a:ext>
            </a:extLst>
          </p:cNvPr>
          <p:cNvSpPr>
            <a:spLocks noGrp="1"/>
          </p:cNvSpPr>
          <p:nvPr>
            <p:ph type="sldNum" sz="quarter" idx="12"/>
          </p:nvPr>
        </p:nvSpPr>
        <p:spPr/>
        <p:txBody>
          <a:bodyPr/>
          <a:lstStyle/>
          <a:p>
            <a:fld id="{B82CCC60-E8CD-4174-8B1A-7DF615B22EEF}" type="slidenum">
              <a:rPr lang="en-US" smtClean="0"/>
              <a:pPr/>
              <a:t>36</a:t>
            </a:fld>
            <a:endParaRPr lang="en-US"/>
          </a:p>
        </p:txBody>
      </p:sp>
    </p:spTree>
    <p:extLst>
      <p:ext uri="{BB962C8B-B14F-4D97-AF65-F5344CB8AC3E}">
        <p14:creationId xmlns:p14="http://schemas.microsoft.com/office/powerpoint/2010/main" val="33828452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9AA0D4-5FE4-72CE-C92E-255320E700D9}"/>
              </a:ext>
            </a:extLst>
          </p:cNvPr>
          <p:cNvSpPr>
            <a:spLocks noGrp="1"/>
          </p:cNvSpPr>
          <p:nvPr>
            <p:ph type="title"/>
          </p:nvPr>
        </p:nvSpPr>
        <p:spPr/>
        <p:txBody>
          <a:bodyPr>
            <a:normAutofit fontScale="90000"/>
          </a:bodyPr>
          <a:lstStyle/>
          <a:p>
            <a:r>
              <a:rPr lang="fr-FR" spc="5" dirty="0"/>
              <a:t>Les </a:t>
            </a:r>
            <a:r>
              <a:rPr lang="fr-FR" dirty="0"/>
              <a:t>défis </a:t>
            </a:r>
            <a:r>
              <a:rPr lang="fr-FR" spc="5" dirty="0"/>
              <a:t>du </a:t>
            </a:r>
            <a:r>
              <a:rPr lang="fr-FR" dirty="0"/>
              <a:t>Cloud </a:t>
            </a:r>
            <a:r>
              <a:rPr lang="fr-FR" spc="10" dirty="0" err="1"/>
              <a:t>Computing</a:t>
            </a:r>
            <a:endParaRPr lang="fr-FR" dirty="0"/>
          </a:p>
        </p:txBody>
      </p:sp>
      <p:sp>
        <p:nvSpPr>
          <p:cNvPr id="3" name="Espace réservé du contenu 2">
            <a:extLst>
              <a:ext uri="{FF2B5EF4-FFF2-40B4-BE49-F238E27FC236}">
                <a16:creationId xmlns:a16="http://schemas.microsoft.com/office/drawing/2014/main" id="{EFB07ACD-46DE-0C0A-6394-130F65E6AB15}"/>
              </a:ext>
            </a:extLst>
          </p:cNvPr>
          <p:cNvSpPr>
            <a:spLocks noGrp="1"/>
          </p:cNvSpPr>
          <p:nvPr>
            <p:ph idx="1"/>
          </p:nvPr>
        </p:nvSpPr>
        <p:spPr>
          <a:xfrm>
            <a:off x="448966" y="1960929"/>
            <a:ext cx="8246070" cy="3080177"/>
          </a:xfrm>
        </p:spPr>
        <p:txBody>
          <a:bodyPr>
            <a:normAutofit fontScale="32500" lnSpcReduction="20000"/>
          </a:bodyPr>
          <a:lstStyle/>
          <a:p>
            <a:pPr marL="471170" indent="-459105" algn="just">
              <a:lnSpc>
                <a:spcPct val="120000"/>
              </a:lnSpc>
              <a:spcBef>
                <a:spcPts val="100"/>
              </a:spcBef>
              <a:buChar char="•"/>
              <a:tabLst>
                <a:tab pos="471170" algn="l"/>
                <a:tab pos="471805" algn="l"/>
                <a:tab pos="3354070" algn="l"/>
              </a:tabLst>
            </a:pPr>
            <a:r>
              <a:rPr lang="fr-FR" sz="3550" dirty="0">
                <a:latin typeface="Arial Black"/>
                <a:cs typeface="Arial Black"/>
              </a:rPr>
              <a:t>Protection </a:t>
            </a:r>
            <a:r>
              <a:rPr lang="fr-FR" sz="3550" spc="-5" dirty="0">
                <a:latin typeface="Arial Black"/>
                <a:cs typeface="Arial Black"/>
              </a:rPr>
              <a:t>des</a:t>
            </a:r>
            <a:r>
              <a:rPr lang="fr-FR" sz="3550" spc="-40" dirty="0">
                <a:latin typeface="Arial Black"/>
                <a:cs typeface="Arial Black"/>
              </a:rPr>
              <a:t> </a:t>
            </a:r>
            <a:r>
              <a:rPr lang="fr-FR" sz="3550" spc="-10" dirty="0">
                <a:latin typeface="Arial Black"/>
                <a:cs typeface="Arial Black"/>
              </a:rPr>
              <a:t>données</a:t>
            </a:r>
            <a:endParaRPr lang="fr-FR" sz="3550" dirty="0">
              <a:latin typeface="Arial Black"/>
              <a:cs typeface="Arial Black"/>
            </a:endParaRPr>
          </a:p>
          <a:p>
            <a:pPr marL="920750" marR="339725" lvl="1" indent="-459105" algn="just">
              <a:lnSpc>
                <a:spcPct val="120000"/>
              </a:lnSpc>
              <a:spcBef>
                <a:spcPts val="75"/>
              </a:spcBef>
              <a:buChar char="-"/>
              <a:tabLst>
                <a:tab pos="920750" algn="l"/>
                <a:tab pos="921385" algn="l"/>
              </a:tabLst>
            </a:pPr>
            <a:r>
              <a:rPr lang="fr-FR" sz="3550" spc="25" dirty="0">
                <a:latin typeface="Arial"/>
                <a:cs typeface="Arial"/>
              </a:rPr>
              <a:t>Les </a:t>
            </a:r>
            <a:r>
              <a:rPr lang="fr-FR" sz="3550" spc="60" dirty="0">
                <a:latin typeface="Arial"/>
                <a:cs typeface="Arial"/>
              </a:rPr>
              <a:t>fournisseurs </a:t>
            </a:r>
            <a:r>
              <a:rPr lang="fr-FR" sz="3550" spc="50" dirty="0">
                <a:latin typeface="Arial"/>
                <a:cs typeface="Arial"/>
              </a:rPr>
              <a:t>de services </a:t>
            </a:r>
            <a:r>
              <a:rPr lang="fr-FR" sz="3550" spc="80" dirty="0">
                <a:latin typeface="Arial"/>
                <a:cs typeface="Arial"/>
              </a:rPr>
              <a:t>sont </a:t>
            </a:r>
            <a:r>
              <a:rPr lang="fr-FR" sz="3550" spc="50" dirty="0">
                <a:latin typeface="Arial"/>
                <a:cs typeface="Arial"/>
              </a:rPr>
              <a:t>responsables </a:t>
            </a:r>
            <a:r>
              <a:rPr lang="fr-FR" sz="3550" spc="60" dirty="0">
                <a:latin typeface="Arial"/>
                <a:cs typeface="Arial"/>
              </a:rPr>
              <a:t>du maintien </a:t>
            </a:r>
            <a:r>
              <a:rPr lang="fr-FR" sz="3550" spc="50" dirty="0">
                <a:latin typeface="Arial"/>
                <a:cs typeface="Arial"/>
              </a:rPr>
              <a:t>et de </a:t>
            </a:r>
            <a:r>
              <a:rPr lang="fr-FR" sz="3550" spc="15" dirty="0">
                <a:latin typeface="Arial"/>
                <a:cs typeface="Arial"/>
              </a:rPr>
              <a:t>la </a:t>
            </a:r>
            <a:r>
              <a:rPr lang="fr-FR" sz="3550" spc="70" dirty="0">
                <a:latin typeface="Arial"/>
                <a:cs typeface="Arial"/>
              </a:rPr>
              <a:t>sécurité </a:t>
            </a:r>
            <a:r>
              <a:rPr lang="fr-FR" sz="3550" spc="50" dirty="0">
                <a:latin typeface="Arial"/>
                <a:cs typeface="Arial"/>
              </a:rPr>
              <a:t>des  données.</a:t>
            </a:r>
            <a:endParaRPr lang="fr-FR" sz="3550" dirty="0">
              <a:latin typeface="Arial"/>
              <a:cs typeface="Arial"/>
            </a:endParaRPr>
          </a:p>
          <a:p>
            <a:pPr marL="920750" marR="2475865" lvl="1" indent="-459105" algn="just">
              <a:lnSpc>
                <a:spcPct val="120000"/>
              </a:lnSpc>
              <a:spcBef>
                <a:spcPts val="10"/>
              </a:spcBef>
              <a:buChar char="-"/>
              <a:tabLst>
                <a:tab pos="920750" algn="l"/>
                <a:tab pos="921385" algn="l"/>
              </a:tabLst>
            </a:pPr>
            <a:r>
              <a:rPr lang="fr-FR" sz="3550" spc="25" dirty="0">
                <a:latin typeface="Arial"/>
                <a:cs typeface="Arial"/>
              </a:rPr>
              <a:t>Les </a:t>
            </a:r>
            <a:r>
              <a:rPr lang="fr-FR" sz="3550" spc="50" dirty="0">
                <a:latin typeface="Arial"/>
                <a:cs typeface="Arial"/>
              </a:rPr>
              <a:t>entreprises </a:t>
            </a:r>
            <a:r>
              <a:rPr lang="fr-FR" sz="3550" spc="65" dirty="0">
                <a:latin typeface="Arial"/>
                <a:cs typeface="Arial"/>
              </a:rPr>
              <a:t>peuvent </a:t>
            </a:r>
            <a:r>
              <a:rPr lang="fr-FR" sz="3550" spc="55" dirty="0">
                <a:latin typeface="Arial"/>
                <a:cs typeface="Arial"/>
              </a:rPr>
              <a:t>acheter </a:t>
            </a:r>
            <a:r>
              <a:rPr lang="fr-FR" sz="3550" spc="25" dirty="0">
                <a:latin typeface="Arial"/>
                <a:cs typeface="Arial"/>
              </a:rPr>
              <a:t>une </a:t>
            </a:r>
            <a:r>
              <a:rPr lang="fr-FR" sz="3550" spc="50" dirty="0">
                <a:latin typeface="Arial"/>
                <a:cs typeface="Arial"/>
              </a:rPr>
              <a:t>garantie </a:t>
            </a:r>
            <a:r>
              <a:rPr lang="fr-FR" sz="3550" spc="45" dirty="0">
                <a:latin typeface="Arial"/>
                <a:cs typeface="Arial"/>
              </a:rPr>
              <a:t>de </a:t>
            </a:r>
            <a:r>
              <a:rPr lang="fr-FR" sz="3550" spc="65" dirty="0">
                <a:latin typeface="Arial"/>
                <a:cs typeface="Arial"/>
              </a:rPr>
              <a:t>sécurité </a:t>
            </a:r>
            <a:r>
              <a:rPr lang="fr-FR" sz="3550" spc="55" dirty="0">
                <a:latin typeface="Arial"/>
                <a:cs typeface="Arial"/>
              </a:rPr>
              <a:t>des </a:t>
            </a:r>
            <a:r>
              <a:rPr lang="fr-FR" sz="3550" spc="60" dirty="0">
                <a:latin typeface="Arial"/>
                <a:cs typeface="Arial"/>
              </a:rPr>
              <a:t>données  </a:t>
            </a:r>
            <a:r>
              <a:rPr lang="fr-FR" sz="3550" spc="70" dirty="0">
                <a:latin typeface="Arial"/>
                <a:cs typeface="Arial"/>
              </a:rPr>
              <a:t>commerciales </a:t>
            </a:r>
            <a:r>
              <a:rPr lang="fr-FR" sz="3550" spc="35" dirty="0">
                <a:latin typeface="Arial"/>
                <a:cs typeface="Arial"/>
              </a:rPr>
              <a:t>auprès </a:t>
            </a:r>
            <a:r>
              <a:rPr lang="fr-FR" sz="3550" spc="55" dirty="0">
                <a:latin typeface="Arial"/>
                <a:cs typeface="Arial"/>
              </a:rPr>
              <a:t>des</a:t>
            </a:r>
            <a:r>
              <a:rPr lang="fr-FR" sz="3550" spc="85" dirty="0">
                <a:latin typeface="Arial"/>
                <a:cs typeface="Arial"/>
              </a:rPr>
              <a:t> </a:t>
            </a:r>
            <a:r>
              <a:rPr lang="fr-FR" sz="3550" spc="50" dirty="0">
                <a:latin typeface="Arial"/>
                <a:cs typeface="Arial"/>
              </a:rPr>
              <a:t>fournisseurs.</a:t>
            </a:r>
            <a:endParaRPr lang="fr-FR" sz="3550" dirty="0">
              <a:latin typeface="Arial"/>
              <a:cs typeface="Arial"/>
            </a:endParaRPr>
          </a:p>
          <a:p>
            <a:pPr marL="920750" marR="5080" lvl="1" indent="-459105" algn="just">
              <a:lnSpc>
                <a:spcPct val="120000"/>
              </a:lnSpc>
              <a:spcBef>
                <a:spcPts val="15"/>
              </a:spcBef>
              <a:buChar char="-"/>
              <a:tabLst>
                <a:tab pos="920750" algn="l"/>
                <a:tab pos="921385" algn="l"/>
              </a:tabLst>
            </a:pPr>
            <a:r>
              <a:rPr lang="fr-FR" sz="3550" spc="15" dirty="0">
                <a:latin typeface="Arial"/>
                <a:cs typeface="Arial"/>
              </a:rPr>
              <a:t>Dans </a:t>
            </a:r>
            <a:r>
              <a:rPr lang="fr-FR" sz="3550" spc="50" dirty="0">
                <a:latin typeface="Arial"/>
                <a:cs typeface="Arial"/>
              </a:rPr>
              <a:t>de </a:t>
            </a:r>
            <a:r>
              <a:rPr lang="fr-FR" sz="3550" spc="75" dirty="0">
                <a:latin typeface="Arial"/>
                <a:cs typeface="Arial"/>
              </a:rPr>
              <a:t>nombreux </a:t>
            </a:r>
            <a:r>
              <a:rPr lang="fr-FR" sz="3550" spc="40" dirty="0">
                <a:latin typeface="Arial"/>
                <a:cs typeface="Arial"/>
              </a:rPr>
              <a:t>cas, </a:t>
            </a:r>
            <a:r>
              <a:rPr lang="fr-FR" sz="3550" spc="85" dirty="0">
                <a:latin typeface="Arial"/>
                <a:cs typeface="Arial"/>
              </a:rPr>
              <a:t>l'emplacement </a:t>
            </a:r>
            <a:r>
              <a:rPr lang="fr-FR" sz="3550" spc="50" dirty="0">
                <a:latin typeface="Arial"/>
                <a:cs typeface="Arial"/>
              </a:rPr>
              <a:t>de </a:t>
            </a:r>
            <a:r>
              <a:rPr lang="fr-FR" sz="3550" spc="80" dirty="0">
                <a:latin typeface="Arial"/>
                <a:cs typeface="Arial"/>
              </a:rPr>
              <a:t>stockage </a:t>
            </a:r>
            <a:r>
              <a:rPr lang="fr-FR" sz="3550" spc="10" dirty="0">
                <a:latin typeface="Arial"/>
                <a:cs typeface="Arial"/>
              </a:rPr>
              <a:t>réel </a:t>
            </a:r>
            <a:r>
              <a:rPr lang="fr-FR" sz="3550" spc="95" dirty="0">
                <a:latin typeface="Arial"/>
                <a:cs typeface="Arial"/>
              </a:rPr>
              <a:t>n'est </a:t>
            </a:r>
            <a:r>
              <a:rPr lang="fr-FR" sz="3550" spc="55" dirty="0">
                <a:latin typeface="Arial"/>
                <a:cs typeface="Arial"/>
              </a:rPr>
              <a:t>pas </a:t>
            </a:r>
            <a:r>
              <a:rPr lang="fr-FR" sz="3550" spc="60" dirty="0">
                <a:latin typeface="Arial"/>
                <a:cs typeface="Arial"/>
              </a:rPr>
              <a:t>divulgué, </a:t>
            </a:r>
            <a:r>
              <a:rPr lang="fr-FR" sz="3550" spc="45" dirty="0">
                <a:latin typeface="Arial"/>
                <a:cs typeface="Arial"/>
              </a:rPr>
              <a:t>ce </a:t>
            </a:r>
            <a:r>
              <a:rPr lang="fr-FR" sz="3550" spc="70" dirty="0">
                <a:latin typeface="Arial"/>
                <a:cs typeface="Arial"/>
              </a:rPr>
              <a:t>qui  </a:t>
            </a:r>
            <a:r>
              <a:rPr lang="fr-FR" sz="3550" spc="55" dirty="0">
                <a:latin typeface="Arial"/>
                <a:cs typeface="Arial"/>
              </a:rPr>
              <a:t>ajoute </a:t>
            </a:r>
            <a:r>
              <a:rPr lang="fr-FR" sz="3550" spc="40" dirty="0">
                <a:latin typeface="Arial"/>
                <a:cs typeface="Arial"/>
              </a:rPr>
              <a:t>aux </a:t>
            </a:r>
            <a:r>
              <a:rPr lang="fr-FR" sz="3550" spc="95" dirty="0">
                <a:latin typeface="Arial"/>
                <a:cs typeface="Arial"/>
              </a:rPr>
              <a:t>préoccupations </a:t>
            </a:r>
            <a:r>
              <a:rPr lang="fr-FR" sz="3550" spc="50" dirty="0">
                <a:latin typeface="Arial"/>
                <a:cs typeface="Arial"/>
              </a:rPr>
              <a:t>de </a:t>
            </a:r>
            <a:r>
              <a:rPr lang="fr-FR" sz="3550" spc="70" dirty="0">
                <a:latin typeface="Arial"/>
                <a:cs typeface="Arial"/>
              </a:rPr>
              <a:t>sécurité </a:t>
            </a:r>
            <a:r>
              <a:rPr lang="fr-FR" sz="3550" spc="55" dirty="0">
                <a:latin typeface="Arial"/>
                <a:cs typeface="Arial"/>
              </a:rPr>
              <a:t>des</a:t>
            </a:r>
            <a:r>
              <a:rPr lang="fr-FR" sz="3550" spc="110" dirty="0">
                <a:latin typeface="Arial"/>
                <a:cs typeface="Arial"/>
              </a:rPr>
              <a:t> </a:t>
            </a:r>
            <a:r>
              <a:rPr lang="fr-FR" sz="3550" spc="45" dirty="0">
                <a:latin typeface="Arial"/>
                <a:cs typeface="Arial"/>
              </a:rPr>
              <a:t>entreprises.</a:t>
            </a:r>
            <a:endParaRPr lang="fr-FR" sz="5550" dirty="0">
              <a:latin typeface="Arial"/>
              <a:cs typeface="Arial"/>
            </a:endParaRPr>
          </a:p>
          <a:p>
            <a:pPr marL="471170" lvl="2" indent="-459105" algn="just">
              <a:lnSpc>
                <a:spcPct val="120000"/>
              </a:lnSpc>
              <a:spcBef>
                <a:spcPts val="100"/>
              </a:spcBef>
              <a:tabLst>
                <a:tab pos="471170" algn="l"/>
                <a:tab pos="471805" algn="l"/>
                <a:tab pos="3354070" algn="l"/>
              </a:tabLst>
            </a:pPr>
            <a:r>
              <a:rPr lang="fr-FR" sz="3700" dirty="0">
                <a:latin typeface="Arial Black"/>
              </a:rPr>
              <a:t>Récupération et disponibilité des données</a:t>
            </a:r>
          </a:p>
          <a:p>
            <a:pPr marL="1458595" lvl="3" indent="-459105" algn="just">
              <a:lnSpc>
                <a:spcPct val="120000"/>
              </a:lnSpc>
              <a:spcBef>
                <a:spcPts val="434"/>
              </a:spcBef>
              <a:buChar char="-"/>
              <a:tabLst>
                <a:tab pos="1458595" algn="l"/>
                <a:tab pos="1459230" algn="l"/>
              </a:tabLst>
            </a:pPr>
            <a:r>
              <a:rPr lang="fr-FR" sz="3550" spc="20" dirty="0">
                <a:latin typeface="Arial"/>
                <a:cs typeface="Arial"/>
              </a:rPr>
              <a:t>Les </a:t>
            </a:r>
            <a:r>
              <a:rPr lang="fr-FR" sz="3550" spc="60" dirty="0">
                <a:latin typeface="Arial"/>
                <a:cs typeface="Arial"/>
              </a:rPr>
              <a:t>fournisseurs </a:t>
            </a:r>
            <a:r>
              <a:rPr lang="fr-FR" sz="3550" spc="50" dirty="0">
                <a:latin typeface="Arial"/>
                <a:cs typeface="Arial"/>
              </a:rPr>
              <a:t>de services </a:t>
            </a:r>
            <a:r>
              <a:rPr lang="fr-FR" sz="3550" spc="65" dirty="0">
                <a:latin typeface="Arial"/>
                <a:cs typeface="Arial"/>
              </a:rPr>
              <a:t>Cloud </a:t>
            </a:r>
            <a:r>
              <a:rPr lang="fr-FR" sz="3550" spc="80" dirty="0">
                <a:latin typeface="Arial"/>
                <a:cs typeface="Arial"/>
              </a:rPr>
              <a:t>sont </a:t>
            </a:r>
            <a:r>
              <a:rPr lang="fr-FR" sz="3550" spc="50" dirty="0">
                <a:latin typeface="Arial"/>
                <a:cs typeface="Arial"/>
              </a:rPr>
              <a:t>responsables de</a:t>
            </a:r>
            <a:r>
              <a:rPr lang="fr-FR" sz="3550" spc="265" dirty="0">
                <a:latin typeface="Arial"/>
                <a:cs typeface="Arial"/>
              </a:rPr>
              <a:t> </a:t>
            </a:r>
            <a:r>
              <a:rPr lang="fr-FR" sz="3550" dirty="0">
                <a:latin typeface="Arial"/>
                <a:cs typeface="Arial"/>
              </a:rPr>
              <a:t>:</a:t>
            </a:r>
          </a:p>
          <a:p>
            <a:pPr marL="1993264" lvl="4" indent="-459105" algn="just">
              <a:lnSpc>
                <a:spcPct val="120000"/>
              </a:lnSpc>
              <a:spcBef>
                <a:spcPts val="95"/>
              </a:spcBef>
              <a:buSzPct val="97183"/>
              <a:buFont typeface="Aroania"/>
              <a:buChar char="✓"/>
              <a:tabLst>
                <a:tab pos="1993900" algn="l"/>
              </a:tabLst>
            </a:pPr>
            <a:r>
              <a:rPr lang="fr-FR" sz="3550" spc="70" dirty="0">
                <a:latin typeface="Arial"/>
                <a:cs typeface="Arial"/>
              </a:rPr>
              <a:t>Réplication </a:t>
            </a:r>
            <a:r>
              <a:rPr lang="fr-FR" sz="3550" spc="55" dirty="0">
                <a:latin typeface="Arial"/>
                <a:cs typeface="Arial"/>
              </a:rPr>
              <a:t>des</a:t>
            </a:r>
            <a:r>
              <a:rPr lang="fr-FR" sz="3550" spc="50" dirty="0">
                <a:latin typeface="Arial"/>
                <a:cs typeface="Arial"/>
              </a:rPr>
              <a:t> données.</a:t>
            </a:r>
            <a:endParaRPr lang="fr-FR" sz="3550" dirty="0">
              <a:latin typeface="Arial"/>
              <a:cs typeface="Arial"/>
            </a:endParaRPr>
          </a:p>
          <a:p>
            <a:pPr marL="1993264" lvl="4" indent="-459105" algn="just">
              <a:lnSpc>
                <a:spcPct val="120000"/>
              </a:lnSpc>
              <a:buSzPct val="97183"/>
              <a:buFont typeface="Aroania"/>
              <a:buChar char="✓"/>
              <a:tabLst>
                <a:tab pos="1993900" algn="l"/>
              </a:tabLst>
            </a:pPr>
            <a:r>
              <a:rPr lang="fr-FR" sz="3550" spc="50" dirty="0">
                <a:latin typeface="Arial"/>
                <a:cs typeface="Arial"/>
              </a:rPr>
              <a:t>Supervision </a:t>
            </a:r>
            <a:r>
              <a:rPr lang="fr-FR" sz="3550" spc="60" dirty="0">
                <a:latin typeface="Arial"/>
                <a:cs typeface="Arial"/>
              </a:rPr>
              <a:t>du</a:t>
            </a:r>
            <a:r>
              <a:rPr lang="fr-FR" sz="3550" spc="125" dirty="0">
                <a:latin typeface="Arial"/>
                <a:cs typeface="Arial"/>
              </a:rPr>
              <a:t> </a:t>
            </a:r>
            <a:r>
              <a:rPr lang="fr-FR" sz="3550" spc="50" dirty="0">
                <a:latin typeface="Arial"/>
                <a:cs typeface="Arial"/>
              </a:rPr>
              <a:t>système.</a:t>
            </a:r>
            <a:endParaRPr lang="fr-FR" sz="3550" dirty="0">
              <a:latin typeface="Arial"/>
              <a:cs typeface="Arial"/>
            </a:endParaRPr>
          </a:p>
          <a:p>
            <a:pPr marL="1993264" lvl="4" indent="-459105" algn="just">
              <a:lnSpc>
                <a:spcPct val="120000"/>
              </a:lnSpc>
              <a:buSzPct val="97183"/>
              <a:buFont typeface="Aroania"/>
              <a:buChar char="✓"/>
              <a:tabLst>
                <a:tab pos="1993900" algn="l"/>
              </a:tabLst>
            </a:pPr>
            <a:r>
              <a:rPr lang="fr-FR" sz="3550" spc="50" dirty="0">
                <a:latin typeface="Arial"/>
                <a:cs typeface="Arial"/>
              </a:rPr>
              <a:t>Maintenance.</a:t>
            </a:r>
            <a:endParaRPr lang="fr-FR" sz="3550" dirty="0">
              <a:latin typeface="Arial"/>
              <a:cs typeface="Arial"/>
            </a:endParaRPr>
          </a:p>
          <a:p>
            <a:pPr marL="1993264" lvl="4" indent="-459105" algn="just">
              <a:lnSpc>
                <a:spcPct val="120000"/>
              </a:lnSpc>
              <a:buSzPct val="97183"/>
              <a:buFont typeface="Aroania"/>
              <a:buChar char="✓"/>
              <a:tabLst>
                <a:tab pos="1993900" algn="l"/>
              </a:tabLst>
            </a:pPr>
            <a:r>
              <a:rPr lang="fr-FR" sz="3550" spc="50" dirty="0">
                <a:latin typeface="Arial"/>
                <a:cs typeface="Arial"/>
              </a:rPr>
              <a:t>Restauration </a:t>
            </a:r>
            <a:r>
              <a:rPr lang="fr-FR" sz="3550" spc="55" dirty="0">
                <a:latin typeface="Arial"/>
                <a:cs typeface="Arial"/>
              </a:rPr>
              <a:t>des</a:t>
            </a:r>
            <a:r>
              <a:rPr lang="fr-FR" sz="3550" spc="70" dirty="0">
                <a:latin typeface="Arial"/>
                <a:cs typeface="Arial"/>
              </a:rPr>
              <a:t> </a:t>
            </a:r>
            <a:r>
              <a:rPr lang="fr-FR" sz="3550" spc="50" dirty="0">
                <a:latin typeface="Arial"/>
                <a:cs typeface="Arial"/>
              </a:rPr>
              <a:t>données.</a:t>
            </a:r>
            <a:endParaRPr lang="fr-FR" sz="3550" dirty="0">
              <a:latin typeface="Arial"/>
              <a:cs typeface="Arial"/>
            </a:endParaRPr>
          </a:p>
          <a:p>
            <a:pPr marL="1993264" lvl="4" indent="-459105" algn="just">
              <a:lnSpc>
                <a:spcPct val="120000"/>
              </a:lnSpc>
              <a:buSzPct val="97183"/>
              <a:buFont typeface="Aroania"/>
              <a:buChar char="✓"/>
              <a:tabLst>
                <a:tab pos="1993900" algn="l"/>
              </a:tabLst>
            </a:pPr>
            <a:r>
              <a:rPr lang="fr-FR" sz="3550" spc="45" dirty="0">
                <a:latin typeface="Arial"/>
                <a:cs typeface="Arial"/>
              </a:rPr>
              <a:t>Gestion </a:t>
            </a:r>
            <a:r>
              <a:rPr lang="fr-FR" sz="3550" spc="55" dirty="0">
                <a:latin typeface="Arial"/>
                <a:cs typeface="Arial"/>
              </a:rPr>
              <a:t>des </a:t>
            </a:r>
            <a:r>
              <a:rPr lang="fr-FR" sz="3550" spc="80" dirty="0">
                <a:latin typeface="Arial"/>
                <a:cs typeface="Arial"/>
              </a:rPr>
              <a:t>capacités </a:t>
            </a:r>
            <a:r>
              <a:rPr lang="fr-FR" sz="3550" spc="45" dirty="0">
                <a:latin typeface="Arial"/>
                <a:cs typeface="Arial"/>
              </a:rPr>
              <a:t>et </a:t>
            </a:r>
            <a:r>
              <a:rPr lang="fr-FR" sz="3550" spc="55" dirty="0">
                <a:latin typeface="Arial"/>
                <a:cs typeface="Arial"/>
              </a:rPr>
              <a:t>des</a:t>
            </a:r>
            <a:r>
              <a:rPr lang="fr-FR" sz="3550" spc="114" dirty="0">
                <a:latin typeface="Arial"/>
                <a:cs typeface="Arial"/>
              </a:rPr>
              <a:t> </a:t>
            </a:r>
            <a:r>
              <a:rPr lang="fr-FR" sz="3550" spc="65" dirty="0">
                <a:latin typeface="Arial"/>
                <a:cs typeface="Arial"/>
              </a:rPr>
              <a:t>performances.</a:t>
            </a:r>
            <a:endParaRPr lang="fr-FR" sz="3550" dirty="0">
              <a:latin typeface="Arial"/>
              <a:cs typeface="Arial"/>
            </a:endParaRP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44C69E7A-1C0B-B350-FA7C-268FD7B778D1}"/>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1736AE70-7604-E264-00DA-629FF4606707}"/>
              </a:ext>
            </a:extLst>
          </p:cNvPr>
          <p:cNvSpPr>
            <a:spLocks noGrp="1"/>
          </p:cNvSpPr>
          <p:nvPr>
            <p:ph type="sldNum" sz="quarter" idx="12"/>
          </p:nvPr>
        </p:nvSpPr>
        <p:spPr/>
        <p:txBody>
          <a:bodyPr/>
          <a:lstStyle/>
          <a:p>
            <a:fld id="{B82CCC60-E8CD-4174-8B1A-7DF615B22EEF}" type="slidenum">
              <a:rPr lang="en-US" smtClean="0"/>
              <a:pPr/>
              <a:t>37</a:t>
            </a:fld>
            <a:endParaRPr lang="en-US"/>
          </a:p>
        </p:txBody>
      </p:sp>
    </p:spTree>
    <p:extLst>
      <p:ext uri="{BB962C8B-B14F-4D97-AF65-F5344CB8AC3E}">
        <p14:creationId xmlns:p14="http://schemas.microsoft.com/office/powerpoint/2010/main" val="2055505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C7E988-9FDF-6C48-3527-8A6E0542E55D}"/>
              </a:ext>
            </a:extLst>
          </p:cNvPr>
          <p:cNvSpPr>
            <a:spLocks noGrp="1"/>
          </p:cNvSpPr>
          <p:nvPr>
            <p:ph type="title"/>
          </p:nvPr>
        </p:nvSpPr>
        <p:spPr/>
        <p:txBody>
          <a:bodyPr>
            <a:normAutofit fontScale="90000"/>
          </a:bodyPr>
          <a:lstStyle/>
          <a:p>
            <a:endParaRPr lang="fr-FR"/>
          </a:p>
        </p:txBody>
      </p:sp>
      <p:sp>
        <p:nvSpPr>
          <p:cNvPr id="3" name="Espace réservé du contenu 2">
            <a:extLst>
              <a:ext uri="{FF2B5EF4-FFF2-40B4-BE49-F238E27FC236}">
                <a16:creationId xmlns:a16="http://schemas.microsoft.com/office/drawing/2014/main" id="{4E7640CA-9D18-6B24-6328-DC55684BD483}"/>
              </a:ext>
            </a:extLst>
          </p:cNvPr>
          <p:cNvSpPr>
            <a:spLocks noGrp="1"/>
          </p:cNvSpPr>
          <p:nvPr>
            <p:ph idx="1"/>
          </p:nvPr>
        </p:nvSpPr>
        <p:spPr/>
        <p:txBody>
          <a:bodyPr>
            <a:normAutofit fontScale="40000" lnSpcReduction="20000"/>
          </a:bodyPr>
          <a:lstStyle/>
          <a:p>
            <a:pPr marL="471170" indent="-459105" algn="just">
              <a:lnSpc>
                <a:spcPct val="120000"/>
              </a:lnSpc>
              <a:spcBef>
                <a:spcPts val="100"/>
              </a:spcBef>
              <a:buChar char="•"/>
              <a:tabLst>
                <a:tab pos="471170" algn="l"/>
                <a:tab pos="471805" algn="l"/>
              </a:tabLst>
            </a:pPr>
            <a:r>
              <a:rPr lang="fr-FR" sz="3550" dirty="0">
                <a:latin typeface="Arial Black"/>
                <a:cs typeface="Arial Black"/>
              </a:rPr>
              <a:t>Capacités de</a:t>
            </a:r>
            <a:r>
              <a:rPr lang="fr-FR" sz="3550" spc="-75" dirty="0">
                <a:latin typeface="Arial Black"/>
                <a:cs typeface="Arial Black"/>
              </a:rPr>
              <a:t> </a:t>
            </a:r>
            <a:r>
              <a:rPr lang="fr-FR" sz="3550" spc="-5" dirty="0">
                <a:latin typeface="Arial Black"/>
                <a:cs typeface="Arial Black"/>
              </a:rPr>
              <a:t>gestion</a:t>
            </a:r>
            <a:endParaRPr lang="fr-FR" sz="3550" dirty="0">
              <a:latin typeface="Arial Black"/>
              <a:cs typeface="Arial Black"/>
            </a:endParaRPr>
          </a:p>
          <a:p>
            <a:pPr marL="920750" marR="612140" lvl="1" indent="-459105" algn="just">
              <a:lnSpc>
                <a:spcPct val="120000"/>
              </a:lnSpc>
              <a:spcBef>
                <a:spcPts val="75"/>
              </a:spcBef>
              <a:buChar char="-"/>
              <a:tabLst>
                <a:tab pos="920750" algn="l"/>
                <a:tab pos="921385" algn="l"/>
              </a:tabLst>
            </a:pPr>
            <a:r>
              <a:rPr lang="fr-FR" sz="3550" spc="10" dirty="0">
                <a:latin typeface="Arial"/>
                <a:cs typeface="Arial"/>
              </a:rPr>
              <a:t>Un </a:t>
            </a:r>
            <a:r>
              <a:rPr lang="fr-FR" sz="3550" spc="85" dirty="0">
                <a:latin typeface="Arial"/>
                <a:cs typeface="Arial"/>
              </a:rPr>
              <a:t>fort </a:t>
            </a:r>
            <a:r>
              <a:rPr lang="fr-FR" sz="3550" spc="80" dirty="0">
                <a:latin typeface="Arial"/>
                <a:cs typeface="Arial"/>
              </a:rPr>
              <a:t>potentiel </a:t>
            </a:r>
            <a:r>
              <a:rPr lang="fr-FR" sz="3550" spc="85" dirty="0">
                <a:latin typeface="Arial"/>
                <a:cs typeface="Arial"/>
              </a:rPr>
              <a:t>d'amélioration </a:t>
            </a:r>
            <a:r>
              <a:rPr lang="fr-FR" sz="3550" spc="50" dirty="0">
                <a:latin typeface="Arial"/>
                <a:cs typeface="Arial"/>
              </a:rPr>
              <a:t>de services </a:t>
            </a:r>
            <a:r>
              <a:rPr lang="fr-FR" sz="3550" spc="75" dirty="0">
                <a:latin typeface="Arial"/>
                <a:cs typeface="Arial"/>
              </a:rPr>
              <a:t>fournis </a:t>
            </a:r>
            <a:r>
              <a:rPr lang="fr-FR" sz="3550" spc="55" dirty="0">
                <a:latin typeface="Arial"/>
                <a:cs typeface="Arial"/>
              </a:rPr>
              <a:t>est </a:t>
            </a:r>
            <a:r>
              <a:rPr lang="fr-FR" sz="3550" spc="30" dirty="0">
                <a:latin typeface="Arial"/>
                <a:cs typeface="Arial"/>
              </a:rPr>
              <a:t>nécessaire </a:t>
            </a:r>
            <a:r>
              <a:rPr lang="fr-FR" sz="3550" dirty="0">
                <a:latin typeface="Arial"/>
                <a:cs typeface="Arial"/>
              </a:rPr>
              <a:t>: </a:t>
            </a:r>
            <a:r>
              <a:rPr lang="fr-FR" sz="3550" spc="60" dirty="0">
                <a:latin typeface="Arial"/>
                <a:cs typeface="Arial"/>
              </a:rPr>
              <a:t>évolutivité,  </a:t>
            </a:r>
            <a:r>
              <a:rPr lang="fr-FR" sz="3550" spc="80" dirty="0">
                <a:latin typeface="Arial"/>
                <a:cs typeface="Arial"/>
              </a:rPr>
              <a:t>l'équilibrage </a:t>
            </a:r>
            <a:r>
              <a:rPr lang="fr-FR" sz="3550" spc="45" dirty="0">
                <a:latin typeface="Arial"/>
                <a:cs typeface="Arial"/>
              </a:rPr>
              <a:t>de</a:t>
            </a:r>
            <a:r>
              <a:rPr lang="fr-FR" sz="3550" spc="85" dirty="0">
                <a:latin typeface="Arial"/>
                <a:cs typeface="Arial"/>
              </a:rPr>
              <a:t> </a:t>
            </a:r>
            <a:r>
              <a:rPr lang="fr-FR" sz="3550" spc="50" dirty="0">
                <a:latin typeface="Arial"/>
                <a:cs typeface="Arial"/>
              </a:rPr>
              <a:t>charge.</a:t>
            </a:r>
            <a:endParaRPr lang="fr-FR" sz="3550" dirty="0">
              <a:latin typeface="Arial"/>
              <a:cs typeface="Arial"/>
            </a:endParaRPr>
          </a:p>
          <a:p>
            <a:pPr lvl="1" algn="just">
              <a:lnSpc>
                <a:spcPct val="120000"/>
              </a:lnSpc>
              <a:spcBef>
                <a:spcPts val="55"/>
              </a:spcBef>
              <a:buFont typeface="Arial"/>
              <a:buChar char="-"/>
            </a:pPr>
            <a:endParaRPr lang="fr-FR" sz="4650" dirty="0">
              <a:latin typeface="Arial"/>
              <a:cs typeface="Arial"/>
            </a:endParaRPr>
          </a:p>
          <a:p>
            <a:pPr marL="471170" indent="-459105" algn="just">
              <a:lnSpc>
                <a:spcPct val="120000"/>
              </a:lnSpc>
              <a:buChar char="•"/>
              <a:tabLst>
                <a:tab pos="471170" algn="l"/>
                <a:tab pos="471805" algn="l"/>
              </a:tabLst>
            </a:pPr>
            <a:r>
              <a:rPr lang="fr-FR" sz="3550" spc="-25" dirty="0">
                <a:latin typeface="Arial Black"/>
                <a:cs typeface="Arial Black"/>
              </a:rPr>
              <a:t>Restrictions </a:t>
            </a:r>
            <a:r>
              <a:rPr lang="fr-FR" sz="3550" dirty="0">
                <a:latin typeface="Arial Black"/>
                <a:cs typeface="Arial Black"/>
              </a:rPr>
              <a:t>réglementaires et de</a:t>
            </a:r>
            <a:r>
              <a:rPr lang="fr-FR" sz="3550" spc="-110" dirty="0">
                <a:latin typeface="Arial Black"/>
                <a:cs typeface="Arial Black"/>
              </a:rPr>
              <a:t> </a:t>
            </a:r>
            <a:r>
              <a:rPr lang="fr-FR" sz="3550" spc="5" dirty="0">
                <a:latin typeface="Arial Black"/>
                <a:cs typeface="Arial Black"/>
              </a:rPr>
              <a:t>conformité</a:t>
            </a:r>
            <a:endParaRPr lang="fr-FR" sz="3550" dirty="0">
              <a:latin typeface="Arial Black"/>
              <a:cs typeface="Arial Black"/>
            </a:endParaRPr>
          </a:p>
          <a:p>
            <a:pPr marL="920750" marR="5080" lvl="1" indent="-459105" algn="just">
              <a:lnSpc>
                <a:spcPct val="120000"/>
              </a:lnSpc>
              <a:spcBef>
                <a:spcPts val="65"/>
              </a:spcBef>
              <a:buChar char="-"/>
              <a:tabLst>
                <a:tab pos="920750" algn="l"/>
                <a:tab pos="921385" algn="l"/>
              </a:tabLst>
            </a:pPr>
            <a:r>
              <a:rPr lang="fr-FR" sz="3550" spc="15" dirty="0">
                <a:latin typeface="Arial"/>
                <a:cs typeface="Arial"/>
              </a:rPr>
              <a:t>Dans </a:t>
            </a:r>
            <a:r>
              <a:rPr lang="fr-FR" sz="3550" spc="70" dirty="0">
                <a:latin typeface="Arial"/>
                <a:cs typeface="Arial"/>
              </a:rPr>
              <a:t>certains </a:t>
            </a:r>
            <a:r>
              <a:rPr lang="fr-FR" sz="3550" spc="50" dirty="0">
                <a:latin typeface="Arial"/>
                <a:cs typeface="Arial"/>
              </a:rPr>
              <a:t>pays </a:t>
            </a:r>
            <a:r>
              <a:rPr lang="fr-FR" sz="3550" spc="35" dirty="0">
                <a:latin typeface="Arial"/>
                <a:cs typeface="Arial"/>
              </a:rPr>
              <a:t>européens, </a:t>
            </a:r>
            <a:r>
              <a:rPr lang="fr-FR" sz="3550" spc="20" dirty="0">
                <a:latin typeface="Arial"/>
                <a:cs typeface="Arial"/>
              </a:rPr>
              <a:t>les </a:t>
            </a:r>
            <a:r>
              <a:rPr lang="fr-FR" sz="3550" spc="60" dirty="0">
                <a:latin typeface="Arial"/>
                <a:cs typeface="Arial"/>
              </a:rPr>
              <a:t>réglementations </a:t>
            </a:r>
            <a:r>
              <a:rPr lang="fr-FR" sz="3550" spc="55" dirty="0">
                <a:latin typeface="Arial"/>
                <a:cs typeface="Arial"/>
              </a:rPr>
              <a:t>gouvernementales </a:t>
            </a:r>
            <a:r>
              <a:rPr lang="fr-FR" sz="3550" spc="10" dirty="0">
                <a:latin typeface="Arial"/>
                <a:cs typeface="Arial"/>
              </a:rPr>
              <a:t>ne  </a:t>
            </a:r>
            <a:r>
              <a:rPr lang="fr-FR" sz="3550" spc="80" dirty="0">
                <a:latin typeface="Arial"/>
                <a:cs typeface="Arial"/>
              </a:rPr>
              <a:t>permettent </a:t>
            </a:r>
            <a:r>
              <a:rPr lang="fr-FR" sz="3550" spc="55" dirty="0">
                <a:latin typeface="Arial"/>
                <a:cs typeface="Arial"/>
              </a:rPr>
              <a:t>pas que </a:t>
            </a:r>
            <a:r>
              <a:rPr lang="fr-FR" sz="3550" spc="20" dirty="0">
                <a:latin typeface="Arial"/>
                <a:cs typeface="Arial"/>
              </a:rPr>
              <a:t>les </a:t>
            </a:r>
            <a:r>
              <a:rPr lang="fr-FR" sz="3550" spc="80" dirty="0">
                <a:latin typeface="Arial"/>
                <a:cs typeface="Arial"/>
              </a:rPr>
              <a:t>informations </a:t>
            </a:r>
            <a:r>
              <a:rPr lang="fr-FR" sz="3550" spc="50" dirty="0">
                <a:latin typeface="Arial"/>
                <a:cs typeface="Arial"/>
              </a:rPr>
              <a:t>personnelles </a:t>
            </a:r>
            <a:r>
              <a:rPr lang="fr-FR" sz="3550" spc="60" dirty="0">
                <a:latin typeface="Arial"/>
                <a:cs typeface="Arial"/>
              </a:rPr>
              <a:t>du </a:t>
            </a:r>
            <a:r>
              <a:rPr lang="fr-FR" sz="3550" spc="75" dirty="0">
                <a:latin typeface="Arial"/>
                <a:cs typeface="Arial"/>
              </a:rPr>
              <a:t>client </a:t>
            </a:r>
            <a:r>
              <a:rPr lang="fr-FR" sz="3550" spc="50" dirty="0">
                <a:latin typeface="Arial"/>
                <a:cs typeface="Arial"/>
              </a:rPr>
              <a:t>et </a:t>
            </a:r>
            <a:r>
              <a:rPr lang="fr-FR" sz="3550" spc="35" dirty="0">
                <a:latin typeface="Arial"/>
                <a:cs typeface="Arial"/>
              </a:rPr>
              <a:t>autres </a:t>
            </a:r>
            <a:r>
              <a:rPr lang="fr-FR" sz="3550" spc="80" dirty="0">
                <a:latin typeface="Arial"/>
                <a:cs typeface="Arial"/>
              </a:rPr>
              <a:t>informations  </a:t>
            </a:r>
            <a:r>
              <a:rPr lang="fr-FR" sz="3550" spc="50" dirty="0">
                <a:latin typeface="Arial"/>
                <a:cs typeface="Arial"/>
              </a:rPr>
              <a:t>sensibles </a:t>
            </a:r>
            <a:r>
              <a:rPr lang="fr-FR" sz="3550" spc="70" dirty="0">
                <a:latin typeface="Arial"/>
                <a:cs typeface="Arial"/>
              </a:rPr>
              <a:t>soient </a:t>
            </a:r>
            <a:r>
              <a:rPr lang="fr-FR" sz="3550" spc="75" dirty="0">
                <a:latin typeface="Arial"/>
                <a:cs typeface="Arial"/>
              </a:rPr>
              <a:t>physiquement </a:t>
            </a:r>
            <a:r>
              <a:rPr lang="fr-FR" sz="3550" spc="45" dirty="0">
                <a:latin typeface="Arial"/>
                <a:cs typeface="Arial"/>
              </a:rPr>
              <a:t>situées </a:t>
            </a:r>
            <a:r>
              <a:rPr lang="fr-FR" sz="3550" spc="10" dirty="0">
                <a:latin typeface="Arial"/>
                <a:cs typeface="Arial"/>
              </a:rPr>
              <a:t>en </a:t>
            </a:r>
            <a:r>
              <a:rPr lang="fr-FR" sz="3550" spc="65" dirty="0">
                <a:latin typeface="Arial"/>
                <a:cs typeface="Arial"/>
              </a:rPr>
              <a:t>dehors </a:t>
            </a:r>
            <a:r>
              <a:rPr lang="fr-FR" sz="3550" spc="50" dirty="0">
                <a:latin typeface="Arial"/>
                <a:cs typeface="Arial"/>
              </a:rPr>
              <a:t>de </a:t>
            </a:r>
            <a:r>
              <a:rPr lang="fr-FR" sz="3550" spc="75" dirty="0">
                <a:latin typeface="Arial"/>
                <a:cs typeface="Arial"/>
              </a:rPr>
              <a:t>l'État </a:t>
            </a:r>
            <a:r>
              <a:rPr lang="fr-FR" sz="3550" spc="50" dirty="0">
                <a:latin typeface="Arial"/>
                <a:cs typeface="Arial"/>
              </a:rPr>
              <a:t>ou</a:t>
            </a:r>
            <a:r>
              <a:rPr lang="fr-FR" sz="3550" spc="919" dirty="0">
                <a:latin typeface="Arial"/>
                <a:cs typeface="Arial"/>
              </a:rPr>
              <a:t> </a:t>
            </a:r>
            <a:r>
              <a:rPr lang="fr-FR" sz="3550" spc="110" dirty="0">
                <a:latin typeface="Arial"/>
                <a:cs typeface="Arial"/>
              </a:rPr>
              <a:t>du pays.</a:t>
            </a:r>
            <a:endParaRPr lang="fr-FR" sz="3550" dirty="0">
              <a:latin typeface="Arial"/>
              <a:cs typeface="Arial"/>
            </a:endParaRPr>
          </a:p>
          <a:p>
            <a:pPr marL="118745" indent="0" algn="just">
              <a:lnSpc>
                <a:spcPct val="120000"/>
              </a:lnSpc>
              <a:spcBef>
                <a:spcPts val="40"/>
              </a:spcBef>
              <a:buNone/>
            </a:pPr>
            <a:r>
              <a:rPr lang="fr-FR" sz="5325" spc="7" baseline="2347" dirty="0">
                <a:latin typeface="AoyagiKouzanFontT"/>
                <a:cs typeface="AoyagiKouzanFontT"/>
              </a:rPr>
              <a:t>➡</a:t>
            </a:r>
            <a:r>
              <a:rPr lang="fr-FR" sz="3550" spc="5" dirty="0">
                <a:latin typeface="Arial"/>
                <a:cs typeface="Arial"/>
              </a:rPr>
              <a:t>Pour </a:t>
            </a:r>
            <a:r>
              <a:rPr lang="fr-FR" sz="3550" spc="65" dirty="0">
                <a:latin typeface="Arial"/>
                <a:cs typeface="Arial"/>
              </a:rPr>
              <a:t>répondre </a:t>
            </a:r>
            <a:r>
              <a:rPr lang="fr-FR" sz="3550" dirty="0">
                <a:latin typeface="Arial"/>
                <a:cs typeface="Arial"/>
              </a:rPr>
              <a:t>à </a:t>
            </a:r>
            <a:r>
              <a:rPr lang="fr-FR" sz="3550" spc="55" dirty="0">
                <a:latin typeface="Arial"/>
                <a:cs typeface="Arial"/>
              </a:rPr>
              <a:t>ces </a:t>
            </a:r>
            <a:r>
              <a:rPr lang="fr-FR" sz="3550" spc="50" dirty="0">
                <a:latin typeface="Arial"/>
                <a:cs typeface="Arial"/>
              </a:rPr>
              <a:t>exigences, </a:t>
            </a:r>
            <a:r>
              <a:rPr lang="fr-FR" sz="3550" spc="20" dirty="0">
                <a:latin typeface="Arial"/>
                <a:cs typeface="Arial"/>
              </a:rPr>
              <a:t>les </a:t>
            </a:r>
            <a:r>
              <a:rPr lang="fr-FR" sz="3550" spc="60" dirty="0">
                <a:latin typeface="Arial"/>
                <a:cs typeface="Arial"/>
              </a:rPr>
              <a:t>fournisseurs </a:t>
            </a:r>
            <a:r>
              <a:rPr lang="fr-FR" sz="3550" spc="45" dirty="0">
                <a:latin typeface="Arial"/>
                <a:cs typeface="Arial"/>
              </a:rPr>
              <a:t>de </a:t>
            </a:r>
            <a:r>
              <a:rPr lang="fr-FR" sz="3550" spc="95" dirty="0">
                <a:latin typeface="Arial"/>
                <a:cs typeface="Arial"/>
              </a:rPr>
              <a:t>cloud </a:t>
            </a:r>
            <a:r>
              <a:rPr lang="fr-FR" sz="3550" spc="80" dirty="0">
                <a:latin typeface="Arial"/>
                <a:cs typeface="Arial"/>
              </a:rPr>
              <a:t>doivent </a:t>
            </a:r>
            <a:r>
              <a:rPr lang="fr-FR" sz="3550" spc="70" dirty="0">
                <a:latin typeface="Arial"/>
                <a:cs typeface="Arial"/>
              </a:rPr>
              <a:t>configurer</a:t>
            </a:r>
            <a:r>
              <a:rPr lang="fr-FR" sz="3550" spc="575" dirty="0">
                <a:latin typeface="Arial"/>
                <a:cs typeface="Arial"/>
              </a:rPr>
              <a:t> </a:t>
            </a:r>
            <a:r>
              <a:rPr lang="fr-FR" sz="3550" spc="30" dirty="0">
                <a:latin typeface="Arial"/>
                <a:cs typeface="Arial"/>
              </a:rPr>
              <a:t>un</a:t>
            </a:r>
            <a:r>
              <a:rPr lang="fr-FR" sz="3550" dirty="0">
                <a:latin typeface="Arial"/>
                <a:cs typeface="Arial"/>
              </a:rPr>
              <a:t> </a:t>
            </a:r>
            <a:r>
              <a:rPr lang="fr-FR" sz="3550" spc="55" dirty="0">
                <a:latin typeface="Arial"/>
                <a:cs typeface="Arial"/>
              </a:rPr>
              <a:t>centre </a:t>
            </a:r>
            <a:r>
              <a:rPr lang="fr-FR" sz="3550" spc="50" dirty="0">
                <a:latin typeface="Arial"/>
                <a:cs typeface="Arial"/>
              </a:rPr>
              <a:t>de </a:t>
            </a:r>
            <a:r>
              <a:rPr lang="fr-FR" sz="3550" spc="60" dirty="0">
                <a:latin typeface="Arial"/>
                <a:cs typeface="Arial"/>
              </a:rPr>
              <a:t>données </a:t>
            </a:r>
            <a:r>
              <a:rPr lang="fr-FR" sz="3550" spc="25" dirty="0">
                <a:latin typeface="Arial"/>
                <a:cs typeface="Arial"/>
              </a:rPr>
              <a:t>(data center) </a:t>
            </a:r>
            <a:r>
              <a:rPr lang="fr-FR" sz="3550" spc="50" dirty="0">
                <a:latin typeface="Arial"/>
                <a:cs typeface="Arial"/>
              </a:rPr>
              <a:t>ou </a:t>
            </a:r>
            <a:r>
              <a:rPr lang="fr-FR" sz="3550" spc="30" dirty="0">
                <a:latin typeface="Arial"/>
                <a:cs typeface="Arial"/>
              </a:rPr>
              <a:t>un </a:t>
            </a:r>
            <a:r>
              <a:rPr lang="fr-FR" sz="3550" spc="60" dirty="0">
                <a:latin typeface="Arial"/>
                <a:cs typeface="Arial"/>
              </a:rPr>
              <a:t>site </a:t>
            </a:r>
            <a:r>
              <a:rPr lang="fr-FR" sz="3550" spc="50" dirty="0">
                <a:latin typeface="Arial"/>
                <a:cs typeface="Arial"/>
              </a:rPr>
              <a:t>de </a:t>
            </a:r>
            <a:r>
              <a:rPr lang="fr-FR" sz="3550" spc="80" dirty="0">
                <a:latin typeface="Arial"/>
                <a:cs typeface="Arial"/>
              </a:rPr>
              <a:t>stockage </a:t>
            </a:r>
            <a:r>
              <a:rPr lang="fr-FR" sz="3550" spc="60" dirty="0">
                <a:latin typeface="Arial"/>
                <a:cs typeface="Arial"/>
              </a:rPr>
              <a:t>exclusivement </a:t>
            </a:r>
            <a:r>
              <a:rPr lang="fr-FR" sz="3550" spc="50" dirty="0">
                <a:latin typeface="Arial"/>
                <a:cs typeface="Arial"/>
              </a:rPr>
              <a:t>dans </a:t>
            </a:r>
            <a:r>
              <a:rPr lang="fr-FR" sz="3550" spc="15" dirty="0">
                <a:latin typeface="Arial"/>
                <a:cs typeface="Arial"/>
              </a:rPr>
              <a:t>le  </a:t>
            </a:r>
            <a:r>
              <a:rPr lang="fr-FR" sz="3550" spc="50" dirty="0">
                <a:latin typeface="Arial"/>
                <a:cs typeface="Arial"/>
              </a:rPr>
              <a:t>pays </a:t>
            </a:r>
            <a:r>
              <a:rPr lang="fr-FR" sz="3550" spc="80" dirty="0">
                <a:latin typeface="Arial"/>
                <a:cs typeface="Arial"/>
              </a:rPr>
              <a:t>pour </a:t>
            </a:r>
            <a:r>
              <a:rPr lang="fr-FR" sz="3550" spc="15" dirty="0">
                <a:latin typeface="Arial"/>
                <a:cs typeface="Arial"/>
              </a:rPr>
              <a:t>se </a:t>
            </a:r>
            <a:r>
              <a:rPr lang="fr-FR" sz="3550" spc="80" dirty="0">
                <a:latin typeface="Arial"/>
                <a:cs typeface="Arial"/>
              </a:rPr>
              <a:t>conformer </a:t>
            </a:r>
            <a:r>
              <a:rPr lang="fr-FR" sz="3550" dirty="0">
                <a:latin typeface="Arial"/>
                <a:cs typeface="Arial"/>
              </a:rPr>
              <a:t>à </a:t>
            </a:r>
            <a:r>
              <a:rPr lang="fr-FR" sz="3550" spc="15" dirty="0">
                <a:latin typeface="Arial"/>
                <a:cs typeface="Arial"/>
              </a:rPr>
              <a:t>la</a:t>
            </a:r>
            <a:r>
              <a:rPr lang="fr-FR" sz="3550" spc="70" dirty="0">
                <a:latin typeface="Arial"/>
                <a:cs typeface="Arial"/>
              </a:rPr>
              <a:t> </a:t>
            </a:r>
            <a:r>
              <a:rPr lang="fr-FR" sz="3550" spc="55" dirty="0">
                <a:latin typeface="Arial"/>
                <a:cs typeface="Arial"/>
              </a:rPr>
              <a:t>réglementation.</a:t>
            </a:r>
            <a:endParaRPr lang="fr-FR" sz="3550" dirty="0">
              <a:latin typeface="Arial"/>
              <a:cs typeface="Arial"/>
            </a:endParaRPr>
          </a:p>
        </p:txBody>
      </p:sp>
      <p:sp>
        <p:nvSpPr>
          <p:cNvPr id="4" name="Espace réservé du pied de page 3">
            <a:extLst>
              <a:ext uri="{FF2B5EF4-FFF2-40B4-BE49-F238E27FC236}">
                <a16:creationId xmlns:a16="http://schemas.microsoft.com/office/drawing/2014/main" id="{7B34465D-7A93-A7C8-3CCC-C5711D609B1B}"/>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27CCBBFD-D47E-88D5-FE7D-C73F4C5EF541}"/>
              </a:ext>
            </a:extLst>
          </p:cNvPr>
          <p:cNvSpPr>
            <a:spLocks noGrp="1"/>
          </p:cNvSpPr>
          <p:nvPr>
            <p:ph type="sldNum" sz="quarter" idx="12"/>
          </p:nvPr>
        </p:nvSpPr>
        <p:spPr/>
        <p:txBody>
          <a:bodyPr/>
          <a:lstStyle/>
          <a:p>
            <a:fld id="{B82CCC60-E8CD-4174-8B1A-7DF615B22EEF}" type="slidenum">
              <a:rPr lang="en-US" smtClean="0"/>
              <a:pPr/>
              <a:t>38</a:t>
            </a:fld>
            <a:endParaRPr lang="en-US"/>
          </a:p>
        </p:txBody>
      </p:sp>
    </p:spTree>
    <p:extLst>
      <p:ext uri="{BB962C8B-B14F-4D97-AF65-F5344CB8AC3E}">
        <p14:creationId xmlns:p14="http://schemas.microsoft.com/office/powerpoint/2010/main" val="675067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C7D294-C4C5-3125-0818-B95A4BC5AB03}"/>
              </a:ext>
            </a:extLst>
          </p:cNvPr>
          <p:cNvSpPr>
            <a:spLocks noGrp="1"/>
          </p:cNvSpPr>
          <p:nvPr>
            <p:ph type="title"/>
          </p:nvPr>
        </p:nvSpPr>
        <p:spPr/>
        <p:txBody>
          <a:bodyPr>
            <a:normAutofit fontScale="90000"/>
          </a:bodyPr>
          <a:lstStyle/>
          <a:p>
            <a:r>
              <a:rPr lang="en-US" spc="10" dirty="0"/>
              <a:t>C</a:t>
            </a:r>
            <a:r>
              <a:rPr lang="en-US" spc="5" dirty="0"/>
              <a:t>l</a:t>
            </a:r>
            <a:r>
              <a:rPr lang="en-US" spc="-5" dirty="0"/>
              <a:t>o</a:t>
            </a:r>
            <a:r>
              <a:rPr lang="en-US" spc="10" dirty="0"/>
              <a:t>u</a:t>
            </a:r>
            <a:r>
              <a:rPr lang="en-US" spc="-5" dirty="0"/>
              <a:t>d</a:t>
            </a:r>
            <a:r>
              <a:rPr lang="en-US" spc="45" dirty="0"/>
              <a:t> </a:t>
            </a:r>
            <a:r>
              <a:rPr lang="en-US" spc="-215" dirty="0"/>
              <a:t>V</a:t>
            </a:r>
            <a:r>
              <a:rPr lang="en-US" spc="15" dirty="0"/>
              <a:t>er</a:t>
            </a:r>
            <a:r>
              <a:rPr lang="en-US" spc="25" dirty="0"/>
              <a:t>s</a:t>
            </a:r>
            <a:r>
              <a:rPr lang="en-US" dirty="0"/>
              <a:t>u</a:t>
            </a:r>
            <a:r>
              <a:rPr lang="en-US" spc="-5" dirty="0"/>
              <a:t>s</a:t>
            </a:r>
            <a:r>
              <a:rPr lang="en-US" spc="35" dirty="0"/>
              <a:t> </a:t>
            </a:r>
            <a:r>
              <a:rPr lang="en-US" dirty="0"/>
              <a:t>Fo</a:t>
            </a:r>
            <a:r>
              <a:rPr lang="en-US" spc="-5" dirty="0"/>
              <a:t>g</a:t>
            </a:r>
            <a:r>
              <a:rPr lang="en-US" spc="35" dirty="0"/>
              <a:t> </a:t>
            </a:r>
            <a:r>
              <a:rPr lang="en-US" spc="-215" dirty="0"/>
              <a:t>V</a:t>
            </a:r>
            <a:r>
              <a:rPr lang="en-US" spc="15" dirty="0"/>
              <a:t>er</a:t>
            </a:r>
            <a:r>
              <a:rPr lang="en-US" spc="25" dirty="0"/>
              <a:t>s</a:t>
            </a:r>
            <a:r>
              <a:rPr lang="en-US" dirty="0"/>
              <a:t>u</a:t>
            </a:r>
            <a:r>
              <a:rPr lang="en-US" spc="-5" dirty="0"/>
              <a:t>s</a:t>
            </a:r>
            <a:r>
              <a:rPr lang="en-US" spc="35" dirty="0"/>
              <a:t> </a:t>
            </a:r>
            <a:r>
              <a:rPr lang="en-US" spc="15" dirty="0"/>
              <a:t>E</a:t>
            </a:r>
            <a:r>
              <a:rPr lang="en-US" dirty="0"/>
              <a:t>dg</a:t>
            </a:r>
            <a:r>
              <a:rPr lang="en-US" spc="-5" dirty="0"/>
              <a:t>e</a:t>
            </a:r>
            <a:r>
              <a:rPr lang="en-US" spc="50" dirty="0"/>
              <a:t> </a:t>
            </a:r>
            <a:r>
              <a:rPr lang="en-US" spc="15" dirty="0"/>
              <a:t>c</a:t>
            </a:r>
            <a:r>
              <a:rPr lang="en-US" dirty="0"/>
              <a:t>o</a:t>
            </a:r>
            <a:r>
              <a:rPr lang="en-US" spc="30" dirty="0"/>
              <a:t>m</a:t>
            </a:r>
            <a:r>
              <a:rPr lang="en-US" dirty="0"/>
              <a:t>put</a:t>
            </a:r>
            <a:r>
              <a:rPr lang="en-US" spc="5" dirty="0"/>
              <a:t>i</a:t>
            </a:r>
            <a:r>
              <a:rPr lang="en-US" spc="10" dirty="0"/>
              <a:t>n</a:t>
            </a:r>
            <a:r>
              <a:rPr lang="en-US" spc="-5" dirty="0"/>
              <a:t>g</a:t>
            </a:r>
            <a:endParaRPr lang="fr-FR" dirty="0"/>
          </a:p>
        </p:txBody>
      </p:sp>
      <p:sp>
        <p:nvSpPr>
          <p:cNvPr id="3" name="Espace réservé du contenu 2">
            <a:extLst>
              <a:ext uri="{FF2B5EF4-FFF2-40B4-BE49-F238E27FC236}">
                <a16:creationId xmlns:a16="http://schemas.microsoft.com/office/drawing/2014/main" id="{37C74D46-F289-1491-2BD9-DDBD9A36A2FA}"/>
              </a:ext>
            </a:extLst>
          </p:cNvPr>
          <p:cNvSpPr>
            <a:spLocks noGrp="1"/>
          </p:cNvSpPr>
          <p:nvPr>
            <p:ph idx="1"/>
          </p:nvPr>
        </p:nvSpPr>
        <p:spPr>
          <a:xfrm>
            <a:off x="143554" y="1960929"/>
            <a:ext cx="6871726" cy="3080177"/>
          </a:xfrm>
        </p:spPr>
        <p:txBody>
          <a:bodyPr>
            <a:normAutofit fontScale="55000" lnSpcReduction="20000"/>
          </a:bodyPr>
          <a:lstStyle/>
          <a:p>
            <a:pPr marL="461645" marR="5080" lvl="1" indent="0" algn="just">
              <a:lnSpc>
                <a:spcPct val="120000"/>
              </a:lnSpc>
              <a:spcBef>
                <a:spcPts val="65"/>
              </a:spcBef>
              <a:buNone/>
              <a:tabLst>
                <a:tab pos="920750" algn="l"/>
                <a:tab pos="921385" algn="l"/>
              </a:tabLst>
            </a:pPr>
            <a:r>
              <a:rPr lang="fr-FR" sz="2900" b="1" spc="15" dirty="0">
                <a:latin typeface="Arial"/>
                <a:cs typeface="Arial"/>
              </a:rPr>
              <a:t>Internet of </a:t>
            </a:r>
            <a:r>
              <a:rPr lang="fr-FR" sz="2900" b="1" spc="15" dirty="0" err="1">
                <a:latin typeface="Arial"/>
                <a:cs typeface="Arial"/>
              </a:rPr>
              <a:t>Things</a:t>
            </a:r>
            <a:r>
              <a:rPr lang="fr-FR" sz="2900" b="1" spc="15" dirty="0">
                <a:latin typeface="Arial"/>
                <a:cs typeface="Arial"/>
              </a:rPr>
              <a:t> et Cloud </a:t>
            </a:r>
            <a:r>
              <a:rPr lang="fr-FR" sz="2900" b="1" spc="15" dirty="0" err="1">
                <a:latin typeface="Arial"/>
                <a:cs typeface="Arial"/>
              </a:rPr>
              <a:t>Computing</a:t>
            </a:r>
            <a:endParaRPr lang="fr-FR" sz="2900" b="1" spc="15" dirty="0">
              <a:latin typeface="Arial"/>
              <a:cs typeface="Arial"/>
            </a:endParaRPr>
          </a:p>
          <a:p>
            <a:pPr marL="920750" marR="5080" lvl="1" indent="-459105" algn="just">
              <a:lnSpc>
                <a:spcPct val="120000"/>
              </a:lnSpc>
              <a:spcBef>
                <a:spcPts val="65"/>
              </a:spcBef>
              <a:buFont typeface="Arial" pitchFamily="34" charset="0"/>
              <a:buChar char="-"/>
              <a:tabLst>
                <a:tab pos="920750" algn="l"/>
                <a:tab pos="921385" algn="l"/>
              </a:tabLst>
            </a:pPr>
            <a:r>
              <a:rPr lang="fr-FR" sz="2900" spc="15" dirty="0">
                <a:latin typeface="Arial"/>
                <a:cs typeface="Arial"/>
              </a:rPr>
              <a:t>L’Internet des objets ou Internet of </a:t>
            </a:r>
            <a:r>
              <a:rPr lang="fr-FR" sz="2900" spc="15" dirty="0" err="1">
                <a:latin typeface="Arial"/>
                <a:cs typeface="Arial"/>
              </a:rPr>
              <a:t>Things</a:t>
            </a:r>
            <a:r>
              <a:rPr lang="fr-FR" sz="2900" spc="15" dirty="0">
                <a:latin typeface="Arial"/>
                <a:cs typeface="Arial"/>
              </a:rPr>
              <a:t> (IoT	est formé  d’un réseau physique des objets qui contiennent une  technologie intégrée pour communiquer et détecter ou  interagir avec leur environnement externe.</a:t>
            </a:r>
          </a:p>
          <a:p>
            <a:pPr marL="920750" marR="5080" lvl="1" indent="-459105" algn="just">
              <a:lnSpc>
                <a:spcPct val="120000"/>
              </a:lnSpc>
              <a:spcBef>
                <a:spcPts val="65"/>
              </a:spcBef>
              <a:buFont typeface="Arial" pitchFamily="34" charset="0"/>
              <a:buChar char="-"/>
              <a:tabLst>
                <a:tab pos="920750" algn="l"/>
                <a:tab pos="921385" algn="l"/>
              </a:tabLst>
            </a:pPr>
            <a:r>
              <a:rPr lang="fr-FR" sz="2900" spc="15" dirty="0">
                <a:latin typeface="Arial"/>
                <a:cs typeface="Arial"/>
              </a:rPr>
              <a:t>Cloud </a:t>
            </a:r>
            <a:r>
              <a:rPr lang="fr-FR" sz="2900" spc="15" dirty="0" err="1">
                <a:latin typeface="Arial"/>
                <a:cs typeface="Arial"/>
              </a:rPr>
              <a:t>Computing</a:t>
            </a:r>
            <a:r>
              <a:rPr lang="fr-FR" sz="2900" spc="15" dirty="0">
                <a:latin typeface="Arial"/>
                <a:cs typeface="Arial"/>
              </a:rPr>
              <a:t> agit comme sorte de </a:t>
            </a:r>
            <a:r>
              <a:rPr lang="fr-FR" sz="2900" spc="15" dirty="0" err="1">
                <a:latin typeface="Arial"/>
                <a:cs typeface="Arial"/>
              </a:rPr>
              <a:t>front-end</a:t>
            </a:r>
            <a:r>
              <a:rPr lang="fr-FR" sz="2900" spc="15" dirty="0">
                <a:latin typeface="Arial"/>
                <a:cs typeface="Arial"/>
              </a:rPr>
              <a:t> pour  l’IoT.</a:t>
            </a:r>
          </a:p>
          <a:p>
            <a:pPr marL="920750" marR="5080" lvl="1" indent="-459105" algn="just">
              <a:lnSpc>
                <a:spcPct val="120000"/>
              </a:lnSpc>
              <a:spcBef>
                <a:spcPts val="65"/>
              </a:spcBef>
              <a:buFont typeface="Arial" pitchFamily="34" charset="0"/>
              <a:buChar char="-"/>
              <a:tabLst>
                <a:tab pos="920750" algn="l"/>
                <a:tab pos="921385" algn="l"/>
              </a:tabLst>
            </a:pPr>
            <a:r>
              <a:rPr lang="fr-FR" sz="2900" spc="15" dirty="0">
                <a:latin typeface="Arial"/>
                <a:cs typeface="Arial"/>
              </a:rPr>
              <a:t>Les plateformes Cloud	regroupent des ressources informatiques de capacités importantes et offrent des  services de visualisation, de stockage et d’analyse d’une  quantité massive de données générées par les  applications IoT .</a:t>
            </a:r>
          </a:p>
          <a:p>
            <a:pPr algn="just">
              <a:lnSpc>
                <a:spcPct val="120000"/>
              </a:lnSpc>
            </a:pPr>
            <a:endParaRPr lang="fr-FR" dirty="0"/>
          </a:p>
        </p:txBody>
      </p:sp>
      <p:sp>
        <p:nvSpPr>
          <p:cNvPr id="4" name="Espace réservé du pied de page 3">
            <a:extLst>
              <a:ext uri="{FF2B5EF4-FFF2-40B4-BE49-F238E27FC236}">
                <a16:creationId xmlns:a16="http://schemas.microsoft.com/office/drawing/2014/main" id="{A9B15E97-7199-5B09-D80F-8633EBE2B32F}"/>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A1090D57-D037-A3D2-5D7E-416A9046AADE}"/>
              </a:ext>
            </a:extLst>
          </p:cNvPr>
          <p:cNvSpPr>
            <a:spLocks noGrp="1"/>
          </p:cNvSpPr>
          <p:nvPr>
            <p:ph type="sldNum" sz="quarter" idx="12"/>
          </p:nvPr>
        </p:nvSpPr>
        <p:spPr/>
        <p:txBody>
          <a:bodyPr/>
          <a:lstStyle/>
          <a:p>
            <a:fld id="{B82CCC60-E8CD-4174-8B1A-7DF615B22EEF}" type="slidenum">
              <a:rPr lang="en-US" smtClean="0"/>
              <a:pPr/>
              <a:t>39</a:t>
            </a:fld>
            <a:endParaRPr lang="en-US"/>
          </a:p>
        </p:txBody>
      </p:sp>
      <p:pic>
        <p:nvPicPr>
          <p:cNvPr id="35" name="Image 34">
            <a:extLst>
              <a:ext uri="{FF2B5EF4-FFF2-40B4-BE49-F238E27FC236}">
                <a16:creationId xmlns:a16="http://schemas.microsoft.com/office/drawing/2014/main" id="{F3952577-00DD-4398-F344-23E351D3737C}"/>
              </a:ext>
            </a:extLst>
          </p:cNvPr>
          <p:cNvPicPr>
            <a:picLocks noChangeAspect="1"/>
          </p:cNvPicPr>
          <p:nvPr/>
        </p:nvPicPr>
        <p:blipFill>
          <a:blip r:embed="rId2"/>
          <a:stretch>
            <a:fillRect/>
          </a:stretch>
        </p:blipFill>
        <p:spPr>
          <a:xfrm>
            <a:off x="7078101" y="1960929"/>
            <a:ext cx="2065899" cy="2571750"/>
          </a:xfrm>
          <a:prstGeom prst="rect">
            <a:avLst/>
          </a:prstGeom>
        </p:spPr>
      </p:pic>
    </p:spTree>
    <p:extLst>
      <p:ext uri="{BB962C8B-B14F-4D97-AF65-F5344CB8AC3E}">
        <p14:creationId xmlns:p14="http://schemas.microsoft.com/office/powerpoint/2010/main" val="31951976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BBFD75-90D6-0C49-489C-463755F1E409}"/>
              </a:ext>
            </a:extLst>
          </p:cNvPr>
          <p:cNvSpPr>
            <a:spLocks noGrp="1"/>
          </p:cNvSpPr>
          <p:nvPr>
            <p:ph type="title"/>
          </p:nvPr>
        </p:nvSpPr>
        <p:spPr/>
        <p:txBody>
          <a:bodyPr>
            <a:normAutofit fontScale="90000"/>
          </a:bodyPr>
          <a:lstStyle/>
          <a:p>
            <a:r>
              <a:rPr lang="fr-FR" sz="3600" b="1" spc="15" dirty="0">
                <a:latin typeface="Arial"/>
                <a:cs typeface="Arial"/>
              </a:rPr>
              <a:t>Internet of </a:t>
            </a:r>
            <a:r>
              <a:rPr lang="fr-FR" sz="3600" b="1" spc="15" dirty="0" err="1">
                <a:latin typeface="Arial"/>
                <a:cs typeface="Arial"/>
              </a:rPr>
              <a:t>Things</a:t>
            </a:r>
            <a:r>
              <a:rPr lang="fr-FR" sz="3600" b="1" spc="15" dirty="0">
                <a:latin typeface="Arial"/>
                <a:cs typeface="Arial"/>
              </a:rPr>
              <a:t> et FOG  </a:t>
            </a:r>
            <a:r>
              <a:rPr lang="fr-FR" sz="3600" b="1" spc="15" dirty="0" err="1">
                <a:latin typeface="Arial"/>
                <a:cs typeface="Arial"/>
              </a:rPr>
              <a:t>Computing</a:t>
            </a:r>
            <a:endParaRPr lang="fr-FR" dirty="0"/>
          </a:p>
        </p:txBody>
      </p:sp>
      <p:sp>
        <p:nvSpPr>
          <p:cNvPr id="3" name="Espace réservé du contenu 2">
            <a:extLst>
              <a:ext uri="{FF2B5EF4-FFF2-40B4-BE49-F238E27FC236}">
                <a16:creationId xmlns:a16="http://schemas.microsoft.com/office/drawing/2014/main" id="{6388B24E-F9CA-47C7-2FCD-895A869AEA59}"/>
              </a:ext>
            </a:extLst>
          </p:cNvPr>
          <p:cNvSpPr>
            <a:spLocks noGrp="1"/>
          </p:cNvSpPr>
          <p:nvPr>
            <p:ph idx="1"/>
          </p:nvPr>
        </p:nvSpPr>
        <p:spPr>
          <a:xfrm>
            <a:off x="448965" y="1960929"/>
            <a:ext cx="6413609" cy="3080177"/>
          </a:xfrm>
        </p:spPr>
        <p:txBody>
          <a:bodyPr>
            <a:normAutofit fontScale="77500" lnSpcReduction="20000"/>
          </a:bodyPr>
          <a:lstStyle/>
          <a:p>
            <a:pPr marL="920750" marR="5080" lvl="1" indent="-459105" algn="just">
              <a:lnSpc>
                <a:spcPct val="120000"/>
              </a:lnSpc>
              <a:spcBef>
                <a:spcPts val="65"/>
              </a:spcBef>
              <a:buFont typeface="Arial" pitchFamily="34" charset="0"/>
              <a:buChar char="-"/>
              <a:tabLst>
                <a:tab pos="920750" algn="l"/>
                <a:tab pos="921385" algn="l"/>
              </a:tabLst>
            </a:pPr>
            <a:r>
              <a:rPr lang="fr-FR" sz="1600" spc="15" dirty="0">
                <a:latin typeface="Arial"/>
                <a:cs typeface="Arial"/>
              </a:rPr>
              <a:t>Le Fog </a:t>
            </a:r>
            <a:r>
              <a:rPr lang="fr-FR" sz="1600" spc="15" dirty="0" err="1">
                <a:latin typeface="Arial"/>
                <a:cs typeface="Arial"/>
              </a:rPr>
              <a:t>computing</a:t>
            </a:r>
            <a:r>
              <a:rPr lang="fr-FR" sz="1600" spc="15" dirty="0">
                <a:latin typeface="Arial"/>
                <a:cs typeface="Arial"/>
              </a:rPr>
              <a:t> est une architecture réseau qui s'étend du  point de création des données à l'emplacement de stockage  des données, qu'il s'agisse d'un cloud ou d'un centre de  données local.</a:t>
            </a:r>
          </a:p>
          <a:p>
            <a:pPr marL="920750" marR="5080" lvl="1" indent="-459105" algn="just">
              <a:lnSpc>
                <a:spcPct val="120000"/>
              </a:lnSpc>
              <a:spcBef>
                <a:spcPts val="65"/>
              </a:spcBef>
              <a:buFont typeface="Arial" pitchFamily="34" charset="0"/>
              <a:buChar char="-"/>
              <a:tabLst>
                <a:tab pos="920750" algn="l"/>
                <a:tab pos="921385" algn="l"/>
              </a:tabLst>
            </a:pPr>
            <a:r>
              <a:rPr lang="fr-FR" sz="1600" spc="15" dirty="0">
                <a:latin typeface="Arial"/>
                <a:cs typeface="Arial"/>
              </a:rPr>
              <a:t>Architecture qui utilise des périphériques de “périphérie” intermédiaires pour effectuer une quantité substantielle de  calcul, de stockage et de communication localement et puis  l’acheminer sur le réseau Internet : c’est une extension du  Cloud à la périphérie de réseau de l’entreprise.</a:t>
            </a:r>
          </a:p>
          <a:p>
            <a:pPr marL="920750" marR="5080" lvl="1" indent="-459105" algn="just">
              <a:lnSpc>
                <a:spcPct val="120000"/>
              </a:lnSpc>
              <a:spcBef>
                <a:spcPts val="65"/>
              </a:spcBef>
              <a:buFont typeface="Arial" pitchFamily="34" charset="0"/>
              <a:buChar char="-"/>
              <a:tabLst>
                <a:tab pos="920750" algn="l"/>
                <a:tab pos="921385" algn="l"/>
              </a:tabLst>
            </a:pPr>
            <a:r>
              <a:rPr lang="fr-FR" sz="1600" spc="15" dirty="0">
                <a:latin typeface="Arial"/>
                <a:cs typeface="Arial"/>
              </a:rPr>
              <a:t>Le Fog </a:t>
            </a:r>
            <a:r>
              <a:rPr lang="fr-FR" sz="1600" spc="15" dirty="0" err="1">
                <a:latin typeface="Arial"/>
                <a:cs typeface="Arial"/>
              </a:rPr>
              <a:t>computing</a:t>
            </a:r>
            <a:r>
              <a:rPr lang="fr-FR" sz="1600" spc="15" dirty="0">
                <a:latin typeface="Arial"/>
                <a:cs typeface="Arial"/>
              </a:rPr>
              <a:t> est plus proche des utilisateurs finaux et a  une répartition géographique plus large.</a:t>
            </a:r>
          </a:p>
          <a:p>
            <a:pPr marL="920750" marR="5080" lvl="1" indent="-459105" algn="just">
              <a:lnSpc>
                <a:spcPct val="120000"/>
              </a:lnSpc>
              <a:spcBef>
                <a:spcPts val="65"/>
              </a:spcBef>
              <a:buFont typeface="Arial" pitchFamily="34" charset="0"/>
              <a:buChar char="-"/>
              <a:tabLst>
                <a:tab pos="920750" algn="l"/>
                <a:tab pos="921385" algn="l"/>
              </a:tabLst>
            </a:pPr>
            <a:r>
              <a:rPr lang="fr-FR" sz="1600" spc="15" dirty="0">
                <a:latin typeface="Arial"/>
                <a:cs typeface="Arial"/>
              </a:rPr>
              <a:t>Le Fog </a:t>
            </a:r>
            <a:r>
              <a:rPr lang="fr-FR" sz="1600" spc="15" dirty="0" err="1">
                <a:latin typeface="Arial"/>
                <a:cs typeface="Arial"/>
              </a:rPr>
              <a:t>computing</a:t>
            </a:r>
            <a:r>
              <a:rPr lang="fr-FR" sz="1600" spc="15" dirty="0">
                <a:latin typeface="Arial"/>
                <a:cs typeface="Arial"/>
              </a:rPr>
              <a:t> permet un calcul décentralisé en traitant  les données au nœud de brouillard (Fog) : tout appareil  capable de stockage, de calcul et de connectivité réseau  peut être utilisé comme nœud Fog.</a:t>
            </a:r>
          </a:p>
        </p:txBody>
      </p:sp>
      <p:sp>
        <p:nvSpPr>
          <p:cNvPr id="4" name="Espace réservé du pied de page 3">
            <a:extLst>
              <a:ext uri="{FF2B5EF4-FFF2-40B4-BE49-F238E27FC236}">
                <a16:creationId xmlns:a16="http://schemas.microsoft.com/office/drawing/2014/main" id="{90D3312F-FE6C-FCD1-0DA2-70C887B7C1AC}"/>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D64C1132-2450-0F15-C4B8-12B34D648DC4}"/>
              </a:ext>
            </a:extLst>
          </p:cNvPr>
          <p:cNvSpPr>
            <a:spLocks noGrp="1"/>
          </p:cNvSpPr>
          <p:nvPr>
            <p:ph type="sldNum" sz="quarter" idx="12"/>
          </p:nvPr>
        </p:nvSpPr>
        <p:spPr/>
        <p:txBody>
          <a:bodyPr/>
          <a:lstStyle/>
          <a:p>
            <a:fld id="{B82CCC60-E8CD-4174-8B1A-7DF615B22EEF}" type="slidenum">
              <a:rPr lang="en-US" smtClean="0"/>
              <a:pPr/>
              <a:t>40</a:t>
            </a:fld>
            <a:endParaRPr lang="en-US"/>
          </a:p>
        </p:txBody>
      </p:sp>
      <p:pic>
        <p:nvPicPr>
          <p:cNvPr id="7" name="Image 6">
            <a:extLst>
              <a:ext uri="{FF2B5EF4-FFF2-40B4-BE49-F238E27FC236}">
                <a16:creationId xmlns:a16="http://schemas.microsoft.com/office/drawing/2014/main" id="{3418F7BE-6843-443A-C8D0-AC84FD7620F3}"/>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62574" y="1783431"/>
            <a:ext cx="2171043" cy="3161332"/>
          </a:xfrm>
          <a:prstGeom prst="rect">
            <a:avLst/>
          </a:prstGeom>
        </p:spPr>
      </p:pic>
    </p:spTree>
    <p:extLst>
      <p:ext uri="{BB962C8B-B14F-4D97-AF65-F5344CB8AC3E}">
        <p14:creationId xmlns:p14="http://schemas.microsoft.com/office/powerpoint/2010/main" val="1775871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0C015AF-F708-5949-E638-C8FB2BEFCBF2}"/>
              </a:ext>
            </a:extLst>
          </p:cNvPr>
          <p:cNvSpPr>
            <a:spLocks noGrp="1"/>
          </p:cNvSpPr>
          <p:nvPr>
            <p:ph idx="1"/>
          </p:nvPr>
        </p:nvSpPr>
        <p:spPr>
          <a:xfrm>
            <a:off x="448966" y="1502815"/>
            <a:ext cx="8398774" cy="3538291"/>
          </a:xfrm>
        </p:spPr>
        <p:txBody>
          <a:bodyPr>
            <a:normAutofit fontScale="32500" lnSpcReduction="20000"/>
          </a:bodyPr>
          <a:lstStyle/>
          <a:p>
            <a:pPr marL="461645" marR="5080" lvl="1" indent="0" algn="just">
              <a:lnSpc>
                <a:spcPct val="120000"/>
              </a:lnSpc>
              <a:spcBef>
                <a:spcPts val="65"/>
              </a:spcBef>
              <a:buNone/>
              <a:tabLst>
                <a:tab pos="920750" algn="l"/>
                <a:tab pos="921385" algn="l"/>
              </a:tabLst>
            </a:pPr>
            <a:r>
              <a:rPr lang="en-US" sz="4800" b="1" spc="15" dirty="0">
                <a:latin typeface="Arial"/>
                <a:cs typeface="Arial"/>
              </a:rPr>
              <a:t>Internet of Things et FOG  Computing</a:t>
            </a:r>
          </a:p>
          <a:p>
            <a:pPr marL="1147445" marR="5080" lvl="1" indent="-685800" algn="just">
              <a:lnSpc>
                <a:spcPct val="120000"/>
              </a:lnSpc>
              <a:spcBef>
                <a:spcPts val="65"/>
              </a:spcBef>
              <a:buFont typeface="Arial" panose="020B0604020202020204" pitchFamily="34" charset="0"/>
              <a:buChar char="•"/>
              <a:tabLst>
                <a:tab pos="920750" algn="l"/>
                <a:tab pos="921385" algn="l"/>
              </a:tabLst>
            </a:pPr>
            <a:r>
              <a:rPr lang="en-US" sz="4800" spc="15" dirty="0" err="1">
                <a:latin typeface="Arial"/>
                <a:cs typeface="Arial"/>
              </a:rPr>
              <a:t>Avantages</a:t>
            </a:r>
            <a:endParaRPr lang="en-US" sz="4800" spc="15" dirty="0">
              <a:latin typeface="Arial"/>
              <a:cs typeface="Arial"/>
            </a:endParaRP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Permet l’analyse temps réel des données.</a:t>
            </a: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Les entreprises peuvent réduire les coûts de stockage Cloud des données.</a:t>
            </a: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Les données confidentielles sont plus sécurisées dans les </a:t>
            </a:r>
            <a:r>
              <a:rPr lang="fr-FR" sz="4800" spc="15" dirty="0" err="1">
                <a:latin typeface="Arial"/>
                <a:cs typeface="Arial"/>
              </a:rPr>
              <a:t>noeuds</a:t>
            </a:r>
            <a:r>
              <a:rPr lang="fr-FR" sz="4800" spc="15" dirty="0">
                <a:latin typeface="Arial"/>
                <a:cs typeface="Arial"/>
              </a:rPr>
              <a:t>  Fog.</a:t>
            </a: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Faible latences.</a:t>
            </a: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Réduit le besoin en bande passante.</a:t>
            </a:r>
          </a:p>
          <a:p>
            <a:pPr marL="920750" marR="5080" lvl="1" indent="-459105" algn="just">
              <a:lnSpc>
                <a:spcPct val="120000"/>
              </a:lnSpc>
              <a:spcBef>
                <a:spcPts val="65"/>
              </a:spcBef>
              <a:buFont typeface="Arial" pitchFamily="34" charset="0"/>
              <a:buChar char="-"/>
              <a:tabLst>
                <a:tab pos="920750" algn="l"/>
                <a:tab pos="921385" algn="l"/>
              </a:tabLst>
            </a:pPr>
            <a:endParaRPr lang="fr-FR" sz="4800" spc="15" dirty="0">
              <a:latin typeface="Arial"/>
              <a:cs typeface="Arial"/>
            </a:endParaRPr>
          </a:p>
          <a:p>
            <a:pPr marL="1147445" marR="5080" lvl="1" indent="-685800" algn="just">
              <a:lnSpc>
                <a:spcPct val="120000"/>
              </a:lnSpc>
              <a:spcBef>
                <a:spcPts val="65"/>
              </a:spcBef>
              <a:buFont typeface="Arial" panose="020B0604020202020204" pitchFamily="34" charset="0"/>
              <a:buChar char="•"/>
              <a:tabLst>
                <a:tab pos="920750" algn="l"/>
                <a:tab pos="921385" algn="l"/>
              </a:tabLst>
            </a:pPr>
            <a:r>
              <a:rPr lang="fr-FR" sz="4800" spc="15" dirty="0">
                <a:latin typeface="Arial"/>
                <a:cs typeface="Arial"/>
              </a:rPr>
              <a:t>Inconvénients</a:t>
            </a:r>
          </a:p>
          <a:p>
            <a:pPr marL="920750" marR="5080" lvl="1" indent="-459105" algn="just">
              <a:lnSpc>
                <a:spcPct val="120000"/>
              </a:lnSpc>
              <a:spcBef>
                <a:spcPts val="65"/>
              </a:spcBef>
              <a:buClr>
                <a:srgbClr val="52575F"/>
              </a:buClr>
              <a:buFont typeface="Arial" pitchFamily="34" charset="0"/>
              <a:buChar char="-"/>
              <a:tabLst>
                <a:tab pos="920750" algn="l"/>
                <a:tab pos="921385" algn="l"/>
              </a:tabLst>
            </a:pPr>
            <a:endParaRPr lang="fr-FR" sz="4800" spc="15" dirty="0">
              <a:latin typeface="Arial"/>
              <a:cs typeface="Arial"/>
            </a:endParaRPr>
          </a:p>
          <a:p>
            <a:pPr marL="920750" marR="5080" lvl="1" indent="-459105" algn="just">
              <a:lnSpc>
                <a:spcPct val="120000"/>
              </a:lnSpc>
              <a:spcBef>
                <a:spcPts val="65"/>
              </a:spcBef>
              <a:buFont typeface="Arial" pitchFamily="34" charset="0"/>
              <a:buChar char="-"/>
              <a:tabLst>
                <a:tab pos="920750" algn="l"/>
                <a:tab pos="921385" algn="l"/>
              </a:tabLst>
            </a:pPr>
            <a:r>
              <a:rPr lang="fr-FR" sz="4800" spc="15" dirty="0">
                <a:latin typeface="Arial"/>
                <a:cs typeface="Arial"/>
              </a:rPr>
              <a:t>Fog </a:t>
            </a:r>
            <a:r>
              <a:rPr lang="fr-FR" sz="4800" spc="15" dirty="0" err="1">
                <a:latin typeface="Arial"/>
                <a:cs typeface="Arial"/>
              </a:rPr>
              <a:t>computing</a:t>
            </a:r>
            <a:r>
              <a:rPr lang="fr-FR" sz="4800" spc="15" dirty="0">
                <a:latin typeface="Arial"/>
                <a:cs typeface="Arial"/>
              </a:rPr>
              <a:t> dépend des connexions du réseau local.</a:t>
            </a:r>
          </a:p>
          <a:p>
            <a:endParaRPr lang="fr-FR" sz="1600" spc="15" dirty="0">
              <a:latin typeface="Arial"/>
              <a:cs typeface="Arial"/>
            </a:endParaRPr>
          </a:p>
        </p:txBody>
      </p:sp>
      <p:sp>
        <p:nvSpPr>
          <p:cNvPr id="4" name="Espace réservé du pied de page 3">
            <a:extLst>
              <a:ext uri="{FF2B5EF4-FFF2-40B4-BE49-F238E27FC236}">
                <a16:creationId xmlns:a16="http://schemas.microsoft.com/office/drawing/2014/main" id="{BBE01B5D-69C1-77E7-9B44-5D989C5012F1}"/>
              </a:ext>
            </a:extLst>
          </p:cNvPr>
          <p:cNvSpPr>
            <a:spLocks noGrp="1"/>
          </p:cNvSpPr>
          <p:nvPr>
            <p:ph type="ftr" sz="quarter" idx="11"/>
          </p:nvPr>
        </p:nvSpPr>
        <p:spPr/>
        <p:txBody>
          <a:bodyPr/>
          <a:lstStyle/>
          <a:p>
            <a:r>
              <a:rPr lang="en-US" dirty="0"/>
              <a:t>Dr. </a:t>
            </a:r>
            <a:r>
              <a:rPr lang="en-US" dirty="0" err="1"/>
              <a:t>Bechir</a:t>
            </a:r>
            <a:r>
              <a:rPr lang="en-US" dirty="0"/>
              <a:t> Ben </a:t>
            </a:r>
            <a:r>
              <a:rPr lang="en-US" dirty="0" err="1"/>
              <a:t>Gouissem</a:t>
            </a:r>
            <a:endParaRPr lang="en-US" dirty="0"/>
          </a:p>
        </p:txBody>
      </p:sp>
      <p:sp>
        <p:nvSpPr>
          <p:cNvPr id="5" name="Espace réservé du numéro de diapositive 4">
            <a:extLst>
              <a:ext uri="{FF2B5EF4-FFF2-40B4-BE49-F238E27FC236}">
                <a16:creationId xmlns:a16="http://schemas.microsoft.com/office/drawing/2014/main" id="{372DAC2B-01DA-AA3F-8DDA-79E1E92B24D9}"/>
              </a:ext>
            </a:extLst>
          </p:cNvPr>
          <p:cNvSpPr>
            <a:spLocks noGrp="1"/>
          </p:cNvSpPr>
          <p:nvPr>
            <p:ph type="sldNum" sz="quarter" idx="12"/>
          </p:nvPr>
        </p:nvSpPr>
        <p:spPr/>
        <p:txBody>
          <a:bodyPr/>
          <a:lstStyle/>
          <a:p>
            <a:fld id="{B82CCC60-E8CD-4174-8B1A-7DF615B22EEF}" type="slidenum">
              <a:rPr lang="en-US" smtClean="0"/>
              <a:pPr/>
              <a:t>41</a:t>
            </a:fld>
            <a:endParaRPr lang="en-US"/>
          </a:p>
        </p:txBody>
      </p:sp>
    </p:spTree>
    <p:extLst>
      <p:ext uri="{BB962C8B-B14F-4D97-AF65-F5344CB8AC3E}">
        <p14:creationId xmlns:p14="http://schemas.microsoft.com/office/powerpoint/2010/main" val="3448950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034ACF-25C2-7437-0241-1735E9243D84}"/>
              </a:ext>
            </a:extLst>
          </p:cNvPr>
          <p:cNvSpPr>
            <a:spLocks noGrp="1"/>
          </p:cNvSpPr>
          <p:nvPr>
            <p:ph type="title"/>
          </p:nvPr>
        </p:nvSpPr>
        <p:spPr/>
        <p:txBody>
          <a:bodyPr>
            <a:normAutofit fontScale="90000"/>
          </a:bodyPr>
          <a:lstStyle/>
          <a:p>
            <a:r>
              <a:rPr lang="fr-FR" sz="3600" b="1" spc="15" dirty="0">
                <a:latin typeface="Arial"/>
                <a:cs typeface="Arial"/>
              </a:rPr>
              <a:t>Internet of </a:t>
            </a:r>
            <a:r>
              <a:rPr lang="fr-FR" sz="3600" b="1" spc="15" dirty="0" err="1">
                <a:latin typeface="Arial"/>
                <a:cs typeface="Arial"/>
              </a:rPr>
              <a:t>Things</a:t>
            </a:r>
            <a:r>
              <a:rPr lang="fr-FR" sz="3600" b="1" spc="15" dirty="0">
                <a:latin typeface="Arial"/>
                <a:cs typeface="Arial"/>
              </a:rPr>
              <a:t> et EDGE  </a:t>
            </a:r>
            <a:r>
              <a:rPr lang="fr-FR" sz="3600" b="1" spc="15" dirty="0" err="1">
                <a:latin typeface="Arial"/>
                <a:cs typeface="Arial"/>
              </a:rPr>
              <a:t>Computing</a:t>
            </a:r>
            <a:endParaRPr lang="fr-FR" dirty="0"/>
          </a:p>
        </p:txBody>
      </p:sp>
      <p:sp>
        <p:nvSpPr>
          <p:cNvPr id="3" name="Espace réservé du contenu 2">
            <a:extLst>
              <a:ext uri="{FF2B5EF4-FFF2-40B4-BE49-F238E27FC236}">
                <a16:creationId xmlns:a16="http://schemas.microsoft.com/office/drawing/2014/main" id="{62BBB2A2-318C-CAD7-E0D3-3252A91A7906}"/>
              </a:ext>
            </a:extLst>
          </p:cNvPr>
          <p:cNvSpPr>
            <a:spLocks noGrp="1"/>
          </p:cNvSpPr>
          <p:nvPr>
            <p:ph idx="1"/>
          </p:nvPr>
        </p:nvSpPr>
        <p:spPr>
          <a:xfrm>
            <a:off x="448966" y="1960930"/>
            <a:ext cx="6260904" cy="3054100"/>
          </a:xfrm>
        </p:spPr>
        <p:txBody>
          <a:bodyPr>
            <a:normAutofit fontScale="85000" lnSpcReduction="20000"/>
          </a:bodyPr>
          <a:lstStyle/>
          <a:p>
            <a:pPr marL="920750" marR="5080" lvl="1" indent="-459105" algn="just">
              <a:lnSpc>
                <a:spcPct val="120000"/>
              </a:lnSpc>
              <a:spcBef>
                <a:spcPts val="65"/>
              </a:spcBef>
              <a:buFont typeface="Arial" pitchFamily="34" charset="0"/>
              <a:buChar char="-"/>
              <a:tabLst>
                <a:tab pos="920750" algn="l"/>
                <a:tab pos="921385" algn="l"/>
              </a:tabLst>
            </a:pPr>
            <a:r>
              <a:rPr lang="fr-FR" sz="1900" spc="15" dirty="0">
                <a:latin typeface="Arial"/>
                <a:cs typeface="Arial"/>
              </a:rPr>
              <a:t>Edge </a:t>
            </a:r>
            <a:r>
              <a:rPr lang="fr-FR" sz="1900" spc="15" dirty="0" err="1">
                <a:latin typeface="Arial"/>
                <a:cs typeface="Arial"/>
              </a:rPr>
              <a:t>Computing</a:t>
            </a:r>
            <a:r>
              <a:rPr lang="fr-FR" sz="1900" spc="15" dirty="0">
                <a:latin typeface="Arial"/>
                <a:cs typeface="Arial"/>
              </a:rPr>
              <a:t> peut être utilisé pour traiter  des données directement sur des appareils qui  ont des capteurs connectés ou des  périphériques de passerelle	(</a:t>
            </a:r>
            <a:r>
              <a:rPr lang="fr-FR" sz="1900" spc="15" dirty="0" err="1">
                <a:latin typeface="Arial"/>
                <a:cs typeface="Arial"/>
              </a:rPr>
              <a:t>gateway</a:t>
            </a:r>
            <a:r>
              <a:rPr lang="fr-FR" sz="1900" spc="15" dirty="0">
                <a:latin typeface="Arial"/>
                <a:cs typeface="Arial"/>
              </a:rPr>
              <a:t>) qui sont  proches des capteurs : traiter les données sans  compter sur le cloud ou sur le bord.</a:t>
            </a:r>
          </a:p>
          <a:p>
            <a:pPr marL="920750" marR="5080" lvl="1" indent="-459105" algn="just">
              <a:lnSpc>
                <a:spcPct val="120000"/>
              </a:lnSpc>
              <a:spcBef>
                <a:spcPts val="65"/>
              </a:spcBef>
              <a:buFont typeface="Arial" pitchFamily="34" charset="0"/>
              <a:buChar char="-"/>
              <a:tabLst>
                <a:tab pos="920750" algn="l"/>
                <a:tab pos="921385" algn="l"/>
              </a:tabLst>
            </a:pPr>
            <a:r>
              <a:rPr lang="fr-FR" sz="1900" spc="15" dirty="0">
                <a:latin typeface="Arial"/>
                <a:cs typeface="Arial"/>
              </a:rPr>
              <a:t>Dans Edge </a:t>
            </a:r>
            <a:r>
              <a:rPr lang="fr-FR" sz="1900" spc="15" dirty="0" err="1">
                <a:latin typeface="Arial"/>
                <a:cs typeface="Arial"/>
              </a:rPr>
              <a:t>Computing</a:t>
            </a:r>
            <a:r>
              <a:rPr lang="fr-FR" sz="1900" spc="15" dirty="0">
                <a:latin typeface="Arial"/>
                <a:cs typeface="Arial"/>
              </a:rPr>
              <a:t>, un maillage fin de  nœuds de calcul est placé à proximité des  périphériques d’extrémité,</a:t>
            </a:r>
          </a:p>
          <a:p>
            <a:pPr marL="920750" marR="5080" lvl="1" indent="-459105" algn="just">
              <a:lnSpc>
                <a:spcPct val="120000"/>
              </a:lnSpc>
              <a:spcBef>
                <a:spcPts val="65"/>
              </a:spcBef>
              <a:buFont typeface="Arial" pitchFamily="34" charset="0"/>
              <a:buChar char="-"/>
              <a:tabLst>
                <a:tab pos="920750" algn="l"/>
                <a:tab pos="921385" algn="l"/>
              </a:tabLst>
            </a:pPr>
            <a:r>
              <a:rPr lang="fr-FR" sz="1900" spc="15" dirty="0">
                <a:latin typeface="Arial"/>
                <a:cs typeface="Arial"/>
              </a:rPr>
              <a:t>Edge </a:t>
            </a:r>
            <a:r>
              <a:rPr lang="fr-FR" sz="1900" spc="15" dirty="0" err="1">
                <a:latin typeface="Arial"/>
                <a:cs typeface="Arial"/>
              </a:rPr>
              <a:t>Computing</a:t>
            </a:r>
            <a:r>
              <a:rPr lang="fr-FR" sz="1900" spc="15" dirty="0">
                <a:latin typeface="Arial"/>
                <a:cs typeface="Arial"/>
              </a:rPr>
              <a:t> est un moyen viable de  répondre aux exigences de calcul élevé et de  faible latence de l'apprentissage en profondeur  sur les périphériques de pointe.</a:t>
            </a:r>
          </a:p>
          <a:p>
            <a:pPr marL="920750" marR="5080" lvl="1" indent="-459105" algn="just">
              <a:lnSpc>
                <a:spcPct val="120000"/>
              </a:lnSpc>
              <a:spcBef>
                <a:spcPts val="65"/>
              </a:spcBef>
              <a:buFont typeface="Arial" pitchFamily="34" charset="0"/>
              <a:buChar char="-"/>
              <a:tabLst>
                <a:tab pos="920750" algn="l"/>
                <a:tab pos="921385" algn="l"/>
              </a:tabLst>
            </a:pPr>
            <a:endParaRPr lang="fr-FR" sz="1900" spc="15" dirty="0">
              <a:latin typeface="Arial"/>
              <a:cs typeface="Arial"/>
            </a:endParaRPr>
          </a:p>
          <a:p>
            <a:endParaRPr lang="fr-FR" dirty="0"/>
          </a:p>
        </p:txBody>
      </p:sp>
      <p:sp>
        <p:nvSpPr>
          <p:cNvPr id="4" name="Espace réservé du pied de page 3">
            <a:extLst>
              <a:ext uri="{FF2B5EF4-FFF2-40B4-BE49-F238E27FC236}">
                <a16:creationId xmlns:a16="http://schemas.microsoft.com/office/drawing/2014/main" id="{BA9AC420-A28D-C937-9273-218C1B23797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8942561D-38D8-47CA-68E3-3B3BD40C4CE4}"/>
              </a:ext>
            </a:extLst>
          </p:cNvPr>
          <p:cNvSpPr>
            <a:spLocks noGrp="1"/>
          </p:cNvSpPr>
          <p:nvPr>
            <p:ph type="sldNum" sz="quarter" idx="12"/>
          </p:nvPr>
        </p:nvSpPr>
        <p:spPr/>
        <p:txBody>
          <a:bodyPr/>
          <a:lstStyle/>
          <a:p>
            <a:fld id="{B82CCC60-E8CD-4174-8B1A-7DF615B22EEF}" type="slidenum">
              <a:rPr lang="en-US" smtClean="0"/>
              <a:pPr/>
              <a:t>42</a:t>
            </a:fld>
            <a:endParaRPr lang="en-US"/>
          </a:p>
        </p:txBody>
      </p:sp>
      <p:pic>
        <p:nvPicPr>
          <p:cNvPr id="7" name="Image 6">
            <a:extLst>
              <a:ext uri="{FF2B5EF4-FFF2-40B4-BE49-F238E27FC236}">
                <a16:creationId xmlns:a16="http://schemas.microsoft.com/office/drawing/2014/main" id="{2953F3A5-7E0A-98EB-C997-86BF928CEF7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28135" y="1960930"/>
            <a:ext cx="2133600" cy="3023415"/>
          </a:xfrm>
          <a:prstGeom prst="rect">
            <a:avLst/>
          </a:prstGeom>
        </p:spPr>
      </p:pic>
    </p:spTree>
    <p:extLst>
      <p:ext uri="{BB962C8B-B14F-4D97-AF65-F5344CB8AC3E}">
        <p14:creationId xmlns:p14="http://schemas.microsoft.com/office/powerpoint/2010/main" val="9643144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1C3C69B-7443-573B-7CAF-4CF7C83C0716}"/>
              </a:ext>
            </a:extLst>
          </p:cNvPr>
          <p:cNvSpPr>
            <a:spLocks noGrp="1"/>
          </p:cNvSpPr>
          <p:nvPr>
            <p:ph idx="1"/>
          </p:nvPr>
        </p:nvSpPr>
        <p:spPr>
          <a:xfrm>
            <a:off x="448966" y="1502815"/>
            <a:ext cx="8246070" cy="3206799"/>
          </a:xfrm>
        </p:spPr>
        <p:txBody>
          <a:bodyPr>
            <a:normAutofit fontScale="25000" lnSpcReduction="20000"/>
          </a:bodyPr>
          <a:lstStyle/>
          <a:p>
            <a:pPr marL="461645" marR="5080" lvl="1" indent="0" algn="just">
              <a:lnSpc>
                <a:spcPct val="120000"/>
              </a:lnSpc>
              <a:spcBef>
                <a:spcPts val="65"/>
              </a:spcBef>
              <a:buNone/>
              <a:tabLst>
                <a:tab pos="920750" algn="l"/>
                <a:tab pos="921385" algn="l"/>
              </a:tabLst>
            </a:pPr>
            <a:r>
              <a:rPr lang="fr-FR" sz="6000" b="1" spc="15" dirty="0">
                <a:latin typeface="Arial"/>
                <a:cs typeface="Arial"/>
              </a:rPr>
              <a:t>Internet of </a:t>
            </a:r>
            <a:r>
              <a:rPr lang="fr-FR" sz="6000" b="1" spc="15" dirty="0" err="1">
                <a:latin typeface="Arial"/>
                <a:cs typeface="Arial"/>
              </a:rPr>
              <a:t>Things</a:t>
            </a:r>
            <a:r>
              <a:rPr lang="fr-FR" sz="6000" b="1" spc="15" dirty="0">
                <a:latin typeface="Arial"/>
                <a:cs typeface="Arial"/>
              </a:rPr>
              <a:t> et EDGE </a:t>
            </a:r>
            <a:r>
              <a:rPr lang="fr-FR" sz="6000" b="1" spc="15" dirty="0" err="1">
                <a:latin typeface="Arial"/>
                <a:cs typeface="Arial"/>
              </a:rPr>
              <a:t>Computing</a:t>
            </a:r>
            <a:endParaRPr lang="fr-FR" sz="6000" b="1" spc="15" dirty="0">
              <a:latin typeface="Arial"/>
              <a:cs typeface="Arial"/>
            </a:endParaRPr>
          </a:p>
          <a:p>
            <a:pPr marL="461645" marR="5080" lvl="1" indent="0" algn="just">
              <a:lnSpc>
                <a:spcPct val="120000"/>
              </a:lnSpc>
              <a:spcBef>
                <a:spcPts val="65"/>
              </a:spcBef>
              <a:buNone/>
              <a:tabLst>
                <a:tab pos="920750" algn="l"/>
                <a:tab pos="921385" algn="l"/>
              </a:tabLst>
            </a:pPr>
            <a:r>
              <a:rPr lang="fr-FR" sz="6000" spc="15" dirty="0">
                <a:latin typeface="Arial"/>
                <a:cs typeface="Arial"/>
              </a:rPr>
              <a:t>Avantages</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Permet l’analyse temps quasi-réel des données.</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Les données sensibles peuvent être stockées discrètement dans la</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source (sur site).</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Faible latences.</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Augmentation de la disponibilité (décisions et commandes sont</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prises sur site).</a:t>
            </a:r>
          </a:p>
          <a:p>
            <a:pPr marL="461645" marR="5080" lvl="1" indent="0" algn="just">
              <a:lnSpc>
                <a:spcPct val="120000"/>
              </a:lnSpc>
              <a:spcBef>
                <a:spcPts val="65"/>
              </a:spcBef>
              <a:buNone/>
              <a:tabLst>
                <a:tab pos="920750" algn="l"/>
                <a:tab pos="921385" algn="l"/>
              </a:tabLst>
            </a:pPr>
            <a:endParaRPr lang="fr-FR" sz="6000" spc="15" dirty="0">
              <a:latin typeface="Arial"/>
              <a:cs typeface="Arial"/>
            </a:endParaRPr>
          </a:p>
          <a:p>
            <a:pPr marL="461645" marR="5080" lvl="1" indent="0" algn="just">
              <a:lnSpc>
                <a:spcPct val="120000"/>
              </a:lnSpc>
              <a:spcBef>
                <a:spcPts val="65"/>
              </a:spcBef>
              <a:buNone/>
              <a:tabLst>
                <a:tab pos="920750" algn="l"/>
                <a:tab pos="921385" algn="l"/>
              </a:tabLst>
            </a:pPr>
            <a:r>
              <a:rPr lang="fr-FR" sz="6000" spc="15" dirty="0">
                <a:latin typeface="Arial"/>
                <a:cs typeface="Arial"/>
              </a:rPr>
              <a:t>Inconvénients</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Moins évolutif par rapport au Fog </a:t>
            </a:r>
            <a:r>
              <a:rPr lang="fr-FR" sz="6000" spc="15" dirty="0" err="1">
                <a:latin typeface="Arial"/>
                <a:cs typeface="Arial"/>
              </a:rPr>
              <a:t>computing</a:t>
            </a:r>
            <a:r>
              <a:rPr lang="fr-FR" sz="6000" spc="15" dirty="0">
                <a:latin typeface="Arial"/>
                <a:cs typeface="Arial"/>
              </a:rPr>
              <a:t>.</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Edge </a:t>
            </a:r>
            <a:r>
              <a:rPr lang="fr-FR" sz="6000" spc="15" dirty="0" err="1">
                <a:latin typeface="Arial"/>
                <a:cs typeface="Arial"/>
              </a:rPr>
              <a:t>computing</a:t>
            </a:r>
            <a:r>
              <a:rPr lang="fr-FR" sz="6000" spc="15" dirty="0">
                <a:latin typeface="Arial"/>
                <a:cs typeface="Arial"/>
              </a:rPr>
              <a:t> supporte un peu d’interopérabilité.</a:t>
            </a:r>
          </a:p>
          <a:p>
            <a:pPr marL="920750" marR="5080" lvl="1" indent="-459105" algn="just">
              <a:lnSpc>
                <a:spcPct val="120000"/>
              </a:lnSpc>
              <a:spcBef>
                <a:spcPts val="65"/>
              </a:spcBef>
              <a:buFont typeface="Arial" pitchFamily="34" charset="0"/>
              <a:buChar char="-"/>
              <a:tabLst>
                <a:tab pos="920750" algn="l"/>
                <a:tab pos="921385" algn="l"/>
              </a:tabLst>
            </a:pPr>
            <a:r>
              <a:rPr lang="fr-FR" sz="6000" spc="15" dirty="0">
                <a:latin typeface="Arial"/>
                <a:cs typeface="Arial"/>
              </a:rPr>
              <a:t>Edge </a:t>
            </a:r>
            <a:r>
              <a:rPr lang="fr-FR" sz="6000" spc="15" dirty="0" err="1">
                <a:latin typeface="Arial"/>
                <a:cs typeface="Arial"/>
              </a:rPr>
              <a:t>computing</a:t>
            </a:r>
            <a:r>
              <a:rPr lang="fr-FR" sz="6000" spc="15" dirty="0">
                <a:latin typeface="Arial"/>
                <a:cs typeface="Arial"/>
              </a:rPr>
              <a:t> ne prend pas en charge	la </a:t>
            </a:r>
            <a:r>
              <a:rPr lang="fr-FR" sz="6000" spc="15">
                <a:latin typeface="Arial"/>
                <a:cs typeface="Arial"/>
              </a:rPr>
              <a:t>mutualisation des ressources </a:t>
            </a:r>
            <a:r>
              <a:rPr lang="fr-FR" sz="6000" spc="15" dirty="0">
                <a:latin typeface="Arial"/>
                <a:cs typeface="Arial"/>
              </a:rPr>
              <a:t>(</a:t>
            </a:r>
            <a:r>
              <a:rPr lang="fr-FR" sz="6000" spc="15" dirty="0" err="1">
                <a:latin typeface="Arial"/>
                <a:cs typeface="Arial"/>
              </a:rPr>
              <a:t>resource</a:t>
            </a:r>
            <a:r>
              <a:rPr lang="fr-FR" sz="6000" spc="15" dirty="0">
                <a:latin typeface="Arial"/>
                <a:cs typeface="Arial"/>
              </a:rPr>
              <a:t> </a:t>
            </a:r>
            <a:r>
              <a:rPr lang="fr-FR" sz="6000" spc="15" dirty="0" err="1">
                <a:latin typeface="Arial"/>
                <a:cs typeface="Arial"/>
              </a:rPr>
              <a:t>pooling</a:t>
            </a:r>
            <a:r>
              <a:rPr lang="fr-FR" sz="6000" spc="15" dirty="0">
                <a:latin typeface="Arial"/>
                <a:cs typeface="Arial"/>
              </a:rPr>
              <a:t>).</a:t>
            </a:r>
          </a:p>
          <a:p>
            <a:endParaRPr lang="fr-FR" dirty="0"/>
          </a:p>
        </p:txBody>
      </p:sp>
      <p:sp>
        <p:nvSpPr>
          <p:cNvPr id="4" name="Espace réservé du pied de page 3">
            <a:extLst>
              <a:ext uri="{FF2B5EF4-FFF2-40B4-BE49-F238E27FC236}">
                <a16:creationId xmlns:a16="http://schemas.microsoft.com/office/drawing/2014/main" id="{EB89031A-8228-D343-6153-BC8AD5711384}"/>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0DBA8124-8122-C5ED-8203-FA30FED484BF}"/>
              </a:ext>
            </a:extLst>
          </p:cNvPr>
          <p:cNvSpPr>
            <a:spLocks noGrp="1"/>
          </p:cNvSpPr>
          <p:nvPr>
            <p:ph type="sldNum" sz="quarter" idx="12"/>
          </p:nvPr>
        </p:nvSpPr>
        <p:spPr/>
        <p:txBody>
          <a:bodyPr/>
          <a:lstStyle/>
          <a:p>
            <a:fld id="{B82CCC60-E8CD-4174-8B1A-7DF615B22EEF}" type="slidenum">
              <a:rPr lang="en-US" smtClean="0"/>
              <a:pPr/>
              <a:t>43</a:t>
            </a:fld>
            <a:endParaRPr lang="en-US"/>
          </a:p>
        </p:txBody>
      </p:sp>
    </p:spTree>
    <p:extLst>
      <p:ext uri="{BB962C8B-B14F-4D97-AF65-F5344CB8AC3E}">
        <p14:creationId xmlns:p14="http://schemas.microsoft.com/office/powerpoint/2010/main" val="25007763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4640F8-8F6A-1FE2-6202-04646DA8BAE7}"/>
              </a:ext>
            </a:extLst>
          </p:cNvPr>
          <p:cNvSpPr>
            <a:spLocks noGrp="1"/>
          </p:cNvSpPr>
          <p:nvPr>
            <p:ph type="title"/>
          </p:nvPr>
        </p:nvSpPr>
        <p:spPr>
          <a:xfrm>
            <a:off x="143554" y="1350110"/>
            <a:ext cx="9000445" cy="610820"/>
          </a:xfrm>
        </p:spPr>
        <p:txBody>
          <a:bodyPr>
            <a:noAutofit/>
          </a:bodyPr>
          <a:lstStyle/>
          <a:p>
            <a:r>
              <a:rPr lang="fr-FR" sz="2000" spc="-20" dirty="0">
                <a:latin typeface="Arial Black"/>
                <a:cs typeface="Arial Black"/>
              </a:rPr>
              <a:t>Récapitulation </a:t>
            </a:r>
            <a:r>
              <a:rPr lang="fr-FR" sz="2000" dirty="0">
                <a:latin typeface="Arial Black"/>
                <a:cs typeface="Arial Black"/>
              </a:rPr>
              <a:t>: </a:t>
            </a:r>
            <a:r>
              <a:rPr lang="fr-FR" sz="2000" spc="-20" dirty="0">
                <a:latin typeface="Arial Black"/>
                <a:cs typeface="Arial Black"/>
              </a:rPr>
              <a:t>Avantages </a:t>
            </a:r>
            <a:r>
              <a:rPr lang="fr-FR" sz="2000" dirty="0">
                <a:latin typeface="Arial Black"/>
                <a:cs typeface="Arial Black"/>
              </a:rPr>
              <a:t>de </a:t>
            </a:r>
            <a:r>
              <a:rPr lang="fr-FR" sz="2000" spc="-5" dirty="0">
                <a:latin typeface="Arial Black"/>
                <a:cs typeface="Arial Black"/>
              </a:rPr>
              <a:t>l’architecture </a:t>
            </a:r>
            <a:r>
              <a:rPr lang="fr-FR" sz="2000" spc="-40" dirty="0">
                <a:latin typeface="Arial Black"/>
                <a:cs typeface="Arial Black"/>
              </a:rPr>
              <a:t>Edge/Fog </a:t>
            </a:r>
            <a:r>
              <a:rPr lang="fr-FR" sz="2000" spc="-10" dirty="0">
                <a:latin typeface="Arial Black"/>
                <a:cs typeface="Arial Black"/>
              </a:rPr>
              <a:t>pour</a:t>
            </a:r>
            <a:r>
              <a:rPr lang="fr-FR" sz="2000" spc="50" dirty="0">
                <a:latin typeface="Arial Black"/>
                <a:cs typeface="Arial Black"/>
              </a:rPr>
              <a:t> </a:t>
            </a:r>
            <a:r>
              <a:rPr lang="fr-FR" sz="2000" dirty="0">
                <a:latin typeface="Arial Black"/>
                <a:cs typeface="Arial Black"/>
              </a:rPr>
              <a:t>l’IoT</a:t>
            </a:r>
            <a:endParaRPr lang="fr-FR" sz="2000" dirty="0"/>
          </a:p>
        </p:txBody>
      </p:sp>
      <p:sp>
        <p:nvSpPr>
          <p:cNvPr id="3" name="Espace réservé du contenu 2">
            <a:extLst>
              <a:ext uri="{FF2B5EF4-FFF2-40B4-BE49-F238E27FC236}">
                <a16:creationId xmlns:a16="http://schemas.microsoft.com/office/drawing/2014/main" id="{2D3BA61B-660E-91B0-9003-901767602C96}"/>
              </a:ext>
            </a:extLst>
          </p:cNvPr>
          <p:cNvSpPr>
            <a:spLocks noGrp="1"/>
          </p:cNvSpPr>
          <p:nvPr>
            <p:ph idx="1"/>
          </p:nvPr>
        </p:nvSpPr>
        <p:spPr>
          <a:xfrm>
            <a:off x="448966" y="1960929"/>
            <a:ext cx="8246070" cy="3080177"/>
          </a:xfrm>
        </p:spPr>
        <p:txBody>
          <a:bodyPr>
            <a:normAutofit fontScale="70000" lnSpcReduction="20000"/>
          </a:bodyPr>
          <a:lstStyle/>
          <a:p>
            <a:pPr marL="201295" marR="5080" indent="-189230" algn="just">
              <a:lnSpc>
                <a:spcPct val="101000"/>
              </a:lnSpc>
              <a:spcBef>
                <a:spcPts val="4240"/>
              </a:spcBef>
              <a:buChar char="•"/>
              <a:tabLst>
                <a:tab pos="201930" algn="l"/>
              </a:tabLst>
            </a:pPr>
            <a:r>
              <a:rPr lang="fr-FR" sz="2800" spc="10" dirty="0">
                <a:latin typeface="Arial"/>
                <a:cs typeface="Arial"/>
              </a:rPr>
              <a:t>Le </a:t>
            </a:r>
            <a:r>
              <a:rPr lang="fr-FR" sz="2800" spc="75" dirty="0">
                <a:latin typeface="Arial"/>
                <a:cs typeface="Arial"/>
              </a:rPr>
              <a:t>déploiement </a:t>
            </a:r>
            <a:r>
              <a:rPr lang="fr-FR" sz="2800" spc="70" dirty="0">
                <a:latin typeface="Arial"/>
                <a:cs typeface="Arial"/>
              </a:rPr>
              <a:t>d’une architecture distribuée </a:t>
            </a:r>
            <a:r>
              <a:rPr lang="fr-FR" sz="2800" spc="40" dirty="0">
                <a:latin typeface="Arial"/>
                <a:cs typeface="Arial"/>
              </a:rPr>
              <a:t>repose </a:t>
            </a:r>
            <a:r>
              <a:rPr lang="fr-FR" sz="2800" spc="35" dirty="0">
                <a:latin typeface="Arial"/>
                <a:cs typeface="Arial"/>
              </a:rPr>
              <a:t>sur </a:t>
            </a:r>
            <a:r>
              <a:rPr lang="fr-FR" sz="2800" spc="60" dirty="0">
                <a:latin typeface="Arial"/>
                <a:cs typeface="Arial"/>
              </a:rPr>
              <a:t>l’idée </a:t>
            </a:r>
            <a:r>
              <a:rPr lang="fr-FR" sz="2800" spc="85" dirty="0">
                <a:latin typeface="Arial"/>
                <a:cs typeface="Arial"/>
              </a:rPr>
              <a:t>d’intégration </a:t>
            </a:r>
            <a:r>
              <a:rPr lang="fr-FR" sz="2800" spc="100" dirty="0">
                <a:latin typeface="Arial"/>
                <a:cs typeface="Arial"/>
              </a:rPr>
              <a:t>de  </a:t>
            </a:r>
            <a:r>
              <a:rPr lang="fr-FR" sz="2800" spc="65" dirty="0">
                <a:latin typeface="Arial"/>
                <a:cs typeface="Arial"/>
              </a:rPr>
              <a:t>l’intelligence </a:t>
            </a:r>
            <a:r>
              <a:rPr lang="fr-FR" sz="2800" spc="45" dirty="0">
                <a:latin typeface="Arial"/>
                <a:cs typeface="Arial"/>
              </a:rPr>
              <a:t>près </a:t>
            </a:r>
            <a:r>
              <a:rPr lang="fr-FR" sz="2800" spc="50" dirty="0">
                <a:latin typeface="Arial"/>
                <a:cs typeface="Arial"/>
              </a:rPr>
              <a:t>des </a:t>
            </a:r>
            <a:r>
              <a:rPr lang="fr-FR" sz="2800" spc="30" dirty="0">
                <a:latin typeface="Arial"/>
                <a:cs typeface="Arial"/>
              </a:rPr>
              <a:t>nœuds </a:t>
            </a:r>
            <a:r>
              <a:rPr lang="fr-FR" sz="2800" spc="70" dirty="0">
                <a:latin typeface="Arial"/>
                <a:cs typeface="Arial"/>
              </a:rPr>
              <a:t>capteurs, </a:t>
            </a:r>
            <a:r>
              <a:rPr lang="fr-FR" sz="2800" spc="50" dirty="0">
                <a:latin typeface="Arial"/>
                <a:cs typeface="Arial"/>
              </a:rPr>
              <a:t>on </a:t>
            </a:r>
            <a:r>
              <a:rPr lang="fr-FR" sz="2800" spc="40" dirty="0">
                <a:latin typeface="Arial"/>
                <a:cs typeface="Arial"/>
              </a:rPr>
              <a:t>the </a:t>
            </a:r>
            <a:r>
              <a:rPr lang="fr-FR" sz="2800" spc="50" dirty="0">
                <a:latin typeface="Arial"/>
                <a:cs typeface="Arial"/>
              </a:rPr>
              <a:t>‘’Edge’’, </a:t>
            </a:r>
            <a:r>
              <a:rPr lang="fr-FR" sz="2800" spc="45" dirty="0">
                <a:latin typeface="Arial"/>
                <a:cs typeface="Arial"/>
              </a:rPr>
              <a:t>ce </a:t>
            </a:r>
            <a:r>
              <a:rPr lang="fr-FR" sz="2800" spc="65" dirty="0">
                <a:latin typeface="Arial"/>
                <a:cs typeface="Arial"/>
              </a:rPr>
              <a:t>qui </a:t>
            </a:r>
            <a:r>
              <a:rPr lang="fr-FR" sz="2800" spc="60" dirty="0">
                <a:latin typeface="Arial"/>
                <a:cs typeface="Arial"/>
              </a:rPr>
              <a:t>diminue </a:t>
            </a:r>
            <a:r>
              <a:rPr lang="fr-FR" sz="2800" spc="50" dirty="0">
                <a:latin typeface="Arial"/>
                <a:cs typeface="Arial"/>
              </a:rPr>
              <a:t>par  </a:t>
            </a:r>
            <a:r>
              <a:rPr lang="fr-FR" sz="2800" spc="75" dirty="0">
                <a:latin typeface="Arial"/>
                <a:cs typeface="Arial"/>
              </a:rPr>
              <a:t>conséquence </a:t>
            </a:r>
            <a:r>
              <a:rPr lang="fr-FR" sz="2800" spc="15" dirty="0">
                <a:latin typeface="Arial"/>
                <a:cs typeface="Arial"/>
              </a:rPr>
              <a:t>la </a:t>
            </a:r>
            <a:r>
              <a:rPr lang="fr-FR" sz="2800" spc="75" dirty="0">
                <a:latin typeface="Arial"/>
                <a:cs typeface="Arial"/>
              </a:rPr>
              <a:t>dépendance </a:t>
            </a:r>
            <a:r>
              <a:rPr lang="fr-FR" sz="2800" spc="10" dirty="0">
                <a:latin typeface="Arial"/>
                <a:cs typeface="Arial"/>
              </a:rPr>
              <a:t>au </a:t>
            </a:r>
            <a:r>
              <a:rPr lang="fr-FR" sz="2800" spc="95" dirty="0">
                <a:latin typeface="Arial"/>
                <a:cs typeface="Arial"/>
              </a:rPr>
              <a:t>cloud</a:t>
            </a:r>
            <a:r>
              <a:rPr lang="fr-FR" sz="2800" spc="110" dirty="0">
                <a:latin typeface="Arial"/>
                <a:cs typeface="Arial"/>
              </a:rPr>
              <a:t> </a:t>
            </a:r>
            <a:r>
              <a:rPr lang="fr-FR" sz="2800" spc="105" dirty="0" err="1">
                <a:latin typeface="Arial"/>
                <a:cs typeface="Arial"/>
              </a:rPr>
              <a:t>computing</a:t>
            </a:r>
            <a:r>
              <a:rPr lang="fr-FR" sz="2800" spc="105" dirty="0">
                <a:latin typeface="Arial"/>
                <a:cs typeface="Arial"/>
              </a:rPr>
              <a:t>.</a:t>
            </a:r>
            <a:endParaRPr lang="fr-FR" sz="2800" dirty="0">
              <a:latin typeface="Arial"/>
              <a:cs typeface="Arial"/>
            </a:endParaRPr>
          </a:p>
          <a:p>
            <a:pPr marL="201295" marR="17780" indent="-189230" algn="just">
              <a:lnSpc>
                <a:spcPct val="101000"/>
              </a:lnSpc>
              <a:spcBef>
                <a:spcPts val="5"/>
              </a:spcBef>
              <a:buChar char="•"/>
              <a:tabLst>
                <a:tab pos="201930" algn="l"/>
              </a:tabLst>
            </a:pPr>
            <a:r>
              <a:rPr lang="fr-FR" sz="2800" spc="-5" dirty="0">
                <a:latin typeface="Arial"/>
                <a:cs typeface="Arial"/>
              </a:rPr>
              <a:t>L’idée </a:t>
            </a:r>
            <a:r>
              <a:rPr lang="fr-FR" sz="2800" spc="55" dirty="0">
                <a:latin typeface="Arial"/>
                <a:cs typeface="Arial"/>
              </a:rPr>
              <a:t>est </a:t>
            </a:r>
            <a:r>
              <a:rPr lang="fr-FR" sz="2800" spc="50" dirty="0">
                <a:latin typeface="Arial"/>
                <a:cs typeface="Arial"/>
              </a:rPr>
              <a:t>de </a:t>
            </a:r>
            <a:r>
              <a:rPr lang="fr-FR" sz="2800" spc="75" dirty="0">
                <a:latin typeface="Arial"/>
                <a:cs typeface="Arial"/>
              </a:rPr>
              <a:t>rapprocher </a:t>
            </a:r>
            <a:r>
              <a:rPr lang="fr-FR" sz="2800" spc="10" dirty="0">
                <a:latin typeface="Arial"/>
                <a:cs typeface="Arial"/>
              </a:rPr>
              <a:t>le </a:t>
            </a:r>
            <a:r>
              <a:rPr lang="fr-FR" sz="2800" spc="65" dirty="0">
                <a:latin typeface="Arial"/>
                <a:cs typeface="Arial"/>
              </a:rPr>
              <a:t>plus </a:t>
            </a:r>
            <a:r>
              <a:rPr lang="fr-FR" sz="2800" spc="75" dirty="0">
                <a:latin typeface="Arial"/>
                <a:cs typeface="Arial"/>
              </a:rPr>
              <a:t>possible </a:t>
            </a:r>
            <a:r>
              <a:rPr lang="fr-FR" sz="2800" spc="10" dirty="0">
                <a:latin typeface="Arial"/>
                <a:cs typeface="Arial"/>
              </a:rPr>
              <a:t>le </a:t>
            </a:r>
            <a:r>
              <a:rPr lang="fr-FR" sz="2800" spc="70" dirty="0">
                <a:latin typeface="Arial"/>
                <a:cs typeface="Arial"/>
              </a:rPr>
              <a:t>traitement </a:t>
            </a:r>
            <a:r>
              <a:rPr lang="fr-FR" sz="2800" spc="50" dirty="0">
                <a:latin typeface="Arial"/>
                <a:cs typeface="Arial"/>
              </a:rPr>
              <a:t>des </a:t>
            </a:r>
            <a:r>
              <a:rPr lang="fr-FR" sz="2800" spc="55" dirty="0">
                <a:latin typeface="Arial"/>
                <a:cs typeface="Arial"/>
              </a:rPr>
              <a:t>données </a:t>
            </a:r>
            <a:r>
              <a:rPr lang="fr-FR" sz="2800" spc="50" dirty="0">
                <a:latin typeface="Arial"/>
                <a:cs typeface="Arial"/>
              </a:rPr>
              <a:t>et </a:t>
            </a:r>
            <a:r>
              <a:rPr lang="fr-FR" sz="2800" spc="10" dirty="0">
                <a:latin typeface="Arial"/>
                <a:cs typeface="Arial"/>
              </a:rPr>
              <a:t>la </a:t>
            </a:r>
            <a:r>
              <a:rPr lang="fr-FR" sz="2800" spc="50" dirty="0">
                <a:latin typeface="Arial"/>
                <a:cs typeface="Arial"/>
              </a:rPr>
              <a:t>prise  </a:t>
            </a:r>
            <a:r>
              <a:rPr lang="fr-FR" sz="2800" spc="40" dirty="0">
                <a:latin typeface="Arial"/>
                <a:cs typeface="Arial"/>
              </a:rPr>
              <a:t>de </a:t>
            </a:r>
            <a:r>
              <a:rPr lang="fr-FR" sz="2800" spc="75" dirty="0">
                <a:latin typeface="Arial"/>
                <a:cs typeface="Arial"/>
              </a:rPr>
              <a:t>décisions </a:t>
            </a:r>
            <a:r>
              <a:rPr lang="fr-FR" sz="2800" spc="50" dirty="0">
                <a:latin typeface="Arial"/>
                <a:cs typeface="Arial"/>
              </a:rPr>
              <a:t>des </a:t>
            </a:r>
            <a:r>
              <a:rPr lang="fr-FR" sz="2800" spc="25" dirty="0">
                <a:latin typeface="Arial"/>
                <a:cs typeface="Arial"/>
              </a:rPr>
              <a:t>nœuds </a:t>
            </a:r>
            <a:r>
              <a:rPr lang="fr-FR" sz="2800" spc="70" dirty="0">
                <a:latin typeface="Arial"/>
                <a:cs typeface="Arial"/>
              </a:rPr>
              <a:t>capteurs </a:t>
            </a:r>
            <a:r>
              <a:rPr lang="fr-FR" sz="2800" spc="40" dirty="0">
                <a:latin typeface="Arial"/>
                <a:cs typeface="Arial"/>
              </a:rPr>
              <a:t>et </a:t>
            </a:r>
            <a:r>
              <a:rPr lang="fr-FR" sz="2800" spc="15" dirty="0">
                <a:latin typeface="Arial"/>
                <a:cs typeface="Arial"/>
              </a:rPr>
              <a:t>réduire </a:t>
            </a:r>
            <a:r>
              <a:rPr lang="fr-FR" sz="2800" spc="25" dirty="0">
                <a:latin typeface="Arial"/>
                <a:cs typeface="Arial"/>
              </a:rPr>
              <a:t>ainsi </a:t>
            </a:r>
            <a:r>
              <a:rPr lang="fr-FR" sz="2800" spc="10" dirty="0">
                <a:latin typeface="Arial"/>
                <a:cs typeface="Arial"/>
              </a:rPr>
              <a:t>les </a:t>
            </a:r>
            <a:r>
              <a:rPr lang="fr-FR" sz="2800" spc="85" dirty="0">
                <a:latin typeface="Arial"/>
                <a:cs typeface="Arial"/>
              </a:rPr>
              <a:t>temps </a:t>
            </a:r>
            <a:r>
              <a:rPr lang="fr-FR" sz="2800" spc="40" dirty="0">
                <a:latin typeface="Arial"/>
                <a:cs typeface="Arial"/>
              </a:rPr>
              <a:t>de </a:t>
            </a:r>
            <a:r>
              <a:rPr lang="fr-FR" sz="2800" spc="45" dirty="0">
                <a:latin typeface="Arial"/>
                <a:cs typeface="Arial"/>
              </a:rPr>
              <a:t>latence </a:t>
            </a:r>
            <a:r>
              <a:rPr lang="fr-FR" sz="2800" spc="50" dirty="0">
                <a:latin typeface="Arial"/>
                <a:cs typeface="Arial"/>
              </a:rPr>
              <a:t>résultant  de </a:t>
            </a:r>
            <a:r>
              <a:rPr lang="fr-FR" sz="2800" spc="65" dirty="0">
                <a:latin typeface="Arial"/>
                <a:cs typeface="Arial"/>
              </a:rPr>
              <a:t>l’envoi </a:t>
            </a:r>
            <a:r>
              <a:rPr lang="fr-FR" sz="2800" spc="55" dirty="0">
                <a:latin typeface="Arial"/>
                <a:cs typeface="Arial"/>
              </a:rPr>
              <a:t>des </a:t>
            </a:r>
            <a:r>
              <a:rPr lang="fr-FR" sz="2800" spc="60" dirty="0">
                <a:latin typeface="Arial"/>
                <a:cs typeface="Arial"/>
              </a:rPr>
              <a:t>données </a:t>
            </a:r>
            <a:r>
              <a:rPr lang="fr-FR" sz="2800" spc="10" dirty="0">
                <a:latin typeface="Arial"/>
                <a:cs typeface="Arial"/>
              </a:rPr>
              <a:t>au</a:t>
            </a:r>
            <a:r>
              <a:rPr lang="fr-FR" sz="2800" spc="-20" dirty="0">
                <a:latin typeface="Arial"/>
                <a:cs typeface="Arial"/>
              </a:rPr>
              <a:t> </a:t>
            </a:r>
            <a:r>
              <a:rPr lang="fr-FR" sz="2800" spc="90" dirty="0">
                <a:latin typeface="Arial"/>
                <a:cs typeface="Arial"/>
              </a:rPr>
              <a:t>cloud.</a:t>
            </a:r>
            <a:endParaRPr lang="fr-FR" sz="2800" dirty="0">
              <a:latin typeface="Arial"/>
              <a:cs typeface="Arial"/>
            </a:endParaRPr>
          </a:p>
          <a:p>
            <a:pPr marL="201295" marR="6350" indent="-189230" algn="just">
              <a:lnSpc>
                <a:spcPct val="120000"/>
              </a:lnSpc>
              <a:spcBef>
                <a:spcPts val="145"/>
              </a:spcBef>
              <a:buChar char="•"/>
              <a:tabLst>
                <a:tab pos="201930" algn="l"/>
              </a:tabLst>
            </a:pPr>
            <a:r>
              <a:rPr lang="fr-FR" sz="2800" spc="10" dirty="0">
                <a:latin typeface="Arial"/>
                <a:cs typeface="Arial"/>
              </a:rPr>
              <a:t>Le </a:t>
            </a:r>
            <a:r>
              <a:rPr lang="fr-FR" sz="2800" spc="70" dirty="0">
                <a:latin typeface="Arial"/>
                <a:cs typeface="Arial"/>
              </a:rPr>
              <a:t>traitement </a:t>
            </a:r>
            <a:r>
              <a:rPr lang="fr-FR" sz="2800" spc="60" dirty="0">
                <a:latin typeface="Arial"/>
                <a:cs typeface="Arial"/>
              </a:rPr>
              <a:t>‘’Edge’’ </a:t>
            </a:r>
            <a:r>
              <a:rPr lang="fr-FR" sz="2800" spc="-10" dirty="0">
                <a:latin typeface="Arial"/>
                <a:cs typeface="Arial"/>
              </a:rPr>
              <a:t>(ou </a:t>
            </a:r>
            <a:r>
              <a:rPr lang="fr-FR" sz="2800" spc="-5" dirty="0">
                <a:latin typeface="Arial"/>
                <a:cs typeface="Arial"/>
              </a:rPr>
              <a:t>Fog) </a:t>
            </a:r>
            <a:r>
              <a:rPr lang="fr-FR" sz="2800" spc="50" dirty="0">
                <a:latin typeface="Arial"/>
                <a:cs typeface="Arial"/>
              </a:rPr>
              <a:t>des </a:t>
            </a:r>
            <a:r>
              <a:rPr lang="fr-FR" sz="2800" spc="75" dirty="0">
                <a:latin typeface="Arial"/>
                <a:cs typeface="Arial"/>
              </a:rPr>
              <a:t>paquets </a:t>
            </a:r>
            <a:r>
              <a:rPr lang="fr-FR" sz="2800" spc="40" dirty="0">
                <a:latin typeface="Arial"/>
                <a:cs typeface="Arial"/>
              </a:rPr>
              <a:t>de </a:t>
            </a:r>
            <a:r>
              <a:rPr lang="fr-FR" sz="2800" spc="55" dirty="0">
                <a:latin typeface="Arial"/>
                <a:cs typeface="Arial"/>
              </a:rPr>
              <a:t>données </a:t>
            </a:r>
            <a:r>
              <a:rPr lang="fr-FR" sz="2800" spc="75" dirty="0">
                <a:latin typeface="Arial"/>
                <a:cs typeface="Arial"/>
              </a:rPr>
              <a:t>brutes permet </a:t>
            </a:r>
            <a:r>
              <a:rPr lang="fr-FR" sz="2800" spc="85" dirty="0">
                <a:latin typeface="Arial"/>
                <a:cs typeface="Arial"/>
              </a:rPr>
              <a:t>de  </a:t>
            </a:r>
            <a:r>
              <a:rPr lang="fr-FR" sz="2800" spc="50" dirty="0">
                <a:latin typeface="Arial"/>
                <a:cs typeface="Arial"/>
              </a:rPr>
              <a:t>renforcer </a:t>
            </a:r>
            <a:r>
              <a:rPr lang="fr-FR" sz="2800" spc="15" dirty="0">
                <a:latin typeface="Arial"/>
                <a:cs typeface="Arial"/>
              </a:rPr>
              <a:t>la </a:t>
            </a:r>
            <a:r>
              <a:rPr lang="fr-FR" sz="2800" spc="70" dirty="0">
                <a:latin typeface="Arial"/>
                <a:cs typeface="Arial"/>
              </a:rPr>
              <a:t>sécurité localement </a:t>
            </a:r>
            <a:r>
              <a:rPr lang="fr-FR" sz="2800" spc="45" dirty="0">
                <a:latin typeface="Arial"/>
                <a:cs typeface="Arial"/>
              </a:rPr>
              <a:t>avant </a:t>
            </a:r>
            <a:r>
              <a:rPr lang="fr-FR" sz="2800" spc="50" dirty="0">
                <a:latin typeface="Arial"/>
                <a:cs typeface="Arial"/>
              </a:rPr>
              <a:t>de </a:t>
            </a:r>
            <a:r>
              <a:rPr lang="fr-FR" sz="2800" spc="20" dirty="0">
                <a:latin typeface="Arial"/>
                <a:cs typeface="Arial"/>
              </a:rPr>
              <a:t>les </a:t>
            </a:r>
            <a:r>
              <a:rPr lang="fr-FR" sz="2800" spc="15" dirty="0">
                <a:latin typeface="Arial"/>
                <a:cs typeface="Arial"/>
              </a:rPr>
              <a:t>relayer </a:t>
            </a:r>
            <a:r>
              <a:rPr lang="fr-FR" sz="2800" spc="10" dirty="0">
                <a:latin typeface="Arial"/>
                <a:cs typeface="Arial"/>
              </a:rPr>
              <a:t>au</a:t>
            </a:r>
            <a:r>
              <a:rPr lang="fr-FR" sz="2800" spc="110" dirty="0">
                <a:latin typeface="Arial"/>
                <a:cs typeface="Arial"/>
              </a:rPr>
              <a:t> </a:t>
            </a:r>
            <a:r>
              <a:rPr lang="fr-FR" sz="2800" spc="90" dirty="0">
                <a:latin typeface="Arial"/>
                <a:cs typeface="Arial"/>
              </a:rPr>
              <a:t>cloud.</a:t>
            </a:r>
            <a:endParaRPr lang="fr-FR" sz="2800" dirty="0">
              <a:latin typeface="Arial"/>
              <a:cs typeface="Arial"/>
            </a:endParaRPr>
          </a:p>
        </p:txBody>
      </p:sp>
      <p:sp>
        <p:nvSpPr>
          <p:cNvPr id="4" name="Espace réservé du pied de page 3">
            <a:extLst>
              <a:ext uri="{FF2B5EF4-FFF2-40B4-BE49-F238E27FC236}">
                <a16:creationId xmlns:a16="http://schemas.microsoft.com/office/drawing/2014/main" id="{D7428380-2D7B-FFC5-B450-D128FA827B90}"/>
              </a:ext>
            </a:extLst>
          </p:cNvPr>
          <p:cNvSpPr>
            <a:spLocks noGrp="1"/>
          </p:cNvSpPr>
          <p:nvPr>
            <p:ph type="ftr" sz="quarter" idx="11"/>
          </p:nvPr>
        </p:nvSpPr>
        <p:spPr/>
        <p:txBody>
          <a:bodyPr/>
          <a:lstStyle/>
          <a:p>
            <a:r>
              <a:rPr lang="en-US"/>
              <a:t>Dr. Bechir Ben Gouissem</a:t>
            </a:r>
          </a:p>
        </p:txBody>
      </p:sp>
      <p:sp>
        <p:nvSpPr>
          <p:cNvPr id="5" name="Espace réservé du numéro de diapositive 4">
            <a:extLst>
              <a:ext uri="{FF2B5EF4-FFF2-40B4-BE49-F238E27FC236}">
                <a16:creationId xmlns:a16="http://schemas.microsoft.com/office/drawing/2014/main" id="{13E73EDD-B507-EA19-FA6F-888542A56503}"/>
              </a:ext>
            </a:extLst>
          </p:cNvPr>
          <p:cNvSpPr>
            <a:spLocks noGrp="1"/>
          </p:cNvSpPr>
          <p:nvPr>
            <p:ph type="sldNum" sz="quarter" idx="12"/>
          </p:nvPr>
        </p:nvSpPr>
        <p:spPr/>
        <p:txBody>
          <a:bodyPr/>
          <a:lstStyle/>
          <a:p>
            <a:fld id="{B82CCC60-E8CD-4174-8B1A-7DF615B22EEF}" type="slidenum">
              <a:rPr lang="en-US" smtClean="0"/>
              <a:pPr/>
              <a:t>44</a:t>
            </a:fld>
            <a:endParaRPr lang="en-US"/>
          </a:p>
        </p:txBody>
      </p:sp>
    </p:spTree>
    <p:extLst>
      <p:ext uri="{BB962C8B-B14F-4D97-AF65-F5344CB8AC3E}">
        <p14:creationId xmlns:p14="http://schemas.microsoft.com/office/powerpoint/2010/main" val="31077604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3852</TotalTime>
  <Words>3403</Words>
  <Application>Microsoft Office PowerPoint</Application>
  <PresentationFormat>Affichage à l'écran (16:9)</PresentationFormat>
  <Paragraphs>316</Paragraphs>
  <Slides>44</Slides>
  <Notes>0</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44</vt:i4>
      </vt:variant>
    </vt:vector>
  </HeadingPairs>
  <TitlesOfParts>
    <vt:vector size="52" baseType="lpstr">
      <vt:lpstr>AoyagiKouzanFontT</vt:lpstr>
      <vt:lpstr>Arial</vt:lpstr>
      <vt:lpstr>Arial Black</vt:lpstr>
      <vt:lpstr>Aroania</vt:lpstr>
      <vt:lpstr>Calibri</vt:lpstr>
      <vt:lpstr>Carlito</vt:lpstr>
      <vt:lpstr>Times New Roman</vt:lpstr>
      <vt:lpstr>Office Theme</vt:lpstr>
      <vt:lpstr>Cloud computing – Définition et Architecture de référence (NIST) </vt:lpstr>
      <vt:lpstr>Définition de NIST (National Institute of Standards and Technology) </vt:lpstr>
      <vt:lpstr>Définitions</vt:lpstr>
      <vt:lpstr>Présentation PowerPoint</vt:lpstr>
      <vt:lpstr>Caractéristiques essentielles</vt:lpstr>
      <vt:lpstr>Présentation PowerPoint</vt:lpstr>
      <vt:lpstr>Présentation PowerPoint</vt:lpstr>
      <vt:lpstr>Présentation PowerPoint</vt:lpstr>
      <vt:lpstr>Les technologies clés</vt:lpstr>
      <vt:lpstr>Les technologies clés: la virtualisation</vt:lpstr>
      <vt:lpstr>Les technologies clés:  Web 2.0 et Mashup</vt:lpstr>
      <vt:lpstr>Les technologies clés: SOA</vt:lpstr>
      <vt:lpstr>Les modèles de service Cloud</vt:lpstr>
      <vt:lpstr>Software as a Service (SaaS)</vt:lpstr>
      <vt:lpstr>Platform as a Service (PaaS)</vt:lpstr>
      <vt:lpstr>Infrastructure as a Service (IaaS)</vt:lpstr>
      <vt:lpstr>Présentation PowerPoint</vt:lpstr>
      <vt:lpstr>Les modèles de déploiement Cloud</vt:lpstr>
      <vt:lpstr>Présentation PowerPoint</vt:lpstr>
      <vt:lpstr>Cloud Public</vt:lpstr>
      <vt:lpstr>Avantages du Cloud Public</vt:lpstr>
      <vt:lpstr>Présentation PowerPoint</vt:lpstr>
      <vt:lpstr>Inconvénients du Cloud public</vt:lpstr>
      <vt:lpstr>Cloud public : Considérations de sécurité</vt:lpstr>
      <vt:lpstr>Cloud privé</vt:lpstr>
      <vt:lpstr>Avantages du Cloud privé</vt:lpstr>
      <vt:lpstr>Inconvénients du Cloud privé</vt:lpstr>
      <vt:lpstr>Cloud privé : Considérations de sécurité</vt:lpstr>
      <vt:lpstr>Cloud communautaire</vt:lpstr>
      <vt:lpstr>Avantages du Cloud communautaire</vt:lpstr>
      <vt:lpstr>Inconvénients du Cloud communautaire</vt:lpstr>
      <vt:lpstr>Cloud communautaire : Considérations de sécurité</vt:lpstr>
      <vt:lpstr>Cloud hybride</vt:lpstr>
      <vt:lpstr>Avantages du Cloud hybride</vt:lpstr>
      <vt:lpstr>Inconvénients du Cloud hybride</vt:lpstr>
      <vt:lpstr>Cloud hybride : Considérations de sécurité</vt:lpstr>
      <vt:lpstr>Les défis du Cloud Computing</vt:lpstr>
      <vt:lpstr>Présentation PowerPoint</vt:lpstr>
      <vt:lpstr>Cloud Versus Fog Versus Edge computing</vt:lpstr>
      <vt:lpstr>Internet of Things et FOG  Computing</vt:lpstr>
      <vt:lpstr>Présentation PowerPoint</vt:lpstr>
      <vt:lpstr>Internet of Things et EDGE  Computing</vt:lpstr>
      <vt:lpstr>Présentation PowerPoint</vt:lpstr>
      <vt:lpstr>Récapitulation : Avantages de l’architecture Edge/Fog pour l’IoT</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Béchir BEN GOUISSEM</cp:lastModifiedBy>
  <cp:revision>245</cp:revision>
  <dcterms:created xsi:type="dcterms:W3CDTF">2013-08-21T19:17:07Z</dcterms:created>
  <dcterms:modified xsi:type="dcterms:W3CDTF">2023-12-06T19:49:36Z</dcterms:modified>
</cp:coreProperties>
</file>