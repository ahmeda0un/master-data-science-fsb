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6.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sldIdLst>
    <p:sldId id="256" r:id="rId2"/>
    <p:sldId id="275" r:id="rId3"/>
    <p:sldId id="276" r:id="rId4"/>
    <p:sldId id="277" r:id="rId5"/>
    <p:sldId id="278" r:id="rId6"/>
    <p:sldId id="279" r:id="rId7"/>
    <p:sldId id="296" r:id="rId8"/>
    <p:sldId id="280" r:id="rId9"/>
    <p:sldId id="282" r:id="rId10"/>
    <p:sldId id="259" r:id="rId11"/>
    <p:sldId id="295" r:id="rId12"/>
    <p:sldId id="283" r:id="rId13"/>
    <p:sldId id="284" r:id="rId14"/>
    <p:sldId id="287" r:id="rId15"/>
    <p:sldId id="286" r:id="rId16"/>
    <p:sldId id="288" r:id="rId17"/>
    <p:sldId id="285" r:id="rId18"/>
    <p:sldId id="289" r:id="rId19"/>
    <p:sldId id="290" r:id="rId20"/>
    <p:sldId id="291" r:id="rId21"/>
    <p:sldId id="292" r:id="rId22"/>
    <p:sldId id="293" r:id="rId23"/>
    <p:sldId id="294" r:id="rId2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9900CC"/>
    <a:srgbClr val="D99B01"/>
    <a:srgbClr val="FF66CC"/>
    <a:srgbClr val="FF67AC"/>
    <a:srgbClr val="CC0099"/>
    <a:srgbClr val="FFDC47"/>
    <a:srgbClr val="5EEC3C"/>
    <a:srgbClr val="CCCC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105" d="100"/>
          <a:sy n="105" d="100"/>
        </p:scale>
        <p:origin x="758" y="62"/>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20A01-65E4-4D78-9482-2328BEB2BBE8}" type="datetimeFigureOut">
              <a:rPr lang="en-US" smtClean="0"/>
              <a:t>12/7/2023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CC5607-7701-4805-9CE3-F9D2CD9FF35C}" type="slidenum">
              <a:rPr lang="en-US" smtClean="0"/>
              <a:t>‹N°›</a:t>
            </a:fld>
            <a:endParaRPr lang="en-US"/>
          </a:p>
        </p:txBody>
      </p:sp>
    </p:spTree>
    <p:extLst>
      <p:ext uri="{BB962C8B-B14F-4D97-AF65-F5344CB8AC3E}">
        <p14:creationId xmlns:p14="http://schemas.microsoft.com/office/powerpoint/2010/main" val="230412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48965" y="2419045"/>
            <a:ext cx="8246070" cy="773002"/>
          </a:xfrm>
          <a:noFill/>
          <a:effectLst>
            <a:outerShdw blurRad="50800" dist="38100" dir="2700000" algn="tl" rotWithShape="0">
              <a:prstClr val="black">
                <a:alpha val="40000"/>
              </a:prstClr>
            </a:outerShdw>
          </a:effectLst>
        </p:spPr>
        <p:txBody>
          <a:bodyPr>
            <a:normAutofit/>
          </a:bodyPr>
          <a:lstStyle>
            <a:lvl1pPr algn="ctr">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448965" y="3182570"/>
            <a:ext cx="8246070" cy="610821"/>
          </a:xfrm>
        </p:spPr>
        <p:txBody>
          <a:bodyPr>
            <a:normAutofit/>
          </a:bodyPr>
          <a:lstStyle>
            <a:lvl1pPr marL="0" indent="0" algn="ctr">
              <a:buNone/>
              <a:defRPr sz="2800" b="0" i="0">
                <a:solidFill>
                  <a:srgbClr val="00206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4B3770E-9365-4F25-B88F-72C55E3E6AA1}" type="datetime1">
              <a:rPr lang="en-US" smtClean="0"/>
              <a:t>12/7/2023</a:t>
            </a:fld>
            <a:endParaRPr lang="en-US"/>
          </a:p>
        </p:txBody>
      </p:sp>
      <p:sp>
        <p:nvSpPr>
          <p:cNvPr id="5" name="Footer Placeholder 4"/>
          <p:cNvSpPr>
            <a:spLocks noGrp="1"/>
          </p:cNvSpPr>
          <p:nvPr>
            <p:ph type="ftr" sz="quarter" idx="11"/>
          </p:nvPr>
        </p:nvSpPr>
        <p:spPr/>
        <p:txBody>
          <a:bodyPr/>
          <a:lstStyle/>
          <a:p>
            <a:r>
              <a:rPr lang="en-US"/>
              <a:t>Dr. Bechir Ben Gouissem</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1350110"/>
            <a:ext cx="8246070" cy="610820"/>
          </a:xfrm>
        </p:spPr>
        <p:txBody>
          <a:bodyPr>
            <a:normAutofit/>
          </a:bodyPr>
          <a:lstStyle>
            <a:lvl1pPr algn="ctr">
              <a:defRPr sz="3600" baseline="0">
                <a:solidFill>
                  <a:srgbClr val="FF99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960930"/>
            <a:ext cx="8246070" cy="2748684"/>
          </a:xfrm>
        </p:spPr>
        <p:txBody>
          <a:bodyPr/>
          <a:lstStyle>
            <a:lvl1pPr algn="ctr">
              <a:defRPr sz="2800">
                <a:solidFill>
                  <a:srgbClr val="002060"/>
                </a:solidFill>
              </a:defRPr>
            </a:lvl1pPr>
            <a:lvl2pPr algn="ctr">
              <a:defRPr>
                <a:solidFill>
                  <a:srgbClr val="002060"/>
                </a:solidFill>
              </a:defRPr>
            </a:lvl2pPr>
            <a:lvl3pPr algn="ctr">
              <a:defRPr>
                <a:solidFill>
                  <a:srgbClr val="002060"/>
                </a:solidFill>
              </a:defRPr>
            </a:lvl3pPr>
            <a:lvl4pPr algn="ctr">
              <a:defRPr>
                <a:solidFill>
                  <a:srgbClr val="002060"/>
                </a:solidFill>
              </a:defRPr>
            </a:lvl4pPr>
            <a:lvl5pPr algn="ct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2F3C580-7D47-4C1B-BEA7-5CBA70D0D10C}" type="datetime1">
              <a:rPr lang="en-US" smtClean="0"/>
              <a:t>12/7/2023</a:t>
            </a:fld>
            <a:endParaRPr lang="en-US"/>
          </a:p>
        </p:txBody>
      </p:sp>
      <p:sp>
        <p:nvSpPr>
          <p:cNvPr id="5" name="Footer Placeholder 4"/>
          <p:cNvSpPr>
            <a:spLocks noGrp="1"/>
          </p:cNvSpPr>
          <p:nvPr>
            <p:ph type="ftr" sz="quarter" idx="11"/>
          </p:nvPr>
        </p:nvSpPr>
        <p:spPr/>
        <p:txBody>
          <a:bodyPr/>
          <a:lstStyle/>
          <a:p>
            <a:r>
              <a:rPr lang="en-US"/>
              <a:t>Dr. Bechir Ben Gouissem</a:t>
            </a:r>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1670" y="433880"/>
            <a:ext cx="6413610" cy="572644"/>
          </a:xfrm>
        </p:spPr>
        <p:txBody>
          <a:bodyPr>
            <a:normAutofit/>
          </a:bodyPr>
          <a:lstStyle>
            <a:lvl1pPr algn="l">
              <a:defRPr sz="3600">
                <a:solidFill>
                  <a:srgbClr val="FF99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601670" y="1198559"/>
            <a:ext cx="6413610" cy="3511061"/>
          </a:xfrm>
        </p:spPr>
        <p:txBody>
          <a:bodyPr/>
          <a:lstStyle>
            <a:lvl1pPr>
              <a:defRPr sz="2800">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05734AB-681E-4826-8D39-D2E6DDC7B169}" type="datetime1">
              <a:rPr lang="en-US" smtClean="0"/>
              <a:t>12/7/2023</a:t>
            </a:fld>
            <a:endParaRPr lang="en-US"/>
          </a:p>
        </p:txBody>
      </p:sp>
      <p:sp>
        <p:nvSpPr>
          <p:cNvPr id="5" name="Footer Placeholder 4"/>
          <p:cNvSpPr>
            <a:spLocks noGrp="1"/>
          </p:cNvSpPr>
          <p:nvPr>
            <p:ph type="ftr" sz="quarter" idx="11"/>
          </p:nvPr>
        </p:nvSpPr>
        <p:spPr/>
        <p:txBody>
          <a:bodyPr/>
          <a:lstStyle/>
          <a:p>
            <a:r>
              <a:rPr lang="en-US"/>
              <a:t>Dr. Bechir Ben Gouissem</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CA8958-3011-49FD-89E8-266E59360381}" type="datetime1">
              <a:rPr lang="en-US" smtClean="0"/>
              <a:t>12/7/2023</a:t>
            </a:fld>
            <a:endParaRPr lang="en-US"/>
          </a:p>
        </p:txBody>
      </p:sp>
      <p:sp>
        <p:nvSpPr>
          <p:cNvPr id="5" name="Footer Placeholder 4"/>
          <p:cNvSpPr>
            <a:spLocks noGrp="1"/>
          </p:cNvSpPr>
          <p:nvPr>
            <p:ph type="ftr" sz="quarter" idx="11"/>
          </p:nvPr>
        </p:nvSpPr>
        <p:spPr/>
        <p:txBody>
          <a:bodyPr/>
          <a:lstStyle/>
          <a:p>
            <a:r>
              <a:rPr lang="en-US"/>
              <a:t>Dr. Bechir Ben Gouissem</a:t>
            </a:r>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3F95167-5018-4937-9DA6-98F5EAE70D79}" type="datetime1">
              <a:rPr lang="en-US" smtClean="0"/>
              <a:t>12/7/2023</a:t>
            </a:fld>
            <a:endParaRPr lang="en-US"/>
          </a:p>
        </p:txBody>
      </p:sp>
      <p:sp>
        <p:nvSpPr>
          <p:cNvPr id="6" name="Footer Placeholder 5"/>
          <p:cNvSpPr>
            <a:spLocks noGrp="1"/>
          </p:cNvSpPr>
          <p:nvPr>
            <p:ph type="ftr" sz="quarter" idx="11"/>
          </p:nvPr>
        </p:nvSpPr>
        <p:spPr/>
        <p:txBody>
          <a:bodyPr/>
          <a:lstStyle/>
          <a:p>
            <a:r>
              <a:rPr lang="en-US"/>
              <a:t>Dr. Bechir Ben Gouissem</a:t>
            </a:r>
          </a:p>
        </p:txBody>
      </p:sp>
      <p:sp>
        <p:nvSpPr>
          <p:cNvPr id="7" name="Slide Number Placeholder 6"/>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8964" y="1350110"/>
            <a:ext cx="8246071" cy="610820"/>
          </a:xfrm>
        </p:spPr>
        <p:txBody>
          <a:bodyPr>
            <a:normAutofit/>
          </a:bodyPr>
          <a:lstStyle>
            <a:lvl1pPr algn="ctr">
              <a:defRPr sz="3600" baseline="0">
                <a:solidFill>
                  <a:srgbClr val="FF99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2140229"/>
            <a:ext cx="4040188" cy="479822"/>
          </a:xfrm>
        </p:spPr>
        <p:txBody>
          <a:bodyPr anchor="b"/>
          <a:lstStyle>
            <a:lvl1pPr marL="0" indent="0" algn="ctr">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571749"/>
            <a:ext cx="4040188" cy="2137871"/>
          </a:xfrm>
        </p:spPr>
        <p:txBody>
          <a:bodyPr/>
          <a:lstStyle>
            <a:lvl1pPr algn="ctr">
              <a:defRPr sz="2400">
                <a:solidFill>
                  <a:srgbClr val="002060"/>
                </a:solidFill>
              </a:defRPr>
            </a:lvl1pPr>
            <a:lvl2pPr algn="ctr">
              <a:defRPr sz="2000">
                <a:solidFill>
                  <a:srgbClr val="002060"/>
                </a:solidFill>
              </a:defRPr>
            </a:lvl2pPr>
            <a:lvl3pPr algn="ctr">
              <a:defRPr sz="1800">
                <a:solidFill>
                  <a:srgbClr val="002060"/>
                </a:solidFill>
              </a:defRPr>
            </a:lvl3pPr>
            <a:lvl4pPr algn="ctr">
              <a:defRPr sz="1600">
                <a:solidFill>
                  <a:srgbClr val="002060"/>
                </a:solidFill>
              </a:defRPr>
            </a:lvl4pPr>
            <a:lvl5pPr algn="ctr">
              <a:defRPr sz="1600">
                <a:solidFill>
                  <a:srgbClr val="002060"/>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2140229"/>
            <a:ext cx="4041775" cy="479822"/>
          </a:xfrm>
        </p:spPr>
        <p:txBody>
          <a:bodyPr anchor="b"/>
          <a:lstStyle>
            <a:lvl1pPr marL="0" indent="0" algn="ctr">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571749"/>
            <a:ext cx="4041775" cy="2137871"/>
          </a:xfrm>
        </p:spPr>
        <p:txBody>
          <a:bodyPr/>
          <a:lstStyle>
            <a:lvl1pPr algn="ctr">
              <a:defRPr sz="2400">
                <a:solidFill>
                  <a:srgbClr val="002060"/>
                </a:solidFill>
              </a:defRPr>
            </a:lvl1pPr>
            <a:lvl2pPr algn="ctr">
              <a:defRPr sz="2000">
                <a:solidFill>
                  <a:srgbClr val="002060"/>
                </a:solidFill>
              </a:defRPr>
            </a:lvl2pPr>
            <a:lvl3pPr algn="ctr">
              <a:defRPr sz="1800">
                <a:solidFill>
                  <a:srgbClr val="002060"/>
                </a:solidFill>
              </a:defRPr>
            </a:lvl3pPr>
            <a:lvl4pPr algn="ctr">
              <a:defRPr sz="1600">
                <a:solidFill>
                  <a:srgbClr val="002060"/>
                </a:solidFill>
              </a:defRPr>
            </a:lvl4pPr>
            <a:lvl5pPr algn="ctr">
              <a:defRPr sz="1600">
                <a:solidFill>
                  <a:srgbClr val="002060"/>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FECFA68-7976-4CAA-8D71-D1847B3B45EB}" type="datetime1">
              <a:rPr lang="en-US" smtClean="0"/>
              <a:t>12/7/2023</a:t>
            </a:fld>
            <a:endParaRPr lang="en-US"/>
          </a:p>
        </p:txBody>
      </p:sp>
      <p:sp>
        <p:nvSpPr>
          <p:cNvPr id="8" name="Footer Placeholder 7"/>
          <p:cNvSpPr>
            <a:spLocks noGrp="1"/>
          </p:cNvSpPr>
          <p:nvPr>
            <p:ph type="ftr" sz="quarter" idx="11"/>
          </p:nvPr>
        </p:nvSpPr>
        <p:spPr/>
        <p:txBody>
          <a:bodyPr/>
          <a:lstStyle/>
          <a:p>
            <a:r>
              <a:rPr lang="en-US"/>
              <a:t>Dr. Bechir Ben Gouissem</a:t>
            </a:r>
          </a:p>
        </p:txBody>
      </p:sp>
      <p:sp>
        <p:nvSpPr>
          <p:cNvPr id="9" name="Slide Number Placeholder 8"/>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11CC34C-4556-43BA-9C5F-3E1B55322378}" type="datetime1">
              <a:rPr lang="en-US" smtClean="0"/>
              <a:t>12/7/2023</a:t>
            </a:fld>
            <a:endParaRPr lang="en-US"/>
          </a:p>
        </p:txBody>
      </p:sp>
      <p:sp>
        <p:nvSpPr>
          <p:cNvPr id="4" name="Footer Placeholder 3"/>
          <p:cNvSpPr>
            <a:spLocks noGrp="1"/>
          </p:cNvSpPr>
          <p:nvPr>
            <p:ph type="ftr" sz="quarter" idx="11"/>
          </p:nvPr>
        </p:nvSpPr>
        <p:spPr/>
        <p:txBody>
          <a:bodyPr/>
          <a:lstStyle/>
          <a:p>
            <a:r>
              <a:rPr lang="en-US"/>
              <a:t>Dr. Bechir Ben Gouissem</a:t>
            </a:r>
          </a:p>
        </p:txBody>
      </p:sp>
      <p:sp>
        <p:nvSpPr>
          <p:cNvPr id="5" name="Slide Number Placeholder 4"/>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047920-2A3A-42B3-9431-12AC3D2B1779}" type="datetime1">
              <a:rPr lang="en-US" smtClean="0"/>
              <a:t>12/7/2023</a:t>
            </a:fld>
            <a:endParaRPr lang="en-US"/>
          </a:p>
        </p:txBody>
      </p:sp>
      <p:sp>
        <p:nvSpPr>
          <p:cNvPr id="3" name="Footer Placeholder 2"/>
          <p:cNvSpPr>
            <a:spLocks noGrp="1"/>
          </p:cNvSpPr>
          <p:nvPr>
            <p:ph type="ftr" sz="quarter" idx="11"/>
          </p:nvPr>
        </p:nvSpPr>
        <p:spPr/>
        <p:txBody>
          <a:bodyPr/>
          <a:lstStyle/>
          <a:p>
            <a:r>
              <a:rPr lang="en-US"/>
              <a:t>Dr. Bechir Ben Gouissem</a:t>
            </a:r>
          </a:p>
        </p:txBody>
      </p:sp>
      <p:sp>
        <p:nvSpPr>
          <p:cNvPr id="4" name="Slide Number Placeholder 3"/>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DA5A5-AC0E-49A2-A58E-9A07AD58EC77}" type="datetime1">
              <a:rPr lang="en-US" smtClean="0"/>
              <a:t>12/7/2023</a:t>
            </a:fld>
            <a:endParaRPr lang="en-US"/>
          </a:p>
        </p:txBody>
      </p:sp>
      <p:sp>
        <p:nvSpPr>
          <p:cNvPr id="6" name="Footer Placeholder 5"/>
          <p:cNvSpPr>
            <a:spLocks noGrp="1"/>
          </p:cNvSpPr>
          <p:nvPr>
            <p:ph type="ftr" sz="quarter" idx="11"/>
          </p:nvPr>
        </p:nvSpPr>
        <p:spPr/>
        <p:txBody>
          <a:bodyPr/>
          <a:lstStyle/>
          <a:p>
            <a:r>
              <a:rPr lang="en-US"/>
              <a:t>Dr. Bechir Ben Gouissem</a:t>
            </a:r>
          </a:p>
        </p:txBody>
      </p:sp>
      <p:sp>
        <p:nvSpPr>
          <p:cNvPr id="7" name="Slide Number Placeholder 6"/>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9CD634-788B-4965-8316-6F4D480307B3}" type="datetime1">
              <a:rPr lang="en-US" smtClean="0"/>
              <a:t>12/7/2023</a:t>
            </a:fld>
            <a:endParaRPr lang="en-US"/>
          </a:p>
        </p:txBody>
      </p:sp>
      <p:sp>
        <p:nvSpPr>
          <p:cNvPr id="6" name="Footer Placeholder 5"/>
          <p:cNvSpPr>
            <a:spLocks noGrp="1"/>
          </p:cNvSpPr>
          <p:nvPr>
            <p:ph type="ftr" sz="quarter" idx="11"/>
          </p:nvPr>
        </p:nvSpPr>
        <p:spPr/>
        <p:txBody>
          <a:bodyPr/>
          <a:lstStyle/>
          <a:p>
            <a:r>
              <a:rPr lang="en-US"/>
              <a:t>Dr. Bechir Ben Gouissem</a:t>
            </a:r>
          </a:p>
        </p:txBody>
      </p:sp>
      <p:sp>
        <p:nvSpPr>
          <p:cNvPr id="7" name="Slide Number Placeholder 6"/>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EB7F48-1326-477E-8FA5-CD4F26B88E6B}" type="datetime1">
              <a:rPr lang="en-US" smtClean="0"/>
              <a:t>12/7/2023</a:t>
            </a:fld>
            <a:endParaRPr lang="en-US"/>
          </a:p>
        </p:txBody>
      </p:sp>
      <p:sp>
        <p:nvSpPr>
          <p:cNvPr id="5" name="Footer Placeholder 4"/>
          <p:cNvSpPr>
            <a:spLocks noGrp="1"/>
          </p:cNvSpPr>
          <p:nvPr>
            <p:ph type="ftr" sz="quarter" idx="11"/>
          </p:nvPr>
        </p:nvSpPr>
        <p:spPr/>
        <p:txBody>
          <a:bodyPr/>
          <a:lstStyle/>
          <a:p>
            <a:r>
              <a:rPr lang="en-US"/>
              <a:t>Dr. Bechir Ben Gouissem</a:t>
            </a:r>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E1C7F2-E1A6-4372-8B5A-22E4F8A0024F}" type="datetime1">
              <a:rPr lang="en-US" smtClean="0"/>
              <a:t>12/7/2023</a:t>
            </a:fld>
            <a:endParaRPr lang="en-US"/>
          </a:p>
        </p:txBody>
      </p:sp>
      <p:sp>
        <p:nvSpPr>
          <p:cNvPr id="5" name="Footer Placeholder 4"/>
          <p:cNvSpPr>
            <a:spLocks noGrp="1"/>
          </p:cNvSpPr>
          <p:nvPr>
            <p:ph type="ftr" sz="quarter" idx="11"/>
          </p:nvPr>
        </p:nvSpPr>
        <p:spPr/>
        <p:txBody>
          <a:bodyPr/>
          <a:lstStyle/>
          <a:p>
            <a:r>
              <a:rPr lang="en-US"/>
              <a:t>Dr. Bechir Ben Gouissem</a:t>
            </a:r>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pic>
        <p:nvPicPr>
          <p:cNvPr id="7" name="Picture 6" descr="E:\websites\free-power-point-templates\2012\logos.png">
            <a:extLst>
              <a:ext uri="{FF2B5EF4-FFF2-40B4-BE49-F238E27FC236}">
                <a16:creationId xmlns:a16="http://schemas.microsoft.com/office/drawing/2014/main" id="{AF223013-BAAD-4784-9B88-4DDCCA17941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918306"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2055FB94-7A0C-4636-9A35-453A19204D04}" type="datetime1">
              <a:rPr lang="en-US" smtClean="0"/>
              <a:t>12/7/2023</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Bechir Ben Gouissem</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‹N°›</a:t>
            </a:fld>
            <a:endParaRPr lang="en-US"/>
          </a:p>
        </p:txBody>
      </p:sp>
      <p:sp>
        <p:nvSpPr>
          <p:cNvPr id="7" name="TextBox 6">
            <a:extLst>
              <a:ext uri="{FF2B5EF4-FFF2-40B4-BE49-F238E27FC236}">
                <a16:creationId xmlns:a16="http://schemas.microsoft.com/office/drawing/2014/main" id="{55C64FEC-0EC6-4A1D-A397-6DB8DBF3A92A}"/>
              </a:ext>
            </a:extLst>
          </p:cNvPr>
          <p:cNvSpPr txBox="1"/>
          <p:nvPr userDrawn="1"/>
        </p:nvSpPr>
        <p:spPr>
          <a:xfrm>
            <a:off x="-9150" y="5213747"/>
            <a:ext cx="8389625" cy="523220"/>
          </a:xfrm>
          <a:prstGeom prst="rect">
            <a:avLst/>
          </a:prstGeom>
          <a:noFill/>
        </p:spPr>
        <p:txBody>
          <a:bodyPr wrap="square" rtlCol="0">
            <a:spAutoFit/>
          </a:bodyPr>
          <a:lstStyle/>
          <a:p>
            <a:r>
              <a:rPr lang="en-US" sz="1400">
                <a:solidFill>
                  <a:schemeClr val="bg1">
                    <a:lumMod val="65000"/>
                  </a:schemeClr>
                </a:solidFill>
              </a:rPr>
              <a:t>This presentation uses a free template provided by FPPT.com</a:t>
            </a:r>
          </a:p>
          <a:p>
            <a:r>
              <a:rPr lang="en-US" sz="140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8965" y="2561177"/>
            <a:ext cx="8246070" cy="773002"/>
          </a:xfrm>
        </p:spPr>
        <p:txBody>
          <a:bodyPr>
            <a:normAutofit fontScale="90000"/>
          </a:bodyPr>
          <a:lstStyle/>
          <a:p>
            <a:br>
              <a:rPr lang="fr-FR" sz="2800" dirty="0">
                <a:solidFill>
                  <a:srgbClr val="002060"/>
                </a:solidFill>
                <a:latin typeface="+mn-lt"/>
                <a:ea typeface="+mn-ea"/>
                <a:cs typeface="+mn-cs"/>
              </a:rPr>
            </a:br>
            <a:r>
              <a:rPr lang="fr-FR" sz="2800" dirty="0">
                <a:solidFill>
                  <a:srgbClr val="002060"/>
                </a:solidFill>
                <a:latin typeface="+mn-lt"/>
                <a:ea typeface="+mn-ea"/>
                <a:cs typeface="+mn-cs"/>
              </a:rPr>
              <a:t>Containerisation</a:t>
            </a:r>
            <a:endParaRPr lang="en-US" sz="2800" dirty="0">
              <a:solidFill>
                <a:srgbClr val="002060"/>
              </a:solidFill>
              <a:latin typeface="+mn-lt"/>
              <a:ea typeface="+mn-ea"/>
              <a:cs typeface="+mn-cs"/>
            </a:endParaRPr>
          </a:p>
        </p:txBody>
      </p:sp>
      <p:sp>
        <p:nvSpPr>
          <p:cNvPr id="3" name="Subtitle 2"/>
          <p:cNvSpPr>
            <a:spLocks noGrp="1"/>
          </p:cNvSpPr>
          <p:nvPr>
            <p:ph type="subTitle" idx="1"/>
          </p:nvPr>
        </p:nvSpPr>
        <p:spPr/>
        <p:txBody>
          <a:bodyPr/>
          <a:lstStyle/>
          <a:p>
            <a:r>
              <a:rPr lang="en-US" dirty="0"/>
              <a:t>Dr. </a:t>
            </a:r>
            <a:r>
              <a:rPr lang="en-US" dirty="0" err="1"/>
              <a:t>Bechir</a:t>
            </a:r>
            <a:r>
              <a:rPr lang="en-US" dirty="0"/>
              <a:t> Ben GOUISSEM</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4DF72-6526-D79B-667B-E18724EE77C9}"/>
              </a:ext>
            </a:extLst>
          </p:cNvPr>
          <p:cNvSpPr>
            <a:spLocks noGrp="1"/>
          </p:cNvSpPr>
          <p:nvPr>
            <p:ph type="title"/>
          </p:nvPr>
        </p:nvSpPr>
        <p:spPr>
          <a:xfrm>
            <a:off x="448965" y="1502815"/>
            <a:ext cx="8246070" cy="610820"/>
          </a:xfrm>
        </p:spPr>
        <p:txBody>
          <a:bodyPr>
            <a:noAutofit/>
          </a:bodyPr>
          <a:lstStyle/>
          <a:p>
            <a:r>
              <a:rPr lang="fr-FR" sz="2400" b="1" i="0" dirty="0">
                <a:effectLst/>
                <a:latin typeface="Arial" panose="020B0604020202020204" pitchFamily="34" charset="0"/>
                <a:cs typeface="Arial" panose="020B0604020202020204" pitchFamily="34" charset="0"/>
              </a:rPr>
              <a:t>Définition et principe de la conteneurisation</a:t>
            </a:r>
            <a:br>
              <a:rPr lang="fr-FR" sz="2000" dirty="0">
                <a:latin typeface="Arial Black"/>
                <a:cs typeface="Arial Black"/>
              </a:rPr>
            </a:br>
            <a:endParaRPr lang="fr-FR" sz="2000" dirty="0"/>
          </a:p>
        </p:txBody>
      </p:sp>
      <p:sp>
        <p:nvSpPr>
          <p:cNvPr id="3" name="Espace réservé du contenu 2">
            <a:extLst>
              <a:ext uri="{FF2B5EF4-FFF2-40B4-BE49-F238E27FC236}">
                <a16:creationId xmlns:a16="http://schemas.microsoft.com/office/drawing/2014/main" id="{AEB4907D-3D6F-717E-5BB4-5BE1EAC34409}"/>
              </a:ext>
            </a:extLst>
          </p:cNvPr>
          <p:cNvSpPr>
            <a:spLocks noGrp="1"/>
          </p:cNvSpPr>
          <p:nvPr>
            <p:ph idx="1"/>
          </p:nvPr>
        </p:nvSpPr>
        <p:spPr>
          <a:xfrm>
            <a:off x="173198" y="1808225"/>
            <a:ext cx="8674542" cy="3335276"/>
          </a:xfrm>
        </p:spPr>
        <p:txBody>
          <a:bodyPr>
            <a:normAutofit fontScale="62500" lnSpcReduction="20000"/>
          </a:bodyPr>
          <a:lstStyle/>
          <a:p>
            <a:pPr algn="l"/>
            <a:r>
              <a:rPr lang="fr-FR" b="0" i="0" dirty="0">
                <a:solidFill>
                  <a:srgbClr val="374151"/>
                </a:solidFill>
                <a:effectLst/>
                <a:latin typeface="Poppins" panose="00000500000000000000" pitchFamily="2" charset="0"/>
              </a:rPr>
              <a:t>La conteneurisation se définit comme une méthode d'isolation des applications au sein de « conteneurs » qui encapsulent l'ensemble des dépendances nécessaires à leur exécution.</a:t>
            </a:r>
          </a:p>
          <a:p>
            <a:pPr algn="l"/>
            <a:r>
              <a:rPr lang="fr-FR" b="0" i="0" dirty="0">
                <a:solidFill>
                  <a:srgbClr val="374151"/>
                </a:solidFill>
                <a:effectLst/>
                <a:latin typeface="Poppins" panose="00000500000000000000" pitchFamily="2" charset="0"/>
              </a:rPr>
              <a:t>Chaque conteneur s'exécute de manière indépendante sur le même système d'exploitation, partageant ainsi le noyau du système d'exploitation hôte, mais sans interférer avec les autres conteneurs.</a:t>
            </a:r>
          </a:p>
          <a:p>
            <a:pPr algn="l"/>
            <a:r>
              <a:rPr lang="fr-FR" b="0" i="0" dirty="0">
                <a:solidFill>
                  <a:srgbClr val="374151"/>
                </a:solidFill>
                <a:effectLst/>
                <a:latin typeface="Poppins" panose="00000500000000000000" pitchFamily="2" charset="0"/>
              </a:rPr>
              <a:t>Dans ce contexte, un conteneur n'est pas une machine complète, mais plutôt une version allégée, qui contient uniquement les bibliothèques, les binaires et les fichiers nécessaires à l'exécution de l'application qu'il renferme.</a:t>
            </a:r>
          </a:p>
          <a:p>
            <a:pPr algn="l"/>
            <a:r>
              <a:rPr lang="fr-FR" b="0" i="0" dirty="0">
                <a:solidFill>
                  <a:srgbClr val="374151"/>
                </a:solidFill>
                <a:effectLst/>
                <a:latin typeface="Poppins" panose="00000500000000000000" pitchFamily="2" charset="0"/>
              </a:rPr>
              <a:t>Cela rend les conteneurs légers et portables, permettant leur exécution sur n'importe quelle machine capable d'exécuter le moteur de conteneurisation.</a:t>
            </a:r>
          </a:p>
          <a:p>
            <a:pPr marL="403206" marR="4608" indent="-391686" algn="just" fontAlgn="t">
              <a:lnSpc>
                <a:spcPts val="2413"/>
              </a:lnSpc>
              <a:spcBef>
                <a:spcPts val="86"/>
              </a:spcBef>
            </a:pPr>
            <a:endParaRPr lang="fr-FR" spc="-9" dirty="0">
              <a:cs typeface="Arial"/>
            </a:endParaRPr>
          </a:p>
          <a:p>
            <a:pPr marL="403206" marR="4608" indent="-391686" algn="just">
              <a:lnSpc>
                <a:spcPts val="2413"/>
              </a:lnSpc>
              <a:spcBef>
                <a:spcPts val="86"/>
              </a:spcBef>
            </a:pPr>
            <a:endParaRPr lang="fr-FR" sz="2800" dirty="0">
              <a:cs typeface="Arial"/>
            </a:endParaRPr>
          </a:p>
        </p:txBody>
      </p:sp>
      <p:sp>
        <p:nvSpPr>
          <p:cNvPr id="4" name="Espace réservé du pied de page 3">
            <a:extLst>
              <a:ext uri="{FF2B5EF4-FFF2-40B4-BE49-F238E27FC236}">
                <a16:creationId xmlns:a16="http://schemas.microsoft.com/office/drawing/2014/main" id="{0F12D0AA-F20C-686C-39C6-F3248F27D6B4}"/>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C8E74A4B-EEA8-1BAC-39AE-1F5246730CD9}"/>
              </a:ext>
            </a:extLst>
          </p:cNvPr>
          <p:cNvSpPr>
            <a:spLocks noGrp="1"/>
          </p:cNvSpPr>
          <p:nvPr>
            <p:ph type="sldNum" sz="quarter" idx="12"/>
          </p:nvPr>
        </p:nvSpPr>
        <p:spPr/>
        <p:txBody>
          <a:bodyPr/>
          <a:lstStyle/>
          <a:p>
            <a:fld id="{B82CCC60-E8CD-4174-8B1A-7DF615B22EEF}" type="slidenum">
              <a:rPr lang="en-US" smtClean="0"/>
              <a:pPr/>
              <a:t>2</a:t>
            </a:fld>
            <a:endParaRPr lang="en-US"/>
          </a:p>
        </p:txBody>
      </p:sp>
    </p:spTree>
    <p:extLst>
      <p:ext uri="{BB962C8B-B14F-4D97-AF65-F5344CB8AC3E}">
        <p14:creationId xmlns:p14="http://schemas.microsoft.com/office/powerpoint/2010/main" val="3718323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1B411B-97FE-D2F0-38EB-836FF78F47B6}"/>
              </a:ext>
            </a:extLst>
          </p:cNvPr>
          <p:cNvSpPr>
            <a:spLocks noGrp="1"/>
          </p:cNvSpPr>
          <p:nvPr>
            <p:ph type="title"/>
          </p:nvPr>
        </p:nvSpPr>
        <p:spPr>
          <a:xfrm>
            <a:off x="448965" y="1350110"/>
            <a:ext cx="8246070" cy="610820"/>
          </a:xfrm>
        </p:spPr>
        <p:txBody>
          <a:bodyPr>
            <a:noAutofit/>
          </a:bodyPr>
          <a:lstStyle/>
          <a:p>
            <a:r>
              <a:rPr lang="fr-FR" sz="2000" b="1" i="0" dirty="0">
                <a:effectLst/>
                <a:latin typeface="Poppins" panose="00000500000000000000" pitchFamily="2" charset="0"/>
              </a:rPr>
              <a:t>Comparaison entre virtualisation et conteneurisation</a:t>
            </a:r>
            <a:endParaRPr lang="fr-FR" sz="2000" dirty="0"/>
          </a:p>
        </p:txBody>
      </p:sp>
      <p:sp>
        <p:nvSpPr>
          <p:cNvPr id="3" name="Espace réservé du contenu 2">
            <a:extLst>
              <a:ext uri="{FF2B5EF4-FFF2-40B4-BE49-F238E27FC236}">
                <a16:creationId xmlns:a16="http://schemas.microsoft.com/office/drawing/2014/main" id="{B3346E09-2D18-93CA-27BB-41C919028C29}"/>
              </a:ext>
            </a:extLst>
          </p:cNvPr>
          <p:cNvSpPr>
            <a:spLocks noGrp="1"/>
          </p:cNvSpPr>
          <p:nvPr>
            <p:ph idx="1"/>
          </p:nvPr>
        </p:nvSpPr>
        <p:spPr/>
        <p:txBody>
          <a:bodyPr>
            <a:normAutofit fontScale="70000" lnSpcReduction="20000"/>
          </a:bodyPr>
          <a:lstStyle/>
          <a:p>
            <a:pPr marL="0" indent="0" algn="l">
              <a:buNone/>
            </a:pPr>
            <a:r>
              <a:rPr lang="fr-FR" b="1" i="0" dirty="0">
                <a:effectLst/>
                <a:latin typeface="Poppins" panose="00000500000000000000" pitchFamily="2" charset="0"/>
              </a:rPr>
              <a:t>Performance</a:t>
            </a:r>
          </a:p>
          <a:p>
            <a:pPr algn="l"/>
            <a:r>
              <a:rPr lang="fr-FR" b="0" i="0" dirty="0">
                <a:solidFill>
                  <a:srgbClr val="374151"/>
                </a:solidFill>
                <a:effectLst/>
                <a:latin typeface="Poppins" panose="00000500000000000000" pitchFamily="2" charset="0"/>
              </a:rPr>
              <a:t>La virtualisation implique une surcharge supplémentaire, car chaque machine virtuelle exécute une copie complète d'un système d'exploitation. En revanche, les conteneurs partagent le même noyau d'OS, ce qui rend leur exécution plus légère et plus rapide. </a:t>
            </a:r>
          </a:p>
          <a:p>
            <a:pPr algn="l"/>
            <a:r>
              <a:rPr lang="fr-FR" b="0" i="0" dirty="0">
                <a:solidFill>
                  <a:srgbClr val="374151"/>
                </a:solidFill>
                <a:effectLst/>
                <a:latin typeface="Poppins" panose="00000500000000000000" pitchFamily="2" charset="0"/>
              </a:rPr>
              <a:t>Ils consomment moins de ressources système, ce qui se traduit par une densité plus élevée (plus de conteneurs peuvent être exécutés sur une machine par rapport aux </a:t>
            </a:r>
            <a:r>
              <a:rPr lang="fr-FR" b="0" i="0" dirty="0" err="1">
                <a:solidFill>
                  <a:srgbClr val="374151"/>
                </a:solidFill>
                <a:effectLst/>
                <a:latin typeface="Poppins" panose="00000500000000000000" pitchFamily="2" charset="0"/>
              </a:rPr>
              <a:t>VMs</a:t>
            </a:r>
            <a:r>
              <a:rPr lang="fr-FR" b="0" i="0" dirty="0">
                <a:solidFill>
                  <a:srgbClr val="374151"/>
                </a:solidFill>
                <a:effectLst/>
                <a:latin typeface="Poppins" panose="00000500000000000000" pitchFamily="2" charset="0"/>
              </a:rPr>
              <a:t>).</a:t>
            </a:r>
          </a:p>
          <a:p>
            <a:endParaRPr lang="fr-FR" dirty="0"/>
          </a:p>
        </p:txBody>
      </p:sp>
      <p:sp>
        <p:nvSpPr>
          <p:cNvPr id="4" name="Espace réservé du pied de page 3">
            <a:extLst>
              <a:ext uri="{FF2B5EF4-FFF2-40B4-BE49-F238E27FC236}">
                <a16:creationId xmlns:a16="http://schemas.microsoft.com/office/drawing/2014/main" id="{379B770C-7EC2-E909-E783-AFB834560E22}"/>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BD97FCE5-AA36-C0F1-4C87-55CEC333C08C}"/>
              </a:ext>
            </a:extLst>
          </p:cNvPr>
          <p:cNvSpPr>
            <a:spLocks noGrp="1"/>
          </p:cNvSpPr>
          <p:nvPr>
            <p:ph type="sldNum" sz="quarter" idx="12"/>
          </p:nvPr>
        </p:nvSpPr>
        <p:spPr/>
        <p:txBody>
          <a:bodyPr/>
          <a:lstStyle/>
          <a:p>
            <a:fld id="{B82CCC60-E8CD-4174-8B1A-7DF615B22EEF}" type="slidenum">
              <a:rPr lang="en-US" smtClean="0"/>
              <a:pPr/>
              <a:t>3</a:t>
            </a:fld>
            <a:endParaRPr lang="en-US"/>
          </a:p>
        </p:txBody>
      </p:sp>
    </p:spTree>
    <p:extLst>
      <p:ext uri="{BB962C8B-B14F-4D97-AF65-F5344CB8AC3E}">
        <p14:creationId xmlns:p14="http://schemas.microsoft.com/office/powerpoint/2010/main" val="3317234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C32EC63-1F28-B5FF-D5E5-C82CE57C739D}"/>
              </a:ext>
            </a:extLst>
          </p:cNvPr>
          <p:cNvSpPr>
            <a:spLocks noGrp="1"/>
          </p:cNvSpPr>
          <p:nvPr>
            <p:ph idx="1"/>
          </p:nvPr>
        </p:nvSpPr>
        <p:spPr>
          <a:xfrm>
            <a:off x="448966" y="1502815"/>
            <a:ext cx="8246070" cy="3206799"/>
          </a:xfrm>
        </p:spPr>
        <p:txBody>
          <a:bodyPr>
            <a:normAutofit fontScale="55000" lnSpcReduction="20000"/>
          </a:bodyPr>
          <a:lstStyle/>
          <a:p>
            <a:pPr marL="0" indent="0" algn="l">
              <a:buNone/>
            </a:pPr>
            <a:r>
              <a:rPr lang="fr-FR" b="1" i="0" dirty="0">
                <a:effectLst/>
                <a:latin typeface="Poppins" panose="00000500000000000000" pitchFamily="2" charset="0"/>
              </a:rPr>
              <a:t>Sécurité</a:t>
            </a:r>
          </a:p>
          <a:p>
            <a:pPr algn="l"/>
            <a:r>
              <a:rPr lang="fr-FR" b="0" i="0" dirty="0">
                <a:solidFill>
                  <a:srgbClr val="374151"/>
                </a:solidFill>
                <a:effectLst/>
                <a:latin typeface="Poppins" panose="00000500000000000000" pitchFamily="2" charset="0"/>
              </a:rPr>
              <a:t>En termes de sécurité, la virtualisation offre une isolation plus robuste puisque chaque machine virtuelle fonctionne comme un système autonome avec son propre OS. </a:t>
            </a:r>
          </a:p>
          <a:p>
            <a:pPr algn="l"/>
            <a:r>
              <a:rPr lang="fr-FR" b="0" i="0" dirty="0">
                <a:solidFill>
                  <a:srgbClr val="374151"/>
                </a:solidFill>
                <a:effectLst/>
                <a:latin typeface="Poppins" panose="00000500000000000000" pitchFamily="2" charset="0"/>
              </a:rPr>
              <a:t>Les conteneurs, bien qu'ils soient isolés les uns des autres, partagent le même noyau d'OS, ce qui peut potentiellement constituer une faille de sécurité si un conteneur parvient à s'échapper et à accéder au noyau.</a:t>
            </a:r>
          </a:p>
          <a:p>
            <a:pPr marL="0" indent="0" algn="l">
              <a:buNone/>
            </a:pPr>
            <a:r>
              <a:rPr lang="fr-FR" b="1" i="0" dirty="0">
                <a:effectLst/>
                <a:latin typeface="Poppins" panose="00000500000000000000" pitchFamily="2" charset="0"/>
              </a:rPr>
              <a:t>Isolation</a:t>
            </a:r>
          </a:p>
          <a:p>
            <a:pPr algn="l"/>
            <a:r>
              <a:rPr lang="fr-FR" b="0" i="0" dirty="0">
                <a:solidFill>
                  <a:srgbClr val="374151"/>
                </a:solidFill>
                <a:effectLst/>
                <a:latin typeface="Poppins" panose="00000500000000000000" pitchFamily="2" charset="0"/>
              </a:rPr>
              <a:t>La virtualisation assure une isolation totale, chaque VM fonctionnant comme une machine distincte avec son propre OS, ses propres applications, bibliothèques et binaires. </a:t>
            </a:r>
          </a:p>
          <a:p>
            <a:pPr algn="l"/>
            <a:r>
              <a:rPr lang="fr-FR" b="0" i="0" dirty="0">
                <a:solidFill>
                  <a:srgbClr val="374151"/>
                </a:solidFill>
                <a:effectLst/>
                <a:latin typeface="Poppins" panose="00000500000000000000" pitchFamily="2" charset="0"/>
              </a:rPr>
              <a:t>Les conteneurs, en revanche, sont isolés au niveau du processus plutôt qu'au niveau du système. Ils partagent le noyau de l'OS et certains binaires et bibliothèques, selon les besoins de l'application.</a:t>
            </a:r>
          </a:p>
          <a:p>
            <a:pPr algn="l"/>
            <a:endParaRPr lang="fr-FR" b="0" i="0" dirty="0">
              <a:solidFill>
                <a:srgbClr val="374151"/>
              </a:solidFill>
              <a:effectLst/>
              <a:latin typeface="Poppins" panose="00000500000000000000" pitchFamily="2" charset="0"/>
            </a:endParaRPr>
          </a:p>
        </p:txBody>
      </p:sp>
      <p:sp>
        <p:nvSpPr>
          <p:cNvPr id="4" name="Espace réservé du pied de page 3">
            <a:extLst>
              <a:ext uri="{FF2B5EF4-FFF2-40B4-BE49-F238E27FC236}">
                <a16:creationId xmlns:a16="http://schemas.microsoft.com/office/drawing/2014/main" id="{BBE49CAA-C5F3-5EBB-C10B-750CC8976F87}"/>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9D467CDB-E372-02BD-4E46-11E2B15A45BB}"/>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686129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5F4ED3A-58FD-6835-E0FD-333404A20F77}"/>
              </a:ext>
            </a:extLst>
          </p:cNvPr>
          <p:cNvSpPr>
            <a:spLocks noGrp="1"/>
          </p:cNvSpPr>
          <p:nvPr>
            <p:ph idx="1"/>
          </p:nvPr>
        </p:nvSpPr>
        <p:spPr>
          <a:xfrm>
            <a:off x="448966" y="1502815"/>
            <a:ext cx="8246070" cy="3206799"/>
          </a:xfrm>
        </p:spPr>
        <p:txBody>
          <a:bodyPr>
            <a:normAutofit fontScale="55000" lnSpcReduction="20000"/>
          </a:bodyPr>
          <a:lstStyle/>
          <a:p>
            <a:pPr marL="0" indent="0" algn="l">
              <a:buNone/>
            </a:pPr>
            <a:r>
              <a:rPr lang="fr-FR" b="1" i="0" dirty="0">
                <a:effectLst/>
                <a:latin typeface="Poppins" panose="00000500000000000000" pitchFamily="2" charset="0"/>
              </a:rPr>
              <a:t>Portabilité</a:t>
            </a:r>
          </a:p>
          <a:p>
            <a:pPr algn="l"/>
            <a:r>
              <a:rPr lang="fr-FR" b="0" i="0" dirty="0">
                <a:solidFill>
                  <a:srgbClr val="374151"/>
                </a:solidFill>
                <a:effectLst/>
                <a:latin typeface="Poppins" panose="00000500000000000000" pitchFamily="2" charset="0"/>
              </a:rPr>
              <a:t>En matière de portabilité, la conteneurisation l'emporte sur la virtualisation. </a:t>
            </a:r>
          </a:p>
          <a:p>
            <a:pPr algn="l"/>
            <a:r>
              <a:rPr lang="fr-FR" b="0" i="0" dirty="0">
                <a:solidFill>
                  <a:srgbClr val="374151"/>
                </a:solidFill>
                <a:effectLst/>
                <a:latin typeface="Poppins" panose="00000500000000000000" pitchFamily="2" charset="0"/>
              </a:rPr>
              <a:t>Les conteneurs encapsulent les dépendances de l'application, garantissant ainsi que celle-ci fonctionnera de la même manière sur n'importe quel système capable de faire tourner le moteur de conteneurisation (comme Docker).</a:t>
            </a:r>
          </a:p>
          <a:p>
            <a:pPr algn="l"/>
            <a:r>
              <a:rPr lang="fr-FR" b="0" i="0" dirty="0">
                <a:solidFill>
                  <a:srgbClr val="374151"/>
                </a:solidFill>
                <a:effectLst/>
                <a:latin typeface="Poppins" panose="00000500000000000000" pitchFamily="2" charset="0"/>
              </a:rPr>
              <a:t>Les machines virtuelles, quant à elles, sont généralement plus lourdes et nécessitent un hyperviseur pour fonctionner, ce qui peut rendre leur transfert d'un système à un autre plus complexe.</a:t>
            </a:r>
          </a:p>
          <a:p>
            <a:pPr marL="0" indent="0" algn="l">
              <a:buNone/>
            </a:pPr>
            <a:r>
              <a:rPr lang="fr-FR" b="1" i="0" dirty="0">
                <a:effectLst/>
                <a:latin typeface="Poppins" panose="00000500000000000000" pitchFamily="2" charset="0"/>
              </a:rPr>
              <a:t>Infrastructure</a:t>
            </a:r>
          </a:p>
          <a:p>
            <a:pPr algn="l"/>
            <a:r>
              <a:rPr lang="fr-FR" b="0" i="0" dirty="0">
                <a:solidFill>
                  <a:srgbClr val="374151"/>
                </a:solidFill>
                <a:effectLst/>
                <a:latin typeface="Poppins" panose="00000500000000000000" pitchFamily="2" charset="0"/>
              </a:rPr>
              <a:t>Enfin, la virtualisation et la conteneurisation nécessitent différentes infrastructures de gestion. Les machines virtuelles sont généralement gérées à l'aide de logiciels de gestion de la virtualisation comme VMware vSphere ou Microsoft Hyper-V.</a:t>
            </a:r>
          </a:p>
          <a:p>
            <a:pPr algn="l"/>
            <a:r>
              <a:rPr lang="fr-FR" b="0" i="0" dirty="0">
                <a:solidFill>
                  <a:srgbClr val="374151"/>
                </a:solidFill>
                <a:effectLst/>
                <a:latin typeface="Poppins" panose="00000500000000000000" pitchFamily="2" charset="0"/>
              </a:rPr>
              <a:t>Les conteneurs, en revanche, sont souvent orchestrés par des systèmes comme Kubernetes ou Docker </a:t>
            </a:r>
            <a:r>
              <a:rPr lang="fr-FR" b="0" i="0" dirty="0" err="1">
                <a:solidFill>
                  <a:srgbClr val="374151"/>
                </a:solidFill>
                <a:effectLst/>
                <a:latin typeface="Poppins" panose="00000500000000000000" pitchFamily="2" charset="0"/>
              </a:rPr>
              <a:t>Swarm</a:t>
            </a:r>
            <a:r>
              <a:rPr lang="fr-FR" b="0" i="0" dirty="0">
                <a:solidFill>
                  <a:srgbClr val="374151"/>
                </a:solidFill>
                <a:effectLst/>
                <a:latin typeface="Poppins" panose="00000500000000000000" pitchFamily="2" charset="0"/>
              </a:rPr>
              <a:t>.</a:t>
            </a:r>
          </a:p>
          <a:p>
            <a:endParaRPr lang="fr-FR" dirty="0"/>
          </a:p>
        </p:txBody>
      </p:sp>
      <p:sp>
        <p:nvSpPr>
          <p:cNvPr id="4" name="Espace réservé du pied de page 3">
            <a:extLst>
              <a:ext uri="{FF2B5EF4-FFF2-40B4-BE49-F238E27FC236}">
                <a16:creationId xmlns:a16="http://schemas.microsoft.com/office/drawing/2014/main" id="{AA80398B-355A-AF09-1808-F37449491D59}"/>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41087DF3-0F73-23E7-1ED4-536A1D56B130}"/>
              </a:ext>
            </a:extLst>
          </p:cNvPr>
          <p:cNvSpPr>
            <a:spLocks noGrp="1"/>
          </p:cNvSpPr>
          <p:nvPr>
            <p:ph type="sldNum" sz="quarter" idx="12"/>
          </p:nvPr>
        </p:nvSpPr>
        <p:spPr/>
        <p:txBody>
          <a:bodyPr/>
          <a:lstStyle/>
          <a:p>
            <a:fld id="{B82CCC60-E8CD-4174-8B1A-7DF615B22EEF}" type="slidenum">
              <a:rPr lang="en-US" smtClean="0"/>
              <a:pPr/>
              <a:t>5</a:t>
            </a:fld>
            <a:endParaRPr lang="en-US"/>
          </a:p>
        </p:txBody>
      </p:sp>
    </p:spTree>
    <p:extLst>
      <p:ext uri="{BB962C8B-B14F-4D97-AF65-F5344CB8AC3E}">
        <p14:creationId xmlns:p14="http://schemas.microsoft.com/office/powerpoint/2010/main" val="4262845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C6F04A-C3A4-D205-D641-24F49CACBF04}"/>
              </a:ext>
            </a:extLst>
          </p:cNvPr>
          <p:cNvSpPr>
            <a:spLocks noGrp="1"/>
          </p:cNvSpPr>
          <p:nvPr>
            <p:ph type="title"/>
          </p:nvPr>
        </p:nvSpPr>
        <p:spPr/>
        <p:txBody>
          <a:bodyPr>
            <a:normAutofit fontScale="90000"/>
          </a:bodyPr>
          <a:lstStyle/>
          <a:p>
            <a:r>
              <a:rPr lang="fr-FR" b="1" i="0" dirty="0">
                <a:effectLst/>
                <a:latin typeface="Poppins" panose="00000500000000000000" pitchFamily="2" charset="0"/>
              </a:rPr>
              <a:t>Virtualisation ou conteneurisation ?</a:t>
            </a:r>
            <a:endParaRPr lang="fr-FR" dirty="0"/>
          </a:p>
        </p:txBody>
      </p:sp>
      <p:sp>
        <p:nvSpPr>
          <p:cNvPr id="3" name="Espace réservé du contenu 2">
            <a:extLst>
              <a:ext uri="{FF2B5EF4-FFF2-40B4-BE49-F238E27FC236}">
                <a16:creationId xmlns:a16="http://schemas.microsoft.com/office/drawing/2014/main" id="{8497EC2A-F30F-7CFC-8099-E328998D8442}"/>
              </a:ext>
            </a:extLst>
          </p:cNvPr>
          <p:cNvSpPr>
            <a:spLocks noGrp="1"/>
          </p:cNvSpPr>
          <p:nvPr>
            <p:ph idx="1"/>
          </p:nvPr>
        </p:nvSpPr>
        <p:spPr>
          <a:xfrm>
            <a:off x="448965" y="1960930"/>
            <a:ext cx="8551479" cy="3054100"/>
          </a:xfrm>
        </p:spPr>
        <p:txBody>
          <a:bodyPr>
            <a:normAutofit fontScale="55000" lnSpcReduction="20000"/>
          </a:bodyPr>
          <a:lstStyle/>
          <a:p>
            <a:pPr algn="just"/>
            <a:r>
              <a:rPr lang="fr-FR" b="0" i="0" dirty="0">
                <a:solidFill>
                  <a:srgbClr val="374151"/>
                </a:solidFill>
                <a:effectLst/>
                <a:latin typeface="Poppins" panose="00000500000000000000" pitchFamily="2" charset="0"/>
              </a:rPr>
              <a:t>La distinction entre virtualisation et conteneurisation dépend largement du contexte d'application.</a:t>
            </a:r>
          </a:p>
          <a:p>
            <a:pPr marL="0" indent="0" algn="l">
              <a:buNone/>
            </a:pPr>
            <a:r>
              <a:rPr lang="fr-FR" b="1" i="0" dirty="0">
                <a:effectLst/>
                <a:latin typeface="Poppins" panose="00000500000000000000" pitchFamily="2" charset="0"/>
              </a:rPr>
              <a:t>Exécution de plusieurs systèmes d'exploitation</a:t>
            </a:r>
          </a:p>
          <a:p>
            <a:pPr algn="l"/>
            <a:r>
              <a:rPr lang="fr-FR" b="0" i="0" dirty="0">
                <a:solidFill>
                  <a:srgbClr val="374151"/>
                </a:solidFill>
                <a:effectLst/>
                <a:latin typeface="Poppins" panose="00000500000000000000" pitchFamily="2" charset="0"/>
              </a:rPr>
              <a:t>Lorsque le besoin se présente d'orchestrer plusieurs instances d’OS variés sur un même serveur physique, la virtualisation se révèle généralement la solution adéquate. Par exemple, dans un centre de données où Linux, Windows et Unix doivent coexister sur le même matériel, l'utilisation d'un hyperviseur permet d'assigner des ressources spécifiques à chaque machine virtuelle, tout en conservant une isolation totale entre elles.</a:t>
            </a:r>
          </a:p>
          <a:p>
            <a:pPr marL="0" indent="0" algn="l">
              <a:buNone/>
            </a:pPr>
            <a:r>
              <a:rPr lang="fr-FR" b="1" i="0" dirty="0">
                <a:effectLst/>
                <a:latin typeface="Poppins" panose="00000500000000000000" pitchFamily="2" charset="0"/>
              </a:rPr>
              <a:t>Gestion des applications </a:t>
            </a:r>
            <a:r>
              <a:rPr lang="fr-FR" b="1" i="0" dirty="0" err="1">
                <a:effectLst/>
                <a:latin typeface="Poppins" panose="00000500000000000000" pitchFamily="2" charset="0"/>
              </a:rPr>
              <a:t>legacy</a:t>
            </a:r>
            <a:endParaRPr lang="fr-FR" b="1" i="0" dirty="0">
              <a:effectLst/>
              <a:latin typeface="Poppins" panose="00000500000000000000" pitchFamily="2" charset="0"/>
            </a:endParaRPr>
          </a:p>
          <a:p>
            <a:pPr algn="l"/>
            <a:r>
              <a:rPr lang="fr-FR" b="0" i="0" dirty="0">
                <a:solidFill>
                  <a:srgbClr val="374151"/>
                </a:solidFill>
                <a:effectLst/>
                <a:latin typeface="Poppins" panose="00000500000000000000" pitchFamily="2" charset="0"/>
              </a:rPr>
              <a:t>La virtualisation représente également une option judicieuse pour les entreprises qui utilisent des applications </a:t>
            </a:r>
            <a:r>
              <a:rPr lang="fr-FR" b="0" i="0" dirty="0" err="1">
                <a:solidFill>
                  <a:srgbClr val="374151"/>
                </a:solidFill>
                <a:effectLst/>
                <a:latin typeface="Poppins" panose="00000500000000000000" pitchFamily="2" charset="0"/>
              </a:rPr>
              <a:t>legacy</a:t>
            </a:r>
            <a:r>
              <a:rPr lang="fr-FR" b="0" i="0" dirty="0">
                <a:solidFill>
                  <a:srgbClr val="374151"/>
                </a:solidFill>
                <a:effectLst/>
                <a:latin typeface="Poppins" panose="00000500000000000000" pitchFamily="2" charset="0"/>
              </a:rPr>
              <a:t>. Les applications conçues pour fonctionner sur des systèmes d'exploitation plus anciens ou spécifiques peuvent continuer à fonctionner sans modification dans une machine virtuelle dédiée.</a:t>
            </a:r>
          </a:p>
          <a:p>
            <a:pPr algn="l"/>
            <a:endParaRPr lang="fr-FR" b="0" i="0" dirty="0">
              <a:solidFill>
                <a:srgbClr val="374151"/>
              </a:solidFill>
              <a:effectLst/>
              <a:latin typeface="Poppins" panose="00000500000000000000" pitchFamily="2" charset="0"/>
            </a:endParaRPr>
          </a:p>
          <a:p>
            <a:endParaRPr lang="fr-FR" dirty="0"/>
          </a:p>
        </p:txBody>
      </p:sp>
      <p:sp>
        <p:nvSpPr>
          <p:cNvPr id="4" name="Espace réservé du pied de page 3">
            <a:extLst>
              <a:ext uri="{FF2B5EF4-FFF2-40B4-BE49-F238E27FC236}">
                <a16:creationId xmlns:a16="http://schemas.microsoft.com/office/drawing/2014/main" id="{55EBCB51-F8A2-4DDB-6355-C6FEF8B68858}"/>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B959E100-054A-0B5C-51DD-0DB93DBB302E}"/>
              </a:ext>
            </a:extLst>
          </p:cNvPr>
          <p:cNvSpPr>
            <a:spLocks noGrp="1"/>
          </p:cNvSpPr>
          <p:nvPr>
            <p:ph type="sldNum" sz="quarter" idx="12"/>
          </p:nvPr>
        </p:nvSpPr>
        <p:spPr/>
        <p:txBody>
          <a:bodyPr/>
          <a:lstStyle/>
          <a:p>
            <a:fld id="{B82CCC60-E8CD-4174-8B1A-7DF615B22EEF}" type="slidenum">
              <a:rPr lang="en-US" smtClean="0"/>
              <a:pPr/>
              <a:t>6</a:t>
            </a:fld>
            <a:endParaRPr lang="en-US"/>
          </a:p>
        </p:txBody>
      </p:sp>
    </p:spTree>
    <p:extLst>
      <p:ext uri="{BB962C8B-B14F-4D97-AF65-F5344CB8AC3E}">
        <p14:creationId xmlns:p14="http://schemas.microsoft.com/office/powerpoint/2010/main" val="3873674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D4768FF5-802E-C0F6-C643-81A95B340589}"/>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907E16F4-1C0F-3C50-DCE7-C20BF29B52D5}"/>
              </a:ext>
            </a:extLst>
          </p:cNvPr>
          <p:cNvSpPr>
            <a:spLocks noGrp="1"/>
          </p:cNvSpPr>
          <p:nvPr>
            <p:ph type="sldNum" sz="quarter" idx="12"/>
          </p:nvPr>
        </p:nvSpPr>
        <p:spPr/>
        <p:txBody>
          <a:bodyPr/>
          <a:lstStyle/>
          <a:p>
            <a:fld id="{B82CCC60-E8CD-4174-8B1A-7DF615B22EEF}" type="slidenum">
              <a:rPr lang="en-US" smtClean="0"/>
              <a:pPr/>
              <a:t>7</a:t>
            </a:fld>
            <a:endParaRPr lang="en-US"/>
          </a:p>
        </p:txBody>
      </p:sp>
      <p:pic>
        <p:nvPicPr>
          <p:cNvPr id="5124" name="Picture 4">
            <a:extLst>
              <a:ext uri="{FF2B5EF4-FFF2-40B4-BE49-F238E27FC236}">
                <a16:creationId xmlns:a16="http://schemas.microsoft.com/office/drawing/2014/main" id="{12C6AF34-8851-5446-56AA-ECD534B3CB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502814"/>
            <a:ext cx="7620000" cy="3450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080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DCAF929-B64E-557E-CB3F-3E5E832CDF0A}"/>
              </a:ext>
            </a:extLst>
          </p:cNvPr>
          <p:cNvSpPr>
            <a:spLocks noGrp="1"/>
          </p:cNvSpPr>
          <p:nvPr>
            <p:ph idx="1"/>
          </p:nvPr>
        </p:nvSpPr>
        <p:spPr>
          <a:xfrm>
            <a:off x="423049" y="1376187"/>
            <a:ext cx="8551479" cy="3664920"/>
          </a:xfrm>
        </p:spPr>
        <p:txBody>
          <a:bodyPr>
            <a:normAutofit fontScale="55000" lnSpcReduction="20000"/>
          </a:bodyPr>
          <a:lstStyle/>
          <a:p>
            <a:pPr marL="0" indent="0" algn="l">
              <a:buNone/>
            </a:pPr>
            <a:r>
              <a:rPr lang="fr-FR" b="1" i="0" dirty="0">
                <a:effectLst/>
                <a:latin typeface="Poppins" panose="00000500000000000000" pitchFamily="2" charset="0"/>
              </a:rPr>
              <a:t>Déploiement d'applications </a:t>
            </a:r>
            <a:r>
              <a:rPr lang="fr-FR" b="1" i="0" dirty="0" err="1">
                <a:effectLst/>
                <a:latin typeface="Poppins" panose="00000500000000000000" pitchFamily="2" charset="0"/>
              </a:rPr>
              <a:t>microservices</a:t>
            </a:r>
            <a:endParaRPr lang="fr-FR" b="1" i="0" dirty="0">
              <a:effectLst/>
              <a:latin typeface="Poppins" panose="00000500000000000000" pitchFamily="2" charset="0"/>
            </a:endParaRPr>
          </a:p>
          <a:p>
            <a:pPr algn="l"/>
            <a:r>
              <a:rPr lang="fr-FR" b="0" i="0" dirty="0">
                <a:solidFill>
                  <a:srgbClr val="374151"/>
                </a:solidFill>
                <a:effectLst/>
                <a:latin typeface="Poppins" panose="00000500000000000000" pitchFamily="2" charset="0"/>
              </a:rPr>
              <a:t>Pour les organisations qui développent et déploient des applications basées sur une architecture de </a:t>
            </a:r>
            <a:r>
              <a:rPr lang="fr-FR" b="0" i="0" dirty="0" err="1">
                <a:solidFill>
                  <a:srgbClr val="374151"/>
                </a:solidFill>
                <a:effectLst/>
                <a:latin typeface="Poppins" panose="00000500000000000000" pitchFamily="2" charset="0"/>
              </a:rPr>
              <a:t>microservices</a:t>
            </a:r>
            <a:r>
              <a:rPr lang="fr-FR" b="0" i="0" dirty="0">
                <a:solidFill>
                  <a:srgbClr val="374151"/>
                </a:solidFill>
                <a:effectLst/>
                <a:latin typeface="Poppins" panose="00000500000000000000" pitchFamily="2" charset="0"/>
              </a:rPr>
              <a:t>, la conteneurisation offre des avantages indéniables. </a:t>
            </a:r>
          </a:p>
          <a:p>
            <a:pPr algn="l"/>
            <a:r>
              <a:rPr lang="fr-FR" b="0" i="0" dirty="0">
                <a:solidFill>
                  <a:srgbClr val="374151"/>
                </a:solidFill>
                <a:effectLst/>
                <a:latin typeface="Poppins" panose="00000500000000000000" pitchFamily="2" charset="0"/>
              </a:rPr>
              <a:t>Chaque </a:t>
            </a:r>
            <a:r>
              <a:rPr lang="fr-FR" b="0" i="0" dirty="0" err="1">
                <a:solidFill>
                  <a:srgbClr val="374151"/>
                </a:solidFill>
                <a:effectLst/>
                <a:latin typeface="Poppins" panose="00000500000000000000" pitchFamily="2" charset="0"/>
              </a:rPr>
              <a:t>microservice</a:t>
            </a:r>
            <a:r>
              <a:rPr lang="fr-FR" b="0" i="0" dirty="0">
                <a:solidFill>
                  <a:srgbClr val="374151"/>
                </a:solidFill>
                <a:effectLst/>
                <a:latin typeface="Poppins" panose="00000500000000000000" pitchFamily="2" charset="0"/>
              </a:rPr>
              <a:t>, encapsulé dans son propre conteneur, peut évoluer, être déployé et redimensionné de manière indépendante des autres. </a:t>
            </a:r>
          </a:p>
          <a:p>
            <a:pPr algn="l"/>
            <a:r>
              <a:rPr lang="fr-FR" b="0" i="0" dirty="0">
                <a:solidFill>
                  <a:srgbClr val="374151"/>
                </a:solidFill>
                <a:effectLst/>
                <a:latin typeface="Poppins" panose="00000500000000000000" pitchFamily="2" charset="0"/>
              </a:rPr>
              <a:t>Cela accroît non seulement l'agilité et la résilience de l'application, mais améliore également l'efficacité du développement et du déploiement.</a:t>
            </a:r>
          </a:p>
          <a:p>
            <a:pPr marL="0" indent="0" algn="l">
              <a:buNone/>
            </a:pPr>
            <a:r>
              <a:rPr lang="fr-FR" b="1" i="0" dirty="0">
                <a:effectLst/>
                <a:latin typeface="Poppins" panose="00000500000000000000" pitchFamily="2" charset="0"/>
              </a:rPr>
              <a:t>Création d'environnements de développement reproductibles</a:t>
            </a:r>
          </a:p>
          <a:p>
            <a:pPr algn="l"/>
            <a:r>
              <a:rPr lang="fr-FR" b="0" i="0" dirty="0">
                <a:solidFill>
                  <a:srgbClr val="374151"/>
                </a:solidFill>
                <a:effectLst/>
                <a:latin typeface="Poppins" panose="00000500000000000000" pitchFamily="2" charset="0"/>
              </a:rPr>
              <a:t>La conteneurisation excelle dans la création d'environnements de développement cohérents et reproductibles. </a:t>
            </a:r>
          </a:p>
          <a:p>
            <a:pPr algn="l"/>
            <a:r>
              <a:rPr lang="fr-FR" b="0" i="0" dirty="0">
                <a:solidFill>
                  <a:srgbClr val="374151"/>
                </a:solidFill>
                <a:effectLst/>
                <a:latin typeface="Poppins" panose="00000500000000000000" pitchFamily="2" charset="0"/>
              </a:rPr>
              <a:t>Avec des outils comme Docker, un développeur peut créer un conteneur avec toutes les dépendances nécessaires, puis partager ce conteneur avec d'autres développeurs ou l'intégrer dans une chaîne d'intégration et de déploiement continu CI/CD. </a:t>
            </a:r>
          </a:p>
          <a:p>
            <a:pPr algn="l"/>
            <a:r>
              <a:rPr lang="fr-FR" b="0" i="0" dirty="0">
                <a:solidFill>
                  <a:srgbClr val="374151"/>
                </a:solidFill>
                <a:effectLst/>
                <a:latin typeface="Poppins" panose="00000500000000000000" pitchFamily="2" charset="0"/>
              </a:rPr>
              <a:t>Cela élimine les problèmes classiques de "ça fonctionne sur ma machine", car le conteneur offre le même environnement d'exécution, peu importe où il est déployé.</a:t>
            </a:r>
          </a:p>
        </p:txBody>
      </p:sp>
      <p:sp>
        <p:nvSpPr>
          <p:cNvPr id="4" name="Espace réservé du pied de page 3">
            <a:extLst>
              <a:ext uri="{FF2B5EF4-FFF2-40B4-BE49-F238E27FC236}">
                <a16:creationId xmlns:a16="http://schemas.microsoft.com/office/drawing/2014/main" id="{87375EFE-6A9E-2309-F81A-888B7309B432}"/>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95E89646-0917-DD0D-4870-3DA06B76C8DF}"/>
              </a:ext>
            </a:extLst>
          </p:cNvPr>
          <p:cNvSpPr>
            <a:spLocks noGrp="1"/>
          </p:cNvSpPr>
          <p:nvPr>
            <p:ph type="sldNum" sz="quarter" idx="12"/>
          </p:nvPr>
        </p:nvSpPr>
        <p:spPr/>
        <p:txBody>
          <a:bodyPr/>
          <a:lstStyle/>
          <a:p>
            <a:fld id="{B82CCC60-E8CD-4174-8B1A-7DF615B22EEF}" type="slidenum">
              <a:rPr lang="en-US" smtClean="0"/>
              <a:pPr/>
              <a:t>8</a:t>
            </a:fld>
            <a:endParaRPr lang="en-US"/>
          </a:p>
        </p:txBody>
      </p:sp>
    </p:spTree>
    <p:extLst>
      <p:ext uri="{BB962C8B-B14F-4D97-AF65-F5344CB8AC3E}">
        <p14:creationId xmlns:p14="http://schemas.microsoft.com/office/powerpoint/2010/main" val="3461822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BCF0F9-931D-33D5-CAC3-0DF1E72571C0}"/>
              </a:ext>
            </a:extLst>
          </p:cNvPr>
          <p:cNvSpPr>
            <a:spLocks noGrp="1"/>
          </p:cNvSpPr>
          <p:nvPr>
            <p:ph type="title"/>
          </p:nvPr>
        </p:nvSpPr>
        <p:spPr/>
        <p:txBody>
          <a:bodyPr>
            <a:normAutofit fontScale="90000"/>
          </a:bodyPr>
          <a:lstStyle/>
          <a:p>
            <a:r>
              <a:rPr lang="fr-FR" sz="3600" b="1" spc="10" dirty="0">
                <a:solidFill>
                  <a:schemeClr val="accent6"/>
                </a:solidFill>
                <a:latin typeface="Arial"/>
                <a:cs typeface="Arial"/>
              </a:rPr>
              <a:t>Docker</a:t>
            </a:r>
            <a:endParaRPr lang="fr-FR" dirty="0">
              <a:solidFill>
                <a:schemeClr val="accent6"/>
              </a:solidFill>
            </a:endParaRPr>
          </a:p>
        </p:txBody>
      </p:sp>
      <p:sp>
        <p:nvSpPr>
          <p:cNvPr id="3" name="Espace réservé du contenu 2">
            <a:extLst>
              <a:ext uri="{FF2B5EF4-FFF2-40B4-BE49-F238E27FC236}">
                <a16:creationId xmlns:a16="http://schemas.microsoft.com/office/drawing/2014/main" id="{3E3C4677-38BD-50A3-85E0-3BE550CEF001}"/>
              </a:ext>
            </a:extLst>
          </p:cNvPr>
          <p:cNvSpPr>
            <a:spLocks noGrp="1"/>
          </p:cNvSpPr>
          <p:nvPr>
            <p:ph idx="1"/>
          </p:nvPr>
        </p:nvSpPr>
        <p:spPr>
          <a:xfrm>
            <a:off x="448965" y="1960930"/>
            <a:ext cx="7024430" cy="3054100"/>
          </a:xfrm>
        </p:spPr>
        <p:txBody>
          <a:bodyPr>
            <a:normAutofit fontScale="25000" lnSpcReduction="20000"/>
          </a:bodyPr>
          <a:lstStyle/>
          <a:p>
            <a:pPr marR="5080" algn="l"/>
            <a:r>
              <a:rPr lang="fr-FR" sz="6000" dirty="0">
                <a:solidFill>
                  <a:srgbClr val="374151"/>
                </a:solidFill>
                <a:latin typeface="Poppins" panose="00000500000000000000" pitchFamily="2" charset="0"/>
              </a:rPr>
              <a:t>Docker est un projet open source écrit en GO et hébergé sur GitHub ( https://  github.com/docker).</a:t>
            </a:r>
          </a:p>
          <a:p>
            <a:pPr algn="l"/>
            <a:r>
              <a:rPr lang="fr-FR" sz="6000" dirty="0">
                <a:solidFill>
                  <a:srgbClr val="374151"/>
                </a:solidFill>
                <a:latin typeface="Poppins" panose="00000500000000000000" pitchFamily="2" charset="0"/>
              </a:rPr>
              <a:t>Le projet a été initialement développé par la startup </a:t>
            </a:r>
            <a:r>
              <a:rPr lang="fr-FR" sz="6000" dirty="0" err="1">
                <a:solidFill>
                  <a:srgbClr val="374151"/>
                </a:solidFill>
                <a:latin typeface="Poppins" panose="00000500000000000000" pitchFamily="2" charset="0"/>
              </a:rPr>
              <a:t>DotCloud</a:t>
            </a:r>
            <a:endParaRPr lang="fr-FR" sz="6000" dirty="0">
              <a:solidFill>
                <a:srgbClr val="374151"/>
              </a:solidFill>
              <a:latin typeface="Poppins" panose="00000500000000000000" pitchFamily="2" charset="0"/>
            </a:endParaRPr>
          </a:p>
          <a:p>
            <a:pPr algn="l"/>
            <a:r>
              <a:rPr lang="fr-FR" sz="6000" dirty="0">
                <a:solidFill>
                  <a:srgbClr val="374151"/>
                </a:solidFill>
                <a:latin typeface="Poppins" panose="00000500000000000000" pitchFamily="2" charset="0"/>
              </a:rPr>
              <a:t>Docker permet de lancer des applications dans des conteneurs logiciels : exécuter un code à l’intérieur d’un conteneur indépendamment de la machine  hôte.</a:t>
            </a:r>
          </a:p>
          <a:p>
            <a:pPr marL="12700">
              <a:lnSpc>
                <a:spcPct val="100000"/>
              </a:lnSpc>
              <a:spcBef>
                <a:spcPts val="100"/>
              </a:spcBef>
            </a:pPr>
            <a:r>
              <a:rPr lang="fr-FR" sz="6000" dirty="0">
                <a:solidFill>
                  <a:srgbClr val="374151"/>
                </a:solidFill>
                <a:latin typeface="Poppins" panose="00000500000000000000" pitchFamily="2" charset="0"/>
              </a:rPr>
              <a:t>Docker se compose de trois éléments : le démon Docker qui s’exécute en arrière plan et </a:t>
            </a:r>
            <a:r>
              <a:rPr lang="fr-FR" sz="6000" spc="110" dirty="0">
                <a:latin typeface="Arial MT"/>
                <a:cs typeface="Arial MT"/>
              </a:rPr>
              <a:t>qu</a:t>
            </a:r>
            <a:r>
              <a:rPr lang="fr-FR" sz="6000" spc="-5" dirty="0">
                <a:latin typeface="Arial MT"/>
                <a:cs typeface="Arial MT"/>
              </a:rPr>
              <a:t>i</a:t>
            </a:r>
            <a:r>
              <a:rPr lang="fr-FR" sz="6000" spc="195" dirty="0">
                <a:latin typeface="Arial MT"/>
                <a:cs typeface="Arial MT"/>
              </a:rPr>
              <a:t> </a:t>
            </a:r>
            <a:r>
              <a:rPr lang="fr-FR" sz="6000" spc="114" dirty="0">
                <a:latin typeface="Arial MT"/>
                <a:cs typeface="Arial MT"/>
              </a:rPr>
              <a:t>s</a:t>
            </a:r>
            <a:r>
              <a:rPr lang="fr-FR" sz="6000" spc="120" dirty="0">
                <a:latin typeface="Arial MT"/>
                <a:cs typeface="Arial MT"/>
              </a:rPr>
              <a:t>’o</a:t>
            </a:r>
            <a:r>
              <a:rPr lang="fr-FR" sz="6000" spc="114" dirty="0">
                <a:latin typeface="Arial MT"/>
                <a:cs typeface="Arial MT"/>
              </a:rPr>
              <a:t>cc</a:t>
            </a:r>
            <a:r>
              <a:rPr lang="fr-FR" sz="6000" spc="120" dirty="0">
                <a:latin typeface="Arial MT"/>
                <a:cs typeface="Arial MT"/>
              </a:rPr>
              <a:t>up</a:t>
            </a:r>
            <a:r>
              <a:rPr lang="fr-FR" sz="6000" dirty="0">
                <a:latin typeface="Arial MT"/>
                <a:cs typeface="Arial MT"/>
              </a:rPr>
              <a:t>e</a:t>
            </a:r>
            <a:r>
              <a:rPr lang="fr-FR" sz="6000" spc="290" dirty="0">
                <a:latin typeface="Arial MT"/>
                <a:cs typeface="Arial MT"/>
              </a:rPr>
              <a:t> </a:t>
            </a:r>
            <a:r>
              <a:rPr lang="fr-FR" sz="6000" spc="100" dirty="0">
                <a:latin typeface="Arial MT"/>
                <a:cs typeface="Arial MT"/>
              </a:rPr>
              <a:t>d</a:t>
            </a:r>
            <a:r>
              <a:rPr lang="fr-FR" sz="6000" dirty="0">
                <a:latin typeface="Arial MT"/>
                <a:cs typeface="Arial MT"/>
              </a:rPr>
              <a:t>e</a:t>
            </a:r>
            <a:r>
              <a:rPr lang="fr-FR" sz="6000" spc="170" dirty="0">
                <a:latin typeface="Arial MT"/>
                <a:cs typeface="Arial MT"/>
              </a:rPr>
              <a:t> </a:t>
            </a:r>
            <a:r>
              <a:rPr lang="fr-FR" sz="6000" spc="40" dirty="0">
                <a:latin typeface="Arial MT"/>
                <a:cs typeface="Arial MT"/>
              </a:rPr>
              <a:t>gére</a:t>
            </a:r>
            <a:r>
              <a:rPr lang="fr-FR" sz="6000" dirty="0">
                <a:latin typeface="Arial MT"/>
                <a:cs typeface="Arial MT"/>
              </a:rPr>
              <a:t>r</a:t>
            </a:r>
            <a:r>
              <a:rPr lang="fr-FR" sz="6000" spc="50" dirty="0">
                <a:latin typeface="Arial MT"/>
                <a:cs typeface="Arial MT"/>
              </a:rPr>
              <a:t> </a:t>
            </a:r>
            <a:r>
              <a:rPr lang="fr-FR" sz="6000" spc="30" dirty="0">
                <a:latin typeface="Arial MT"/>
                <a:cs typeface="Arial MT"/>
              </a:rPr>
              <a:t>l</a:t>
            </a:r>
            <a:r>
              <a:rPr lang="fr-FR" sz="6000" spc="35" dirty="0">
                <a:latin typeface="Arial MT"/>
                <a:cs typeface="Arial MT"/>
              </a:rPr>
              <a:t>e</a:t>
            </a:r>
            <a:r>
              <a:rPr lang="fr-FR" sz="6000" dirty="0">
                <a:latin typeface="Arial MT"/>
                <a:cs typeface="Arial MT"/>
              </a:rPr>
              <a:t>s</a:t>
            </a:r>
            <a:r>
              <a:rPr lang="fr-FR" sz="6000" spc="-335" dirty="0">
                <a:latin typeface="Arial MT"/>
                <a:cs typeface="Arial MT"/>
              </a:rPr>
              <a:t> </a:t>
            </a:r>
            <a:r>
              <a:rPr lang="fr-FR" sz="6000" spc="30" dirty="0">
                <a:latin typeface="Arial MT"/>
                <a:cs typeface="Arial MT"/>
              </a:rPr>
              <a:t>c</a:t>
            </a:r>
            <a:r>
              <a:rPr lang="fr-FR" sz="6000" spc="35" dirty="0">
                <a:latin typeface="Arial MT"/>
                <a:cs typeface="Arial MT"/>
              </a:rPr>
              <a:t>on</a:t>
            </a:r>
            <a:r>
              <a:rPr lang="fr-FR" sz="6000" spc="25" dirty="0">
                <a:latin typeface="Arial MT"/>
                <a:cs typeface="Arial MT"/>
              </a:rPr>
              <a:t>t</a:t>
            </a:r>
            <a:r>
              <a:rPr lang="fr-FR" sz="6000" spc="35" dirty="0">
                <a:latin typeface="Arial MT"/>
                <a:cs typeface="Arial MT"/>
              </a:rPr>
              <a:t>eneu</a:t>
            </a:r>
            <a:r>
              <a:rPr lang="fr-FR" sz="6000" spc="-150" dirty="0">
                <a:latin typeface="Arial MT"/>
                <a:cs typeface="Arial MT"/>
              </a:rPr>
              <a:t>r</a:t>
            </a:r>
            <a:r>
              <a:rPr lang="fr-FR" sz="6000" dirty="0">
                <a:latin typeface="Arial MT"/>
                <a:cs typeface="Arial MT"/>
              </a:rPr>
              <a:t>.</a:t>
            </a:r>
          </a:p>
          <a:p>
            <a:pPr marL="527050" marR="5080" algn="just"/>
            <a:r>
              <a:rPr lang="fr-FR" sz="6000" dirty="0">
                <a:solidFill>
                  <a:srgbClr val="374151"/>
                </a:solidFill>
                <a:latin typeface="Poppins" panose="00000500000000000000" pitchFamily="2" charset="0"/>
              </a:rPr>
              <a:t>Une API de type REST qui permet de communiquer  avec le démon.</a:t>
            </a:r>
          </a:p>
          <a:p>
            <a:pPr marL="527050" algn="just">
              <a:spcBef>
                <a:spcPts val="40"/>
              </a:spcBef>
            </a:pPr>
            <a:r>
              <a:rPr lang="fr-FR" sz="6000" dirty="0">
                <a:solidFill>
                  <a:srgbClr val="374151"/>
                </a:solidFill>
                <a:latin typeface="Poppins" panose="00000500000000000000" pitchFamily="2" charset="0"/>
              </a:rPr>
              <a:t>Un client en CLI (command line interface) : permet l’interaction avec le démon par l’intermédiaire de la  commande docker.</a:t>
            </a:r>
          </a:p>
          <a:p>
            <a:pPr marL="0" indent="0" algn="l">
              <a:buNone/>
            </a:pPr>
            <a:endParaRPr lang="fr-FR" sz="6000" dirty="0">
              <a:solidFill>
                <a:srgbClr val="374151"/>
              </a:solidFill>
              <a:latin typeface="Poppins" panose="00000500000000000000" pitchFamily="2" charset="0"/>
            </a:endParaRPr>
          </a:p>
          <a:p>
            <a:endParaRPr lang="fr-FR" dirty="0"/>
          </a:p>
        </p:txBody>
      </p:sp>
      <p:sp>
        <p:nvSpPr>
          <p:cNvPr id="4" name="Espace réservé du pied de page 3">
            <a:extLst>
              <a:ext uri="{FF2B5EF4-FFF2-40B4-BE49-F238E27FC236}">
                <a16:creationId xmlns:a16="http://schemas.microsoft.com/office/drawing/2014/main" id="{1A373BAD-8965-F93B-DC8F-89AE0E0D8DF5}"/>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C0A5CC06-1519-6769-3EFA-284727A223D4}"/>
              </a:ext>
            </a:extLst>
          </p:cNvPr>
          <p:cNvSpPr>
            <a:spLocks noGrp="1"/>
          </p:cNvSpPr>
          <p:nvPr>
            <p:ph type="sldNum" sz="quarter" idx="12"/>
          </p:nvPr>
        </p:nvSpPr>
        <p:spPr/>
        <p:txBody>
          <a:bodyPr/>
          <a:lstStyle/>
          <a:p>
            <a:fld id="{B82CCC60-E8CD-4174-8B1A-7DF615B22EEF}" type="slidenum">
              <a:rPr lang="en-US" smtClean="0"/>
              <a:pPr/>
              <a:t>9</a:t>
            </a:fld>
            <a:endParaRPr lang="en-US"/>
          </a:p>
        </p:txBody>
      </p:sp>
      <p:pic>
        <p:nvPicPr>
          <p:cNvPr id="6" name="object 2">
            <a:extLst>
              <a:ext uri="{FF2B5EF4-FFF2-40B4-BE49-F238E27FC236}">
                <a16:creationId xmlns:a16="http://schemas.microsoft.com/office/drawing/2014/main" id="{24CE6C25-7E49-13BD-4715-5EE6A47C0999}"/>
              </a:ext>
            </a:extLst>
          </p:cNvPr>
          <p:cNvPicPr/>
          <p:nvPr/>
        </p:nvPicPr>
        <p:blipFill>
          <a:blip r:embed="rId2" cstate="print"/>
          <a:stretch>
            <a:fillRect/>
          </a:stretch>
        </p:blipFill>
        <p:spPr>
          <a:xfrm>
            <a:off x="7167985" y="3335275"/>
            <a:ext cx="1617497" cy="1337805"/>
          </a:xfrm>
          <a:prstGeom prst="rect">
            <a:avLst/>
          </a:prstGeom>
        </p:spPr>
      </p:pic>
    </p:spTree>
    <p:extLst>
      <p:ext uri="{BB962C8B-B14F-4D97-AF65-F5344CB8AC3E}">
        <p14:creationId xmlns:p14="http://schemas.microsoft.com/office/powerpoint/2010/main" val="3846431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55" y="433880"/>
            <a:ext cx="7024430" cy="572644"/>
          </a:xfrm>
        </p:spPr>
        <p:txBody>
          <a:bodyPr>
            <a:normAutofit fontScale="90000"/>
          </a:bodyPr>
          <a:lstStyle/>
          <a:p>
            <a:r>
              <a:rPr lang="fr-FR" sz="3600" b="1" dirty="0">
                <a:solidFill>
                  <a:schemeClr val="accent6"/>
                </a:solidFill>
                <a:latin typeface="Poppins" panose="00000500000000000000" pitchFamily="2" charset="0"/>
              </a:rPr>
              <a:t>Lexique Docker</a:t>
            </a:r>
            <a:endParaRPr lang="en-US" dirty="0">
              <a:solidFill>
                <a:schemeClr val="accent6"/>
              </a:solidFill>
            </a:endParaRPr>
          </a:p>
        </p:txBody>
      </p:sp>
      <p:sp>
        <p:nvSpPr>
          <p:cNvPr id="5" name="Content Placeholder 4"/>
          <p:cNvSpPr>
            <a:spLocks noGrp="1"/>
          </p:cNvSpPr>
          <p:nvPr>
            <p:ph idx="1"/>
          </p:nvPr>
        </p:nvSpPr>
        <p:spPr>
          <a:xfrm>
            <a:off x="296261" y="891995"/>
            <a:ext cx="7177134" cy="4581150"/>
          </a:xfrm>
        </p:spPr>
        <p:txBody>
          <a:bodyPr>
            <a:normAutofit fontScale="40000" lnSpcReduction="20000"/>
          </a:bodyPr>
          <a:lstStyle/>
          <a:p>
            <a:pPr marR="5080"/>
            <a:r>
              <a:rPr lang="fr-FR" sz="3800" dirty="0">
                <a:solidFill>
                  <a:srgbClr val="374151"/>
                </a:solidFill>
                <a:latin typeface="Poppins" panose="00000500000000000000" pitchFamily="2" charset="0"/>
              </a:rPr>
              <a:t>Conteneur : image exécutable d’un environnement complet : code, librairies, outils et  configuration.</a:t>
            </a:r>
          </a:p>
          <a:p>
            <a:pPr marR="1639570"/>
            <a:r>
              <a:rPr lang="fr-FR" sz="3800" dirty="0">
                <a:solidFill>
                  <a:srgbClr val="374151"/>
                </a:solidFill>
                <a:latin typeface="Poppins" panose="00000500000000000000" pitchFamily="2" charset="0"/>
              </a:rPr>
              <a:t>Image : ensemble de fichiers « </a:t>
            </a:r>
            <a:r>
              <a:rPr lang="fr-FR" sz="3800" i="1" dirty="0" err="1">
                <a:solidFill>
                  <a:srgbClr val="374151"/>
                </a:solidFill>
                <a:latin typeface="Poppins" panose="00000500000000000000" pitchFamily="2" charset="0"/>
              </a:rPr>
              <a:t>read-only</a:t>
            </a:r>
            <a:r>
              <a:rPr lang="fr-FR" sz="3800" dirty="0">
                <a:solidFill>
                  <a:srgbClr val="374151"/>
                </a:solidFill>
                <a:latin typeface="Poppins" panose="00000500000000000000" pitchFamily="2" charset="0"/>
              </a:rPr>
              <a:t> » contenant un système de base et une  application.</a:t>
            </a:r>
          </a:p>
          <a:p>
            <a:pPr marR="1957070"/>
            <a:r>
              <a:rPr lang="fr-FR" sz="3800" dirty="0">
                <a:solidFill>
                  <a:srgbClr val="374151"/>
                </a:solidFill>
                <a:latin typeface="Poppins" panose="00000500000000000000" pitchFamily="2" charset="0"/>
              </a:rPr>
              <a:t>Docker HUB : dépôt public d’images mises à disposition par Docker (http://  store.docker.com)</a:t>
            </a:r>
          </a:p>
          <a:p>
            <a:r>
              <a:rPr lang="fr-FR" sz="3800" dirty="0" err="1">
                <a:solidFill>
                  <a:srgbClr val="374151"/>
                </a:solidFill>
                <a:latin typeface="Poppins" panose="00000500000000000000" pitchFamily="2" charset="0"/>
              </a:rPr>
              <a:t>Dockerfile</a:t>
            </a:r>
            <a:r>
              <a:rPr lang="fr-FR" sz="3800" dirty="0">
                <a:solidFill>
                  <a:srgbClr val="374151"/>
                </a:solidFill>
                <a:latin typeface="Poppins" panose="00000500000000000000" pitchFamily="2" charset="0"/>
              </a:rPr>
              <a:t> : fichier texte de description d’une image.</a:t>
            </a:r>
          </a:p>
          <a:p>
            <a:r>
              <a:rPr lang="fr-FR" sz="3800" dirty="0">
                <a:solidFill>
                  <a:srgbClr val="374151"/>
                </a:solidFill>
                <a:latin typeface="Poppins" panose="00000500000000000000" pitchFamily="2" charset="0"/>
              </a:rPr>
              <a:t>Docker Compose : fichier texte (</a:t>
            </a:r>
            <a:r>
              <a:rPr lang="fr-FR" sz="3800" dirty="0" err="1">
                <a:solidFill>
                  <a:srgbClr val="374151"/>
                </a:solidFill>
                <a:latin typeface="Poppins" panose="00000500000000000000" pitchFamily="2" charset="0"/>
              </a:rPr>
              <a:t>yaml</a:t>
            </a:r>
            <a:r>
              <a:rPr lang="fr-FR" sz="3800" dirty="0">
                <a:solidFill>
                  <a:srgbClr val="374151"/>
                </a:solidFill>
                <a:latin typeface="Poppins" panose="00000500000000000000" pitchFamily="2" charset="0"/>
              </a:rPr>
              <a:t>) de description d’un ensemble de conteneurs.</a:t>
            </a:r>
          </a:p>
          <a:p>
            <a:pPr marR="154940"/>
            <a:r>
              <a:rPr lang="fr-FR" sz="3800" dirty="0">
                <a:solidFill>
                  <a:srgbClr val="374151"/>
                </a:solidFill>
                <a:latin typeface="Poppins" panose="00000500000000000000" pitchFamily="2" charset="0"/>
              </a:rPr>
              <a:t>Docker Machine : outil de déploiement des hôtes Docker sur différentes plateformes  (Mac, Windows).</a:t>
            </a:r>
          </a:p>
          <a:p>
            <a:pPr marR="1861185"/>
            <a:r>
              <a:rPr lang="fr-FR" sz="3800" dirty="0">
                <a:solidFill>
                  <a:srgbClr val="374151"/>
                </a:solidFill>
                <a:latin typeface="Poppins" panose="00000500000000000000" pitchFamily="2" charset="0"/>
              </a:rPr>
              <a:t>Orchestrateur : gère un pool de ressources serveurs (</a:t>
            </a:r>
            <a:r>
              <a:rPr lang="fr-FR" sz="3800" dirty="0" err="1">
                <a:solidFill>
                  <a:srgbClr val="374151"/>
                </a:solidFill>
                <a:latin typeface="Poppins" panose="00000500000000000000" pitchFamily="2" charset="0"/>
              </a:rPr>
              <a:t>Swarm</a:t>
            </a:r>
            <a:r>
              <a:rPr lang="fr-FR" sz="3800" dirty="0">
                <a:solidFill>
                  <a:srgbClr val="374151"/>
                </a:solidFill>
                <a:latin typeface="Poppins" panose="00000500000000000000" pitchFamily="2" charset="0"/>
              </a:rPr>
              <a:t>, Kubernetes,..).  </a:t>
            </a:r>
          </a:p>
          <a:p>
            <a:pPr marR="1861185"/>
            <a:r>
              <a:rPr lang="fr-FR" sz="3800" dirty="0" err="1">
                <a:solidFill>
                  <a:srgbClr val="374151"/>
                </a:solidFill>
                <a:latin typeface="Poppins" panose="00000500000000000000" pitchFamily="2" charset="0"/>
              </a:rPr>
              <a:t>Registry</a:t>
            </a:r>
            <a:r>
              <a:rPr lang="fr-FR" sz="3800" dirty="0">
                <a:solidFill>
                  <a:srgbClr val="374151"/>
                </a:solidFill>
                <a:latin typeface="Poppins" panose="00000500000000000000" pitchFamily="2" charset="0"/>
              </a:rPr>
              <a:t> : dépôt privé d’images Docker.</a:t>
            </a:r>
          </a:p>
          <a:p>
            <a:endParaRPr lang="fr-FR" sz="3800" dirty="0">
              <a:solidFill>
                <a:srgbClr val="374151"/>
              </a:solidFill>
              <a:latin typeface="Poppins" panose="00000500000000000000" pitchFamily="2" charset="0"/>
            </a:endParaRPr>
          </a:p>
          <a:p>
            <a:r>
              <a:rPr lang="fr-FR" sz="3800" dirty="0">
                <a:solidFill>
                  <a:srgbClr val="374151"/>
                </a:solidFill>
                <a:latin typeface="Poppins" panose="00000500000000000000" pitchFamily="2" charset="0"/>
              </a:rPr>
              <a:t>Notes: Un orchestrateur de conteneurs permet aux utilisateurs de contrôler le démarrage et l’arrêt des  conteneurs, les regrouper en clusters et coordonner tous les processus composant une application.</a:t>
            </a:r>
          </a:p>
          <a:p>
            <a:pPr marL="338455" marR="5080" indent="-326390">
              <a:lnSpc>
                <a:spcPct val="120000"/>
              </a:lnSpc>
              <a:spcBef>
                <a:spcPts val="3704"/>
              </a:spcBef>
              <a:buChar char="•"/>
              <a:tabLst>
                <a:tab pos="339090" algn="l"/>
              </a:tabLst>
            </a:pPr>
            <a:endParaRPr lang="fr-FR" sz="1800" spc="40" dirty="0">
              <a:latin typeface="Arial Black"/>
            </a:endParaRPr>
          </a:p>
        </p:txBody>
      </p:sp>
      <p:sp>
        <p:nvSpPr>
          <p:cNvPr id="2" name="Espace réservé du pied de page 1">
            <a:extLst>
              <a:ext uri="{FF2B5EF4-FFF2-40B4-BE49-F238E27FC236}">
                <a16:creationId xmlns:a16="http://schemas.microsoft.com/office/drawing/2014/main" id="{66F881DC-A804-4A58-9BD0-9B06EC63767D}"/>
              </a:ext>
            </a:extLst>
          </p:cNvPr>
          <p:cNvSpPr>
            <a:spLocks noGrp="1"/>
          </p:cNvSpPr>
          <p:nvPr>
            <p:ph type="ftr" sz="quarter" idx="11"/>
          </p:nvPr>
        </p:nvSpPr>
        <p:spPr/>
        <p:txBody>
          <a:bodyPr/>
          <a:lstStyle/>
          <a:p>
            <a:r>
              <a:rPr lang="en-US"/>
              <a:t>Dr. Bechir Ben Gouissem</a:t>
            </a:r>
            <a:endParaRPr lang="en-US" dirty="0"/>
          </a:p>
        </p:txBody>
      </p:sp>
      <p:sp>
        <p:nvSpPr>
          <p:cNvPr id="3" name="Espace réservé du numéro de diapositive 2">
            <a:extLst>
              <a:ext uri="{FF2B5EF4-FFF2-40B4-BE49-F238E27FC236}">
                <a16:creationId xmlns:a16="http://schemas.microsoft.com/office/drawing/2014/main" id="{9553CA2D-44D3-4BD2-3691-5A7FD2560F4C}"/>
              </a:ext>
            </a:extLst>
          </p:cNvPr>
          <p:cNvSpPr>
            <a:spLocks noGrp="1"/>
          </p:cNvSpPr>
          <p:nvPr>
            <p:ph type="sldNum" sz="quarter" idx="12"/>
          </p:nvPr>
        </p:nvSpPr>
        <p:spPr/>
        <p:txBody>
          <a:bodyPr/>
          <a:lstStyle/>
          <a:p>
            <a:fld id="{B82CCC60-E8CD-4174-8B1A-7DF615B22EEF}" type="slidenum">
              <a:rPr lang="en-US" smtClean="0"/>
              <a:pPr/>
              <a:t>10</a:t>
            </a:fld>
            <a:endParaRPr lang="en-US"/>
          </a:p>
        </p:txBody>
      </p:sp>
      <p:pic>
        <p:nvPicPr>
          <p:cNvPr id="6" name="Image 5">
            <a:extLst>
              <a:ext uri="{FF2B5EF4-FFF2-40B4-BE49-F238E27FC236}">
                <a16:creationId xmlns:a16="http://schemas.microsoft.com/office/drawing/2014/main" id="{BD1E8A20-6127-7523-D0F9-24C1003C6AD6}"/>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95218" y="2266341"/>
            <a:ext cx="2505227" cy="1832459"/>
          </a:xfrm>
          <a:prstGeom prst="rect">
            <a:avLst/>
          </a:prstGeom>
          <a:noFill/>
          <a:ln>
            <a:noFill/>
          </a:ln>
        </p:spPr>
      </p:pic>
    </p:spTree>
    <p:extLst>
      <p:ext uri="{BB962C8B-B14F-4D97-AF65-F5344CB8AC3E}">
        <p14:creationId xmlns:p14="http://schemas.microsoft.com/office/powerpoint/2010/main" val="1101633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6BE7D604-B8AC-9257-C5C6-8FA19C26195F}"/>
              </a:ext>
            </a:extLst>
          </p:cNvPr>
          <p:cNvSpPr>
            <a:spLocks noGrp="1"/>
          </p:cNvSpPr>
          <p:nvPr>
            <p:ph type="ftr" sz="quarter" idx="11"/>
          </p:nvPr>
        </p:nvSpPr>
        <p:spPr/>
        <p:txBody>
          <a:bodyPr/>
          <a:lstStyle/>
          <a:p>
            <a:r>
              <a:rPr lang="en-US"/>
              <a:t>Dr. Bechir Ben Gouissem</a:t>
            </a:r>
            <a:endParaRPr lang="en-US" dirty="0"/>
          </a:p>
        </p:txBody>
      </p:sp>
      <p:sp>
        <p:nvSpPr>
          <p:cNvPr id="5" name="Espace réservé du numéro de diapositive 4">
            <a:extLst>
              <a:ext uri="{FF2B5EF4-FFF2-40B4-BE49-F238E27FC236}">
                <a16:creationId xmlns:a16="http://schemas.microsoft.com/office/drawing/2014/main" id="{3FA7FF73-6E62-9706-B927-18D8627F8F3F}"/>
              </a:ext>
            </a:extLst>
          </p:cNvPr>
          <p:cNvSpPr>
            <a:spLocks noGrp="1"/>
          </p:cNvSpPr>
          <p:nvPr>
            <p:ph type="sldNum" sz="quarter" idx="12"/>
          </p:nvPr>
        </p:nvSpPr>
        <p:spPr/>
        <p:txBody>
          <a:bodyPr/>
          <a:lstStyle/>
          <a:p>
            <a:fld id="{B82CCC60-E8CD-4174-8B1A-7DF615B22EEF}" type="slidenum">
              <a:rPr lang="en-US" smtClean="0"/>
              <a:pPr/>
              <a:t>11</a:t>
            </a:fld>
            <a:endParaRPr lang="en-US"/>
          </a:p>
        </p:txBody>
      </p:sp>
      <p:pic>
        <p:nvPicPr>
          <p:cNvPr id="4098" name="Picture 2" descr="Conteneurs, images et registres Docker - .NET | Microsoft Learn">
            <a:extLst>
              <a:ext uri="{FF2B5EF4-FFF2-40B4-BE49-F238E27FC236}">
                <a16:creationId xmlns:a16="http://schemas.microsoft.com/office/drawing/2014/main" id="{44D2FB1B-D108-53DD-E739-9435D1D7E36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102393"/>
            <a:ext cx="7395607" cy="4862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1163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10C6DF0-C21B-3BBA-D148-64D8129F207B}"/>
              </a:ext>
            </a:extLst>
          </p:cNvPr>
          <p:cNvSpPr>
            <a:spLocks noGrp="1"/>
          </p:cNvSpPr>
          <p:nvPr>
            <p:ph idx="1"/>
          </p:nvPr>
        </p:nvSpPr>
        <p:spPr>
          <a:xfrm>
            <a:off x="601670" y="433881"/>
            <a:ext cx="6413610" cy="4275740"/>
          </a:xfrm>
        </p:spPr>
        <p:txBody>
          <a:bodyPr/>
          <a:lstStyle/>
          <a:p>
            <a:r>
              <a:rPr lang="fr-FR" b="0" i="0" dirty="0">
                <a:solidFill>
                  <a:srgbClr val="272C37"/>
                </a:solidFill>
                <a:effectLst/>
                <a:latin typeface="Roboto" panose="02000000000000000000" pitchFamily="2" charset="0"/>
              </a:rPr>
              <a:t>UAT: User Acceptance </a:t>
            </a:r>
            <a:r>
              <a:rPr lang="fr-FR" b="0" i="0" dirty="0" err="1">
                <a:solidFill>
                  <a:srgbClr val="272C37"/>
                </a:solidFill>
                <a:effectLst/>
                <a:latin typeface="Roboto" panose="02000000000000000000" pitchFamily="2" charset="0"/>
              </a:rPr>
              <a:t>Testing</a:t>
            </a:r>
            <a:endParaRPr lang="fr-FR" b="0" i="0" dirty="0">
              <a:solidFill>
                <a:srgbClr val="272C37"/>
              </a:solidFill>
              <a:effectLst/>
              <a:latin typeface="Roboto" panose="02000000000000000000" pitchFamily="2" charset="0"/>
            </a:endParaRPr>
          </a:p>
          <a:p>
            <a:r>
              <a:rPr lang="fr-FR" dirty="0"/>
              <a:t>QA: </a:t>
            </a:r>
            <a:r>
              <a:rPr lang="fr-FR" dirty="0" err="1"/>
              <a:t>Quality</a:t>
            </a:r>
            <a:r>
              <a:rPr lang="fr-FR" dirty="0"/>
              <a:t> Assurance</a:t>
            </a:r>
          </a:p>
        </p:txBody>
      </p:sp>
      <p:sp>
        <p:nvSpPr>
          <p:cNvPr id="4" name="Espace réservé du pied de page 3">
            <a:extLst>
              <a:ext uri="{FF2B5EF4-FFF2-40B4-BE49-F238E27FC236}">
                <a16:creationId xmlns:a16="http://schemas.microsoft.com/office/drawing/2014/main" id="{48F6BBCC-00B1-21C4-515C-845F253C0B0E}"/>
              </a:ext>
            </a:extLst>
          </p:cNvPr>
          <p:cNvSpPr>
            <a:spLocks noGrp="1"/>
          </p:cNvSpPr>
          <p:nvPr>
            <p:ph type="ftr" sz="quarter" idx="11"/>
          </p:nvPr>
        </p:nvSpPr>
        <p:spPr/>
        <p:txBody>
          <a:bodyPr/>
          <a:lstStyle/>
          <a:p>
            <a:r>
              <a:rPr lang="en-US"/>
              <a:t>Dr. Bechir Ben Gouissem</a:t>
            </a:r>
            <a:endParaRPr lang="en-US" dirty="0"/>
          </a:p>
        </p:txBody>
      </p:sp>
      <p:sp>
        <p:nvSpPr>
          <p:cNvPr id="5" name="Espace réservé du numéro de diapositive 4">
            <a:extLst>
              <a:ext uri="{FF2B5EF4-FFF2-40B4-BE49-F238E27FC236}">
                <a16:creationId xmlns:a16="http://schemas.microsoft.com/office/drawing/2014/main" id="{B845C779-CF65-98CB-B505-6133C11A05D4}"/>
              </a:ext>
            </a:extLst>
          </p:cNvPr>
          <p:cNvSpPr>
            <a:spLocks noGrp="1"/>
          </p:cNvSpPr>
          <p:nvPr>
            <p:ph type="sldNum" sz="quarter" idx="12"/>
          </p:nvPr>
        </p:nvSpPr>
        <p:spPr/>
        <p:txBody>
          <a:bodyPr/>
          <a:lstStyle/>
          <a:p>
            <a:fld id="{B82CCC60-E8CD-4174-8B1A-7DF615B22EEF}" type="slidenum">
              <a:rPr lang="en-US" smtClean="0"/>
              <a:pPr/>
              <a:t>12</a:t>
            </a:fld>
            <a:endParaRPr lang="en-US"/>
          </a:p>
        </p:txBody>
      </p:sp>
      <p:pic>
        <p:nvPicPr>
          <p:cNvPr id="6" name="object 5">
            <a:extLst>
              <a:ext uri="{FF2B5EF4-FFF2-40B4-BE49-F238E27FC236}">
                <a16:creationId xmlns:a16="http://schemas.microsoft.com/office/drawing/2014/main" id="{6C1EB5FE-210E-6640-1588-0EE5CB37BAD4}"/>
              </a:ext>
            </a:extLst>
          </p:cNvPr>
          <p:cNvPicPr/>
          <p:nvPr/>
        </p:nvPicPr>
        <p:blipFill>
          <a:blip r:embed="rId2" cstate="print"/>
          <a:stretch>
            <a:fillRect/>
          </a:stretch>
        </p:blipFill>
        <p:spPr>
          <a:xfrm>
            <a:off x="143555" y="1655520"/>
            <a:ext cx="6717600" cy="2966302"/>
          </a:xfrm>
          <a:prstGeom prst="rect">
            <a:avLst/>
          </a:prstGeom>
        </p:spPr>
      </p:pic>
    </p:spTree>
    <p:extLst>
      <p:ext uri="{BB962C8B-B14F-4D97-AF65-F5344CB8AC3E}">
        <p14:creationId xmlns:p14="http://schemas.microsoft.com/office/powerpoint/2010/main" val="2077945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BCF0F9-931D-33D5-CAC3-0DF1E72571C0}"/>
              </a:ext>
            </a:extLst>
          </p:cNvPr>
          <p:cNvSpPr>
            <a:spLocks noGrp="1"/>
          </p:cNvSpPr>
          <p:nvPr>
            <p:ph type="title"/>
          </p:nvPr>
        </p:nvSpPr>
        <p:spPr/>
        <p:txBody>
          <a:bodyPr>
            <a:normAutofit fontScale="90000"/>
          </a:bodyPr>
          <a:lstStyle/>
          <a:p>
            <a:pPr marR="5080" algn="l"/>
            <a:r>
              <a:rPr lang="fr-FR" sz="3600" dirty="0">
                <a:solidFill>
                  <a:schemeClr val="accent6"/>
                </a:solidFill>
                <a:latin typeface="Poppins" panose="00000500000000000000" pitchFamily="2" charset="0"/>
              </a:rPr>
              <a:t>Kubernetes (K8s)</a:t>
            </a:r>
          </a:p>
        </p:txBody>
      </p:sp>
      <p:sp>
        <p:nvSpPr>
          <p:cNvPr id="3" name="Espace réservé du contenu 2">
            <a:extLst>
              <a:ext uri="{FF2B5EF4-FFF2-40B4-BE49-F238E27FC236}">
                <a16:creationId xmlns:a16="http://schemas.microsoft.com/office/drawing/2014/main" id="{3E3C4677-38BD-50A3-85E0-3BE550CEF001}"/>
              </a:ext>
            </a:extLst>
          </p:cNvPr>
          <p:cNvSpPr>
            <a:spLocks noGrp="1"/>
          </p:cNvSpPr>
          <p:nvPr>
            <p:ph idx="1"/>
          </p:nvPr>
        </p:nvSpPr>
        <p:spPr>
          <a:xfrm>
            <a:off x="448965" y="1960930"/>
            <a:ext cx="7024430" cy="3182570"/>
          </a:xfrm>
        </p:spPr>
        <p:txBody>
          <a:bodyPr vert="horz" lIns="91440" tIns="45720" rIns="91440" bIns="45720" rtlCol="0">
            <a:normAutofit fontScale="40000" lnSpcReduction="20000"/>
          </a:bodyPr>
          <a:lstStyle/>
          <a:p>
            <a:pPr marR="5080" algn="l"/>
            <a:r>
              <a:rPr lang="fr-FR" sz="3800" dirty="0">
                <a:solidFill>
                  <a:srgbClr val="374151"/>
                </a:solidFill>
                <a:latin typeface="Poppins" panose="00000500000000000000" pitchFamily="2" charset="0"/>
              </a:rPr>
              <a:t>Kubernetes est une plateforme pour automatiser le déploiement, la mise à l'échelle et  la gestion des applications conteneurisées.</a:t>
            </a:r>
          </a:p>
          <a:p>
            <a:pPr marR="5080" algn="l"/>
            <a:r>
              <a:rPr lang="fr-FR" sz="3800" dirty="0">
                <a:solidFill>
                  <a:srgbClr val="374151"/>
                </a:solidFill>
                <a:latin typeface="Poppins" panose="00000500000000000000" pitchFamily="2" charset="0"/>
              </a:rPr>
              <a:t>Kubernetes a été crée par Google en 2014 et </a:t>
            </a:r>
            <a:r>
              <a:rPr lang="fr-FR" sz="3800" dirty="0" err="1">
                <a:solidFill>
                  <a:srgbClr val="374151"/>
                </a:solidFill>
                <a:latin typeface="Poppins" panose="00000500000000000000" pitchFamily="2" charset="0"/>
              </a:rPr>
              <a:t>publièe</a:t>
            </a:r>
            <a:r>
              <a:rPr lang="fr-FR" sz="3800" dirty="0">
                <a:solidFill>
                  <a:srgbClr val="374151"/>
                </a:solidFill>
                <a:latin typeface="Poppins" panose="00000500000000000000" pitchFamily="2" charset="0"/>
              </a:rPr>
              <a:t> en 2015.</a:t>
            </a:r>
          </a:p>
          <a:p>
            <a:pPr marR="5080" algn="l"/>
            <a:r>
              <a:rPr lang="fr-FR" sz="3800" dirty="0">
                <a:solidFill>
                  <a:srgbClr val="374151"/>
                </a:solidFill>
                <a:latin typeface="Poppins" panose="00000500000000000000" pitchFamily="2" charset="0"/>
              </a:rPr>
              <a:t>Parallèlement à sa publication, Google s'est associé à la Linux </a:t>
            </a:r>
            <a:r>
              <a:rPr lang="fr-FR" sz="3800" dirty="0" err="1">
                <a:solidFill>
                  <a:srgbClr val="374151"/>
                </a:solidFill>
                <a:latin typeface="Poppins" panose="00000500000000000000" pitchFamily="2" charset="0"/>
              </a:rPr>
              <a:t>Foundation</a:t>
            </a:r>
            <a:r>
              <a:rPr lang="fr-FR" sz="3800" dirty="0">
                <a:solidFill>
                  <a:srgbClr val="374151"/>
                </a:solidFill>
                <a:latin typeface="Poppins" panose="00000500000000000000" pitchFamily="2" charset="0"/>
              </a:rPr>
              <a:t> pour former la Cloud Native </a:t>
            </a:r>
            <a:r>
              <a:rPr lang="fr-FR" sz="3800" dirty="0" err="1">
                <a:solidFill>
                  <a:srgbClr val="374151"/>
                </a:solidFill>
                <a:latin typeface="Poppins" panose="00000500000000000000" pitchFamily="2" charset="0"/>
              </a:rPr>
              <a:t>Computing</a:t>
            </a:r>
            <a:r>
              <a:rPr lang="fr-FR" sz="3800" dirty="0">
                <a:solidFill>
                  <a:srgbClr val="374151"/>
                </a:solidFill>
                <a:latin typeface="Poppins" panose="00000500000000000000" pitchFamily="2" charset="0"/>
              </a:rPr>
              <a:t> </a:t>
            </a:r>
            <a:r>
              <a:rPr lang="fr-FR" sz="3800" dirty="0" err="1">
                <a:solidFill>
                  <a:srgbClr val="374151"/>
                </a:solidFill>
                <a:latin typeface="Poppins" panose="00000500000000000000" pitchFamily="2" charset="0"/>
              </a:rPr>
              <a:t>Foundation</a:t>
            </a:r>
            <a:r>
              <a:rPr lang="fr-FR" sz="3800" dirty="0">
                <a:solidFill>
                  <a:srgbClr val="374151"/>
                </a:solidFill>
                <a:latin typeface="Poppins" panose="00000500000000000000" pitchFamily="2" charset="0"/>
              </a:rPr>
              <a:t> (CNCF), et a proposé Kubernetes  comme technologie de base.</a:t>
            </a:r>
          </a:p>
          <a:p>
            <a:pPr marR="5080" algn="l"/>
            <a:r>
              <a:rPr lang="fr-FR" sz="3800" dirty="0">
                <a:solidFill>
                  <a:srgbClr val="374151"/>
                </a:solidFill>
                <a:latin typeface="Poppins" panose="00000500000000000000" pitchFamily="2" charset="0"/>
              </a:rPr>
              <a:t>Kubernetes prend en charge Docker et d’autres technologies.  </a:t>
            </a:r>
          </a:p>
          <a:p>
            <a:pPr marR="5080" algn="l"/>
            <a:r>
              <a:rPr lang="fr-FR" sz="3800" dirty="0">
                <a:solidFill>
                  <a:srgbClr val="374151"/>
                </a:solidFill>
                <a:latin typeface="Poppins" panose="00000500000000000000" pitchFamily="2" charset="0"/>
              </a:rPr>
              <a:t>Kubernetes permet de prendre en charge plusieurs Kernels et  gérer ainsi les conteneurs sur ces différents serveurs.</a:t>
            </a:r>
          </a:p>
          <a:p>
            <a:pPr marR="5080" algn="l"/>
            <a:r>
              <a:rPr lang="fr-FR" sz="3800" dirty="0">
                <a:solidFill>
                  <a:srgbClr val="374151"/>
                </a:solidFill>
                <a:latin typeface="Poppins" panose="00000500000000000000" pitchFamily="2" charset="0"/>
              </a:rPr>
              <a:t>Disponible sur les plateformes cloud : Google Container Engine,  Azure, AWS EKS, </a:t>
            </a:r>
            <a:r>
              <a:rPr lang="fr-FR" sz="3800" dirty="0" err="1">
                <a:solidFill>
                  <a:srgbClr val="374151"/>
                </a:solidFill>
                <a:latin typeface="Poppins" panose="00000500000000000000" pitchFamily="2" charset="0"/>
              </a:rPr>
              <a:t>Bluemix</a:t>
            </a:r>
            <a:r>
              <a:rPr lang="fr-FR" sz="3800" dirty="0">
                <a:solidFill>
                  <a:srgbClr val="374151"/>
                </a:solidFill>
                <a:latin typeface="Poppins" panose="00000500000000000000" pitchFamily="2" charset="0"/>
              </a:rPr>
              <a:t>, etc.</a:t>
            </a:r>
          </a:p>
          <a:p>
            <a:pPr marR="5080" algn="l"/>
            <a:r>
              <a:rPr lang="fr-FR" sz="3800" dirty="0">
                <a:solidFill>
                  <a:srgbClr val="374151"/>
                </a:solidFill>
                <a:latin typeface="Poppins" panose="00000500000000000000" pitchFamily="2" charset="0"/>
              </a:rPr>
              <a:t>Notes: Le nom Kubernetes tire son origine du grec ancien, signifiant capitaine ou </a:t>
            </a:r>
            <a:r>
              <a:rPr lang="fr-FR" sz="3800" dirty="0" err="1">
                <a:solidFill>
                  <a:srgbClr val="374151"/>
                </a:solidFill>
                <a:latin typeface="Poppins" panose="00000500000000000000" pitchFamily="2" charset="0"/>
              </a:rPr>
              <a:t>pilôte</a:t>
            </a:r>
            <a:r>
              <a:rPr lang="fr-FR" sz="3800" dirty="0">
                <a:solidFill>
                  <a:srgbClr val="374151"/>
                </a:solidFill>
                <a:latin typeface="Poppins" panose="00000500000000000000" pitchFamily="2" charset="0"/>
              </a:rPr>
              <a:t> et est la racine de gouverneur et </a:t>
            </a:r>
            <a:r>
              <a:rPr lang="fr-FR" sz="3800" dirty="0" err="1">
                <a:solidFill>
                  <a:srgbClr val="374151"/>
                </a:solidFill>
                <a:latin typeface="Poppins" panose="00000500000000000000" pitchFamily="2" charset="0"/>
              </a:rPr>
              <a:t>cybernetic</a:t>
            </a:r>
            <a:r>
              <a:rPr lang="fr-FR" sz="3800" dirty="0">
                <a:solidFill>
                  <a:srgbClr val="374151"/>
                </a:solidFill>
                <a:latin typeface="Poppins" panose="00000500000000000000" pitchFamily="2" charset="0"/>
              </a:rPr>
              <a:t>. K8s est l’abréviation dérivée par le  remplacement des 8 lettres “</a:t>
            </a:r>
            <a:r>
              <a:rPr lang="fr-FR" sz="3800" dirty="0" err="1">
                <a:solidFill>
                  <a:srgbClr val="374151"/>
                </a:solidFill>
                <a:latin typeface="Poppins" panose="00000500000000000000" pitchFamily="2" charset="0"/>
              </a:rPr>
              <a:t>ubernete</a:t>
            </a:r>
            <a:r>
              <a:rPr lang="fr-FR" sz="3800" dirty="0">
                <a:solidFill>
                  <a:srgbClr val="374151"/>
                </a:solidFill>
                <a:latin typeface="Poppins" panose="00000500000000000000" pitchFamily="2" charset="0"/>
              </a:rPr>
              <a:t>” par “8”</a:t>
            </a:r>
          </a:p>
          <a:p>
            <a:pPr marR="5080" algn="l"/>
            <a:endParaRPr lang="fr-FR" sz="3800" dirty="0">
              <a:solidFill>
                <a:srgbClr val="374151"/>
              </a:solidFill>
              <a:latin typeface="Poppins" panose="00000500000000000000" pitchFamily="2" charset="0"/>
            </a:endParaRPr>
          </a:p>
          <a:p>
            <a:pPr marR="5080" algn="l"/>
            <a:endParaRPr lang="fr-FR" sz="3800" dirty="0">
              <a:solidFill>
                <a:srgbClr val="374151"/>
              </a:solidFill>
              <a:latin typeface="Poppins" panose="00000500000000000000" pitchFamily="2" charset="0"/>
            </a:endParaRPr>
          </a:p>
        </p:txBody>
      </p:sp>
      <p:sp>
        <p:nvSpPr>
          <p:cNvPr id="4" name="Espace réservé du pied de page 3">
            <a:extLst>
              <a:ext uri="{FF2B5EF4-FFF2-40B4-BE49-F238E27FC236}">
                <a16:creationId xmlns:a16="http://schemas.microsoft.com/office/drawing/2014/main" id="{1A373BAD-8965-F93B-DC8F-89AE0E0D8DF5}"/>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C0A5CC06-1519-6769-3EFA-284727A223D4}"/>
              </a:ext>
            </a:extLst>
          </p:cNvPr>
          <p:cNvSpPr>
            <a:spLocks noGrp="1"/>
          </p:cNvSpPr>
          <p:nvPr>
            <p:ph type="sldNum" sz="quarter" idx="12"/>
          </p:nvPr>
        </p:nvSpPr>
        <p:spPr/>
        <p:txBody>
          <a:bodyPr/>
          <a:lstStyle/>
          <a:p>
            <a:fld id="{B82CCC60-E8CD-4174-8B1A-7DF615B22EEF}" type="slidenum">
              <a:rPr lang="en-US" smtClean="0"/>
              <a:pPr/>
              <a:t>13</a:t>
            </a:fld>
            <a:endParaRPr lang="en-US"/>
          </a:p>
        </p:txBody>
      </p:sp>
      <p:pic>
        <p:nvPicPr>
          <p:cNvPr id="1030" name="Picture 6" descr="What exactly is Kubernetes - Dots and Brackets: Code Blog">
            <a:extLst>
              <a:ext uri="{FF2B5EF4-FFF2-40B4-BE49-F238E27FC236}">
                <a16:creationId xmlns:a16="http://schemas.microsoft.com/office/drawing/2014/main" id="{5CA1AB5F-482E-9832-91F7-121B9BD95C5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86524" y="2368734"/>
            <a:ext cx="1818871" cy="1577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3908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7BF80F-F3A0-F432-5940-3CF9D7D742A4}"/>
              </a:ext>
            </a:extLst>
          </p:cNvPr>
          <p:cNvSpPr>
            <a:spLocks noGrp="1"/>
          </p:cNvSpPr>
          <p:nvPr>
            <p:ph type="title"/>
          </p:nvPr>
        </p:nvSpPr>
        <p:spPr/>
        <p:txBody>
          <a:bodyPr>
            <a:normAutofit fontScale="90000"/>
          </a:bodyPr>
          <a:lstStyle/>
          <a:p>
            <a:endParaRPr lang="fr-FR"/>
          </a:p>
        </p:txBody>
      </p:sp>
      <p:sp>
        <p:nvSpPr>
          <p:cNvPr id="3" name="Espace réservé du contenu 2">
            <a:extLst>
              <a:ext uri="{FF2B5EF4-FFF2-40B4-BE49-F238E27FC236}">
                <a16:creationId xmlns:a16="http://schemas.microsoft.com/office/drawing/2014/main" id="{4B12A345-E47C-6B97-774C-EA4724115D92}"/>
              </a:ext>
            </a:extLst>
          </p:cNvPr>
          <p:cNvSpPr>
            <a:spLocks noGrp="1"/>
          </p:cNvSpPr>
          <p:nvPr>
            <p:ph idx="1"/>
          </p:nvPr>
        </p:nvSpPr>
        <p:spPr/>
        <p:txBody>
          <a:bodyPr>
            <a:normAutofit fontScale="85000" lnSpcReduction="20000"/>
          </a:bodyPr>
          <a:lstStyle/>
          <a:p>
            <a:pPr algn="just"/>
            <a:r>
              <a:rPr lang="fr-FR" dirty="0"/>
              <a:t>Kubernetes unifie un cluster de machines en un seul pool de ressources informatiques. </a:t>
            </a:r>
          </a:p>
          <a:p>
            <a:pPr algn="just"/>
            <a:r>
              <a:rPr lang="fr-FR" dirty="0"/>
              <a:t>Avec Kubernetes, nous pouvons organiser les applications dans des groupes de conteneurs qui exécutent son moteur Docker pour maintenir les applications exécutées selon la demande. </a:t>
            </a:r>
          </a:p>
          <a:p>
            <a:pPr algn="just"/>
            <a:r>
              <a:rPr lang="fr-FR" dirty="0"/>
              <a:t>Kubernetes garde une trace des applications de conteneurs déployées dans le cloud</a:t>
            </a:r>
          </a:p>
        </p:txBody>
      </p:sp>
      <p:sp>
        <p:nvSpPr>
          <p:cNvPr id="4" name="Espace réservé du pied de page 3">
            <a:extLst>
              <a:ext uri="{FF2B5EF4-FFF2-40B4-BE49-F238E27FC236}">
                <a16:creationId xmlns:a16="http://schemas.microsoft.com/office/drawing/2014/main" id="{3F3538D6-05EA-2B99-4E00-8EC77616D5DE}"/>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689D41E6-5213-3C5E-A0B0-805397B52723}"/>
              </a:ext>
            </a:extLst>
          </p:cNvPr>
          <p:cNvSpPr>
            <a:spLocks noGrp="1"/>
          </p:cNvSpPr>
          <p:nvPr>
            <p:ph type="sldNum" sz="quarter" idx="12"/>
          </p:nvPr>
        </p:nvSpPr>
        <p:spPr/>
        <p:txBody>
          <a:bodyPr/>
          <a:lstStyle/>
          <a:p>
            <a:fld id="{B82CCC60-E8CD-4174-8B1A-7DF615B22EEF}" type="slidenum">
              <a:rPr lang="en-US" smtClean="0"/>
              <a:pPr/>
              <a:t>14</a:t>
            </a:fld>
            <a:endParaRPr lang="en-US"/>
          </a:p>
        </p:txBody>
      </p:sp>
    </p:spTree>
    <p:extLst>
      <p:ext uri="{BB962C8B-B14F-4D97-AF65-F5344CB8AC3E}">
        <p14:creationId xmlns:p14="http://schemas.microsoft.com/office/powerpoint/2010/main" val="386575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10C6DF0-C21B-3BBA-D148-64D8129F207B}"/>
              </a:ext>
            </a:extLst>
          </p:cNvPr>
          <p:cNvSpPr>
            <a:spLocks noGrp="1"/>
          </p:cNvSpPr>
          <p:nvPr>
            <p:ph idx="1"/>
          </p:nvPr>
        </p:nvSpPr>
        <p:spPr>
          <a:xfrm>
            <a:off x="143555" y="433881"/>
            <a:ext cx="7177135" cy="4275740"/>
          </a:xfrm>
        </p:spPr>
        <p:txBody>
          <a:bodyPr>
            <a:normAutofit fontScale="92500" lnSpcReduction="20000"/>
          </a:bodyPr>
          <a:lstStyle/>
          <a:p>
            <a:pPr marL="278765" marR="5080" indent="0">
              <a:lnSpc>
                <a:spcPct val="100800"/>
              </a:lnSpc>
              <a:spcBef>
                <a:spcPts val="2960"/>
              </a:spcBef>
              <a:buNone/>
            </a:pPr>
            <a:r>
              <a:rPr lang="fr-FR" sz="2800" spc="60" dirty="0">
                <a:latin typeface="Arial MT"/>
                <a:cs typeface="Arial MT"/>
              </a:rPr>
              <a:t>K</a:t>
            </a:r>
            <a:r>
              <a:rPr lang="fr-FR" sz="2800" spc="70" dirty="0">
                <a:latin typeface="Arial MT"/>
                <a:cs typeface="Arial MT"/>
              </a:rPr>
              <a:t>uberne</a:t>
            </a:r>
            <a:r>
              <a:rPr lang="fr-FR" sz="2800" spc="60" dirty="0">
                <a:latin typeface="Arial MT"/>
                <a:cs typeface="Arial MT"/>
              </a:rPr>
              <a:t>t</a:t>
            </a:r>
            <a:r>
              <a:rPr lang="fr-FR" sz="2800" spc="55" dirty="0">
                <a:latin typeface="Arial MT"/>
                <a:cs typeface="Arial MT"/>
              </a:rPr>
              <a:t>e</a:t>
            </a:r>
            <a:r>
              <a:rPr lang="fr-FR" sz="2800" dirty="0">
                <a:latin typeface="Arial MT"/>
                <a:cs typeface="Arial MT"/>
              </a:rPr>
              <a:t>s</a:t>
            </a:r>
            <a:r>
              <a:rPr lang="fr-FR" sz="2800" spc="95" dirty="0">
                <a:latin typeface="Arial MT"/>
                <a:cs typeface="Arial MT"/>
              </a:rPr>
              <a:t> </a:t>
            </a:r>
            <a:r>
              <a:rPr lang="fr-FR" sz="2800" spc="70" dirty="0">
                <a:latin typeface="Arial MT"/>
                <a:cs typeface="Arial MT"/>
              </a:rPr>
              <a:t>or</a:t>
            </a:r>
            <a:r>
              <a:rPr lang="fr-FR" sz="2800" spc="65" dirty="0">
                <a:latin typeface="Arial MT"/>
                <a:cs typeface="Arial MT"/>
              </a:rPr>
              <a:t>c</a:t>
            </a:r>
            <a:r>
              <a:rPr lang="fr-FR" sz="2800" spc="70" dirty="0">
                <a:latin typeface="Arial MT"/>
                <a:cs typeface="Arial MT"/>
              </a:rPr>
              <a:t>he</a:t>
            </a:r>
            <a:r>
              <a:rPr lang="fr-FR" sz="2800" spc="65" dirty="0">
                <a:latin typeface="Arial MT"/>
                <a:cs typeface="Arial MT"/>
              </a:rPr>
              <a:t>s</a:t>
            </a:r>
            <a:r>
              <a:rPr lang="fr-FR" sz="2800" spc="60" dirty="0">
                <a:latin typeface="Arial MT"/>
                <a:cs typeface="Arial MT"/>
              </a:rPr>
              <a:t>t</a:t>
            </a:r>
            <a:r>
              <a:rPr lang="fr-FR" sz="2800" spc="70" dirty="0">
                <a:latin typeface="Arial MT"/>
                <a:cs typeface="Arial MT"/>
              </a:rPr>
              <a:t>r</a:t>
            </a:r>
            <a:r>
              <a:rPr lang="fr-FR" sz="2800" dirty="0">
                <a:latin typeface="Arial MT"/>
                <a:cs typeface="Arial MT"/>
              </a:rPr>
              <a:t>e</a:t>
            </a:r>
            <a:r>
              <a:rPr lang="fr-FR" spc="100" dirty="0">
                <a:latin typeface="Arial MT"/>
                <a:cs typeface="Arial MT"/>
              </a:rPr>
              <a:t> </a:t>
            </a:r>
            <a:r>
              <a:rPr lang="fr-FR" sz="2800" spc="70" dirty="0">
                <a:latin typeface="Arial MT"/>
                <a:cs typeface="Arial MT"/>
              </a:rPr>
              <a:t>l’en</a:t>
            </a:r>
            <a:r>
              <a:rPr lang="fr-FR" sz="2800" spc="65" dirty="0">
                <a:latin typeface="Arial MT"/>
                <a:cs typeface="Arial MT"/>
              </a:rPr>
              <a:t>v</a:t>
            </a:r>
            <a:r>
              <a:rPr lang="fr-FR" sz="2800" spc="70" dirty="0">
                <a:latin typeface="Arial MT"/>
                <a:cs typeface="Arial MT"/>
              </a:rPr>
              <a:t>ir</a:t>
            </a:r>
            <a:r>
              <a:rPr lang="fr-FR" sz="2800" spc="55" dirty="0">
                <a:latin typeface="Arial MT"/>
                <a:cs typeface="Arial MT"/>
              </a:rPr>
              <a:t>o</a:t>
            </a:r>
            <a:r>
              <a:rPr lang="fr-FR" sz="2800" spc="70" dirty="0">
                <a:latin typeface="Arial MT"/>
                <a:cs typeface="Arial MT"/>
              </a:rPr>
              <a:t>n</a:t>
            </a:r>
            <a:r>
              <a:rPr lang="fr-FR" sz="2800" spc="55" dirty="0">
                <a:latin typeface="Arial MT"/>
                <a:cs typeface="Arial MT"/>
              </a:rPr>
              <a:t>ne</a:t>
            </a:r>
            <a:r>
              <a:rPr lang="fr-FR" sz="2800" spc="70" dirty="0">
                <a:latin typeface="Arial MT"/>
                <a:cs typeface="Arial MT"/>
              </a:rPr>
              <a:t>me</a:t>
            </a:r>
            <a:r>
              <a:rPr lang="fr-FR" sz="2800" spc="55" dirty="0">
                <a:latin typeface="Arial MT"/>
                <a:cs typeface="Arial MT"/>
              </a:rPr>
              <a:t>n</a:t>
            </a:r>
            <a:r>
              <a:rPr lang="fr-FR" sz="2800" dirty="0">
                <a:latin typeface="Arial MT"/>
                <a:cs typeface="Arial MT"/>
              </a:rPr>
              <a:t>t</a:t>
            </a:r>
            <a:r>
              <a:rPr lang="fr-FR" sz="2800" spc="225" dirty="0">
                <a:latin typeface="Arial MT"/>
                <a:cs typeface="Arial MT"/>
              </a:rPr>
              <a:t> </a:t>
            </a:r>
            <a:r>
              <a:rPr lang="fr-FR" sz="2800" spc="85" dirty="0">
                <a:latin typeface="Arial MT"/>
                <a:cs typeface="Arial MT"/>
              </a:rPr>
              <a:t>de</a:t>
            </a:r>
            <a:r>
              <a:rPr lang="fr-FR" sz="2800" dirty="0">
                <a:latin typeface="Arial MT"/>
                <a:cs typeface="Arial MT"/>
              </a:rPr>
              <a:t>s</a:t>
            </a:r>
            <a:r>
              <a:rPr lang="fr-FR" sz="2800" spc="135" dirty="0">
                <a:latin typeface="Arial MT"/>
                <a:cs typeface="Arial MT"/>
              </a:rPr>
              <a:t> </a:t>
            </a:r>
            <a:r>
              <a:rPr lang="fr-FR" sz="2800" spc="80" dirty="0">
                <a:latin typeface="Arial MT"/>
                <a:cs typeface="Arial MT"/>
              </a:rPr>
              <a:t>c</a:t>
            </a:r>
            <a:r>
              <a:rPr lang="fr-FR" sz="2800" spc="85" dirty="0">
                <a:latin typeface="Arial MT"/>
                <a:cs typeface="Arial MT"/>
              </a:rPr>
              <a:t>on</a:t>
            </a:r>
            <a:r>
              <a:rPr lang="fr-FR" sz="2800" spc="75" dirty="0">
                <a:latin typeface="Arial MT"/>
                <a:cs typeface="Arial MT"/>
              </a:rPr>
              <a:t>t</a:t>
            </a:r>
            <a:r>
              <a:rPr lang="fr-FR" sz="2800" spc="85" dirty="0">
                <a:latin typeface="Arial MT"/>
                <a:cs typeface="Arial MT"/>
              </a:rPr>
              <a:t>en</a:t>
            </a:r>
            <a:r>
              <a:rPr lang="fr-FR" sz="2800" spc="70" dirty="0">
                <a:latin typeface="Arial MT"/>
                <a:cs typeface="Arial MT"/>
              </a:rPr>
              <a:t>eu</a:t>
            </a:r>
            <a:r>
              <a:rPr lang="fr-FR" sz="2800" spc="85" dirty="0">
                <a:latin typeface="Arial MT"/>
                <a:cs typeface="Arial MT"/>
              </a:rPr>
              <a:t>r</a:t>
            </a:r>
            <a:r>
              <a:rPr lang="fr-FR" sz="2800" dirty="0">
                <a:latin typeface="Arial MT"/>
                <a:cs typeface="Arial MT"/>
              </a:rPr>
              <a:t>s</a:t>
            </a:r>
            <a:r>
              <a:rPr lang="fr-FR" sz="2800" spc="160" dirty="0">
                <a:latin typeface="Arial MT"/>
                <a:cs typeface="Arial MT"/>
              </a:rPr>
              <a:t> </a:t>
            </a:r>
            <a:r>
              <a:rPr lang="fr-FR" sz="2800" dirty="0">
                <a:latin typeface="Arial MT"/>
                <a:cs typeface="Arial MT"/>
              </a:rPr>
              <a:t>à </a:t>
            </a:r>
            <a:r>
              <a:rPr lang="fr-FR" sz="2800" spc="80" dirty="0">
                <a:latin typeface="Arial MT"/>
                <a:cs typeface="Arial MT"/>
              </a:rPr>
              <a:t>l’aid</a:t>
            </a:r>
            <a:r>
              <a:rPr lang="fr-FR" sz="2800" dirty="0">
                <a:latin typeface="Arial MT"/>
                <a:cs typeface="Arial MT"/>
              </a:rPr>
              <a:t>e</a:t>
            </a:r>
            <a:r>
              <a:rPr lang="fr-FR" sz="2800" spc="-285" dirty="0">
                <a:latin typeface="Arial MT"/>
                <a:cs typeface="Arial MT"/>
              </a:rPr>
              <a:t> </a:t>
            </a:r>
            <a:r>
              <a:rPr lang="fr-FR" sz="2800" spc="85" dirty="0">
                <a:latin typeface="Arial MT"/>
                <a:cs typeface="Arial MT"/>
              </a:rPr>
              <a:t>de</a:t>
            </a:r>
            <a:r>
              <a:rPr lang="fr-FR" sz="2800" dirty="0">
                <a:latin typeface="Arial MT"/>
                <a:cs typeface="Arial MT"/>
              </a:rPr>
              <a:t>s  </a:t>
            </a:r>
            <a:r>
              <a:rPr lang="fr-FR" sz="2800" spc="80" dirty="0">
                <a:latin typeface="Arial MT"/>
                <a:cs typeface="Arial MT"/>
              </a:rPr>
              <a:t>fonctionnalités</a:t>
            </a:r>
            <a:r>
              <a:rPr lang="fr-FR" sz="2800" spc="190" dirty="0">
                <a:latin typeface="Arial MT"/>
                <a:cs typeface="Arial MT"/>
              </a:rPr>
              <a:t> </a:t>
            </a:r>
            <a:r>
              <a:rPr lang="fr-FR" sz="2800" spc="45" dirty="0">
                <a:latin typeface="Arial MT"/>
                <a:cs typeface="Arial MT"/>
              </a:rPr>
              <a:t>telles</a:t>
            </a:r>
            <a:r>
              <a:rPr lang="fr-FR" sz="2800" spc="120" dirty="0">
                <a:latin typeface="Arial MT"/>
                <a:cs typeface="Arial MT"/>
              </a:rPr>
              <a:t> </a:t>
            </a:r>
            <a:r>
              <a:rPr lang="fr-FR" sz="2800" spc="55" dirty="0">
                <a:latin typeface="Arial MT"/>
                <a:cs typeface="Arial MT"/>
              </a:rPr>
              <a:t>que</a:t>
            </a:r>
            <a:r>
              <a:rPr lang="fr-FR" sz="2800" spc="-110" dirty="0">
                <a:latin typeface="Arial MT"/>
                <a:cs typeface="Arial MT"/>
              </a:rPr>
              <a:t> </a:t>
            </a:r>
            <a:r>
              <a:rPr lang="fr-FR" sz="2800" dirty="0">
                <a:latin typeface="Arial MT"/>
                <a:cs typeface="Arial MT"/>
              </a:rPr>
              <a:t>:</a:t>
            </a:r>
          </a:p>
          <a:p>
            <a:pPr marL="692150" indent="-351155">
              <a:lnSpc>
                <a:spcPct val="100000"/>
              </a:lnSpc>
              <a:spcBef>
                <a:spcPts val="265"/>
              </a:spcBef>
              <a:buChar char="•"/>
              <a:tabLst>
                <a:tab pos="692150" algn="l"/>
                <a:tab pos="692785" algn="l"/>
              </a:tabLst>
            </a:pPr>
            <a:r>
              <a:rPr lang="fr-FR" sz="2800" spc="10" dirty="0">
                <a:latin typeface="Arial MT"/>
                <a:cs typeface="Arial MT"/>
              </a:rPr>
              <a:t>La</a:t>
            </a:r>
            <a:r>
              <a:rPr lang="fr-FR" sz="2800" spc="50" dirty="0">
                <a:latin typeface="Arial MT"/>
                <a:cs typeface="Arial MT"/>
              </a:rPr>
              <a:t> </a:t>
            </a:r>
            <a:r>
              <a:rPr lang="fr-FR" sz="2800" spc="75" dirty="0">
                <a:latin typeface="Arial MT"/>
                <a:cs typeface="Arial MT"/>
              </a:rPr>
              <a:t>gestion</a:t>
            </a:r>
            <a:r>
              <a:rPr lang="fr-FR" sz="2800" spc="170" dirty="0">
                <a:latin typeface="Arial MT"/>
                <a:cs typeface="Arial MT"/>
              </a:rPr>
              <a:t> </a:t>
            </a:r>
            <a:r>
              <a:rPr lang="fr-FR" sz="2800" spc="55" dirty="0">
                <a:latin typeface="Arial MT"/>
                <a:cs typeface="Arial MT"/>
              </a:rPr>
              <a:t>des</a:t>
            </a:r>
            <a:r>
              <a:rPr lang="fr-FR" sz="2800" spc="145" dirty="0">
                <a:latin typeface="Arial MT"/>
                <a:cs typeface="Arial MT"/>
              </a:rPr>
              <a:t> </a:t>
            </a:r>
            <a:r>
              <a:rPr lang="fr-FR" sz="2800" spc="50" dirty="0">
                <a:latin typeface="Arial MT"/>
                <a:cs typeface="Arial MT"/>
              </a:rPr>
              <a:t>services</a:t>
            </a:r>
            <a:r>
              <a:rPr lang="fr-FR" sz="2800" spc="130" dirty="0">
                <a:latin typeface="Arial MT"/>
                <a:cs typeface="Arial MT"/>
              </a:rPr>
              <a:t> </a:t>
            </a:r>
            <a:r>
              <a:rPr lang="fr-FR" sz="2800" spc="90" dirty="0">
                <a:latin typeface="Arial MT"/>
                <a:cs typeface="Arial MT"/>
              </a:rPr>
              <a:t>applicatifs</a:t>
            </a:r>
            <a:r>
              <a:rPr lang="fr-FR" sz="2800" spc="215" dirty="0">
                <a:latin typeface="Arial MT"/>
                <a:cs typeface="Arial MT"/>
              </a:rPr>
              <a:t> </a:t>
            </a:r>
            <a:r>
              <a:rPr lang="fr-FR" sz="2800" spc="35" dirty="0">
                <a:latin typeface="Arial MT"/>
                <a:cs typeface="Arial MT"/>
              </a:rPr>
              <a:t>sur</a:t>
            </a:r>
            <a:r>
              <a:rPr lang="fr-FR" sz="2800" spc="130" dirty="0">
                <a:latin typeface="Arial MT"/>
                <a:cs typeface="Arial MT"/>
              </a:rPr>
              <a:t> </a:t>
            </a:r>
            <a:r>
              <a:rPr lang="fr-FR" sz="2800" spc="60" dirty="0">
                <a:latin typeface="Arial MT"/>
                <a:cs typeface="Arial MT"/>
              </a:rPr>
              <a:t>plusieurs</a:t>
            </a:r>
            <a:r>
              <a:rPr lang="fr-FR" sz="2800" spc="-370" dirty="0">
                <a:latin typeface="Arial MT"/>
                <a:cs typeface="Arial MT"/>
              </a:rPr>
              <a:t> </a:t>
            </a:r>
            <a:r>
              <a:rPr lang="fr-FR" sz="2800" spc="30" dirty="0">
                <a:latin typeface="Arial MT"/>
                <a:cs typeface="Arial MT"/>
              </a:rPr>
              <a:t>serveurs.</a:t>
            </a:r>
            <a:endParaRPr lang="fr-FR" sz="2800" dirty="0">
              <a:latin typeface="Arial MT"/>
              <a:cs typeface="Arial MT"/>
            </a:endParaRPr>
          </a:p>
          <a:p>
            <a:pPr marL="692150" indent="-351155">
              <a:lnSpc>
                <a:spcPct val="100000"/>
              </a:lnSpc>
              <a:buChar char="•"/>
              <a:tabLst>
                <a:tab pos="692150" algn="l"/>
                <a:tab pos="692785" algn="l"/>
              </a:tabLst>
            </a:pPr>
            <a:r>
              <a:rPr lang="fr-FR" sz="2800" spc="25" dirty="0">
                <a:latin typeface="Arial MT"/>
                <a:cs typeface="Arial MT"/>
              </a:rPr>
              <a:t>L</a:t>
            </a:r>
            <a:r>
              <a:rPr lang="fr-FR" sz="2800" dirty="0">
                <a:latin typeface="Arial MT"/>
                <a:cs typeface="Arial MT"/>
              </a:rPr>
              <a:t>a</a:t>
            </a:r>
            <a:r>
              <a:rPr lang="fr-FR" sz="2800" spc="50" dirty="0">
                <a:latin typeface="Arial MT"/>
                <a:cs typeface="Arial MT"/>
              </a:rPr>
              <a:t> </a:t>
            </a:r>
            <a:r>
              <a:rPr lang="fr-FR" sz="2800" spc="95" dirty="0">
                <a:latin typeface="Arial MT"/>
                <a:cs typeface="Arial MT"/>
              </a:rPr>
              <a:t>p</a:t>
            </a:r>
            <a:r>
              <a:rPr lang="fr-FR" sz="2800" spc="90" dirty="0">
                <a:latin typeface="Arial MT"/>
                <a:cs typeface="Arial MT"/>
              </a:rPr>
              <a:t>l</a:t>
            </a:r>
            <a:r>
              <a:rPr lang="fr-FR" sz="2800" spc="95" dirty="0">
                <a:latin typeface="Arial MT"/>
                <a:cs typeface="Arial MT"/>
              </a:rPr>
              <a:t>a</a:t>
            </a:r>
            <a:r>
              <a:rPr lang="fr-FR" sz="2800" spc="85" dirty="0">
                <a:latin typeface="Arial MT"/>
                <a:cs typeface="Arial MT"/>
              </a:rPr>
              <a:t>n</a:t>
            </a:r>
            <a:r>
              <a:rPr lang="fr-FR" sz="2800" spc="80" dirty="0">
                <a:latin typeface="Arial MT"/>
                <a:cs typeface="Arial MT"/>
              </a:rPr>
              <a:t>i</a:t>
            </a:r>
            <a:r>
              <a:rPr lang="fr-FR" sz="2800" spc="85" dirty="0">
                <a:latin typeface="Arial MT"/>
                <a:cs typeface="Arial MT"/>
              </a:rPr>
              <a:t>f</a:t>
            </a:r>
            <a:r>
              <a:rPr lang="fr-FR" sz="2800" spc="80" dirty="0">
                <a:latin typeface="Arial MT"/>
                <a:cs typeface="Arial MT"/>
              </a:rPr>
              <a:t>i</a:t>
            </a:r>
            <a:r>
              <a:rPr lang="fr-FR" sz="2800" spc="90" dirty="0">
                <a:latin typeface="Arial MT"/>
                <a:cs typeface="Arial MT"/>
              </a:rPr>
              <a:t>c</a:t>
            </a:r>
            <a:r>
              <a:rPr lang="fr-FR" sz="2800" spc="85" dirty="0">
                <a:latin typeface="Arial MT"/>
                <a:cs typeface="Arial MT"/>
              </a:rPr>
              <a:t>a</a:t>
            </a:r>
            <a:r>
              <a:rPr lang="fr-FR" sz="2800" spc="75" dirty="0">
                <a:latin typeface="Arial MT"/>
                <a:cs typeface="Arial MT"/>
              </a:rPr>
              <a:t>t</a:t>
            </a:r>
            <a:r>
              <a:rPr lang="fr-FR" sz="2800" spc="90" dirty="0">
                <a:latin typeface="Arial MT"/>
                <a:cs typeface="Arial MT"/>
              </a:rPr>
              <a:t>i</a:t>
            </a:r>
            <a:r>
              <a:rPr lang="fr-FR" sz="2800" spc="85" dirty="0">
                <a:latin typeface="Arial MT"/>
                <a:cs typeface="Arial MT"/>
              </a:rPr>
              <a:t>o</a:t>
            </a:r>
            <a:r>
              <a:rPr lang="fr-FR" sz="2800" dirty="0">
                <a:latin typeface="Arial MT"/>
                <a:cs typeface="Arial MT"/>
              </a:rPr>
              <a:t>n</a:t>
            </a:r>
            <a:r>
              <a:rPr lang="fr-FR" sz="2800" spc="135" dirty="0">
                <a:latin typeface="Arial MT"/>
                <a:cs typeface="Arial MT"/>
              </a:rPr>
              <a:t> </a:t>
            </a:r>
            <a:r>
              <a:rPr lang="fr-FR" sz="2800" spc="95" dirty="0">
                <a:latin typeface="Arial MT"/>
                <a:cs typeface="Arial MT"/>
              </a:rPr>
              <a:t>d</a:t>
            </a:r>
            <a:r>
              <a:rPr lang="fr-FR" sz="2800" dirty="0">
                <a:latin typeface="Arial MT"/>
                <a:cs typeface="Arial MT"/>
              </a:rPr>
              <a:t>e</a:t>
            </a:r>
            <a:r>
              <a:rPr lang="fr-FR" sz="2800" spc="215" dirty="0">
                <a:latin typeface="Arial MT"/>
                <a:cs typeface="Arial MT"/>
              </a:rPr>
              <a:t> </a:t>
            </a:r>
            <a:r>
              <a:rPr lang="fr-FR" sz="2800" spc="95" dirty="0">
                <a:latin typeface="Arial MT"/>
                <a:cs typeface="Arial MT"/>
              </a:rPr>
              <a:t>l’e</a:t>
            </a:r>
            <a:r>
              <a:rPr lang="fr-FR" sz="2800" spc="90" dirty="0">
                <a:latin typeface="Arial MT"/>
                <a:cs typeface="Arial MT"/>
              </a:rPr>
              <a:t>x</a:t>
            </a:r>
            <a:r>
              <a:rPr lang="fr-FR" sz="2800" spc="95" dirty="0">
                <a:latin typeface="Arial MT"/>
                <a:cs typeface="Arial MT"/>
              </a:rPr>
              <a:t>é</a:t>
            </a:r>
            <a:r>
              <a:rPr lang="fr-FR" sz="2800" spc="90" dirty="0">
                <a:latin typeface="Arial MT"/>
                <a:cs typeface="Arial MT"/>
              </a:rPr>
              <a:t>c</a:t>
            </a:r>
            <a:r>
              <a:rPr lang="fr-FR" sz="2800" spc="95" dirty="0">
                <a:latin typeface="Arial MT"/>
                <a:cs typeface="Arial MT"/>
              </a:rPr>
              <a:t>u</a:t>
            </a:r>
            <a:r>
              <a:rPr lang="fr-FR" sz="2800" spc="85" dirty="0">
                <a:latin typeface="Arial MT"/>
                <a:cs typeface="Arial MT"/>
              </a:rPr>
              <a:t>t</a:t>
            </a:r>
            <a:r>
              <a:rPr lang="fr-FR" sz="2800" spc="95" dirty="0">
                <a:latin typeface="Arial MT"/>
                <a:cs typeface="Arial MT"/>
              </a:rPr>
              <a:t>io</a:t>
            </a:r>
            <a:r>
              <a:rPr lang="fr-FR" sz="2800" dirty="0">
                <a:latin typeface="Arial MT"/>
                <a:cs typeface="Arial MT"/>
              </a:rPr>
              <a:t>n</a:t>
            </a:r>
            <a:r>
              <a:rPr lang="fr-FR" sz="2800" spc="225" dirty="0">
                <a:latin typeface="Arial MT"/>
                <a:cs typeface="Arial MT"/>
              </a:rPr>
              <a:t> </a:t>
            </a:r>
            <a:r>
              <a:rPr lang="fr-FR" sz="2800" spc="85" dirty="0">
                <a:latin typeface="Arial MT"/>
                <a:cs typeface="Arial MT"/>
              </a:rPr>
              <a:t>d</a:t>
            </a:r>
            <a:r>
              <a:rPr lang="fr-FR" sz="2800" spc="70" dirty="0">
                <a:latin typeface="Arial MT"/>
                <a:cs typeface="Arial MT"/>
              </a:rPr>
              <a:t>e</a:t>
            </a:r>
            <a:r>
              <a:rPr lang="fr-FR" sz="2800" dirty="0">
                <a:latin typeface="Arial MT"/>
                <a:cs typeface="Arial MT"/>
              </a:rPr>
              <a:t>s</a:t>
            </a:r>
            <a:r>
              <a:rPr lang="fr-FR" sz="2800" spc="125" dirty="0">
                <a:latin typeface="Arial MT"/>
                <a:cs typeface="Arial MT"/>
              </a:rPr>
              <a:t> </a:t>
            </a:r>
            <a:r>
              <a:rPr lang="fr-FR" sz="2800" spc="80" dirty="0">
                <a:latin typeface="Arial MT"/>
                <a:cs typeface="Arial MT"/>
              </a:rPr>
              <a:t>c</a:t>
            </a:r>
            <a:r>
              <a:rPr lang="fr-FR" sz="2800" spc="85" dirty="0">
                <a:latin typeface="Arial MT"/>
                <a:cs typeface="Arial MT"/>
              </a:rPr>
              <a:t>on</a:t>
            </a:r>
            <a:r>
              <a:rPr lang="fr-FR" sz="2800" spc="75" dirty="0">
                <a:latin typeface="Arial MT"/>
                <a:cs typeface="Arial MT"/>
              </a:rPr>
              <a:t>t</a:t>
            </a:r>
            <a:r>
              <a:rPr lang="fr-FR" sz="2800" spc="85" dirty="0">
                <a:latin typeface="Arial MT"/>
                <a:cs typeface="Arial MT"/>
              </a:rPr>
              <a:t>e</a:t>
            </a:r>
            <a:r>
              <a:rPr lang="fr-FR" sz="2800" spc="70" dirty="0">
                <a:latin typeface="Arial MT"/>
                <a:cs typeface="Arial MT"/>
              </a:rPr>
              <a:t>n</a:t>
            </a:r>
            <a:r>
              <a:rPr lang="fr-FR" sz="2800" spc="85" dirty="0">
                <a:latin typeface="Arial MT"/>
                <a:cs typeface="Arial MT"/>
              </a:rPr>
              <a:t>e</a:t>
            </a:r>
            <a:r>
              <a:rPr lang="fr-FR" sz="2800" spc="70" dirty="0">
                <a:latin typeface="Arial MT"/>
                <a:cs typeface="Arial MT"/>
              </a:rPr>
              <a:t>ur</a:t>
            </a:r>
            <a:r>
              <a:rPr lang="fr-FR" sz="2800" dirty="0">
                <a:latin typeface="Arial MT"/>
                <a:cs typeface="Arial MT"/>
              </a:rPr>
              <a:t>s</a:t>
            </a:r>
            <a:r>
              <a:rPr lang="fr-FR" sz="2800" spc="170" dirty="0">
                <a:latin typeface="Arial MT"/>
                <a:cs typeface="Arial MT"/>
              </a:rPr>
              <a:t> </a:t>
            </a:r>
            <a:r>
              <a:rPr lang="fr-FR" sz="2800" spc="70" dirty="0">
                <a:latin typeface="Arial MT"/>
                <a:cs typeface="Arial MT"/>
              </a:rPr>
              <a:t>dan</a:t>
            </a:r>
            <a:r>
              <a:rPr lang="fr-FR" sz="2800" dirty="0">
                <a:latin typeface="Arial MT"/>
                <a:cs typeface="Arial MT"/>
              </a:rPr>
              <a:t>s</a:t>
            </a:r>
            <a:r>
              <a:rPr lang="fr-FR" sz="2800" spc="145" dirty="0">
                <a:latin typeface="Arial MT"/>
                <a:cs typeface="Arial MT"/>
              </a:rPr>
              <a:t> </a:t>
            </a:r>
            <a:r>
              <a:rPr lang="fr-FR" sz="2800" spc="65" dirty="0">
                <a:latin typeface="Arial MT"/>
                <a:cs typeface="Arial MT"/>
              </a:rPr>
              <a:t>u</a:t>
            </a:r>
            <a:r>
              <a:rPr lang="fr-FR" sz="2800" dirty="0">
                <a:latin typeface="Arial MT"/>
                <a:cs typeface="Arial MT"/>
              </a:rPr>
              <a:t>n</a:t>
            </a:r>
            <a:r>
              <a:rPr lang="fr-FR" sz="2800" spc="-455" dirty="0">
                <a:latin typeface="Arial MT"/>
                <a:cs typeface="Arial MT"/>
              </a:rPr>
              <a:t> </a:t>
            </a:r>
            <a:r>
              <a:rPr lang="fr-FR" sz="2800" spc="30" dirty="0">
                <a:latin typeface="Arial MT"/>
                <a:cs typeface="Arial MT"/>
              </a:rPr>
              <a:t>cl</a:t>
            </a:r>
            <a:r>
              <a:rPr lang="fr-FR" sz="2800" spc="35" dirty="0">
                <a:latin typeface="Arial MT"/>
                <a:cs typeface="Arial MT"/>
              </a:rPr>
              <a:t>u</a:t>
            </a:r>
            <a:r>
              <a:rPr lang="fr-FR" sz="2800" spc="30" dirty="0">
                <a:latin typeface="Arial MT"/>
                <a:cs typeface="Arial MT"/>
              </a:rPr>
              <a:t>s</a:t>
            </a:r>
            <a:r>
              <a:rPr lang="fr-FR" sz="2800" spc="25" dirty="0">
                <a:latin typeface="Arial MT"/>
                <a:cs typeface="Arial MT"/>
              </a:rPr>
              <a:t>t</a:t>
            </a:r>
            <a:r>
              <a:rPr lang="fr-FR" sz="2800" spc="35" dirty="0">
                <a:latin typeface="Arial MT"/>
                <a:cs typeface="Arial MT"/>
              </a:rPr>
              <a:t>e</a:t>
            </a:r>
            <a:r>
              <a:rPr lang="fr-FR" sz="2800" spc="-150" dirty="0">
                <a:latin typeface="Arial MT"/>
                <a:cs typeface="Arial MT"/>
              </a:rPr>
              <a:t>r</a:t>
            </a:r>
            <a:r>
              <a:rPr lang="fr-FR" sz="2800" dirty="0">
                <a:latin typeface="Arial MT"/>
                <a:cs typeface="Arial MT"/>
              </a:rPr>
              <a:t>.</a:t>
            </a:r>
          </a:p>
          <a:p>
            <a:pPr marL="692150" indent="-351155">
              <a:lnSpc>
                <a:spcPct val="100000"/>
              </a:lnSpc>
              <a:spcBef>
                <a:spcPts val="5"/>
              </a:spcBef>
              <a:buChar char="•"/>
              <a:tabLst>
                <a:tab pos="692150" algn="l"/>
                <a:tab pos="692785" algn="l"/>
              </a:tabLst>
            </a:pPr>
            <a:r>
              <a:rPr lang="fr-FR" sz="2800" spc="35" dirty="0">
                <a:latin typeface="Arial MT"/>
                <a:cs typeface="Arial MT"/>
              </a:rPr>
              <a:t>Garantir</a:t>
            </a:r>
            <a:r>
              <a:rPr lang="fr-FR" sz="2800" spc="85" dirty="0">
                <a:latin typeface="Arial MT"/>
                <a:cs typeface="Arial MT"/>
              </a:rPr>
              <a:t> </a:t>
            </a:r>
            <a:r>
              <a:rPr lang="fr-FR" sz="2800" spc="75" dirty="0">
                <a:latin typeface="Arial MT"/>
                <a:cs typeface="Arial MT"/>
              </a:rPr>
              <a:t>l’intégrité</a:t>
            </a:r>
            <a:r>
              <a:rPr lang="fr-FR" sz="2800" spc="185" dirty="0">
                <a:latin typeface="Arial MT"/>
                <a:cs typeface="Arial MT"/>
              </a:rPr>
              <a:t> </a:t>
            </a:r>
            <a:r>
              <a:rPr lang="fr-FR" sz="2800" spc="60" dirty="0">
                <a:latin typeface="Arial MT"/>
                <a:cs typeface="Arial MT"/>
              </a:rPr>
              <a:t>du</a:t>
            </a:r>
            <a:r>
              <a:rPr lang="fr-FR" sz="2800" spc="-35" dirty="0">
                <a:latin typeface="Arial MT"/>
                <a:cs typeface="Arial MT"/>
              </a:rPr>
              <a:t> </a:t>
            </a:r>
            <a:r>
              <a:rPr lang="fr-FR" sz="2800" spc="10" dirty="0">
                <a:latin typeface="Arial MT"/>
                <a:cs typeface="Arial MT"/>
              </a:rPr>
              <a:t>conteneur.</a:t>
            </a:r>
            <a:endParaRPr lang="fr-FR" sz="2800" dirty="0">
              <a:latin typeface="Arial MT"/>
              <a:cs typeface="Arial MT"/>
            </a:endParaRPr>
          </a:p>
          <a:p>
            <a:pPr marL="692150" indent="-351155">
              <a:lnSpc>
                <a:spcPct val="100000"/>
              </a:lnSpc>
              <a:buChar char="•"/>
              <a:tabLst>
                <a:tab pos="692150" algn="l"/>
                <a:tab pos="692785" algn="l"/>
              </a:tabLst>
            </a:pPr>
            <a:r>
              <a:rPr lang="fr-FR" sz="2800" spc="50" dirty="0">
                <a:latin typeface="Arial MT"/>
                <a:cs typeface="Arial MT"/>
              </a:rPr>
              <a:t>Equilibrage</a:t>
            </a:r>
            <a:r>
              <a:rPr lang="fr-FR" sz="2800" spc="135" dirty="0">
                <a:latin typeface="Arial MT"/>
                <a:cs typeface="Arial MT"/>
              </a:rPr>
              <a:t> </a:t>
            </a:r>
            <a:r>
              <a:rPr lang="fr-FR" sz="2800" spc="50" dirty="0">
                <a:latin typeface="Arial MT"/>
                <a:cs typeface="Arial MT"/>
              </a:rPr>
              <a:t>de</a:t>
            </a:r>
            <a:r>
              <a:rPr lang="fr-FR" sz="2800" spc="-40" dirty="0">
                <a:latin typeface="Arial MT"/>
                <a:cs typeface="Arial MT"/>
              </a:rPr>
              <a:t> </a:t>
            </a:r>
            <a:r>
              <a:rPr lang="fr-FR" sz="2800" spc="50" dirty="0">
                <a:latin typeface="Arial MT"/>
                <a:cs typeface="Arial MT"/>
              </a:rPr>
              <a:t>charge.</a:t>
            </a:r>
            <a:endParaRPr lang="fr-FR" sz="2800" dirty="0">
              <a:latin typeface="Arial MT"/>
              <a:cs typeface="Arial MT"/>
            </a:endParaRPr>
          </a:p>
          <a:p>
            <a:pPr marL="692150" indent="-351155">
              <a:lnSpc>
                <a:spcPct val="100000"/>
              </a:lnSpc>
              <a:buChar char="•"/>
              <a:tabLst>
                <a:tab pos="692150" algn="l"/>
                <a:tab pos="692785" algn="l"/>
              </a:tabLst>
            </a:pPr>
            <a:r>
              <a:rPr lang="fr-FR" sz="2800" spc="25" dirty="0">
                <a:latin typeface="Arial MT"/>
                <a:cs typeface="Arial MT"/>
              </a:rPr>
              <a:t>Passage</a:t>
            </a:r>
            <a:r>
              <a:rPr lang="fr-FR" sz="2800" spc="50" dirty="0">
                <a:latin typeface="Arial MT"/>
                <a:cs typeface="Arial MT"/>
              </a:rPr>
              <a:t> </a:t>
            </a:r>
            <a:r>
              <a:rPr lang="fr-FR" sz="2800" dirty="0">
                <a:latin typeface="Arial MT"/>
                <a:cs typeface="Arial MT"/>
              </a:rPr>
              <a:t>à</a:t>
            </a:r>
            <a:r>
              <a:rPr lang="fr-FR" sz="2800" spc="-20" dirty="0">
                <a:latin typeface="Arial MT"/>
                <a:cs typeface="Arial MT"/>
              </a:rPr>
              <a:t> </a:t>
            </a:r>
            <a:r>
              <a:rPr lang="fr-FR" sz="2800" spc="60" dirty="0">
                <a:latin typeface="Arial MT"/>
                <a:cs typeface="Arial MT"/>
              </a:rPr>
              <a:t>l’échelle</a:t>
            </a:r>
            <a:r>
              <a:rPr lang="fr-FR" sz="2800" spc="114" dirty="0">
                <a:latin typeface="Arial MT"/>
                <a:cs typeface="Arial MT"/>
              </a:rPr>
              <a:t> </a:t>
            </a:r>
            <a:r>
              <a:rPr lang="fr-FR" sz="2800" dirty="0">
                <a:latin typeface="Arial MT"/>
                <a:cs typeface="Arial MT"/>
              </a:rPr>
              <a:t>:</a:t>
            </a:r>
            <a:r>
              <a:rPr lang="fr-FR" sz="2800" spc="-140" dirty="0">
                <a:latin typeface="Arial MT"/>
                <a:cs typeface="Arial MT"/>
              </a:rPr>
              <a:t> </a:t>
            </a:r>
            <a:r>
              <a:rPr lang="fr-FR" sz="2800" spc="60" dirty="0">
                <a:latin typeface="Arial MT"/>
                <a:cs typeface="Arial MT"/>
              </a:rPr>
              <a:t>évolutivité.</a:t>
            </a:r>
            <a:endParaRPr lang="fr-FR" sz="2800" dirty="0">
              <a:latin typeface="Arial MT"/>
              <a:cs typeface="Arial MT"/>
            </a:endParaRPr>
          </a:p>
          <a:p>
            <a:pPr marL="692150" indent="-351155">
              <a:lnSpc>
                <a:spcPct val="100000"/>
              </a:lnSpc>
              <a:buChar char="•"/>
              <a:tabLst>
                <a:tab pos="692150" algn="l"/>
                <a:tab pos="692785" algn="l"/>
              </a:tabLst>
            </a:pPr>
            <a:r>
              <a:rPr lang="fr-FR" sz="2800" spc="25" dirty="0">
                <a:latin typeface="Arial MT"/>
                <a:cs typeface="Arial MT"/>
              </a:rPr>
              <a:t>Assurer</a:t>
            </a:r>
            <a:r>
              <a:rPr lang="fr-FR" sz="2800" spc="45" dirty="0">
                <a:latin typeface="Arial MT"/>
                <a:cs typeface="Arial MT"/>
              </a:rPr>
              <a:t> </a:t>
            </a:r>
            <a:r>
              <a:rPr lang="fr-FR" sz="2800" spc="15" dirty="0">
                <a:latin typeface="Arial MT"/>
                <a:cs typeface="Arial MT"/>
              </a:rPr>
              <a:t>le</a:t>
            </a:r>
            <a:r>
              <a:rPr lang="fr-FR" sz="2800" spc="-45" dirty="0">
                <a:latin typeface="Arial MT"/>
                <a:cs typeface="Arial MT"/>
              </a:rPr>
              <a:t> </a:t>
            </a:r>
            <a:r>
              <a:rPr lang="fr-FR" sz="2800" spc="80" dirty="0">
                <a:latin typeface="Arial MT"/>
                <a:cs typeface="Arial MT"/>
              </a:rPr>
              <a:t>monitoring.</a:t>
            </a:r>
            <a:endParaRPr lang="fr-FR" sz="2800" dirty="0">
              <a:latin typeface="Arial MT"/>
              <a:cs typeface="Arial MT"/>
            </a:endParaRPr>
          </a:p>
        </p:txBody>
      </p:sp>
      <p:sp>
        <p:nvSpPr>
          <p:cNvPr id="4" name="Espace réservé du pied de page 3">
            <a:extLst>
              <a:ext uri="{FF2B5EF4-FFF2-40B4-BE49-F238E27FC236}">
                <a16:creationId xmlns:a16="http://schemas.microsoft.com/office/drawing/2014/main" id="{48F6BBCC-00B1-21C4-515C-845F253C0B0E}"/>
              </a:ext>
            </a:extLst>
          </p:cNvPr>
          <p:cNvSpPr>
            <a:spLocks noGrp="1"/>
          </p:cNvSpPr>
          <p:nvPr>
            <p:ph type="ftr" sz="quarter" idx="11"/>
          </p:nvPr>
        </p:nvSpPr>
        <p:spPr/>
        <p:txBody>
          <a:bodyPr/>
          <a:lstStyle/>
          <a:p>
            <a:r>
              <a:rPr lang="en-US"/>
              <a:t>Dr. Bechir Ben Gouissem</a:t>
            </a:r>
            <a:endParaRPr lang="en-US" dirty="0"/>
          </a:p>
        </p:txBody>
      </p:sp>
      <p:sp>
        <p:nvSpPr>
          <p:cNvPr id="5" name="Espace réservé du numéro de diapositive 4">
            <a:extLst>
              <a:ext uri="{FF2B5EF4-FFF2-40B4-BE49-F238E27FC236}">
                <a16:creationId xmlns:a16="http://schemas.microsoft.com/office/drawing/2014/main" id="{B845C779-CF65-98CB-B505-6133C11A05D4}"/>
              </a:ext>
            </a:extLst>
          </p:cNvPr>
          <p:cNvSpPr>
            <a:spLocks noGrp="1"/>
          </p:cNvSpPr>
          <p:nvPr>
            <p:ph type="sldNum" sz="quarter" idx="12"/>
          </p:nvPr>
        </p:nvSpPr>
        <p:spPr/>
        <p:txBody>
          <a:bodyPr/>
          <a:lstStyle/>
          <a:p>
            <a:fld id="{B82CCC60-E8CD-4174-8B1A-7DF615B22EEF}" type="slidenum">
              <a:rPr lang="en-US" smtClean="0"/>
              <a:pPr/>
              <a:t>15</a:t>
            </a:fld>
            <a:endParaRPr lang="en-US"/>
          </a:p>
        </p:txBody>
      </p:sp>
    </p:spTree>
    <p:extLst>
      <p:ext uri="{BB962C8B-B14F-4D97-AF65-F5344CB8AC3E}">
        <p14:creationId xmlns:p14="http://schemas.microsoft.com/office/powerpoint/2010/main" val="1898645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A772DA-D4EA-146A-6550-CC02B0853CB1}"/>
              </a:ext>
            </a:extLst>
          </p:cNvPr>
          <p:cNvSpPr>
            <a:spLocks noGrp="1"/>
          </p:cNvSpPr>
          <p:nvPr>
            <p:ph type="title"/>
          </p:nvPr>
        </p:nvSpPr>
        <p:spPr/>
        <p:txBody>
          <a:bodyPr>
            <a:normAutofit fontScale="90000"/>
          </a:bodyPr>
          <a:lstStyle/>
          <a:p>
            <a:r>
              <a:rPr lang="fr-FR" dirty="0"/>
              <a:t>Caractéristiques de Kubernetes</a:t>
            </a:r>
          </a:p>
        </p:txBody>
      </p:sp>
      <p:sp>
        <p:nvSpPr>
          <p:cNvPr id="3" name="Espace réservé du contenu 2">
            <a:extLst>
              <a:ext uri="{FF2B5EF4-FFF2-40B4-BE49-F238E27FC236}">
                <a16:creationId xmlns:a16="http://schemas.microsoft.com/office/drawing/2014/main" id="{8A7BB0F3-8804-C238-B5AD-E5DB51C81820}"/>
              </a:ext>
            </a:extLst>
          </p:cNvPr>
          <p:cNvSpPr>
            <a:spLocks noGrp="1"/>
          </p:cNvSpPr>
          <p:nvPr>
            <p:ph idx="1"/>
          </p:nvPr>
        </p:nvSpPr>
        <p:spPr>
          <a:xfrm>
            <a:off x="601670" y="1087714"/>
            <a:ext cx="6413610" cy="3816471"/>
          </a:xfrm>
        </p:spPr>
        <p:txBody>
          <a:bodyPr>
            <a:normAutofit fontScale="62500" lnSpcReduction="20000"/>
          </a:bodyPr>
          <a:lstStyle/>
          <a:p>
            <a:r>
              <a:rPr lang="fr-FR" dirty="0"/>
              <a:t>Calculez la planification en tenant compte des besoins en ressources des conteneurs, </a:t>
            </a:r>
          </a:p>
          <a:p>
            <a:r>
              <a:rPr lang="fr-FR" dirty="0"/>
              <a:t>trouvez le bon endroit et exécutez-les automatiquement.</a:t>
            </a:r>
          </a:p>
          <a:p>
            <a:r>
              <a:rPr lang="fr-FR" dirty="0"/>
              <a:t>De nature auto-réparatrice, donc si le conteneur tombe en panne, un nouveau sera créé pour le remplacer.</a:t>
            </a:r>
          </a:p>
          <a:p>
            <a:r>
              <a:rPr lang="fr-FR" dirty="0"/>
              <a:t>La mise à l'échelle horizontale peut être réalisée en observant les métriques du processeur et de la mémoire, en ajoutant et en supprimant des instances selon les besoins.</a:t>
            </a:r>
          </a:p>
          <a:p>
            <a:r>
              <a:rPr lang="fr-FR" dirty="0"/>
              <a:t>La gestion des volumes est simple car elle gère le stockage persistant utilisé par les applications.</a:t>
            </a:r>
          </a:p>
          <a:p>
            <a:r>
              <a:rPr lang="fr-FR" dirty="0"/>
              <a:t>Adresse IP, DNS et équilibrage de charge de plusieurs instances.</a:t>
            </a:r>
          </a:p>
          <a:p>
            <a:r>
              <a:rPr lang="fr-FR" dirty="0"/>
              <a:t>Pendant la mise à niveau, l'état des nouvelles instances est surveillé et en cas d'échec, la restauration se produit automatiquement vers la version précédente.</a:t>
            </a:r>
          </a:p>
          <a:p>
            <a:r>
              <a:rPr lang="fr-FR" dirty="0"/>
              <a:t>Gestion de la configuration et des secrets des applications.</a:t>
            </a:r>
          </a:p>
        </p:txBody>
      </p:sp>
      <p:sp>
        <p:nvSpPr>
          <p:cNvPr id="4" name="Espace réservé du pied de page 3">
            <a:extLst>
              <a:ext uri="{FF2B5EF4-FFF2-40B4-BE49-F238E27FC236}">
                <a16:creationId xmlns:a16="http://schemas.microsoft.com/office/drawing/2014/main" id="{11B2DC8C-3842-54C3-1B43-513CC54BBC57}"/>
              </a:ext>
            </a:extLst>
          </p:cNvPr>
          <p:cNvSpPr>
            <a:spLocks noGrp="1"/>
          </p:cNvSpPr>
          <p:nvPr>
            <p:ph type="ftr" sz="quarter" idx="11"/>
          </p:nvPr>
        </p:nvSpPr>
        <p:spPr/>
        <p:txBody>
          <a:bodyPr/>
          <a:lstStyle/>
          <a:p>
            <a:r>
              <a:rPr lang="en-US"/>
              <a:t>Dr. Bechir Ben Gouissem</a:t>
            </a:r>
            <a:endParaRPr lang="en-US" dirty="0"/>
          </a:p>
        </p:txBody>
      </p:sp>
      <p:sp>
        <p:nvSpPr>
          <p:cNvPr id="5" name="Espace réservé du numéro de diapositive 4">
            <a:extLst>
              <a:ext uri="{FF2B5EF4-FFF2-40B4-BE49-F238E27FC236}">
                <a16:creationId xmlns:a16="http://schemas.microsoft.com/office/drawing/2014/main" id="{1713E70A-757A-8E88-7622-7BDF99BF9F5F}"/>
              </a:ext>
            </a:extLst>
          </p:cNvPr>
          <p:cNvSpPr>
            <a:spLocks noGrp="1"/>
          </p:cNvSpPr>
          <p:nvPr>
            <p:ph type="sldNum" sz="quarter" idx="12"/>
          </p:nvPr>
        </p:nvSpPr>
        <p:spPr/>
        <p:txBody>
          <a:bodyPr/>
          <a:lstStyle/>
          <a:p>
            <a:fld id="{B82CCC60-E8CD-4174-8B1A-7DF615B22EEF}" type="slidenum">
              <a:rPr lang="en-US" smtClean="0"/>
              <a:pPr/>
              <a:t>16</a:t>
            </a:fld>
            <a:endParaRPr lang="en-US"/>
          </a:p>
        </p:txBody>
      </p:sp>
    </p:spTree>
    <p:extLst>
      <p:ext uri="{BB962C8B-B14F-4D97-AF65-F5344CB8AC3E}">
        <p14:creationId xmlns:p14="http://schemas.microsoft.com/office/powerpoint/2010/main" val="965294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6021953B-5A3F-7AE3-7B56-DFCF2C5D992B}"/>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AE1B608F-738C-EB98-9AB1-7278C8190259}"/>
              </a:ext>
            </a:extLst>
          </p:cNvPr>
          <p:cNvSpPr>
            <a:spLocks noGrp="1"/>
          </p:cNvSpPr>
          <p:nvPr>
            <p:ph type="sldNum" sz="quarter" idx="12"/>
          </p:nvPr>
        </p:nvSpPr>
        <p:spPr/>
        <p:txBody>
          <a:bodyPr/>
          <a:lstStyle/>
          <a:p>
            <a:fld id="{B82CCC60-E8CD-4174-8B1A-7DF615B22EEF}" type="slidenum">
              <a:rPr lang="en-US" smtClean="0"/>
              <a:pPr/>
              <a:t>17</a:t>
            </a:fld>
            <a:endParaRPr lang="en-US"/>
          </a:p>
        </p:txBody>
      </p:sp>
      <p:pic>
        <p:nvPicPr>
          <p:cNvPr id="7" name="Image 6">
            <a:extLst>
              <a:ext uri="{FF2B5EF4-FFF2-40B4-BE49-F238E27FC236}">
                <a16:creationId xmlns:a16="http://schemas.microsoft.com/office/drawing/2014/main" id="{F07AF23A-5656-4C31-EE0F-3A77B5D223A5}"/>
              </a:ext>
            </a:extLst>
          </p:cNvPr>
          <p:cNvPicPr>
            <a:picLocks noChangeAspect="1"/>
          </p:cNvPicPr>
          <p:nvPr/>
        </p:nvPicPr>
        <p:blipFill>
          <a:blip r:embed="rId2"/>
          <a:stretch>
            <a:fillRect/>
          </a:stretch>
        </p:blipFill>
        <p:spPr>
          <a:xfrm>
            <a:off x="835302" y="1495031"/>
            <a:ext cx="7473395" cy="3272232"/>
          </a:xfrm>
          <a:prstGeom prst="rect">
            <a:avLst/>
          </a:prstGeom>
        </p:spPr>
      </p:pic>
    </p:spTree>
    <p:extLst>
      <p:ext uri="{BB962C8B-B14F-4D97-AF65-F5344CB8AC3E}">
        <p14:creationId xmlns:p14="http://schemas.microsoft.com/office/powerpoint/2010/main" val="96322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89D169-EB3C-C097-3A72-A816C8CC69ED}"/>
              </a:ext>
            </a:extLst>
          </p:cNvPr>
          <p:cNvSpPr>
            <a:spLocks noGrp="1"/>
          </p:cNvSpPr>
          <p:nvPr>
            <p:ph type="title"/>
          </p:nvPr>
        </p:nvSpPr>
        <p:spPr/>
        <p:txBody>
          <a:bodyPr>
            <a:normAutofit fontScale="90000"/>
          </a:bodyPr>
          <a:lstStyle/>
          <a:p>
            <a:r>
              <a:rPr lang="fr-FR" dirty="0"/>
              <a:t>Le plan de contrôle</a:t>
            </a:r>
          </a:p>
        </p:txBody>
      </p:sp>
      <p:sp>
        <p:nvSpPr>
          <p:cNvPr id="3" name="Espace réservé du contenu 2">
            <a:extLst>
              <a:ext uri="{FF2B5EF4-FFF2-40B4-BE49-F238E27FC236}">
                <a16:creationId xmlns:a16="http://schemas.microsoft.com/office/drawing/2014/main" id="{3BBA546A-378B-5D38-997C-A42FD03FDD7C}"/>
              </a:ext>
            </a:extLst>
          </p:cNvPr>
          <p:cNvSpPr>
            <a:spLocks noGrp="1"/>
          </p:cNvSpPr>
          <p:nvPr>
            <p:ph idx="1"/>
          </p:nvPr>
        </p:nvSpPr>
        <p:spPr/>
        <p:txBody>
          <a:bodyPr>
            <a:normAutofit fontScale="70000" lnSpcReduction="20000"/>
          </a:bodyPr>
          <a:lstStyle/>
          <a:p>
            <a:pPr algn="just"/>
            <a:r>
              <a:rPr lang="fr-FR" dirty="0"/>
              <a:t>Le plan de contrôle comprend plusieurs composants tels qu'un serveur API, un magasin de métadonnées pour maintenir l'état du cluster, plusieurs contrôleurs pour gérer les nœuds dans le plan de données et permettre l'accès des utilisateurs. </a:t>
            </a:r>
          </a:p>
          <a:p>
            <a:pPr algn="just"/>
            <a:r>
              <a:rPr lang="fr-FR" dirty="0"/>
              <a:t>Le plan de contrôle est réparti sur plusieurs systèmes pour une haute disponibilité et une infrastructure robuste. </a:t>
            </a:r>
          </a:p>
          <a:p>
            <a:pPr algn="just"/>
            <a:r>
              <a:rPr lang="fr-FR" dirty="0"/>
              <a:t>Le plan de données comprend plusieurs nœuds ou travailleurs. </a:t>
            </a:r>
          </a:p>
          <a:p>
            <a:pPr algn="just"/>
            <a:r>
              <a:rPr lang="fr-FR" dirty="0"/>
              <a:t>Le plan de contrôle déploie et exécute des </a:t>
            </a:r>
            <a:r>
              <a:rPr lang="fr-FR" dirty="0" err="1"/>
              <a:t>pods</a:t>
            </a:r>
            <a:r>
              <a:rPr lang="fr-FR" dirty="0"/>
              <a:t> (un groupe de conteneurs) sur les nœuds, recherche les modifications et répond. Examinons en détail les composants de l'architecture Kubernetes.</a:t>
            </a:r>
          </a:p>
        </p:txBody>
      </p:sp>
      <p:sp>
        <p:nvSpPr>
          <p:cNvPr id="4" name="Espace réservé du pied de page 3">
            <a:extLst>
              <a:ext uri="{FF2B5EF4-FFF2-40B4-BE49-F238E27FC236}">
                <a16:creationId xmlns:a16="http://schemas.microsoft.com/office/drawing/2014/main" id="{4356D80E-997B-2A80-2AD1-FB7C4E114FF3}"/>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573DB41C-CDF1-D246-DCDF-23AE7BC15612}"/>
              </a:ext>
            </a:extLst>
          </p:cNvPr>
          <p:cNvSpPr>
            <a:spLocks noGrp="1"/>
          </p:cNvSpPr>
          <p:nvPr>
            <p:ph type="sldNum" sz="quarter" idx="12"/>
          </p:nvPr>
        </p:nvSpPr>
        <p:spPr/>
        <p:txBody>
          <a:bodyPr/>
          <a:lstStyle/>
          <a:p>
            <a:fld id="{B82CCC60-E8CD-4174-8B1A-7DF615B22EEF}" type="slidenum">
              <a:rPr lang="en-US" smtClean="0"/>
              <a:pPr/>
              <a:t>18</a:t>
            </a:fld>
            <a:endParaRPr lang="en-US"/>
          </a:p>
        </p:txBody>
      </p:sp>
    </p:spTree>
    <p:extLst>
      <p:ext uri="{BB962C8B-B14F-4D97-AF65-F5344CB8AC3E}">
        <p14:creationId xmlns:p14="http://schemas.microsoft.com/office/powerpoint/2010/main" val="595695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E1DE80B-4F88-6D0D-41A0-A2ECCCE44D99}"/>
              </a:ext>
            </a:extLst>
          </p:cNvPr>
          <p:cNvSpPr>
            <a:spLocks noGrp="1"/>
          </p:cNvSpPr>
          <p:nvPr>
            <p:ph idx="1"/>
          </p:nvPr>
        </p:nvSpPr>
        <p:spPr>
          <a:xfrm>
            <a:off x="448966" y="1502815"/>
            <a:ext cx="8246070" cy="3206799"/>
          </a:xfrm>
        </p:spPr>
        <p:txBody>
          <a:bodyPr>
            <a:normAutofit fontScale="85000" lnSpcReduction="20000"/>
          </a:bodyPr>
          <a:lstStyle/>
          <a:p>
            <a:pPr algn="just"/>
            <a:r>
              <a:rPr lang="fr-FR" b="1" dirty="0" err="1"/>
              <a:t>Kubectl</a:t>
            </a:r>
            <a:r>
              <a:rPr lang="fr-FR" dirty="0"/>
              <a:t> s'agit d'un outil de ligne de commande utilisé pour interagir avec le cluster Kubernetes. Le plan de contrôle comprend le serveur API, le magasin de métadonnées </a:t>
            </a:r>
            <a:r>
              <a:rPr lang="fr-FR" dirty="0" err="1"/>
              <a:t>etc</a:t>
            </a:r>
            <a:r>
              <a:rPr lang="fr-FR" dirty="0"/>
              <a:t>, le planificateur, le gestionnaire de contrôleur et le gestionnaire de contrôleur cloud.</a:t>
            </a:r>
          </a:p>
          <a:p>
            <a:pPr algn="just"/>
            <a:r>
              <a:rPr lang="fr-FR" b="1" dirty="0"/>
              <a:t>Serveur API </a:t>
            </a:r>
            <a:r>
              <a:rPr lang="fr-FR" dirty="0"/>
              <a:t>Le serveur API </a:t>
            </a:r>
            <a:r>
              <a:rPr lang="fr-FR" dirty="0" err="1"/>
              <a:t>Kube</a:t>
            </a:r>
            <a:r>
              <a:rPr lang="fr-FR" dirty="0"/>
              <a:t> est un serveur REST qui expose les API Kubernetes au monde extérieur. Nous pouvons avoir plusieurs instances de serveur API dans le plan de contrôle pour une haute disponibilité. L'état du cluster du serveur API est conservé dans </a:t>
            </a:r>
            <a:r>
              <a:rPr lang="fr-FR" dirty="0" err="1"/>
              <a:t>etcd</a:t>
            </a:r>
            <a:r>
              <a:rPr lang="fr-FR" dirty="0"/>
              <a:t>.</a:t>
            </a:r>
          </a:p>
        </p:txBody>
      </p:sp>
      <p:sp>
        <p:nvSpPr>
          <p:cNvPr id="4" name="Espace réservé du pied de page 3">
            <a:extLst>
              <a:ext uri="{FF2B5EF4-FFF2-40B4-BE49-F238E27FC236}">
                <a16:creationId xmlns:a16="http://schemas.microsoft.com/office/drawing/2014/main" id="{F66F8952-A294-A6C5-3B94-4D643AD43755}"/>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9A03BC8E-AC5D-3472-C907-27EC6324F98C}"/>
              </a:ext>
            </a:extLst>
          </p:cNvPr>
          <p:cNvSpPr>
            <a:spLocks noGrp="1"/>
          </p:cNvSpPr>
          <p:nvPr>
            <p:ph type="sldNum" sz="quarter" idx="12"/>
          </p:nvPr>
        </p:nvSpPr>
        <p:spPr/>
        <p:txBody>
          <a:bodyPr/>
          <a:lstStyle/>
          <a:p>
            <a:fld id="{B82CCC60-E8CD-4174-8B1A-7DF615B22EEF}" type="slidenum">
              <a:rPr lang="en-US" smtClean="0"/>
              <a:pPr/>
              <a:t>19</a:t>
            </a:fld>
            <a:endParaRPr lang="en-US"/>
          </a:p>
        </p:txBody>
      </p:sp>
    </p:spTree>
    <p:extLst>
      <p:ext uri="{BB962C8B-B14F-4D97-AF65-F5344CB8AC3E}">
        <p14:creationId xmlns:p14="http://schemas.microsoft.com/office/powerpoint/2010/main" val="3336039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12285DE-8480-5733-F4AD-375D52E9DA3F}"/>
              </a:ext>
            </a:extLst>
          </p:cNvPr>
          <p:cNvSpPr>
            <a:spLocks noGrp="1"/>
          </p:cNvSpPr>
          <p:nvPr>
            <p:ph idx="1"/>
          </p:nvPr>
        </p:nvSpPr>
        <p:spPr>
          <a:xfrm>
            <a:off x="143555" y="1350110"/>
            <a:ext cx="8856889" cy="3690997"/>
          </a:xfrm>
        </p:spPr>
        <p:txBody>
          <a:bodyPr>
            <a:normAutofit fontScale="77500" lnSpcReduction="20000"/>
          </a:bodyPr>
          <a:lstStyle/>
          <a:p>
            <a:pPr algn="l"/>
            <a:r>
              <a:rPr lang="fr-FR" b="1" i="0" dirty="0">
                <a:solidFill>
                  <a:srgbClr val="222222"/>
                </a:solidFill>
                <a:effectLst/>
                <a:latin typeface="-apple-system"/>
              </a:rPr>
              <a:t>Magasin </a:t>
            </a:r>
            <a:r>
              <a:rPr lang="fr-FR" b="1" i="0" dirty="0" err="1">
                <a:solidFill>
                  <a:srgbClr val="222222"/>
                </a:solidFill>
                <a:effectLst/>
                <a:latin typeface="-apple-system"/>
              </a:rPr>
              <a:t>etcd</a:t>
            </a:r>
            <a:r>
              <a:rPr lang="fr-FR" b="1" i="0" dirty="0">
                <a:solidFill>
                  <a:srgbClr val="222222"/>
                </a:solidFill>
                <a:effectLst/>
                <a:latin typeface="-apple-system"/>
              </a:rPr>
              <a:t>: </a:t>
            </a:r>
            <a:r>
              <a:rPr lang="fr-FR" i="0" dirty="0">
                <a:solidFill>
                  <a:srgbClr val="222222"/>
                </a:solidFill>
                <a:effectLst/>
                <a:latin typeface="-apple-system"/>
              </a:rPr>
              <a:t>Le cluster complet est stocké dans </a:t>
            </a:r>
            <a:r>
              <a:rPr lang="fr-FR" i="0" dirty="0" err="1">
                <a:solidFill>
                  <a:srgbClr val="222222"/>
                </a:solidFill>
                <a:effectLst/>
                <a:latin typeface="-apple-system"/>
              </a:rPr>
              <a:t>etcd</a:t>
            </a:r>
            <a:r>
              <a:rPr lang="fr-FR" i="0" dirty="0">
                <a:solidFill>
                  <a:srgbClr val="222222"/>
                </a:solidFill>
                <a:effectLst/>
                <a:latin typeface="-apple-system"/>
              </a:rPr>
              <a:t> (https://coreos.com/etcd/) , qui est un magasin de valeurs de clés cohérent, fiable et distribué. Le magasin </a:t>
            </a:r>
            <a:r>
              <a:rPr lang="fr-FR" i="0" dirty="0" err="1">
                <a:solidFill>
                  <a:srgbClr val="222222"/>
                </a:solidFill>
                <a:effectLst/>
                <a:latin typeface="-apple-system"/>
              </a:rPr>
              <a:t>etcd</a:t>
            </a:r>
            <a:r>
              <a:rPr lang="fr-FR" i="0" dirty="0">
                <a:solidFill>
                  <a:srgbClr val="222222"/>
                </a:solidFill>
                <a:effectLst/>
                <a:latin typeface="-apple-system"/>
              </a:rPr>
              <a:t> est un objet open source développé initialement par CoreOS. Pour la redondance, 3 à 5 instances sont conservées. Si vous perdez des données dans le magasin </a:t>
            </a:r>
            <a:r>
              <a:rPr lang="fr-FR" i="0" dirty="0" err="1">
                <a:solidFill>
                  <a:srgbClr val="222222"/>
                </a:solidFill>
                <a:effectLst/>
                <a:latin typeface="-apple-system"/>
              </a:rPr>
              <a:t>etcd</a:t>
            </a:r>
            <a:r>
              <a:rPr lang="fr-FR" i="0" dirty="0">
                <a:solidFill>
                  <a:srgbClr val="222222"/>
                </a:solidFill>
                <a:effectLst/>
                <a:latin typeface="-apple-system"/>
              </a:rPr>
              <a:t>, vous perdez également votre cluster. </a:t>
            </a:r>
          </a:p>
          <a:p>
            <a:pPr algn="l"/>
            <a:r>
              <a:rPr lang="fr-FR" b="1" i="0" dirty="0">
                <a:solidFill>
                  <a:srgbClr val="222222"/>
                </a:solidFill>
                <a:effectLst/>
                <a:latin typeface="-apple-system"/>
              </a:rPr>
              <a:t>Planificateur </a:t>
            </a:r>
            <a:r>
              <a:rPr lang="fr-FR" b="1" i="0" dirty="0" err="1">
                <a:solidFill>
                  <a:srgbClr val="222222"/>
                </a:solidFill>
                <a:effectLst/>
                <a:latin typeface="-apple-system"/>
              </a:rPr>
              <a:t>Kube-schedule</a:t>
            </a:r>
            <a:r>
              <a:rPr lang="fr-FR" i="0" dirty="0" err="1">
                <a:solidFill>
                  <a:srgbClr val="222222"/>
                </a:solidFill>
                <a:effectLst/>
                <a:latin typeface="-apple-system"/>
              </a:rPr>
              <a:t>r</a:t>
            </a:r>
            <a:r>
              <a:rPr lang="fr-FR" i="0" dirty="0">
                <a:solidFill>
                  <a:srgbClr val="222222"/>
                </a:solidFill>
                <a:effectLst/>
                <a:latin typeface="-apple-system"/>
              </a:rPr>
              <a:t> est responsable de la planification des </a:t>
            </a:r>
            <a:r>
              <a:rPr lang="fr-FR" i="0" dirty="0" err="1">
                <a:solidFill>
                  <a:srgbClr val="222222"/>
                </a:solidFill>
                <a:effectLst/>
                <a:latin typeface="-apple-system"/>
              </a:rPr>
              <a:t>pods</a:t>
            </a:r>
            <a:r>
              <a:rPr lang="fr-FR" i="0" dirty="0">
                <a:solidFill>
                  <a:srgbClr val="222222"/>
                </a:solidFill>
                <a:effectLst/>
                <a:latin typeface="-apple-system"/>
              </a:rPr>
              <a:t> sur les nœuds de travail. La mise en œuvre d'algorithmes de planification sophistiqués prend en compte de nombreuses informations telles que la disponibilité des ressources sur chaque nœud, les contraintes mentionnées par l'utilisateur, le type de nœuds disponibles, les limites et quotas de ressources, ainsi que d'autres facteurs tels que l'affinité, l'anti-affinité, les tolérances et les souillures. .</a:t>
            </a:r>
            <a:endParaRPr lang="fr-FR" dirty="0"/>
          </a:p>
        </p:txBody>
      </p:sp>
      <p:sp>
        <p:nvSpPr>
          <p:cNvPr id="4" name="Espace réservé du pied de page 3">
            <a:extLst>
              <a:ext uri="{FF2B5EF4-FFF2-40B4-BE49-F238E27FC236}">
                <a16:creationId xmlns:a16="http://schemas.microsoft.com/office/drawing/2014/main" id="{B40BD7D5-EE75-E396-C9DC-F606AAF26BE6}"/>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5CD203C6-F39B-6DA2-3180-6406E22B71F4}"/>
              </a:ext>
            </a:extLst>
          </p:cNvPr>
          <p:cNvSpPr>
            <a:spLocks noGrp="1"/>
          </p:cNvSpPr>
          <p:nvPr>
            <p:ph type="sldNum" sz="quarter" idx="12"/>
          </p:nvPr>
        </p:nvSpPr>
        <p:spPr/>
        <p:txBody>
          <a:bodyPr/>
          <a:lstStyle/>
          <a:p>
            <a:fld id="{B82CCC60-E8CD-4174-8B1A-7DF615B22EEF}" type="slidenum">
              <a:rPr lang="en-US" smtClean="0"/>
              <a:pPr/>
              <a:t>20</a:t>
            </a:fld>
            <a:endParaRPr lang="en-US"/>
          </a:p>
        </p:txBody>
      </p:sp>
    </p:spTree>
    <p:extLst>
      <p:ext uri="{BB962C8B-B14F-4D97-AF65-F5344CB8AC3E}">
        <p14:creationId xmlns:p14="http://schemas.microsoft.com/office/powerpoint/2010/main" val="2442031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303CD98-4D49-6AF5-2BB3-C21B5BD6B273}"/>
              </a:ext>
            </a:extLst>
          </p:cNvPr>
          <p:cNvSpPr>
            <a:spLocks noGrp="1"/>
          </p:cNvSpPr>
          <p:nvPr>
            <p:ph idx="1"/>
          </p:nvPr>
        </p:nvSpPr>
        <p:spPr>
          <a:xfrm>
            <a:off x="143555" y="1502815"/>
            <a:ext cx="8551481" cy="3206799"/>
          </a:xfrm>
        </p:spPr>
        <p:txBody>
          <a:bodyPr>
            <a:normAutofit fontScale="70000" lnSpcReduction="20000"/>
          </a:bodyPr>
          <a:lstStyle/>
          <a:p>
            <a:pPr algn="just"/>
            <a:r>
              <a:rPr lang="fr-FR" b="1" dirty="0"/>
              <a:t>Gestionnaire de contrôleur</a:t>
            </a:r>
            <a:r>
              <a:rPr lang="fr-FR" dirty="0"/>
              <a:t> </a:t>
            </a:r>
            <a:r>
              <a:rPr lang="fr-FR" b="1" dirty="0" err="1"/>
              <a:t>Kube</a:t>
            </a:r>
            <a:r>
              <a:rPr lang="fr-FR" b="1" dirty="0"/>
              <a:t> </a:t>
            </a:r>
            <a:r>
              <a:rPr lang="fr-FR" dirty="0"/>
              <a:t>Le gestionnaire de contrôleurs </a:t>
            </a:r>
            <a:r>
              <a:rPr lang="fr-FR" dirty="0" err="1"/>
              <a:t>Kube</a:t>
            </a:r>
            <a:r>
              <a:rPr lang="fr-FR" dirty="0"/>
              <a:t> est un processus unique doté de plusieurs contrôleurs pour plus de simplicité. Ces contrôleurs surveillent les changements et réagissent en conséquence</a:t>
            </a:r>
          </a:p>
          <a:p>
            <a:pPr marL="987425" algn="just">
              <a:buFont typeface="Wingdings" panose="05000000000000000000" pitchFamily="2" charset="2"/>
              <a:buChar char="§"/>
            </a:pPr>
            <a:r>
              <a:rPr lang="fr-FR" sz="2300" dirty="0"/>
              <a:t>Les contrôleurs de nœuds sont responsables de la notification et de la réponse lorsqu'un nœud tombe en panne </a:t>
            </a:r>
          </a:p>
          <a:p>
            <a:pPr marL="987425" algn="just">
              <a:buFont typeface="Wingdings" panose="05000000000000000000" pitchFamily="2" charset="2"/>
              <a:buChar char="§"/>
            </a:pPr>
            <a:r>
              <a:rPr lang="fr-FR" sz="2300" dirty="0"/>
              <a:t>Le contrôleur de réplication garantit qu'il existe un nombre correct de </a:t>
            </a:r>
            <a:r>
              <a:rPr lang="fr-FR" sz="2300" dirty="0" err="1"/>
              <a:t>pods</a:t>
            </a:r>
            <a:r>
              <a:rPr lang="fr-FR" sz="2300" dirty="0"/>
              <a:t> pour chaque jeu de réplicas ou objets pour le contrôleur de réplication</a:t>
            </a:r>
          </a:p>
          <a:p>
            <a:pPr marL="987425" algn="just">
              <a:buFont typeface="Wingdings" panose="05000000000000000000" pitchFamily="2" charset="2"/>
              <a:buChar char="§"/>
            </a:pPr>
            <a:r>
              <a:rPr lang="fr-FR" sz="2300" dirty="0"/>
              <a:t>Le contrôleur de points de terminaison attribue à chaque service un objet de point de terminaison qui répertorie les </a:t>
            </a:r>
            <a:r>
              <a:rPr lang="fr-FR" sz="2300" dirty="0" err="1"/>
              <a:t>pods</a:t>
            </a:r>
            <a:r>
              <a:rPr lang="fr-FR" sz="2300" dirty="0"/>
              <a:t> de service.</a:t>
            </a:r>
          </a:p>
          <a:p>
            <a:pPr marL="987425" algn="just">
              <a:buFont typeface="Wingdings" panose="05000000000000000000" pitchFamily="2" charset="2"/>
              <a:buChar char="§"/>
            </a:pPr>
            <a:r>
              <a:rPr lang="fr-FR" sz="2300" dirty="0"/>
              <a:t>Les contrôleurs de compte de service et de jetons initialisent les nouveaux espaces de noms avec le compte de service par défaut et les jetons d'accès API correspondants</a:t>
            </a:r>
          </a:p>
        </p:txBody>
      </p:sp>
      <p:sp>
        <p:nvSpPr>
          <p:cNvPr id="4" name="Espace réservé du pied de page 3">
            <a:extLst>
              <a:ext uri="{FF2B5EF4-FFF2-40B4-BE49-F238E27FC236}">
                <a16:creationId xmlns:a16="http://schemas.microsoft.com/office/drawing/2014/main" id="{B961D74A-B486-DC7E-51BE-846564A60444}"/>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7A4F6550-9A74-824E-E972-EB2332F826B6}"/>
              </a:ext>
            </a:extLst>
          </p:cNvPr>
          <p:cNvSpPr>
            <a:spLocks noGrp="1"/>
          </p:cNvSpPr>
          <p:nvPr>
            <p:ph type="sldNum" sz="quarter" idx="12"/>
          </p:nvPr>
        </p:nvSpPr>
        <p:spPr/>
        <p:txBody>
          <a:bodyPr/>
          <a:lstStyle/>
          <a:p>
            <a:fld id="{B82CCC60-E8CD-4174-8B1A-7DF615B22EEF}" type="slidenum">
              <a:rPr lang="en-US" smtClean="0"/>
              <a:pPr/>
              <a:t>21</a:t>
            </a:fld>
            <a:endParaRPr lang="en-US"/>
          </a:p>
        </p:txBody>
      </p:sp>
    </p:spTree>
    <p:extLst>
      <p:ext uri="{BB962C8B-B14F-4D97-AF65-F5344CB8AC3E}">
        <p14:creationId xmlns:p14="http://schemas.microsoft.com/office/powerpoint/2010/main" val="1636043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85FDB35-FB70-1700-ECC2-BA17832363D9}"/>
              </a:ext>
            </a:extLst>
          </p:cNvPr>
          <p:cNvSpPr>
            <a:spLocks noGrp="1"/>
          </p:cNvSpPr>
          <p:nvPr>
            <p:ph idx="1"/>
          </p:nvPr>
        </p:nvSpPr>
        <p:spPr>
          <a:xfrm>
            <a:off x="143555" y="1502815"/>
            <a:ext cx="8551481" cy="3359510"/>
          </a:xfrm>
        </p:spPr>
        <p:txBody>
          <a:bodyPr>
            <a:normAutofit fontScale="62500" lnSpcReduction="20000"/>
          </a:bodyPr>
          <a:lstStyle/>
          <a:p>
            <a:pPr algn="just"/>
            <a:r>
              <a:rPr lang="fr-FR" b="1" dirty="0"/>
              <a:t>Le plan de données </a:t>
            </a:r>
            <a:r>
              <a:rPr lang="fr-FR" dirty="0"/>
              <a:t>Le plan de données comprend des nœuds du cluster qui exécutent des charges de travail ou des </a:t>
            </a:r>
            <a:r>
              <a:rPr lang="fr-FR" dirty="0" err="1"/>
              <a:t>pods</a:t>
            </a:r>
            <a:r>
              <a:rPr lang="fr-FR" dirty="0"/>
              <a:t> conteneurisés.  Le plan de données et le plan de contrôle partagent des machines physiques et logiques. Afin de communiquer avec les nœuds, Kubernetes installe plusieurs composants sur chaque nœud, surveille, planifie des </a:t>
            </a:r>
            <a:r>
              <a:rPr lang="fr-FR" dirty="0" err="1"/>
              <a:t>pods</a:t>
            </a:r>
            <a:r>
              <a:rPr lang="fr-FR" dirty="0"/>
              <a:t>, etc.</a:t>
            </a:r>
          </a:p>
          <a:p>
            <a:pPr algn="just"/>
            <a:r>
              <a:rPr lang="fr-FR" b="1" dirty="0" err="1"/>
              <a:t>Kubelet</a:t>
            </a:r>
            <a:r>
              <a:rPr lang="fr-FR" dirty="0"/>
              <a:t> Le </a:t>
            </a:r>
            <a:r>
              <a:rPr lang="fr-FR" dirty="0" err="1"/>
              <a:t>Kubelet</a:t>
            </a:r>
            <a:r>
              <a:rPr lang="fr-FR" dirty="0"/>
              <a:t> est un agent Kubernetes chargé de communiquer avec les serveurs API et d'exécuter et de gérer les </a:t>
            </a:r>
            <a:r>
              <a:rPr lang="fr-FR" dirty="0" err="1"/>
              <a:t>pods</a:t>
            </a:r>
            <a:r>
              <a:rPr lang="fr-FR" dirty="0"/>
              <a:t> sur le nœud. </a:t>
            </a:r>
            <a:r>
              <a:rPr lang="fr-FR" dirty="0" err="1"/>
              <a:t>Kubelet</a:t>
            </a:r>
            <a:r>
              <a:rPr lang="fr-FR" dirty="0"/>
              <a:t> est responsable de :Télécharger les secrets du </a:t>
            </a:r>
            <a:r>
              <a:rPr lang="fr-FR" dirty="0" err="1"/>
              <a:t>pod</a:t>
            </a:r>
            <a:r>
              <a:rPr lang="fr-FR" dirty="0"/>
              <a:t> depuis le serveur </a:t>
            </a:r>
            <a:r>
              <a:rPr lang="fr-FR" dirty="0" err="1"/>
              <a:t>APIMontages</a:t>
            </a:r>
            <a:r>
              <a:rPr lang="fr-FR" dirty="0"/>
              <a:t> de volumes Conteneur de </a:t>
            </a:r>
            <a:r>
              <a:rPr lang="fr-FR" dirty="0" err="1"/>
              <a:t>pods</a:t>
            </a:r>
            <a:r>
              <a:rPr lang="fr-FR" dirty="0"/>
              <a:t> exécuté via l'interface d'exécution du conteneur (CRI)Signaler l'état de chaque </a:t>
            </a:r>
            <a:r>
              <a:rPr lang="fr-FR" dirty="0" err="1"/>
              <a:t>pod</a:t>
            </a:r>
            <a:r>
              <a:rPr lang="fr-FR" dirty="0"/>
              <a:t> et nœud Sonder la vivacité du </a:t>
            </a:r>
            <a:r>
              <a:rPr lang="fr-FR" dirty="0" err="1"/>
              <a:t>conteneurProxy</a:t>
            </a:r>
            <a:r>
              <a:rPr lang="fr-FR" dirty="0"/>
              <a:t> </a:t>
            </a:r>
            <a:r>
              <a:rPr lang="fr-FR" dirty="0" err="1"/>
              <a:t>Kube</a:t>
            </a:r>
            <a:r>
              <a:rPr lang="fr-FR" dirty="0"/>
              <a:t> Les aspects réseau sont gérés par ce composant pour le nœud. Il fonctionne comme une façade locale pour les services, transmet les paquets TCP et UDP et découvre les adresses IP des services via DNS ou des variables d'environnement.</a:t>
            </a:r>
          </a:p>
        </p:txBody>
      </p:sp>
      <p:sp>
        <p:nvSpPr>
          <p:cNvPr id="4" name="Espace réservé du pied de page 3">
            <a:extLst>
              <a:ext uri="{FF2B5EF4-FFF2-40B4-BE49-F238E27FC236}">
                <a16:creationId xmlns:a16="http://schemas.microsoft.com/office/drawing/2014/main" id="{84D493B7-F824-E01F-AF21-C707BDD6C27B}"/>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2884EFF0-DEDC-28C7-CFFC-B61C30CE393B}"/>
              </a:ext>
            </a:extLst>
          </p:cNvPr>
          <p:cNvSpPr>
            <a:spLocks noGrp="1"/>
          </p:cNvSpPr>
          <p:nvPr>
            <p:ph type="sldNum" sz="quarter" idx="12"/>
          </p:nvPr>
        </p:nvSpPr>
        <p:spPr/>
        <p:txBody>
          <a:bodyPr/>
          <a:lstStyle/>
          <a:p>
            <a:fld id="{B82CCC60-E8CD-4174-8B1A-7DF615B22EEF}" type="slidenum">
              <a:rPr lang="en-US" smtClean="0"/>
              <a:pPr/>
              <a:t>22</a:t>
            </a:fld>
            <a:endParaRPr lang="en-US"/>
          </a:p>
        </p:txBody>
      </p:sp>
    </p:spTree>
    <p:extLst>
      <p:ext uri="{BB962C8B-B14F-4D97-AF65-F5344CB8AC3E}">
        <p14:creationId xmlns:p14="http://schemas.microsoft.com/office/powerpoint/2010/main" val="270320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882FD58-512A-C9FB-FEB2-2648AC3382D6}"/>
              </a:ext>
            </a:extLst>
          </p:cNvPr>
          <p:cNvSpPr>
            <a:spLocks noGrp="1"/>
          </p:cNvSpPr>
          <p:nvPr>
            <p:ph idx="1"/>
          </p:nvPr>
        </p:nvSpPr>
        <p:spPr>
          <a:xfrm>
            <a:off x="448966" y="1350110"/>
            <a:ext cx="8246070" cy="1374346"/>
          </a:xfrm>
        </p:spPr>
        <p:txBody>
          <a:bodyPr>
            <a:normAutofit fontScale="70000" lnSpcReduction="20000"/>
          </a:bodyPr>
          <a:lstStyle/>
          <a:p>
            <a:pPr algn="just"/>
            <a:r>
              <a:rPr lang="fr-FR" b="1" dirty="0"/>
              <a:t>Exécution du conteneur </a:t>
            </a:r>
            <a:r>
              <a:rPr lang="fr-FR" dirty="0"/>
              <a:t>Kubernetes exécute des conteneurs et prend en charge une variété d'environnements d'exécution de conteneurs. Docker est initialement pris en charge. Kubernetes exécute des conteneurs via une interface appelée CRI basée sur </a:t>
            </a:r>
            <a:r>
              <a:rPr lang="fr-FR" dirty="0" err="1"/>
              <a:t>gRPC</a:t>
            </a:r>
            <a:r>
              <a:rPr lang="fr-FR" dirty="0"/>
              <a:t>.</a:t>
            </a:r>
          </a:p>
        </p:txBody>
      </p:sp>
      <p:sp>
        <p:nvSpPr>
          <p:cNvPr id="4" name="Espace réservé du pied de page 3">
            <a:extLst>
              <a:ext uri="{FF2B5EF4-FFF2-40B4-BE49-F238E27FC236}">
                <a16:creationId xmlns:a16="http://schemas.microsoft.com/office/drawing/2014/main" id="{A86FBE63-72C6-2776-6E25-74D8B8F28DC4}"/>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7A4BFFDC-6F38-9AEE-C774-54C1093E0D35}"/>
              </a:ext>
            </a:extLst>
          </p:cNvPr>
          <p:cNvSpPr>
            <a:spLocks noGrp="1"/>
          </p:cNvSpPr>
          <p:nvPr>
            <p:ph type="sldNum" sz="quarter" idx="12"/>
          </p:nvPr>
        </p:nvSpPr>
        <p:spPr/>
        <p:txBody>
          <a:bodyPr/>
          <a:lstStyle/>
          <a:p>
            <a:fld id="{B82CCC60-E8CD-4174-8B1A-7DF615B22EEF}" type="slidenum">
              <a:rPr lang="en-US" smtClean="0"/>
              <a:pPr/>
              <a:t>23</a:t>
            </a:fld>
            <a:endParaRPr lang="en-US"/>
          </a:p>
        </p:txBody>
      </p:sp>
      <p:pic>
        <p:nvPicPr>
          <p:cNvPr id="7" name="Image 6">
            <a:extLst>
              <a:ext uri="{FF2B5EF4-FFF2-40B4-BE49-F238E27FC236}">
                <a16:creationId xmlns:a16="http://schemas.microsoft.com/office/drawing/2014/main" id="{A401CD46-36A0-D989-93A1-432329B0282B}"/>
              </a:ext>
            </a:extLst>
          </p:cNvPr>
          <p:cNvPicPr>
            <a:picLocks noChangeAspect="1"/>
          </p:cNvPicPr>
          <p:nvPr/>
        </p:nvPicPr>
        <p:blipFill>
          <a:blip r:embed="rId2"/>
          <a:stretch>
            <a:fillRect/>
          </a:stretch>
        </p:blipFill>
        <p:spPr>
          <a:xfrm>
            <a:off x="1538977" y="2419045"/>
            <a:ext cx="6066046" cy="2255715"/>
          </a:xfrm>
          <a:prstGeom prst="rect">
            <a:avLst/>
          </a:prstGeom>
        </p:spPr>
      </p:pic>
    </p:spTree>
    <p:extLst>
      <p:ext uri="{BB962C8B-B14F-4D97-AF65-F5344CB8AC3E}">
        <p14:creationId xmlns:p14="http://schemas.microsoft.com/office/powerpoint/2010/main" val="1566082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4064</TotalTime>
  <Words>2240</Words>
  <Application>Microsoft Office PowerPoint</Application>
  <PresentationFormat>Affichage à l'écran (16:9)</PresentationFormat>
  <Paragraphs>146</Paragraphs>
  <Slides>23</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23</vt:i4>
      </vt:variant>
    </vt:vector>
  </HeadingPairs>
  <TitlesOfParts>
    <vt:vector size="32" baseType="lpstr">
      <vt:lpstr>-apple-system</vt:lpstr>
      <vt:lpstr>Arial</vt:lpstr>
      <vt:lpstr>Arial Black</vt:lpstr>
      <vt:lpstr>Arial MT</vt:lpstr>
      <vt:lpstr>Calibri</vt:lpstr>
      <vt:lpstr>Poppins</vt:lpstr>
      <vt:lpstr>Roboto</vt:lpstr>
      <vt:lpstr>Wingdings</vt:lpstr>
      <vt:lpstr>Office Theme</vt:lpstr>
      <vt:lpstr> Containerisation</vt:lpstr>
      <vt:lpstr>Définition et principe de la conteneurisation </vt:lpstr>
      <vt:lpstr>Comparaison entre virtualisation et conteneurisation</vt:lpstr>
      <vt:lpstr>Présentation PowerPoint</vt:lpstr>
      <vt:lpstr>Présentation PowerPoint</vt:lpstr>
      <vt:lpstr>Virtualisation ou conteneurisation ?</vt:lpstr>
      <vt:lpstr>Présentation PowerPoint</vt:lpstr>
      <vt:lpstr>Présentation PowerPoint</vt:lpstr>
      <vt:lpstr>Docker</vt:lpstr>
      <vt:lpstr>Lexique Docker</vt:lpstr>
      <vt:lpstr>Présentation PowerPoint</vt:lpstr>
      <vt:lpstr>Présentation PowerPoint</vt:lpstr>
      <vt:lpstr>Kubernetes (K8s)</vt:lpstr>
      <vt:lpstr>Présentation PowerPoint</vt:lpstr>
      <vt:lpstr>Présentation PowerPoint</vt:lpstr>
      <vt:lpstr>Caractéristiques de Kubernetes</vt:lpstr>
      <vt:lpstr>Présentation PowerPoint</vt:lpstr>
      <vt:lpstr>Le plan de contrôle</vt:lpstr>
      <vt:lpstr>Présentation PowerPoint</vt:lpstr>
      <vt:lpstr>Présentation PowerPoint</vt:lpstr>
      <vt:lpstr>Présentation PowerPoint</vt:lpstr>
      <vt:lpstr>Présentation PowerPoint</vt:lpstr>
      <vt:lpstr>Présentation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Béchir BEN GOUISSEM</cp:lastModifiedBy>
  <cp:revision>264</cp:revision>
  <dcterms:created xsi:type="dcterms:W3CDTF">2013-08-21T19:17:07Z</dcterms:created>
  <dcterms:modified xsi:type="dcterms:W3CDTF">2023-12-07T15:25:47Z</dcterms:modified>
</cp:coreProperties>
</file>