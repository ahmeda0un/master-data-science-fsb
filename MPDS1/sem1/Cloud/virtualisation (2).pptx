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275" r:id="rId3"/>
    <p:sldId id="276" r:id="rId4"/>
    <p:sldId id="277" r:id="rId5"/>
    <p:sldId id="278" r:id="rId6"/>
    <p:sldId id="279" r:id="rId7"/>
    <p:sldId id="257" r:id="rId8"/>
    <p:sldId id="263" r:id="rId9"/>
    <p:sldId id="261" r:id="rId10"/>
    <p:sldId id="262" r:id="rId11"/>
    <p:sldId id="259" r:id="rId12"/>
    <p:sldId id="269" r:id="rId13"/>
    <p:sldId id="270" r:id="rId14"/>
    <p:sldId id="271" r:id="rId15"/>
    <p:sldId id="272" r:id="rId16"/>
    <p:sldId id="274" r:id="rId17"/>
    <p:sldId id="264" r:id="rId18"/>
    <p:sldId id="265" r:id="rId19"/>
    <p:sldId id="266" r:id="rId20"/>
    <p:sldId id="268" r:id="rId21"/>
    <p:sldId id="267" r:id="rId22"/>
    <p:sldId id="280" r:id="rId23"/>
    <p:sldId id="281" r:id="rId24"/>
    <p:sldId id="282" r:id="rId25"/>
    <p:sldId id="283" r:id="rId26"/>
    <p:sldId id="284" r:id="rId27"/>
    <p:sldId id="285" r:id="rId28"/>
    <p:sldId id="286" r:id="rId29"/>
    <p:sldId id="287" r:id="rId30"/>
    <p:sldId id="288" r:id="rId31"/>
    <p:sldId id="289" r:id="rId32"/>
    <p:sldId id="290" r:id="rId3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900CC"/>
    <a:srgbClr val="D99B01"/>
    <a:srgbClr val="FF66CC"/>
    <a:srgbClr val="FF67AC"/>
    <a:srgbClr val="CC0099"/>
    <a:srgbClr val="FFDC47"/>
    <a:srgbClr val="5EEC3C"/>
    <a:srgbClr val="CCCC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922" y="58"/>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20A01-65E4-4D78-9482-2328BEB2BBE8}" type="datetimeFigureOut">
              <a:rPr lang="en-US" smtClean="0"/>
              <a:t>10/12/2023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CC5607-7701-4805-9CE3-F9D2CD9FF35C}" type="slidenum">
              <a:rPr lang="en-US" smtClean="0"/>
              <a:t>‹N°›</a:t>
            </a:fld>
            <a:endParaRPr lang="en-US"/>
          </a:p>
        </p:txBody>
      </p:sp>
    </p:spTree>
    <p:extLst>
      <p:ext uri="{BB962C8B-B14F-4D97-AF65-F5344CB8AC3E}">
        <p14:creationId xmlns:p14="http://schemas.microsoft.com/office/powerpoint/2010/main" val="23041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8965" y="2419045"/>
            <a:ext cx="8246070" cy="773002"/>
          </a:xfrm>
          <a:noFill/>
          <a:effectLst>
            <a:outerShdw blurRad="50800" dist="38100" dir="2700000" algn="tl" rotWithShape="0">
              <a:prstClr val="black">
                <a:alpha val="40000"/>
              </a:prstClr>
            </a:outerShdw>
          </a:effectLst>
        </p:spPr>
        <p:txBody>
          <a:bodyPr>
            <a:normAutofit/>
          </a:bodyPr>
          <a:lstStyle>
            <a:lvl1pPr algn="ct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448965" y="3182570"/>
            <a:ext cx="8246070" cy="610821"/>
          </a:xfrm>
        </p:spPr>
        <p:txBody>
          <a:bodyPr>
            <a:normAutofit/>
          </a:bodyPr>
          <a:lstStyle>
            <a:lvl1pPr marL="0" indent="0" algn="ctr">
              <a:buNone/>
              <a:defRPr sz="2800" b="0" i="0">
                <a:solidFill>
                  <a:srgbClr val="00206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4B3770E-9365-4F25-B88F-72C55E3E6AA1}" type="datetime1">
              <a:rPr lang="en-US" smtClean="0"/>
              <a:t>10/12/2023</a:t>
            </a:fld>
            <a:endParaRPr lang="en-US"/>
          </a:p>
        </p:txBody>
      </p:sp>
      <p:sp>
        <p:nvSpPr>
          <p:cNvPr id="5" name="Footer Placeholder 4"/>
          <p:cNvSpPr>
            <a:spLocks noGrp="1"/>
          </p:cNvSpPr>
          <p:nvPr>
            <p:ph type="ftr" sz="quarter" idx="11"/>
          </p:nvPr>
        </p:nvSpPr>
        <p:spPr/>
        <p:txBody>
          <a:bodyPr/>
          <a:lstStyle/>
          <a:p>
            <a:r>
              <a:rPr lang="en-US"/>
              <a:t>Dr. Bechir Ben Gouissem</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1350110"/>
            <a:ext cx="8246070" cy="610820"/>
          </a:xfrm>
        </p:spPr>
        <p:txBody>
          <a:bodyPr>
            <a:normAutofit/>
          </a:bodyPr>
          <a:lstStyle>
            <a:lvl1pPr algn="ctr">
              <a:defRPr sz="3600" baseline="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960930"/>
            <a:ext cx="8246070" cy="2748684"/>
          </a:xfrm>
        </p:spPr>
        <p:txBody>
          <a:bodyPr/>
          <a:lstStyle>
            <a:lvl1pPr algn="ctr">
              <a:defRPr sz="2800">
                <a:solidFill>
                  <a:srgbClr val="002060"/>
                </a:solidFill>
              </a:defRPr>
            </a:lvl1pPr>
            <a:lvl2pPr algn="ctr">
              <a:defRPr>
                <a:solidFill>
                  <a:srgbClr val="002060"/>
                </a:solidFill>
              </a:defRPr>
            </a:lvl2pPr>
            <a:lvl3pPr algn="ctr">
              <a:defRPr>
                <a:solidFill>
                  <a:srgbClr val="002060"/>
                </a:solidFill>
              </a:defRPr>
            </a:lvl3pPr>
            <a:lvl4pPr algn="ctr">
              <a:defRPr>
                <a:solidFill>
                  <a:srgbClr val="002060"/>
                </a:solidFill>
              </a:defRPr>
            </a:lvl4pPr>
            <a:lvl5pPr algn="ct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2F3C580-7D47-4C1B-BEA7-5CBA70D0D10C}" type="datetime1">
              <a:rPr lang="en-US" smtClean="0"/>
              <a:t>10/12/2023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6413610" cy="572644"/>
          </a:xfrm>
        </p:spPr>
        <p:txBody>
          <a:bodyPr>
            <a:normAutofit/>
          </a:bodyPr>
          <a:lstStyle>
            <a:lvl1pPr algn="l">
              <a:defRPr sz="360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198559"/>
            <a:ext cx="6413610" cy="3511061"/>
          </a:xfrm>
        </p:spPr>
        <p:txBody>
          <a:bodyPr/>
          <a:lstStyle>
            <a:lvl1pPr>
              <a:defRPr sz="2800">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05734AB-681E-4826-8D39-D2E6DDC7B169}" type="datetime1">
              <a:rPr lang="en-US" smtClean="0"/>
              <a:t>10/12/2023</a:t>
            </a:fld>
            <a:endParaRPr lang="en-US"/>
          </a:p>
        </p:txBody>
      </p:sp>
      <p:sp>
        <p:nvSpPr>
          <p:cNvPr id="5" name="Footer Placeholder 4"/>
          <p:cNvSpPr>
            <a:spLocks noGrp="1"/>
          </p:cNvSpPr>
          <p:nvPr>
            <p:ph type="ftr" sz="quarter" idx="11"/>
          </p:nvPr>
        </p:nvSpPr>
        <p:spPr/>
        <p:txBody>
          <a:bodyPr/>
          <a:lstStyle/>
          <a:p>
            <a:r>
              <a:rPr lang="en-US"/>
              <a:t>Dr. Bechir Ben Gouissem</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CA8958-3011-49FD-89E8-266E59360381}" type="datetime1">
              <a:rPr lang="en-US" smtClean="0"/>
              <a:t>10/12/2023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F95167-5018-4937-9DA6-98F5EAE70D79}" type="datetime1">
              <a:rPr lang="en-US" smtClean="0"/>
              <a:t>10/12/2023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4" y="1350110"/>
            <a:ext cx="8246071" cy="610820"/>
          </a:xfrm>
        </p:spPr>
        <p:txBody>
          <a:bodyPr>
            <a:normAutofit/>
          </a:bodyPr>
          <a:lstStyle>
            <a:lvl1pPr algn="ctr">
              <a:defRPr sz="3600" baseline="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2140229"/>
            <a:ext cx="4040188" cy="479822"/>
          </a:xfrm>
        </p:spPr>
        <p:txBody>
          <a:bodyPr anchor="b"/>
          <a:lstStyle>
            <a:lvl1pPr marL="0" indent="0" algn="ctr">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571749"/>
            <a:ext cx="4040188" cy="2137871"/>
          </a:xfrm>
        </p:spPr>
        <p:txBody>
          <a:bodyPr/>
          <a:lstStyle>
            <a:lvl1pPr algn="ctr">
              <a:defRPr sz="2400">
                <a:solidFill>
                  <a:srgbClr val="002060"/>
                </a:solidFill>
              </a:defRPr>
            </a:lvl1pPr>
            <a:lvl2pPr algn="ctr">
              <a:defRPr sz="2000">
                <a:solidFill>
                  <a:srgbClr val="002060"/>
                </a:solidFill>
              </a:defRPr>
            </a:lvl2pPr>
            <a:lvl3pPr algn="ctr">
              <a:defRPr sz="1800">
                <a:solidFill>
                  <a:srgbClr val="002060"/>
                </a:solidFill>
              </a:defRPr>
            </a:lvl3pPr>
            <a:lvl4pPr algn="ctr">
              <a:defRPr sz="1600">
                <a:solidFill>
                  <a:srgbClr val="002060"/>
                </a:solidFill>
              </a:defRPr>
            </a:lvl4pPr>
            <a:lvl5pPr algn="ct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2140229"/>
            <a:ext cx="4041775" cy="479822"/>
          </a:xfrm>
        </p:spPr>
        <p:txBody>
          <a:bodyPr anchor="b"/>
          <a:lstStyle>
            <a:lvl1pPr marL="0" indent="0" algn="ctr">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571749"/>
            <a:ext cx="4041775" cy="2137871"/>
          </a:xfrm>
        </p:spPr>
        <p:txBody>
          <a:bodyPr/>
          <a:lstStyle>
            <a:lvl1pPr algn="ctr">
              <a:defRPr sz="2400">
                <a:solidFill>
                  <a:srgbClr val="002060"/>
                </a:solidFill>
              </a:defRPr>
            </a:lvl1pPr>
            <a:lvl2pPr algn="ctr">
              <a:defRPr sz="2000">
                <a:solidFill>
                  <a:srgbClr val="002060"/>
                </a:solidFill>
              </a:defRPr>
            </a:lvl2pPr>
            <a:lvl3pPr algn="ctr">
              <a:defRPr sz="1800">
                <a:solidFill>
                  <a:srgbClr val="002060"/>
                </a:solidFill>
              </a:defRPr>
            </a:lvl3pPr>
            <a:lvl4pPr algn="ctr">
              <a:defRPr sz="1600">
                <a:solidFill>
                  <a:srgbClr val="002060"/>
                </a:solidFill>
              </a:defRPr>
            </a:lvl4pPr>
            <a:lvl5pPr algn="ct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FECFA68-7976-4CAA-8D71-D1847B3B45EB}" type="datetime1">
              <a:rPr lang="en-US" smtClean="0"/>
              <a:t>10/12/2023</a:t>
            </a:fld>
            <a:endParaRPr lang="en-US"/>
          </a:p>
        </p:txBody>
      </p:sp>
      <p:sp>
        <p:nvSpPr>
          <p:cNvPr id="8" name="Footer Placeholder 7"/>
          <p:cNvSpPr>
            <a:spLocks noGrp="1"/>
          </p:cNvSpPr>
          <p:nvPr>
            <p:ph type="ftr" sz="quarter" idx="11"/>
          </p:nvPr>
        </p:nvSpPr>
        <p:spPr/>
        <p:txBody>
          <a:bodyPr/>
          <a:lstStyle/>
          <a:p>
            <a:r>
              <a:rPr lang="en-US"/>
              <a:t>Dr. Bechir Ben Gouissem</a:t>
            </a:r>
          </a:p>
        </p:txBody>
      </p:sp>
      <p:sp>
        <p:nvSpPr>
          <p:cNvPr id="9" name="Slide Number Placeholder 8"/>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11CC34C-4556-43BA-9C5F-3E1B55322378}" type="datetime1">
              <a:rPr lang="en-US" smtClean="0"/>
              <a:t>10/12/2023</a:t>
            </a:fld>
            <a:endParaRPr lang="en-US"/>
          </a:p>
        </p:txBody>
      </p:sp>
      <p:sp>
        <p:nvSpPr>
          <p:cNvPr id="4" name="Footer Placeholder 3"/>
          <p:cNvSpPr>
            <a:spLocks noGrp="1"/>
          </p:cNvSpPr>
          <p:nvPr>
            <p:ph type="ftr" sz="quarter" idx="11"/>
          </p:nvPr>
        </p:nvSpPr>
        <p:spPr/>
        <p:txBody>
          <a:bodyPr/>
          <a:lstStyle/>
          <a:p>
            <a:r>
              <a:rPr lang="en-US"/>
              <a:t>Dr. Bechir Ben Gouissem</a:t>
            </a:r>
          </a:p>
        </p:txBody>
      </p:sp>
      <p:sp>
        <p:nvSpPr>
          <p:cNvPr id="5" name="Slide Number Placeholder 4"/>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047920-2A3A-42B3-9431-12AC3D2B1779}" type="datetime1">
              <a:rPr lang="en-US" smtClean="0"/>
              <a:t>10/12/2023</a:t>
            </a:fld>
            <a:endParaRPr lang="en-US"/>
          </a:p>
        </p:txBody>
      </p:sp>
      <p:sp>
        <p:nvSpPr>
          <p:cNvPr id="3" name="Footer Placeholder 2"/>
          <p:cNvSpPr>
            <a:spLocks noGrp="1"/>
          </p:cNvSpPr>
          <p:nvPr>
            <p:ph type="ftr" sz="quarter" idx="11"/>
          </p:nvPr>
        </p:nvSpPr>
        <p:spPr/>
        <p:txBody>
          <a:bodyPr/>
          <a:lstStyle/>
          <a:p>
            <a:r>
              <a:rPr lang="en-US"/>
              <a:t>Dr. Bechir Ben Gouissem</a:t>
            </a:r>
          </a:p>
        </p:txBody>
      </p:sp>
      <p:sp>
        <p:nvSpPr>
          <p:cNvPr id="4" name="Slide Number Placeholder 3"/>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DA5A5-AC0E-49A2-A58E-9A07AD58EC77}" type="datetime1">
              <a:rPr lang="en-US" smtClean="0"/>
              <a:t>10/12/2023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9CD634-788B-4965-8316-6F4D480307B3}" type="datetime1">
              <a:rPr lang="en-US" smtClean="0"/>
              <a:t>10/12/2023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EB7F48-1326-477E-8FA5-CD4F26B88E6B}" type="datetime1">
              <a:rPr lang="en-US" smtClean="0"/>
              <a:t>10/12/2023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1C7F2-E1A6-4372-8B5A-22E4F8A0024F}" type="datetime1">
              <a:rPr lang="en-US" smtClean="0"/>
              <a:t>10/12/2023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pic>
        <p:nvPicPr>
          <p:cNvPr id="7" name="Picture 6" descr="E:\websites\free-power-point-templates\2012\logos.png">
            <a:extLst>
              <a:ext uri="{FF2B5EF4-FFF2-40B4-BE49-F238E27FC236}">
                <a16:creationId xmlns:a16="http://schemas.microsoft.com/office/drawing/2014/main" id="{AF223013-BAAD-4784-9B88-4DDCCA17941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055FB94-7A0C-4636-9A35-453A19204D04}" type="datetime1">
              <a:rPr lang="en-US" smtClean="0"/>
              <a:t>10/12/2023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Bechir Ben Gouissem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‹N°›</a:t>
            </a:fld>
            <a:endParaRPr lang="en-US"/>
          </a:p>
        </p:txBody>
      </p:sp>
      <p:sp>
        <p:nvSpPr>
          <p:cNvPr id="7" name="TextBox 6">
            <a:extLst>
              <a:ext uri="{FF2B5EF4-FFF2-40B4-BE49-F238E27FC236}">
                <a16:creationId xmlns:a16="http://schemas.microsoft.com/office/drawing/2014/main" id="{55C64FEC-0EC6-4A1D-A397-6DB8DBF3A92A}"/>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La </a:t>
            </a:r>
            <a:r>
              <a:rPr lang="en-US" dirty="0" err="1"/>
              <a:t>Virtualisation</a:t>
            </a:r>
            <a:endParaRPr lang="en-US" dirty="0"/>
          </a:p>
        </p:txBody>
      </p:sp>
      <p:sp>
        <p:nvSpPr>
          <p:cNvPr id="3" name="Subtitle 2"/>
          <p:cNvSpPr>
            <a:spLocks noGrp="1"/>
          </p:cNvSpPr>
          <p:nvPr>
            <p:ph type="subTitle" idx="1"/>
          </p:nvPr>
        </p:nvSpPr>
        <p:spPr/>
        <p:txBody>
          <a:bodyPr/>
          <a:lstStyle/>
          <a:p>
            <a:r>
              <a:rPr lang="en-US" dirty="0"/>
              <a:t>Dr. </a:t>
            </a:r>
            <a:r>
              <a:rPr lang="en-US" dirty="0" err="1"/>
              <a:t>Bechir</a:t>
            </a:r>
            <a:r>
              <a:rPr lang="en-US" dirty="0"/>
              <a:t> Ben GOUISSEM</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4DF72-6526-D79B-667B-E18724EE77C9}"/>
              </a:ext>
            </a:extLst>
          </p:cNvPr>
          <p:cNvSpPr>
            <a:spLocks noGrp="1"/>
          </p:cNvSpPr>
          <p:nvPr>
            <p:ph type="title"/>
          </p:nvPr>
        </p:nvSpPr>
        <p:spPr/>
        <p:txBody>
          <a:bodyPr>
            <a:normAutofit fontScale="90000"/>
          </a:bodyPr>
          <a:lstStyle/>
          <a:p>
            <a:r>
              <a:rPr lang="fr-FR" dirty="0"/>
              <a:t>Motivations</a:t>
            </a:r>
          </a:p>
        </p:txBody>
      </p:sp>
      <p:sp>
        <p:nvSpPr>
          <p:cNvPr id="3" name="Espace réservé du contenu 2">
            <a:extLst>
              <a:ext uri="{FF2B5EF4-FFF2-40B4-BE49-F238E27FC236}">
                <a16:creationId xmlns:a16="http://schemas.microsoft.com/office/drawing/2014/main" id="{AEB4907D-3D6F-717E-5BB4-5BE1EAC34409}"/>
              </a:ext>
            </a:extLst>
          </p:cNvPr>
          <p:cNvSpPr>
            <a:spLocks noGrp="1"/>
          </p:cNvSpPr>
          <p:nvPr>
            <p:ph idx="1"/>
          </p:nvPr>
        </p:nvSpPr>
        <p:spPr/>
        <p:txBody>
          <a:bodyPr>
            <a:normAutofit fontScale="70000" lnSpcReduction="20000"/>
          </a:bodyPr>
          <a:lstStyle/>
          <a:p>
            <a:pPr marL="403206" marR="4608" indent="-391686" algn="just">
              <a:lnSpc>
                <a:spcPts val="2413"/>
              </a:lnSpc>
              <a:spcBef>
                <a:spcPts val="86"/>
              </a:spcBef>
            </a:pPr>
            <a:r>
              <a:rPr lang="fr-FR" dirty="0"/>
              <a:t>Réduire la consommation: un data center sur </a:t>
            </a:r>
            <a:r>
              <a:rPr lang="fr-FR" sz="2800" spc="-9" dirty="0">
                <a:cs typeface="Arial"/>
              </a:rPr>
              <a:t>300m2  avec </a:t>
            </a:r>
            <a:r>
              <a:rPr lang="fr-FR" sz="2800" spc="-5" dirty="0">
                <a:cs typeface="Arial"/>
              </a:rPr>
              <a:t>80</a:t>
            </a:r>
            <a:r>
              <a:rPr lang="fr-FR" sz="2800" spc="-9" dirty="0">
                <a:cs typeface="Arial"/>
              </a:rPr>
              <a:t> Baies</a:t>
            </a:r>
            <a:r>
              <a:rPr lang="fr-FR" dirty="0">
                <a:cs typeface="Arial"/>
              </a:rPr>
              <a:t> de </a:t>
            </a:r>
            <a:r>
              <a:rPr lang="fr-FR" sz="2800" spc="-9" dirty="0">
                <a:cs typeface="Arial"/>
              </a:rPr>
              <a:t>2000</a:t>
            </a:r>
            <a:r>
              <a:rPr lang="fr-FR" sz="2800" spc="-77" dirty="0">
                <a:cs typeface="Arial"/>
              </a:rPr>
              <a:t> </a:t>
            </a:r>
            <a:r>
              <a:rPr lang="fr-FR" sz="2800" spc="-5" dirty="0">
                <a:cs typeface="Arial"/>
              </a:rPr>
              <a:t>Serveurs consomme en 10 Ans </a:t>
            </a:r>
            <a:r>
              <a:rPr lang="fr-FR" sz="2800" spc="-9" dirty="0">
                <a:cs typeface="Arial"/>
              </a:rPr>
              <a:t>227 </a:t>
            </a:r>
            <a:r>
              <a:rPr lang="fr-FR" sz="2800" dirty="0">
                <a:cs typeface="Arial"/>
              </a:rPr>
              <a:t>M </a:t>
            </a:r>
            <a:r>
              <a:rPr lang="fr-FR" sz="2800" spc="-5" dirty="0">
                <a:cs typeface="Arial"/>
              </a:rPr>
              <a:t>litre</a:t>
            </a:r>
            <a:r>
              <a:rPr lang="fr-FR" sz="2800" spc="-27" dirty="0">
                <a:cs typeface="Arial"/>
              </a:rPr>
              <a:t> </a:t>
            </a:r>
            <a:r>
              <a:rPr lang="fr-FR" sz="2800" spc="-9" dirty="0">
                <a:cs typeface="Arial"/>
              </a:rPr>
              <a:t>d’eau</a:t>
            </a:r>
            <a:r>
              <a:rPr lang="fr-FR" dirty="0">
                <a:cs typeface="Arial"/>
              </a:rPr>
              <a:t> et </a:t>
            </a:r>
            <a:r>
              <a:rPr lang="fr-FR" sz="2800" spc="-9" dirty="0">
                <a:cs typeface="Arial"/>
              </a:rPr>
              <a:t>177 </a:t>
            </a:r>
            <a:r>
              <a:rPr lang="fr-FR" sz="2800" dirty="0">
                <a:cs typeface="Arial"/>
              </a:rPr>
              <a:t>GWh</a:t>
            </a:r>
            <a:r>
              <a:rPr lang="fr-FR" spc="-5" dirty="0">
                <a:cs typeface="Arial"/>
              </a:rPr>
              <a:t>.</a:t>
            </a:r>
          </a:p>
          <a:p>
            <a:pPr marL="403206" marR="4608" indent="-391686" algn="just" fontAlgn="t">
              <a:lnSpc>
                <a:spcPts val="2413"/>
              </a:lnSpc>
              <a:spcBef>
                <a:spcPts val="86"/>
              </a:spcBef>
              <a:spcAft>
                <a:spcPts val="0"/>
              </a:spcAft>
            </a:pPr>
            <a:r>
              <a:rPr lang="fr-FR" spc="-9" dirty="0">
                <a:cs typeface="Arial"/>
              </a:rPr>
              <a:t>LA CONSOLIDATION: Optimisation du taux d’utilisation des ressources des serveurs</a:t>
            </a:r>
          </a:p>
          <a:p>
            <a:pPr marL="403206" marR="4608" indent="-391686" algn="just" fontAlgn="t">
              <a:lnSpc>
                <a:spcPts val="2413"/>
              </a:lnSpc>
              <a:spcBef>
                <a:spcPts val="86"/>
              </a:spcBef>
            </a:pPr>
            <a:r>
              <a:rPr lang="fr-FR" spc="-9" dirty="0">
                <a:cs typeface="Arial"/>
              </a:rPr>
              <a:t>LA RATIONALISATION: Suppression des équipements superflus et redondants.</a:t>
            </a:r>
          </a:p>
          <a:p>
            <a:pPr marL="403206" marR="4608" indent="-391686" algn="just" fontAlgn="t">
              <a:lnSpc>
                <a:spcPts val="2413"/>
              </a:lnSpc>
              <a:spcBef>
                <a:spcPts val="86"/>
              </a:spcBef>
              <a:spcAft>
                <a:spcPts val="0"/>
              </a:spcAft>
            </a:pPr>
            <a:r>
              <a:rPr lang="fr-FR" spc="-9" dirty="0">
                <a:cs typeface="Arial"/>
              </a:rPr>
              <a:t>LA CONCENTRATION: Réduction de l’espace occupé par les infrastructures serveurs</a:t>
            </a:r>
          </a:p>
          <a:p>
            <a:pPr marL="403206" marR="4608" indent="-391686" algn="just" fontAlgn="t">
              <a:lnSpc>
                <a:spcPts val="2413"/>
              </a:lnSpc>
              <a:spcBef>
                <a:spcPts val="86"/>
              </a:spcBef>
            </a:pPr>
            <a:endParaRPr lang="fr-FR" spc="-9" dirty="0">
              <a:cs typeface="Arial"/>
            </a:endParaRPr>
          </a:p>
          <a:p>
            <a:pPr marL="403206" marR="4608" indent="-391686" algn="just">
              <a:lnSpc>
                <a:spcPts val="2413"/>
              </a:lnSpc>
              <a:spcBef>
                <a:spcPts val="86"/>
              </a:spcBef>
            </a:pPr>
            <a:endParaRPr lang="fr-FR" sz="2800" dirty="0">
              <a:cs typeface="Arial"/>
            </a:endParaRPr>
          </a:p>
        </p:txBody>
      </p:sp>
      <p:sp>
        <p:nvSpPr>
          <p:cNvPr id="4" name="Espace réservé du pied de page 3">
            <a:extLst>
              <a:ext uri="{FF2B5EF4-FFF2-40B4-BE49-F238E27FC236}">
                <a16:creationId xmlns:a16="http://schemas.microsoft.com/office/drawing/2014/main" id="{0F12D0AA-F20C-686C-39C6-F3248F27D6B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8E74A4B-EEA8-1BAC-39AE-1F5246730CD9}"/>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371832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897B13-52E1-B5C9-C255-7014FC4273D0}"/>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36E88795-2A36-E93C-2872-19939EA4681E}"/>
              </a:ext>
            </a:extLst>
          </p:cNvPr>
          <p:cNvSpPr>
            <a:spLocks noGrp="1"/>
          </p:cNvSpPr>
          <p:nvPr>
            <p:ph idx="1"/>
          </p:nvPr>
        </p:nvSpPr>
        <p:spPr/>
        <p:txBody>
          <a:bodyPr>
            <a:normAutofit fontScale="70000" lnSpcReduction="20000"/>
          </a:bodyPr>
          <a:lstStyle/>
          <a:p>
            <a:pPr marL="12700" algn="just">
              <a:lnSpc>
                <a:spcPct val="100000"/>
              </a:lnSpc>
              <a:spcBef>
                <a:spcPts val="785"/>
              </a:spcBef>
            </a:pPr>
            <a:r>
              <a:rPr lang="fr-FR" sz="2800" dirty="0">
                <a:latin typeface="Arial Black"/>
                <a:cs typeface="Arial Black"/>
              </a:rPr>
              <a:t>Problèmes </a:t>
            </a:r>
            <a:r>
              <a:rPr lang="fr-FR" sz="2800" spc="-5" dirty="0">
                <a:latin typeface="Arial Black"/>
                <a:cs typeface="Arial Black"/>
              </a:rPr>
              <a:t>relatifs </a:t>
            </a:r>
            <a:r>
              <a:rPr lang="fr-FR" sz="2800" dirty="0">
                <a:latin typeface="Arial Black"/>
                <a:cs typeface="Arial Black"/>
              </a:rPr>
              <a:t>à </a:t>
            </a:r>
            <a:r>
              <a:rPr lang="fr-FR" sz="2800" spc="-20" dirty="0">
                <a:latin typeface="Arial Black"/>
                <a:cs typeface="Arial Black"/>
              </a:rPr>
              <a:t>l’utilisation </a:t>
            </a:r>
            <a:r>
              <a:rPr lang="fr-FR" sz="2800" dirty="0">
                <a:latin typeface="Arial Black"/>
                <a:cs typeface="Arial Black"/>
              </a:rPr>
              <a:t>du </a:t>
            </a:r>
            <a:r>
              <a:rPr lang="fr-FR" sz="2800" spc="-5" dirty="0">
                <a:latin typeface="Arial Black"/>
                <a:cs typeface="Arial Black"/>
              </a:rPr>
              <a:t>modèle </a:t>
            </a:r>
            <a:r>
              <a:rPr lang="fr-FR" sz="2800" dirty="0">
                <a:latin typeface="Arial Black"/>
                <a:cs typeface="Arial Black"/>
              </a:rPr>
              <a:t>traditionnel</a:t>
            </a:r>
            <a:r>
              <a:rPr lang="fr-FR" sz="2800" spc="-80" dirty="0">
                <a:latin typeface="Arial Black"/>
                <a:cs typeface="Arial Black"/>
              </a:rPr>
              <a:t> </a:t>
            </a:r>
            <a:r>
              <a:rPr lang="fr-FR" sz="2800" spc="-20" dirty="0">
                <a:latin typeface="Arial Black"/>
                <a:cs typeface="Arial Black"/>
              </a:rPr>
              <a:t>d’utilisation</a:t>
            </a:r>
            <a:r>
              <a:rPr lang="fr-FR" spc="-20" dirty="0">
                <a:latin typeface="Arial Black"/>
                <a:cs typeface="Arial Black"/>
              </a:rPr>
              <a:t> </a:t>
            </a:r>
            <a:r>
              <a:rPr lang="fr-FR" sz="2800" dirty="0">
                <a:latin typeface="Arial Black"/>
                <a:cs typeface="Arial Black"/>
              </a:rPr>
              <a:t>des </a:t>
            </a:r>
            <a:r>
              <a:rPr lang="fr-FR" sz="2800" spc="5" dirty="0">
                <a:latin typeface="Arial Black"/>
                <a:cs typeface="Arial Black"/>
              </a:rPr>
              <a:t>ressources </a:t>
            </a:r>
            <a:r>
              <a:rPr lang="fr-FR" sz="2800" dirty="0">
                <a:latin typeface="Arial Black"/>
                <a:cs typeface="Arial Black"/>
              </a:rPr>
              <a:t>informatiques</a:t>
            </a:r>
            <a:r>
              <a:rPr lang="fr-FR" sz="2800" spc="-70" dirty="0">
                <a:latin typeface="Arial Black"/>
                <a:cs typeface="Arial Black"/>
              </a:rPr>
              <a:t> </a:t>
            </a:r>
            <a:r>
              <a:rPr lang="fr-FR" sz="2800" dirty="0">
                <a:latin typeface="Arial Black"/>
                <a:cs typeface="Arial Black"/>
              </a:rPr>
              <a:t>:</a:t>
            </a:r>
          </a:p>
          <a:p>
            <a:pPr algn="just">
              <a:lnSpc>
                <a:spcPct val="100000"/>
              </a:lnSpc>
              <a:spcBef>
                <a:spcPts val="10"/>
              </a:spcBef>
            </a:pPr>
            <a:endParaRPr lang="fr-FR" sz="2400" dirty="0">
              <a:latin typeface="Arial Black"/>
              <a:cs typeface="Arial Black"/>
            </a:endParaRPr>
          </a:p>
          <a:p>
            <a:pPr marL="806450" algn="just">
              <a:lnSpc>
                <a:spcPct val="100000"/>
              </a:lnSpc>
            </a:pPr>
            <a:r>
              <a:rPr lang="fr-FR" sz="2800" u="heavy" spc="-5" dirty="0">
                <a:solidFill>
                  <a:srgbClr val="52575F"/>
                </a:solidFill>
                <a:uFill>
                  <a:solidFill>
                    <a:srgbClr val="52575F"/>
                  </a:solidFill>
                </a:uFill>
                <a:latin typeface="Arial Black"/>
                <a:cs typeface="Arial Black"/>
              </a:rPr>
              <a:t>Coût </a:t>
            </a:r>
            <a:r>
              <a:rPr lang="fr-FR" sz="2800" u="heavy" dirty="0">
                <a:solidFill>
                  <a:srgbClr val="52575F"/>
                </a:solidFill>
                <a:uFill>
                  <a:solidFill>
                    <a:srgbClr val="52575F"/>
                  </a:solidFill>
                </a:uFill>
                <a:latin typeface="Arial Black"/>
                <a:cs typeface="Arial Black"/>
              </a:rPr>
              <a:t>:</a:t>
            </a:r>
            <a:r>
              <a:rPr lang="fr-FR" sz="2800" dirty="0">
                <a:solidFill>
                  <a:srgbClr val="52575F"/>
                </a:solidFill>
                <a:latin typeface="Arial Black"/>
                <a:cs typeface="Arial Black"/>
              </a:rPr>
              <a:t> </a:t>
            </a:r>
            <a:r>
              <a:rPr lang="fr-FR" sz="2800" spc="45" dirty="0">
                <a:latin typeface="Arial"/>
                <a:cs typeface="Arial"/>
              </a:rPr>
              <a:t>frais </a:t>
            </a:r>
            <a:r>
              <a:rPr lang="fr-FR" sz="2800" spc="80" dirty="0">
                <a:latin typeface="Arial"/>
                <a:cs typeface="Arial"/>
              </a:rPr>
              <a:t>d‘achat, </a:t>
            </a:r>
            <a:r>
              <a:rPr lang="fr-FR" sz="2800" spc="60" dirty="0">
                <a:latin typeface="Arial"/>
                <a:cs typeface="Arial"/>
              </a:rPr>
              <a:t>installation, licences, </a:t>
            </a:r>
            <a:r>
              <a:rPr lang="fr-FR" sz="2800" spc="50" dirty="0">
                <a:latin typeface="Arial"/>
                <a:cs typeface="Arial"/>
              </a:rPr>
              <a:t>maintenance,</a:t>
            </a:r>
            <a:r>
              <a:rPr lang="fr-FR" sz="2800" spc="145" dirty="0">
                <a:latin typeface="Arial"/>
                <a:cs typeface="Arial"/>
              </a:rPr>
              <a:t> </a:t>
            </a:r>
            <a:r>
              <a:rPr lang="fr-FR" sz="2800" spc="65" dirty="0">
                <a:latin typeface="Arial"/>
                <a:cs typeface="Arial"/>
              </a:rPr>
              <a:t>etc.</a:t>
            </a:r>
            <a:endParaRPr lang="fr-FR" sz="2800" dirty="0">
              <a:latin typeface="Arial"/>
              <a:cs typeface="Arial"/>
            </a:endParaRPr>
          </a:p>
          <a:p>
            <a:pPr marL="806450" marR="1078230" algn="just">
              <a:lnSpc>
                <a:spcPct val="107900"/>
              </a:lnSpc>
              <a:spcBef>
                <a:spcPts val="170"/>
              </a:spcBef>
              <a:tabLst>
                <a:tab pos="3202305" algn="l"/>
              </a:tabLst>
            </a:pPr>
            <a:r>
              <a:rPr lang="fr-FR" sz="2800" u="heavy" spc="-25" dirty="0">
                <a:solidFill>
                  <a:srgbClr val="52575F"/>
                </a:solidFill>
                <a:uFill>
                  <a:solidFill>
                    <a:srgbClr val="52575F"/>
                  </a:solidFill>
                </a:uFill>
                <a:latin typeface="Arial Black"/>
                <a:cs typeface="Arial Black"/>
              </a:rPr>
              <a:t>Evolutivité</a:t>
            </a:r>
            <a:r>
              <a:rPr lang="fr-FR" sz="2800" u="heavy" spc="-40" dirty="0">
                <a:solidFill>
                  <a:srgbClr val="52575F"/>
                </a:solidFill>
                <a:uFill>
                  <a:solidFill>
                    <a:srgbClr val="52575F"/>
                  </a:solidFill>
                </a:uFill>
                <a:latin typeface="Arial Black"/>
                <a:cs typeface="Arial Black"/>
              </a:rPr>
              <a:t> </a:t>
            </a:r>
            <a:r>
              <a:rPr lang="fr-FR" sz="2800" u="heavy" dirty="0">
                <a:solidFill>
                  <a:srgbClr val="52575F"/>
                </a:solidFill>
                <a:uFill>
                  <a:solidFill>
                    <a:srgbClr val="52575F"/>
                  </a:solidFill>
                </a:uFill>
                <a:latin typeface="Arial Black"/>
                <a:cs typeface="Arial Black"/>
              </a:rPr>
              <a:t>:</a:t>
            </a:r>
            <a:r>
              <a:rPr lang="fr-FR" sz="2800" dirty="0">
                <a:solidFill>
                  <a:srgbClr val="52575F"/>
                </a:solidFill>
                <a:latin typeface="Arial Black"/>
                <a:cs typeface="Arial Black"/>
              </a:rPr>
              <a:t>	</a:t>
            </a:r>
            <a:r>
              <a:rPr lang="fr-FR" sz="2800" spc="85" dirty="0">
                <a:latin typeface="Arial"/>
                <a:cs typeface="Arial"/>
              </a:rPr>
              <a:t>difficulté </a:t>
            </a:r>
            <a:r>
              <a:rPr lang="fr-FR" sz="2800" spc="45" dirty="0">
                <a:latin typeface="Arial"/>
                <a:cs typeface="Arial"/>
              </a:rPr>
              <a:t>de </a:t>
            </a:r>
            <a:r>
              <a:rPr lang="fr-FR" sz="2800" spc="50" dirty="0">
                <a:latin typeface="Arial"/>
                <a:cs typeface="Arial"/>
              </a:rPr>
              <a:t>passer </a:t>
            </a:r>
            <a:r>
              <a:rPr lang="fr-FR" sz="2800" dirty="0">
                <a:latin typeface="Arial"/>
                <a:cs typeface="Arial"/>
              </a:rPr>
              <a:t>à </a:t>
            </a:r>
            <a:r>
              <a:rPr lang="fr-FR" sz="2800" spc="60" dirty="0">
                <a:latin typeface="Arial"/>
                <a:cs typeface="Arial"/>
              </a:rPr>
              <a:t>l’échelle </a:t>
            </a:r>
            <a:r>
              <a:rPr lang="fr-FR" sz="2800" spc="45" dirty="0">
                <a:latin typeface="Arial"/>
                <a:cs typeface="Arial"/>
              </a:rPr>
              <a:t>(ajouter/libérer </a:t>
            </a:r>
            <a:r>
              <a:rPr lang="fr-FR" sz="2800" spc="55" dirty="0">
                <a:latin typeface="Arial"/>
                <a:cs typeface="Arial"/>
              </a:rPr>
              <a:t>des </a:t>
            </a:r>
            <a:r>
              <a:rPr lang="fr-FR" sz="2800" spc="50" dirty="0">
                <a:latin typeface="Arial"/>
                <a:cs typeface="Arial"/>
              </a:rPr>
              <a:t>ressources  </a:t>
            </a:r>
            <a:r>
              <a:rPr lang="fr-FR" sz="2800" spc="45" dirty="0">
                <a:latin typeface="Arial"/>
                <a:cs typeface="Arial"/>
              </a:rPr>
              <a:t>selon </a:t>
            </a:r>
            <a:r>
              <a:rPr lang="fr-FR" sz="2800" spc="20" dirty="0">
                <a:latin typeface="Arial"/>
                <a:cs typeface="Arial"/>
              </a:rPr>
              <a:t>les</a:t>
            </a:r>
            <a:r>
              <a:rPr lang="fr-FR" sz="2800" spc="40" dirty="0">
                <a:latin typeface="Arial"/>
                <a:cs typeface="Arial"/>
              </a:rPr>
              <a:t> </a:t>
            </a:r>
            <a:r>
              <a:rPr lang="fr-FR" sz="2800" spc="30" dirty="0">
                <a:latin typeface="Arial"/>
                <a:cs typeface="Arial"/>
              </a:rPr>
              <a:t>besoins).</a:t>
            </a:r>
            <a:endParaRPr lang="fr-FR" sz="2800" dirty="0">
              <a:latin typeface="Arial"/>
              <a:cs typeface="Arial"/>
            </a:endParaRPr>
          </a:p>
          <a:p>
            <a:pPr marL="806450" marR="5080" algn="just">
              <a:lnSpc>
                <a:spcPct val="107900"/>
              </a:lnSpc>
              <a:spcBef>
                <a:spcPts val="105"/>
              </a:spcBef>
              <a:tabLst>
                <a:tab pos="2537460" algn="l"/>
              </a:tabLst>
            </a:pPr>
            <a:r>
              <a:rPr lang="fr-FR" sz="2800" u="heavy" dirty="0">
                <a:solidFill>
                  <a:srgbClr val="52575F"/>
                </a:solidFill>
                <a:uFill>
                  <a:solidFill>
                    <a:srgbClr val="52575F"/>
                  </a:solidFill>
                </a:uFill>
                <a:latin typeface="Arial Black"/>
                <a:cs typeface="Arial Black"/>
              </a:rPr>
              <a:t>Mobilité</a:t>
            </a:r>
            <a:r>
              <a:rPr lang="fr-FR" sz="2800" u="heavy" spc="-55" dirty="0">
                <a:solidFill>
                  <a:srgbClr val="52575F"/>
                </a:solidFill>
                <a:uFill>
                  <a:solidFill>
                    <a:srgbClr val="52575F"/>
                  </a:solidFill>
                </a:uFill>
                <a:latin typeface="Arial Black"/>
                <a:cs typeface="Arial Black"/>
              </a:rPr>
              <a:t> </a:t>
            </a:r>
            <a:r>
              <a:rPr lang="fr-FR" sz="2800" u="heavy" dirty="0">
                <a:solidFill>
                  <a:srgbClr val="52575F"/>
                </a:solidFill>
                <a:uFill>
                  <a:solidFill>
                    <a:srgbClr val="52575F"/>
                  </a:solidFill>
                </a:uFill>
                <a:latin typeface="Arial Black"/>
                <a:cs typeface="Arial Black"/>
              </a:rPr>
              <a:t>:</a:t>
            </a:r>
            <a:r>
              <a:rPr lang="fr-FR" sz="2800" dirty="0">
                <a:solidFill>
                  <a:srgbClr val="52575F"/>
                </a:solidFill>
                <a:latin typeface="Arial Black"/>
                <a:cs typeface="Arial Black"/>
              </a:rPr>
              <a:t>	</a:t>
            </a:r>
            <a:r>
              <a:rPr lang="fr-FR" sz="2800" spc="60" dirty="0">
                <a:latin typeface="Arial"/>
                <a:cs typeface="Arial"/>
              </a:rPr>
              <a:t>plusieurs </a:t>
            </a:r>
            <a:r>
              <a:rPr lang="fr-FR" sz="2800" spc="70" dirty="0">
                <a:latin typeface="Arial"/>
                <a:cs typeface="Arial"/>
              </a:rPr>
              <a:t>problèmes </a:t>
            </a:r>
            <a:r>
              <a:rPr lang="fr-FR" sz="2800" spc="80" dirty="0">
                <a:latin typeface="Arial"/>
                <a:cs typeface="Arial"/>
              </a:rPr>
              <a:t>sont </a:t>
            </a:r>
            <a:r>
              <a:rPr lang="fr-FR" sz="2800" spc="50" dirty="0">
                <a:latin typeface="Arial"/>
                <a:cs typeface="Arial"/>
              </a:rPr>
              <a:t>rencontrées </a:t>
            </a:r>
            <a:r>
              <a:rPr lang="fr-FR" sz="2800" spc="80" dirty="0">
                <a:latin typeface="Arial"/>
                <a:cs typeface="Arial"/>
              </a:rPr>
              <a:t>pour </a:t>
            </a:r>
            <a:r>
              <a:rPr lang="fr-FR" sz="2800" spc="25" dirty="0">
                <a:latin typeface="Arial"/>
                <a:cs typeface="Arial"/>
              </a:rPr>
              <a:t>faire </a:t>
            </a:r>
            <a:r>
              <a:rPr lang="fr-FR" sz="2800" spc="80" dirty="0">
                <a:latin typeface="Arial"/>
                <a:cs typeface="Arial"/>
              </a:rPr>
              <a:t>l’accès </a:t>
            </a:r>
            <a:r>
              <a:rPr lang="fr-FR" sz="2800" spc="90" dirty="0">
                <a:latin typeface="Arial"/>
                <a:cs typeface="Arial"/>
              </a:rPr>
              <a:t>distant </a:t>
            </a:r>
            <a:r>
              <a:rPr lang="fr-FR" sz="2800" spc="125" dirty="0">
                <a:latin typeface="Arial"/>
                <a:cs typeface="Arial"/>
              </a:rPr>
              <a:t>à des  </a:t>
            </a:r>
            <a:r>
              <a:rPr lang="fr-FR" sz="2800" spc="85" dirty="0">
                <a:latin typeface="Arial"/>
                <a:cs typeface="Arial"/>
              </a:rPr>
              <a:t>applications</a:t>
            </a:r>
            <a:r>
              <a:rPr lang="fr-FR" sz="2800" spc="135" dirty="0">
                <a:latin typeface="Arial"/>
                <a:cs typeface="Arial"/>
              </a:rPr>
              <a:t> </a:t>
            </a:r>
            <a:r>
              <a:rPr lang="fr-FR" sz="2800" spc="50" dirty="0">
                <a:latin typeface="Arial"/>
                <a:cs typeface="Arial"/>
              </a:rPr>
              <a:t>locales.</a:t>
            </a:r>
            <a:endParaRPr lang="fr-FR" sz="2800" dirty="0">
              <a:latin typeface="Arial"/>
              <a:cs typeface="Arial"/>
            </a:endParaRPr>
          </a:p>
          <a:p>
            <a:pPr marL="0" indent="0">
              <a:buNone/>
            </a:pPr>
            <a:endParaRPr lang="fr-FR" dirty="0"/>
          </a:p>
        </p:txBody>
      </p:sp>
      <p:sp>
        <p:nvSpPr>
          <p:cNvPr id="4" name="Espace réservé du pied de page 3">
            <a:extLst>
              <a:ext uri="{FF2B5EF4-FFF2-40B4-BE49-F238E27FC236}">
                <a16:creationId xmlns:a16="http://schemas.microsoft.com/office/drawing/2014/main" id="{42171AA8-B91B-B130-DB8A-EB4ED5AB093C}"/>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410F6B53-D4C3-85CF-9F58-4C6C8857AEA5}"/>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301089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A4DF03-0605-CD75-CF94-B1C0486BBFE0}"/>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311FF903-1ED1-587B-A631-7FFCA88FF919}"/>
              </a:ext>
            </a:extLst>
          </p:cNvPr>
          <p:cNvSpPr>
            <a:spLocks noGrp="1"/>
          </p:cNvSpPr>
          <p:nvPr>
            <p:ph idx="1"/>
          </p:nvPr>
        </p:nvSpPr>
        <p:spPr/>
        <p:txBody>
          <a:bodyPr>
            <a:normAutofit fontScale="55000" lnSpcReduction="20000"/>
          </a:bodyPr>
          <a:lstStyle/>
          <a:p>
            <a:pPr marL="582295" indent="-382905" algn="just">
              <a:lnSpc>
                <a:spcPct val="100000"/>
              </a:lnSpc>
              <a:spcBef>
                <a:spcPts val="100"/>
              </a:spcBef>
              <a:buChar char="•"/>
              <a:tabLst>
                <a:tab pos="582295" algn="l"/>
                <a:tab pos="582930" algn="l"/>
              </a:tabLst>
            </a:pPr>
            <a:r>
              <a:rPr lang="fr-FR" sz="2800" spc="60" dirty="0">
                <a:latin typeface="Arial"/>
                <a:cs typeface="Arial"/>
              </a:rPr>
              <a:t>Minimiser </a:t>
            </a:r>
            <a:r>
              <a:rPr lang="fr-FR" sz="2800" spc="15" dirty="0">
                <a:latin typeface="Arial"/>
                <a:cs typeface="Arial"/>
              </a:rPr>
              <a:t>le </a:t>
            </a:r>
            <a:r>
              <a:rPr lang="fr-FR" sz="2800" spc="105" dirty="0">
                <a:latin typeface="Arial"/>
                <a:cs typeface="Arial"/>
              </a:rPr>
              <a:t>coût </a:t>
            </a:r>
            <a:r>
              <a:rPr lang="fr-FR" sz="2800" spc="75" dirty="0">
                <a:latin typeface="Arial"/>
                <a:cs typeface="Arial"/>
              </a:rPr>
              <a:t>global </a:t>
            </a:r>
            <a:r>
              <a:rPr lang="fr-FR" sz="2800" spc="50" dirty="0">
                <a:latin typeface="Arial"/>
                <a:cs typeface="Arial"/>
              </a:rPr>
              <a:t>de </a:t>
            </a:r>
            <a:r>
              <a:rPr lang="fr-FR" sz="2800" spc="70" dirty="0">
                <a:latin typeface="Arial"/>
                <a:cs typeface="Arial"/>
              </a:rPr>
              <a:t>possession </a:t>
            </a:r>
            <a:r>
              <a:rPr lang="fr-FR" sz="2800" spc="-105" dirty="0">
                <a:latin typeface="Arial"/>
                <a:cs typeface="Arial"/>
              </a:rPr>
              <a:t>(Total </a:t>
            </a:r>
            <a:r>
              <a:rPr lang="fr-FR" sz="2800" spc="70" dirty="0" err="1">
                <a:latin typeface="Arial"/>
                <a:cs typeface="Arial"/>
              </a:rPr>
              <a:t>Cost</a:t>
            </a:r>
            <a:r>
              <a:rPr lang="fr-FR" sz="2800" spc="70" dirty="0">
                <a:latin typeface="Arial"/>
                <a:cs typeface="Arial"/>
              </a:rPr>
              <a:t> </a:t>
            </a:r>
            <a:r>
              <a:rPr lang="fr-FR" sz="2800" spc="60" dirty="0">
                <a:latin typeface="Arial"/>
                <a:cs typeface="Arial"/>
              </a:rPr>
              <a:t>of </a:t>
            </a:r>
            <a:r>
              <a:rPr lang="fr-FR" sz="2800" spc="30" dirty="0" err="1">
                <a:latin typeface="Arial"/>
                <a:cs typeface="Arial"/>
              </a:rPr>
              <a:t>Ownership</a:t>
            </a:r>
            <a:r>
              <a:rPr lang="fr-FR" sz="2800" spc="30" dirty="0">
                <a:latin typeface="Arial"/>
                <a:cs typeface="Arial"/>
              </a:rPr>
              <a:t>)</a:t>
            </a:r>
            <a:r>
              <a:rPr lang="fr-FR" sz="2800" spc="305" dirty="0">
                <a:latin typeface="Arial"/>
                <a:cs typeface="Arial"/>
              </a:rPr>
              <a:t> </a:t>
            </a:r>
            <a:r>
              <a:rPr lang="fr-FR" sz="2800" spc="-30" dirty="0">
                <a:latin typeface="Arial"/>
                <a:cs typeface="Arial"/>
              </a:rPr>
              <a:t>,TCO</a:t>
            </a:r>
            <a:endParaRPr lang="fr-FR" sz="2800" dirty="0">
              <a:latin typeface="Arial"/>
              <a:cs typeface="Arial"/>
            </a:endParaRPr>
          </a:p>
          <a:p>
            <a:pPr algn="just">
              <a:lnSpc>
                <a:spcPct val="100000"/>
              </a:lnSpc>
              <a:spcBef>
                <a:spcPts val="15"/>
              </a:spcBef>
            </a:pPr>
            <a:endParaRPr lang="fr-FR" sz="3600" dirty="0">
              <a:latin typeface="Arial"/>
              <a:cs typeface="Arial"/>
            </a:endParaRPr>
          </a:p>
          <a:p>
            <a:pPr marL="264160" indent="0" algn="just">
              <a:lnSpc>
                <a:spcPct val="100000"/>
              </a:lnSpc>
              <a:buNone/>
            </a:pPr>
            <a:r>
              <a:rPr lang="fr-FR" sz="2800" spc="-75" dirty="0">
                <a:latin typeface="Arial Black"/>
                <a:cs typeface="Arial Black"/>
              </a:rPr>
              <a:t>			TCO </a:t>
            </a:r>
            <a:r>
              <a:rPr lang="fr-FR" sz="2800" dirty="0">
                <a:latin typeface="Arial Black"/>
                <a:cs typeface="Arial Black"/>
              </a:rPr>
              <a:t>= </a:t>
            </a:r>
            <a:r>
              <a:rPr lang="fr-FR" sz="2800" spc="-10" dirty="0">
                <a:latin typeface="Arial Black"/>
                <a:cs typeface="Arial Black"/>
              </a:rPr>
              <a:t>CAPEX </a:t>
            </a:r>
            <a:r>
              <a:rPr lang="fr-FR" sz="2800" dirty="0">
                <a:latin typeface="Arial Black"/>
                <a:cs typeface="Arial Black"/>
              </a:rPr>
              <a:t>+</a:t>
            </a:r>
            <a:r>
              <a:rPr lang="fr-FR" sz="2800" spc="-30" dirty="0">
                <a:latin typeface="Arial Black"/>
                <a:cs typeface="Arial Black"/>
              </a:rPr>
              <a:t> </a:t>
            </a:r>
            <a:r>
              <a:rPr lang="fr-FR" sz="2800" dirty="0">
                <a:latin typeface="Arial Black"/>
                <a:cs typeface="Arial Black"/>
              </a:rPr>
              <a:t>OPEX</a:t>
            </a:r>
          </a:p>
          <a:p>
            <a:pPr marL="0" marR="135255" indent="0" algn="just">
              <a:lnSpc>
                <a:spcPct val="100800"/>
              </a:lnSpc>
              <a:spcBef>
                <a:spcPts val="3715"/>
              </a:spcBef>
              <a:buNone/>
            </a:pPr>
            <a:r>
              <a:rPr lang="fr-FR" sz="2800" dirty="0">
                <a:latin typeface="Arial"/>
                <a:cs typeface="Arial"/>
              </a:rPr>
              <a:t>“ </a:t>
            </a:r>
            <a:r>
              <a:rPr lang="fr-FR" sz="2800" spc="20" dirty="0">
                <a:latin typeface="Arial"/>
                <a:cs typeface="Arial"/>
              </a:rPr>
              <a:t>Les </a:t>
            </a:r>
            <a:r>
              <a:rPr lang="fr-FR" sz="2800" spc="-60" dirty="0">
                <a:latin typeface="Arial"/>
                <a:cs typeface="Arial"/>
              </a:rPr>
              <a:t>OPEX </a:t>
            </a:r>
            <a:r>
              <a:rPr lang="fr-FR" sz="2800" spc="50" dirty="0">
                <a:latin typeface="Arial"/>
                <a:cs typeface="Arial"/>
              </a:rPr>
              <a:t>ou </a:t>
            </a:r>
            <a:r>
              <a:rPr lang="fr-FR" sz="2800" spc="60" dirty="0">
                <a:latin typeface="Arial"/>
                <a:cs typeface="Arial"/>
              </a:rPr>
              <a:t>dépenses </a:t>
            </a:r>
            <a:r>
              <a:rPr lang="fr-FR" sz="2800" spc="105" dirty="0">
                <a:latin typeface="Arial"/>
                <a:cs typeface="Arial"/>
              </a:rPr>
              <a:t>d'exploitation </a:t>
            </a:r>
            <a:r>
              <a:rPr lang="fr-FR" sz="2800" dirty="0">
                <a:latin typeface="Arial"/>
                <a:cs typeface="Arial"/>
              </a:rPr>
              <a:t>(de </a:t>
            </a:r>
            <a:r>
              <a:rPr lang="fr-FR" sz="2800" spc="70" dirty="0">
                <a:latin typeface="Arial"/>
                <a:cs typeface="Arial"/>
              </a:rPr>
              <a:t>l'anglais </a:t>
            </a:r>
            <a:r>
              <a:rPr lang="fr-FR" sz="2800" spc="70" dirty="0" err="1">
                <a:latin typeface="Arial"/>
                <a:cs typeface="Arial"/>
              </a:rPr>
              <a:t>operational</a:t>
            </a:r>
            <a:r>
              <a:rPr lang="fr-FR" sz="2800" spc="70" dirty="0">
                <a:latin typeface="Arial"/>
                <a:cs typeface="Arial"/>
              </a:rPr>
              <a:t> </a:t>
            </a:r>
            <a:r>
              <a:rPr lang="fr-FR" sz="2800" spc="45" dirty="0" err="1">
                <a:latin typeface="Arial"/>
                <a:cs typeface="Arial"/>
              </a:rPr>
              <a:t>expenditure</a:t>
            </a:r>
            <a:r>
              <a:rPr lang="fr-FR" sz="2800" spc="45" dirty="0">
                <a:latin typeface="Arial"/>
                <a:cs typeface="Arial"/>
              </a:rPr>
              <a:t>) </a:t>
            </a:r>
            <a:r>
              <a:rPr lang="fr-FR" sz="2800" spc="80" dirty="0">
                <a:latin typeface="Arial"/>
                <a:cs typeface="Arial"/>
              </a:rPr>
              <a:t>sont  </a:t>
            </a:r>
            <a:r>
              <a:rPr lang="fr-FR" sz="2800" spc="20" dirty="0">
                <a:latin typeface="Arial"/>
                <a:cs typeface="Arial"/>
              </a:rPr>
              <a:t>les </a:t>
            </a:r>
            <a:r>
              <a:rPr lang="fr-FR" sz="2800" spc="55" dirty="0">
                <a:latin typeface="Arial"/>
                <a:cs typeface="Arial"/>
              </a:rPr>
              <a:t>charges </a:t>
            </a:r>
            <a:r>
              <a:rPr lang="fr-FR" sz="2800" spc="70" dirty="0">
                <a:latin typeface="Arial"/>
                <a:cs typeface="Arial"/>
              </a:rPr>
              <a:t>courantes </a:t>
            </a:r>
            <a:r>
              <a:rPr lang="fr-FR" sz="2800" spc="80" dirty="0">
                <a:latin typeface="Arial"/>
                <a:cs typeface="Arial"/>
              </a:rPr>
              <a:t>pour </a:t>
            </a:r>
            <a:r>
              <a:rPr lang="fr-FR" sz="2800" spc="75" dirty="0">
                <a:latin typeface="Arial"/>
                <a:cs typeface="Arial"/>
              </a:rPr>
              <a:t>exploiter </a:t>
            </a:r>
            <a:r>
              <a:rPr lang="fr-FR" sz="2800" spc="30" dirty="0">
                <a:latin typeface="Arial"/>
                <a:cs typeface="Arial"/>
              </a:rPr>
              <a:t>un </a:t>
            </a:r>
            <a:r>
              <a:rPr lang="fr-FR" sz="2800" spc="80" dirty="0">
                <a:latin typeface="Arial"/>
                <a:cs typeface="Arial"/>
              </a:rPr>
              <a:t>produit, </a:t>
            </a:r>
            <a:r>
              <a:rPr lang="fr-FR" sz="2800" spc="25" dirty="0">
                <a:latin typeface="Arial"/>
                <a:cs typeface="Arial"/>
              </a:rPr>
              <a:t>une </a:t>
            </a:r>
            <a:r>
              <a:rPr lang="fr-FR" sz="2800" spc="45" dirty="0">
                <a:latin typeface="Arial"/>
                <a:cs typeface="Arial"/>
              </a:rPr>
              <a:t>entreprise, </a:t>
            </a:r>
            <a:r>
              <a:rPr lang="fr-FR" sz="2800" spc="135" dirty="0" err="1">
                <a:latin typeface="Arial"/>
                <a:cs typeface="Arial"/>
              </a:rPr>
              <a:t>ouun</a:t>
            </a:r>
            <a:r>
              <a:rPr lang="fr-FR" sz="2800" spc="1010" dirty="0">
                <a:latin typeface="Arial"/>
                <a:cs typeface="Arial"/>
              </a:rPr>
              <a:t> </a:t>
            </a:r>
            <a:r>
              <a:rPr lang="fr-FR" sz="2800" spc="80" dirty="0">
                <a:latin typeface="Arial"/>
                <a:cs typeface="Arial"/>
              </a:rPr>
              <a:t>système”.</a:t>
            </a:r>
            <a:endParaRPr lang="fr-FR" sz="2800" dirty="0">
              <a:latin typeface="Arial"/>
              <a:cs typeface="Arial"/>
            </a:endParaRPr>
          </a:p>
          <a:p>
            <a:pPr marL="0" indent="0" algn="just">
              <a:lnSpc>
                <a:spcPct val="100000"/>
              </a:lnSpc>
              <a:spcBef>
                <a:spcPts val="30"/>
              </a:spcBef>
              <a:buNone/>
            </a:pPr>
            <a:endParaRPr lang="fr-FR" sz="2800" dirty="0">
              <a:latin typeface="Arial"/>
              <a:cs typeface="Arial"/>
            </a:endParaRPr>
          </a:p>
          <a:p>
            <a:pPr marL="0" marR="5080" indent="0" algn="just">
              <a:lnSpc>
                <a:spcPct val="101000"/>
              </a:lnSpc>
              <a:buNone/>
            </a:pPr>
            <a:r>
              <a:rPr lang="fr-FR" sz="2800" spc="90" dirty="0">
                <a:latin typeface="Arial"/>
                <a:cs typeface="Arial"/>
              </a:rPr>
              <a:t>“Les </a:t>
            </a:r>
            <a:r>
              <a:rPr lang="fr-FR" sz="2800" spc="-45" dirty="0">
                <a:latin typeface="Arial"/>
                <a:cs typeface="Arial"/>
              </a:rPr>
              <a:t>CAPEX </a:t>
            </a:r>
            <a:r>
              <a:rPr lang="fr-FR" sz="2800" spc="50" dirty="0">
                <a:latin typeface="Arial"/>
                <a:cs typeface="Arial"/>
              </a:rPr>
              <a:t>ou </a:t>
            </a:r>
            <a:r>
              <a:rPr lang="fr-FR" sz="2800" spc="60" dirty="0">
                <a:latin typeface="Arial"/>
                <a:cs typeface="Arial"/>
              </a:rPr>
              <a:t>dépenses </a:t>
            </a:r>
            <a:r>
              <a:rPr lang="fr-FR" sz="2800" spc="80" dirty="0">
                <a:latin typeface="Arial"/>
                <a:cs typeface="Arial"/>
              </a:rPr>
              <a:t>d'investissement </a:t>
            </a:r>
            <a:r>
              <a:rPr lang="fr-FR" sz="2800" dirty="0">
                <a:latin typeface="Arial"/>
                <a:cs typeface="Arial"/>
              </a:rPr>
              <a:t>(de </a:t>
            </a:r>
            <a:r>
              <a:rPr lang="fr-FR" sz="2800" spc="70" dirty="0">
                <a:latin typeface="Arial"/>
                <a:cs typeface="Arial"/>
              </a:rPr>
              <a:t>l'anglais </a:t>
            </a:r>
            <a:r>
              <a:rPr lang="fr-FR" sz="2800" spc="75" dirty="0">
                <a:latin typeface="Arial"/>
                <a:cs typeface="Arial"/>
              </a:rPr>
              <a:t>capital </a:t>
            </a:r>
            <a:r>
              <a:rPr lang="fr-FR" sz="2800" spc="45" dirty="0" err="1">
                <a:latin typeface="Arial"/>
                <a:cs typeface="Arial"/>
              </a:rPr>
              <a:t>expenditure</a:t>
            </a:r>
            <a:r>
              <a:rPr lang="fr-FR" sz="2800" spc="45" dirty="0">
                <a:latin typeface="Arial"/>
                <a:cs typeface="Arial"/>
              </a:rPr>
              <a:t>) </a:t>
            </a:r>
            <a:r>
              <a:rPr lang="fr-FR" sz="2800" spc="15" dirty="0">
                <a:latin typeface="Arial"/>
                <a:cs typeface="Arial"/>
              </a:rPr>
              <a:t>se  </a:t>
            </a:r>
            <a:r>
              <a:rPr lang="fr-FR" sz="2800" spc="35" dirty="0">
                <a:latin typeface="Arial"/>
                <a:cs typeface="Arial"/>
              </a:rPr>
              <a:t>réfèrent </a:t>
            </a:r>
            <a:r>
              <a:rPr lang="fr-FR" sz="2800" spc="40" dirty="0">
                <a:latin typeface="Arial"/>
                <a:cs typeface="Arial"/>
              </a:rPr>
              <a:t>aux </a:t>
            </a:r>
            <a:r>
              <a:rPr lang="fr-FR" sz="2800" spc="75" dirty="0">
                <a:latin typeface="Arial"/>
                <a:cs typeface="Arial"/>
              </a:rPr>
              <a:t>immobilisations, </a:t>
            </a:r>
            <a:r>
              <a:rPr lang="fr-FR" sz="2800" spc="105" dirty="0">
                <a:latin typeface="Arial"/>
                <a:cs typeface="Arial"/>
              </a:rPr>
              <a:t>c'est-à-dire </a:t>
            </a:r>
            <a:r>
              <a:rPr lang="fr-FR" sz="2800" spc="40" dirty="0">
                <a:latin typeface="Arial"/>
                <a:cs typeface="Arial"/>
              </a:rPr>
              <a:t>aux </a:t>
            </a:r>
            <a:r>
              <a:rPr lang="fr-FR" sz="2800" spc="60" dirty="0">
                <a:latin typeface="Arial"/>
                <a:cs typeface="Arial"/>
              </a:rPr>
              <a:t>dépenses </a:t>
            </a:r>
            <a:r>
              <a:rPr lang="fr-FR" sz="2800" spc="70" dirty="0">
                <a:latin typeface="Arial"/>
                <a:cs typeface="Arial"/>
              </a:rPr>
              <a:t>qui </a:t>
            </a:r>
            <a:r>
              <a:rPr lang="fr-FR" sz="2800" spc="80" dirty="0">
                <a:latin typeface="Arial"/>
                <a:cs typeface="Arial"/>
              </a:rPr>
              <a:t>ont </a:t>
            </a:r>
            <a:r>
              <a:rPr lang="fr-FR" sz="2800" spc="25" dirty="0">
                <a:latin typeface="Arial"/>
                <a:cs typeface="Arial"/>
              </a:rPr>
              <a:t>une valeur </a:t>
            </a:r>
            <a:r>
              <a:rPr lang="fr-FR" sz="2800" spc="80" dirty="0">
                <a:latin typeface="Arial"/>
                <a:cs typeface="Arial"/>
              </a:rPr>
              <a:t>positive  </a:t>
            </a:r>
            <a:r>
              <a:rPr lang="fr-FR" sz="2800" spc="35" dirty="0">
                <a:latin typeface="Arial"/>
                <a:cs typeface="Arial"/>
              </a:rPr>
              <a:t>sur </a:t>
            </a:r>
            <a:r>
              <a:rPr lang="fr-FR" sz="2800" spc="15" dirty="0">
                <a:latin typeface="Arial"/>
                <a:cs typeface="Arial"/>
              </a:rPr>
              <a:t>le </a:t>
            </a:r>
            <a:r>
              <a:rPr lang="fr-FR" sz="2800" spc="70" dirty="0">
                <a:latin typeface="Arial"/>
                <a:cs typeface="Arial"/>
              </a:rPr>
              <a:t>long </a:t>
            </a:r>
            <a:r>
              <a:rPr lang="fr-FR" sz="2800" spc="90" dirty="0">
                <a:latin typeface="Arial"/>
                <a:cs typeface="Arial"/>
              </a:rPr>
              <a:t>terme”.</a:t>
            </a:r>
            <a:endParaRPr lang="fr-FR" dirty="0"/>
          </a:p>
        </p:txBody>
      </p:sp>
      <p:sp>
        <p:nvSpPr>
          <p:cNvPr id="4" name="Espace réservé du pied de page 3">
            <a:extLst>
              <a:ext uri="{FF2B5EF4-FFF2-40B4-BE49-F238E27FC236}">
                <a16:creationId xmlns:a16="http://schemas.microsoft.com/office/drawing/2014/main" id="{978B6B9F-88EC-DF0D-CA8D-5EC06C5F6FD8}"/>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34B7294-BB84-9F9D-F5FA-10297488B31A}"/>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1145431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4EB95B-A43B-F13C-B1D9-2A283B1EFCAB}"/>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389905E8-985F-9222-F94E-91FC795D2707}"/>
              </a:ext>
            </a:extLst>
          </p:cNvPr>
          <p:cNvSpPr>
            <a:spLocks noGrp="1"/>
          </p:cNvSpPr>
          <p:nvPr>
            <p:ph idx="1"/>
          </p:nvPr>
        </p:nvSpPr>
        <p:spPr>
          <a:xfrm>
            <a:off x="448966" y="1960929"/>
            <a:ext cx="8246070" cy="2901395"/>
          </a:xfrm>
        </p:spPr>
        <p:txBody>
          <a:bodyPr>
            <a:normAutofit fontScale="32500" lnSpcReduction="20000"/>
          </a:bodyPr>
          <a:lstStyle/>
          <a:p>
            <a:pPr marL="268605" algn="just">
              <a:lnSpc>
                <a:spcPct val="100000"/>
              </a:lnSpc>
              <a:spcBef>
                <a:spcPts val="100"/>
              </a:spcBef>
            </a:pPr>
            <a:r>
              <a:rPr lang="fr-FR" sz="3550" spc="-10" dirty="0">
                <a:latin typeface="Arial Black"/>
                <a:cs typeface="Arial Black"/>
              </a:rPr>
              <a:t>CAPEX</a:t>
            </a:r>
            <a:endParaRPr lang="fr-FR" sz="3550" dirty="0">
              <a:latin typeface="Arial Black"/>
              <a:cs typeface="Arial Black"/>
            </a:endParaRPr>
          </a:p>
          <a:p>
            <a:pPr algn="just">
              <a:lnSpc>
                <a:spcPct val="100000"/>
              </a:lnSpc>
              <a:spcBef>
                <a:spcPts val="45"/>
              </a:spcBef>
            </a:pPr>
            <a:endParaRPr lang="fr-FR" sz="3400" dirty="0">
              <a:latin typeface="Arial Black"/>
              <a:cs typeface="Arial Black"/>
            </a:endParaRPr>
          </a:p>
          <a:p>
            <a:pPr marL="326390" indent="-314325" algn="just">
              <a:lnSpc>
                <a:spcPct val="100000"/>
              </a:lnSpc>
              <a:buChar char="•"/>
              <a:tabLst>
                <a:tab pos="327025" algn="l"/>
              </a:tabLst>
            </a:pPr>
            <a:r>
              <a:rPr lang="fr-FR" sz="3550" u="heavy" dirty="0">
                <a:solidFill>
                  <a:srgbClr val="52575F"/>
                </a:solidFill>
                <a:uFill>
                  <a:solidFill>
                    <a:srgbClr val="52575F"/>
                  </a:solidFill>
                </a:uFill>
                <a:latin typeface="Arial Black"/>
                <a:cs typeface="Arial Black"/>
              </a:rPr>
              <a:t>Les </a:t>
            </a:r>
            <a:r>
              <a:rPr lang="fr-FR" sz="3550" u="heavy" spc="-10" dirty="0">
                <a:solidFill>
                  <a:srgbClr val="52575F"/>
                </a:solidFill>
                <a:uFill>
                  <a:solidFill>
                    <a:srgbClr val="52575F"/>
                  </a:solidFill>
                </a:uFill>
                <a:latin typeface="Arial Black"/>
                <a:cs typeface="Arial Black"/>
              </a:rPr>
              <a:t>CAPEX</a:t>
            </a:r>
            <a:r>
              <a:rPr lang="fr-FR" sz="3550" u="heavy" spc="-60" dirty="0">
                <a:solidFill>
                  <a:srgbClr val="52575F"/>
                </a:solidFill>
                <a:uFill>
                  <a:solidFill>
                    <a:srgbClr val="52575F"/>
                  </a:solidFill>
                </a:uFill>
                <a:latin typeface="Arial Black"/>
                <a:cs typeface="Arial Black"/>
              </a:rPr>
              <a:t> </a:t>
            </a:r>
            <a:r>
              <a:rPr lang="fr-FR" sz="3550" u="heavy" spc="35" dirty="0">
                <a:solidFill>
                  <a:srgbClr val="52575F"/>
                </a:solidFill>
                <a:uFill>
                  <a:solidFill>
                    <a:srgbClr val="52575F"/>
                  </a:solidFill>
                </a:uFill>
                <a:latin typeface="Arial Black"/>
                <a:cs typeface="Arial Black"/>
              </a:rPr>
              <a:t>regroupent</a:t>
            </a:r>
            <a:endParaRPr lang="fr-FR" sz="3550" dirty="0">
              <a:latin typeface="Arial Black"/>
              <a:cs typeface="Arial Black"/>
            </a:endParaRPr>
          </a:p>
          <a:p>
            <a:pPr marL="629285" lvl="1" indent="-314325" algn="just">
              <a:lnSpc>
                <a:spcPct val="120000"/>
              </a:lnSpc>
              <a:spcBef>
                <a:spcPts val="430"/>
              </a:spcBef>
              <a:buFont typeface="Arial"/>
              <a:buChar char="•"/>
              <a:tabLst>
                <a:tab pos="629920" algn="l"/>
              </a:tabLst>
            </a:pPr>
            <a:r>
              <a:rPr lang="fr-FR" sz="3550" b="1" dirty="0">
                <a:latin typeface="Arial"/>
                <a:cs typeface="Arial"/>
              </a:rPr>
              <a:t>Dépenses </a:t>
            </a:r>
            <a:r>
              <a:rPr lang="fr-FR" sz="3550" b="1" spc="-20" dirty="0">
                <a:latin typeface="Arial"/>
                <a:cs typeface="Arial"/>
              </a:rPr>
              <a:t>pour </a:t>
            </a:r>
            <a:r>
              <a:rPr lang="fr-FR" sz="3550" b="1" spc="5" dirty="0">
                <a:latin typeface="Arial"/>
                <a:cs typeface="Arial"/>
              </a:rPr>
              <a:t>l’achat </a:t>
            </a:r>
            <a:r>
              <a:rPr lang="fr-FR" sz="3550" b="1" dirty="0">
                <a:latin typeface="Arial"/>
                <a:cs typeface="Arial"/>
              </a:rPr>
              <a:t>des</a:t>
            </a:r>
            <a:r>
              <a:rPr lang="fr-FR" sz="3550" b="1" spc="-65" dirty="0">
                <a:latin typeface="Arial"/>
                <a:cs typeface="Arial"/>
              </a:rPr>
              <a:t> </a:t>
            </a:r>
            <a:r>
              <a:rPr lang="fr-FR" sz="3550" b="1" spc="-25" dirty="0">
                <a:latin typeface="Arial"/>
                <a:cs typeface="Arial"/>
              </a:rPr>
              <a:t>immobilisations</a:t>
            </a:r>
            <a:endParaRPr lang="fr-FR" sz="3550" dirty="0">
              <a:latin typeface="Arial"/>
              <a:cs typeface="Arial"/>
            </a:endParaRPr>
          </a:p>
          <a:p>
            <a:pPr marL="629285" lvl="1" indent="-314325" algn="just">
              <a:lnSpc>
                <a:spcPct val="120000"/>
              </a:lnSpc>
              <a:buFont typeface="Arial"/>
              <a:buChar char="•"/>
              <a:tabLst>
                <a:tab pos="629920" algn="l"/>
              </a:tabLst>
            </a:pPr>
            <a:r>
              <a:rPr lang="fr-FR" sz="3550" b="1" dirty="0">
                <a:latin typeface="Arial"/>
                <a:cs typeface="Arial"/>
              </a:rPr>
              <a:t>Dépenses </a:t>
            </a:r>
            <a:r>
              <a:rPr lang="fr-FR" sz="3550" b="1" spc="15" dirty="0">
                <a:latin typeface="Arial"/>
                <a:cs typeface="Arial"/>
              </a:rPr>
              <a:t>créant </a:t>
            </a:r>
            <a:r>
              <a:rPr lang="fr-FR" sz="3550" b="1" dirty="0">
                <a:latin typeface="Arial"/>
                <a:cs typeface="Arial"/>
              </a:rPr>
              <a:t>des avantages</a:t>
            </a:r>
            <a:r>
              <a:rPr lang="fr-FR" sz="3550" b="1" spc="-85" dirty="0">
                <a:latin typeface="Arial"/>
                <a:cs typeface="Arial"/>
              </a:rPr>
              <a:t> </a:t>
            </a:r>
            <a:r>
              <a:rPr lang="fr-FR" sz="3550" b="1" spc="-20" dirty="0">
                <a:latin typeface="Arial"/>
                <a:cs typeface="Arial"/>
              </a:rPr>
              <a:t>futurs</a:t>
            </a:r>
            <a:endParaRPr lang="fr-FR" sz="3550" dirty="0">
              <a:latin typeface="Arial"/>
              <a:cs typeface="Arial"/>
            </a:endParaRPr>
          </a:p>
          <a:p>
            <a:pPr marL="629285" lvl="1" indent="-314325" algn="just">
              <a:lnSpc>
                <a:spcPct val="120000"/>
              </a:lnSpc>
              <a:buFont typeface="Arial"/>
              <a:buChar char="•"/>
              <a:tabLst>
                <a:tab pos="629920" algn="l"/>
                <a:tab pos="3221990" algn="l"/>
              </a:tabLst>
            </a:pPr>
            <a:r>
              <a:rPr lang="fr-FR" sz="3550" b="1" spc="-10" dirty="0">
                <a:latin typeface="Arial"/>
                <a:cs typeface="Arial"/>
              </a:rPr>
              <a:t>Exemples</a:t>
            </a:r>
            <a:r>
              <a:rPr lang="fr-FR" sz="3550" b="1" spc="-30" dirty="0">
                <a:latin typeface="Arial"/>
                <a:cs typeface="Arial"/>
              </a:rPr>
              <a:t> </a:t>
            </a:r>
            <a:r>
              <a:rPr lang="fr-FR" sz="3550" b="1" dirty="0">
                <a:latin typeface="Arial"/>
                <a:cs typeface="Arial"/>
              </a:rPr>
              <a:t>:</a:t>
            </a:r>
            <a:r>
              <a:rPr lang="fr-FR" sz="3550" b="1" spc="-25" dirty="0">
                <a:latin typeface="Arial"/>
                <a:cs typeface="Arial"/>
              </a:rPr>
              <a:t>acquisition d’immobilisations incorporelles,</a:t>
            </a:r>
            <a:r>
              <a:rPr lang="fr-FR" sz="3550" b="1" spc="-60" dirty="0">
                <a:latin typeface="Arial"/>
                <a:cs typeface="Arial"/>
              </a:rPr>
              <a:t> </a:t>
            </a:r>
            <a:r>
              <a:rPr lang="fr-FR" sz="3550" b="1" spc="10" dirty="0">
                <a:latin typeface="Arial"/>
                <a:cs typeface="Arial"/>
              </a:rPr>
              <a:t>réparation</a:t>
            </a:r>
            <a:r>
              <a:rPr lang="fr-FR" sz="3550" dirty="0">
                <a:latin typeface="Arial"/>
                <a:cs typeface="Arial"/>
              </a:rPr>
              <a:t> </a:t>
            </a:r>
            <a:r>
              <a:rPr lang="fr-FR" sz="3550" b="1" spc="-30" dirty="0">
                <a:latin typeface="Arial"/>
                <a:cs typeface="Arial"/>
              </a:rPr>
              <a:t>d’un </a:t>
            </a:r>
            <a:r>
              <a:rPr lang="fr-FR" sz="3550" b="1" spc="15" dirty="0">
                <a:latin typeface="Arial"/>
                <a:cs typeface="Arial"/>
              </a:rPr>
              <a:t>actif </a:t>
            </a:r>
            <a:r>
              <a:rPr lang="fr-FR" sz="3550" b="1" spc="-5" dirty="0">
                <a:latin typeface="Arial"/>
                <a:cs typeface="Arial"/>
              </a:rPr>
              <a:t>existant </a:t>
            </a:r>
            <a:r>
              <a:rPr lang="fr-FR" sz="3550" b="1" spc="-20" dirty="0">
                <a:latin typeface="Arial"/>
                <a:cs typeface="Arial"/>
              </a:rPr>
              <a:t>pour </a:t>
            </a:r>
            <a:r>
              <a:rPr lang="fr-FR" sz="3550" b="1" dirty="0">
                <a:latin typeface="Arial"/>
                <a:cs typeface="Arial"/>
              </a:rPr>
              <a:t>améliorer </a:t>
            </a:r>
            <a:r>
              <a:rPr lang="fr-FR" sz="3550" b="1" spc="-10" dirty="0">
                <a:latin typeface="Arial"/>
                <a:cs typeface="Arial"/>
              </a:rPr>
              <a:t>la </a:t>
            </a:r>
            <a:r>
              <a:rPr lang="fr-FR" sz="3550" b="1" spc="5" dirty="0">
                <a:latin typeface="Arial"/>
                <a:cs typeface="Arial"/>
              </a:rPr>
              <a:t>durée </a:t>
            </a:r>
            <a:r>
              <a:rPr lang="fr-FR" sz="3550" b="1" spc="10" dirty="0">
                <a:latin typeface="Arial"/>
                <a:cs typeface="Arial"/>
              </a:rPr>
              <a:t>de </a:t>
            </a:r>
            <a:r>
              <a:rPr lang="fr-FR" sz="3550" b="1" spc="-30" dirty="0">
                <a:latin typeface="Arial"/>
                <a:cs typeface="Arial"/>
              </a:rPr>
              <a:t>vie, </a:t>
            </a:r>
            <a:r>
              <a:rPr lang="fr-FR" sz="3550" b="1" spc="25" dirty="0">
                <a:latin typeface="Arial"/>
                <a:cs typeface="Arial"/>
              </a:rPr>
              <a:t>démarrage </a:t>
            </a:r>
            <a:r>
              <a:rPr lang="fr-FR" sz="3550" b="1" spc="-20" dirty="0">
                <a:latin typeface="Arial"/>
                <a:cs typeface="Arial"/>
              </a:rPr>
              <a:t>ou </a:t>
            </a:r>
            <a:r>
              <a:rPr lang="fr-FR" sz="3550" b="1" spc="-25" dirty="0">
                <a:latin typeface="Arial"/>
                <a:cs typeface="Arial"/>
              </a:rPr>
              <a:t>acquisition </a:t>
            </a:r>
            <a:r>
              <a:rPr lang="fr-FR" sz="3550" b="1" spc="-10" dirty="0">
                <a:latin typeface="Arial"/>
                <a:cs typeface="Arial"/>
              </a:rPr>
              <a:t>d’une </a:t>
            </a:r>
            <a:r>
              <a:rPr lang="fr-FR" sz="3550" b="1" spc="-40" dirty="0">
                <a:latin typeface="Arial"/>
                <a:cs typeface="Arial"/>
              </a:rPr>
              <a:t>nouvelle</a:t>
            </a:r>
            <a:r>
              <a:rPr lang="fr-FR" sz="3550" b="1" spc="-175" dirty="0">
                <a:latin typeface="Arial"/>
                <a:cs typeface="Arial"/>
              </a:rPr>
              <a:t> </a:t>
            </a:r>
            <a:r>
              <a:rPr lang="fr-FR" sz="3550" b="1" spc="-5" dirty="0">
                <a:latin typeface="Arial"/>
                <a:cs typeface="Arial"/>
              </a:rPr>
              <a:t>entreprise</a:t>
            </a:r>
            <a:endParaRPr lang="fr-FR" sz="3550" dirty="0">
              <a:latin typeface="Arial"/>
              <a:cs typeface="Arial"/>
            </a:endParaRPr>
          </a:p>
          <a:p>
            <a:pPr algn="just">
              <a:lnSpc>
                <a:spcPct val="100000"/>
              </a:lnSpc>
              <a:spcBef>
                <a:spcPts val="5"/>
              </a:spcBef>
            </a:pPr>
            <a:endParaRPr lang="fr-FR" sz="4400" dirty="0">
              <a:latin typeface="Arial"/>
              <a:cs typeface="Arial"/>
            </a:endParaRPr>
          </a:p>
          <a:p>
            <a:pPr marL="326390" indent="-314325" algn="just">
              <a:lnSpc>
                <a:spcPct val="100000"/>
              </a:lnSpc>
              <a:buClr>
                <a:srgbClr val="000000"/>
              </a:buClr>
              <a:buChar char="•"/>
              <a:tabLst>
                <a:tab pos="327025" algn="l"/>
              </a:tabLst>
            </a:pPr>
            <a:r>
              <a:rPr lang="fr-FR" sz="3550" u="heavy" spc="-15" dirty="0">
                <a:solidFill>
                  <a:srgbClr val="52575F"/>
                </a:solidFill>
                <a:uFill>
                  <a:solidFill>
                    <a:srgbClr val="52575F"/>
                  </a:solidFill>
                </a:uFill>
                <a:latin typeface="Arial Black"/>
                <a:cs typeface="Arial Black"/>
              </a:rPr>
              <a:t>CAPEX </a:t>
            </a:r>
            <a:r>
              <a:rPr lang="fr-FR" sz="3550" u="heavy" spc="-5" dirty="0">
                <a:solidFill>
                  <a:srgbClr val="52575F"/>
                </a:solidFill>
                <a:uFill>
                  <a:solidFill>
                    <a:srgbClr val="52575F"/>
                  </a:solidFill>
                </a:uFill>
                <a:latin typeface="Arial Black"/>
                <a:cs typeface="Arial Black"/>
              </a:rPr>
              <a:t>liés</a:t>
            </a:r>
            <a:r>
              <a:rPr lang="fr-FR" sz="3550" u="heavy" spc="-35" dirty="0">
                <a:solidFill>
                  <a:srgbClr val="52575F"/>
                </a:solidFill>
                <a:uFill>
                  <a:solidFill>
                    <a:srgbClr val="52575F"/>
                  </a:solidFill>
                </a:uFill>
                <a:latin typeface="Arial Black"/>
                <a:cs typeface="Arial Black"/>
              </a:rPr>
              <a:t> </a:t>
            </a:r>
            <a:r>
              <a:rPr lang="fr-FR" sz="3550" u="heavy" spc="-5" dirty="0">
                <a:solidFill>
                  <a:srgbClr val="52575F"/>
                </a:solidFill>
                <a:uFill>
                  <a:solidFill>
                    <a:srgbClr val="52575F"/>
                  </a:solidFill>
                </a:uFill>
                <a:latin typeface="Arial Black"/>
                <a:cs typeface="Arial Black"/>
              </a:rPr>
              <a:t>TIC</a:t>
            </a:r>
            <a:endParaRPr lang="fr-FR" sz="3550" dirty="0">
              <a:latin typeface="Arial Black"/>
              <a:cs typeface="Arial Black"/>
            </a:endParaRPr>
          </a:p>
          <a:p>
            <a:pPr marL="693420" lvl="1" indent="-316230" algn="just">
              <a:lnSpc>
                <a:spcPct val="100000"/>
              </a:lnSpc>
              <a:spcBef>
                <a:spcPts val="434"/>
              </a:spcBef>
              <a:buFont typeface="Arial"/>
              <a:buChar char="•"/>
              <a:tabLst>
                <a:tab pos="694055" algn="l"/>
              </a:tabLst>
            </a:pPr>
            <a:r>
              <a:rPr lang="fr-FR" sz="3550" b="1" spc="15" dirty="0">
                <a:latin typeface="Arial"/>
                <a:cs typeface="Arial"/>
              </a:rPr>
              <a:t>Hardware </a:t>
            </a:r>
            <a:r>
              <a:rPr lang="fr-FR" sz="3550" b="1" spc="30" dirty="0">
                <a:latin typeface="Arial"/>
                <a:cs typeface="Arial"/>
              </a:rPr>
              <a:t>et </a:t>
            </a:r>
            <a:r>
              <a:rPr lang="fr-FR" sz="3550" b="1" dirty="0">
                <a:latin typeface="Arial"/>
                <a:cs typeface="Arial"/>
              </a:rPr>
              <a:t>programmes</a:t>
            </a:r>
            <a:r>
              <a:rPr lang="fr-FR" sz="3550" b="1" spc="85" dirty="0">
                <a:latin typeface="Arial"/>
                <a:cs typeface="Arial"/>
              </a:rPr>
              <a:t> </a:t>
            </a:r>
            <a:r>
              <a:rPr lang="fr-FR" sz="3550" b="1" spc="-15" dirty="0">
                <a:latin typeface="Arial"/>
                <a:cs typeface="Arial"/>
              </a:rPr>
              <a:t>ordinateurs</a:t>
            </a:r>
            <a:endParaRPr lang="fr-FR" sz="3550" dirty="0">
              <a:latin typeface="Arial"/>
              <a:cs typeface="Arial"/>
            </a:endParaRPr>
          </a:p>
          <a:p>
            <a:pPr marL="693420" lvl="1" indent="-316230" algn="just">
              <a:lnSpc>
                <a:spcPct val="100000"/>
              </a:lnSpc>
              <a:buFont typeface="Arial"/>
              <a:buChar char="•"/>
              <a:tabLst>
                <a:tab pos="694055" algn="l"/>
              </a:tabLst>
            </a:pPr>
            <a:r>
              <a:rPr lang="fr-FR" sz="3550" b="1" spc="15" dirty="0">
                <a:latin typeface="Arial"/>
                <a:cs typeface="Arial"/>
              </a:rPr>
              <a:t>Hardware </a:t>
            </a:r>
            <a:r>
              <a:rPr lang="fr-FR" sz="3550" b="1" spc="30" dirty="0">
                <a:latin typeface="Arial"/>
                <a:cs typeface="Arial"/>
              </a:rPr>
              <a:t>et </a:t>
            </a:r>
            <a:r>
              <a:rPr lang="fr-FR" sz="3550" b="1" dirty="0">
                <a:latin typeface="Arial"/>
                <a:cs typeface="Arial"/>
              </a:rPr>
              <a:t>programmes</a:t>
            </a:r>
            <a:r>
              <a:rPr lang="fr-FR" sz="3550" b="1" spc="85" dirty="0">
                <a:latin typeface="Arial"/>
                <a:cs typeface="Arial"/>
              </a:rPr>
              <a:t> </a:t>
            </a:r>
            <a:r>
              <a:rPr lang="fr-FR" sz="3550" b="1" dirty="0">
                <a:latin typeface="Arial"/>
                <a:cs typeface="Arial"/>
              </a:rPr>
              <a:t>réseaux</a:t>
            </a:r>
            <a:endParaRPr lang="fr-FR" sz="3550" dirty="0">
              <a:latin typeface="Arial"/>
              <a:cs typeface="Arial"/>
            </a:endParaRPr>
          </a:p>
          <a:p>
            <a:pPr marL="693420" lvl="1" indent="-316230" algn="just">
              <a:lnSpc>
                <a:spcPct val="100000"/>
              </a:lnSpc>
              <a:buFont typeface="Arial"/>
              <a:buChar char="•"/>
              <a:tabLst>
                <a:tab pos="694055" algn="l"/>
              </a:tabLst>
            </a:pPr>
            <a:r>
              <a:rPr lang="fr-FR" sz="3550" b="1" spc="15" dirty="0">
                <a:latin typeface="Arial"/>
                <a:cs typeface="Arial"/>
              </a:rPr>
              <a:t>Hardware </a:t>
            </a:r>
            <a:r>
              <a:rPr lang="fr-FR" sz="3550" b="1" spc="30" dirty="0">
                <a:latin typeface="Arial"/>
                <a:cs typeface="Arial"/>
              </a:rPr>
              <a:t>et </a:t>
            </a:r>
            <a:r>
              <a:rPr lang="fr-FR" sz="3550" b="1" spc="5" dirty="0">
                <a:latin typeface="Arial"/>
                <a:cs typeface="Arial"/>
              </a:rPr>
              <a:t>programme</a:t>
            </a:r>
            <a:r>
              <a:rPr lang="fr-FR" sz="3550" b="1" spc="90" dirty="0">
                <a:latin typeface="Arial"/>
                <a:cs typeface="Arial"/>
              </a:rPr>
              <a:t> </a:t>
            </a:r>
            <a:r>
              <a:rPr lang="fr-FR" sz="3550" b="1" spc="-35" dirty="0">
                <a:latin typeface="Arial"/>
                <a:cs typeface="Arial"/>
              </a:rPr>
              <a:t>serveurs</a:t>
            </a:r>
            <a:endParaRPr lang="fr-FR" sz="3550" dirty="0">
              <a:latin typeface="Arial"/>
              <a:cs typeface="Arial"/>
            </a:endParaRPr>
          </a:p>
          <a:p>
            <a:pPr marL="693420" lvl="1" indent="-316230" algn="just">
              <a:lnSpc>
                <a:spcPct val="100000"/>
              </a:lnSpc>
              <a:spcBef>
                <a:spcPts val="5"/>
              </a:spcBef>
              <a:buFont typeface="Arial"/>
              <a:buChar char="•"/>
              <a:tabLst>
                <a:tab pos="694055" algn="l"/>
              </a:tabLst>
            </a:pPr>
            <a:r>
              <a:rPr lang="fr-FR" sz="3550" b="1" spc="-10" dirty="0">
                <a:latin typeface="Arial"/>
                <a:cs typeface="Arial"/>
              </a:rPr>
              <a:t>Installation </a:t>
            </a:r>
            <a:r>
              <a:rPr lang="fr-FR" sz="3550" b="1" spc="30" dirty="0">
                <a:latin typeface="Arial"/>
                <a:cs typeface="Arial"/>
              </a:rPr>
              <a:t>et </a:t>
            </a:r>
            <a:r>
              <a:rPr lang="fr-FR" sz="3550" b="1" spc="-5" dirty="0">
                <a:latin typeface="Arial"/>
                <a:cs typeface="Arial"/>
              </a:rPr>
              <a:t>intégration </a:t>
            </a:r>
            <a:r>
              <a:rPr lang="fr-FR" sz="3550" b="1" spc="5" dirty="0">
                <a:latin typeface="Arial"/>
                <a:cs typeface="Arial"/>
              </a:rPr>
              <a:t>hardware </a:t>
            </a:r>
            <a:r>
              <a:rPr lang="fr-FR" sz="3550" b="1" spc="30" dirty="0">
                <a:latin typeface="Arial"/>
                <a:cs typeface="Arial"/>
              </a:rPr>
              <a:t>et</a:t>
            </a:r>
            <a:r>
              <a:rPr lang="fr-FR" sz="3550" b="1" spc="-5" dirty="0">
                <a:latin typeface="Arial"/>
                <a:cs typeface="Arial"/>
              </a:rPr>
              <a:t> </a:t>
            </a:r>
            <a:r>
              <a:rPr lang="fr-FR" sz="3550" b="1" dirty="0">
                <a:latin typeface="Arial"/>
                <a:cs typeface="Arial"/>
              </a:rPr>
              <a:t>programmes</a:t>
            </a:r>
            <a:endParaRPr lang="fr-FR" sz="3550" dirty="0">
              <a:latin typeface="Arial"/>
              <a:cs typeface="Arial"/>
            </a:endParaRPr>
          </a:p>
          <a:p>
            <a:pPr marL="693420" lvl="1" indent="-316230" algn="just">
              <a:lnSpc>
                <a:spcPct val="100000"/>
              </a:lnSpc>
              <a:buFont typeface="Arial"/>
              <a:buChar char="•"/>
              <a:tabLst>
                <a:tab pos="694055" algn="l"/>
              </a:tabLst>
            </a:pPr>
            <a:r>
              <a:rPr lang="fr-FR" sz="3550" b="1" spc="15" dirty="0">
                <a:latin typeface="Arial"/>
                <a:cs typeface="Arial"/>
              </a:rPr>
              <a:t>Maintenance, </a:t>
            </a:r>
            <a:r>
              <a:rPr lang="fr-FR" sz="3550" b="1" dirty="0">
                <a:latin typeface="Arial"/>
                <a:cs typeface="Arial"/>
              </a:rPr>
              <a:t>garanties </a:t>
            </a:r>
            <a:r>
              <a:rPr lang="fr-FR" sz="3550" b="1" spc="30" dirty="0">
                <a:latin typeface="Arial"/>
                <a:cs typeface="Arial"/>
              </a:rPr>
              <a:t>et</a:t>
            </a:r>
            <a:r>
              <a:rPr lang="fr-FR" sz="3550" b="1" spc="50" dirty="0">
                <a:latin typeface="Arial"/>
                <a:cs typeface="Arial"/>
              </a:rPr>
              <a:t> </a:t>
            </a:r>
            <a:r>
              <a:rPr lang="fr-FR" sz="3550" b="1" dirty="0">
                <a:latin typeface="Arial"/>
                <a:cs typeface="Arial"/>
              </a:rPr>
              <a:t>licences</a:t>
            </a:r>
            <a:endParaRPr lang="fr-FR" sz="3550" dirty="0">
              <a:latin typeface="Arial"/>
              <a:cs typeface="Arial"/>
            </a:endParaRPr>
          </a:p>
          <a:p>
            <a:pPr algn="just"/>
            <a:endParaRPr lang="fr-FR" dirty="0"/>
          </a:p>
        </p:txBody>
      </p:sp>
      <p:sp>
        <p:nvSpPr>
          <p:cNvPr id="4" name="Espace réservé du pied de page 3">
            <a:extLst>
              <a:ext uri="{FF2B5EF4-FFF2-40B4-BE49-F238E27FC236}">
                <a16:creationId xmlns:a16="http://schemas.microsoft.com/office/drawing/2014/main" id="{044F6391-B3D9-FAA7-2A88-0AF7B6D744B5}"/>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3FE66941-0397-8576-6244-D655C7DC3F1E}"/>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590085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A49DFBC-B718-F2F1-7B5C-6970CA4FBCF3}"/>
              </a:ext>
            </a:extLst>
          </p:cNvPr>
          <p:cNvSpPr>
            <a:spLocks noGrp="1"/>
          </p:cNvSpPr>
          <p:nvPr>
            <p:ph idx="1"/>
          </p:nvPr>
        </p:nvSpPr>
        <p:spPr>
          <a:xfrm>
            <a:off x="448966" y="1502815"/>
            <a:ext cx="8246070" cy="3538292"/>
          </a:xfrm>
        </p:spPr>
        <p:txBody>
          <a:bodyPr>
            <a:normAutofit fontScale="25000" lnSpcReduction="20000"/>
          </a:bodyPr>
          <a:lstStyle/>
          <a:p>
            <a:pPr marL="0" indent="0" algn="just">
              <a:lnSpc>
                <a:spcPct val="120000"/>
              </a:lnSpc>
              <a:spcBef>
                <a:spcPts val="100"/>
              </a:spcBef>
              <a:buNone/>
            </a:pPr>
            <a:r>
              <a:rPr lang="fr-FR" sz="6400" dirty="0">
                <a:latin typeface="Arial Black"/>
                <a:cs typeface="Arial Black"/>
              </a:rPr>
              <a:t>OPEX</a:t>
            </a:r>
          </a:p>
          <a:p>
            <a:pPr algn="just">
              <a:lnSpc>
                <a:spcPct val="120000"/>
              </a:lnSpc>
              <a:spcBef>
                <a:spcPts val="45"/>
              </a:spcBef>
            </a:pPr>
            <a:endParaRPr lang="fr-FR" sz="3400" dirty="0">
              <a:latin typeface="Arial Black"/>
              <a:cs typeface="Arial Black"/>
            </a:endParaRPr>
          </a:p>
          <a:p>
            <a:pPr marL="326390" indent="-314325" algn="just">
              <a:lnSpc>
                <a:spcPct val="120000"/>
              </a:lnSpc>
              <a:buChar char="•"/>
              <a:tabLst>
                <a:tab pos="327025" algn="l"/>
              </a:tabLst>
            </a:pPr>
            <a:r>
              <a:rPr lang="fr-FR" sz="3550" u="heavy" dirty="0">
                <a:solidFill>
                  <a:srgbClr val="52575F"/>
                </a:solidFill>
                <a:uFill>
                  <a:solidFill>
                    <a:srgbClr val="52575F"/>
                  </a:solidFill>
                </a:uFill>
                <a:latin typeface="Arial Black"/>
                <a:cs typeface="Arial Black"/>
              </a:rPr>
              <a:t>Les OPEX</a:t>
            </a:r>
            <a:r>
              <a:rPr lang="fr-FR" sz="3550" u="heavy" spc="-80" dirty="0">
                <a:solidFill>
                  <a:srgbClr val="52575F"/>
                </a:solidFill>
                <a:uFill>
                  <a:solidFill>
                    <a:srgbClr val="52575F"/>
                  </a:solidFill>
                </a:uFill>
                <a:latin typeface="Arial Black"/>
                <a:cs typeface="Arial Black"/>
              </a:rPr>
              <a:t> </a:t>
            </a:r>
            <a:r>
              <a:rPr lang="fr-FR" sz="3550" u="heavy" spc="35" dirty="0">
                <a:solidFill>
                  <a:srgbClr val="52575F"/>
                </a:solidFill>
                <a:uFill>
                  <a:solidFill>
                    <a:srgbClr val="52575F"/>
                  </a:solidFill>
                </a:uFill>
                <a:latin typeface="Arial Black"/>
                <a:cs typeface="Arial Black"/>
              </a:rPr>
              <a:t>regroupent</a:t>
            </a:r>
            <a:endParaRPr lang="fr-FR" sz="3550" dirty="0">
              <a:latin typeface="Arial Black"/>
              <a:cs typeface="Arial Black"/>
            </a:endParaRPr>
          </a:p>
          <a:p>
            <a:pPr marL="629920" lvl="1" indent="-314960" algn="just">
              <a:lnSpc>
                <a:spcPct val="120000"/>
              </a:lnSpc>
              <a:spcBef>
                <a:spcPts val="430"/>
              </a:spcBef>
              <a:buChar char="•"/>
              <a:tabLst>
                <a:tab pos="630555" algn="l"/>
              </a:tabLst>
            </a:pPr>
            <a:r>
              <a:rPr lang="fr-FR" sz="5600" spc="35" dirty="0">
                <a:latin typeface="Arial"/>
                <a:cs typeface="Arial"/>
              </a:rPr>
              <a:t>Dépenses </a:t>
            </a:r>
            <a:r>
              <a:rPr lang="fr-FR" sz="5600" spc="80" dirty="0">
                <a:latin typeface="Arial"/>
                <a:cs typeface="Arial"/>
              </a:rPr>
              <a:t>continues pour </a:t>
            </a:r>
            <a:r>
              <a:rPr lang="fr-FR" sz="5600" spc="25" dirty="0">
                <a:latin typeface="Arial"/>
                <a:cs typeface="Arial"/>
              </a:rPr>
              <a:t>faire </a:t>
            </a:r>
            <a:r>
              <a:rPr lang="fr-FR" sz="5600" spc="80" dirty="0">
                <a:latin typeface="Arial"/>
                <a:cs typeface="Arial"/>
              </a:rPr>
              <a:t>fonctionner </a:t>
            </a:r>
            <a:r>
              <a:rPr lang="fr-FR" sz="5600" spc="30" dirty="0">
                <a:latin typeface="Arial"/>
                <a:cs typeface="Arial"/>
              </a:rPr>
              <a:t>un </a:t>
            </a:r>
            <a:r>
              <a:rPr lang="fr-FR" sz="5600" spc="80" dirty="0">
                <a:latin typeface="Arial"/>
                <a:cs typeface="Arial"/>
              </a:rPr>
              <a:t>produit, </a:t>
            </a:r>
            <a:r>
              <a:rPr lang="fr-FR" sz="5600" spc="25" dirty="0">
                <a:latin typeface="Arial"/>
                <a:cs typeface="Arial"/>
              </a:rPr>
              <a:t>une </a:t>
            </a:r>
            <a:r>
              <a:rPr lang="fr-FR" sz="5600" spc="50" dirty="0">
                <a:latin typeface="Arial"/>
                <a:cs typeface="Arial"/>
              </a:rPr>
              <a:t>entreprise </a:t>
            </a:r>
            <a:r>
              <a:rPr lang="fr-FR" sz="5600" spc="135" dirty="0" err="1">
                <a:latin typeface="Arial"/>
                <a:cs typeface="Arial"/>
              </a:rPr>
              <a:t>ouun</a:t>
            </a:r>
            <a:r>
              <a:rPr lang="fr-FR" sz="5600" spc="985" dirty="0">
                <a:latin typeface="Arial"/>
                <a:cs typeface="Arial"/>
              </a:rPr>
              <a:t> </a:t>
            </a:r>
            <a:r>
              <a:rPr lang="fr-FR" sz="5600" spc="55" dirty="0">
                <a:latin typeface="Arial"/>
                <a:cs typeface="Arial"/>
              </a:rPr>
              <a:t>système</a:t>
            </a:r>
            <a:endParaRPr lang="fr-FR" sz="5600" dirty="0">
              <a:latin typeface="Arial"/>
              <a:cs typeface="Arial"/>
            </a:endParaRPr>
          </a:p>
          <a:p>
            <a:pPr marL="629920" lvl="1" indent="-314960" algn="just">
              <a:lnSpc>
                <a:spcPct val="120000"/>
              </a:lnSpc>
              <a:buChar char="•"/>
              <a:tabLst>
                <a:tab pos="630555" algn="l"/>
              </a:tabLst>
            </a:pPr>
            <a:r>
              <a:rPr lang="fr-FR" sz="5600" spc="35" dirty="0">
                <a:latin typeface="Arial"/>
                <a:cs typeface="Arial"/>
              </a:rPr>
              <a:t>Dépenses</a:t>
            </a:r>
            <a:r>
              <a:rPr lang="fr-FR" sz="5600" spc="40" dirty="0">
                <a:latin typeface="Arial"/>
                <a:cs typeface="Arial"/>
              </a:rPr>
              <a:t> </a:t>
            </a:r>
            <a:r>
              <a:rPr lang="fr-FR" sz="5600" spc="75" dirty="0">
                <a:latin typeface="Arial"/>
                <a:cs typeface="Arial"/>
              </a:rPr>
              <a:t>quotidiennes</a:t>
            </a:r>
            <a:endParaRPr lang="fr-FR" sz="5600" dirty="0">
              <a:latin typeface="Arial"/>
              <a:cs typeface="Arial"/>
            </a:endParaRPr>
          </a:p>
          <a:p>
            <a:pPr marL="629920" lvl="1" indent="-314960" algn="just">
              <a:lnSpc>
                <a:spcPct val="120000"/>
              </a:lnSpc>
              <a:buChar char="•"/>
              <a:tabLst>
                <a:tab pos="630555" algn="l"/>
              </a:tabLst>
            </a:pPr>
            <a:r>
              <a:rPr lang="fr-FR" sz="5600" spc="35" dirty="0">
                <a:latin typeface="Arial"/>
                <a:cs typeface="Arial"/>
              </a:rPr>
              <a:t>Dépenses </a:t>
            </a:r>
            <a:r>
              <a:rPr lang="fr-FR" sz="5600" spc="95" dirty="0">
                <a:latin typeface="Arial"/>
                <a:cs typeface="Arial"/>
              </a:rPr>
              <a:t>d’exploitation </a:t>
            </a:r>
            <a:r>
              <a:rPr lang="fr-FR" sz="5600" spc="75" dirty="0">
                <a:latin typeface="Arial"/>
                <a:cs typeface="Arial"/>
              </a:rPr>
              <a:t>sont </a:t>
            </a:r>
            <a:r>
              <a:rPr lang="fr-FR" sz="5600" spc="15" dirty="0">
                <a:latin typeface="Arial"/>
                <a:cs typeface="Arial"/>
              </a:rPr>
              <a:t>la </a:t>
            </a:r>
            <a:r>
              <a:rPr lang="fr-FR" sz="5600" spc="65" dirty="0">
                <a:latin typeface="Arial"/>
                <a:cs typeface="Arial"/>
              </a:rPr>
              <a:t>somme </a:t>
            </a:r>
            <a:r>
              <a:rPr lang="fr-FR" sz="5600" spc="55" dirty="0">
                <a:latin typeface="Arial"/>
                <a:cs typeface="Arial"/>
              </a:rPr>
              <a:t>des </a:t>
            </a:r>
            <a:r>
              <a:rPr lang="fr-FR" sz="5600" spc="60" dirty="0">
                <a:latin typeface="Arial"/>
                <a:cs typeface="Arial"/>
              </a:rPr>
              <a:t>dépenses </a:t>
            </a:r>
            <a:r>
              <a:rPr lang="fr-FR" sz="5600" spc="95" dirty="0">
                <a:latin typeface="Arial"/>
                <a:cs typeface="Arial"/>
              </a:rPr>
              <a:t>d’exploitation </a:t>
            </a:r>
            <a:r>
              <a:rPr lang="fr-FR" sz="5600" spc="80" dirty="0">
                <a:latin typeface="Arial"/>
                <a:cs typeface="Arial"/>
              </a:rPr>
              <a:t>pour</a:t>
            </a:r>
            <a:r>
              <a:rPr lang="fr-FR" sz="5600" spc="120" dirty="0">
                <a:latin typeface="Arial"/>
                <a:cs typeface="Arial"/>
              </a:rPr>
              <a:t> </a:t>
            </a:r>
            <a:r>
              <a:rPr lang="fr-FR" sz="5600" spc="90" dirty="0" err="1">
                <a:latin typeface="Arial"/>
                <a:cs typeface="Arial"/>
              </a:rPr>
              <a:t>unepériode</a:t>
            </a:r>
            <a:endParaRPr lang="fr-FR" sz="5600" dirty="0">
              <a:latin typeface="Arial"/>
              <a:cs typeface="Arial"/>
            </a:endParaRPr>
          </a:p>
          <a:p>
            <a:pPr marL="629920" algn="just">
              <a:lnSpc>
                <a:spcPct val="120000"/>
              </a:lnSpc>
              <a:spcBef>
                <a:spcPts val="50"/>
              </a:spcBef>
            </a:pPr>
            <a:r>
              <a:rPr lang="fr-FR" sz="5600" spc="50" dirty="0">
                <a:latin typeface="Arial"/>
                <a:cs typeface="Arial"/>
              </a:rPr>
              <a:t>de </a:t>
            </a:r>
            <a:r>
              <a:rPr lang="fr-FR" sz="5600" spc="90" dirty="0">
                <a:latin typeface="Arial"/>
                <a:cs typeface="Arial"/>
              </a:rPr>
              <a:t>temps </a:t>
            </a:r>
            <a:r>
              <a:rPr lang="fr-FR" sz="5600" spc="25" dirty="0">
                <a:latin typeface="Arial"/>
                <a:cs typeface="Arial"/>
              </a:rPr>
              <a:t>(mois </a:t>
            </a:r>
            <a:r>
              <a:rPr lang="fr-FR" sz="5600" spc="50" dirty="0">
                <a:latin typeface="Arial"/>
                <a:cs typeface="Arial"/>
              </a:rPr>
              <a:t>ou</a:t>
            </a:r>
            <a:r>
              <a:rPr lang="fr-FR" sz="5600" spc="90" dirty="0">
                <a:latin typeface="Arial"/>
                <a:cs typeface="Arial"/>
              </a:rPr>
              <a:t> </a:t>
            </a:r>
            <a:r>
              <a:rPr lang="fr-FR" sz="5600" spc="-10" dirty="0">
                <a:latin typeface="Arial"/>
                <a:cs typeface="Arial"/>
              </a:rPr>
              <a:t>année)</a:t>
            </a:r>
            <a:endParaRPr lang="fr-FR" sz="5600" dirty="0">
              <a:latin typeface="Arial"/>
              <a:cs typeface="Arial"/>
            </a:endParaRPr>
          </a:p>
          <a:p>
            <a:pPr marL="629920" marR="15875" lvl="1" indent="-314325" algn="just">
              <a:lnSpc>
                <a:spcPct val="120000"/>
              </a:lnSpc>
              <a:spcBef>
                <a:spcPts val="140"/>
              </a:spcBef>
              <a:buChar char="•"/>
              <a:tabLst>
                <a:tab pos="630555" algn="l"/>
              </a:tabLst>
            </a:pPr>
            <a:r>
              <a:rPr lang="fr-FR" sz="5600" spc="35" dirty="0">
                <a:latin typeface="Arial"/>
                <a:cs typeface="Arial"/>
              </a:rPr>
              <a:t>Exemples </a:t>
            </a:r>
            <a:r>
              <a:rPr lang="fr-FR" sz="5600" dirty="0">
                <a:latin typeface="Arial"/>
                <a:cs typeface="Arial"/>
              </a:rPr>
              <a:t>: </a:t>
            </a:r>
            <a:r>
              <a:rPr lang="fr-FR" sz="5600" spc="45" dirty="0">
                <a:latin typeface="Arial"/>
                <a:cs typeface="Arial"/>
              </a:rPr>
              <a:t>frais </a:t>
            </a:r>
            <a:r>
              <a:rPr lang="fr-FR" sz="5600" spc="65" dirty="0">
                <a:latin typeface="Arial"/>
                <a:cs typeface="Arial"/>
              </a:rPr>
              <a:t>licence </a:t>
            </a:r>
            <a:r>
              <a:rPr lang="fr-FR" sz="5600" dirty="0">
                <a:latin typeface="Arial"/>
                <a:cs typeface="Arial"/>
              </a:rPr>
              <a:t>, </a:t>
            </a:r>
            <a:r>
              <a:rPr lang="fr-FR" sz="5600" spc="45" dirty="0">
                <a:latin typeface="Arial"/>
                <a:cs typeface="Arial"/>
              </a:rPr>
              <a:t>frais </a:t>
            </a:r>
            <a:r>
              <a:rPr lang="fr-FR" sz="5600" spc="80" dirty="0">
                <a:latin typeface="Arial"/>
                <a:cs typeface="Arial"/>
              </a:rPr>
              <a:t>location, </a:t>
            </a:r>
            <a:r>
              <a:rPr lang="fr-FR" sz="5600" spc="50" dirty="0">
                <a:latin typeface="Arial"/>
                <a:cs typeface="Arial"/>
              </a:rPr>
              <a:t>entretien </a:t>
            </a:r>
            <a:r>
              <a:rPr lang="fr-FR" sz="5600" spc="45" dirty="0">
                <a:latin typeface="Arial"/>
                <a:cs typeface="Arial"/>
              </a:rPr>
              <a:t>et </a:t>
            </a:r>
            <a:r>
              <a:rPr lang="fr-FR" sz="5600" spc="50" dirty="0">
                <a:latin typeface="Arial"/>
                <a:cs typeface="Arial"/>
              </a:rPr>
              <a:t>réparations, </a:t>
            </a:r>
            <a:r>
              <a:rPr lang="fr-FR" sz="5600" spc="45" dirty="0">
                <a:latin typeface="Arial"/>
                <a:cs typeface="Arial"/>
              </a:rPr>
              <a:t>frais </a:t>
            </a:r>
            <a:r>
              <a:rPr lang="fr-FR" sz="5600" spc="90" dirty="0">
                <a:latin typeface="Arial"/>
                <a:cs typeface="Arial"/>
              </a:rPr>
              <a:t>d’avocats </a:t>
            </a:r>
            <a:r>
              <a:rPr lang="fr-FR" sz="5600" spc="50" dirty="0">
                <a:latin typeface="Arial"/>
                <a:cs typeface="Arial"/>
              </a:rPr>
              <a:t>et </a:t>
            </a:r>
            <a:r>
              <a:rPr lang="fr-FR" sz="5600" spc="45" dirty="0">
                <a:latin typeface="Arial"/>
                <a:cs typeface="Arial"/>
              </a:rPr>
              <a:t>frais  </a:t>
            </a:r>
            <a:r>
              <a:rPr lang="fr-FR" sz="5600" spc="60" dirty="0">
                <a:latin typeface="Arial"/>
                <a:cs typeface="Arial"/>
              </a:rPr>
              <a:t>juridiques, </a:t>
            </a:r>
            <a:r>
              <a:rPr lang="fr-FR" sz="5600" spc="45" dirty="0">
                <a:latin typeface="Arial"/>
                <a:cs typeface="Arial"/>
              </a:rPr>
              <a:t>frais </a:t>
            </a:r>
            <a:r>
              <a:rPr lang="fr-FR" sz="5600" spc="95" dirty="0">
                <a:latin typeface="Arial"/>
                <a:cs typeface="Arial"/>
              </a:rPr>
              <a:t>communications </a:t>
            </a:r>
            <a:r>
              <a:rPr lang="fr-FR" sz="5600" spc="60" dirty="0">
                <a:latin typeface="Arial"/>
                <a:cs typeface="Arial"/>
              </a:rPr>
              <a:t>téléphoniques, </a:t>
            </a:r>
            <a:r>
              <a:rPr lang="fr-FR" sz="5600" spc="45" dirty="0">
                <a:latin typeface="Arial"/>
                <a:cs typeface="Arial"/>
              </a:rPr>
              <a:t>frais </a:t>
            </a:r>
            <a:r>
              <a:rPr lang="fr-FR" sz="5600" spc="80" dirty="0">
                <a:latin typeface="Arial"/>
                <a:cs typeface="Arial"/>
              </a:rPr>
              <a:t>déplacements </a:t>
            </a:r>
            <a:r>
              <a:rPr lang="fr-FR" sz="5600" spc="45" dirty="0">
                <a:latin typeface="Arial"/>
                <a:cs typeface="Arial"/>
              </a:rPr>
              <a:t>véhicules,</a:t>
            </a:r>
            <a:r>
              <a:rPr lang="fr-FR" sz="5600" spc="240" dirty="0">
                <a:latin typeface="Arial"/>
                <a:cs typeface="Arial"/>
              </a:rPr>
              <a:t> </a:t>
            </a:r>
            <a:r>
              <a:rPr lang="fr-FR" sz="5600" spc="65" dirty="0">
                <a:latin typeface="Arial"/>
                <a:cs typeface="Arial"/>
              </a:rPr>
              <a:t>etc.</a:t>
            </a:r>
            <a:endParaRPr lang="fr-FR" sz="5600" dirty="0">
              <a:latin typeface="Arial"/>
              <a:cs typeface="Arial"/>
            </a:endParaRPr>
          </a:p>
          <a:p>
            <a:pPr marL="326390" indent="-314325" algn="just">
              <a:lnSpc>
                <a:spcPct val="120000"/>
              </a:lnSpc>
              <a:spcBef>
                <a:spcPts val="480"/>
              </a:spcBef>
              <a:buClr>
                <a:srgbClr val="000000"/>
              </a:buClr>
              <a:buChar char="•"/>
              <a:tabLst>
                <a:tab pos="327025" algn="l"/>
              </a:tabLst>
            </a:pPr>
            <a:r>
              <a:rPr lang="fr-FR" sz="3550" u="heavy" spc="-5" dirty="0">
                <a:solidFill>
                  <a:srgbClr val="52575F"/>
                </a:solidFill>
                <a:uFill>
                  <a:solidFill>
                    <a:srgbClr val="52575F"/>
                  </a:solidFill>
                </a:uFill>
                <a:latin typeface="Arial Black"/>
                <a:cs typeface="Arial Black"/>
              </a:rPr>
              <a:t>OPEX </a:t>
            </a:r>
            <a:r>
              <a:rPr lang="fr-FR" sz="3550" u="heavy" dirty="0">
                <a:solidFill>
                  <a:srgbClr val="52575F"/>
                </a:solidFill>
                <a:uFill>
                  <a:solidFill>
                    <a:srgbClr val="52575F"/>
                  </a:solidFill>
                </a:uFill>
                <a:latin typeface="Arial Black"/>
                <a:cs typeface="Arial Black"/>
              </a:rPr>
              <a:t>liés</a:t>
            </a:r>
            <a:r>
              <a:rPr lang="fr-FR" sz="3550" u="heavy" spc="-65" dirty="0">
                <a:solidFill>
                  <a:srgbClr val="52575F"/>
                </a:solidFill>
                <a:uFill>
                  <a:solidFill>
                    <a:srgbClr val="52575F"/>
                  </a:solidFill>
                </a:uFill>
                <a:latin typeface="Arial Black"/>
                <a:cs typeface="Arial Black"/>
              </a:rPr>
              <a:t> </a:t>
            </a:r>
            <a:r>
              <a:rPr lang="fr-FR" sz="3550" u="heavy" spc="-5" dirty="0">
                <a:solidFill>
                  <a:srgbClr val="52575F"/>
                </a:solidFill>
                <a:uFill>
                  <a:solidFill>
                    <a:srgbClr val="52575F"/>
                  </a:solidFill>
                </a:uFill>
                <a:latin typeface="Arial Black"/>
                <a:cs typeface="Arial Black"/>
              </a:rPr>
              <a:t>TIC</a:t>
            </a:r>
            <a:endParaRPr lang="fr-FR" sz="3550" dirty="0">
              <a:latin typeface="Arial Black"/>
              <a:cs typeface="Arial Black"/>
            </a:endParaRPr>
          </a:p>
          <a:p>
            <a:pPr marL="693420" lvl="1" indent="-316230" algn="just">
              <a:lnSpc>
                <a:spcPct val="120000"/>
              </a:lnSpc>
              <a:spcBef>
                <a:spcPts val="434"/>
              </a:spcBef>
              <a:buChar char="•"/>
              <a:tabLst>
                <a:tab pos="694055" algn="l"/>
              </a:tabLst>
            </a:pPr>
            <a:r>
              <a:rPr lang="fr-FR" sz="5600" spc="70" dirty="0">
                <a:latin typeface="Arial"/>
                <a:cs typeface="Arial"/>
              </a:rPr>
              <a:t>Allocation </a:t>
            </a:r>
            <a:r>
              <a:rPr lang="fr-FR" sz="5600" spc="55" dirty="0">
                <a:latin typeface="Arial"/>
                <a:cs typeface="Arial"/>
              </a:rPr>
              <a:t>des </a:t>
            </a:r>
            <a:r>
              <a:rPr lang="fr-FR" sz="5600" spc="50" dirty="0">
                <a:latin typeface="Arial"/>
                <a:cs typeface="Arial"/>
              </a:rPr>
              <a:t>services </a:t>
            </a:r>
            <a:r>
              <a:rPr lang="fr-FR" sz="5600" dirty="0">
                <a:latin typeface="Arial"/>
                <a:cs typeface="Arial"/>
              </a:rPr>
              <a:t>: </a:t>
            </a:r>
            <a:r>
              <a:rPr lang="fr-FR" sz="5600" spc="60" dirty="0">
                <a:latin typeface="Arial"/>
                <a:cs typeface="Arial"/>
              </a:rPr>
              <a:t>hébergement, </a:t>
            </a:r>
            <a:r>
              <a:rPr lang="fr-FR" sz="5600" spc="65" dirty="0">
                <a:latin typeface="Arial"/>
                <a:cs typeface="Arial"/>
              </a:rPr>
              <a:t>data</a:t>
            </a:r>
            <a:r>
              <a:rPr lang="fr-FR" sz="5600" spc="105" dirty="0">
                <a:latin typeface="Arial"/>
                <a:cs typeface="Arial"/>
              </a:rPr>
              <a:t> </a:t>
            </a:r>
            <a:r>
              <a:rPr lang="fr-FR" sz="5600" spc="65" dirty="0">
                <a:latin typeface="Arial"/>
                <a:cs typeface="Arial"/>
              </a:rPr>
              <a:t>center</a:t>
            </a:r>
            <a:endParaRPr lang="fr-FR" sz="5600" dirty="0">
              <a:latin typeface="Arial"/>
              <a:cs typeface="Arial"/>
            </a:endParaRPr>
          </a:p>
          <a:p>
            <a:pPr marL="693420" lvl="1" indent="-316230" algn="just">
              <a:lnSpc>
                <a:spcPct val="120000"/>
              </a:lnSpc>
              <a:buChar char="•"/>
              <a:tabLst>
                <a:tab pos="694055" algn="l"/>
              </a:tabLst>
            </a:pPr>
            <a:r>
              <a:rPr lang="fr-FR" sz="5600" spc="60" dirty="0">
                <a:latin typeface="Arial"/>
                <a:cs typeface="Arial"/>
              </a:rPr>
              <a:t>Alimentation </a:t>
            </a:r>
            <a:r>
              <a:rPr lang="fr-FR" sz="5600" dirty="0">
                <a:latin typeface="Arial"/>
                <a:cs typeface="Arial"/>
              </a:rPr>
              <a:t>: </a:t>
            </a:r>
            <a:r>
              <a:rPr lang="fr-FR" sz="5600" spc="75" dirty="0">
                <a:latin typeface="Arial"/>
                <a:cs typeface="Arial"/>
              </a:rPr>
              <a:t>équipements </a:t>
            </a:r>
            <a:r>
              <a:rPr lang="fr-FR" sz="5600" spc="50" dirty="0">
                <a:latin typeface="Arial"/>
                <a:cs typeface="Arial"/>
              </a:rPr>
              <a:t>de </a:t>
            </a:r>
            <a:r>
              <a:rPr lang="fr-FR" sz="5600" spc="55" dirty="0">
                <a:latin typeface="Arial"/>
                <a:cs typeface="Arial"/>
              </a:rPr>
              <a:t>refroidissement, </a:t>
            </a:r>
            <a:r>
              <a:rPr lang="fr-FR" sz="5600" spc="60" dirty="0">
                <a:latin typeface="Arial"/>
                <a:cs typeface="Arial"/>
              </a:rPr>
              <a:t>alimentation </a:t>
            </a:r>
            <a:r>
              <a:rPr lang="fr-FR" sz="5600" spc="50" dirty="0">
                <a:latin typeface="Arial"/>
                <a:cs typeface="Arial"/>
              </a:rPr>
              <a:t>de</a:t>
            </a:r>
            <a:r>
              <a:rPr lang="fr-FR" sz="5600" spc="325" dirty="0">
                <a:latin typeface="Arial"/>
                <a:cs typeface="Arial"/>
              </a:rPr>
              <a:t> </a:t>
            </a:r>
            <a:r>
              <a:rPr lang="fr-FR" sz="5600" spc="70" dirty="0">
                <a:latin typeface="Arial"/>
                <a:cs typeface="Arial"/>
              </a:rPr>
              <a:t>secours</a:t>
            </a:r>
            <a:endParaRPr lang="fr-FR" sz="5600" dirty="0">
              <a:latin typeface="Arial"/>
              <a:cs typeface="Arial"/>
            </a:endParaRPr>
          </a:p>
          <a:p>
            <a:pPr marL="693420" lvl="1" indent="-316230" algn="just">
              <a:lnSpc>
                <a:spcPct val="120000"/>
              </a:lnSpc>
              <a:buChar char="•"/>
              <a:tabLst>
                <a:tab pos="694055" algn="l"/>
              </a:tabLst>
            </a:pPr>
            <a:r>
              <a:rPr lang="fr-FR" sz="5600" spc="15" dirty="0">
                <a:latin typeface="Arial"/>
                <a:cs typeface="Arial"/>
              </a:rPr>
              <a:t>Frais </a:t>
            </a:r>
            <a:r>
              <a:rPr lang="fr-FR" sz="5600" spc="50" dirty="0">
                <a:latin typeface="Arial"/>
                <a:cs typeface="Arial"/>
              </a:rPr>
              <a:t>de </a:t>
            </a:r>
            <a:r>
              <a:rPr lang="fr-FR" sz="5600" dirty="0">
                <a:latin typeface="Arial"/>
                <a:cs typeface="Arial"/>
              </a:rPr>
              <a:t>: </a:t>
            </a:r>
            <a:r>
              <a:rPr lang="fr-FR" sz="5600" spc="60" dirty="0">
                <a:latin typeface="Arial"/>
                <a:cs typeface="Arial"/>
              </a:rPr>
              <a:t>test, </a:t>
            </a:r>
            <a:r>
              <a:rPr lang="fr-FR" sz="5600" spc="75" dirty="0">
                <a:latin typeface="Arial"/>
                <a:cs typeface="Arial"/>
              </a:rPr>
              <a:t>coupure </a:t>
            </a:r>
            <a:r>
              <a:rPr lang="fr-FR" sz="5600" spc="50" dirty="0">
                <a:latin typeface="Arial"/>
                <a:cs typeface="Arial"/>
              </a:rPr>
              <a:t>service,</a:t>
            </a:r>
            <a:r>
              <a:rPr lang="fr-FR" sz="5600" spc="75" dirty="0">
                <a:latin typeface="Arial"/>
                <a:cs typeface="Arial"/>
              </a:rPr>
              <a:t> </a:t>
            </a:r>
            <a:r>
              <a:rPr lang="fr-FR" sz="5600" spc="55" dirty="0">
                <a:latin typeface="Arial"/>
                <a:cs typeface="Arial"/>
              </a:rPr>
              <a:t>faillite</a:t>
            </a:r>
            <a:endParaRPr lang="fr-FR" sz="5600" dirty="0">
              <a:latin typeface="Arial"/>
              <a:cs typeface="Arial"/>
            </a:endParaRPr>
          </a:p>
          <a:p>
            <a:pPr marL="693420" lvl="1" indent="-316230" algn="just">
              <a:lnSpc>
                <a:spcPct val="120000"/>
              </a:lnSpc>
              <a:buChar char="•"/>
              <a:tabLst>
                <a:tab pos="694055" algn="l"/>
              </a:tabLst>
            </a:pPr>
            <a:r>
              <a:rPr lang="fr-FR" sz="5600" spc="50" dirty="0">
                <a:latin typeface="Arial"/>
                <a:cs typeface="Arial"/>
              </a:rPr>
              <a:t>Restauration </a:t>
            </a:r>
            <a:r>
              <a:rPr lang="fr-FR" sz="5600" spc="45" dirty="0">
                <a:latin typeface="Arial"/>
                <a:cs typeface="Arial"/>
              </a:rPr>
              <a:t>et </a:t>
            </a:r>
            <a:r>
              <a:rPr lang="fr-FR" sz="5600" spc="70" dirty="0">
                <a:latin typeface="Arial"/>
                <a:cs typeface="Arial"/>
              </a:rPr>
              <a:t>processus </a:t>
            </a:r>
            <a:r>
              <a:rPr lang="fr-FR" sz="5600" spc="45" dirty="0">
                <a:latin typeface="Arial"/>
                <a:cs typeface="Arial"/>
              </a:rPr>
              <a:t>de</a:t>
            </a:r>
            <a:r>
              <a:rPr lang="fr-FR" sz="5600" spc="135" dirty="0">
                <a:latin typeface="Arial"/>
                <a:cs typeface="Arial"/>
              </a:rPr>
              <a:t> </a:t>
            </a:r>
            <a:r>
              <a:rPr lang="fr-FR" sz="5600" spc="55" dirty="0">
                <a:latin typeface="Arial"/>
                <a:cs typeface="Arial"/>
              </a:rPr>
              <a:t>recouvrement</a:t>
            </a:r>
            <a:endParaRPr lang="fr-FR" sz="5600" dirty="0">
              <a:latin typeface="Arial"/>
              <a:cs typeface="Arial"/>
            </a:endParaRPr>
          </a:p>
          <a:p>
            <a:pPr marL="693420" lvl="1" indent="-316230" algn="just">
              <a:lnSpc>
                <a:spcPct val="120000"/>
              </a:lnSpc>
              <a:buChar char="•"/>
              <a:tabLst>
                <a:tab pos="694055" algn="l"/>
              </a:tabLst>
            </a:pPr>
            <a:r>
              <a:rPr lang="fr-FR" sz="5600" spc="70" dirty="0">
                <a:latin typeface="Arial"/>
                <a:cs typeface="Arial"/>
              </a:rPr>
              <a:t>Audit</a:t>
            </a:r>
            <a:endParaRPr lang="fr-FR" sz="5600" dirty="0">
              <a:latin typeface="Arial"/>
              <a:cs typeface="Arial"/>
            </a:endParaRPr>
          </a:p>
        </p:txBody>
      </p:sp>
      <p:sp>
        <p:nvSpPr>
          <p:cNvPr id="4" name="Espace réservé du pied de page 3">
            <a:extLst>
              <a:ext uri="{FF2B5EF4-FFF2-40B4-BE49-F238E27FC236}">
                <a16:creationId xmlns:a16="http://schemas.microsoft.com/office/drawing/2014/main" id="{FB30BECB-D871-3E0F-FC3A-D6C53E5058EF}"/>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F0104A53-B727-E5E4-15C2-6A253D979F12}"/>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140757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1379391"/>
            <a:ext cx="8246070" cy="364882"/>
          </a:xfrm>
        </p:spPr>
        <p:txBody>
          <a:bodyPr>
            <a:normAutofit fontScale="90000"/>
          </a:bodyPr>
          <a:lstStyle/>
          <a:p>
            <a:r>
              <a:rPr lang="en-US" dirty="0"/>
              <a:t>Principe de la </a:t>
            </a:r>
            <a:r>
              <a:rPr lang="en-US" dirty="0" err="1"/>
              <a:t>virtualisation</a:t>
            </a:r>
            <a:endParaRPr lang="en-US" dirty="0"/>
          </a:p>
        </p:txBody>
      </p:sp>
      <p:sp>
        <p:nvSpPr>
          <p:cNvPr id="3" name="Content Placeholder 2"/>
          <p:cNvSpPr>
            <a:spLocks noGrp="1"/>
          </p:cNvSpPr>
          <p:nvPr>
            <p:ph idx="1"/>
          </p:nvPr>
        </p:nvSpPr>
        <p:spPr>
          <a:xfrm>
            <a:off x="448966" y="1726451"/>
            <a:ext cx="8246070" cy="2290575"/>
          </a:xfrm>
        </p:spPr>
        <p:txBody>
          <a:bodyPr>
            <a:normAutofit fontScale="77500" lnSpcReduction="20000"/>
          </a:bodyPr>
          <a:lstStyle/>
          <a:p>
            <a:pPr algn="just"/>
            <a:r>
              <a:rPr lang="fr-FR" sz="1500" kern="0" dirty="0">
                <a:solidFill>
                  <a:srgbClr val="000000"/>
                </a:solidFill>
                <a:latin typeface="Segoe UI" panose="020B0502040204020203" pitchFamily="34" charset="0"/>
              </a:rPr>
              <a:t>Un serveur est un ordinateur utilisé à distance depuis différents postes de travail, ou autres serveurs qui possède des ressources matérielles, principalement CPU, mémoire, disques et interfaces réseau. </a:t>
            </a:r>
          </a:p>
          <a:p>
            <a:pPr algn="just"/>
            <a:r>
              <a:rPr lang="fr-FR" sz="1500" kern="0" dirty="0">
                <a:solidFill>
                  <a:srgbClr val="000000"/>
                </a:solidFill>
                <a:latin typeface="Segoe UI" panose="020B0502040204020203" pitchFamily="34" charset="0"/>
              </a:rPr>
              <a:t>Ces ressources sont utilisées par des applications, non pas de manière directe, mais en s’appuyant sur un système d’exploitation. </a:t>
            </a:r>
          </a:p>
          <a:p>
            <a:pPr algn="just"/>
            <a:r>
              <a:rPr lang="fr-FR" sz="1500" kern="0" dirty="0">
                <a:solidFill>
                  <a:srgbClr val="000000"/>
                </a:solidFill>
                <a:latin typeface="Segoe UI" panose="020B0502040204020203" pitchFamily="34" charset="0"/>
              </a:rPr>
              <a:t>La virtualisation de serveurs est un ensemble de techniques et d’outils permettant de faire tourner plusieurs systèmes d’exploitation sur un même serveur physique. </a:t>
            </a:r>
          </a:p>
          <a:p>
            <a:pPr algn="just"/>
            <a:r>
              <a:rPr lang="fr-FR" sz="1500" kern="0" dirty="0">
                <a:solidFill>
                  <a:srgbClr val="000000"/>
                </a:solidFill>
                <a:latin typeface="Segoe UI" panose="020B0502040204020203" pitchFamily="34" charset="0"/>
              </a:rPr>
              <a:t>Le principe de la virtualisation est donc un principe de partage : les différents systèmes d’exploitation se partagent les ressources du serveur physique.</a:t>
            </a:r>
          </a:p>
          <a:p>
            <a:pPr algn="just"/>
            <a:r>
              <a:rPr lang="fr-FR" sz="1500" kern="0" dirty="0">
                <a:solidFill>
                  <a:srgbClr val="000000"/>
                </a:solidFill>
                <a:effectLst/>
                <a:latin typeface="Segoe UI" panose="020B0502040204020203" pitchFamily="34" charset="0"/>
                <a:ea typeface="Times New Roman" panose="02020603050405020304" pitchFamily="18" charset="0"/>
              </a:rPr>
              <a:t>La virtualisation est une technologie qui permet de créer des environnements virtuels ou des instances logicielles de ressources informatiques physiques</a:t>
            </a:r>
          </a:p>
          <a:p>
            <a:pPr algn="just"/>
            <a:r>
              <a:rPr lang="fr-FR" sz="1500" kern="0" dirty="0">
                <a:solidFill>
                  <a:srgbClr val="000000"/>
                </a:solidFill>
                <a:effectLst/>
                <a:latin typeface="Segoe UI" panose="020B0502040204020203" pitchFamily="34" charset="0"/>
                <a:ea typeface="Times New Roman" panose="02020603050405020304" pitchFamily="18" charset="0"/>
              </a:rPr>
              <a:t>des serveurs, des systèmes d'exploitation, des réseaux, des dispositifs de stockage, etc. </a:t>
            </a:r>
          </a:p>
          <a:p>
            <a:pPr algn="just"/>
            <a:r>
              <a:rPr lang="fr-FR" sz="1500" kern="0" dirty="0">
                <a:solidFill>
                  <a:srgbClr val="000000"/>
                </a:solidFill>
                <a:effectLst/>
                <a:latin typeface="Segoe UI" panose="020B0502040204020203" pitchFamily="34" charset="0"/>
                <a:ea typeface="Times New Roman" panose="02020603050405020304" pitchFamily="18" charset="0"/>
              </a:rPr>
              <a:t>Une technologie largement utilisée dans les data centers et les infrastructures informatiques pour optimiser l'utilisation des ressources, améliorer la flexibilité et la gestion, et réduire les coûts.</a:t>
            </a:r>
          </a:p>
        </p:txBody>
      </p:sp>
      <p:sp>
        <p:nvSpPr>
          <p:cNvPr id="4" name="Espace réservé du pied de page 3">
            <a:extLst>
              <a:ext uri="{FF2B5EF4-FFF2-40B4-BE49-F238E27FC236}">
                <a16:creationId xmlns:a16="http://schemas.microsoft.com/office/drawing/2014/main" id="{67F891DC-1FFD-75D1-0826-9B74EF51697D}"/>
              </a:ext>
            </a:extLst>
          </p:cNvPr>
          <p:cNvSpPr>
            <a:spLocks noGrp="1"/>
          </p:cNvSpPr>
          <p:nvPr>
            <p:ph type="ftr" sz="quarter" idx="11"/>
          </p:nvPr>
        </p:nvSpPr>
        <p:spPr/>
        <p:txBody>
          <a:bodyPr/>
          <a:lstStyle/>
          <a:p>
            <a:r>
              <a:rPr lang="en-US" i="1" dirty="0"/>
              <a:t>Dr. </a:t>
            </a:r>
            <a:r>
              <a:rPr lang="en-US" i="1" dirty="0" err="1"/>
              <a:t>Bechir</a:t>
            </a:r>
            <a:r>
              <a:rPr lang="en-US" i="1" dirty="0"/>
              <a:t> Ben </a:t>
            </a:r>
            <a:r>
              <a:rPr lang="en-US" i="1" dirty="0" err="1"/>
              <a:t>Gouissem</a:t>
            </a:r>
            <a:endParaRPr lang="en-US" i="1" dirty="0"/>
          </a:p>
        </p:txBody>
      </p:sp>
      <p:sp>
        <p:nvSpPr>
          <p:cNvPr id="5" name="Espace réservé du numéro de diapositive 4">
            <a:extLst>
              <a:ext uri="{FF2B5EF4-FFF2-40B4-BE49-F238E27FC236}">
                <a16:creationId xmlns:a16="http://schemas.microsoft.com/office/drawing/2014/main" id="{DCD10452-4940-53B6-96BA-F10582952EE2}"/>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4100" name="Picture 4" descr="Qu'est ce que la virtualisation chez VmWare ?">
            <a:extLst>
              <a:ext uri="{FF2B5EF4-FFF2-40B4-BE49-F238E27FC236}">
                <a16:creationId xmlns:a16="http://schemas.microsoft.com/office/drawing/2014/main" id="{2207C3DD-E55A-576F-E583-7A06DAEE06D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92245" y="3899162"/>
            <a:ext cx="3448050" cy="996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30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D9409-4F81-E1D9-70BA-43B0968C70A2}"/>
              </a:ext>
            </a:extLst>
          </p:cNvPr>
          <p:cNvSpPr>
            <a:spLocks noGrp="1"/>
          </p:cNvSpPr>
          <p:nvPr>
            <p:ph type="title"/>
          </p:nvPr>
        </p:nvSpPr>
        <p:spPr/>
        <p:txBody>
          <a:bodyPr>
            <a:normAutofit fontScale="90000"/>
          </a:bodyPr>
          <a:lstStyle/>
          <a:p>
            <a:r>
              <a:rPr lang="fr-FR" dirty="0"/>
              <a:t>Objectifs de la virtualisation</a:t>
            </a:r>
          </a:p>
        </p:txBody>
      </p:sp>
      <p:sp>
        <p:nvSpPr>
          <p:cNvPr id="3" name="Espace réservé du contenu 2">
            <a:extLst>
              <a:ext uri="{FF2B5EF4-FFF2-40B4-BE49-F238E27FC236}">
                <a16:creationId xmlns:a16="http://schemas.microsoft.com/office/drawing/2014/main" id="{611E4B7C-0A07-FDF2-93EC-4EA45537862B}"/>
              </a:ext>
            </a:extLst>
          </p:cNvPr>
          <p:cNvSpPr>
            <a:spLocks noGrp="1"/>
          </p:cNvSpPr>
          <p:nvPr>
            <p:ph idx="1"/>
          </p:nvPr>
        </p:nvSpPr>
        <p:spPr/>
        <p:txBody>
          <a:bodyPr>
            <a:normAutofit fontScale="92500" lnSpcReduction="20000"/>
          </a:bodyPr>
          <a:lstStyle/>
          <a:p>
            <a:pPr algn="just"/>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La virtualisation vise à optimiser l'utilisation des ressources informatiques, à améliorer la flexibilité, la gestion et la sécurité, et à réduire les coûts d'infrastructure.</a:t>
            </a:r>
          </a:p>
          <a:p>
            <a:pPr algn="just"/>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Elle est largement utilisée dans les data centers, les environnements cloud, les postes de travail virtuels et d'autres domaines de l'informatique pour atteindre ces objectifs.</a:t>
            </a:r>
          </a:p>
          <a:p>
            <a:pPr algn="just"/>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La virtualisation offre de nombreux avantages, notamment la consolidation des ressources, la réduction des coûts, l'amélioration de l'évolutivité, la gestion centralisée et la flexibilité.</a:t>
            </a:r>
          </a:p>
          <a:p>
            <a:pPr algn="just"/>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Elle est devenue un élément essentiel de l'infrastructure informatique moderne, permettant une meilleure utilisation des ressources et une gestion plus efficace des environnements informatiques.</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pied de page 3">
            <a:extLst>
              <a:ext uri="{FF2B5EF4-FFF2-40B4-BE49-F238E27FC236}">
                <a16:creationId xmlns:a16="http://schemas.microsoft.com/office/drawing/2014/main" id="{28118C79-8258-14B2-DF29-2918DCBBA5D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14705B7-1C2D-C359-8E59-A0EE4A4471C9}"/>
              </a:ext>
            </a:extLst>
          </p:cNvPr>
          <p:cNvSpPr>
            <a:spLocks noGrp="1"/>
          </p:cNvSpPr>
          <p:nvPr>
            <p:ph type="sldNum" sz="quarter" idx="12"/>
          </p:nvPr>
        </p:nvSpPr>
        <p:spPr/>
        <p:txBody>
          <a:bodyPr/>
          <a:lstStyle/>
          <a:p>
            <a:fld id="{B82CCC60-E8CD-4174-8B1A-7DF615B22EEF}" type="slidenum">
              <a:rPr lang="en-US" smtClean="0"/>
              <a:pPr/>
              <a:t>8</a:t>
            </a:fld>
            <a:endParaRPr lang="en-US"/>
          </a:p>
        </p:txBody>
      </p:sp>
    </p:spTree>
    <p:extLst>
      <p:ext uri="{BB962C8B-B14F-4D97-AF65-F5344CB8AC3E}">
        <p14:creationId xmlns:p14="http://schemas.microsoft.com/office/powerpoint/2010/main" val="1384603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E245F7-ADAC-0CD9-8936-A37AC2918A0B}"/>
              </a:ext>
            </a:extLst>
          </p:cNvPr>
          <p:cNvSpPr>
            <a:spLocks noGrp="1"/>
          </p:cNvSpPr>
          <p:nvPr>
            <p:ph type="title"/>
          </p:nvPr>
        </p:nvSpPr>
        <p:spPr>
          <a:xfrm>
            <a:off x="448965" y="1239505"/>
            <a:ext cx="8246070" cy="610820"/>
          </a:xfrm>
        </p:spPr>
        <p:txBody>
          <a:bodyPr>
            <a:normAutofit fontScale="90000"/>
          </a:bodyPr>
          <a:lstStyle/>
          <a:p>
            <a:r>
              <a:rPr lang="fr-FR" dirty="0"/>
              <a:t>Définition</a:t>
            </a:r>
          </a:p>
        </p:txBody>
      </p:sp>
      <p:sp>
        <p:nvSpPr>
          <p:cNvPr id="3" name="Espace réservé du contenu 2">
            <a:extLst>
              <a:ext uri="{FF2B5EF4-FFF2-40B4-BE49-F238E27FC236}">
                <a16:creationId xmlns:a16="http://schemas.microsoft.com/office/drawing/2014/main" id="{2F16CE8D-DEE9-700C-791E-424BC2045693}"/>
              </a:ext>
            </a:extLst>
          </p:cNvPr>
          <p:cNvSpPr>
            <a:spLocks noGrp="1"/>
          </p:cNvSpPr>
          <p:nvPr>
            <p:ph idx="1"/>
          </p:nvPr>
        </p:nvSpPr>
        <p:spPr>
          <a:xfrm>
            <a:off x="440730" y="1655520"/>
            <a:ext cx="8246070" cy="2748684"/>
          </a:xfrm>
        </p:spPr>
        <p:txBody>
          <a:bodyPr/>
          <a:lstStyle/>
          <a:p>
            <a:pPr algn="just"/>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La virtualisation est une technologie informatique qui permet de créer des versions virtuelles ou simulées de ressources matérielles ou logicielles, telles que des serveurs, des systèmes d'exploitation, des réseaux, des dispositifs de stockage, des applications et plus encore.</a:t>
            </a:r>
          </a:p>
          <a:p>
            <a:pPr algn="just"/>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Ces ressources virtuelles fonctionnent de manière indépendante les unes des autres et sont isolées des ressources physiques sous-jacentes.</a:t>
            </a:r>
          </a:p>
          <a:p>
            <a:pPr algn="just"/>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dirty="0"/>
          </a:p>
        </p:txBody>
      </p:sp>
      <p:sp>
        <p:nvSpPr>
          <p:cNvPr id="4" name="Espace réservé du pied de page 3">
            <a:extLst>
              <a:ext uri="{FF2B5EF4-FFF2-40B4-BE49-F238E27FC236}">
                <a16:creationId xmlns:a16="http://schemas.microsoft.com/office/drawing/2014/main" id="{80935045-36BA-A442-33B2-78377C81451E}"/>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BBF3C36A-3A37-6678-2F27-6874EAB4835B}"/>
              </a:ext>
            </a:extLst>
          </p:cNvPr>
          <p:cNvSpPr>
            <a:spLocks noGrp="1"/>
          </p:cNvSpPr>
          <p:nvPr>
            <p:ph type="sldNum" sz="quarter" idx="12"/>
          </p:nvPr>
        </p:nvSpPr>
        <p:spPr/>
        <p:txBody>
          <a:bodyPr/>
          <a:lstStyle/>
          <a:p>
            <a:fld id="{B82CCC60-E8CD-4174-8B1A-7DF615B22EEF}" type="slidenum">
              <a:rPr lang="en-US" smtClean="0"/>
              <a:pPr/>
              <a:t>9</a:t>
            </a:fld>
            <a:endParaRPr lang="en-US"/>
          </a:p>
        </p:txBody>
      </p:sp>
      <p:pic>
        <p:nvPicPr>
          <p:cNvPr id="15" name="Image 14">
            <a:extLst>
              <a:ext uri="{FF2B5EF4-FFF2-40B4-BE49-F238E27FC236}">
                <a16:creationId xmlns:a16="http://schemas.microsoft.com/office/drawing/2014/main" id="{EA807BA5-8121-3817-E6A1-F030F4D5C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5" y="3487980"/>
            <a:ext cx="2895601" cy="1477654"/>
          </a:xfrm>
          <a:prstGeom prst="rect">
            <a:avLst/>
          </a:prstGeom>
        </p:spPr>
      </p:pic>
    </p:spTree>
    <p:extLst>
      <p:ext uri="{BB962C8B-B14F-4D97-AF65-F5344CB8AC3E}">
        <p14:creationId xmlns:p14="http://schemas.microsoft.com/office/powerpoint/2010/main" val="4269994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ADCBCD-8C52-C9BB-E8B2-AC4436181869}"/>
              </a:ext>
            </a:extLst>
          </p:cNvPr>
          <p:cNvSpPr>
            <a:spLocks noGrp="1"/>
          </p:cNvSpPr>
          <p:nvPr>
            <p:ph type="title"/>
          </p:nvPr>
        </p:nvSpPr>
        <p:spPr/>
        <p:txBody>
          <a:bodyPr>
            <a:normAutofit fontScale="90000"/>
          </a:bodyPr>
          <a:lstStyle/>
          <a:p>
            <a:r>
              <a:rPr lang="fr-FR" dirty="0"/>
              <a:t>principes fondamentaux</a:t>
            </a:r>
          </a:p>
        </p:txBody>
      </p:sp>
      <p:sp>
        <p:nvSpPr>
          <p:cNvPr id="3" name="Espace réservé du contenu 2">
            <a:extLst>
              <a:ext uri="{FF2B5EF4-FFF2-40B4-BE49-F238E27FC236}">
                <a16:creationId xmlns:a16="http://schemas.microsoft.com/office/drawing/2014/main" id="{5CB8BDF5-0494-AF2F-C72C-F846CA201C7F}"/>
              </a:ext>
            </a:extLst>
          </p:cNvPr>
          <p:cNvSpPr>
            <a:spLocks noGrp="1"/>
          </p:cNvSpPr>
          <p:nvPr>
            <p:ph idx="1"/>
          </p:nvPr>
        </p:nvSpPr>
        <p:spPr/>
        <p:txBody>
          <a:bodyPr>
            <a:normAutofit fontScale="77500" lnSpcReduction="20000"/>
          </a:bodyPr>
          <a:lstStyle/>
          <a:p>
            <a:pPr algn="just"/>
            <a:r>
              <a:rPr lang="fr-FR" dirty="0"/>
              <a:t>Le cloisonnement : chaque système d’exploitation a un fonctionnement indépendant, et ne peut interférer avec les autres en aucune manière. </a:t>
            </a:r>
          </a:p>
          <a:p>
            <a:pPr algn="just"/>
            <a:r>
              <a:rPr lang="fr-FR" dirty="0"/>
              <a:t>La transparence : le fait de fonctionner en mode virtualisé ne change rien au fonctionnement du système d’exploitation et a fortiori des applications. </a:t>
            </a:r>
          </a:p>
          <a:p>
            <a:pPr algn="just"/>
            <a:r>
              <a:rPr lang="fr-FR" dirty="0"/>
              <a:t>La transparence implique la compatibilité : toutes les applications peuvent tourner sur un système virtualisé, et leur fonctionnement n’est en rien modifié.</a:t>
            </a:r>
          </a:p>
        </p:txBody>
      </p:sp>
      <p:sp>
        <p:nvSpPr>
          <p:cNvPr id="4" name="Espace réservé du pied de page 3">
            <a:extLst>
              <a:ext uri="{FF2B5EF4-FFF2-40B4-BE49-F238E27FC236}">
                <a16:creationId xmlns:a16="http://schemas.microsoft.com/office/drawing/2014/main" id="{F908DC35-1292-EF3C-CC54-DC073C22C2D5}"/>
              </a:ext>
            </a:extLst>
          </p:cNvPr>
          <p:cNvSpPr>
            <a:spLocks noGrp="1"/>
          </p:cNvSpPr>
          <p:nvPr>
            <p:ph type="ftr" sz="quarter" idx="11"/>
          </p:nvPr>
        </p:nvSpPr>
        <p:spPr/>
        <p:txBody>
          <a:bodyPr/>
          <a:lstStyle/>
          <a:p>
            <a:r>
              <a:rPr lang="en-US" i="1" dirty="0"/>
              <a:t>Dr. </a:t>
            </a:r>
            <a:r>
              <a:rPr lang="en-US" i="1" dirty="0" err="1"/>
              <a:t>Bechir</a:t>
            </a:r>
            <a:r>
              <a:rPr lang="en-US" i="1" dirty="0"/>
              <a:t> Ben </a:t>
            </a:r>
            <a:r>
              <a:rPr lang="en-US" i="1" dirty="0" err="1"/>
              <a:t>Gouissem</a:t>
            </a:r>
            <a:endParaRPr lang="en-US" i="1" dirty="0"/>
          </a:p>
        </p:txBody>
      </p:sp>
      <p:sp>
        <p:nvSpPr>
          <p:cNvPr id="5" name="Espace réservé du numéro de diapositive 4">
            <a:extLst>
              <a:ext uri="{FF2B5EF4-FFF2-40B4-BE49-F238E27FC236}">
                <a16:creationId xmlns:a16="http://schemas.microsoft.com/office/drawing/2014/main" id="{B0FD9206-9322-19EC-DE85-E9A5EA29F66E}"/>
              </a:ext>
            </a:extLst>
          </p:cNvPr>
          <p:cNvSpPr>
            <a:spLocks noGrp="1"/>
          </p:cNvSpPr>
          <p:nvPr>
            <p:ph type="sldNum" sz="quarter" idx="12"/>
          </p:nvPr>
        </p:nvSpPr>
        <p:spPr/>
        <p:txBody>
          <a:bodyPr/>
          <a:lstStyle/>
          <a:p>
            <a:fld id="{B82CCC60-E8CD-4174-8B1A-7DF615B22EEF}" type="slidenum">
              <a:rPr lang="en-US" smtClean="0"/>
              <a:pPr/>
              <a:t>10</a:t>
            </a:fld>
            <a:endParaRPr lang="en-US"/>
          </a:p>
        </p:txBody>
      </p:sp>
    </p:spTree>
    <p:extLst>
      <p:ext uri="{BB962C8B-B14F-4D97-AF65-F5344CB8AC3E}">
        <p14:creationId xmlns:p14="http://schemas.microsoft.com/office/powerpoint/2010/main" val="527907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55" y="433880"/>
            <a:ext cx="7024430" cy="572644"/>
          </a:xfrm>
        </p:spPr>
        <p:txBody>
          <a:bodyPr>
            <a:normAutofit fontScale="90000"/>
          </a:bodyPr>
          <a:lstStyle/>
          <a:p>
            <a:r>
              <a:rPr lang="fr-FR" dirty="0"/>
              <a:t>exemples d’utilisation de la virtualisation</a:t>
            </a:r>
            <a:endParaRPr lang="en-US" dirty="0"/>
          </a:p>
        </p:txBody>
      </p:sp>
      <p:sp>
        <p:nvSpPr>
          <p:cNvPr id="5" name="Content Placeholder 4"/>
          <p:cNvSpPr>
            <a:spLocks noGrp="1"/>
          </p:cNvSpPr>
          <p:nvPr>
            <p:ph idx="1"/>
          </p:nvPr>
        </p:nvSpPr>
        <p:spPr>
          <a:xfrm>
            <a:off x="296261" y="1198560"/>
            <a:ext cx="6871724" cy="2136716"/>
          </a:xfrm>
        </p:spPr>
        <p:txBody>
          <a:bodyPr>
            <a:normAutofit fontScale="77500" lnSpcReduction="20000"/>
          </a:bodyPr>
          <a:lstStyle/>
          <a:p>
            <a:r>
              <a:rPr lang="fr-FR" dirty="0"/>
              <a:t>Virtualisation des Serveurs </a:t>
            </a:r>
          </a:p>
          <a:p>
            <a:r>
              <a:rPr lang="fr-FR" dirty="0"/>
              <a:t>Virtualisation du Stockage </a:t>
            </a:r>
            <a:endParaRPr lang="en-US" dirty="0"/>
          </a:p>
          <a:p>
            <a:r>
              <a:rPr lang="fr-FR" dirty="0"/>
              <a:t>Virtualisation du Réseau </a:t>
            </a:r>
            <a:endParaRPr lang="en-US" dirty="0"/>
          </a:p>
          <a:p>
            <a:r>
              <a:rPr lang="fr-FR" dirty="0"/>
              <a:t>Virtualisation des Postes de Travail (VDI</a:t>
            </a:r>
            <a:r>
              <a:rPr lang="en-US" dirty="0"/>
              <a:t>)</a:t>
            </a:r>
          </a:p>
          <a:p>
            <a:r>
              <a:rPr lang="fr-FR" dirty="0"/>
              <a:t>Virtualisation des Applications (Conteneurs) </a:t>
            </a:r>
            <a:endParaRPr lang="en-US" dirty="0"/>
          </a:p>
          <a:p>
            <a:r>
              <a:rPr lang="fr-FR" dirty="0"/>
              <a:t>Virtualisation du Matériel (Hyperviseurs) </a:t>
            </a:r>
          </a:p>
        </p:txBody>
      </p:sp>
      <p:sp>
        <p:nvSpPr>
          <p:cNvPr id="2" name="Espace réservé du pied de page 1">
            <a:extLst>
              <a:ext uri="{FF2B5EF4-FFF2-40B4-BE49-F238E27FC236}">
                <a16:creationId xmlns:a16="http://schemas.microsoft.com/office/drawing/2014/main" id="{66F881DC-A804-4A58-9BD0-9B06EC63767D}"/>
              </a:ext>
            </a:extLst>
          </p:cNvPr>
          <p:cNvSpPr>
            <a:spLocks noGrp="1"/>
          </p:cNvSpPr>
          <p:nvPr>
            <p:ph type="ftr" sz="quarter" idx="11"/>
          </p:nvPr>
        </p:nvSpPr>
        <p:spPr/>
        <p:txBody>
          <a:bodyPr/>
          <a:lstStyle/>
          <a:p>
            <a:r>
              <a:rPr lang="en-US"/>
              <a:t>Dr. Bechir Ben Gouissem</a:t>
            </a:r>
            <a:endParaRPr lang="en-US" dirty="0"/>
          </a:p>
        </p:txBody>
      </p:sp>
      <p:sp>
        <p:nvSpPr>
          <p:cNvPr id="3" name="Espace réservé du numéro de diapositive 2">
            <a:extLst>
              <a:ext uri="{FF2B5EF4-FFF2-40B4-BE49-F238E27FC236}">
                <a16:creationId xmlns:a16="http://schemas.microsoft.com/office/drawing/2014/main" id="{9553CA2D-44D3-4BD2-3691-5A7FD2560F4C}"/>
              </a:ext>
            </a:extLst>
          </p:cNvPr>
          <p:cNvSpPr>
            <a:spLocks noGrp="1"/>
          </p:cNvSpPr>
          <p:nvPr>
            <p:ph type="sldNum" sz="quarter" idx="12"/>
          </p:nvPr>
        </p:nvSpPr>
        <p:spPr/>
        <p:txBody>
          <a:bodyPr/>
          <a:lstStyle/>
          <a:p>
            <a:fld id="{B82CCC60-E8CD-4174-8B1A-7DF615B22EEF}" type="slidenum">
              <a:rPr lang="en-US" smtClean="0"/>
              <a:pPr/>
              <a:t>11</a:t>
            </a:fld>
            <a:endParaRPr lang="en-US"/>
          </a:p>
        </p:txBody>
      </p:sp>
      <p:pic>
        <p:nvPicPr>
          <p:cNvPr id="2050" name="Picture 2" descr="Virtualization in Cloud Computing: Types, Architecture, Advantages">
            <a:extLst>
              <a:ext uri="{FF2B5EF4-FFF2-40B4-BE49-F238E27FC236}">
                <a16:creationId xmlns:a16="http://schemas.microsoft.com/office/drawing/2014/main" id="{EFEAF3C5-07B9-4544-3215-8C7F17B3B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6198" y="3268665"/>
            <a:ext cx="3371850" cy="135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633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2ED30A-4C52-1897-427B-26DD0943C86F}"/>
              </a:ext>
            </a:extLst>
          </p:cNvPr>
          <p:cNvSpPr>
            <a:spLocks noGrp="1"/>
          </p:cNvSpPr>
          <p:nvPr>
            <p:ph type="title"/>
          </p:nvPr>
        </p:nvSpPr>
        <p:spPr/>
        <p:txBody>
          <a:bodyPr>
            <a:normAutofit fontScale="90000"/>
          </a:bodyPr>
          <a:lstStyle/>
          <a:p>
            <a:r>
              <a:rPr lang="fr-FR" dirty="0"/>
              <a:t>Les types de virtualisation</a:t>
            </a:r>
          </a:p>
        </p:txBody>
      </p:sp>
      <p:sp>
        <p:nvSpPr>
          <p:cNvPr id="3" name="Espace réservé du contenu 2">
            <a:extLst>
              <a:ext uri="{FF2B5EF4-FFF2-40B4-BE49-F238E27FC236}">
                <a16:creationId xmlns:a16="http://schemas.microsoft.com/office/drawing/2014/main" id="{63B1A1B1-5B15-C5DC-AA57-210DA1342593}"/>
              </a:ext>
            </a:extLst>
          </p:cNvPr>
          <p:cNvSpPr>
            <a:spLocks noGrp="1"/>
          </p:cNvSpPr>
          <p:nvPr>
            <p:ph idx="1"/>
          </p:nvPr>
        </p:nvSpPr>
        <p:spPr>
          <a:xfrm>
            <a:off x="448966" y="2113641"/>
            <a:ext cx="8246070" cy="2748684"/>
          </a:xfrm>
        </p:spPr>
        <p:txBody>
          <a:bodyPr>
            <a:normAutofit/>
          </a:bodyPr>
          <a:lstStyle/>
          <a:p>
            <a:pPr algn="just"/>
            <a:r>
              <a:rPr lang="fr-FR" sz="2000" dirty="0"/>
              <a:t>Virtualisation Complète</a:t>
            </a:r>
          </a:p>
          <a:p>
            <a:pPr algn="just"/>
            <a:r>
              <a:rPr lang="fr-FR" sz="2000" dirty="0" err="1"/>
              <a:t>Para-Virtualisation</a:t>
            </a:r>
            <a:endParaRPr lang="fr-FR" sz="2000" dirty="0"/>
          </a:p>
          <a:p>
            <a:pPr algn="just"/>
            <a:r>
              <a:rPr lang="fr-FR" sz="2000" dirty="0"/>
              <a:t>Les Isolateurs</a:t>
            </a:r>
          </a:p>
        </p:txBody>
      </p:sp>
      <p:sp>
        <p:nvSpPr>
          <p:cNvPr id="4" name="Espace réservé du pied de page 3">
            <a:extLst>
              <a:ext uri="{FF2B5EF4-FFF2-40B4-BE49-F238E27FC236}">
                <a16:creationId xmlns:a16="http://schemas.microsoft.com/office/drawing/2014/main" id="{6D070CEF-CB82-A421-409C-0F9695E74900}"/>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7892C58-0063-00FC-7A90-B90AAA7198A6}"/>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7" name="Image 6">
            <a:extLst>
              <a:ext uri="{FF2B5EF4-FFF2-40B4-BE49-F238E27FC236}">
                <a16:creationId xmlns:a16="http://schemas.microsoft.com/office/drawing/2014/main" id="{376DC052-4630-620B-29A3-C077346B98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4950" y="2571750"/>
            <a:ext cx="5570834" cy="1843573"/>
          </a:xfrm>
          <a:prstGeom prst="rect">
            <a:avLst/>
          </a:prstGeom>
        </p:spPr>
      </p:pic>
    </p:spTree>
    <p:extLst>
      <p:ext uri="{BB962C8B-B14F-4D97-AF65-F5344CB8AC3E}">
        <p14:creationId xmlns:p14="http://schemas.microsoft.com/office/powerpoint/2010/main" val="3935691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1190EC-7FA1-AA62-B18C-87A476F7DF12}"/>
              </a:ext>
            </a:extLst>
          </p:cNvPr>
          <p:cNvSpPr>
            <a:spLocks noGrp="1"/>
          </p:cNvSpPr>
          <p:nvPr>
            <p:ph type="title"/>
          </p:nvPr>
        </p:nvSpPr>
        <p:spPr/>
        <p:txBody>
          <a:bodyPr>
            <a:normAutofit fontScale="90000"/>
          </a:bodyPr>
          <a:lstStyle/>
          <a:p>
            <a:r>
              <a:rPr lang="fr-FR" sz="3600" dirty="0"/>
              <a:t>Virtualisation Complète</a:t>
            </a:r>
            <a:endParaRPr lang="fr-FR" dirty="0"/>
          </a:p>
        </p:txBody>
      </p:sp>
      <p:sp>
        <p:nvSpPr>
          <p:cNvPr id="3" name="Espace réservé du contenu 2">
            <a:extLst>
              <a:ext uri="{FF2B5EF4-FFF2-40B4-BE49-F238E27FC236}">
                <a16:creationId xmlns:a16="http://schemas.microsoft.com/office/drawing/2014/main" id="{092DF9D3-51FC-1047-BBD0-5A40BBDA7DCE}"/>
              </a:ext>
            </a:extLst>
          </p:cNvPr>
          <p:cNvSpPr>
            <a:spLocks noGrp="1"/>
          </p:cNvSpPr>
          <p:nvPr>
            <p:ph idx="1"/>
          </p:nvPr>
        </p:nvSpPr>
        <p:spPr>
          <a:xfrm>
            <a:off x="448966" y="1960930"/>
            <a:ext cx="8246070" cy="3054100"/>
          </a:xfrm>
        </p:spPr>
        <p:txBody>
          <a:bodyPr>
            <a:noAutofit/>
          </a:bodyPr>
          <a:lstStyle/>
          <a:p>
            <a:pPr algn="just"/>
            <a:r>
              <a:rPr lang="fr-FR" sz="1200" dirty="0"/>
              <a:t>La virtualisation dite complète permet de faire fonctionner n’importe </a:t>
            </a:r>
          </a:p>
          <a:p>
            <a:pPr marL="0" indent="0" algn="just">
              <a:buNone/>
            </a:pPr>
            <a:r>
              <a:rPr lang="fr-FR" sz="1200" dirty="0"/>
              <a:t>quel système d’exploitation en tant qu’invité dans une machine virtuelle. </a:t>
            </a:r>
          </a:p>
          <a:p>
            <a:pPr algn="just"/>
            <a:r>
              <a:rPr lang="fr-FR" sz="1200" dirty="0"/>
              <a:t>Pour l’utilisateur final, ce type de virtualisation </a:t>
            </a:r>
            <a:r>
              <a:rPr lang="fr-FR" sz="1200"/>
              <a:t>est le </a:t>
            </a:r>
            <a:r>
              <a:rPr lang="fr-FR" sz="1200" dirty="0"/>
              <a:t>plus simple </a:t>
            </a:r>
          </a:p>
          <a:p>
            <a:pPr marL="0" indent="0" algn="just">
              <a:buNone/>
            </a:pPr>
            <a:r>
              <a:rPr lang="fr-FR" sz="1200" dirty="0"/>
              <a:t>à mettre en place et est la plus pratique.</a:t>
            </a:r>
          </a:p>
          <a:p>
            <a:pPr algn="just"/>
            <a:r>
              <a:rPr lang="fr-FR" sz="1200" dirty="0"/>
              <a:t>L’hyperviseur crée un environnement virtuel complet simulant </a:t>
            </a:r>
          </a:p>
          <a:p>
            <a:pPr marL="0" indent="0" algn="just">
              <a:buNone/>
            </a:pPr>
            <a:r>
              <a:rPr lang="fr-FR" sz="1200" dirty="0"/>
              <a:t>littéralement un nouvel ordinateur complet, avec du " matériel virtuel". </a:t>
            </a:r>
          </a:p>
          <a:p>
            <a:pPr algn="just"/>
            <a:r>
              <a:rPr lang="fr-FR" sz="1200" dirty="0"/>
              <a:t>À quelques rares exceptions, le système d’exploitation invité (installé dans</a:t>
            </a:r>
          </a:p>
          <a:p>
            <a:pPr marL="0" indent="0" algn="just">
              <a:buNone/>
            </a:pPr>
            <a:r>
              <a:rPr lang="fr-FR" sz="1200" dirty="0"/>
              <a:t> la machine virtuelle) ne communique qu’avec ce matériel simulé (virtuel), rendant étanche l’environnement virtualisé. </a:t>
            </a:r>
          </a:p>
          <a:p>
            <a:pPr algn="just"/>
            <a:r>
              <a:rPr lang="fr-FR" sz="1200" dirty="0"/>
              <a:t>Limitations : Ce type de virtualisation ne permet de virtualiser que des systèmes d’exploitation prévus pour la même architecture matérielle que le processeur physique de l’ordinateur hôte. </a:t>
            </a:r>
          </a:p>
          <a:p>
            <a:pPr algn="just"/>
            <a:r>
              <a:rPr lang="fr-FR" sz="1200" dirty="0"/>
              <a:t>Par exemple, un ordinateur équipé d’un processeur Intel x86 sera incapable de virtualiser un système d’exploitation prévu pour fonctionner dans une architecture PowerPC.</a:t>
            </a:r>
          </a:p>
          <a:p>
            <a:pPr algn="just"/>
            <a:r>
              <a:rPr lang="fr-FR" sz="1200" dirty="0"/>
              <a:t> Quelques hyperviseurs de virtualisation complète : - VirtualBox - VMWare Player, VMWare Workstation - </a:t>
            </a:r>
            <a:r>
              <a:rPr lang="fr-FR" sz="1200" dirty="0" err="1"/>
              <a:t>Parallels</a:t>
            </a:r>
            <a:r>
              <a:rPr lang="fr-FR" sz="1200" dirty="0"/>
              <a:t> Desktop for Windows et Linux - KVM </a:t>
            </a:r>
          </a:p>
        </p:txBody>
      </p:sp>
      <p:sp>
        <p:nvSpPr>
          <p:cNvPr id="4" name="Espace réservé du pied de page 3">
            <a:extLst>
              <a:ext uri="{FF2B5EF4-FFF2-40B4-BE49-F238E27FC236}">
                <a16:creationId xmlns:a16="http://schemas.microsoft.com/office/drawing/2014/main" id="{B6BD5D94-96CA-465C-6989-4D71B598565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2C3E04E7-0CC6-A320-5413-4040652B0189}"/>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9" name="Image 8">
            <a:extLst>
              <a:ext uri="{FF2B5EF4-FFF2-40B4-BE49-F238E27FC236}">
                <a16:creationId xmlns:a16="http://schemas.microsoft.com/office/drawing/2014/main" id="{DDAAEF87-0275-834E-6D4E-CA70A82D453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561436" y="1594972"/>
            <a:ext cx="2133600" cy="2066925"/>
          </a:xfrm>
          <a:prstGeom prst="rect">
            <a:avLst/>
          </a:prstGeom>
        </p:spPr>
      </p:pic>
    </p:spTree>
    <p:extLst>
      <p:ext uri="{BB962C8B-B14F-4D97-AF65-F5344CB8AC3E}">
        <p14:creationId xmlns:p14="http://schemas.microsoft.com/office/powerpoint/2010/main" val="74372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72EB80-7EB8-B94E-C90D-6E53233369B6}"/>
              </a:ext>
            </a:extLst>
          </p:cNvPr>
          <p:cNvSpPr>
            <a:spLocks noGrp="1"/>
          </p:cNvSpPr>
          <p:nvPr>
            <p:ph type="title"/>
          </p:nvPr>
        </p:nvSpPr>
        <p:spPr/>
        <p:txBody>
          <a:bodyPr>
            <a:normAutofit fontScale="90000"/>
          </a:bodyPr>
          <a:lstStyle/>
          <a:p>
            <a:r>
              <a:rPr lang="fr-FR" dirty="0" err="1"/>
              <a:t>Para-Virtualisation</a:t>
            </a:r>
            <a:endParaRPr lang="fr-FR" dirty="0"/>
          </a:p>
        </p:txBody>
      </p:sp>
      <p:sp>
        <p:nvSpPr>
          <p:cNvPr id="3" name="Espace réservé du contenu 2">
            <a:extLst>
              <a:ext uri="{FF2B5EF4-FFF2-40B4-BE49-F238E27FC236}">
                <a16:creationId xmlns:a16="http://schemas.microsoft.com/office/drawing/2014/main" id="{06994D20-FCB9-1D2B-23BC-E99DDBB42114}"/>
              </a:ext>
            </a:extLst>
          </p:cNvPr>
          <p:cNvSpPr>
            <a:spLocks noGrp="1"/>
          </p:cNvSpPr>
          <p:nvPr>
            <p:ph idx="1"/>
          </p:nvPr>
        </p:nvSpPr>
        <p:spPr>
          <a:xfrm>
            <a:off x="440730" y="2018579"/>
            <a:ext cx="8246070" cy="3022528"/>
          </a:xfrm>
        </p:spPr>
        <p:txBody>
          <a:bodyPr>
            <a:normAutofit fontScale="62500" lnSpcReduction="20000"/>
          </a:bodyPr>
          <a:lstStyle/>
          <a:p>
            <a:pPr algn="just"/>
            <a:r>
              <a:rPr lang="fr-FR" dirty="0"/>
              <a:t>La paravirtualisation fait intervenir un hyperviseur. </a:t>
            </a:r>
          </a:p>
          <a:p>
            <a:pPr algn="just"/>
            <a:r>
              <a:rPr lang="fr-FR" dirty="0"/>
              <a:t>Il s’agit d’un noyau allégé au dessus duquel viendront</a:t>
            </a:r>
          </a:p>
          <a:p>
            <a:pPr marL="0" indent="0" algn="just">
              <a:buNone/>
            </a:pPr>
            <a:r>
              <a:rPr lang="fr-FR" dirty="0"/>
              <a:t> se greffer les systèmes invités.</a:t>
            </a:r>
          </a:p>
          <a:p>
            <a:pPr algn="just"/>
            <a:r>
              <a:rPr lang="fr-FR" dirty="0"/>
              <a:t> Contrairement à un système traditionnel de machines virtuelles </a:t>
            </a:r>
          </a:p>
          <a:p>
            <a:pPr marL="0" indent="0" algn="just">
              <a:buNone/>
            </a:pPr>
            <a:r>
              <a:rPr lang="fr-FR" dirty="0"/>
              <a:t>où la virtualisation est transparente, avec la paravirtualisation, le système</a:t>
            </a:r>
          </a:p>
          <a:p>
            <a:pPr marL="0" indent="0" algn="just">
              <a:buNone/>
            </a:pPr>
            <a:r>
              <a:rPr lang="fr-FR" dirty="0"/>
              <a:t>invité doit avoir conscience qu’il tourne dans un environnement virtuel ce qui</a:t>
            </a:r>
          </a:p>
          <a:p>
            <a:pPr marL="0" indent="0" algn="just">
              <a:buNone/>
            </a:pPr>
            <a:r>
              <a:rPr lang="fr-FR" dirty="0"/>
              <a:t> implique d’employer un noyau modifié. </a:t>
            </a:r>
          </a:p>
          <a:p>
            <a:pPr algn="just"/>
            <a:r>
              <a:rPr lang="fr-FR" dirty="0"/>
              <a:t>Ce type de virtualisation permet des performances bien plus importantes que la virtualisation totale.</a:t>
            </a:r>
          </a:p>
          <a:p>
            <a:pPr algn="just"/>
            <a:r>
              <a:rPr lang="fr-FR" dirty="0"/>
              <a:t>Quelques hyperviseurs de virtualisation assisté : - XEN - VMWare ESX/ESXi - Hyper-V (Microsoft) - </a:t>
            </a:r>
            <a:r>
              <a:rPr lang="fr-FR" dirty="0" err="1"/>
              <a:t>xVM</a:t>
            </a:r>
            <a:endParaRPr lang="fr-FR" dirty="0"/>
          </a:p>
        </p:txBody>
      </p:sp>
      <p:sp>
        <p:nvSpPr>
          <p:cNvPr id="4" name="Espace réservé du pied de page 3">
            <a:extLst>
              <a:ext uri="{FF2B5EF4-FFF2-40B4-BE49-F238E27FC236}">
                <a16:creationId xmlns:a16="http://schemas.microsoft.com/office/drawing/2014/main" id="{BC04CB97-95EE-2668-869A-468E4815AEEF}"/>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B68ADAD0-4264-551B-F776-CC8BF2202C91}"/>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7" name="Image 6">
            <a:extLst>
              <a:ext uri="{FF2B5EF4-FFF2-40B4-BE49-F238E27FC236}">
                <a16:creationId xmlns:a16="http://schemas.microsoft.com/office/drawing/2014/main" id="{3620E76E-296F-43D6-AC64-48D5E26619C3}"/>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53106" y="1378587"/>
            <a:ext cx="2295525" cy="2076450"/>
          </a:xfrm>
          <a:prstGeom prst="rect">
            <a:avLst/>
          </a:prstGeom>
        </p:spPr>
      </p:pic>
    </p:spTree>
    <p:extLst>
      <p:ext uri="{BB962C8B-B14F-4D97-AF65-F5344CB8AC3E}">
        <p14:creationId xmlns:p14="http://schemas.microsoft.com/office/powerpoint/2010/main" val="26561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E106D5-5CAE-F1D6-A5F6-BD8B9D38510F}"/>
              </a:ext>
            </a:extLst>
          </p:cNvPr>
          <p:cNvSpPr>
            <a:spLocks noGrp="1"/>
          </p:cNvSpPr>
          <p:nvPr>
            <p:ph type="title"/>
          </p:nvPr>
        </p:nvSpPr>
        <p:spPr/>
        <p:txBody>
          <a:bodyPr>
            <a:normAutofit fontScale="90000"/>
          </a:bodyPr>
          <a:lstStyle/>
          <a:p>
            <a:r>
              <a:rPr lang="fr-FR" dirty="0"/>
              <a:t>Les Isolateurs </a:t>
            </a:r>
          </a:p>
        </p:txBody>
      </p:sp>
      <p:sp>
        <p:nvSpPr>
          <p:cNvPr id="3" name="Espace réservé du contenu 2">
            <a:extLst>
              <a:ext uri="{FF2B5EF4-FFF2-40B4-BE49-F238E27FC236}">
                <a16:creationId xmlns:a16="http://schemas.microsoft.com/office/drawing/2014/main" id="{5A72BBBB-7CBF-359B-B0FF-2E06A93222D5}"/>
              </a:ext>
            </a:extLst>
          </p:cNvPr>
          <p:cNvSpPr>
            <a:spLocks noGrp="1"/>
          </p:cNvSpPr>
          <p:nvPr>
            <p:ph idx="1"/>
          </p:nvPr>
        </p:nvSpPr>
        <p:spPr>
          <a:xfrm>
            <a:off x="448966" y="1960929"/>
            <a:ext cx="8246070" cy="3080177"/>
          </a:xfrm>
        </p:spPr>
        <p:txBody>
          <a:bodyPr>
            <a:normAutofit fontScale="55000" lnSpcReduction="20000"/>
          </a:bodyPr>
          <a:lstStyle/>
          <a:p>
            <a:pPr algn="just"/>
            <a:r>
              <a:rPr lang="fr-FR" dirty="0"/>
              <a:t>Un isolateur est un logiciel permettant d’isoler l’exécution des applications dans ce qui sont appelés des contextes, ou bien zones d’exécution.</a:t>
            </a:r>
          </a:p>
          <a:p>
            <a:pPr algn="just"/>
            <a:r>
              <a:rPr lang="fr-FR" dirty="0"/>
              <a:t>L’isolateur permet ainsi de faire tourner plusieurs fois la même application dans un mode multi-instance (plusieurs instances d’exécution) même si elle n’était pas conçue pour ça. </a:t>
            </a:r>
          </a:p>
          <a:p>
            <a:pPr algn="just"/>
            <a:r>
              <a:rPr lang="fr-FR" dirty="0"/>
              <a:t>Cette solution est très performante, du fait du peu d’</a:t>
            </a:r>
            <a:r>
              <a:rPr lang="fr-FR" dirty="0" err="1"/>
              <a:t>overhead</a:t>
            </a:r>
            <a:r>
              <a:rPr lang="fr-FR" dirty="0"/>
              <a:t> (temps passé par un système à ne rien faire d’autre que se gérer), mais les environnements virtualisés ne sont pas complètement isolés.</a:t>
            </a:r>
          </a:p>
          <a:p>
            <a:pPr algn="just"/>
            <a:r>
              <a:rPr lang="fr-FR" dirty="0"/>
              <a:t> La performance est donc au rendez-vous, cependant on ne peut pas vraiment parler de virtualisation de systèmes d’exploitation. </a:t>
            </a:r>
          </a:p>
          <a:p>
            <a:pPr algn="just"/>
            <a:r>
              <a:rPr lang="fr-FR" dirty="0"/>
              <a:t>Uniquement liés aux systèmes Linux, les isolateurs sont en fait composés de plusieurs éléments et peuvent prendre plusieurs formes. </a:t>
            </a:r>
          </a:p>
          <a:p>
            <a:pPr algn="just"/>
            <a:r>
              <a:rPr lang="fr-FR" dirty="0"/>
              <a:t>Par exemple : Linux-</a:t>
            </a:r>
            <a:r>
              <a:rPr lang="fr-FR" dirty="0" err="1"/>
              <a:t>VServer</a:t>
            </a:r>
            <a:r>
              <a:rPr lang="fr-FR" dirty="0"/>
              <a:t> (isolation des processus en espace utilisateur) ; </a:t>
            </a:r>
            <a:r>
              <a:rPr lang="fr-FR" dirty="0" err="1"/>
              <a:t>chroot</a:t>
            </a:r>
            <a:r>
              <a:rPr lang="fr-FR" dirty="0"/>
              <a:t> (isolation changement de racine) ; BSD </a:t>
            </a:r>
            <a:r>
              <a:rPr lang="fr-FR" dirty="0" err="1"/>
              <a:t>Jail</a:t>
            </a:r>
            <a:r>
              <a:rPr lang="fr-FR" dirty="0"/>
              <a:t> (isolation en espace utilisateur) ; </a:t>
            </a:r>
            <a:r>
              <a:rPr lang="fr-FR" dirty="0" err="1"/>
              <a:t>OpenVZ</a:t>
            </a:r>
            <a:r>
              <a:rPr lang="fr-FR" dirty="0"/>
              <a:t> : libre, (partitionnement au niveau noyau sous Linux) ; LXC : libre, (usage des </a:t>
            </a:r>
            <a:r>
              <a:rPr lang="fr-FR" dirty="0" err="1"/>
              <a:t>Cgroups</a:t>
            </a:r>
            <a:r>
              <a:rPr lang="fr-FR" dirty="0"/>
              <a:t> du noyau Linux).</a:t>
            </a:r>
          </a:p>
        </p:txBody>
      </p:sp>
      <p:sp>
        <p:nvSpPr>
          <p:cNvPr id="4" name="Espace réservé du pied de page 3">
            <a:extLst>
              <a:ext uri="{FF2B5EF4-FFF2-40B4-BE49-F238E27FC236}">
                <a16:creationId xmlns:a16="http://schemas.microsoft.com/office/drawing/2014/main" id="{AE535B8B-E858-1B70-FA35-D3207BDEC73A}"/>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E3C0C752-BE0B-30F5-0AAA-6F2C578C6872}"/>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4173507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7FB478-18A0-5EA2-5139-675C111A222F}"/>
              </a:ext>
            </a:extLst>
          </p:cNvPr>
          <p:cNvSpPr>
            <a:spLocks noGrp="1"/>
          </p:cNvSpPr>
          <p:nvPr>
            <p:ph type="title"/>
          </p:nvPr>
        </p:nvSpPr>
        <p:spPr/>
        <p:txBody>
          <a:bodyPr>
            <a:normAutofit fontScale="90000"/>
          </a:bodyPr>
          <a:lstStyle/>
          <a:p>
            <a:endParaRPr lang="fr-FR"/>
          </a:p>
        </p:txBody>
      </p:sp>
      <p:sp>
        <p:nvSpPr>
          <p:cNvPr id="4" name="Espace réservé du pied de page 3">
            <a:extLst>
              <a:ext uri="{FF2B5EF4-FFF2-40B4-BE49-F238E27FC236}">
                <a16:creationId xmlns:a16="http://schemas.microsoft.com/office/drawing/2014/main" id="{E6BDDB41-05DC-D47A-7B82-DD188575DD59}"/>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BD80C9F8-D746-7A95-B1EC-9CE06D2080BE}"/>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5122" name="Picture 2" descr="🔎 Virtualisation - Comparaison de différentes techniques de virtualisation">
            <a:extLst>
              <a:ext uri="{FF2B5EF4-FFF2-40B4-BE49-F238E27FC236}">
                <a16:creationId xmlns:a16="http://schemas.microsoft.com/office/drawing/2014/main" id="{973ACA79-3FF1-D8B0-F48D-2873F9DDBD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290" y="2755920"/>
            <a:ext cx="3817625" cy="2106406"/>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9E61F707-5B49-7BC4-AB16-19548C6B1D71}"/>
              </a:ext>
            </a:extLst>
          </p:cNvPr>
          <p:cNvSpPr txBox="1"/>
          <p:nvPr/>
        </p:nvSpPr>
        <p:spPr>
          <a:xfrm>
            <a:off x="296260" y="1982242"/>
            <a:ext cx="8246070" cy="881780"/>
          </a:xfrm>
          <a:prstGeom prst="rect">
            <a:avLst/>
          </a:prstGeom>
          <a:noFill/>
        </p:spPr>
        <p:txBody>
          <a:bodyPr wrap="square">
            <a:spAutoFit/>
          </a:bodyPr>
          <a:lstStyle/>
          <a:p>
            <a:pPr marL="342900" indent="-342900" algn="just">
              <a:lnSpc>
                <a:spcPct val="80000"/>
              </a:lnSpc>
              <a:spcBef>
                <a:spcPct val="20000"/>
              </a:spcBef>
              <a:buFont typeface="Arial" pitchFamily="34" charset="0"/>
              <a:buChar char="•"/>
            </a:pPr>
            <a:r>
              <a:rPr lang="fr-FR" sz="1500" dirty="0">
                <a:solidFill>
                  <a:srgbClr val="002060"/>
                </a:solidFill>
              </a:rPr>
              <a:t>on parle alors de virtualisation système — ou des applications— on parle alors de virtualisation applicative. </a:t>
            </a:r>
          </a:p>
          <a:p>
            <a:pPr marL="342900" indent="-342900" algn="just">
              <a:lnSpc>
                <a:spcPct val="80000"/>
              </a:lnSpc>
              <a:spcBef>
                <a:spcPct val="20000"/>
              </a:spcBef>
              <a:buFont typeface="Arial" pitchFamily="34" charset="0"/>
              <a:buChar char="•"/>
            </a:pPr>
            <a:r>
              <a:rPr lang="fr-FR" sz="1500" dirty="0">
                <a:solidFill>
                  <a:srgbClr val="002060"/>
                </a:solidFill>
              </a:rPr>
              <a:t> Ces ordinateurs virtuels sont appelés serveur privé virtuel (Virtual </a:t>
            </a:r>
            <a:r>
              <a:rPr lang="fr-FR" sz="1500" dirty="0" err="1">
                <a:solidFill>
                  <a:srgbClr val="002060"/>
                </a:solidFill>
              </a:rPr>
              <a:t>Private</a:t>
            </a:r>
            <a:r>
              <a:rPr lang="fr-FR" sz="1500" dirty="0">
                <a:solidFill>
                  <a:srgbClr val="002060"/>
                </a:solidFill>
              </a:rPr>
              <a:t> Server ou VPS) ou encore environnement virtuel (Virtual </a:t>
            </a:r>
            <a:r>
              <a:rPr lang="fr-FR" sz="1500" dirty="0" err="1">
                <a:solidFill>
                  <a:srgbClr val="002060"/>
                </a:solidFill>
              </a:rPr>
              <a:t>Environment</a:t>
            </a:r>
            <a:r>
              <a:rPr lang="fr-FR" sz="1500" dirty="0">
                <a:solidFill>
                  <a:srgbClr val="002060"/>
                </a:solidFill>
              </a:rPr>
              <a:t> ou VE).</a:t>
            </a:r>
          </a:p>
        </p:txBody>
      </p:sp>
    </p:spTree>
    <p:extLst>
      <p:ext uri="{BB962C8B-B14F-4D97-AF65-F5344CB8AC3E}">
        <p14:creationId xmlns:p14="http://schemas.microsoft.com/office/powerpoint/2010/main" val="2464604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ADCBCD-8C52-C9BB-E8B2-AC4436181869}"/>
              </a:ext>
            </a:extLst>
          </p:cNvPr>
          <p:cNvSpPr>
            <a:spLocks noGrp="1"/>
          </p:cNvSpPr>
          <p:nvPr>
            <p:ph type="title"/>
          </p:nvPr>
        </p:nvSpPr>
        <p:spPr/>
        <p:txBody>
          <a:bodyPr>
            <a:normAutofit fontScale="90000"/>
          </a:bodyPr>
          <a:lstStyle/>
          <a:p>
            <a:r>
              <a:rPr lang="fr-FR" dirty="0"/>
              <a:t>Les hyperviseurs</a:t>
            </a:r>
          </a:p>
        </p:txBody>
      </p:sp>
      <p:sp>
        <p:nvSpPr>
          <p:cNvPr id="3" name="Espace réservé du contenu 2">
            <a:extLst>
              <a:ext uri="{FF2B5EF4-FFF2-40B4-BE49-F238E27FC236}">
                <a16:creationId xmlns:a16="http://schemas.microsoft.com/office/drawing/2014/main" id="{5CB8BDF5-0494-AF2F-C72C-F846CA201C7F}"/>
              </a:ext>
            </a:extLst>
          </p:cNvPr>
          <p:cNvSpPr>
            <a:spLocks noGrp="1"/>
          </p:cNvSpPr>
          <p:nvPr>
            <p:ph idx="1"/>
          </p:nvPr>
        </p:nvSpPr>
        <p:spPr>
          <a:xfrm>
            <a:off x="448966" y="1960929"/>
            <a:ext cx="8246070" cy="2901395"/>
          </a:xfrm>
        </p:spPr>
        <p:txBody>
          <a:bodyPr>
            <a:normAutofit/>
          </a:bodyPr>
          <a:lstStyle/>
          <a:p>
            <a:pPr algn="just"/>
            <a:r>
              <a:rPr lang="fr-FR" sz="2000" kern="0" dirty="0">
                <a:solidFill>
                  <a:srgbClr val="000000"/>
                </a:solidFill>
                <a:effectLst/>
                <a:latin typeface="Segoe UI" panose="020B0502040204020203" pitchFamily="34" charset="0"/>
                <a:ea typeface="Times New Roman" panose="02020603050405020304" pitchFamily="18" charset="0"/>
              </a:rPr>
              <a:t>Un hyperviseur, également appelé un "moniteur de machine virtuelle" ou un "gestionnaire de virtualisation« </a:t>
            </a:r>
          </a:p>
          <a:p>
            <a:pPr algn="just"/>
            <a:r>
              <a:rPr lang="fr-FR" sz="2000" kern="0" dirty="0">
                <a:solidFill>
                  <a:srgbClr val="000000"/>
                </a:solidFill>
                <a:effectLst/>
                <a:latin typeface="Segoe UI" panose="020B0502040204020203" pitchFamily="34" charset="0"/>
                <a:ea typeface="Times New Roman" panose="02020603050405020304" pitchFamily="18" charset="0"/>
              </a:rPr>
              <a:t>C’est un logiciel ou une couche logicielle qui permet de créer et de gérer des machines virtuelles (VM) sur un serveur physique. </a:t>
            </a:r>
          </a:p>
          <a:p>
            <a:pPr algn="just"/>
            <a:r>
              <a:rPr lang="fr-FR" sz="2000" kern="0" dirty="0">
                <a:solidFill>
                  <a:srgbClr val="000000"/>
                </a:solidFill>
                <a:effectLst/>
                <a:latin typeface="Segoe UI" panose="020B0502040204020203" pitchFamily="34" charset="0"/>
                <a:ea typeface="Times New Roman" panose="02020603050405020304" pitchFamily="18" charset="0"/>
              </a:rPr>
              <a:t>L'hyperviseur agit comme une couche d'abstraction entre le matériel sous-jacent et les systèmes d'exploitation invités.</a:t>
            </a:r>
          </a:p>
          <a:p>
            <a:pPr algn="just"/>
            <a:r>
              <a:rPr lang="fr-FR" sz="2000" kern="0" dirty="0">
                <a:solidFill>
                  <a:srgbClr val="000000"/>
                </a:solidFill>
                <a:latin typeface="Segoe UI" panose="020B0502040204020203" pitchFamily="34" charset="0"/>
                <a:ea typeface="Times New Roman" panose="02020603050405020304" pitchFamily="18" charset="0"/>
              </a:rPr>
              <a:t>il</a:t>
            </a:r>
            <a:r>
              <a:rPr lang="fr-FR" sz="2000" kern="0" dirty="0">
                <a:solidFill>
                  <a:srgbClr val="000000"/>
                </a:solidFill>
                <a:effectLst/>
                <a:latin typeface="Segoe UI" panose="020B0502040204020203" pitchFamily="34" charset="0"/>
                <a:ea typeface="Times New Roman" panose="02020603050405020304" pitchFamily="18" charset="0"/>
              </a:rPr>
              <a:t> permet à plusieurs machines virtuelles de fonctionner de manière indépendante sur le même matériel physique.</a:t>
            </a:r>
            <a:endParaRPr lang="fr-FR" sz="2000" dirty="0"/>
          </a:p>
        </p:txBody>
      </p:sp>
      <p:sp>
        <p:nvSpPr>
          <p:cNvPr id="4" name="Espace réservé du pied de page 3">
            <a:extLst>
              <a:ext uri="{FF2B5EF4-FFF2-40B4-BE49-F238E27FC236}">
                <a16:creationId xmlns:a16="http://schemas.microsoft.com/office/drawing/2014/main" id="{F908DC35-1292-EF3C-CC54-DC073C22C2D5}"/>
              </a:ext>
            </a:extLst>
          </p:cNvPr>
          <p:cNvSpPr>
            <a:spLocks noGrp="1"/>
          </p:cNvSpPr>
          <p:nvPr>
            <p:ph type="ftr" sz="quarter" idx="11"/>
          </p:nvPr>
        </p:nvSpPr>
        <p:spPr/>
        <p:txBody>
          <a:bodyPr/>
          <a:lstStyle/>
          <a:p>
            <a:r>
              <a:rPr lang="en-US" i="1" dirty="0"/>
              <a:t>Dr. </a:t>
            </a:r>
            <a:r>
              <a:rPr lang="en-US" i="1" dirty="0" err="1"/>
              <a:t>Bechir</a:t>
            </a:r>
            <a:r>
              <a:rPr lang="en-US" i="1" dirty="0"/>
              <a:t> Ben </a:t>
            </a:r>
            <a:r>
              <a:rPr lang="en-US" i="1" dirty="0" err="1"/>
              <a:t>Gouissem</a:t>
            </a:r>
            <a:endParaRPr lang="en-US" i="1" dirty="0"/>
          </a:p>
        </p:txBody>
      </p:sp>
      <p:sp>
        <p:nvSpPr>
          <p:cNvPr id="5" name="Espace réservé du numéro de diapositive 4">
            <a:extLst>
              <a:ext uri="{FF2B5EF4-FFF2-40B4-BE49-F238E27FC236}">
                <a16:creationId xmlns:a16="http://schemas.microsoft.com/office/drawing/2014/main" id="{B0FD9206-9322-19EC-DE85-E9A5EA29F66E}"/>
              </a:ext>
            </a:extLst>
          </p:cNvPr>
          <p:cNvSpPr>
            <a:spLocks noGrp="1"/>
          </p:cNvSpPr>
          <p:nvPr>
            <p:ph type="sldNum" sz="quarter" idx="12"/>
          </p:nvPr>
        </p:nvSpPr>
        <p:spPr/>
        <p:txBody>
          <a:bodyPr/>
          <a:lstStyle/>
          <a:p>
            <a:fld id="{B82CCC60-E8CD-4174-8B1A-7DF615B22EEF}" type="slidenum">
              <a:rPr lang="en-US" smtClean="0"/>
              <a:pPr/>
              <a:t>17</a:t>
            </a:fld>
            <a:endParaRPr lang="en-US"/>
          </a:p>
        </p:txBody>
      </p:sp>
    </p:spTree>
    <p:extLst>
      <p:ext uri="{BB962C8B-B14F-4D97-AF65-F5344CB8AC3E}">
        <p14:creationId xmlns:p14="http://schemas.microsoft.com/office/powerpoint/2010/main" val="114947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C80AF5-7524-0783-CC88-E32C41A75F2C}"/>
              </a:ext>
            </a:extLst>
          </p:cNvPr>
          <p:cNvSpPr>
            <a:spLocks noGrp="1"/>
          </p:cNvSpPr>
          <p:nvPr>
            <p:ph type="title"/>
          </p:nvPr>
        </p:nvSpPr>
        <p:spPr/>
        <p:txBody>
          <a:bodyPr/>
          <a:lstStyle/>
          <a:p>
            <a:r>
              <a:rPr lang="fr-FR" sz="3200" dirty="0"/>
              <a:t>Les principales fonctions d'un hyperviseur </a:t>
            </a:r>
          </a:p>
        </p:txBody>
      </p:sp>
      <p:sp>
        <p:nvSpPr>
          <p:cNvPr id="3" name="Espace réservé du contenu 2">
            <a:extLst>
              <a:ext uri="{FF2B5EF4-FFF2-40B4-BE49-F238E27FC236}">
                <a16:creationId xmlns:a16="http://schemas.microsoft.com/office/drawing/2014/main" id="{524867B3-7565-7F6E-8332-39BAA869DC41}"/>
              </a:ext>
            </a:extLst>
          </p:cNvPr>
          <p:cNvSpPr>
            <a:spLocks noGrp="1"/>
          </p:cNvSpPr>
          <p:nvPr>
            <p:ph idx="1"/>
          </p:nvPr>
        </p:nvSpPr>
        <p:spPr/>
        <p:txBody>
          <a:bodyPr>
            <a:normAutofit fontScale="77500" lnSpcReduction="20000"/>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Allocation des Ressources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L'hyperviseur attribue des ressources matérielles, telles que le CPU, la mémoire, le stockage et les périphériques, aux machines virtuelles selon les besoins.</a:t>
            </a:r>
            <a:endParaRPr lang="fr-FR"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Isolation des Machines Virtuelles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Chaque machine virtuelle est isolée des autres, ce qui signifie qu'elles ne peuvent pas interférer les unes avec les autres ou accéder aux données des autres VM.</a:t>
            </a:r>
            <a:endParaRPr lang="fr-FR"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Migration en Temps Réel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Certains hyperviseurs permettent de déplacer des machines virtuelles en cours d'exécution d'un serveur physique à un autre sans interruption de service (migration en temps réel).</a:t>
            </a:r>
            <a:endParaRPr lang="fr-FR"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Gestion des Machines Virtuelles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L'hyperviseur offre des outils de gestion pour créer, supprimer, surveiller et mettre à jour des machines virtuelles.</a:t>
            </a:r>
            <a:endParaRPr lang="fr-FR"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Sécurité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Les hyperviseurs sont conçus pour offrir un niveau de sécurité élevé en isolant les machines virtuelles les unes des autres.</a:t>
            </a:r>
            <a:endParaRPr lang="fr-FR"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pied de page 3">
            <a:extLst>
              <a:ext uri="{FF2B5EF4-FFF2-40B4-BE49-F238E27FC236}">
                <a16:creationId xmlns:a16="http://schemas.microsoft.com/office/drawing/2014/main" id="{602F75D5-589E-C9B4-E298-C97300C4E4A8}"/>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ABC4FEC0-2978-E707-172F-89894C228DDD}"/>
              </a:ext>
            </a:extLst>
          </p:cNvPr>
          <p:cNvSpPr>
            <a:spLocks noGrp="1"/>
          </p:cNvSpPr>
          <p:nvPr>
            <p:ph type="sldNum" sz="quarter" idx="12"/>
          </p:nvPr>
        </p:nvSpPr>
        <p:spPr/>
        <p:txBody>
          <a:bodyPr/>
          <a:lstStyle/>
          <a:p>
            <a:fld id="{B82CCC60-E8CD-4174-8B1A-7DF615B22EEF}" type="slidenum">
              <a:rPr lang="en-US" smtClean="0"/>
              <a:pPr/>
              <a:t>18</a:t>
            </a:fld>
            <a:endParaRPr lang="en-US"/>
          </a:p>
        </p:txBody>
      </p:sp>
    </p:spTree>
    <p:extLst>
      <p:ext uri="{BB962C8B-B14F-4D97-AF65-F5344CB8AC3E}">
        <p14:creationId xmlns:p14="http://schemas.microsoft.com/office/powerpoint/2010/main" val="2522927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4ADA62-0761-78E1-CEAD-DD761DA25539}"/>
              </a:ext>
            </a:extLst>
          </p:cNvPr>
          <p:cNvSpPr>
            <a:spLocks noGrp="1"/>
          </p:cNvSpPr>
          <p:nvPr>
            <p:ph type="title"/>
          </p:nvPr>
        </p:nvSpPr>
        <p:spPr/>
        <p:txBody>
          <a:bodyPr>
            <a:normAutofit/>
          </a:bodyPr>
          <a:lstStyle/>
          <a:p>
            <a:r>
              <a:rPr lang="fr-FR" sz="3200" dirty="0"/>
              <a:t>Hyperviseur de Type 1 (</a:t>
            </a:r>
            <a:r>
              <a:rPr lang="fr-FR" sz="3200" dirty="0" err="1"/>
              <a:t>Bare-Metal</a:t>
            </a:r>
            <a:r>
              <a:rPr lang="fr-FR" sz="3200" dirty="0"/>
              <a:t>)</a:t>
            </a:r>
          </a:p>
        </p:txBody>
      </p:sp>
      <p:sp>
        <p:nvSpPr>
          <p:cNvPr id="3" name="Espace réservé du contenu 2">
            <a:extLst>
              <a:ext uri="{FF2B5EF4-FFF2-40B4-BE49-F238E27FC236}">
                <a16:creationId xmlns:a16="http://schemas.microsoft.com/office/drawing/2014/main" id="{185F60FA-356A-4CB9-551A-E397A162E743}"/>
              </a:ext>
            </a:extLst>
          </p:cNvPr>
          <p:cNvSpPr>
            <a:spLocks noGrp="1"/>
          </p:cNvSpPr>
          <p:nvPr>
            <p:ph idx="1"/>
          </p:nvPr>
        </p:nvSpPr>
        <p:spPr>
          <a:xfrm>
            <a:off x="440730" y="2002790"/>
            <a:ext cx="6269140" cy="2901395"/>
          </a:xfrm>
        </p:spPr>
        <p:txBody>
          <a:bodyPr>
            <a:noAutofit/>
          </a:bodyPr>
          <a:lstStyle/>
          <a:p>
            <a:pPr lvl="0" algn="just">
              <a:lnSpc>
                <a:spcPct val="87000"/>
              </a:lnSpc>
              <a:spcAft>
                <a:spcPts val="800"/>
              </a:spcAft>
              <a:tabLst>
                <a:tab pos="457200" algn="l"/>
              </a:tabLst>
            </a:pPr>
            <a:r>
              <a:rPr lang="fr-FR" sz="1600" dirty="0">
                <a:latin typeface="Arial" panose="020B0604020202020204" pitchFamily="34" charset="0"/>
                <a:cs typeface="Arial" panose="020B0604020202020204" pitchFamily="34" charset="0"/>
              </a:rPr>
              <a:t>Un hyperviseur de Type 1, ou natif, voire « </a:t>
            </a:r>
            <a:r>
              <a:rPr lang="fr-FR" sz="1600" dirty="0" err="1">
                <a:latin typeface="Arial" panose="020B0604020202020204" pitchFamily="34" charset="0"/>
                <a:cs typeface="Arial" panose="020B0604020202020204" pitchFamily="34" charset="0"/>
              </a:rPr>
              <a:t>bare</a:t>
            </a:r>
            <a:r>
              <a:rPr lang="fr-FR" sz="1600" dirty="0">
                <a:latin typeface="Arial" panose="020B0604020202020204" pitchFamily="34" charset="0"/>
                <a:cs typeface="Arial" panose="020B0604020202020204" pitchFamily="34" charset="0"/>
              </a:rPr>
              <a:t> </a:t>
            </a:r>
            <a:r>
              <a:rPr lang="fr-FR" sz="1600" dirty="0" err="1">
                <a:latin typeface="Arial" panose="020B0604020202020204" pitchFamily="34" charset="0"/>
                <a:cs typeface="Arial" panose="020B0604020202020204" pitchFamily="34" charset="0"/>
              </a:rPr>
              <a:t>metal</a:t>
            </a:r>
            <a:r>
              <a:rPr lang="fr-FR" sz="1600" dirty="0">
                <a:latin typeface="Arial" panose="020B0604020202020204" pitchFamily="34" charset="0"/>
                <a:cs typeface="Arial" panose="020B0604020202020204" pitchFamily="34" charset="0"/>
              </a:rPr>
              <a:t> »</a:t>
            </a:r>
          </a:p>
          <a:p>
            <a:pPr algn="just">
              <a:lnSpc>
                <a:spcPct val="87000"/>
              </a:lnSpc>
              <a:spcAft>
                <a:spcPts val="800"/>
              </a:spcAft>
              <a:tabLst>
                <a:tab pos="457200" algn="l"/>
              </a:tabLst>
            </a:pPr>
            <a:r>
              <a:rPr lang="fr-FR" sz="1600" dirty="0">
                <a:latin typeface="Arial" panose="020B0604020202020204" pitchFamily="34" charset="0"/>
                <a:cs typeface="Arial" panose="020B0604020202020204" pitchFamily="34" charset="0"/>
              </a:rPr>
              <a:t>Ce type d'hyperviseur s'exécute directement sur le matériel physique, sans nécessiter de système d'exploitation hôte.</a:t>
            </a:r>
          </a:p>
          <a:p>
            <a:pPr algn="just">
              <a:lnSpc>
                <a:spcPct val="87000"/>
              </a:lnSpc>
              <a:spcAft>
                <a:spcPts val="800"/>
              </a:spcAft>
              <a:tabLst>
                <a:tab pos="457200" algn="l"/>
              </a:tabLst>
            </a:pPr>
            <a:r>
              <a:rPr lang="fr-FR" sz="1600" dirty="0">
                <a:latin typeface="Arial" panose="020B0604020202020204" pitchFamily="34" charset="0"/>
                <a:cs typeface="Arial" panose="020B0604020202020204" pitchFamily="34" charset="0"/>
              </a:rPr>
              <a:t>C’est un logiciel qui s’exécute directement sur une plateforme matérielle ; cette plateforme est alors considérée comme outil de contrôle de système d’exploitation.</a:t>
            </a:r>
          </a:p>
          <a:p>
            <a:pPr algn="just">
              <a:lnSpc>
                <a:spcPct val="87000"/>
              </a:lnSpc>
              <a:spcAft>
                <a:spcPts val="800"/>
              </a:spcAft>
              <a:tabLst>
                <a:tab pos="457200" algn="l"/>
              </a:tabLst>
            </a:pPr>
            <a:r>
              <a:rPr lang="fr-FR" sz="1600" dirty="0">
                <a:latin typeface="Arial" panose="020B0604020202020204" pitchFamily="34" charset="0"/>
                <a:cs typeface="Arial" panose="020B0604020202020204" pitchFamily="34" charset="0"/>
              </a:rPr>
              <a:t>L’hyperviseur type 1 est un noyau hôte allégé et optimisé pour ne faire tourner initialement que des noyaux de systèmes d’exploitation invités adaptés et optimisés à cette architecture spécifique.</a:t>
            </a:r>
          </a:p>
        </p:txBody>
      </p:sp>
      <p:sp>
        <p:nvSpPr>
          <p:cNvPr id="4" name="Espace réservé du pied de page 3">
            <a:extLst>
              <a:ext uri="{FF2B5EF4-FFF2-40B4-BE49-F238E27FC236}">
                <a16:creationId xmlns:a16="http://schemas.microsoft.com/office/drawing/2014/main" id="{78D6BC35-B665-3A55-B9E9-2C0985C1E5F2}"/>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B8FE73F4-CC1C-A92A-313C-626E4094CC67}"/>
              </a:ext>
            </a:extLst>
          </p:cNvPr>
          <p:cNvSpPr>
            <a:spLocks noGrp="1"/>
          </p:cNvSpPr>
          <p:nvPr>
            <p:ph type="sldNum" sz="quarter" idx="12"/>
          </p:nvPr>
        </p:nvSpPr>
        <p:spPr/>
        <p:txBody>
          <a:bodyPr/>
          <a:lstStyle/>
          <a:p>
            <a:fld id="{B82CCC60-E8CD-4174-8B1A-7DF615B22EEF}" type="slidenum">
              <a:rPr lang="en-US" smtClean="0"/>
              <a:pPr/>
              <a:t>19</a:t>
            </a:fld>
            <a:endParaRPr lang="en-US"/>
          </a:p>
        </p:txBody>
      </p:sp>
      <p:pic>
        <p:nvPicPr>
          <p:cNvPr id="1026" name="Picture 2" descr="Hyperviseur : Qu'est-ce qu'un hyperviseur ? Définition">
            <a:extLst>
              <a:ext uri="{FF2B5EF4-FFF2-40B4-BE49-F238E27FC236}">
                <a16:creationId xmlns:a16="http://schemas.microsoft.com/office/drawing/2014/main" id="{02B088B0-1433-3721-F391-73AE798AE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9870" y="2277696"/>
            <a:ext cx="2390095"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582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632C6C-845F-7BE6-069F-C4BAE8CB97C4}"/>
              </a:ext>
            </a:extLst>
          </p:cNvPr>
          <p:cNvSpPr>
            <a:spLocks noGrp="1"/>
          </p:cNvSpPr>
          <p:nvPr>
            <p:ph type="title"/>
          </p:nvPr>
        </p:nvSpPr>
        <p:spPr/>
        <p:txBody>
          <a:bodyPr>
            <a:normAutofit fontScale="90000"/>
          </a:bodyPr>
          <a:lstStyle/>
          <a:p>
            <a:r>
              <a:rPr lang="fr-FR" sz="3600" dirty="0"/>
              <a:t>Hyperviseur de Type 1 (</a:t>
            </a:r>
            <a:r>
              <a:rPr lang="fr-FR" sz="3600" dirty="0" err="1"/>
              <a:t>Bare-Metal</a:t>
            </a:r>
            <a:r>
              <a:rPr lang="fr-FR" sz="3600" dirty="0"/>
              <a:t>)</a:t>
            </a:r>
            <a:endParaRPr lang="fr-FR" dirty="0"/>
          </a:p>
        </p:txBody>
      </p:sp>
      <p:sp>
        <p:nvSpPr>
          <p:cNvPr id="3" name="Espace réservé du contenu 2">
            <a:extLst>
              <a:ext uri="{FF2B5EF4-FFF2-40B4-BE49-F238E27FC236}">
                <a16:creationId xmlns:a16="http://schemas.microsoft.com/office/drawing/2014/main" id="{766B224B-FE88-6583-0F86-05B43EC77725}"/>
              </a:ext>
            </a:extLst>
          </p:cNvPr>
          <p:cNvSpPr>
            <a:spLocks noGrp="1"/>
          </p:cNvSpPr>
          <p:nvPr>
            <p:ph idx="1"/>
          </p:nvPr>
        </p:nvSpPr>
        <p:spPr>
          <a:xfrm>
            <a:off x="448966" y="1960929"/>
            <a:ext cx="8246070" cy="2901395"/>
          </a:xfrm>
        </p:spPr>
        <p:txBody>
          <a:bodyPr>
            <a:normAutofit fontScale="55000" lnSpcReduction="20000"/>
          </a:bodyPr>
          <a:lstStyle/>
          <a:p>
            <a:pPr algn="just">
              <a:lnSpc>
                <a:spcPct val="107000"/>
              </a:lnSpc>
              <a:spcAft>
                <a:spcPts val="800"/>
              </a:spcAft>
              <a:tabLst>
                <a:tab pos="457200" algn="l"/>
              </a:tabLst>
            </a:pPr>
            <a:r>
              <a:rPr lang="fr-FR" sz="2800" dirty="0">
                <a:latin typeface="Arial" panose="020B0604020202020204" pitchFamily="34" charset="0"/>
                <a:cs typeface="Arial" panose="020B0604020202020204" pitchFamily="34" charset="0"/>
              </a:rPr>
              <a:t>C’est un logiciel qui s’exécute directement sur une plateforme matérielle ; cette plateforme est alors considérée comme outil de contrôle de système d’exploitation.</a:t>
            </a:r>
          </a:p>
          <a:p>
            <a:pPr algn="just">
              <a:lnSpc>
                <a:spcPct val="107000"/>
              </a:lnSpc>
              <a:spcAft>
                <a:spcPts val="800"/>
              </a:spcAft>
              <a:tabLst>
                <a:tab pos="457200" algn="l"/>
              </a:tabLst>
            </a:pPr>
            <a:r>
              <a:rPr lang="fr-FR" sz="2800" dirty="0">
                <a:latin typeface="Arial" panose="020B0604020202020204" pitchFamily="34" charset="0"/>
                <a:cs typeface="Arial" panose="020B0604020202020204" pitchFamily="34" charset="0"/>
              </a:rPr>
              <a:t>Ces systèmes invités ayant "conscience" d’être virtualisés, Sur des processeurs ayant les instructions de virtualisation matérielle (AMD-V et Intel VT), le système d’exploitation invité n’a plus besoin d’être modifié pour pouvoir être exécuté dans un hyperviseur de type 1.</a:t>
            </a:r>
          </a:p>
          <a:p>
            <a:pPr marL="342900" lvl="0" indent="-342900" algn="just">
              <a:lnSpc>
                <a:spcPct val="107000"/>
              </a:lnSpc>
              <a:spcAft>
                <a:spcPts val="800"/>
              </a:spcAft>
              <a:tabLst>
                <a:tab pos="457200" algn="l"/>
              </a:tabLst>
            </a:pPr>
            <a:r>
              <a:rPr lang="fr-FR" sz="2800" dirty="0">
                <a:latin typeface="Arial" panose="020B0604020202020204" pitchFamily="34" charset="0"/>
                <a:cs typeface="Arial" panose="020B0604020202020204" pitchFamily="34" charset="0"/>
              </a:rPr>
              <a:t>Il s'agit d'une couche logicielle très légère qui gère directement les ressources matérielles et attribue des ressources aux machines virtuelles. </a:t>
            </a:r>
          </a:p>
          <a:p>
            <a:pPr marL="342900" lvl="0" indent="-342900" algn="just">
              <a:lnSpc>
                <a:spcPct val="107000"/>
              </a:lnSpc>
              <a:spcAft>
                <a:spcPts val="800"/>
              </a:spcAft>
              <a:tabLst>
                <a:tab pos="457200" algn="l"/>
              </a:tabLst>
            </a:pPr>
            <a:r>
              <a:rPr lang="fr-FR" sz="2800" dirty="0">
                <a:latin typeface="Arial" panose="020B0604020202020204" pitchFamily="34" charset="0"/>
                <a:cs typeface="Arial" panose="020B0604020202020204" pitchFamily="34" charset="0"/>
              </a:rPr>
              <a:t>Les exemples d'hyperviseurs de type 1 comprennent VMware vSphere/ESXi, Microsoft Hyper-V (dans son mode autonome), et KVM (Kernel-</a:t>
            </a:r>
            <a:r>
              <a:rPr lang="fr-FR" sz="2800" dirty="0" err="1">
                <a:latin typeface="Arial" panose="020B0604020202020204" pitchFamily="34" charset="0"/>
                <a:cs typeface="Arial" panose="020B0604020202020204" pitchFamily="34" charset="0"/>
              </a:rPr>
              <a:t>based</a:t>
            </a:r>
            <a:r>
              <a:rPr lang="fr-FR" sz="2800" dirty="0">
                <a:latin typeface="Arial" panose="020B0604020202020204" pitchFamily="34" charset="0"/>
                <a:cs typeface="Arial" panose="020B0604020202020204" pitchFamily="34" charset="0"/>
              </a:rPr>
              <a:t> Virtual Machine).</a:t>
            </a:r>
          </a:p>
          <a:p>
            <a:pPr marL="342900" lvl="0" indent="-342900" algn="just">
              <a:lnSpc>
                <a:spcPct val="107000"/>
              </a:lnSpc>
              <a:spcAft>
                <a:spcPts val="800"/>
              </a:spcAft>
              <a:tabLst>
                <a:tab pos="457200" algn="l"/>
              </a:tabLst>
            </a:pPr>
            <a:r>
              <a:rPr lang="fr-FR" sz="2700" dirty="0">
                <a:latin typeface="Arial" panose="020B0604020202020204" pitchFamily="34" charset="0"/>
                <a:cs typeface="Arial" panose="020B0604020202020204" pitchFamily="34" charset="0"/>
              </a:rPr>
              <a:t>exemples de tels hyperviseurs plus récents sont </a:t>
            </a:r>
            <a:r>
              <a:rPr lang="fr-FR" sz="2700" dirty="0" err="1">
                <a:latin typeface="Arial" panose="020B0604020202020204" pitchFamily="34" charset="0"/>
                <a:cs typeface="Arial" panose="020B0604020202020204" pitchFamily="34" charset="0"/>
              </a:rPr>
              <a:t>Xen</a:t>
            </a:r>
            <a:r>
              <a:rPr lang="fr-FR" sz="2700" dirty="0">
                <a:latin typeface="Arial" panose="020B0604020202020204" pitchFamily="34" charset="0"/>
                <a:cs typeface="Arial" panose="020B0604020202020204" pitchFamily="34" charset="0"/>
              </a:rPr>
              <a:t>, Oracle VM, ESX Server de VMware. </a:t>
            </a:r>
          </a:p>
          <a:p>
            <a:endParaRPr lang="fr-FR" dirty="0"/>
          </a:p>
        </p:txBody>
      </p:sp>
      <p:sp>
        <p:nvSpPr>
          <p:cNvPr id="4" name="Espace réservé du pied de page 3">
            <a:extLst>
              <a:ext uri="{FF2B5EF4-FFF2-40B4-BE49-F238E27FC236}">
                <a16:creationId xmlns:a16="http://schemas.microsoft.com/office/drawing/2014/main" id="{DED5DB7E-3F46-C995-D1C3-0EFAE608D0FF}"/>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F2D68AC3-A11D-EE8B-95C8-D86395117ED1}"/>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2470973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68D3A1-F8B7-9398-EF3F-3043CAF2E940}"/>
              </a:ext>
            </a:extLst>
          </p:cNvPr>
          <p:cNvSpPr>
            <a:spLocks noGrp="1"/>
          </p:cNvSpPr>
          <p:nvPr>
            <p:ph type="title"/>
          </p:nvPr>
        </p:nvSpPr>
        <p:spPr/>
        <p:txBody>
          <a:bodyPr>
            <a:normAutofit/>
          </a:bodyPr>
          <a:lstStyle/>
          <a:p>
            <a:r>
              <a:rPr lang="fr-FR" sz="3200" dirty="0"/>
              <a:t>Hyperviseur de Type 2 (Hôte)</a:t>
            </a:r>
          </a:p>
        </p:txBody>
      </p:sp>
      <p:sp>
        <p:nvSpPr>
          <p:cNvPr id="3" name="Espace réservé du contenu 2">
            <a:extLst>
              <a:ext uri="{FF2B5EF4-FFF2-40B4-BE49-F238E27FC236}">
                <a16:creationId xmlns:a16="http://schemas.microsoft.com/office/drawing/2014/main" id="{116168EF-C51F-06F6-4ED7-A9EEE14F6F51}"/>
              </a:ext>
            </a:extLst>
          </p:cNvPr>
          <p:cNvSpPr>
            <a:spLocks noGrp="1"/>
          </p:cNvSpPr>
          <p:nvPr>
            <p:ph idx="1"/>
          </p:nvPr>
        </p:nvSpPr>
        <p:spPr>
          <a:xfrm>
            <a:off x="448965" y="1960930"/>
            <a:ext cx="6413609" cy="2748684"/>
          </a:xfrm>
        </p:spPr>
        <p:txBody>
          <a:bodyPr>
            <a:normAutofit/>
          </a:bodyPr>
          <a:lstStyle/>
          <a:p>
            <a:pPr algn="just"/>
            <a:r>
              <a:rPr lang="fr-FR" sz="1600" dirty="0">
                <a:latin typeface="Arial" panose="020B0604020202020204" pitchFamily="34" charset="0"/>
                <a:cs typeface="Arial" panose="020B0604020202020204" pitchFamily="34" charset="0"/>
              </a:rPr>
              <a:t>Les hyperviseurs de type 2 s'exécutent sur un système d'exploitation hôte existant. </a:t>
            </a:r>
          </a:p>
          <a:p>
            <a:pPr algn="just"/>
            <a:r>
              <a:rPr lang="fr-FR" sz="1600" dirty="0">
                <a:latin typeface="Arial" panose="020B0604020202020204" pitchFamily="34" charset="0"/>
                <a:cs typeface="Arial" panose="020B0604020202020204" pitchFamily="34" charset="0"/>
              </a:rPr>
              <a:t>L'hyperviseur de type 2 utilise le système d'exploitation hôte pour interagir avec le matériel sous-jacent et gérer les ressources.</a:t>
            </a:r>
          </a:p>
          <a:p>
            <a:pPr algn="just"/>
            <a:r>
              <a:rPr lang="fr-FR" sz="1600" dirty="0">
                <a:latin typeface="Arial" panose="020B0604020202020204" pitchFamily="34" charset="0"/>
                <a:cs typeface="Arial" panose="020B0604020202020204" pitchFamily="34" charset="0"/>
              </a:rPr>
              <a:t>Des machines virtuelles sont ensuite créées en tant que processus ou applications au sein de cet hôte.</a:t>
            </a:r>
          </a:p>
          <a:p>
            <a:pPr algn="just"/>
            <a:r>
              <a:rPr lang="fr-FR" sz="1600" dirty="0">
                <a:latin typeface="Arial" panose="020B0604020202020204" pitchFamily="34" charset="0"/>
                <a:cs typeface="Arial" panose="020B0604020202020204" pitchFamily="34" charset="0"/>
              </a:rPr>
              <a:t>Les exemples d'hyperviseurs de type 2 incluent Oracle VirtualBox et VMware Workstation.</a:t>
            </a:r>
          </a:p>
        </p:txBody>
      </p:sp>
      <p:sp>
        <p:nvSpPr>
          <p:cNvPr id="4" name="Espace réservé du pied de page 3">
            <a:extLst>
              <a:ext uri="{FF2B5EF4-FFF2-40B4-BE49-F238E27FC236}">
                <a16:creationId xmlns:a16="http://schemas.microsoft.com/office/drawing/2014/main" id="{EB3828A4-A790-5742-621C-72B52C7162A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DBA2608-6E79-8F08-A1C0-A4BB152A0444}"/>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7" name="Image 6">
            <a:extLst>
              <a:ext uri="{FF2B5EF4-FFF2-40B4-BE49-F238E27FC236}">
                <a16:creationId xmlns:a16="http://schemas.microsoft.com/office/drawing/2014/main" id="{4A2FC6BA-E015-B89F-9FCA-587760451CBC}"/>
              </a:ext>
            </a:extLst>
          </p:cNvPr>
          <p:cNvPicPr>
            <a:picLocks noChangeAspect="1"/>
          </p:cNvPicPr>
          <p:nvPr/>
        </p:nvPicPr>
        <p:blipFill>
          <a:blip r:embed="rId2"/>
          <a:stretch>
            <a:fillRect/>
          </a:stretch>
        </p:blipFill>
        <p:spPr>
          <a:xfrm>
            <a:off x="6862575" y="2113635"/>
            <a:ext cx="1985165" cy="1696060"/>
          </a:xfrm>
          <a:prstGeom prst="rect">
            <a:avLst/>
          </a:prstGeom>
        </p:spPr>
      </p:pic>
    </p:spTree>
    <p:extLst>
      <p:ext uri="{BB962C8B-B14F-4D97-AF65-F5344CB8AC3E}">
        <p14:creationId xmlns:p14="http://schemas.microsoft.com/office/powerpoint/2010/main" val="353466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03DB6C-99F0-815A-7BC8-7F56782C8BB7}"/>
              </a:ext>
            </a:extLst>
          </p:cNvPr>
          <p:cNvSpPr>
            <a:spLocks noGrp="1"/>
          </p:cNvSpPr>
          <p:nvPr>
            <p:ph type="title"/>
          </p:nvPr>
        </p:nvSpPr>
        <p:spPr/>
        <p:txBody>
          <a:bodyPr>
            <a:normAutofit fontScale="90000"/>
          </a:bodyPr>
          <a:lstStyle/>
          <a:p>
            <a:r>
              <a:rPr lang="fr-FR" spc="-20" dirty="0"/>
              <a:t>LES </a:t>
            </a:r>
            <a:r>
              <a:rPr lang="fr-FR" spc="-85" dirty="0"/>
              <a:t>AVANTAGES </a:t>
            </a:r>
            <a:r>
              <a:rPr lang="fr-FR" spc="-5" dirty="0"/>
              <a:t>DE LA</a:t>
            </a:r>
            <a:r>
              <a:rPr lang="fr-FR" spc="55" dirty="0"/>
              <a:t> </a:t>
            </a:r>
            <a:r>
              <a:rPr lang="fr-FR" spc="-40" dirty="0"/>
              <a:t>VIRTUALISATION</a:t>
            </a:r>
            <a:endParaRPr lang="fr-FR" dirty="0"/>
          </a:p>
        </p:txBody>
      </p:sp>
      <p:sp>
        <p:nvSpPr>
          <p:cNvPr id="3" name="Espace réservé du contenu 2">
            <a:extLst>
              <a:ext uri="{FF2B5EF4-FFF2-40B4-BE49-F238E27FC236}">
                <a16:creationId xmlns:a16="http://schemas.microsoft.com/office/drawing/2014/main" id="{90840C58-DA7F-1ECE-90A0-2E3134C68B9D}"/>
              </a:ext>
            </a:extLst>
          </p:cNvPr>
          <p:cNvSpPr>
            <a:spLocks noGrp="1"/>
          </p:cNvSpPr>
          <p:nvPr>
            <p:ph idx="1"/>
          </p:nvPr>
        </p:nvSpPr>
        <p:spPr/>
        <p:txBody>
          <a:bodyPr/>
          <a:lstStyle/>
          <a:p>
            <a:pPr algn="just">
              <a:lnSpc>
                <a:spcPct val="100000"/>
              </a:lnSpc>
              <a:spcBef>
                <a:spcPts val="100"/>
              </a:spcBef>
            </a:pPr>
            <a:r>
              <a:rPr lang="fr-FR" sz="2800" b="1" dirty="0">
                <a:latin typeface="Calibri"/>
                <a:cs typeface="Calibri"/>
              </a:rPr>
              <a:t>REDUCTIONS </a:t>
            </a:r>
            <a:r>
              <a:rPr lang="fr-FR" sz="2800" b="1" spc="-10" dirty="0">
                <a:latin typeface="Calibri"/>
                <a:cs typeface="Calibri"/>
              </a:rPr>
              <a:t>DES</a:t>
            </a:r>
            <a:r>
              <a:rPr lang="fr-FR" sz="2800" b="1" spc="-35" dirty="0">
                <a:latin typeface="Calibri"/>
                <a:cs typeface="Calibri"/>
              </a:rPr>
              <a:t> </a:t>
            </a:r>
            <a:r>
              <a:rPr lang="fr-FR" sz="2800" b="1" spc="-10" dirty="0">
                <a:latin typeface="Calibri"/>
                <a:cs typeface="Calibri"/>
              </a:rPr>
              <a:t>COUTS</a:t>
            </a:r>
          </a:p>
          <a:p>
            <a:pPr algn="just">
              <a:lnSpc>
                <a:spcPct val="100000"/>
              </a:lnSpc>
              <a:spcBef>
                <a:spcPts val="100"/>
              </a:spcBef>
            </a:pPr>
            <a:r>
              <a:rPr lang="fr-FR" sz="2800" b="1" spc="-20" dirty="0">
                <a:latin typeface="Calibri"/>
                <a:cs typeface="Calibri"/>
              </a:rPr>
              <a:t>AMELIORATION </a:t>
            </a:r>
            <a:r>
              <a:rPr lang="fr-FR" sz="2800" b="1" spc="-5" dirty="0">
                <a:latin typeface="Calibri"/>
                <a:cs typeface="Calibri"/>
              </a:rPr>
              <a:t>DE </a:t>
            </a:r>
            <a:r>
              <a:rPr lang="fr-FR" sz="2800" b="1" dirty="0">
                <a:latin typeface="Calibri"/>
                <a:cs typeface="Calibri"/>
              </a:rPr>
              <a:t>LA </a:t>
            </a:r>
            <a:r>
              <a:rPr lang="fr-FR" sz="2800" b="1" spc="-10" dirty="0">
                <a:latin typeface="Calibri"/>
                <a:cs typeface="Calibri"/>
              </a:rPr>
              <a:t>QUALITE </a:t>
            </a:r>
            <a:r>
              <a:rPr lang="fr-FR" sz="2800" b="1" spc="-5" dirty="0">
                <a:latin typeface="Calibri"/>
                <a:cs typeface="Calibri"/>
              </a:rPr>
              <a:t>DE SERVICE  </a:t>
            </a:r>
          </a:p>
          <a:p>
            <a:pPr algn="just">
              <a:lnSpc>
                <a:spcPct val="100000"/>
              </a:lnSpc>
              <a:spcBef>
                <a:spcPts val="100"/>
              </a:spcBef>
            </a:pPr>
            <a:r>
              <a:rPr lang="fr-FR" sz="2800" b="1" spc="-20" dirty="0">
                <a:latin typeface="Calibri"/>
                <a:cs typeface="Calibri"/>
              </a:rPr>
              <a:t>SIMPLIFICATION </a:t>
            </a:r>
            <a:r>
              <a:rPr lang="fr-FR" sz="2800" b="1" spc="-10" dirty="0">
                <a:latin typeface="Calibri"/>
                <a:cs typeface="Calibri"/>
              </a:rPr>
              <a:t>DES </a:t>
            </a:r>
            <a:r>
              <a:rPr lang="fr-FR" sz="2800" b="1" spc="-45" dirty="0">
                <a:latin typeface="Calibri"/>
                <a:cs typeface="Calibri"/>
              </a:rPr>
              <a:t>TACHES</a:t>
            </a:r>
            <a:r>
              <a:rPr lang="fr-FR" sz="2800" b="1" spc="15" dirty="0">
                <a:latin typeface="Calibri"/>
                <a:cs typeface="Calibri"/>
              </a:rPr>
              <a:t> </a:t>
            </a:r>
            <a:r>
              <a:rPr lang="fr-FR" sz="2800" b="1" spc="-35" dirty="0">
                <a:latin typeface="Calibri"/>
                <a:cs typeface="Calibri"/>
              </a:rPr>
              <a:t>D’ADMINISTRATION</a:t>
            </a:r>
          </a:p>
          <a:p>
            <a:pPr algn="just">
              <a:lnSpc>
                <a:spcPct val="100000"/>
              </a:lnSpc>
              <a:spcBef>
                <a:spcPts val="100"/>
              </a:spcBef>
            </a:pPr>
            <a:r>
              <a:rPr lang="fr-FR" sz="2800" b="1" spc="-35" dirty="0">
                <a:latin typeface="Calibri"/>
                <a:cs typeface="Calibri"/>
              </a:rPr>
              <a:t>SECURISATION</a:t>
            </a:r>
            <a:endParaRPr lang="fr-FR" sz="2800" dirty="0">
              <a:latin typeface="Calibri"/>
              <a:cs typeface="Calibri"/>
            </a:endParaRPr>
          </a:p>
          <a:p>
            <a:pPr marL="0" indent="0" algn="just">
              <a:buNone/>
            </a:pPr>
            <a:endParaRPr lang="fr-FR" dirty="0"/>
          </a:p>
        </p:txBody>
      </p:sp>
      <p:sp>
        <p:nvSpPr>
          <p:cNvPr id="4" name="Espace réservé du pied de page 3">
            <a:extLst>
              <a:ext uri="{FF2B5EF4-FFF2-40B4-BE49-F238E27FC236}">
                <a16:creationId xmlns:a16="http://schemas.microsoft.com/office/drawing/2014/main" id="{F2DCE2A4-F159-359D-8B7B-B64C4344E2B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6AE11731-69CB-B600-7D88-751F4025E738}"/>
              </a:ext>
            </a:extLst>
          </p:cNvPr>
          <p:cNvSpPr>
            <a:spLocks noGrp="1"/>
          </p:cNvSpPr>
          <p:nvPr>
            <p:ph type="sldNum" sz="quarter" idx="12"/>
          </p:nvPr>
        </p:nvSpPr>
        <p:spPr/>
        <p:txBody>
          <a:bodyPr/>
          <a:lstStyle/>
          <a:p>
            <a:fld id="{B82CCC60-E8CD-4174-8B1A-7DF615B22EEF}" type="slidenum">
              <a:rPr lang="en-US" smtClean="0"/>
              <a:pPr/>
              <a:t>22</a:t>
            </a:fld>
            <a:endParaRPr lang="en-US"/>
          </a:p>
        </p:txBody>
      </p:sp>
    </p:spTree>
    <p:extLst>
      <p:ext uri="{BB962C8B-B14F-4D97-AF65-F5344CB8AC3E}">
        <p14:creationId xmlns:p14="http://schemas.microsoft.com/office/powerpoint/2010/main" val="3866997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F26DC5-E120-45DA-F091-60B43B78DBEE}"/>
              </a:ext>
            </a:extLst>
          </p:cNvPr>
          <p:cNvSpPr>
            <a:spLocks noGrp="1"/>
          </p:cNvSpPr>
          <p:nvPr>
            <p:ph type="title"/>
          </p:nvPr>
        </p:nvSpPr>
        <p:spPr/>
        <p:txBody>
          <a:bodyPr>
            <a:normAutofit fontScale="90000"/>
          </a:bodyPr>
          <a:lstStyle/>
          <a:p>
            <a:r>
              <a:rPr lang="fr-FR" sz="3600" b="1" dirty="0">
                <a:latin typeface="Calibri"/>
                <a:cs typeface="Calibri"/>
              </a:rPr>
              <a:t>REDUCTIONS </a:t>
            </a:r>
            <a:r>
              <a:rPr lang="fr-FR" sz="3600" b="1" spc="-10" dirty="0">
                <a:latin typeface="Calibri"/>
                <a:cs typeface="Calibri"/>
              </a:rPr>
              <a:t>DES</a:t>
            </a:r>
            <a:r>
              <a:rPr lang="fr-FR" sz="3600" b="1" spc="-95" dirty="0">
                <a:latin typeface="Calibri"/>
                <a:cs typeface="Calibri"/>
              </a:rPr>
              <a:t> </a:t>
            </a:r>
            <a:r>
              <a:rPr lang="fr-FR" sz="3600" b="1" spc="-10" dirty="0">
                <a:latin typeface="Calibri"/>
                <a:cs typeface="Calibri"/>
              </a:rPr>
              <a:t>COUTS</a:t>
            </a:r>
            <a:endParaRPr lang="fr-FR" dirty="0"/>
          </a:p>
        </p:txBody>
      </p:sp>
      <p:sp>
        <p:nvSpPr>
          <p:cNvPr id="3" name="Espace réservé du contenu 2">
            <a:extLst>
              <a:ext uri="{FF2B5EF4-FFF2-40B4-BE49-F238E27FC236}">
                <a16:creationId xmlns:a16="http://schemas.microsoft.com/office/drawing/2014/main" id="{87F07FEC-C644-EAD3-AAE4-8F8F9374BDA8}"/>
              </a:ext>
            </a:extLst>
          </p:cNvPr>
          <p:cNvSpPr>
            <a:spLocks noGrp="1"/>
          </p:cNvSpPr>
          <p:nvPr>
            <p:ph idx="1"/>
          </p:nvPr>
        </p:nvSpPr>
        <p:spPr/>
        <p:txBody>
          <a:bodyPr>
            <a:normAutofit fontScale="70000" lnSpcReduction="20000"/>
          </a:bodyPr>
          <a:lstStyle/>
          <a:p>
            <a:pPr marL="12700" marR="5080" algn="just">
              <a:lnSpc>
                <a:spcPct val="120000"/>
              </a:lnSpc>
              <a:spcBef>
                <a:spcPts val="100"/>
              </a:spcBef>
            </a:pPr>
            <a:r>
              <a:rPr lang="fr-FR" b="1" i="1" spc="-10" dirty="0">
                <a:cs typeface="Calibri"/>
              </a:rPr>
              <a:t>Economie </a:t>
            </a:r>
            <a:r>
              <a:rPr lang="fr-FR" b="1" i="1" spc="-5" dirty="0">
                <a:cs typeface="Calibri"/>
              </a:rPr>
              <a:t>possible </a:t>
            </a:r>
            <a:r>
              <a:rPr lang="fr-FR" b="1" i="1" spc="-20" dirty="0">
                <a:cs typeface="Calibri"/>
              </a:rPr>
              <a:t>jusqu’à </a:t>
            </a:r>
            <a:r>
              <a:rPr lang="fr-FR" b="1" i="1" dirty="0">
                <a:cs typeface="Calibri"/>
              </a:rPr>
              <a:t>20 à 40% </a:t>
            </a:r>
            <a:r>
              <a:rPr lang="fr-FR" b="1" i="1" spc="-5" dirty="0">
                <a:cs typeface="Calibri"/>
              </a:rPr>
              <a:t>ou plus selon </a:t>
            </a:r>
            <a:r>
              <a:rPr lang="fr-FR" b="1" i="1" dirty="0">
                <a:cs typeface="Calibri"/>
              </a:rPr>
              <a:t>les</a:t>
            </a:r>
            <a:r>
              <a:rPr lang="fr-FR" b="1" i="1" spc="80" dirty="0">
                <a:cs typeface="Calibri"/>
              </a:rPr>
              <a:t> </a:t>
            </a:r>
            <a:r>
              <a:rPr lang="fr-FR" b="1" i="1" spc="-10" dirty="0">
                <a:cs typeface="Calibri"/>
              </a:rPr>
              <a:t>cas:</a:t>
            </a:r>
            <a:endParaRPr lang="fr-FR" sz="2800" b="1" spc="-5" dirty="0">
              <a:latin typeface="Calibri"/>
              <a:cs typeface="Calibri"/>
            </a:endParaRPr>
          </a:p>
          <a:p>
            <a:pPr marL="12700" marR="5080" algn="just">
              <a:lnSpc>
                <a:spcPct val="120000"/>
              </a:lnSpc>
              <a:spcBef>
                <a:spcPts val="100"/>
              </a:spcBef>
            </a:pPr>
            <a:r>
              <a:rPr lang="fr-FR" sz="2800" b="1" spc="-5" dirty="0">
                <a:latin typeface="Calibri"/>
                <a:cs typeface="Calibri"/>
              </a:rPr>
              <a:t>Réduction </a:t>
            </a:r>
            <a:r>
              <a:rPr lang="fr-FR" sz="2800" b="1" dirty="0">
                <a:latin typeface="Calibri"/>
                <a:cs typeface="Calibri"/>
              </a:rPr>
              <a:t>des </a:t>
            </a:r>
            <a:r>
              <a:rPr lang="fr-FR" sz="2800" b="1" spc="-5" dirty="0">
                <a:latin typeface="Calibri"/>
                <a:cs typeface="Calibri"/>
              </a:rPr>
              <a:t>coûts matériels </a:t>
            </a:r>
            <a:r>
              <a:rPr lang="fr-FR" sz="2800" b="1" dirty="0">
                <a:latin typeface="Calibri"/>
                <a:cs typeface="Calibri"/>
              </a:rPr>
              <a:t>: </a:t>
            </a:r>
            <a:r>
              <a:rPr lang="fr-FR" sz="2800" i="1" spc="-5" dirty="0">
                <a:latin typeface="Calibri"/>
                <a:cs typeface="Calibri"/>
              </a:rPr>
              <a:t>Diminution du nombre de </a:t>
            </a:r>
            <a:r>
              <a:rPr lang="fr-FR" sz="2800" i="1" spc="-10" dirty="0">
                <a:latin typeface="Calibri"/>
                <a:cs typeface="Calibri"/>
              </a:rPr>
              <a:t>matériels </a:t>
            </a:r>
            <a:r>
              <a:rPr lang="fr-FR" sz="2800" i="1" spc="-5" dirty="0">
                <a:latin typeface="Calibri"/>
                <a:cs typeface="Calibri"/>
              </a:rPr>
              <a:t>nécessaire au bon  </a:t>
            </a:r>
            <a:r>
              <a:rPr lang="fr-FR" sz="2800" i="1" spc="-10" dirty="0">
                <a:latin typeface="Calibri"/>
                <a:cs typeface="Calibri"/>
              </a:rPr>
              <a:t>fonctionnement </a:t>
            </a:r>
            <a:r>
              <a:rPr lang="fr-FR" sz="2800" i="1" spc="-5" dirty="0">
                <a:latin typeface="Calibri"/>
                <a:cs typeface="Calibri"/>
              </a:rPr>
              <a:t>de</a:t>
            </a:r>
            <a:r>
              <a:rPr lang="fr-FR" sz="2800" i="1" spc="20" dirty="0">
                <a:latin typeface="Calibri"/>
                <a:cs typeface="Calibri"/>
              </a:rPr>
              <a:t> </a:t>
            </a:r>
            <a:r>
              <a:rPr lang="fr-FR" sz="2800" i="1" spc="-10" dirty="0">
                <a:latin typeface="Calibri"/>
                <a:cs typeface="Calibri"/>
              </a:rPr>
              <a:t>l’infrastructure (mutualisation).</a:t>
            </a:r>
            <a:endParaRPr lang="fr-FR" sz="3600" dirty="0">
              <a:latin typeface="Times New Roman"/>
              <a:cs typeface="Times New Roman"/>
            </a:endParaRPr>
          </a:p>
          <a:p>
            <a:pPr marL="12700" marR="288925" algn="just">
              <a:lnSpc>
                <a:spcPct val="120000"/>
              </a:lnSpc>
            </a:pPr>
            <a:r>
              <a:rPr lang="fr-FR" sz="2800" b="1" spc="-5" dirty="0">
                <a:latin typeface="Calibri"/>
                <a:cs typeface="Calibri"/>
              </a:rPr>
              <a:t>Réduction </a:t>
            </a:r>
            <a:r>
              <a:rPr lang="fr-FR" sz="2800" b="1" dirty="0">
                <a:latin typeface="Calibri"/>
                <a:cs typeface="Calibri"/>
              </a:rPr>
              <a:t>de la </a:t>
            </a:r>
            <a:r>
              <a:rPr lang="fr-FR" sz="2800" b="1" spc="-10" dirty="0">
                <a:latin typeface="Calibri"/>
                <a:cs typeface="Calibri"/>
              </a:rPr>
              <a:t>facture énergétique </a:t>
            </a:r>
            <a:r>
              <a:rPr lang="fr-FR" sz="2800" b="1" dirty="0">
                <a:latin typeface="Calibri"/>
                <a:cs typeface="Calibri"/>
              </a:rPr>
              <a:t>: </a:t>
            </a:r>
            <a:r>
              <a:rPr lang="fr-FR" sz="2800" i="1" spc="-5" dirty="0">
                <a:latin typeface="Calibri"/>
                <a:cs typeface="Calibri"/>
              </a:rPr>
              <a:t>La rationalisation de </a:t>
            </a:r>
            <a:r>
              <a:rPr lang="fr-FR" sz="2800" i="1" spc="-10" dirty="0">
                <a:latin typeface="Calibri"/>
                <a:cs typeface="Calibri"/>
              </a:rPr>
              <a:t>l’infrastructure </a:t>
            </a:r>
            <a:r>
              <a:rPr lang="fr-FR" sz="2800" i="1" spc="-5" dirty="0">
                <a:latin typeface="Calibri"/>
                <a:cs typeface="Calibri"/>
              </a:rPr>
              <a:t>réduit la  consommation électrique de </a:t>
            </a:r>
            <a:r>
              <a:rPr lang="fr-FR" sz="2800" i="1" dirty="0">
                <a:latin typeface="Calibri"/>
                <a:cs typeface="Calibri"/>
              </a:rPr>
              <a:t>l </a:t>
            </a:r>
            <a:r>
              <a:rPr lang="fr-FR" sz="2800" i="1" spc="-20" dirty="0">
                <a:latin typeface="Calibri"/>
                <a:cs typeface="Calibri"/>
              </a:rPr>
              <a:t>’ensemble </a:t>
            </a:r>
            <a:r>
              <a:rPr lang="fr-FR" sz="2800" i="1" spc="-5" dirty="0">
                <a:latin typeface="Calibri"/>
                <a:cs typeface="Calibri"/>
              </a:rPr>
              <a:t>ainsi que les besoins </a:t>
            </a:r>
            <a:r>
              <a:rPr lang="fr-FR" sz="2800" i="1" dirty="0">
                <a:latin typeface="Calibri"/>
                <a:cs typeface="Calibri"/>
              </a:rPr>
              <a:t>en</a:t>
            </a:r>
            <a:r>
              <a:rPr lang="fr-FR" sz="2800" i="1" spc="155" dirty="0">
                <a:latin typeface="Calibri"/>
                <a:cs typeface="Calibri"/>
              </a:rPr>
              <a:t> </a:t>
            </a:r>
            <a:r>
              <a:rPr lang="fr-FR" sz="2800" i="1" spc="-5" dirty="0">
                <a:latin typeface="Calibri"/>
                <a:cs typeface="Calibri"/>
              </a:rPr>
              <a:t>climatisation.</a:t>
            </a:r>
            <a:endParaRPr lang="fr-FR" sz="3600" dirty="0">
              <a:latin typeface="Times New Roman"/>
              <a:cs typeface="Times New Roman"/>
            </a:endParaRPr>
          </a:p>
          <a:p>
            <a:pPr marL="12700" algn="just">
              <a:lnSpc>
                <a:spcPct val="120000"/>
              </a:lnSpc>
            </a:pPr>
            <a:r>
              <a:rPr lang="fr-FR" sz="2800" b="1" spc="-5" dirty="0">
                <a:latin typeface="Calibri"/>
                <a:cs typeface="Calibri"/>
              </a:rPr>
              <a:t>Réduction </a:t>
            </a:r>
            <a:r>
              <a:rPr lang="fr-FR" sz="2800" b="1" dirty="0">
                <a:latin typeface="Calibri"/>
                <a:cs typeface="Calibri"/>
              </a:rPr>
              <a:t>du </a:t>
            </a:r>
            <a:r>
              <a:rPr lang="fr-FR" sz="2800" b="1" spc="-20" dirty="0">
                <a:latin typeface="Calibri"/>
                <a:cs typeface="Calibri"/>
              </a:rPr>
              <a:t>TCO </a:t>
            </a:r>
            <a:r>
              <a:rPr lang="fr-FR" sz="2800" spc="-35" dirty="0">
                <a:latin typeface="Calibri"/>
                <a:cs typeface="Calibri"/>
              </a:rPr>
              <a:t>(Total </a:t>
            </a:r>
            <a:r>
              <a:rPr lang="fr-FR" sz="2800" spc="-10" dirty="0" err="1">
                <a:latin typeface="Calibri"/>
                <a:cs typeface="Calibri"/>
              </a:rPr>
              <a:t>Cost</a:t>
            </a:r>
            <a:r>
              <a:rPr lang="fr-FR" sz="2800" spc="-10" dirty="0">
                <a:latin typeface="Calibri"/>
                <a:cs typeface="Calibri"/>
              </a:rPr>
              <a:t> </a:t>
            </a:r>
            <a:r>
              <a:rPr lang="fr-FR" sz="2800" spc="-5" dirty="0">
                <a:latin typeface="Calibri"/>
                <a:cs typeface="Calibri"/>
              </a:rPr>
              <a:t>of </a:t>
            </a:r>
            <a:r>
              <a:rPr lang="fr-FR" sz="2800" spc="-10" dirty="0" err="1">
                <a:latin typeface="Calibri"/>
                <a:cs typeface="Calibri"/>
              </a:rPr>
              <a:t>Ownership</a:t>
            </a:r>
            <a:r>
              <a:rPr lang="fr-FR" sz="2800" spc="-10" dirty="0">
                <a:latin typeface="Calibri"/>
                <a:cs typeface="Calibri"/>
              </a:rPr>
              <a:t>) </a:t>
            </a:r>
            <a:r>
              <a:rPr lang="fr-FR" sz="2800" dirty="0">
                <a:latin typeface="Calibri"/>
                <a:cs typeface="Calibri"/>
              </a:rPr>
              <a:t>: </a:t>
            </a:r>
            <a:r>
              <a:rPr lang="fr-FR" sz="2800" i="1" spc="-5" dirty="0">
                <a:latin typeface="Calibri"/>
                <a:cs typeface="Calibri"/>
              </a:rPr>
              <a:t>Cout </a:t>
            </a:r>
            <a:r>
              <a:rPr lang="fr-FR" sz="2800" i="1" spc="-15" dirty="0">
                <a:latin typeface="Calibri"/>
                <a:cs typeface="Calibri"/>
              </a:rPr>
              <a:t>total </a:t>
            </a:r>
            <a:r>
              <a:rPr lang="fr-FR" sz="2800" i="1" spc="-5" dirty="0">
                <a:latin typeface="Calibri"/>
                <a:cs typeface="Calibri"/>
              </a:rPr>
              <a:t>de</a:t>
            </a:r>
            <a:r>
              <a:rPr lang="fr-FR" sz="2800" i="1" spc="110" dirty="0">
                <a:latin typeface="Calibri"/>
                <a:cs typeface="Calibri"/>
              </a:rPr>
              <a:t> </a:t>
            </a:r>
            <a:r>
              <a:rPr lang="fr-FR" sz="2800" i="1" spc="-5" dirty="0">
                <a:latin typeface="Calibri"/>
                <a:cs typeface="Calibri"/>
              </a:rPr>
              <a:t>possession</a:t>
            </a:r>
            <a:endParaRPr lang="fr-FR" sz="3600" dirty="0">
              <a:latin typeface="Times New Roman"/>
              <a:cs typeface="Times New Roman"/>
            </a:endParaRPr>
          </a:p>
          <a:p>
            <a:pPr marL="12700" algn="just">
              <a:lnSpc>
                <a:spcPct val="120000"/>
              </a:lnSpc>
            </a:pPr>
            <a:r>
              <a:rPr lang="fr-FR" sz="2800" b="1" spc="-5" dirty="0">
                <a:latin typeface="Calibri"/>
                <a:cs typeface="Calibri"/>
              </a:rPr>
              <a:t>Optimisation </a:t>
            </a:r>
            <a:r>
              <a:rPr lang="fr-FR" sz="2800" b="1" dirty="0">
                <a:latin typeface="Calibri"/>
                <a:cs typeface="Calibri"/>
              </a:rPr>
              <a:t>du </a:t>
            </a:r>
            <a:r>
              <a:rPr lang="fr-FR" sz="2800" b="1" spc="-10" dirty="0">
                <a:latin typeface="Calibri"/>
                <a:cs typeface="Calibri"/>
              </a:rPr>
              <a:t>ROI </a:t>
            </a:r>
            <a:r>
              <a:rPr lang="fr-FR" sz="2800" spc="-15" dirty="0">
                <a:latin typeface="Calibri"/>
                <a:cs typeface="Calibri"/>
              </a:rPr>
              <a:t>(Return </a:t>
            </a:r>
            <a:r>
              <a:rPr lang="fr-FR" sz="2800" spc="-5" dirty="0">
                <a:latin typeface="Calibri"/>
                <a:cs typeface="Calibri"/>
              </a:rPr>
              <a:t>of </a:t>
            </a:r>
            <a:r>
              <a:rPr lang="fr-FR" sz="2800" spc="-10" dirty="0">
                <a:latin typeface="Calibri"/>
                <a:cs typeface="Calibri"/>
              </a:rPr>
              <a:t>Investment) </a:t>
            </a:r>
            <a:r>
              <a:rPr lang="fr-FR" sz="2800" dirty="0">
                <a:latin typeface="Calibri"/>
                <a:cs typeface="Calibri"/>
              </a:rPr>
              <a:t>: </a:t>
            </a:r>
            <a:r>
              <a:rPr lang="fr-FR" sz="2800" i="1" spc="-20" dirty="0">
                <a:latin typeface="Calibri"/>
                <a:cs typeface="Calibri"/>
              </a:rPr>
              <a:t>Retour </a:t>
            </a:r>
            <a:r>
              <a:rPr lang="fr-FR" sz="2800" i="1" spc="-5" dirty="0">
                <a:latin typeface="Calibri"/>
                <a:cs typeface="Calibri"/>
              </a:rPr>
              <a:t>sur</a:t>
            </a:r>
            <a:r>
              <a:rPr lang="fr-FR" sz="2800" i="1" spc="80" dirty="0">
                <a:latin typeface="Calibri"/>
                <a:cs typeface="Calibri"/>
              </a:rPr>
              <a:t> </a:t>
            </a:r>
            <a:r>
              <a:rPr lang="fr-FR" sz="2800" i="1" spc="-10" dirty="0">
                <a:latin typeface="Calibri"/>
                <a:cs typeface="Calibri"/>
              </a:rPr>
              <a:t>investissement</a:t>
            </a:r>
            <a:endParaRPr lang="fr-FR" sz="2800" dirty="0">
              <a:latin typeface="Calibri"/>
              <a:cs typeface="Calibri"/>
            </a:endParaRPr>
          </a:p>
          <a:p>
            <a:pPr algn="just"/>
            <a:endParaRPr lang="fr-FR" dirty="0"/>
          </a:p>
        </p:txBody>
      </p:sp>
      <p:sp>
        <p:nvSpPr>
          <p:cNvPr id="4" name="Espace réservé du pied de page 3">
            <a:extLst>
              <a:ext uri="{FF2B5EF4-FFF2-40B4-BE49-F238E27FC236}">
                <a16:creationId xmlns:a16="http://schemas.microsoft.com/office/drawing/2014/main" id="{BF244EC9-262A-C8FF-EE3A-1CE824B603E2}"/>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2D12E9A2-20F1-D58D-5D5D-D38591955425}"/>
              </a:ext>
            </a:extLst>
          </p:cNvPr>
          <p:cNvSpPr>
            <a:spLocks noGrp="1"/>
          </p:cNvSpPr>
          <p:nvPr>
            <p:ph type="sldNum" sz="quarter" idx="12"/>
          </p:nvPr>
        </p:nvSpPr>
        <p:spPr/>
        <p:txBody>
          <a:bodyPr/>
          <a:lstStyle/>
          <a:p>
            <a:fld id="{B82CCC60-E8CD-4174-8B1A-7DF615B22EEF}" type="slidenum">
              <a:rPr lang="en-US" smtClean="0"/>
              <a:pPr/>
              <a:t>23</a:t>
            </a:fld>
            <a:endParaRPr lang="en-US"/>
          </a:p>
        </p:txBody>
      </p:sp>
    </p:spTree>
    <p:extLst>
      <p:ext uri="{BB962C8B-B14F-4D97-AF65-F5344CB8AC3E}">
        <p14:creationId xmlns:p14="http://schemas.microsoft.com/office/powerpoint/2010/main" val="2392898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B115B2-BCCB-A473-169A-2E8E1258E3D3}"/>
              </a:ext>
            </a:extLst>
          </p:cNvPr>
          <p:cNvSpPr>
            <a:spLocks noGrp="1"/>
          </p:cNvSpPr>
          <p:nvPr>
            <p:ph type="title"/>
          </p:nvPr>
        </p:nvSpPr>
        <p:spPr/>
        <p:txBody>
          <a:bodyPr>
            <a:normAutofit fontScale="90000"/>
          </a:bodyPr>
          <a:lstStyle/>
          <a:p>
            <a:r>
              <a:rPr lang="fr-FR" sz="3600" b="1" dirty="0">
                <a:latin typeface="Calibri"/>
                <a:cs typeface="Calibri"/>
              </a:rPr>
              <a:t>REDUCTIONS </a:t>
            </a:r>
            <a:r>
              <a:rPr lang="fr-FR" sz="3600" b="1" spc="-10" dirty="0">
                <a:latin typeface="Calibri"/>
                <a:cs typeface="Calibri"/>
              </a:rPr>
              <a:t>DES</a:t>
            </a:r>
            <a:r>
              <a:rPr lang="fr-FR" sz="3600" b="1" spc="-95" dirty="0">
                <a:latin typeface="Calibri"/>
                <a:cs typeface="Calibri"/>
              </a:rPr>
              <a:t> </a:t>
            </a:r>
            <a:r>
              <a:rPr lang="fr-FR" sz="3600" b="1" spc="-10" dirty="0">
                <a:latin typeface="Calibri"/>
                <a:cs typeface="Calibri"/>
              </a:rPr>
              <a:t>COUTS</a:t>
            </a:r>
            <a:endParaRPr lang="fr-FR" dirty="0"/>
          </a:p>
        </p:txBody>
      </p:sp>
      <p:sp>
        <p:nvSpPr>
          <p:cNvPr id="4" name="Espace réservé du pied de page 3">
            <a:extLst>
              <a:ext uri="{FF2B5EF4-FFF2-40B4-BE49-F238E27FC236}">
                <a16:creationId xmlns:a16="http://schemas.microsoft.com/office/drawing/2014/main" id="{E5DBD896-798C-FA5E-F263-EB80023A8039}"/>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39866023-C344-A38E-DF1F-4710DC5614A4}"/>
              </a:ext>
            </a:extLst>
          </p:cNvPr>
          <p:cNvSpPr>
            <a:spLocks noGrp="1"/>
          </p:cNvSpPr>
          <p:nvPr>
            <p:ph type="sldNum" sz="quarter" idx="12"/>
          </p:nvPr>
        </p:nvSpPr>
        <p:spPr/>
        <p:txBody>
          <a:bodyPr/>
          <a:lstStyle/>
          <a:p>
            <a:fld id="{B82CCC60-E8CD-4174-8B1A-7DF615B22EEF}" type="slidenum">
              <a:rPr lang="en-US" smtClean="0"/>
              <a:pPr/>
              <a:t>24</a:t>
            </a:fld>
            <a:endParaRPr lang="en-US"/>
          </a:p>
        </p:txBody>
      </p:sp>
      <p:sp>
        <p:nvSpPr>
          <p:cNvPr id="6" name="object 6">
            <a:extLst>
              <a:ext uri="{FF2B5EF4-FFF2-40B4-BE49-F238E27FC236}">
                <a16:creationId xmlns:a16="http://schemas.microsoft.com/office/drawing/2014/main" id="{C76F0B91-D01A-AFE7-5152-4EA0D0DB588B}"/>
              </a:ext>
            </a:extLst>
          </p:cNvPr>
          <p:cNvSpPr/>
          <p:nvPr/>
        </p:nvSpPr>
        <p:spPr>
          <a:xfrm>
            <a:off x="1670605" y="1865199"/>
            <a:ext cx="5183467" cy="2915643"/>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2378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57D54C-64C0-DA12-5E72-96CDFBAD5255}"/>
              </a:ext>
            </a:extLst>
          </p:cNvPr>
          <p:cNvSpPr>
            <a:spLocks noGrp="1"/>
          </p:cNvSpPr>
          <p:nvPr>
            <p:ph type="title"/>
          </p:nvPr>
        </p:nvSpPr>
        <p:spPr/>
        <p:txBody>
          <a:bodyPr>
            <a:normAutofit fontScale="90000"/>
          </a:bodyPr>
          <a:lstStyle/>
          <a:p>
            <a:r>
              <a:rPr lang="fr-FR" sz="3600" b="1" spc="-20" dirty="0">
                <a:latin typeface="Calibri"/>
                <a:cs typeface="Calibri"/>
              </a:rPr>
              <a:t>AMELIORATION </a:t>
            </a:r>
            <a:r>
              <a:rPr lang="fr-FR" sz="3600" b="1" spc="-5" dirty="0">
                <a:latin typeface="Calibri"/>
                <a:cs typeface="Calibri"/>
              </a:rPr>
              <a:t>DE </a:t>
            </a:r>
            <a:r>
              <a:rPr lang="fr-FR" sz="3600" b="1" dirty="0">
                <a:latin typeface="Calibri"/>
                <a:cs typeface="Calibri"/>
              </a:rPr>
              <a:t>LA </a:t>
            </a:r>
            <a:r>
              <a:rPr lang="fr-FR" sz="3600" b="1" spc="-10" dirty="0">
                <a:latin typeface="Calibri"/>
                <a:cs typeface="Calibri"/>
              </a:rPr>
              <a:t>QUALITE </a:t>
            </a:r>
            <a:r>
              <a:rPr lang="fr-FR" sz="3600" b="1" spc="-5" dirty="0">
                <a:latin typeface="Calibri"/>
                <a:cs typeface="Calibri"/>
              </a:rPr>
              <a:t>DE</a:t>
            </a:r>
            <a:r>
              <a:rPr lang="fr-FR" sz="3600" b="1" spc="-40" dirty="0">
                <a:latin typeface="Calibri"/>
                <a:cs typeface="Calibri"/>
              </a:rPr>
              <a:t> </a:t>
            </a:r>
            <a:r>
              <a:rPr lang="fr-FR" sz="3600" b="1" spc="-5" dirty="0">
                <a:latin typeface="Calibri"/>
                <a:cs typeface="Calibri"/>
              </a:rPr>
              <a:t>SERVICE</a:t>
            </a:r>
            <a:endParaRPr lang="fr-FR" dirty="0"/>
          </a:p>
        </p:txBody>
      </p:sp>
      <p:sp>
        <p:nvSpPr>
          <p:cNvPr id="3" name="Espace réservé du contenu 2">
            <a:extLst>
              <a:ext uri="{FF2B5EF4-FFF2-40B4-BE49-F238E27FC236}">
                <a16:creationId xmlns:a16="http://schemas.microsoft.com/office/drawing/2014/main" id="{90486F33-A271-CD60-432D-CA6526D20D53}"/>
              </a:ext>
            </a:extLst>
          </p:cNvPr>
          <p:cNvSpPr>
            <a:spLocks noGrp="1"/>
          </p:cNvSpPr>
          <p:nvPr>
            <p:ph idx="1"/>
          </p:nvPr>
        </p:nvSpPr>
        <p:spPr>
          <a:xfrm>
            <a:off x="448966" y="1960929"/>
            <a:ext cx="8246070" cy="2901395"/>
          </a:xfrm>
        </p:spPr>
        <p:txBody>
          <a:bodyPr>
            <a:normAutofit fontScale="55000" lnSpcReduction="20000"/>
          </a:bodyPr>
          <a:lstStyle/>
          <a:p>
            <a:pPr marL="0" indent="0">
              <a:lnSpc>
                <a:spcPct val="100000"/>
              </a:lnSpc>
              <a:spcBef>
                <a:spcPts val="20"/>
              </a:spcBef>
              <a:buNone/>
            </a:pPr>
            <a:endParaRPr lang="fr-FR" sz="3200" dirty="0">
              <a:latin typeface="Times New Roman"/>
              <a:cs typeface="Times New Roman"/>
            </a:endParaRPr>
          </a:p>
          <a:p>
            <a:pPr marL="12700" algn="just">
              <a:lnSpc>
                <a:spcPct val="120000"/>
              </a:lnSpc>
            </a:pPr>
            <a:r>
              <a:rPr lang="fr-FR" sz="2800" b="1" spc="-5" dirty="0">
                <a:latin typeface="Calibri"/>
                <a:cs typeface="Calibri"/>
              </a:rPr>
              <a:t>Réduction </a:t>
            </a:r>
            <a:r>
              <a:rPr lang="fr-FR" sz="2800" b="1" dirty="0">
                <a:latin typeface="Calibri"/>
                <a:cs typeface="Calibri"/>
              </a:rPr>
              <a:t>du </a:t>
            </a:r>
            <a:r>
              <a:rPr lang="fr-FR" sz="2800" b="1" spc="-10" dirty="0">
                <a:latin typeface="Calibri"/>
                <a:cs typeface="Calibri"/>
              </a:rPr>
              <a:t>temps d‘indisponibilité </a:t>
            </a:r>
            <a:r>
              <a:rPr lang="fr-FR" sz="2800" b="1" dirty="0">
                <a:latin typeface="Calibri"/>
                <a:cs typeface="Calibri"/>
              </a:rPr>
              <a:t>des </a:t>
            </a:r>
            <a:r>
              <a:rPr lang="fr-FR" sz="2800" b="1" spc="-5" dirty="0">
                <a:latin typeface="Calibri"/>
                <a:cs typeface="Calibri"/>
              </a:rPr>
              <a:t>applications</a:t>
            </a:r>
            <a:r>
              <a:rPr lang="fr-FR" sz="2800" b="1" spc="-145" dirty="0">
                <a:latin typeface="Calibri"/>
                <a:cs typeface="Calibri"/>
              </a:rPr>
              <a:t> </a:t>
            </a:r>
            <a:r>
              <a:rPr lang="fr-FR" sz="2800" b="1" dirty="0">
                <a:latin typeface="Calibri"/>
                <a:cs typeface="Calibri"/>
              </a:rPr>
              <a:t>critiques</a:t>
            </a:r>
            <a:r>
              <a:rPr lang="fr-FR" b="1" dirty="0">
                <a:latin typeface="Calibri"/>
                <a:cs typeface="Calibri"/>
              </a:rPr>
              <a:t> </a:t>
            </a:r>
            <a:r>
              <a:rPr lang="fr-FR" sz="2800" i="1" spc="-5" dirty="0">
                <a:latin typeface="Calibri"/>
                <a:cs typeface="Calibri"/>
              </a:rPr>
              <a:t>Les </a:t>
            </a:r>
            <a:r>
              <a:rPr lang="fr-FR" sz="2800" i="1" spc="-10" dirty="0">
                <a:latin typeface="Calibri"/>
                <a:cs typeface="Calibri"/>
              </a:rPr>
              <a:t>fonctionnalités évolués </a:t>
            </a:r>
            <a:r>
              <a:rPr lang="fr-FR" sz="2800" i="1" spc="-5" dirty="0">
                <a:latin typeface="Calibri"/>
                <a:cs typeface="Calibri"/>
              </a:rPr>
              <a:t>de la virtualisation </a:t>
            </a:r>
            <a:r>
              <a:rPr lang="fr-FR" sz="2800" i="1" spc="-10" dirty="0">
                <a:latin typeface="Calibri"/>
                <a:cs typeface="Calibri"/>
              </a:rPr>
              <a:t>permettent </a:t>
            </a:r>
            <a:r>
              <a:rPr lang="fr-FR" sz="2800" i="1" spc="-5" dirty="0">
                <a:latin typeface="Calibri"/>
                <a:cs typeface="Calibri"/>
              </a:rPr>
              <a:t>de réduire les </a:t>
            </a:r>
            <a:r>
              <a:rPr lang="fr-FR" sz="2800" i="1" spc="-10" dirty="0">
                <a:latin typeface="Calibri"/>
                <a:cs typeface="Calibri"/>
              </a:rPr>
              <a:t>interruptions  </a:t>
            </a:r>
            <a:r>
              <a:rPr lang="fr-FR" sz="2800" i="1" spc="-5" dirty="0">
                <a:latin typeface="Calibri"/>
                <a:cs typeface="Calibri"/>
              </a:rPr>
              <a:t>de</a:t>
            </a:r>
            <a:r>
              <a:rPr lang="fr-FR" sz="2800" i="1" dirty="0">
                <a:latin typeface="Calibri"/>
                <a:cs typeface="Calibri"/>
              </a:rPr>
              <a:t> </a:t>
            </a:r>
            <a:r>
              <a:rPr lang="fr-FR" sz="2800" i="1" spc="-5" dirty="0">
                <a:latin typeface="Calibri"/>
                <a:cs typeface="Calibri"/>
              </a:rPr>
              <a:t>services.</a:t>
            </a:r>
            <a:endParaRPr lang="fr-FR" sz="2800" dirty="0">
              <a:latin typeface="Calibri"/>
              <a:cs typeface="Calibri"/>
            </a:endParaRPr>
          </a:p>
          <a:p>
            <a:pPr marL="12700" algn="just">
              <a:lnSpc>
                <a:spcPct val="120000"/>
              </a:lnSpc>
              <a:spcBef>
                <a:spcPts val="1460"/>
              </a:spcBef>
            </a:pPr>
            <a:r>
              <a:rPr lang="fr-FR" sz="2800" b="1" spc="-5" dirty="0">
                <a:latin typeface="Calibri"/>
                <a:cs typeface="Calibri"/>
              </a:rPr>
              <a:t>Le </a:t>
            </a:r>
            <a:r>
              <a:rPr lang="fr-FR" sz="2800" b="1" spc="-10" dirty="0">
                <a:latin typeface="Calibri"/>
                <a:cs typeface="Calibri"/>
              </a:rPr>
              <a:t>Provisioning</a:t>
            </a:r>
            <a:r>
              <a:rPr lang="fr-FR" sz="2800" b="1" spc="-20" dirty="0">
                <a:latin typeface="Calibri"/>
                <a:cs typeface="Calibri"/>
              </a:rPr>
              <a:t> </a:t>
            </a:r>
            <a:r>
              <a:rPr lang="fr-FR" sz="2800" b="1" spc="-10" dirty="0">
                <a:latin typeface="Calibri"/>
                <a:cs typeface="Calibri"/>
              </a:rPr>
              <a:t>instantané </a:t>
            </a:r>
            <a:r>
              <a:rPr lang="fr-FR" sz="2800" i="1" spc="-5" dirty="0">
                <a:latin typeface="Calibri"/>
                <a:cs typeface="Calibri"/>
              </a:rPr>
              <a:t>Le </a:t>
            </a:r>
            <a:r>
              <a:rPr lang="fr-FR" sz="2800" i="1" spc="-10" dirty="0">
                <a:latin typeface="Calibri"/>
                <a:cs typeface="Calibri"/>
              </a:rPr>
              <a:t>Provisioning </a:t>
            </a:r>
            <a:r>
              <a:rPr lang="fr-FR" sz="2800" i="1" spc="-15" dirty="0">
                <a:latin typeface="Calibri"/>
                <a:cs typeface="Calibri"/>
              </a:rPr>
              <a:t>instantané </a:t>
            </a:r>
            <a:r>
              <a:rPr lang="fr-FR" sz="2800" i="1" spc="-5" dirty="0">
                <a:latin typeface="Calibri"/>
                <a:cs typeface="Calibri"/>
              </a:rPr>
              <a:t>permet de </a:t>
            </a:r>
            <a:r>
              <a:rPr lang="fr-FR" sz="2800" i="1" spc="-10" dirty="0">
                <a:latin typeface="Calibri"/>
                <a:cs typeface="Calibri"/>
              </a:rPr>
              <a:t>mettre </a:t>
            </a:r>
            <a:r>
              <a:rPr lang="fr-FR" sz="2800" i="1" dirty="0">
                <a:latin typeface="Calibri"/>
                <a:cs typeface="Calibri"/>
              </a:rPr>
              <a:t>en </a:t>
            </a:r>
            <a:r>
              <a:rPr lang="fr-FR" sz="2800" i="1" spc="-5" dirty="0">
                <a:latin typeface="Calibri"/>
                <a:cs typeface="Calibri"/>
              </a:rPr>
              <a:t>service un nouveau serveur </a:t>
            </a:r>
            <a:r>
              <a:rPr lang="fr-FR" sz="2800" i="1" spc="-10" dirty="0">
                <a:latin typeface="Calibri"/>
                <a:cs typeface="Calibri"/>
              </a:rPr>
              <a:t>facilement  </a:t>
            </a:r>
            <a:r>
              <a:rPr lang="fr-FR" sz="2800" i="1" spc="-5" dirty="0">
                <a:latin typeface="Calibri"/>
                <a:cs typeface="Calibri"/>
              </a:rPr>
              <a:t>et </a:t>
            </a:r>
            <a:r>
              <a:rPr lang="fr-FR" sz="2800" i="1" dirty="0">
                <a:latin typeface="Calibri"/>
                <a:cs typeface="Calibri"/>
              </a:rPr>
              <a:t>en </a:t>
            </a:r>
            <a:r>
              <a:rPr lang="fr-FR" sz="2800" i="1" spc="-5" dirty="0">
                <a:latin typeface="Calibri"/>
                <a:cs typeface="Calibri"/>
              </a:rPr>
              <a:t>quelques </a:t>
            </a:r>
            <a:r>
              <a:rPr lang="fr-FR" sz="2800" i="1" spc="-10" dirty="0">
                <a:latin typeface="Calibri"/>
                <a:cs typeface="Calibri"/>
              </a:rPr>
              <a:t>minutes </a:t>
            </a:r>
            <a:r>
              <a:rPr lang="fr-FR" sz="2800" i="1" spc="-15" dirty="0">
                <a:latin typeface="Calibri"/>
                <a:cs typeface="Calibri"/>
              </a:rPr>
              <a:t>(exemple </a:t>
            </a:r>
            <a:r>
              <a:rPr lang="fr-FR" sz="2800" i="1" dirty="0">
                <a:latin typeface="Calibri"/>
                <a:cs typeface="Calibri"/>
              </a:rPr>
              <a:t>: </a:t>
            </a:r>
            <a:r>
              <a:rPr lang="fr-FR" sz="2800" i="1" spc="-5" dirty="0">
                <a:latin typeface="Calibri"/>
                <a:cs typeface="Calibri"/>
              </a:rPr>
              <a:t>par clonage de la</a:t>
            </a:r>
            <a:r>
              <a:rPr lang="fr-FR" sz="2800" i="1" spc="120" dirty="0">
                <a:latin typeface="Calibri"/>
                <a:cs typeface="Calibri"/>
              </a:rPr>
              <a:t> </a:t>
            </a:r>
            <a:r>
              <a:rPr lang="fr-FR" sz="2800" i="1" spc="-5" dirty="0">
                <a:latin typeface="Calibri"/>
                <a:cs typeface="Calibri"/>
              </a:rPr>
              <a:t>machine).</a:t>
            </a:r>
            <a:endParaRPr lang="fr-FR" sz="2800" dirty="0">
              <a:latin typeface="Calibri"/>
              <a:cs typeface="Calibri"/>
            </a:endParaRPr>
          </a:p>
          <a:p>
            <a:pPr marL="12700" algn="just">
              <a:lnSpc>
                <a:spcPct val="120000"/>
              </a:lnSpc>
              <a:spcBef>
                <a:spcPts val="1460"/>
              </a:spcBef>
            </a:pPr>
            <a:r>
              <a:rPr lang="fr-FR" sz="2800" b="1" spc="-5" dirty="0">
                <a:latin typeface="Calibri"/>
                <a:cs typeface="Calibri"/>
              </a:rPr>
              <a:t>Répartition </a:t>
            </a:r>
            <a:r>
              <a:rPr lang="fr-FR" sz="2800" b="1" dirty="0">
                <a:latin typeface="Calibri"/>
                <a:cs typeface="Calibri"/>
              </a:rPr>
              <a:t>de </a:t>
            </a:r>
            <a:r>
              <a:rPr lang="fr-FR" sz="2800" b="1" spc="-10" dirty="0">
                <a:latin typeface="Calibri"/>
                <a:cs typeface="Calibri"/>
              </a:rPr>
              <a:t>charge</a:t>
            </a:r>
            <a:r>
              <a:rPr lang="fr-FR" sz="2800" b="1" spc="-55" dirty="0">
                <a:latin typeface="Calibri"/>
                <a:cs typeface="Calibri"/>
              </a:rPr>
              <a:t> </a:t>
            </a:r>
            <a:r>
              <a:rPr lang="fr-FR" sz="2800" b="1" spc="-5" dirty="0">
                <a:latin typeface="Calibri"/>
                <a:cs typeface="Calibri"/>
              </a:rPr>
              <a:t>dynamique </a:t>
            </a:r>
            <a:r>
              <a:rPr lang="fr-FR" sz="2800" i="1" spc="-5" dirty="0">
                <a:latin typeface="Calibri"/>
                <a:cs typeface="Calibri"/>
              </a:rPr>
              <a:t>La virtualisation permet de répartir dynamiquement la </a:t>
            </a:r>
            <a:r>
              <a:rPr lang="fr-FR" sz="2800" i="1" spc="-10" dirty="0">
                <a:latin typeface="Calibri"/>
                <a:cs typeface="Calibri"/>
              </a:rPr>
              <a:t>charge </a:t>
            </a:r>
            <a:r>
              <a:rPr lang="fr-FR" sz="2800" i="1" spc="-5" dirty="0">
                <a:latin typeface="Calibri"/>
                <a:cs typeface="Calibri"/>
              </a:rPr>
              <a:t>de travail </a:t>
            </a:r>
            <a:r>
              <a:rPr lang="fr-FR" sz="2800" i="1" dirty="0">
                <a:latin typeface="Calibri"/>
                <a:cs typeface="Calibri"/>
              </a:rPr>
              <a:t>en </a:t>
            </a:r>
            <a:r>
              <a:rPr lang="fr-FR" sz="2800" i="1" spc="-5" dirty="0">
                <a:latin typeface="Calibri"/>
                <a:cs typeface="Calibri"/>
              </a:rPr>
              <a:t>offrant </a:t>
            </a:r>
            <a:r>
              <a:rPr lang="fr-FR" sz="2800" i="1" dirty="0">
                <a:latin typeface="Calibri"/>
                <a:cs typeface="Calibri"/>
              </a:rPr>
              <a:t>à  </a:t>
            </a:r>
            <a:r>
              <a:rPr lang="fr-FR" sz="2800" i="1" spc="-5" dirty="0">
                <a:latin typeface="Calibri"/>
                <a:cs typeface="Calibri"/>
              </a:rPr>
              <a:t>chaque </a:t>
            </a:r>
            <a:r>
              <a:rPr lang="fr-FR" sz="2800" i="1" spc="-10" dirty="0">
                <a:latin typeface="Calibri"/>
                <a:cs typeface="Calibri"/>
              </a:rPr>
              <a:t>application </a:t>
            </a:r>
            <a:r>
              <a:rPr lang="fr-FR" sz="2800" i="1" spc="-5" dirty="0">
                <a:latin typeface="Calibri"/>
                <a:cs typeface="Calibri"/>
              </a:rPr>
              <a:t>les </a:t>
            </a:r>
            <a:r>
              <a:rPr lang="fr-FR" sz="2800" i="1" spc="-10" dirty="0">
                <a:latin typeface="Calibri"/>
                <a:cs typeface="Calibri"/>
              </a:rPr>
              <a:t>ressources dont </a:t>
            </a:r>
            <a:r>
              <a:rPr lang="fr-FR" sz="2800" i="1" spc="-5" dirty="0">
                <a:latin typeface="Calibri"/>
                <a:cs typeface="Calibri"/>
              </a:rPr>
              <a:t>elle </a:t>
            </a:r>
            <a:r>
              <a:rPr lang="fr-FR" sz="2800" i="1" dirty="0">
                <a:latin typeface="Calibri"/>
                <a:cs typeface="Calibri"/>
              </a:rPr>
              <a:t>a </a:t>
            </a:r>
            <a:r>
              <a:rPr lang="fr-FR" sz="2800" i="1" spc="-5" dirty="0">
                <a:latin typeface="Calibri"/>
                <a:cs typeface="Calibri"/>
              </a:rPr>
              <a:t>besoin </a:t>
            </a:r>
            <a:r>
              <a:rPr lang="fr-FR" sz="2800" i="1" dirty="0">
                <a:latin typeface="Calibri"/>
                <a:cs typeface="Calibri"/>
              </a:rPr>
              <a:t>même en </a:t>
            </a:r>
            <a:r>
              <a:rPr lang="fr-FR" sz="2800" i="1" spc="-10" dirty="0">
                <a:latin typeface="Calibri"/>
                <a:cs typeface="Calibri"/>
              </a:rPr>
              <a:t>cas </a:t>
            </a:r>
            <a:r>
              <a:rPr lang="fr-FR" sz="2800" i="1" spc="-5" dirty="0">
                <a:latin typeface="Calibri"/>
                <a:cs typeface="Calibri"/>
              </a:rPr>
              <a:t>de </a:t>
            </a:r>
            <a:r>
              <a:rPr lang="fr-FR" sz="2800" i="1" spc="-15" dirty="0">
                <a:latin typeface="Calibri"/>
                <a:cs typeface="Calibri"/>
              </a:rPr>
              <a:t>fortes</a:t>
            </a:r>
            <a:r>
              <a:rPr lang="fr-FR" sz="2800" i="1" spc="280" dirty="0">
                <a:latin typeface="Calibri"/>
                <a:cs typeface="Calibri"/>
              </a:rPr>
              <a:t> </a:t>
            </a:r>
            <a:r>
              <a:rPr lang="fr-FR" sz="2800" i="1" spc="-10" dirty="0">
                <a:latin typeface="Calibri"/>
                <a:cs typeface="Calibri"/>
              </a:rPr>
              <a:t>activités.</a:t>
            </a:r>
            <a:endParaRPr lang="fr-FR" sz="2800" dirty="0">
              <a:latin typeface="Calibri"/>
              <a:cs typeface="Calibri"/>
            </a:endParaRPr>
          </a:p>
          <a:p>
            <a:pPr marL="12700" algn="just">
              <a:lnSpc>
                <a:spcPct val="120000"/>
              </a:lnSpc>
              <a:spcBef>
                <a:spcPts val="1460"/>
              </a:spcBef>
            </a:pPr>
            <a:r>
              <a:rPr lang="fr-FR" sz="2800" b="1" spc="-5" dirty="0">
                <a:latin typeface="Calibri"/>
                <a:cs typeface="Calibri"/>
              </a:rPr>
              <a:t>Mise </a:t>
            </a:r>
            <a:r>
              <a:rPr lang="fr-FR" sz="2800" b="1" dirty="0">
                <a:latin typeface="Calibri"/>
                <a:cs typeface="Calibri"/>
              </a:rPr>
              <a:t>en place de</a:t>
            </a:r>
            <a:r>
              <a:rPr lang="fr-FR" sz="2800" b="1" spc="-65" dirty="0">
                <a:latin typeface="Calibri"/>
                <a:cs typeface="Calibri"/>
              </a:rPr>
              <a:t> </a:t>
            </a:r>
            <a:r>
              <a:rPr lang="fr-FR" sz="2800" b="1" spc="-5" dirty="0">
                <a:latin typeface="Calibri"/>
                <a:cs typeface="Calibri"/>
              </a:rPr>
              <a:t>PRA </a:t>
            </a:r>
            <a:r>
              <a:rPr lang="fr-FR" sz="2800" i="1" spc="-5" dirty="0">
                <a:latin typeface="Calibri"/>
                <a:cs typeface="Calibri"/>
              </a:rPr>
              <a:t>La virtualisation gère le </a:t>
            </a:r>
            <a:r>
              <a:rPr lang="fr-FR" sz="2800" i="1" spc="-15" dirty="0">
                <a:latin typeface="Calibri"/>
                <a:cs typeface="Calibri"/>
              </a:rPr>
              <a:t>système </a:t>
            </a:r>
            <a:r>
              <a:rPr lang="fr-FR" sz="2800" i="1" spc="-10" dirty="0">
                <a:latin typeface="Calibri"/>
                <a:cs typeface="Calibri"/>
              </a:rPr>
              <a:t>tout </a:t>
            </a:r>
            <a:r>
              <a:rPr lang="fr-FR" sz="2800" i="1" spc="-5" dirty="0">
                <a:latin typeface="Calibri"/>
                <a:cs typeface="Calibri"/>
              </a:rPr>
              <a:t>entier comme des fichiers </a:t>
            </a:r>
            <a:r>
              <a:rPr lang="fr-FR" sz="2800" i="1" spc="-10" dirty="0">
                <a:latin typeface="Calibri"/>
                <a:cs typeface="Calibri"/>
              </a:rPr>
              <a:t>totalement  </a:t>
            </a:r>
            <a:r>
              <a:rPr lang="fr-FR" sz="2800" i="1" spc="-5" dirty="0">
                <a:latin typeface="Calibri"/>
                <a:cs typeface="Calibri"/>
              </a:rPr>
              <a:t>indépendants du </a:t>
            </a:r>
            <a:r>
              <a:rPr lang="fr-FR" sz="2800" i="1" spc="-10" dirty="0">
                <a:latin typeface="Calibri"/>
                <a:cs typeface="Calibri"/>
              </a:rPr>
              <a:t>matériel. </a:t>
            </a:r>
            <a:r>
              <a:rPr lang="fr-FR" sz="2800" i="1" spc="-5" dirty="0">
                <a:latin typeface="Calibri"/>
                <a:cs typeface="Calibri"/>
              </a:rPr>
              <a:t>La mise </a:t>
            </a:r>
            <a:r>
              <a:rPr lang="fr-FR" sz="2800" i="1" spc="-30" dirty="0">
                <a:latin typeface="Calibri"/>
                <a:cs typeface="Calibri"/>
              </a:rPr>
              <a:t>d’un </a:t>
            </a:r>
            <a:r>
              <a:rPr lang="fr-FR" sz="2800" i="1" spc="-10" dirty="0">
                <a:latin typeface="Calibri"/>
                <a:cs typeface="Calibri"/>
              </a:rPr>
              <a:t>PRA (Plan </a:t>
            </a:r>
            <a:r>
              <a:rPr lang="fr-FR" sz="2800" i="1" spc="-5" dirty="0">
                <a:latin typeface="Calibri"/>
                <a:cs typeface="Calibri"/>
              </a:rPr>
              <a:t>de </a:t>
            </a:r>
            <a:r>
              <a:rPr lang="fr-FR" sz="2800" i="1" spc="-10" dirty="0">
                <a:latin typeface="Calibri"/>
                <a:cs typeface="Calibri"/>
              </a:rPr>
              <a:t>Reprise </a:t>
            </a:r>
            <a:r>
              <a:rPr lang="fr-FR" sz="2800" i="1" spc="-25" dirty="0">
                <a:latin typeface="Calibri"/>
                <a:cs typeface="Calibri"/>
              </a:rPr>
              <a:t>d’Activité) </a:t>
            </a:r>
            <a:r>
              <a:rPr lang="fr-FR" sz="2800" i="1" dirty="0">
                <a:latin typeface="Calibri"/>
                <a:cs typeface="Calibri"/>
              </a:rPr>
              <a:t>en </a:t>
            </a:r>
            <a:r>
              <a:rPr lang="fr-FR" sz="2800" i="1" spc="-10" dirty="0">
                <a:latin typeface="Calibri"/>
                <a:cs typeface="Calibri"/>
              </a:rPr>
              <a:t>est  </a:t>
            </a:r>
            <a:r>
              <a:rPr lang="fr-FR" sz="2800" i="1" spc="-5" dirty="0">
                <a:latin typeface="Calibri"/>
                <a:cs typeface="Calibri"/>
              </a:rPr>
              <a:t>grandement</a:t>
            </a:r>
            <a:r>
              <a:rPr lang="fr-FR" sz="2800" i="1" spc="-10" dirty="0">
                <a:latin typeface="Calibri"/>
                <a:cs typeface="Calibri"/>
              </a:rPr>
              <a:t> facilité.</a:t>
            </a:r>
            <a:endParaRPr lang="fr-FR" sz="2800" dirty="0">
              <a:latin typeface="Calibri"/>
              <a:cs typeface="Calibri"/>
            </a:endParaRPr>
          </a:p>
        </p:txBody>
      </p:sp>
      <p:sp>
        <p:nvSpPr>
          <p:cNvPr id="4" name="Espace réservé du pied de page 3">
            <a:extLst>
              <a:ext uri="{FF2B5EF4-FFF2-40B4-BE49-F238E27FC236}">
                <a16:creationId xmlns:a16="http://schemas.microsoft.com/office/drawing/2014/main" id="{F63A9509-0B97-409E-51F2-C6F6BD86003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042A4D91-A8EC-DF72-8C2D-D2507C0820A4}"/>
              </a:ext>
            </a:extLst>
          </p:cNvPr>
          <p:cNvSpPr>
            <a:spLocks noGrp="1"/>
          </p:cNvSpPr>
          <p:nvPr>
            <p:ph type="sldNum" sz="quarter" idx="12"/>
          </p:nvPr>
        </p:nvSpPr>
        <p:spPr/>
        <p:txBody>
          <a:bodyPr/>
          <a:lstStyle/>
          <a:p>
            <a:fld id="{B82CCC60-E8CD-4174-8B1A-7DF615B22EEF}" type="slidenum">
              <a:rPr lang="en-US" smtClean="0"/>
              <a:pPr/>
              <a:t>25</a:t>
            </a:fld>
            <a:endParaRPr lang="en-US"/>
          </a:p>
        </p:txBody>
      </p:sp>
    </p:spTree>
    <p:extLst>
      <p:ext uri="{BB962C8B-B14F-4D97-AF65-F5344CB8AC3E}">
        <p14:creationId xmlns:p14="http://schemas.microsoft.com/office/powerpoint/2010/main" val="872120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DEBF-766F-0FDE-0C23-F50B79B7BB27}"/>
              </a:ext>
            </a:extLst>
          </p:cNvPr>
          <p:cNvSpPr>
            <a:spLocks noGrp="1"/>
          </p:cNvSpPr>
          <p:nvPr>
            <p:ph type="title"/>
          </p:nvPr>
        </p:nvSpPr>
        <p:spPr>
          <a:xfrm>
            <a:off x="296260" y="1350110"/>
            <a:ext cx="8398775" cy="610820"/>
          </a:xfrm>
        </p:spPr>
        <p:txBody>
          <a:bodyPr>
            <a:normAutofit fontScale="90000"/>
          </a:bodyPr>
          <a:lstStyle/>
          <a:p>
            <a:r>
              <a:rPr lang="fr-FR" sz="3600" b="1" spc="-20" dirty="0">
                <a:latin typeface="Calibri"/>
                <a:cs typeface="Calibri"/>
              </a:rPr>
              <a:t>SIMPLIFICATION </a:t>
            </a:r>
            <a:r>
              <a:rPr lang="fr-FR" sz="3600" b="1" spc="-10" dirty="0">
                <a:latin typeface="Calibri"/>
                <a:cs typeface="Calibri"/>
              </a:rPr>
              <a:t>DES </a:t>
            </a:r>
            <a:r>
              <a:rPr lang="fr-FR" sz="3600" b="1" spc="-45" dirty="0">
                <a:latin typeface="Calibri"/>
                <a:cs typeface="Calibri"/>
              </a:rPr>
              <a:t>TACHES</a:t>
            </a:r>
            <a:r>
              <a:rPr lang="fr-FR" sz="3600" b="1" spc="15" dirty="0">
                <a:latin typeface="Calibri"/>
                <a:cs typeface="Calibri"/>
              </a:rPr>
              <a:t> </a:t>
            </a:r>
            <a:r>
              <a:rPr lang="fr-FR" sz="3600" b="1" spc="-35" dirty="0">
                <a:latin typeface="Calibri"/>
                <a:cs typeface="Calibri"/>
              </a:rPr>
              <a:t>D’ADMINISTRATION</a:t>
            </a:r>
            <a:endParaRPr lang="fr-FR" dirty="0"/>
          </a:p>
        </p:txBody>
      </p:sp>
      <p:sp>
        <p:nvSpPr>
          <p:cNvPr id="3" name="Espace réservé du contenu 2">
            <a:extLst>
              <a:ext uri="{FF2B5EF4-FFF2-40B4-BE49-F238E27FC236}">
                <a16:creationId xmlns:a16="http://schemas.microsoft.com/office/drawing/2014/main" id="{894D2E24-B811-DB0E-821E-7293835131C0}"/>
              </a:ext>
            </a:extLst>
          </p:cNvPr>
          <p:cNvSpPr>
            <a:spLocks noGrp="1"/>
          </p:cNvSpPr>
          <p:nvPr>
            <p:ph idx="1"/>
          </p:nvPr>
        </p:nvSpPr>
        <p:spPr/>
        <p:txBody>
          <a:bodyPr>
            <a:normAutofit fontScale="62500" lnSpcReduction="20000"/>
          </a:bodyPr>
          <a:lstStyle/>
          <a:p>
            <a:pPr>
              <a:lnSpc>
                <a:spcPct val="100000"/>
              </a:lnSpc>
              <a:spcBef>
                <a:spcPts val="40"/>
              </a:spcBef>
            </a:pPr>
            <a:endParaRPr lang="fr-FR" sz="2400" dirty="0">
              <a:latin typeface="Times New Roman"/>
              <a:cs typeface="Times New Roman"/>
            </a:endParaRPr>
          </a:p>
          <a:p>
            <a:pPr marR="80010" algn="ctr">
              <a:lnSpc>
                <a:spcPct val="100000"/>
              </a:lnSpc>
            </a:pPr>
            <a:r>
              <a:rPr lang="fr-FR" sz="2800" b="1" spc="-5" dirty="0">
                <a:latin typeface="Calibri"/>
                <a:cs typeface="Calibri"/>
              </a:rPr>
              <a:t>Réduction du nombre</a:t>
            </a:r>
            <a:r>
              <a:rPr lang="fr-FR" sz="2800" b="1" spc="-40" dirty="0">
                <a:latin typeface="Calibri"/>
                <a:cs typeface="Calibri"/>
              </a:rPr>
              <a:t> </a:t>
            </a:r>
            <a:r>
              <a:rPr lang="fr-FR" sz="2800" b="1" spc="-20" dirty="0">
                <a:latin typeface="Calibri"/>
                <a:cs typeface="Calibri"/>
              </a:rPr>
              <a:t>d’équipement</a:t>
            </a:r>
            <a:endParaRPr lang="fr-FR" sz="2800" dirty="0">
              <a:latin typeface="Calibri"/>
              <a:cs typeface="Calibri"/>
            </a:endParaRPr>
          </a:p>
          <a:p>
            <a:pPr marL="0" marR="80645" indent="0" algn="ctr">
              <a:lnSpc>
                <a:spcPct val="100000"/>
              </a:lnSpc>
              <a:spcBef>
                <a:spcPts val="2010"/>
              </a:spcBef>
              <a:buNone/>
            </a:pPr>
            <a:r>
              <a:rPr lang="fr-FR" sz="2800" dirty="0">
                <a:latin typeface="Calibri"/>
                <a:cs typeface="Calibri"/>
              </a:rPr>
              <a:t>+</a:t>
            </a:r>
          </a:p>
          <a:p>
            <a:pPr marR="81280" algn="ctr">
              <a:lnSpc>
                <a:spcPct val="100000"/>
              </a:lnSpc>
              <a:spcBef>
                <a:spcPts val="600"/>
              </a:spcBef>
            </a:pPr>
            <a:r>
              <a:rPr lang="fr-FR" sz="2800" b="1" spc="-10" dirty="0">
                <a:latin typeface="Calibri"/>
                <a:cs typeface="Calibri"/>
              </a:rPr>
              <a:t>Homogénéité </a:t>
            </a:r>
            <a:r>
              <a:rPr lang="fr-FR" sz="2800" b="1" spc="-5" dirty="0">
                <a:latin typeface="Calibri"/>
                <a:cs typeface="Calibri"/>
              </a:rPr>
              <a:t>de</a:t>
            </a:r>
            <a:r>
              <a:rPr lang="fr-FR" sz="2800" b="1" spc="-15" dirty="0">
                <a:latin typeface="Calibri"/>
                <a:cs typeface="Calibri"/>
              </a:rPr>
              <a:t> l’infrastructure</a:t>
            </a:r>
            <a:endParaRPr lang="fr-FR" sz="2800" dirty="0">
              <a:latin typeface="Calibri"/>
              <a:cs typeface="Calibri"/>
            </a:endParaRPr>
          </a:p>
          <a:p>
            <a:pPr marL="0" marR="80645" indent="0" algn="ctr">
              <a:lnSpc>
                <a:spcPct val="100000"/>
              </a:lnSpc>
              <a:spcBef>
                <a:spcPts val="1715"/>
              </a:spcBef>
              <a:buNone/>
            </a:pPr>
            <a:r>
              <a:rPr lang="fr-FR" sz="2800" b="1" dirty="0">
                <a:latin typeface="Calibri"/>
                <a:cs typeface="Calibri"/>
              </a:rPr>
              <a:t>=</a:t>
            </a:r>
            <a:endParaRPr lang="fr-FR" sz="2800" dirty="0">
              <a:latin typeface="Calibri"/>
              <a:cs typeface="Calibri"/>
            </a:endParaRPr>
          </a:p>
          <a:p>
            <a:pPr marL="1568450" marR="1648460" indent="-3175" algn="ctr">
              <a:lnSpc>
                <a:spcPct val="120800"/>
              </a:lnSpc>
            </a:pPr>
            <a:r>
              <a:rPr lang="fr-FR" sz="2800" b="1" spc="-5" dirty="0">
                <a:latin typeface="Calibri"/>
                <a:cs typeface="Calibri"/>
              </a:rPr>
              <a:t>Moins de </a:t>
            </a:r>
            <a:r>
              <a:rPr lang="fr-FR" sz="2800" b="1" spc="-10" dirty="0">
                <a:latin typeface="Calibri"/>
                <a:cs typeface="Calibri"/>
              </a:rPr>
              <a:t>maintenance  </a:t>
            </a:r>
            <a:r>
              <a:rPr lang="fr-FR" sz="2800" b="1" spc="-5" dirty="0">
                <a:latin typeface="Calibri"/>
                <a:cs typeface="Calibri"/>
              </a:rPr>
              <a:t>Simplification du</a:t>
            </a:r>
            <a:r>
              <a:rPr lang="fr-FR" sz="2800" b="1" spc="-90" dirty="0">
                <a:latin typeface="Calibri"/>
                <a:cs typeface="Calibri"/>
              </a:rPr>
              <a:t> </a:t>
            </a:r>
            <a:r>
              <a:rPr lang="fr-FR" sz="2800" b="1" spc="-20" dirty="0">
                <a:latin typeface="Calibri"/>
                <a:cs typeface="Calibri"/>
              </a:rPr>
              <a:t>travail</a:t>
            </a:r>
            <a:endParaRPr lang="fr-FR" sz="2800" dirty="0">
              <a:latin typeface="Calibri"/>
              <a:cs typeface="Calibri"/>
            </a:endParaRPr>
          </a:p>
          <a:p>
            <a:pPr marL="0" marR="81915" indent="0" algn="ctr">
              <a:lnSpc>
                <a:spcPct val="100000"/>
              </a:lnSpc>
              <a:spcBef>
                <a:spcPts val="600"/>
              </a:spcBef>
              <a:buNone/>
            </a:pPr>
            <a:r>
              <a:rPr lang="fr-FR" sz="2800" b="1" spc="-5" dirty="0">
                <a:latin typeface="Calibri"/>
                <a:cs typeface="Calibri"/>
              </a:rPr>
              <a:t>Meilleure maitrise de</a:t>
            </a:r>
            <a:r>
              <a:rPr lang="fr-FR" sz="2800" b="1" spc="-10" dirty="0">
                <a:latin typeface="Calibri"/>
                <a:cs typeface="Calibri"/>
              </a:rPr>
              <a:t> l’infrastructure</a:t>
            </a:r>
            <a:endParaRPr lang="fr-FR" sz="2800" dirty="0">
              <a:latin typeface="Calibri"/>
              <a:cs typeface="Calibri"/>
            </a:endParaRPr>
          </a:p>
          <a:p>
            <a:endParaRPr lang="fr-FR" dirty="0"/>
          </a:p>
        </p:txBody>
      </p:sp>
      <p:sp>
        <p:nvSpPr>
          <p:cNvPr id="4" name="Espace réservé du pied de page 3">
            <a:extLst>
              <a:ext uri="{FF2B5EF4-FFF2-40B4-BE49-F238E27FC236}">
                <a16:creationId xmlns:a16="http://schemas.microsoft.com/office/drawing/2014/main" id="{6D9D0D12-6A27-3D12-0D96-BAB9FFF3A57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477C6A15-A760-7C21-E16A-911D742EC247}"/>
              </a:ext>
            </a:extLst>
          </p:cNvPr>
          <p:cNvSpPr>
            <a:spLocks noGrp="1"/>
          </p:cNvSpPr>
          <p:nvPr>
            <p:ph type="sldNum" sz="quarter" idx="12"/>
          </p:nvPr>
        </p:nvSpPr>
        <p:spPr/>
        <p:txBody>
          <a:bodyPr/>
          <a:lstStyle/>
          <a:p>
            <a:fld id="{B82CCC60-E8CD-4174-8B1A-7DF615B22EEF}" type="slidenum">
              <a:rPr lang="en-US" smtClean="0"/>
              <a:pPr/>
              <a:t>26</a:t>
            </a:fld>
            <a:endParaRPr lang="en-US"/>
          </a:p>
        </p:txBody>
      </p:sp>
    </p:spTree>
    <p:extLst>
      <p:ext uri="{BB962C8B-B14F-4D97-AF65-F5344CB8AC3E}">
        <p14:creationId xmlns:p14="http://schemas.microsoft.com/office/powerpoint/2010/main" val="3465454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E58744-9050-3451-AD64-C5C02E496B9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356599E-2254-6DB9-1186-995E2A1340EA}"/>
              </a:ext>
            </a:extLst>
          </p:cNvPr>
          <p:cNvSpPr>
            <a:spLocks noGrp="1"/>
          </p:cNvSpPr>
          <p:nvPr>
            <p:ph idx="1"/>
          </p:nvPr>
        </p:nvSpPr>
        <p:spPr/>
        <p:txBody>
          <a:bodyPr/>
          <a:lstStyle/>
          <a:p>
            <a:pPr lvl="1" algn="just">
              <a:spcBef>
                <a:spcPts val="500"/>
              </a:spcBef>
              <a:buClr>
                <a:schemeClr val="tx2">
                  <a:lumMod val="60000"/>
                  <a:lumOff val="40000"/>
                </a:schemeClr>
              </a:buClr>
              <a:buFont typeface="Wingdings" panose="05000000000000000000" pitchFamily="2" charset="2"/>
              <a:buChar char="ü"/>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fr-FR" sz="2000" dirty="0">
                <a:solidFill>
                  <a:srgbClr val="000000"/>
                </a:solidFill>
              </a:rPr>
              <a:t>Facilité d’administration  </a:t>
            </a:r>
          </a:p>
          <a:p>
            <a:pPr lvl="2" algn="just">
              <a:spcBef>
                <a:spcPts val="500"/>
              </a:spcBef>
              <a:buClr>
                <a:schemeClr val="tx2">
                  <a:lumMod val="60000"/>
                  <a:lumOff val="40000"/>
                </a:schemeClr>
              </a:buClr>
              <a:buFont typeface="Wingdings" panose="05000000000000000000" pitchFamily="2" charset="2"/>
              <a:buChar char="ü"/>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fr-FR" sz="2000" dirty="0">
                <a:solidFill>
                  <a:srgbClr val="000000"/>
                </a:solidFill>
              </a:rPr>
              <a:t>installation, déploiement et migration aisées des machines virtuelles entre serveurs physiques,</a:t>
            </a:r>
          </a:p>
          <a:p>
            <a:pPr lvl="2" algn="just">
              <a:spcBef>
                <a:spcPts val="500"/>
              </a:spcBef>
              <a:buClr>
                <a:schemeClr val="tx2">
                  <a:lumMod val="60000"/>
                  <a:lumOff val="40000"/>
                </a:schemeClr>
              </a:buClr>
              <a:buFont typeface="Wingdings" panose="05000000000000000000" pitchFamily="2" charset="2"/>
              <a:buChar char="ü"/>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fr-FR" sz="2000" dirty="0">
                <a:solidFill>
                  <a:srgbClr val="000000"/>
                </a:solidFill>
              </a:rPr>
              <a:t> simulation d’environnements de qualification ou de </a:t>
            </a:r>
            <a:r>
              <a:rPr lang="fr-FR" sz="2000" dirty="0" err="1">
                <a:solidFill>
                  <a:srgbClr val="000000"/>
                </a:solidFill>
              </a:rPr>
              <a:t>pré-production</a:t>
            </a:r>
            <a:r>
              <a:rPr lang="fr-FR" sz="2000" dirty="0">
                <a:solidFill>
                  <a:srgbClr val="000000"/>
                </a:solidFill>
              </a:rPr>
              <a:t>, </a:t>
            </a:r>
          </a:p>
          <a:p>
            <a:pPr lvl="2" algn="just">
              <a:spcBef>
                <a:spcPts val="500"/>
              </a:spcBef>
              <a:buClr>
                <a:schemeClr val="tx2">
                  <a:lumMod val="60000"/>
                  <a:lumOff val="40000"/>
                </a:schemeClr>
              </a:buClr>
              <a:buFont typeface="Wingdings" panose="05000000000000000000" pitchFamily="2" charset="2"/>
              <a:buChar char="ü"/>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fr-FR" sz="2000" dirty="0">
                <a:solidFill>
                  <a:srgbClr val="000000"/>
                </a:solidFill>
              </a:rPr>
              <a:t>création de plateforme de tests ou de développements réutilisables à volonté</a:t>
            </a:r>
          </a:p>
          <a:p>
            <a:endParaRPr lang="fr-FR" dirty="0"/>
          </a:p>
        </p:txBody>
      </p:sp>
      <p:sp>
        <p:nvSpPr>
          <p:cNvPr id="4" name="Espace réservé du pied de page 3">
            <a:extLst>
              <a:ext uri="{FF2B5EF4-FFF2-40B4-BE49-F238E27FC236}">
                <a16:creationId xmlns:a16="http://schemas.microsoft.com/office/drawing/2014/main" id="{201838CE-C1BF-3344-9A17-B3D1FB40F52F}"/>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E6504B6-033F-9077-6D27-CCAAE9A0EE36}"/>
              </a:ext>
            </a:extLst>
          </p:cNvPr>
          <p:cNvSpPr>
            <a:spLocks noGrp="1"/>
          </p:cNvSpPr>
          <p:nvPr>
            <p:ph type="sldNum" sz="quarter" idx="12"/>
          </p:nvPr>
        </p:nvSpPr>
        <p:spPr/>
        <p:txBody>
          <a:bodyPr/>
          <a:lstStyle/>
          <a:p>
            <a:fld id="{B82CCC60-E8CD-4174-8B1A-7DF615B22EEF}" type="slidenum">
              <a:rPr lang="en-US" smtClean="0"/>
              <a:pPr/>
              <a:t>27</a:t>
            </a:fld>
            <a:endParaRPr lang="en-US"/>
          </a:p>
        </p:txBody>
      </p:sp>
    </p:spTree>
    <p:extLst>
      <p:ext uri="{BB962C8B-B14F-4D97-AF65-F5344CB8AC3E}">
        <p14:creationId xmlns:p14="http://schemas.microsoft.com/office/powerpoint/2010/main" val="3843146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7BF013-8323-41B1-8EBF-02130435265A}"/>
              </a:ext>
            </a:extLst>
          </p:cNvPr>
          <p:cNvSpPr>
            <a:spLocks noGrp="1"/>
          </p:cNvSpPr>
          <p:nvPr>
            <p:ph type="title"/>
          </p:nvPr>
        </p:nvSpPr>
        <p:spPr/>
        <p:txBody>
          <a:bodyPr>
            <a:normAutofit fontScale="90000"/>
          </a:bodyPr>
          <a:lstStyle/>
          <a:p>
            <a:r>
              <a:rPr lang="fr-FR" sz="3600" dirty="0">
                <a:solidFill>
                  <a:srgbClr val="000000"/>
                </a:solidFill>
              </a:rPr>
              <a:t>SECURISATION</a:t>
            </a:r>
            <a:endParaRPr lang="fr-FR" dirty="0"/>
          </a:p>
        </p:txBody>
      </p:sp>
      <p:sp>
        <p:nvSpPr>
          <p:cNvPr id="3" name="Espace réservé du contenu 2">
            <a:extLst>
              <a:ext uri="{FF2B5EF4-FFF2-40B4-BE49-F238E27FC236}">
                <a16:creationId xmlns:a16="http://schemas.microsoft.com/office/drawing/2014/main" id="{02F2251F-3BDB-4D74-59A7-960907AEC2A5}"/>
              </a:ext>
            </a:extLst>
          </p:cNvPr>
          <p:cNvSpPr>
            <a:spLocks noGrp="1"/>
          </p:cNvSpPr>
          <p:nvPr>
            <p:ph idx="1"/>
          </p:nvPr>
        </p:nvSpPr>
        <p:spPr>
          <a:xfrm>
            <a:off x="448965" y="1960930"/>
            <a:ext cx="8246070" cy="2748684"/>
          </a:xfrm>
        </p:spPr>
        <p:txBody>
          <a:bodyPr/>
          <a:lstStyle/>
          <a:p>
            <a:pPr marL="742950" lvl="2" indent="-342900" algn="just"/>
            <a:r>
              <a:rPr lang="fr-FR" dirty="0">
                <a:solidFill>
                  <a:srgbClr val="000000"/>
                </a:solidFill>
              </a:rPr>
              <a:t>séparation des systèmes virtuels et hôtes (invisibles), </a:t>
            </a:r>
          </a:p>
          <a:p>
            <a:pPr marL="742950" lvl="2" indent="-342900" algn="just"/>
            <a:r>
              <a:rPr lang="fr-FR" dirty="0">
                <a:solidFill>
                  <a:srgbClr val="000000"/>
                </a:solidFill>
              </a:rPr>
              <a:t>répartition des utilisateurs, </a:t>
            </a:r>
            <a:r>
              <a:rPr lang="fr-FR" dirty="0"/>
              <a:t>isolation des différents utilisateurs simultanés d'une même machine, </a:t>
            </a:r>
          </a:p>
          <a:p>
            <a:pPr marL="742950" lvl="2" indent="-342900" algn="just"/>
            <a:r>
              <a:rPr lang="fr-FR" dirty="0">
                <a:solidFill>
                  <a:srgbClr val="000000"/>
                </a:solidFill>
              </a:rPr>
              <a:t>diminution des risques liés au dimensionnement des serveurs</a:t>
            </a:r>
            <a:r>
              <a:rPr lang="fr-FR" dirty="0"/>
              <a:t> </a:t>
            </a:r>
            <a:endParaRPr lang="fr-FR" dirty="0">
              <a:latin typeface="Tahoma"/>
              <a:cs typeface="Tahoma"/>
            </a:endParaRPr>
          </a:p>
          <a:p>
            <a:pPr algn="just"/>
            <a:endParaRPr lang="fr-FR" dirty="0"/>
          </a:p>
        </p:txBody>
      </p:sp>
      <p:sp>
        <p:nvSpPr>
          <p:cNvPr id="4" name="Espace réservé du pied de page 3">
            <a:extLst>
              <a:ext uri="{FF2B5EF4-FFF2-40B4-BE49-F238E27FC236}">
                <a16:creationId xmlns:a16="http://schemas.microsoft.com/office/drawing/2014/main" id="{E9E73212-D88F-507D-888D-9D354653FCB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244B320-1E7F-7691-E0D3-8811EADD3F2E}"/>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818075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B48ED1-3515-70E0-97E4-A4A5155A3F93}"/>
              </a:ext>
            </a:extLst>
          </p:cNvPr>
          <p:cNvSpPr>
            <a:spLocks noGrp="1"/>
          </p:cNvSpPr>
          <p:nvPr>
            <p:ph type="title"/>
          </p:nvPr>
        </p:nvSpPr>
        <p:spPr/>
        <p:txBody>
          <a:bodyPr>
            <a:normAutofit fontScale="90000"/>
          </a:bodyPr>
          <a:lstStyle/>
          <a:p>
            <a:r>
              <a:rPr lang="fr-FR" dirty="0"/>
              <a:t>Domaines d’application</a:t>
            </a:r>
          </a:p>
        </p:txBody>
      </p:sp>
      <p:sp>
        <p:nvSpPr>
          <p:cNvPr id="3" name="Espace réservé du contenu 2">
            <a:extLst>
              <a:ext uri="{FF2B5EF4-FFF2-40B4-BE49-F238E27FC236}">
                <a16:creationId xmlns:a16="http://schemas.microsoft.com/office/drawing/2014/main" id="{99F30693-E6F4-4161-6439-7A3F9CF01BFE}"/>
              </a:ext>
            </a:extLst>
          </p:cNvPr>
          <p:cNvSpPr>
            <a:spLocks noGrp="1"/>
          </p:cNvSpPr>
          <p:nvPr>
            <p:ph idx="1"/>
          </p:nvPr>
        </p:nvSpPr>
        <p:spPr/>
        <p:txBody>
          <a:bodyPr>
            <a:normAutofit fontScale="92500" lnSpcReduction="10000"/>
          </a:bodyPr>
          <a:lstStyle/>
          <a:p>
            <a:pPr marL="342900" lvl="0" indent="-342900" algn="just">
              <a:lnSpc>
                <a:spcPct val="107000"/>
              </a:lnSpc>
              <a:spcAft>
                <a:spcPts val="800"/>
              </a:spcAft>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Virtualisation des Serveurs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Cette forme de virtualisation permet de diviser un serveur physique en plusieurs machines virtuelles (VM). Chaque VM fonctionne comme une instance indépendante d'un système d'exploitation, avec ses propres ressources allouées et applications. Cela permet de consolider les serveurs physiques, d'améliorer l'utilisation des ressources et de simplifier la gestion.</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Virtualisation du Stockage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La virtualisation du stockage agrège des ressources de stockage physiques en un pool de stockage centralisé. Cela permet une gestion flexible du stockage, la création de volumes de stockage à la demande et la migration transparente des données.</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fr-FR" dirty="0"/>
          </a:p>
        </p:txBody>
      </p:sp>
      <p:sp>
        <p:nvSpPr>
          <p:cNvPr id="4" name="Espace réservé du pied de page 3">
            <a:extLst>
              <a:ext uri="{FF2B5EF4-FFF2-40B4-BE49-F238E27FC236}">
                <a16:creationId xmlns:a16="http://schemas.microsoft.com/office/drawing/2014/main" id="{88D98457-9A90-EC6D-15DF-82FFF23039E6}"/>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AF30DEE4-509B-BC93-18A4-A6E79F514188}"/>
              </a:ext>
            </a:extLst>
          </p:cNvPr>
          <p:cNvSpPr>
            <a:spLocks noGrp="1"/>
          </p:cNvSpPr>
          <p:nvPr>
            <p:ph type="sldNum" sz="quarter" idx="12"/>
          </p:nvPr>
        </p:nvSpPr>
        <p:spPr/>
        <p:txBody>
          <a:bodyPr/>
          <a:lstStyle/>
          <a:p>
            <a:fld id="{B82CCC60-E8CD-4174-8B1A-7DF615B22EEF}" type="slidenum">
              <a:rPr lang="en-US" smtClean="0"/>
              <a:pPr/>
              <a:t>29</a:t>
            </a:fld>
            <a:endParaRPr lang="en-US"/>
          </a:p>
        </p:txBody>
      </p:sp>
    </p:spTree>
    <p:extLst>
      <p:ext uri="{BB962C8B-B14F-4D97-AF65-F5344CB8AC3E}">
        <p14:creationId xmlns:p14="http://schemas.microsoft.com/office/powerpoint/2010/main" val="1305410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B349E8-811B-623E-79B9-C290571513F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1DEF36B-1A4C-BCAC-C7FB-FE2E2DB246EF}"/>
              </a:ext>
            </a:extLst>
          </p:cNvPr>
          <p:cNvSpPr>
            <a:spLocks noGrp="1"/>
          </p:cNvSpPr>
          <p:nvPr>
            <p:ph idx="1"/>
          </p:nvPr>
        </p:nvSpPr>
        <p:spPr/>
        <p:txBody>
          <a:bodyPr/>
          <a:lstStyle/>
          <a:p>
            <a:pPr marL="342900" lvl="0" indent="-342900" algn="just">
              <a:lnSpc>
                <a:spcPct val="107000"/>
              </a:lnSpc>
              <a:spcAft>
                <a:spcPts val="800"/>
              </a:spcAft>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Virtualisation du Réseau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Cette forme de virtualisation permet de créer des réseaux virtuels isolés au sein d'un réseau physique. Elle facilite la segmentation du trafic, la gestion des politiques de sécurité et la création de réseaux définis par logiciel (SDN).</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Virtualisation des Postes de Travail (VDI)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La virtualisation des postes de travail (Virtual Desktop Infrastructure) permet de créer des environnements de bureau virtuels, où les postes de travail sont exécutés sur des serveurs distants et accessibles à distance par les utilisateurs.</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fr-FR" dirty="0"/>
          </a:p>
        </p:txBody>
      </p:sp>
      <p:sp>
        <p:nvSpPr>
          <p:cNvPr id="4" name="Espace réservé du pied de page 3">
            <a:extLst>
              <a:ext uri="{FF2B5EF4-FFF2-40B4-BE49-F238E27FC236}">
                <a16:creationId xmlns:a16="http://schemas.microsoft.com/office/drawing/2014/main" id="{8BE4E178-EE3B-5852-29C3-BC5BB724771E}"/>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9F599DCE-ACDD-FAE3-97B9-A7FAFBA82782}"/>
              </a:ext>
            </a:extLst>
          </p:cNvPr>
          <p:cNvSpPr>
            <a:spLocks noGrp="1"/>
          </p:cNvSpPr>
          <p:nvPr>
            <p:ph type="sldNum" sz="quarter" idx="12"/>
          </p:nvPr>
        </p:nvSpPr>
        <p:spPr/>
        <p:txBody>
          <a:bodyPr/>
          <a:lstStyle/>
          <a:p>
            <a:fld id="{B82CCC60-E8CD-4174-8B1A-7DF615B22EEF}" type="slidenum">
              <a:rPr lang="en-US" smtClean="0"/>
              <a:pPr/>
              <a:t>30</a:t>
            </a:fld>
            <a:endParaRPr lang="en-US"/>
          </a:p>
        </p:txBody>
      </p:sp>
    </p:spTree>
    <p:extLst>
      <p:ext uri="{BB962C8B-B14F-4D97-AF65-F5344CB8AC3E}">
        <p14:creationId xmlns:p14="http://schemas.microsoft.com/office/powerpoint/2010/main" val="3784925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7013D6-E5D5-97B0-189A-44969B6F545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ACF5918-EEC3-6481-9046-5C323B9A1F9B}"/>
              </a:ext>
            </a:extLst>
          </p:cNvPr>
          <p:cNvSpPr>
            <a:spLocks noGrp="1"/>
          </p:cNvSpPr>
          <p:nvPr>
            <p:ph idx="1"/>
          </p:nvPr>
        </p:nvSpPr>
        <p:spPr/>
        <p:txBody>
          <a:bodyPr>
            <a:normAutofit lnSpcReduction="10000"/>
          </a:bodyPr>
          <a:lstStyle/>
          <a:p>
            <a:pPr marL="342900" lvl="0" indent="-342900" algn="just">
              <a:lnSpc>
                <a:spcPct val="107000"/>
              </a:lnSpc>
              <a:spcAft>
                <a:spcPts val="800"/>
              </a:spcAft>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Virtualisation des Applications (Conteneurs)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La virtualisation des applications, également appelée conteneurisation, permet d'emballer une application et ses dépendances dans un conteneur léger. Les conteneurs partagent le même noyau du système d'exploitation hôte, ce qui les rend plus légers que les VM.</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tabLst>
                <a:tab pos="457200" algn="l"/>
              </a:tabLst>
            </a:pP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Virtualisation du Matériel (Hyperviseurs)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Les hyperviseurs sont des logiciels qui permettent de créer et de gérer des machines virtuelles sur un serveur physique. Ils fournissent une couche d'abstraction entre le matériel et les systèmes d'exploitation invités.</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fr-FR" dirty="0"/>
          </a:p>
        </p:txBody>
      </p:sp>
      <p:sp>
        <p:nvSpPr>
          <p:cNvPr id="4" name="Espace réservé du pied de page 3">
            <a:extLst>
              <a:ext uri="{FF2B5EF4-FFF2-40B4-BE49-F238E27FC236}">
                <a16:creationId xmlns:a16="http://schemas.microsoft.com/office/drawing/2014/main" id="{2E9FCA8F-9C22-25DF-838B-DB02E11DA19A}"/>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A1B7C666-5178-4A98-BFC6-EB97C3119872}"/>
              </a:ext>
            </a:extLst>
          </p:cNvPr>
          <p:cNvSpPr>
            <a:spLocks noGrp="1"/>
          </p:cNvSpPr>
          <p:nvPr>
            <p:ph type="sldNum" sz="quarter" idx="12"/>
          </p:nvPr>
        </p:nvSpPr>
        <p:spPr/>
        <p:txBody>
          <a:bodyPr/>
          <a:lstStyle/>
          <a:p>
            <a:fld id="{B82CCC60-E8CD-4174-8B1A-7DF615B22EEF}" type="slidenum">
              <a:rPr lang="en-US" smtClean="0"/>
              <a:pPr/>
              <a:t>31</a:t>
            </a:fld>
            <a:endParaRPr lang="en-US"/>
          </a:p>
        </p:txBody>
      </p:sp>
    </p:spTree>
    <p:extLst>
      <p:ext uri="{BB962C8B-B14F-4D97-AF65-F5344CB8AC3E}">
        <p14:creationId xmlns:p14="http://schemas.microsoft.com/office/powerpoint/2010/main" val="4212796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C531C2-BF0A-AA50-A9BC-DD6D2199C03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BA5B794-0713-2C44-6A44-B27BDB2A49DD}"/>
              </a:ext>
            </a:extLst>
          </p:cNvPr>
          <p:cNvSpPr>
            <a:spLocks noGrp="1"/>
          </p:cNvSpPr>
          <p:nvPr>
            <p:ph idx="1"/>
          </p:nvPr>
        </p:nvSpPr>
        <p:spPr/>
        <p:txBody>
          <a:bodyPr/>
          <a:lstStyle/>
          <a:p>
            <a:pPr algn="just"/>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Virtualisation des GPU (</a:t>
            </a:r>
            <a:r>
              <a:rPr lang="fr-FR" sz="1800" b="1"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Graphical</a:t>
            </a: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fr-FR" sz="1800" b="1"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Processing</a:t>
            </a:r>
            <a:r>
              <a:rPr lang="fr-FR" sz="1800" b="1"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Unit) :</a:t>
            </a:r>
            <a:r>
              <a:rPr lang="fr-FR"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La virtualisation des GPU permet d'accéder à des ressources graphiques puissantes dans des environnements virtualisés, ce qui est particulièrement utile pour les applications gourmandes en graphiques et l'apprentissage automatique.</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fr-FR" dirty="0"/>
          </a:p>
        </p:txBody>
      </p:sp>
      <p:sp>
        <p:nvSpPr>
          <p:cNvPr id="4" name="Espace réservé du pied de page 3">
            <a:extLst>
              <a:ext uri="{FF2B5EF4-FFF2-40B4-BE49-F238E27FC236}">
                <a16:creationId xmlns:a16="http://schemas.microsoft.com/office/drawing/2014/main" id="{D2AF60E2-8228-EC04-C214-09B07CA076B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EC626A59-48D2-42B4-D5F1-F58E1CF6DDAB}"/>
              </a:ext>
            </a:extLst>
          </p:cNvPr>
          <p:cNvSpPr>
            <a:spLocks noGrp="1"/>
          </p:cNvSpPr>
          <p:nvPr>
            <p:ph type="sldNum" sz="quarter" idx="12"/>
          </p:nvPr>
        </p:nvSpPr>
        <p:spPr/>
        <p:txBody>
          <a:bodyPr/>
          <a:lstStyle/>
          <a:p>
            <a:fld id="{B82CCC60-E8CD-4174-8B1A-7DF615B22EEF}" type="slidenum">
              <a:rPr lang="en-US" smtClean="0"/>
              <a:pPr/>
              <a:t>32</a:t>
            </a:fld>
            <a:endParaRPr lang="en-US"/>
          </a:p>
        </p:txBody>
      </p:sp>
    </p:spTree>
    <p:extLst>
      <p:ext uri="{BB962C8B-B14F-4D97-AF65-F5344CB8AC3E}">
        <p14:creationId xmlns:p14="http://schemas.microsoft.com/office/powerpoint/2010/main" val="984630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2969</TotalTime>
  <Words>2704</Words>
  <Application>Microsoft Office PowerPoint</Application>
  <PresentationFormat>Affichage à l'écran (16:9)</PresentationFormat>
  <Paragraphs>238</Paragraphs>
  <Slides>32</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32</vt:i4>
      </vt:variant>
    </vt:vector>
  </HeadingPairs>
  <TitlesOfParts>
    <vt:vector size="41" baseType="lpstr">
      <vt:lpstr>Arial</vt:lpstr>
      <vt:lpstr>Arial Black</vt:lpstr>
      <vt:lpstr>Calibri</vt:lpstr>
      <vt:lpstr>Segoe UI</vt:lpstr>
      <vt:lpstr>Symbol</vt:lpstr>
      <vt:lpstr>Tahoma</vt:lpstr>
      <vt:lpstr>Times New Roman</vt:lpstr>
      <vt:lpstr>Wingdings</vt:lpstr>
      <vt:lpstr>Office Theme</vt:lpstr>
      <vt:lpstr>La Virtualisation</vt:lpstr>
      <vt:lpstr>Motivations</vt:lpstr>
      <vt:lpstr>Présentation PowerPoint</vt:lpstr>
      <vt:lpstr>Présentation PowerPoint</vt:lpstr>
      <vt:lpstr>Présentation PowerPoint</vt:lpstr>
      <vt:lpstr>Présentation PowerPoint</vt:lpstr>
      <vt:lpstr>Principe de la virtualisation</vt:lpstr>
      <vt:lpstr>Objectifs de la virtualisation</vt:lpstr>
      <vt:lpstr>Définition</vt:lpstr>
      <vt:lpstr>principes fondamentaux</vt:lpstr>
      <vt:lpstr>exemples d’utilisation de la virtualisation</vt:lpstr>
      <vt:lpstr>Les types de virtualisation</vt:lpstr>
      <vt:lpstr>Virtualisation Complète</vt:lpstr>
      <vt:lpstr>Para-Virtualisation</vt:lpstr>
      <vt:lpstr>Les Isolateurs </vt:lpstr>
      <vt:lpstr>Présentation PowerPoint</vt:lpstr>
      <vt:lpstr>Les hyperviseurs</vt:lpstr>
      <vt:lpstr>Les principales fonctions d'un hyperviseur </vt:lpstr>
      <vt:lpstr>Hyperviseur de Type 1 (Bare-Metal)</vt:lpstr>
      <vt:lpstr>Hyperviseur de Type 1 (Bare-Metal)</vt:lpstr>
      <vt:lpstr>Hyperviseur de Type 2 (Hôte)</vt:lpstr>
      <vt:lpstr>LES AVANTAGES DE LA VIRTUALISATION</vt:lpstr>
      <vt:lpstr>REDUCTIONS DES COUTS</vt:lpstr>
      <vt:lpstr>REDUCTIONS DES COUTS</vt:lpstr>
      <vt:lpstr>AMELIORATION DE LA QUALITE DE SERVICE</vt:lpstr>
      <vt:lpstr>SIMPLIFICATION DES TACHES D’ADMINISTRATION</vt:lpstr>
      <vt:lpstr>Présentation PowerPoint</vt:lpstr>
      <vt:lpstr>SECURISATION</vt:lpstr>
      <vt:lpstr>Domaines d’application</vt:lpstr>
      <vt:lpstr>Présentation PowerPoint</vt:lpstr>
      <vt:lpstr>Présentation PowerPoint</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Béchir BEN GOUISSEM</cp:lastModifiedBy>
  <cp:revision>177</cp:revision>
  <dcterms:created xsi:type="dcterms:W3CDTF">2013-08-21T19:17:07Z</dcterms:created>
  <dcterms:modified xsi:type="dcterms:W3CDTF">2023-10-12T19:48:18Z</dcterms:modified>
</cp:coreProperties>
</file>